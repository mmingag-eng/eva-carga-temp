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1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780fdb5f-ebdf-b7d6-18f6-820d2c948127}">
          <p14:sldIdLst>
            <p14:sldId id="256"/>
            <p14:sldId id="257"/>
            <p14:sldId id="258"/>
          </p14:sldIdLst>
        </p14:section>
        <p14:section name="Bloque A · Arranque" id="{66fe74ec-d845-de82-6a93-4feab8736bc4}">
          <p14:sldIdLst/>
        </p14:section>
        <p14:section name="2.1 Constitución del sistema de arranque" id="{b6ba3d31-b94a-de2d-0d61-e3e0eea300ac}">
          <p14:sldIdLst>
            <p14:sldId id="259"/>
            <p14:sldId id="260"/>
            <p14:sldId id="261"/>
            <p14:sldId id="262"/>
          </p14:sldIdLst>
        </p14:section>
        <p14:section name="2.2 Funcionamiento del circuito de arranque" id="{efa665fa-0463-ea5c-32ee-dd703266b92a}">
          <p14:sldIdLst>
            <p14:sldId id="263"/>
            <p14:sldId id="264"/>
            <p14:sldId id="265"/>
            <p14:sldId id="266"/>
            <p14:sldId id="267"/>
          </p14:sldIdLst>
        </p14:section>
        <p14:section name="2.3 El motor de arranque" id="{cef78f4e-6741-1d5b-1c59-cfafcee12345}">
          <p14:sldIdLst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.4 Comprobaciones del sistema de arranque" id="{7472c969-f60f-628b-b91d-d83fce7e30ed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2.5 Características eléctricas del motor de arranque" id="{06b50d06-2793-077d-a7be-fb0584c4a603}">
          <p14:sldIdLst>
            <p14:sldId id="285"/>
            <p14:sldId id="286"/>
            <p14:sldId id="287"/>
            <p14:sldId id="288"/>
            <p14:sldId id="289"/>
          </p14:sldIdLst>
        </p14:section>
        <p14:section name="2.6 Ensayos del motor en el banco de pruebas" id="{0f1c2ea3-939b-f8f3-8de5-cc33333751f7}">
          <p14:sldIdLst>
            <p14:sldId id="290"/>
            <p14:sldId id="291"/>
            <p14:sldId id="292"/>
            <p14:sldId id="293"/>
          </p14:sldIdLst>
        </p14:section>
        <p14:section name="2.7 Práctica de taller: arranque" id="{a2ff1e4e-b9bb-c19a-2b28-e254a66df761}">
          <p14:sldIdLst>
            <p14:sldId id="294"/>
            <p14:sldId id="295"/>
          </p14:sldIdLst>
        </p14:section>
        <p14:section name="Bloque B · Carga" id="{b2601e31-d07c-879e-74d9-70c74f55a205}">
          <p14:sldIdLst/>
        </p14:section>
        <p14:section name="2.8 Constitución del sistema de carga" id="{f8177167-9dff-cffb-fcec-0eb6246fcb1a}">
          <p14:sldIdLst>
            <p14:sldId id="296"/>
            <p14:sldId id="297"/>
            <p14:sldId id="298"/>
            <p14:sldId id="299"/>
          </p14:sldIdLst>
        </p14:section>
        <p14:section name="2.9 Circuito de carga" id="{4da571b4-11a8-fb7f-8b24-b0e9019e4b69}">
          <p14:sldIdLst>
            <p14:sldId id="300"/>
            <p14:sldId id="301"/>
            <p14:sldId id="302"/>
            <p14:sldId id="303"/>
            <p14:sldId id="304"/>
          </p14:sldIdLst>
        </p14:section>
        <p14:section name="2.10 El alternador" id="{05ba2786-d095-b3ec-19c8-42439a806b4c}">
          <p14:sldIdLst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2.11 Reguladores de tensión" id="{ec3cfac1-3e68-c30d-1d79-53a5fb4c43b7}">
          <p14:sldIdLst>
            <p14:sldId id="317"/>
            <p14:sldId id="318"/>
            <p14:sldId id="319"/>
            <p14:sldId id="320"/>
            <p14:sldId id="321"/>
          </p14:sldIdLst>
        </p14:section>
        <p14:section name="2.12 Prácticas de taller: carga" id="{33c5c04a-0133-5040-640e-0ef6fccf0e86}">
          <p14:sldIdLst>
            <p14:sldId id="322"/>
            <p14:sldId id="323"/>
          </p14:sldIdLst>
        </p14:section>
        <p14:section name="Cierre de la unidad" id="{9f594835-c290-1305-9106-55b617278b7f}">
          <p14:sldIdLst>
            <p14:sldId id="324"/>
            <p14:sldId id="325"/>
            <p14:sldId id="326"/>
            <p14:sldId id="327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33"/>
                </a:solidFill>
                <a:latin typeface="+mn-lt"/>
              </a:rPr>
              <a:t>Corriente de salida vs. rpm del alternador (14 V)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Corriente (A)</c:v>
                </c:pt>
              </c:strCache>
            </c:strRef>
          </c:tx>
          <c:spPr>
            <a:solidFill>
              <a:srgbClr val="007578"/>
            </a:solidFill>
            <a:ln w="38100" cap="flat">
              <a:solidFill>
                <a:srgbClr val="0075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7578"/>
              </a:solidFill>
              <a:ln w="9525" cap="flat">
                <a:solidFill>
                  <a:srgbClr val="0075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1000</c:v>
                  </c:pt>
                  <c:pt idx="1">
                    <c:v>1500</c:v>
                  </c:pt>
                  <c:pt idx="2">
                    <c:v>2000</c:v>
                  </c:pt>
                  <c:pt idx="3">
                    <c:v>3000</c:v>
                  </c:pt>
                  <c:pt idx="4">
                    <c:v>4000</c:v>
                  </c:pt>
                  <c:pt idx="5">
                    <c:v>5000</c:v>
                  </c:pt>
                  <c:pt idx="6">
                    <c:v>6000</c:v>
                  </c:pt>
                  <c:pt idx="7">
                    <c:v>8000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18</c:v>
                </c:pt>
                <c:pt idx="2">
                  <c:v>42</c:v>
                </c:pt>
                <c:pt idx="3">
                  <c:v>65</c:v>
                </c:pt>
                <c:pt idx="4">
                  <c:v>77</c:v>
                </c:pt>
                <c:pt idx="5">
                  <c:v>84</c:v>
                </c:pt>
                <c:pt idx="6">
                  <c:v>88</c:v>
                </c:pt>
                <c:pt idx="7">
                  <c:v>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rpm del alternador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E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2 del PEA. Tiempo previsto: noviembre de 2026. Prácticas asociadas: 8P1–8P5 (arranque), 9P1–9P5 (carga) y proyectos integradores 22, 23 y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PEA divide la unidad en dos bloques: arranque (2.1–2.7) y carga (2.8–2.12). El mazo respeta ese orden con una divisoria por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de aprendizaje del PEA para el dominio operativo: desmontaje, montaje y diagnóstico de sistemas de arranque y detección de fallas en alternadores.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detonante: ¿qué ocurriría si el motor de arranque estuviera unido permanentemente al volante? Lo resolvemos con la rueda 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describía solo el motor de arranque. El PEA pide la constitución del sistema completo y la finalidad de cada componente.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Calsina Fleta (2011) denomina B a la bobina de retención y C a la de activación; se respeta su notación en la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soltar la llave la corriente llega a la bobina de atracción en sentido contrario por el borne C: los campos se anulan y el muelle devuelve el núcleo.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Cálculo tomado y verificado de Calsina Fleta (2011, p. 126). Relación corona/piñón 119/9 = 13,2.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la mano izquierda: campo (índice), corriente (medio), fuerza (pulgar). En el motor de arranque I es muy grande, por eso el par también lo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motor serie es el clásico de arranque: su par es máximo a velocidad cero. Los de imanes permanentes son más ligeros y se combinan con reductora.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de 17 piezas de Calsina Fleta (2011, fig. 7.12). Sirve de guía para la práctica 8P2 (desmontaje y comprobación).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Calsina Fleta (2011) distingue: por contactor y horquilla; por contactor, horquilla y reductora; y por inercia o Bendix.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 de la reducción epicicloidal con corona fija: i = 1 + Zcorona/Zsolar. Ejemplo: Zcorona = 42, Zsolar = 12 → i = 4,5.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desmontar el motor de arranque hay que descartar batería, cables y mando. La mayoría de los «motores de arranque malos» son en realidad conexiones deficientes.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orientativos de INATEC (2016) y Calsina Fleta (2011). Prevalecen siempre los datos del fabricante del vehículo.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práctica 8P1 desarrolla estas mediciones con el multímetro DA-830 y la pinza amperimétrica del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ejemplo integra la ley de Ohm de la U1 con el diagnóstico de la U2.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 de la práctica 8P2. Antes de desmontar: marcar la posición de tapas y carcasa con un punzón.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de referencia de Calsina Fleta (2011): resistencia de las inductoras de unos 3 Ω en su ejemplo; siempre comparar con el fabricante. En motores de imanes esta prueba no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zumbador (growler) de la práctica 26 permite detectar cortocircuitos entre espiras del inducido.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bobinas del solenoide: consultar el manual. Como orden de magnitud, la bobina de atracción tiene una resistencia menor que la de retención (hilo más grueso).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manual de fallas prematuras MAHLE (aftermarket). Ilustra casos reales para la discusión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que aparecen en la placa o en el catálogo del motor de arranque.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la fórmula de la tabla de Calsina Fleta (2011, p. 159) aparece como rpm·2/(60·75)·Par; falta el factor π. Con 2π los resultados de su tabla coinciden (p. ej., 2,76 CV a 2200 rpm).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por qué la corriente de arranque es máxima con el motor parado y por qué el motor serie se embala en vacío.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condición E′ = V/2 sale de derivar P = E′·I con I = (V − E′)/Rᵢ. En la práctica, con la caída de tensión de la batería, el máximo se desplaza ligeramente.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del piñón: M = diámetro del piñón / número de dientes. Se escoge la corona cuyo módulo sea el inmediato inferior al calculado (Calsina Fleta, 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Prueba rápida: unos 4 segundos para no calentar el motor (Calsina Fleta, 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del ensayo de Calsina Fleta (2011, p. 159) recalculados con 2π. La gráfica es la del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única según el sílabo: U2 = 8P1–8P5 (arranque) y 9P1–9P5 (carga).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reutilizan dibujos del material anterior (EA I) y figuras de Calsina Fleta (2011).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material anterior mencionaba el balance energético sin ejemplo. Se añade un cálculo simplificado. El factor de simultaneidad depende del uso del vehículo.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con la figura 9.48 (autoexcitación) del mismo texto. En alternadores modernos con regulador multifunción, el testigo lo gobierna la unidad de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orientativos; prevalece la ficha técnica. La prueba de rizado de CA detecta diodos abiertos o en cortocircuito sin desmontar.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típico de taller; se resuelve con la tabla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Precauciones de Calsina Fleta (2011, apartado 10) y del material anterior. Nunca desconectar la batería con el motor en marcha (pico de tensión o load dump).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alternador el campo gira (rotor) y los conductores están fijos (estator): por eso no hace falta colector de delgas, solo dos anillos rozantes para la excitación.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Despiece de Calsina Fleta (2011, fig. 10.15) y vista explotada de MAHLE. Usar ambos en la práctica 9P2.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 conceptual: en estrella la tensión de línea es √3 veces la de fase y la corriente es la misma; en triángulo ocurre lo contrario. La potencia es la misma expresión en ambos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medio de un puente trifásico ideal: Vcc ≈ 1,35 · V_línea(eficaz). En el vehículo la tensión la fija el regulador; el cálculo sirve para entender el rectificador.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Rango 2–6 Ω tomado del material anterior y de INATEC (2016, «R = 3–6 Ω»); verificar en la ficha del alternador.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resistencia entre fases de 0,2 a 0,35 Ω en el material anterior; INATEC (2016) indica ≈ 0,3 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modo diodo el multímetro muestra la caída directa (≈ 0,4–0,7 V); en inverso debe marcar «OL». Un diodo con baja caída en ambos sentidos está en cortocircuito.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Procedimiento de Calsina Fleta (2011, prácticas 14) con el banco CV9LS-1; en el ISTS se aplica con el probador MSG MS015A (práctica 9P4) y el banco del proyecto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 típica de un alternador de 90 A; los valores exactos dependen del modelo. Relación de polea típica entre 2:1 y 3:1.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turismos regulan en torno a 14 V y los vehículos industriales a 28 V (material anterior).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Evolución de reguladores Valeo (material anterior): 1972 electromagnético separado; 1979 electrónico integrado en circuito impreso; 1981 híbrido cerámico; 1985 integrado hermético; 1989 monolítico.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Descripción del regulador tipo EE de Bosch tomada del material anterior y verificada con Calsina Fleta (2011).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Regulador de lado positivo: corta el positivo del rotor; regulador de lado negativo: corta el retorno a masa. Saberlo evita diagnósticos erróneos al puentear para 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Probadores MSG del laboratorio: MS015A, MS012 COM, MS014 y MS021 (120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para el examen de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b; 2) la bobina de atracción; 3) n = 1 000 · 119/9 = 13 222 rpm; 4) c; 5) 0,9 V &gt; 0,5 V → excesiva, revisar el positivo; 6)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Soluciones: 1) 1 885 W; η = 1885/(10·280) = 67 %. 2) I = (9,5 − 7)/0,03 = 83 A. 3) Icc = 10/0,03 = 333 A; Pmáx = 833 W. 4) f = 6·4500/60 = 450 Hz. 5) 860 W/14 V = 61 A → con 25 %: 77 A → 90 A. 6) 3,6 Ω → 3,9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APA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u2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63040"/>
            <a:ext cx="3383280" cy="215798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SECC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87452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u2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93192"/>
            <a:ext cx="1691640" cy="107899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2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182880"/>
            <a:ext cx="1097280" cy="6995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Electricidad Automotriz · Unidad 2 · ISTS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jpg"/><Relationship Id="rId3" Type="http://schemas.openxmlformats.org/officeDocument/2006/relationships/image" Target="../media/image-58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Unidad 2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 de arranque y carga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Electricidad Automotriz (MA.03.02)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Tecnología Superior en Mecánica Automotriz · Tercer período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PAO Octubre 2026 – Febrero 2027 · Diurno A / Nocturno B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Ing. Miguel Angel Minga González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Contenidos de la unidad según el PEA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5331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533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23444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Constitución del sistema de arranque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1343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1945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Funcionamiento del circuito de arranque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27355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27355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31546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El motor de arranque: principio y tipos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23367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23367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41148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Comprobaciones del sistema de arranque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519379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507492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Características eléctricas del motor de arranque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72200" y="135331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13533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2.6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123444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Ensayos en el banco de pruebas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2200" y="231343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231343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2.7–2.8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21945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Práctica de taller · Constitución del sistema de carga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2200" y="327355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327355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2.9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15468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Circuito de carga: diagnóstico, desmontaje y montaje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2200" y="423367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423367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2.10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452360" y="41148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El alternador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72200" y="5193792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2.11 – 2.12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452360" y="507492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Reguladores de tensión · Prácticas de taller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lograrás en esta unidad?</a:t>
            </a:r>
            <a:endParaRPr lang="en-US" sz="2800" dirty="0"/>
          </a:p>
        </p:txBody>
      </p:sp>
      <p:sp>
        <p:nvSpPr>
          <p:cNvPr id="4" name="Tarjeta Saber"/>
          <p:cNvSpPr/>
          <p:nvPr/>
        </p:nvSpPr>
        <p:spPr>
          <a:xfrm>
            <a:off x="50292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Saber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Identifica los tipos de motores de arranque y sus componentes.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Explica el principio del motor de CC y del alternador.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Interpreta los esquemas de arranque y carga.</a:t>
            </a:r>
            <a:endParaRPr lang="en-US" sz="1400" dirty="0"/>
          </a:p>
        </p:txBody>
      </p:sp>
      <p:sp>
        <p:nvSpPr>
          <p:cNvPr id="7" name="Tarjeta Saber hacer"/>
          <p:cNvSpPr/>
          <p:nvPr/>
        </p:nvSpPr>
        <p:spPr>
          <a:xfrm>
            <a:off x="429768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Saber hacer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Diagnostica el circuito de arranque y de carga en el vehículo con multímetro y pinza.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Desmonta, comprueba y monta el motor de arranque y el alternador.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Ensaya ambos en el banco (MS016 y MS015A) e interpreta las curvas.</a:t>
            </a:r>
            <a:endParaRPr lang="en-US" sz="1400" dirty="0"/>
          </a:p>
        </p:txBody>
      </p:sp>
      <p:sp>
        <p:nvSpPr>
          <p:cNvPr id="10" name="Tarjeta Ser"/>
          <p:cNvSpPr/>
          <p:nvPr/>
        </p:nvSpPr>
        <p:spPr>
          <a:xfrm>
            <a:off x="80924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Desconecta la batería antes de intervenir.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Respeta los tiempos máximos de arranque (≤ 10–15 s).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Registra las mediciones y las compara con los datos del fabricante.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Constitución del sistema de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Componentes del circuito y finalidad de cada uno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¿Por qué hace falta un motor de arranque?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49834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motor de combustión no arranca solo: necesita un giro inicial para aspirar, comprimir y encender la mezcla.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Régimen mínimo de arranque: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≈ 100 rpm en motores Otto y ≈ 200 rpm en diésel (Calsina Fleta, 2011).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Debe vencer la compresión, el rozamiento y la viscosidad del aceite frío.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Antiguamente se usaba manivela; hoy un motor eléctrico de corriente continua alimentado por la batería.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Exigencia: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gran par durante pocos segundos, con corrientes de 100 a 400 A en turismos.</a:t>
            </a:r>
            <a:endParaRPr lang="en-US" sz="1600" dirty="0"/>
          </a:p>
        </p:txBody>
      </p:sp>
      <p:pic>
        <p:nvPicPr>
          <p:cNvPr id="5" name="Figura a_motor_foto.png" descr="a_motor_f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1030"/>
            <a:ext cx="6035040" cy="38388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549471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Componentes del sistema de arranque</a:t>
            </a:r>
            <a:endParaRPr lang="en-US" sz="2800" dirty="0"/>
          </a:p>
        </p:txBody>
      </p:sp>
      <p:sp>
        <p:nvSpPr>
          <p:cNvPr id="4" name="Tarjeta Batería"/>
          <p:cNvSpPr/>
          <p:nvPr/>
        </p:nvSpPr>
        <p:spPr>
          <a:xfrm>
            <a:off x="502920" y="123444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Batería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Suministra la gran corriente del arranque (U1).</a:t>
            </a:r>
            <a:endParaRPr lang="en-US" sz="1400" dirty="0"/>
          </a:p>
        </p:txBody>
      </p:sp>
      <p:sp>
        <p:nvSpPr>
          <p:cNvPr id="7" name="Tarjeta Interruptor de encendido"/>
          <p:cNvSpPr/>
          <p:nvPr/>
        </p:nvSpPr>
        <p:spPr>
          <a:xfrm>
            <a:off x="6172200" y="123444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679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Interruptor de encendido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36792" y="178308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Posición START: alimenta el borne 50 del solenoide.</a:t>
            </a:r>
            <a:endParaRPr lang="en-US" sz="1400" dirty="0"/>
          </a:p>
        </p:txBody>
      </p:sp>
      <p:sp>
        <p:nvSpPr>
          <p:cNvPr id="10" name="Tarjeta Relé de arranque / inhibidor"/>
          <p:cNvSpPr/>
          <p:nvPr/>
        </p:nvSpPr>
        <p:spPr>
          <a:xfrm>
            <a:off x="50292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" y="257860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Relé de arranque / inhibidor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7512" y="301752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Protege el contacto; solo permite arrancar en P/N o con el embrague pisado.</a:t>
            </a:r>
            <a:endParaRPr lang="en-US" sz="1400" dirty="0"/>
          </a:p>
        </p:txBody>
      </p:sp>
      <p:sp>
        <p:nvSpPr>
          <p:cNvPr id="13" name="Tarjeta Solenoide (contactor)"/>
          <p:cNvSpPr/>
          <p:nvPr/>
        </p:nvSpPr>
        <p:spPr>
          <a:xfrm>
            <a:off x="617220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792" y="257860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Solenoide (contactor)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36792" y="301752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Desplaza el piñón y cierra el paso de corriente 30 → motor.</a:t>
            </a:r>
            <a:endParaRPr lang="en-US" sz="1400" dirty="0"/>
          </a:p>
        </p:txBody>
      </p:sp>
      <p:sp>
        <p:nvSpPr>
          <p:cNvPr id="16" name="Tarjeta Motor eléctrico de CC"/>
          <p:cNvSpPr/>
          <p:nvPr/>
        </p:nvSpPr>
        <p:spPr>
          <a:xfrm>
            <a:off x="502920" y="370332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" y="381304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Motor eléctrico de CC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" y="425196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Convierte la energía eléctrica en par de giro.</a:t>
            </a:r>
            <a:endParaRPr lang="en-US" sz="1400" dirty="0"/>
          </a:p>
        </p:txBody>
      </p:sp>
      <p:sp>
        <p:nvSpPr>
          <p:cNvPr id="19" name="Tarjeta Piñón y rueda libre"/>
          <p:cNvSpPr/>
          <p:nvPr/>
        </p:nvSpPr>
        <p:spPr>
          <a:xfrm>
            <a:off x="6172200" y="370332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36792" y="381304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Piñón y rueda libre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36792" y="425196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Transmiten el giro a la corona y se desacoplan al arrancar.</a:t>
            </a:r>
            <a:endParaRPr lang="en-US" sz="1400" dirty="0"/>
          </a:p>
        </p:txBody>
      </p:sp>
      <p:sp>
        <p:nvSpPr>
          <p:cNvPr id="22" name="Tarjeta Cables de potencia y masa"/>
          <p:cNvSpPr/>
          <p:nvPr/>
        </p:nvSpPr>
        <p:spPr>
          <a:xfrm>
            <a:off x="50292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" y="504748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Cables de potencia y masa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" y="548640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25–50 mm²; deben tener mínima caída de tensión.</a:t>
            </a:r>
            <a:endParaRPr lang="en-US" sz="1400" dirty="0"/>
          </a:p>
        </p:txBody>
      </p:sp>
      <p:sp>
        <p:nvSpPr>
          <p:cNvPr id="25" name="Tarjeta Unidad de control / inmovilizador"/>
          <p:cNvSpPr/>
          <p:nvPr/>
        </p:nvSpPr>
        <p:spPr>
          <a:xfrm>
            <a:off x="6172200" y="49377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36792" y="504748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Unidad de control / inmovilizador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336792" y="548640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vehículos actuales autoriza el arranque (start-stop, llave codificada).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Esquema del sistema de arranque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Circuito de potencia: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batería (+) → cable grueso → borne 30 del solenoide → contacto principal → motor →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Circuito de mando: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batería → fusible → interruptor (START) → relé/inhibidor → borne 50 → bobinas del solenoide →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Separar mando y potencia permite que el interruptor maneje pocos amperios.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ejemplo muestra el circuito real de un Toyota Land Cruiser con relé de arranque e interruptor de posición.</a:t>
            </a:r>
            <a:endParaRPr lang="en-US" sz="1600" dirty="0"/>
          </a:p>
        </p:txBody>
      </p:sp>
      <p:pic>
        <p:nvPicPr>
          <p:cNvPr id="4" name="Figura i_toyota.png" descr="i_toyo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7047" y="1234440"/>
            <a:ext cx="4065265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8076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INATEC (2016).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Funcionamiento del circuito de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Solenoide: atracción, retención y retorno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solenoide o contactor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44348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Cumple dos funciones: desplazar el piñón hacia la corona y cerrar el paso de corriente al motor (actúa como relé).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Bobina de atracción (B):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hilo grueso, pocas espiras; conectada en serie con el motor.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Bobina de retención (C):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hilo fino, muchas espiras; conectada a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Núcleo (N):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arrastra la horquilla (J) y el contacto móvil (E) que une los bornes 30 y C.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Bornes: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 (batería), 50 (mando) y C o 45 (salida al motor).</a:t>
            </a:r>
            <a:endParaRPr lang="en-US" sz="1600" dirty="0"/>
          </a:p>
        </p:txBody>
      </p:sp>
      <p:pic>
        <p:nvPicPr>
          <p:cNvPr id="5" name="Figura a_contactor_reposo.png" descr="a_contactor_repo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754254"/>
            <a:ext cx="6583680" cy="3532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534149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Fases de funcionamiento del solenoide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98577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98577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827020" y="1755648"/>
            <a:ext cx="2819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364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Atracción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3642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Llave en START: corriente por las dos bobinas; sus campos se suman y el núcleo avanza. El piñón engrana y el motor gira lento.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1957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957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560820" y="1755648"/>
            <a:ext cx="28194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282440" y="2286000"/>
            <a:ext cx="364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Retención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282440" y="2971800"/>
            <a:ext cx="3642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El contacto une 30 y C: la bobina de atracción queda cortocircuitada; solo la de retención mantiene el núcleo. El motor recibe toda la corriente.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453372" y="1371600"/>
            <a:ext cx="777240" cy="7772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5337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33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016240" y="2286000"/>
            <a:ext cx="3642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Retorno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16240" y="2971800"/>
            <a:ext cx="3642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Al soltar la llave, la bobina de atracción recibe corriente inversa desde C; los campos se oponen y el muelle devuelve núcleo, piñón y contacto.</a:t>
            </a:r>
            <a:endParaRPr lang="en-US" sz="1400" dirty="0"/>
          </a:p>
        </p:txBody>
      </p:sp>
      <p:pic>
        <p:nvPicPr>
          <p:cNvPr id="18" name="Figura a_contactor_func.png" descr="a_contactor_fu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2075" y="4434840"/>
            <a:ext cx="3777370" cy="1463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33172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Mecanismo de engrane y rueda libre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0807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horquilla desplaza el piñón hasta engranar con la corona del volante.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Muelle coaxial: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diente choca con diente, se comprime y el piñón entra al girar el inducido.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Rueda libre (de rodillos):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transmite el giro del motor de arranque al volante, pero no al revés.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Cuando el motor térmico arranca, los rodillos se van a la parte ancha de las rampas y el piñón gira loco.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Evita que el inducido sea arrastrado a velocidades destructivas.</a:t>
            </a:r>
            <a:endParaRPr lang="en-US" sz="1600" dirty="0"/>
          </a:p>
        </p:txBody>
      </p:sp>
      <p:pic>
        <p:nvPicPr>
          <p:cNvPr id="4" name="Figura a_rueda_libre.png" descr="a_rueda_lib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940" y="1234440"/>
            <a:ext cx="41910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12280" y="5861304"/>
            <a:ext cx="419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¿por qué necesitamos la rueda libre?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5760720" cy="43891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corona de 119 dientes; piñón de 9 dientes.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Relación de transmisión: i = 119 / 9 = 13,2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Para arrancar (100 rpm de cigüeñal): n = 100 · 13,2 = 1 322 rpm en el inducido.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Motor en ralentí (900 rpm): n = 900 · 13,2 = 11 900 rpm.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Motor a 5 000 rpm: n = 66 111 rpm → el inducido se centrifuga.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hay que desacoplarlo de inmediato: rueda libre + retorno del solenoide.</a:t>
            </a:r>
            <a:endParaRPr lang="en-US" sz="1600" dirty="0"/>
          </a:p>
        </p:txBody>
      </p:sp>
      <p:sp>
        <p:nvSpPr>
          <p:cNvPr id="7" name="Ecuación"/>
          <p:cNvSpPr/>
          <p:nvPr/>
        </p:nvSpPr>
        <p:spPr>
          <a:xfrm>
            <a:off x="6583680" y="1234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5120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n_inducido = n_cigüeñal · (Z_corona / Z_piñón)</a:t>
            </a:r>
            <a:endParaRPr lang="en-US" sz="1900" dirty="0"/>
          </a:p>
        </p:txBody>
      </p:sp>
      <p:pic>
        <p:nvPicPr>
          <p:cNvPr id="9" name="Figura a_corona.png" descr="a_coro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640449"/>
            <a:ext cx="5120640" cy="281154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83680" y="550685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2.3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El motor de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2.3.1 Principio del motor eléctrico · 2.3.2 Tipos, componentes y aplicaciones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2.3.1 Principio de funcionamiento del motor de CC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200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conductor recorrido por corriente dentro de un campo magnético sufre una fuerza (fuerza de Laplace).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una espira los dos lados reciben fuerzas opuestas: se crea un par que la hace girar.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Colector y escobillas: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invierten la corriente cada media vuelta para que el giro continúe en el mismo sentido.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 muchas espiras desfasadas el par es continuo y suave.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5262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526280"/>
            <a:ext cx="56692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B · I · L        M = F · 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394960"/>
            <a:ext cx="5669280" cy="822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F: fuerza (N); B: inducción (T); I: corriente (A); L: longitud activa (m); M: par (N·m); r: radio (m).</a:t>
            </a:r>
            <a:endParaRPr lang="en-US" sz="1300" dirty="0"/>
          </a:p>
        </p:txBody>
      </p:sp>
      <p:pic>
        <p:nvPicPr>
          <p:cNvPr id="8" name="Figura a_espira1.png" descr="a_espir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7030" y="1234440"/>
            <a:ext cx="4762500" cy="2286000"/>
          </a:xfrm>
          <a:prstGeom prst="rect">
            <a:avLst/>
          </a:prstGeom>
        </p:spPr>
      </p:pic>
      <p:pic>
        <p:nvPicPr>
          <p:cNvPr id="9" name="Figura a_motor3esp.png" descr="a_motor3e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382" y="3657600"/>
            <a:ext cx="4993797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37960" y="5907024"/>
            <a:ext cx="49937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Excitación del motor de arranque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108960"/>
                <a:gridCol w="2606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Tipo de inductor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Conexión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Bobinas en serie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Inductoras en serie con el inducido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Par de arranque máximo; se embala en vacío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Motores de arranque convencionales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Compuesta (serie + derivación)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Una bobina en paralelo limita la velocidad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Par alto y velocidad en vacío limitada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Motores grandes y diésel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Imanes permanentes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Sin bobinas inductoras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Menos peso y tamaño; se combina con reductora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Turismos actuales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5" name="Tarjeta Recuerde"/>
          <p:cNvSpPr/>
          <p:nvPr/>
        </p:nvSpPr>
        <p:spPr>
          <a:xfrm>
            <a:off x="502920" y="4434840"/>
            <a:ext cx="11201400" cy="1737360"/>
          </a:xfrm>
          <a:prstGeom prst="roundRect">
            <a:avLst>
              <a:gd name="adj" fmla="val 4211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67512" y="4544568"/>
            <a:ext cx="10872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Recuerde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67512" y="4983480"/>
            <a:ext cx="10872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En un motor serie la misma corriente atraviesa inductoras e inducido: a más carga, más corriente y más campo, por eso el par crece mucho al frenarse el motor. Nunca debe funcionar mucho tiempo en vacío.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Componentes del motor de arranque</a:t>
            </a:r>
            <a:endParaRPr lang="en-US" sz="2800" dirty="0"/>
          </a:p>
        </p:txBody>
      </p:sp>
      <p:pic>
        <p:nvPicPr>
          <p:cNvPr id="4" name="Figura a_despiece.png" descr="a_despie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558" y="1188720"/>
            <a:ext cx="4040484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1234440"/>
            <a:ext cx="59436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Carcasa y masas polares: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cierran el circuito magnético; alojan las bobinas inductoras o los imanes.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Inducido: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 con núcleo de chapas, bobinado y colector de delgas.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Escobillas y portaescobillas: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llevan la corriente al colector (positivas aisladas, negativas a masa).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Tapas: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lado de accionamiento y lado colector, con casquillos sinterizados.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Solenoide y horquilla: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mando del piñón y contactor de potencia.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Conjunto piñón: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piñón, rueda libre, muelle y acoplamiento.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2.3.2 Tipos de motores de arranque</a:t>
            </a:r>
            <a:endParaRPr lang="en-US" sz="2800" dirty="0"/>
          </a:p>
        </p:txBody>
      </p:sp>
      <p:sp>
        <p:nvSpPr>
          <p:cNvPr id="4" name="Tarjeta Contactor y horquilla"/>
          <p:cNvSpPr/>
          <p:nvPr/>
        </p:nvSpPr>
        <p:spPr>
          <a:xfrm>
            <a:off x="502920" y="12344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Contactor y horquilla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Convencional: el solenoide desplaza el piñón mediante la horquilla. El más estudiado y usado en turismos de gasolina.</a:t>
            </a:r>
            <a:endParaRPr lang="en-US" sz="1400" dirty="0"/>
          </a:p>
        </p:txBody>
      </p:sp>
      <p:sp>
        <p:nvSpPr>
          <p:cNvPr id="7" name="Tarjeta Con reductora"/>
          <p:cNvSpPr/>
          <p:nvPr/>
        </p:nvSpPr>
        <p:spPr>
          <a:xfrm>
            <a:off x="4297680" y="12344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 reductora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Tren epicicloidal o engranaje intermedio: reduce rpm y multiplica el par. Más pequeño; usado en diésel y vehículos actuales.</a:t>
            </a:r>
            <a:endParaRPr lang="en-US" sz="1400" dirty="0"/>
          </a:p>
        </p:txBody>
      </p:sp>
      <p:sp>
        <p:nvSpPr>
          <p:cNvPr id="10" name="Tarjeta Inercia (Bendix)"/>
          <p:cNvSpPr/>
          <p:nvPr/>
        </p:nvSpPr>
        <p:spPr>
          <a:xfrm>
            <a:off x="8092440" y="12344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Inercia (Bendix)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piñón avanza por un husillo helicoidal gracias a su propia inercia. Pequeño y sencillo: motocicletas y motores pequeños.</a:t>
            </a:r>
            <a:endParaRPr lang="en-US" sz="1400" dirty="0"/>
          </a:p>
        </p:txBody>
      </p:sp>
      <p:pic>
        <p:nvPicPr>
          <p:cNvPr id="13" name="Figura a_partes.png" descr="a_pa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39935"/>
            <a:ext cx="3611880" cy="1949929"/>
          </a:xfrm>
          <a:prstGeom prst="rect">
            <a:avLst/>
          </a:prstGeom>
        </p:spPr>
      </p:pic>
      <p:pic>
        <p:nvPicPr>
          <p:cNvPr id="14" name="Figura a_reductor.png" descr="a_redu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875790"/>
            <a:ext cx="3611880" cy="2078220"/>
          </a:xfrm>
          <a:prstGeom prst="rect">
            <a:avLst/>
          </a:prstGeom>
        </p:spPr>
      </p:pic>
      <p:pic>
        <p:nvPicPr>
          <p:cNvPr id="15" name="Figura a_bendix.png" descr="a_bendi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857351"/>
            <a:ext cx="3611880" cy="211509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02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Reductora epicicloidal (planetaria)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Engranaje solar: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el eje del inducido (entrada).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Satélites: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giran sobre sí mismos y se trasladan.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Corona: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fija a la carcasa.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Portasatélites: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salida hacia el piñón, a menor velocidad.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Reducción típica 1:3 a 1:5: el inducido gira rápido con poca corriente y el piñón entrega más par.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Ventaja: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hasta 40 % menos peso y menor consumo para el mismo par.</a:t>
            </a:r>
            <a:endParaRPr lang="en-US" sz="1600" dirty="0"/>
          </a:p>
        </p:txBody>
      </p:sp>
      <p:pic>
        <p:nvPicPr>
          <p:cNvPr id="5" name="Figura a_epicicloidal.png" descr="a_epicicloi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187948"/>
            <a:ext cx="5852160" cy="2664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0" y="490779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Motor de arranque con reductora e imanes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Sustituye las bobinas inductoras por imanes permanentes (principales e interpolares).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Inducido con conductores de sección cuadrada y colector frontal en los modelos PS.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combina con reductora planetaria para compensar el menor par del motor de imanes.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Cuidado: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imanes son frágiles; no golpear la carcasa al desmontar.</a:t>
            </a:r>
            <a:endParaRPr lang="en-US" sz="1600" dirty="0"/>
          </a:p>
        </p:txBody>
      </p:sp>
      <p:pic>
        <p:nvPicPr>
          <p:cNvPr id="4" name="Figura i_partes_arr.png" descr="i_partes_a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27094"/>
            <a:ext cx="5852160" cy="37866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546865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INATEC (2016).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2.4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Comprobaciones del sistema de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2.4.1 Diagnóstico del circuito en el vehículo · 2.4.2 Desmontaje, comprobaciones, armado y montaje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2.4.1 Diagnóstico en el vehículo: orden de trabajo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523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23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935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Batería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Tensión en reposo ≥ 12,4 V y prueba de carga. Si falla, cargar o sustituir (U1).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192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192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7604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4155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Consumo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4155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Pinza amperimétrica en el cable de batería; inhibir el arranque del motor.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861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861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6273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2824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Caída positivo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2824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Voltímetro entre (+) batería y borne 30 del motor durante el arranque.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530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530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42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1493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Caída masa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Voltímetro entre carcasa del motor y (−) batería durante el arranque.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199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199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93611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80162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Mando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0162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Tensión en el borne 50 con la llave en START.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0386822" y="1371600"/>
            <a:ext cx="777240" cy="7772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3868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33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98831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Solenoide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8831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Puentear 30–50 con cable protegido para aislar el mando.</a:t>
            </a:r>
            <a:endParaRPr lang="en-US" sz="1400" dirty="0"/>
          </a:p>
        </p:txBody>
      </p:sp>
      <p:sp>
        <p:nvSpPr>
          <p:cNvPr id="33" name="Ecuación"/>
          <p:cNvSpPr/>
          <p:nvPr/>
        </p:nvSpPr>
        <p:spPr>
          <a:xfrm>
            <a:off x="502920" y="51206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512064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la batería y las caídas de tensión son correctas y el motor sigue fallando → desmontar el motor de arranque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Valores de referencia en el vehículo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468880"/>
                <a:gridCol w="37947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Prueba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orientativo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 no cumple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de batería durante el arranque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Motor girando 10 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≥ 9,6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Batería descargada o defectuosa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Consumo de corriente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 / 6 / 8 cilindros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120 / 200 / 250 A (± 15 %)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Alto: rozamientos o cortos internos. Bajo: escobillas, colector o conexiones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Caída en el positivo (batería → borne 30)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Durante el arranque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≤ 0,5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Limpiar y apretar terminales; cable dañado o de sección insuficiente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Caída en la masa (carcasa → (−) batería)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Durante el arranque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≤ 0,3 V (INATEC admite ≤ 1 V)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Masa motor-carrocería floja o sulfatada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en bornes 30 y 50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Llave en START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&gt; 10 V (Calsina Fleta)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30 bien y 50 bajo: interruptor, relé o inhibidor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5715000"/>
            <a:ext cx="11201400" cy="5486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Seguridad: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accionar el arranque más de 10–15 s seguidos y dejar enfriar 2 min entre intentos.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Medición de tensiones en el vehículo</a:t>
            </a:r>
            <a:endParaRPr lang="en-US" sz="2800" dirty="0"/>
          </a:p>
        </p:txBody>
      </p:sp>
      <p:pic>
        <p:nvPicPr>
          <p:cNvPr id="4" name="Figura a_volt_bat.png" descr="a_volt_b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2627"/>
            <a:ext cx="3657600" cy="2778265"/>
          </a:xfrm>
          <a:prstGeom prst="rect">
            <a:avLst/>
          </a:prstGeom>
        </p:spPr>
      </p:pic>
      <p:pic>
        <p:nvPicPr>
          <p:cNvPr id="5" name="Figura a_tension_50_30.png" descr="a_tension_50_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421" y="1234440"/>
            <a:ext cx="2895238" cy="2834640"/>
          </a:xfrm>
          <a:prstGeom prst="rect">
            <a:avLst/>
          </a:prstGeom>
        </p:spPr>
      </p:pic>
      <p:pic>
        <p:nvPicPr>
          <p:cNvPr id="6" name="Figura a_caida_bornes.png" descr="a_caida_bor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921" y="4251960"/>
            <a:ext cx="3998038" cy="164592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4864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8" name="Text 2"/>
          <p:cNvSpPr txBox="1"/>
          <p:nvPr/>
        </p:nvSpPr>
        <p:spPr>
          <a:xfrm>
            <a:off x="7955280" y="1280160"/>
            <a:ext cx="374904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Tensión de batería: &gt; 12,6 V en reposo.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Tensión en 50 y 30 durante START.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Caída en los bornes de la batería: medir poste-terminal; si difiere, terminal sulfatado.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Caída en el bombín (interruptor) de encendido.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diagnóstico por caída de tensión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6400800" cy="4434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Situación: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motor de arranque gira lento; batería al 100 %.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Medidas en START (I = 180 A): </a:t>
            </a:r>
            <a:pPr indent="0" marL="0">
              <a:buNone/>
            </a:pP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Batería: 10,4 V · borne 30: 9,3 V · carcasa–(−): 0,2 V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Caída en el positivo: 10,4 − 9,3 = 1,1 V (&gt; 0,5 V)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Resistencia del tramo: R = 1,1 / 180 = 6,1 mΩ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Potencia perdida: P = 1,1 · 180 = 198 W en calor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Diagnóstico: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terminal o cable positivo con alta resistencia. Limpiar, apretar y volver a medir antes de cambiar el motor.</a:t>
            </a:r>
            <a:endParaRPr lang="en-US" sz="1600" dirty="0"/>
          </a:p>
        </p:txBody>
      </p:sp>
      <p:sp>
        <p:nvSpPr>
          <p:cNvPr id="7" name="Tarjeta Interpretación rápida"/>
          <p:cNvSpPr/>
          <p:nvPr/>
        </p:nvSpPr>
        <p:spPr>
          <a:xfrm>
            <a:off x="7223760" y="1234440"/>
            <a:ext cx="4480560" cy="4937760"/>
          </a:xfrm>
          <a:prstGeom prst="roundRect">
            <a:avLst>
              <a:gd name="adj" fmla="val 1633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88352" y="1344168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Interpretación rápida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88352" y="1783080"/>
            <a:ext cx="415137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Consumo alto + giro lento: rozamientos, casquillos gastados o inducido rozando.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Consumo bajo + no gira: escobillas, colector o conexiones abiertas.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Solo «clic»: contacto del solenoide quemado o batería débil.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Gira pero no engrana: rueda libre patinando o piñón roto.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2.4.2 Desmontaje y despiece del motor de arranque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3901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3901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080260" y="1755648"/>
            <a:ext cx="1325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Retirar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Desconectar el negativo de la batería; quitar cables 30/50 y pernos.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929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929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20540" y="1755648"/>
            <a:ext cx="1325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78892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Solenoide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Desconectar la pletina del borne C y retirar el solenoide.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71957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957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560820" y="1755648"/>
            <a:ext cx="1325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02920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Tapa colector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Retirar tornillos pasantes, tapa y portaescobillas.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5985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985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8801100" y="1755648"/>
            <a:ext cx="132588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726948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Inducido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6948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Sacar carcasa, inducido, horquilla y conjunto piñón.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00132" y="1371600"/>
            <a:ext cx="777240" cy="7772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0013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33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950976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Limpiar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509760" y="2971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Limpiar sin disolventes en bobinas; ordenar las piezas.</a:t>
            </a:r>
            <a:endParaRPr lang="en-US" sz="1400" dirty="0"/>
          </a:p>
        </p:txBody>
      </p:sp>
      <p:sp>
        <p:nvSpPr>
          <p:cNvPr id="28" name="Tarjeta Buenas prácticas"/>
          <p:cNvSpPr/>
          <p:nvPr/>
        </p:nvSpPr>
        <p:spPr>
          <a:xfrm>
            <a:off x="502920" y="42062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" y="43159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Buenas prácticas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754880"/>
            <a:ext cx="5157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Marcar la posición de tapas y carcasa; fotografiar cada paso; guardar tornillos por grupos; no golpear la carcasa en motores de imanes.</a:t>
            </a:r>
            <a:endParaRPr lang="en-US" sz="1500" dirty="0"/>
          </a:p>
        </p:txBody>
      </p:sp>
      <p:sp>
        <p:nvSpPr>
          <p:cNvPr id="31" name="Tarjeta Armado y montaje"/>
          <p:cNvSpPr/>
          <p:nvPr/>
        </p:nvSpPr>
        <p:spPr>
          <a:xfrm>
            <a:off x="6217920" y="42062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82512" y="43159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Armado y montaje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382512" y="4754880"/>
            <a:ext cx="5157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Lubricar casquillos y estrías con grasa adecuada; comprobar el juego axial del inducido; apretar al par indicado; probar en banco antes de montar.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las bobinas inductoras</a:t>
            </a:r>
            <a:endParaRPr lang="en-US" sz="2800" dirty="0"/>
          </a:p>
        </p:txBody>
      </p:sp>
      <p:pic>
        <p:nvPicPr>
          <p:cNvPr id="4" name="Figura a_inductoras_aisl.png" descr="a_inductoras_ai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625" y="1234440"/>
            <a:ext cx="4997231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64024"/>
            <a:ext cx="49972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234440"/>
            <a:ext cx="5760720" cy="3291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Aislamiento a masa: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óhmetro entre un extremo de la bobina y la carcasa → debe marcar infinito (OL).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Continuidad: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 los dos extremos → debe pitar.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Cortocircuito entre espiras: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medir la resistencia y compararla con el fabricante; un valor menor indica cortocircuito.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Masas polares: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comprobar la distancia interpolar al volver a montar.</a:t>
            </a:r>
            <a:endParaRPr lang="en-US" sz="1500" dirty="0"/>
          </a:p>
        </p:txBody>
      </p:sp>
      <p:pic>
        <p:nvPicPr>
          <p:cNvPr id="7" name="Figura i_inductoras.png" descr="i_inducto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17" y="4480560"/>
            <a:ext cx="3176085" cy="1417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8932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INATEC (2016).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del inducido y del colector</a:t>
            </a:r>
            <a:endParaRPr lang="en-US" sz="2800" dirty="0"/>
          </a:p>
        </p:txBody>
      </p:sp>
      <p:pic>
        <p:nvPicPr>
          <p:cNvPr id="4" name="Figura a_colector.png" descr="a_cole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166" y="1234440"/>
            <a:ext cx="5578788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166" y="4032504"/>
            <a:ext cx="55787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492240" y="1234440"/>
            <a:ext cx="521208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Aislamiento: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óhmetro entre delgas y eje → infinito.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Continuidad entre delgas: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todas deben tener continuidad entre sí.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Cortocircuito: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zumbador: una hoja de sierra que vibra indica espiras en corto.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Colector: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excentricidad con reloj comparador; tornear si hay rayaduras o excentricidad (dentro del diámetro mínimo).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Mica: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rebajar entre delgas después de tornear.</a:t>
            </a:r>
            <a:endParaRPr lang="en-US" sz="1500" dirty="0"/>
          </a:p>
        </p:txBody>
      </p:sp>
      <p:pic>
        <p:nvPicPr>
          <p:cNvPr id="7" name="Figura a_rl_giro.png" descr="a_rl_gi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31387"/>
            <a:ext cx="5669280" cy="16814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escobillas, rueda libre y solenoide</a:t>
            </a:r>
            <a:endParaRPr lang="en-US" sz="2800" dirty="0"/>
          </a:p>
        </p:txBody>
      </p:sp>
      <p:sp>
        <p:nvSpPr>
          <p:cNvPr id="4" name="Tarjeta Escobillas"/>
          <p:cNvSpPr/>
          <p:nvPr/>
        </p:nvSpPr>
        <p:spPr>
          <a:xfrm>
            <a:off x="50292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Escobillas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Longitud mínima según fabricante.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Deslizan sin trabarse.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Positivas aisladas de masa; negativas con continuidad a masa.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Muelles con la presión correcta.</a:t>
            </a:r>
            <a:endParaRPr lang="en-US" sz="1500" dirty="0"/>
          </a:p>
        </p:txBody>
      </p:sp>
      <p:sp>
        <p:nvSpPr>
          <p:cNvPr id="7" name="Tarjeta Piñón y rueda libre"/>
          <p:cNvSpPr/>
          <p:nvPr/>
        </p:nvSpPr>
        <p:spPr>
          <a:xfrm>
            <a:off x="429768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Piñón y rueda libre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Dientes sin desgaste ni roturas.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Gira libre en un sentido y bloquea en el otro.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Desliza suavemente por las estrías.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Corona del volante sin dientes dañados.</a:t>
            </a:r>
            <a:endParaRPr lang="en-US" sz="1500" dirty="0"/>
          </a:p>
        </p:txBody>
      </p:sp>
      <p:sp>
        <p:nvSpPr>
          <p:cNvPr id="10" name="Tarjeta Solenoide"/>
          <p:cNvSpPr/>
          <p:nvPr/>
        </p:nvSpPr>
        <p:spPr>
          <a:xfrm>
            <a:off x="809244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Solenoide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Continuidad 50 → C (bobina de atracción).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Continuidad 50 → masa (bobina de retención).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Prueba con 12 V: debe atraer y retener.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Contactos 30–C sin quemaduras.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Fallas prematuras del motor de arranque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0807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Rotura del piñón: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accionar la llave con el motor en marcha o en oscilación de la corona.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Colector centrifugado: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piñón queda atrapado en el volante y el inducido se embala.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Sobrecarga de corriente: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arranques prolongados, batería débil o sobredimensionada → inducido quemado.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Entrada de contaminantes o agua: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desgaste y corrosión de rodamientos y colector.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Siempre identificar la causa antes de montar un repuesto.</a:t>
            </a:r>
            <a:endParaRPr lang="en-US" sz="1600" dirty="0"/>
          </a:p>
        </p:txBody>
      </p:sp>
      <p:pic>
        <p:nvPicPr>
          <p:cNvPr id="5" name="Figura f_inducido.png" descr="f_induc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0083" y="1234440"/>
            <a:ext cx="2970713" cy="4572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1228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MAHLE (s. f.).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2.5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Características eléctricas del motor de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Indicadores, potencia útil, fuerza contraelectromotriz, potencia máxima y par de arranque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2.5.1 Indicadores principales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12 V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Tensión nominal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319272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0,8–3 kW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Potencia nominal en turismos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35624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100–400 A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135624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Corriente de arranque típica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51976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1:3 a 1:5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951976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Reducción en motores con reductora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91840"/>
          <a:ext cx="11201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641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Qué expresa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Par (M)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Fuerza de giro en el piñón (N·m); máximo con el motor parado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Velocidad (n)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Revoluciones por minuto del inducido; máxima en vacío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Corriente (I)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Máxima al arrancar (rotor bloqueado), mínima en vacío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Potencia útil (P)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Producto de par por velocidad angular; máxima a la mitad de la velocidad en vacío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2.5.2 Potencia útil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potencia útil es la potencia mecánica que entrega el piñón.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calcula con el par (N·m) y la velocidad (rpm).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Rendimiento: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η = Pútil / Pabsorbida; la potencia absorbida es V · I.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kpm = 9,81 N·m; 1 CV = 736 W.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3931920"/>
            <a:ext cx="5669280" cy="1280160"/>
          </a:xfrm>
          <a:prstGeom prst="roundRect">
            <a:avLst>
              <a:gd name="adj" fmla="val 5714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931920"/>
            <a:ext cx="5669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(W) = 2π · n · M / 60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P / (V · I)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banco a 300 A: n = 2 200 rpm; M = 0,9 kpm; batería 9,8 V.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 = 0,9 · 9,81 = 8,83 N·m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 = 2π · 2200 · 8,83 / 60 = 2 034 W ≈ 2,76 CV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Pabs = 9,8 · 300 = 2 940 W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η = 2 034 / 2 940 = 0,69 → 69 %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2.5.3 Fuerza contraelectromotriz (f.c.e.m.)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108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 girar, el inducido corta las líneas del campo y genera una tensión que se opone a la aplicada: la f.c.e.m. (E′).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E′ es proporcional a la velocidad: con el motor parado E′ = 0.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 eso la corriente es máxima al arrancar y disminuye al aumentar las rpm.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Rᵢ: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resistencia interna (inducido + inductoras + escobillas).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43484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434840"/>
            <a:ext cx="5669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E′ + I · Rᵢ   →   I = (V − E′) / Rᵢ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737360"/>
            <a:ext cx="51206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 = 10 V en bornes; Rᵢ = 0,025 Ω.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a) Arranque (n = 0):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E′ = 0 → I = 10 / 0,025 = 400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b) Girando (E′ = 6 V):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 = (10 − 6) / 0,025 = 160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c) Casi en vacío (E′ = 9,5 V):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 = 0,5 / 0,025 = 20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Conclusión: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f.c.e.m. limita la corriente; si el motor se bloquea, la corriente sube al máximo.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2.5.4 Potencia máxima y 2.5.5 Par de arranque</a:t>
            </a:r>
            <a:endParaRPr lang="en-US" sz="2800" dirty="0"/>
          </a:p>
        </p:txBody>
      </p:sp>
      <p:sp>
        <p:nvSpPr>
          <p:cNvPr id="4" name="Tarjeta Potencia máxima"/>
          <p:cNvSpPr/>
          <p:nvPr/>
        </p:nvSpPr>
        <p:spPr>
          <a:xfrm>
            <a:off x="502920" y="123444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Potencia máxima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potencia interna P = E′ · I es máxima cuando E′ = V/2.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Ocurre aproximadamente a la mitad de la velocidad en vacío y con la mitad de la corriente de cortocircuito.</a:t>
            </a:r>
            <a:endParaRPr lang="en-US" sz="1500" dirty="0"/>
          </a:p>
        </p:txBody>
      </p:sp>
      <p:sp>
        <p:nvSpPr>
          <p:cNvPr id="7" name="Tarjeta Par de arranque"/>
          <p:cNvSpPr/>
          <p:nvPr/>
        </p:nvSpPr>
        <p:spPr>
          <a:xfrm>
            <a:off x="6217920" y="123444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 de arranque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 el par con el motor bloqueado (n = 0).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 el mayor par que puede dar: proporcional a I (motor de imanes) o a I² (serie, sin saturación).</a:t>
            </a:r>
            <a:endParaRPr lang="en-US" sz="1500" dirty="0"/>
          </a:p>
        </p:txBody>
      </p:sp>
      <p:sp>
        <p:nvSpPr>
          <p:cNvPr id="10" name="Ecuación"/>
          <p:cNvSpPr/>
          <p:nvPr/>
        </p:nvSpPr>
        <p:spPr>
          <a:xfrm>
            <a:off x="502920" y="393192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93192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P_máx = V² / (4 · Rᵢ)        I_cc = V / Rᵢ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02920" y="4983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4983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4937760"/>
            <a:ext cx="8961120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 V = 10 V y Rᵢ = 0,025 Ω: I_cc = 400 A; P_máx = 100 / 0,1 = 1 000 W, a I = 200 A y E′ = 5 V.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2.6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Ensayos del motor en el banco de pruebas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2.6.1 Prueba en vacío · 2.6.2 Prueba en carga · 2.6.3 Curvas características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banco de pruebas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Permite verificar el motor de arranque reparado antes de montarlo en el vehículo.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Pasos previos: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elegir la corona según el módulo del piñón, fijar el motor y hacer las conexiones.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Engrane correcto: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distancia piñón–corona de 3 a 5 mm y holgura de dientes de 0,2 a 0,5 mm.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 el ISTS: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probador MSG MS016 con cable MS-33503A y banco de arranque de la práctica 23.</a:t>
            </a:r>
            <a:endParaRPr lang="en-US" sz="1600" dirty="0"/>
          </a:p>
        </p:txBody>
      </p:sp>
      <p:pic>
        <p:nvPicPr>
          <p:cNvPr id="5" name="Figura a_banco.png" descr="a_b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299783"/>
            <a:ext cx="5852160" cy="444131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0" y="5795961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2.6.1 Prueba en vacío y 2.6.2 Prueba en carga</a:t>
            </a:r>
            <a:endParaRPr lang="en-US" sz="2800" dirty="0"/>
          </a:p>
        </p:txBody>
      </p:sp>
      <p:pic>
        <p:nvPicPr>
          <p:cNvPr id="4" name="Figura a_banco_conex.png" descr="a_banco_con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809" y="1234440"/>
            <a:ext cx="4734863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55464"/>
            <a:ext cx="47348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arjeta Prueba en vacío"/>
          <p:cNvSpPr/>
          <p:nvPr/>
        </p:nvSpPr>
        <p:spPr>
          <a:xfrm>
            <a:off x="5943600" y="123444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08192" y="1344168"/>
            <a:ext cx="5431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Prueba en vacío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108192" y="1783080"/>
            <a:ext cx="54315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corona: el piñón avanza pero no engrana.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Leer rpm e intensidad y comparar con el fabricante.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Hacerla rápido: el inducido podría centrifugarse.</a:t>
            </a:r>
            <a:endParaRPr lang="en-US" sz="1500" dirty="0"/>
          </a:p>
        </p:txBody>
      </p:sp>
      <p:sp>
        <p:nvSpPr>
          <p:cNvPr id="9" name="Tarjeta Prueba en carga (par bloqueado)"/>
          <p:cNvSpPr/>
          <p:nvPr/>
        </p:nvSpPr>
        <p:spPr>
          <a:xfrm>
            <a:off x="5943600" y="3749040"/>
            <a:ext cx="5760720" cy="2468880"/>
          </a:xfrm>
          <a:prstGeom prst="roundRect">
            <a:avLst>
              <a:gd name="adj" fmla="val 2963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08192" y="3858768"/>
            <a:ext cx="5431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Prueba en carga (par bloqueado)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108192" y="429768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Frenar la corona con el pedal del banco.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Leer intensidad y par; el inducido no gira (rueda libre bloqueada).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Máximo 4 s para evitar calentamiento.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2.6.3 Curvas características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914400"/>
                <a:gridCol w="1005840"/>
                <a:gridCol w="109728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 (A)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(rpm)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 (kpm)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 (N·m)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 (W)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 (CV)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∞ (vacío)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1,0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3 000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4,9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1 541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2,09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2 200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0,9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8,8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2 034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2,76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1 600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1,275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12,5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2 096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2,85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1 100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1,75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17,2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1 978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2,69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600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600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21,6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1 356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1,84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700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2,6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25,5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534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0,73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pic>
        <p:nvPicPr>
          <p:cNvPr id="5" name="Figura a_curvas.png" descr="a_cu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4510" y="1234440"/>
            <a:ext cx="4381861" cy="34747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12280" y="4764024"/>
            <a:ext cx="43818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502920" y="5212080"/>
            <a:ext cx="11201400" cy="1005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velocidad cae al aumentar la corriente; el par crece con la corriente.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potencia es máxima a valores intermedios (≈ 400 A en este motor).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2.7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Práctica de taller: arranque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Prácticas 8P1 a 8P5 y proyectos integradores del laboratorio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Prácticas de arranque de la guía unificada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251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Práctica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Contenido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Equipo del laboratorio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8P1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Diagnóstico del circuito de arranque en el vehículo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Multímetro DA-830, pinza amperimétrica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8P2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Desmontaje, comprobación y montaje del motor de arranque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Herramientas, óhmetro, reloj comparador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8P3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Comprobación del inducido y bobinas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Zumbador (P26), óhmetro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8P4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Ensayo en banco del motor de arranque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MSG MS016 + cable MS-33503A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8P5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Análisis de fallas y mantenimiento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Manual de fallas MAHLE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P23 / P26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Proyectos integradores: banco de arranque y zumbador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Construcción por grupos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2.8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Constitución del sistema de carga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Componentes y finalidad de cada uno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Misión del sistema de carga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 el motor en marcha, el alternador alimenta a todos los consumidores y recarga la batería.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Debe mantener la tensión entre ≈ 13,8 y 14,7 V a cualquier régimen y carga.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Sustituyó a la dinamo: genera corriente incluso en ralentí, pesa menos y no tiene colector de delgas.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Consecuencia de una falla: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batería se descarga y fallan el encendido, la inyección y las unidades de control.</a:t>
            </a:r>
            <a:endParaRPr lang="en-US" sz="1600" dirty="0"/>
          </a:p>
        </p:txBody>
      </p:sp>
      <p:pic>
        <p:nvPicPr>
          <p:cNvPr id="4" name="Figura c_alternador.png" descr="c_altern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337951"/>
            <a:ext cx="5852160" cy="43649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5757793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Componentes del sistema de carga</a:t>
            </a:r>
            <a:endParaRPr lang="en-US" sz="2800" dirty="0"/>
          </a:p>
        </p:txBody>
      </p:sp>
      <p:pic>
        <p:nvPicPr>
          <p:cNvPr id="4" name="Figura c_circuito.png" descr="c_circu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2543"/>
            <a:ext cx="6400800" cy="290987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207281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7178040" y="12344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Alternador: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Genera corriente alterna y la rectifica.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178040" y="20756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Regulador: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Mantiene constante la tensión.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178040" y="29169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Batería: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Almacena y estabiliza.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178040" y="375818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Testigo de carga: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Avisa si no hay carga.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459943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Llave de contacto: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Alimenta la preexcitación.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54406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75A"/>
                </a:solidFill>
              </a:rPr>
              <a:t>Correa y polea: </a:t>
            </a:r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Transmiten el giro del cigüeñal.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754880"/>
            <a:ext cx="6400800" cy="1463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Bornes habituales: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B+ (salida de carga), D+ (excitación y testigo), DF (campo), W (señal de fase para rpm), 31/B− (masa), L/S/IG en reguladores multifunción.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Balance energético: elegir el alternador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suman los consumos permanentes, prolongados y breves, ponderando su tiempo de uso.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corriente media del alternador en ralentí debe cubrir los consumidores habituales.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capacidad de la batería y las condiciones de uso (ciudad, noche, frío) influyen.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384048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840480"/>
            <a:ext cx="5669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I_alt ≥ 1,25 · (Σ P_consumidores / 14 V)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Consumidor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Encendido + inyección + ECU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Luces de cruce (2 × 55)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Posición y matrícula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Ventilador del habitáculo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Limpiaparabrisas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60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Luneta térmica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</a:rPr>
                        <a:t>680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583680" y="5029200"/>
            <a:ext cx="512064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 = 680 / 14 = 48,6 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 25 % de reserva para recargar la batería: 61 A → alternador de 70 A como mínimo.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2.9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Circuito de carga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2.9.1 Comprobación y diagnóstico · 2.9.2 Desmontaje y montaje del alternador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Preexcitación y autoexcitación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49834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Preexcitación: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motor parado, llave en contacto: la corriente va batería → testigo → D+ → regulador → rotor. El testigo se enciende.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magnetismo remanente del rotor no basta para generar: hace falta esta corriente inicial.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Autoexcitación: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girar, los diodos de excitación alimentan D+; ambos lados del testigo tienen la misma tensión y se apaga.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Testigo fundido: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alternadores clásicos no hay preexcitación y el alternador puede no cargar (Calsina Fleta, 2011).</a:t>
            </a:r>
            <a:endParaRPr lang="en-US" sz="1600" dirty="0"/>
          </a:p>
        </p:txBody>
      </p:sp>
      <p:pic>
        <p:nvPicPr>
          <p:cNvPr id="5" name="Figura c_preexc.png" descr="c_preex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09928"/>
            <a:ext cx="6035040" cy="36210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538581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2.9.1 Diagnóstico en el vehículo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2194560"/>
                <a:gridCol w="3246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Prueba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orientativo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de regulación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2 000 rpm de motor, sin consumos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13,8 – 14,7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&gt; 14,8 V: regulador; &lt; 13,5 V: no carga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con consumos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Luces, ventilador y luneta encendidos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≥ 13,5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Cae mucho: alternador débil o correa patinando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Corriente máxima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Batería algo descargada, consumos al máximo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≥ 90 % de la nominal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Baja: diodos, estator o escobillas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Caída en el positivo B+ → (+) batería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Cargando con consumos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≤ 0,5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Terminal o cable B+ deficiente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Caída en la masa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Carcasa → (−) batería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≤ 0,2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Masa del alternador o del motor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Rizado (CA) en B+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Multímetro en V~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&lt; 0,5 V 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Mayor: diodo defectuoso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02920" y="5623560"/>
            <a:ext cx="11201400" cy="640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También: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estado y tensión de la correa, fusible de carga, testigo (enciende con contacto y se apaga al arrancar).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diagnóstico del sistema de carga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6400800" cy="4434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Síntoma: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batería amanece descargada; testigo apagado.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Medidas a 2 000 rpm: </a:t>
            </a:r>
            <a:pPr indent="0" marL="0">
              <a:buNone/>
            </a:pP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Bornes de batería: 12,9 V · B+ del alternador: 14,2 V · rizado 0,12 V CA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Caída en el positivo: 14,2 − 12,9 = 1,3 V (&gt; 0,5 V)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alternador regula bien (14,2 V) y los diodos están bien (rizado bajo).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Diagnóstico: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cable o terminal B+ (o el fusible de carga) tiene alta resistencia: la batería no recibe carga suficiente.</a:t>
            </a:r>
            <a:endParaRPr lang="en-US" sz="1600" dirty="0"/>
          </a:p>
        </p:txBody>
      </p:sp>
      <p:pic>
        <p:nvPicPr>
          <p:cNvPr id="7" name="Figura i_flujo.png" descr="i_flu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9979" y="1234440"/>
            <a:ext cx="3419562" cy="4617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59070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INATEC (2016).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2.9.2 Desmontaje y montaje del alternador en el vehículo</a:t>
            </a:r>
            <a:endParaRPr lang="en-US" sz="2800" dirty="0"/>
          </a:p>
        </p:txBody>
      </p:sp>
      <p:sp>
        <p:nvSpPr>
          <p:cNvPr id="4" name="Tarjeta Procedimiento"/>
          <p:cNvSpPr/>
          <p:nvPr/>
        </p:nvSpPr>
        <p:spPr>
          <a:xfrm>
            <a:off x="502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Procedimiento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Desconectar el negativo de la batería.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Marcar y desconectar B+, conector D+/regulador y masa.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Aflojar el tensor y retirar la correa; anotar su recorrido.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Soltar los pernos de fijación y retirar el alternador.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Montaje inverso: tensión de correa según fabricante; polaridad correcta; negativo al final.</a:t>
            </a:r>
            <a:endParaRPr lang="en-US" sz="1500" dirty="0"/>
          </a:p>
        </p:txBody>
      </p:sp>
      <p:sp>
        <p:nvSpPr>
          <p:cNvPr id="7" name="Tarjeta Precauciones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Precauciones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invertir la polaridad: destruye los diodos.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hacer funcionar el alternador sin batería (circuito abierto).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hacer «prueba de chispa» en B+.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Desconectar el alternador antes de soldar en el vehículo.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derramar refrigerante ni aceite por las rejillas.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2.10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El alternador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Principio, componentes, estrella y triángulo, despiece y comprobación, banco de pruebas y curvas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2.10.1 Principio de funcionamiento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Inducción electromagnética: un conductor que corta líneas de campo genera una f.e.m.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rotor (electroimán) gira dentro de las bobinas fijas del estator.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bobina genera una f.e.m. alterna senoidal; las tres fases están desfasadas 120°.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f.e.m. aumenta con la velocidad y con la corriente de excitación.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02336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023360"/>
            <a:ext cx="56692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B · L · v        f = p · n / 60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892040"/>
            <a:ext cx="566928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p: pares de polos (6 en un rotor de 12 polos); n: rpm del alternador. A 3 000 rpm: f = 6 · 3000 / 60 = 300 Hz.</a:t>
            </a:r>
            <a:endParaRPr lang="en-US" sz="1400" dirty="0"/>
          </a:p>
        </p:txBody>
      </p:sp>
      <p:pic>
        <p:nvPicPr>
          <p:cNvPr id="8" name="Figura c_principio.png" descr="c_prin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815" y="1234440"/>
            <a:ext cx="4972929" cy="1920240"/>
          </a:xfrm>
          <a:prstGeom prst="rect">
            <a:avLst/>
          </a:prstGeom>
        </p:spPr>
      </p:pic>
      <p:pic>
        <p:nvPicPr>
          <p:cNvPr id="9" name="Figura c_fem3.png" descr="c_fem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346503"/>
            <a:ext cx="5212080" cy="249671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92240" y="5898081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2.10.2 Componentes del alternador</a:t>
            </a:r>
            <a:endParaRPr lang="en-US" sz="2800" dirty="0"/>
          </a:p>
        </p:txBody>
      </p:sp>
      <p:pic>
        <p:nvPicPr>
          <p:cNvPr id="4" name="Figura c_despiece.png" descr="c_despie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70" y="1188720"/>
            <a:ext cx="5236580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236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400800" y="1234440"/>
            <a:ext cx="530352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Rotor (inductor):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bobina de excitación entre dos masas polares en garra (12 polos alternados); anillos rozantes.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Estator (inducido):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paquete de chapas con 3 bobinas (fases).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Puente rectificador: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 o 9 diodos; algunos con zener.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Regulador y portaescobillas: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controlan la corriente de excitación.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Tapas, rodamientos, ventilador y polea.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Rotor y estator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Rotor: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corriente de excitación (2–5 A) entra por las escobillas y los anillos; crea polos N y S alternados en las garras.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Estator: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bobinas se alojan en ranuras del paquete de chapas aisladas (reduce las corrientes de Foucault).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Algunos alternadores modernos tienen 6 bobinas (dos sistemas trifásicos) para más corriente y menos ruido.</a:t>
            </a:r>
            <a:endParaRPr lang="en-US" sz="1600" dirty="0"/>
          </a:p>
        </p:txBody>
      </p:sp>
      <p:pic>
        <p:nvPicPr>
          <p:cNvPr id="4" name="Figura c_rotor_bosch.png" descr="c_rotor_bos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695767"/>
            <a:ext cx="5852160" cy="3649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5399977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2.10.3 Conexión en estrella y en triángulo</a:t>
            </a:r>
            <a:endParaRPr lang="en-US" sz="2800" dirty="0"/>
          </a:p>
        </p:txBody>
      </p:sp>
      <p:pic>
        <p:nvPicPr>
          <p:cNvPr id="4" name="Figura c_estrella_tri.png" descr="c_estrella_t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40" y="1234440"/>
            <a:ext cx="2265680" cy="35661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55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089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Estrella (Y)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Triángulo (Δ)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Tensión de línea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 = √3 · E_f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 = E_f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Corriente de línea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 = I_f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I = √3 · I_f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Punto neutro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Sí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Ventaja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Más tensión a bajas rpm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Más corriente a altas rpm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Uso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Turismos (lo más común)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Alternadores de gran corriente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7" name="Ecuación"/>
          <p:cNvSpPr/>
          <p:nvPr/>
        </p:nvSpPr>
        <p:spPr>
          <a:xfrm>
            <a:off x="3291840" y="457200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329184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√3 · E · I</a:t>
            </a:r>
            <a:endParaRPr lang="en-US" sz="2200" dirty="0"/>
          </a:p>
        </p:txBody>
      </p:sp>
      <p:sp>
        <p:nvSpPr>
          <p:cNvPr id="9" name="Shape 4"/>
          <p:cNvSpPr/>
          <p:nvPr/>
        </p:nvSpPr>
        <p:spPr>
          <a:xfrm>
            <a:off x="6766560" y="45720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76656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676656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Estrella con E_f = 8 V e I_f = 40 A: E = 13,9 V; I = 40 A; P = √3 · 13,9 · 40 ≈ 963 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Rectificación: el puente de diodos</a:t>
            </a:r>
            <a:endParaRPr lang="en-US" sz="2800" dirty="0"/>
          </a:p>
        </p:txBody>
      </p:sp>
      <p:pic>
        <p:nvPicPr>
          <p:cNvPr id="4" name="Figura c_hexadiodo.png" descr="c_hexad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048" y="1234440"/>
            <a:ext cx="4586384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032504"/>
            <a:ext cx="45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234440"/>
            <a:ext cx="5760720" cy="3291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Seis diodos de potencia (3 positivos y 3 negativos) rectifican las dos semiondas de las tres fases.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diodos impiden que la batería se descargue a través del alternador con el motor parado.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Nanodiodo (9 diodos):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 diodos de excitación alimentan D+ y el testigo.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Diodos zener: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algunos puentes los usan para recortar sobretensiones.</a:t>
            </a:r>
            <a:endParaRPr lang="en-US" sz="1500" dirty="0"/>
          </a:p>
        </p:txBody>
      </p:sp>
      <p:pic>
        <p:nvPicPr>
          <p:cNvPr id="7" name="Figura c_placas.png" descr="c_pla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219" y="4526280"/>
            <a:ext cx="2506043" cy="1371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pic>
        <p:nvPicPr>
          <p:cNvPr id="9" name="Figura c_rect_3f.png" descr="c_rect_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532" y="4572000"/>
            <a:ext cx="3366856" cy="1691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2.10.4 Despiece y comprobación del rotor</a:t>
            </a:r>
            <a:endParaRPr lang="en-US" sz="2800" dirty="0"/>
          </a:p>
        </p:txBody>
      </p:sp>
      <p:pic>
        <p:nvPicPr>
          <p:cNvPr id="4" name="Figura old_car_s66_1.jpg" descr="old_car_s66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005" y="1234440"/>
            <a:ext cx="4780230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483864"/>
            <a:ext cx="47802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diapositivas de clase ISTS, Electricidad Automotriz I (2022).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1234440"/>
            <a:ext cx="53949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 sin grietas, garras sin roce, anillos lisos y brillantes.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Resistencia de la bobina (entre anillos):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2–6 Ω según modelo. Menor: espiras en corto; infinito: bobina cortada.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Aislamiento (anillo–eje):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infinito; si hay continuidad, cambiar el rotor.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Anillos: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tornear si están rayados; excentricidad ≤ 0,05 mm y diámetro mínimo del fabricante.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40690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4526280"/>
            <a:ext cx="5486400" cy="16459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Rotor de 3,2 Ω alimentado a 14 V → I_exc = 14 / 3,2 = 4,4 A. Si midiera 1,5 Ω, la corriente sería 9,3 A: dañaría el regulador.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del estator</a:t>
            </a:r>
            <a:endParaRPr lang="en-US" sz="2800" dirty="0"/>
          </a:p>
        </p:txBody>
      </p:sp>
      <p:pic>
        <p:nvPicPr>
          <p:cNvPr id="4" name="Figura c_estator_aisl.png" descr="c_estator_ais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007" y="1234440"/>
            <a:ext cx="4684466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032504"/>
            <a:ext cx="4684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234440"/>
            <a:ext cx="5760720" cy="3291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bobinas sin barniz quemado ni deformaciones.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Aislamiento a masa: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óhmetro entre cada fase y el núcleo → infinito.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Continuidad y resistencia entre fases: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las tres medidas iguales, ≈ 0,1–0,35 Ω.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Valores tan bajos requieren multímetro de buena resolución o el método voltímetro–amperímetro con fuente de 6 V.</a:t>
            </a:r>
            <a:endParaRPr lang="en-US" sz="1500" dirty="0"/>
          </a:p>
        </p:txBody>
      </p:sp>
      <p:pic>
        <p:nvPicPr>
          <p:cNvPr id="7" name="Figura old_car_s69_1.jpg" descr="old_car_s69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481" y="4572000"/>
            <a:ext cx="3518957" cy="13258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98932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diapositivas de clase ISTS, Electricidad Automotriz I (2022).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del puente rectificador</a:t>
            </a:r>
            <a:endParaRPr lang="en-US" sz="2800" dirty="0"/>
          </a:p>
        </p:txBody>
      </p:sp>
      <p:pic>
        <p:nvPicPr>
          <p:cNvPr id="4" name="Figura c_diodos_prueba.png" descr="c_diodos_prue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8636"/>
            <a:ext cx="3108960" cy="432932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7628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3840480" y="1234440"/>
            <a:ext cx="40233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Preparación: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puente desconectado del estator.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Modo diodo: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punta roja al ánodo, negra al cátodo → 0,4–0,7 V.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Invertir: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debe marcar OL (bloqueo).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Repetir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los 6 diodos de potencia y en los 3 de excitación.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 un diodo falla: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sustituye la placa completa.</a:t>
            </a:r>
            <a:endParaRPr lang="en-US" sz="1500" dirty="0"/>
          </a:p>
        </p:txBody>
      </p:sp>
      <p:pic>
        <p:nvPicPr>
          <p:cNvPr id="7" name="Figura old_car_s71_1.jpg" descr="old_car_s71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548" y="1234440"/>
            <a:ext cx="3581664" cy="1828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07548" y="311810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diapositivas de clase ISTS, Electricidad Automotriz I (2022).</a:t>
            </a:r>
            <a:endParaRPr lang="en-US" sz="1000" dirty="0"/>
          </a:p>
        </p:txBody>
      </p:sp>
      <p:pic>
        <p:nvPicPr>
          <p:cNvPr id="9" name="Figura old_car_s72_1.jpg" descr="old_car_s72_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698" y="3657600"/>
            <a:ext cx="2677363" cy="21945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138160" y="59070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diapositivas de clase ISTS, Electricidad Automotriz I (2022).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Fallas prematuras del alternador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0807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Contaminantes abrasivos: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barro y polvo bloquean escobillas y queman el puente rectificador.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Escobillas y anillos quemados: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productos químicos de limpieza del motor (desengrasantes).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Cortocircuito: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inversión de polaridad o arranque con pinzas mal conectadas.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Entrada de agua e impactos.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Correctivo: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lavar el motor solo con agua y proteger el alternador.</a:t>
            </a:r>
            <a:endParaRPr lang="en-US" sz="1600" dirty="0"/>
          </a:p>
        </p:txBody>
      </p:sp>
      <p:pic>
        <p:nvPicPr>
          <p:cNvPr id="4" name="Figura f_puente_quemado.png" descr="f_puente_quem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510325"/>
            <a:ext cx="4937760" cy="40202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5585419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MAHLE (s. f.).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2.10.5 Comprobación en el banco de pruebas</a:t>
            </a:r>
            <a:endParaRPr lang="en-US" sz="2800" dirty="0"/>
          </a:p>
        </p:txBody>
      </p:sp>
      <p:pic>
        <p:nvPicPr>
          <p:cNvPr id="4" name="Figura c_banco_alt.png" descr="c_banco_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71" y="1234440"/>
            <a:ext cx="4550858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29784"/>
            <a:ext cx="455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arjeta Prueba del regulador"/>
          <p:cNvSpPr/>
          <p:nvPr/>
        </p:nvSpPr>
        <p:spPr>
          <a:xfrm>
            <a:off x="5760720" y="123444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25312" y="1344168"/>
            <a:ext cx="5614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Prueba del regulador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25312" y="1783080"/>
            <a:ext cx="56144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Girar el alternador hasta 14 V: se apaga el testigo.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Subir a 4 000 rpm con 5 A de carga: la tensión debe mantenerse constante.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sube o baja, sustituir el regulador.</a:t>
            </a:r>
            <a:endParaRPr lang="en-US" sz="1500" dirty="0"/>
          </a:p>
        </p:txBody>
      </p:sp>
      <p:sp>
        <p:nvSpPr>
          <p:cNvPr id="9" name="Tarjeta Carga y máxima potencia"/>
          <p:cNvSpPr/>
          <p:nvPr/>
        </p:nvSpPr>
        <p:spPr>
          <a:xfrm>
            <a:off x="5760720" y="3794760"/>
            <a:ext cx="5943600" cy="2423160"/>
          </a:xfrm>
          <a:prstGeom prst="roundRect">
            <a:avLst>
              <a:gd name="adj" fmla="val 3019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25312" y="3904488"/>
            <a:ext cx="5614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Carga y máxima potencia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925312" y="4343400"/>
            <a:ext cx="5614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2 500 rpm y 14 V: intensidad según ficha (≈ 10–30 A).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5 000 rpm y 14 V: intensidad nominal según ficha.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Valores bajos: desmontar y comprobar los elementos.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2.10.6 Curvas características del alternador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223760" y="1234440"/>
            <a:ext cx="4480560" cy="2743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Velocidad de conexión: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rpm a las que empieza a cargar (≈ 1 000–1 200).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Corriente en ralentí: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1 800 rpm del alternador.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Corriente nominal: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6 000 rpm.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Corriente máxima: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velocidad máxima.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7223760" y="41148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2237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4572000"/>
            <a:ext cx="4480560" cy="1463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Ralentí 800 rpm, polea 2,8:1 → 800 · 2,8 = 2 240 rpm del alternador ≈ 45 A disponibles.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2.11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Reguladores de tensión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2.11.1 Misión · 2.11.2 Tipos y funcionamiento · 2.11.3 Conexión en el circuito de carga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2.11.1 Misión del regulador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7607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tensión del alternador crece con las rpm y con la corriente de excitación.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regulador limita la tensión máxima variando la corriente de excitación del rotor.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Conecta y desconecta la excitación muchas veces por segundo: la relación entre tiempo conectado y desconectado fija la corriente media.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Bajas rpm: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conectado más tiempo. Altas rpm: desconectado más tiempo.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Compensación térmica: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tensión regulada baja con el calor (la batería admite menos tensión caliente).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6583680" y="123444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234440"/>
            <a:ext cx="51206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I_exc media = (V / R_rotor) · t_on / (t_on + t_off)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22860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74320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rotor de 3,5 Ω a 14 V.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Corriente máxima: 14 / 3,5 = 4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ralentí (t_on 80 %): 3,2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5 000 rpm (t_on 25 %): 1 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regulador baja la excitación al subir las rpm para mantener ≈ 14 V.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2.11.2 Tipos de reguladores</a:t>
            </a:r>
            <a:endParaRPr lang="en-US" sz="2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2103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Funcionamiento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Mantenimiento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Electromagnético (de contactos)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Un electroimán abre y cierra un contacto en serie con la excitación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Ajustable (entrehierro y tarado); hoy solo recambio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 ayuda electrónica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Los contactos gobiernan un transistor que maneja la excitación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Menos chispa y desgaste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 discreto (EE Bosch)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Zener + transistores: al superar la tensión, el zener conduce y corta T2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No reparable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Híbrido / monolítico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Circuito integrado en placa cerámica o en un chip; integrado al portaescobillas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No reparable; se sustituye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Multifunción (LIN / ECU)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La unidad de control fija la tensión objetivo y gestiona el testigo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Diagnóstico con escáner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pic>
        <p:nvPicPr>
          <p:cNvPr id="5" name="Figura c_reg_electromag.png" descr="c_reg_electro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0188" y="1234440"/>
            <a:ext cx="1599304" cy="20116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641080" y="3300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pic>
        <p:nvPicPr>
          <p:cNvPr id="7" name="Figura c_reg_pcb.png" descr="c_reg_pc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575" y="3794760"/>
            <a:ext cx="2728530" cy="20574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8641080" y="5907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Regulador electrónico: funcionamiento</a:t>
            </a:r>
            <a:endParaRPr lang="en-US" sz="2800" dirty="0"/>
          </a:p>
        </p:txBody>
      </p:sp>
      <p:pic>
        <p:nvPicPr>
          <p:cNvPr id="4" name="Figura c_reg_transist.png" descr="c_reg_trans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755" y="1234440"/>
            <a:ext cx="5074731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29784"/>
            <a:ext cx="50747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Calsina Fleta (2011).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1234440"/>
            <a:ext cx="53949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baja (conectado):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zener (DZ) no conduce; T1 bloqueado; T2 conduce y alimenta el rotor (Exc).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alta (desconectado):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zener conduce, T1 conduce y lleva a cero la base de T2: se corta la excitación.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Diodo extintor: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absorbe la tensión inducida del rotor al cortar, protegiendo el transistor.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ciclo se repite rápidamente y la tensión oscila poco alrededor del valor teórico.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2.11.3 Conexión del regulador en el circuito</a:t>
            </a:r>
            <a:endParaRPr lang="en-US" sz="2800" dirty="0"/>
          </a:p>
        </p:txBody>
      </p:sp>
      <p:pic>
        <p:nvPicPr>
          <p:cNvPr id="4" name="Figura old_car_s58_2.jpg" descr="old_car_s58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11" y="1234440"/>
            <a:ext cx="5231898" cy="4023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12664"/>
            <a:ext cx="5231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diapositivas de clase ISTS, Electricidad Automotriz I (2022).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492240" y="1234440"/>
            <a:ext cx="521208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Regulador interno: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integrado al portaescobillas (casi todos los actuales).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Regulador externo: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la carrocería, unido por bornes D+, DF y D−.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Mando por el lado positivo o negativo: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según corte el (+) o la masa del rotor.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Comprobación con fuente variable: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12 V la lámpara (rotor simulado) enciende; al superar ≈ 14,4 V debe apagarse.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2.12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Prácticas de taller: carga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Prácticas 9P1 a 9P5 y proyecto integrador 22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Prácticas de carga de la guía unificada</a:t>
            </a:r>
            <a:endParaRPr lang="en-US" sz="28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0"/>
                <a:gridCol w="4251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Práctica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Contenido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Equipo del laboratorio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9P1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Diagnóstico del sistema de carga en el vehículo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Multímetro DA-830, pinza, osciloscopio Hantek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9P2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Desmontaje y despiece del alternador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Herramientas, extractor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9P3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Comprobación de rotor, estator, diodos y escobillas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Multímetro (modo diodo y óhmetro)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9P4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Ensayo en banco del alternador y del regulador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MSG MS015A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9P5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Análisis de fallas y mantenimiento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Manual de fallas MAHLE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P22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Proyecto integrador: banco probador de alternadores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Construcción por grupos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Ideas clave de la unidad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 circuito de arranque tiene mando (borne 50) y potencia (borne 30): diagnostíquelos por separado.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 solenoide atrae con dos bobinas y retiene con una; la rueda libre protege el inducido.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La f.c.e.m. limita la corriente: máxima al arrancar, mínima en vacío.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P = 2π·n·M/60; la potencia máxima está a la mitad de la velocidad en vacío.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Antes de cambiar un motor de arranque, mida la batería y las caídas de tensión.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 alternador genera CA trifásica que el puente de diodos rectifica a CC.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El regulador mantiene ≈ 14 V variando la corriente de excitación del rotor.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7220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Sistema de carga sano: 13,8–14,7 V, caídas bajas y rizado &lt; 0,5 V 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Autoevaluación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¿Qué borne del solenoide recibe la señal de la llave en START? a) 30; b) 50; c) 31.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¿Qué bobina del solenoide queda cortocircuitada cuando el contacto principal se cierra?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Corona de 119 dientes y piñón de 9: ¿a cuántas rpm gira el inducido si el motor térmico va a 1 000 rpm?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corriente del motor de arranque es máxima: a) en vacío; b) a la mitad de velocidad; c) con el motor bloqueado.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Batería 10,2 V y borne 30 a 9,3 V durante el arranque: ¿la caída es admisible?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diodo en modo diodo marca 0,5 V en ambos sentidos: a) está bien; b) en cortocircuito; c) abierto.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Ejercicios propuestos (trabajo autónomo)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motor de arranque da 9 N·m a 2 000 rpm con 280 A y 10 V en bornes. Calcule la potencia útil y el rendimiento.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 V = 9,5 V, Rᵢ = 0,03 Ω y f.c.e.m. de 7 V, ¿qué corriente consume?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Para el motor anterior (V = 10 V), calcule la corriente de cortocircuito y la potencia máxima.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rotor de 12 polos gira a 4 500 rpm: ¿qué frecuencia tiene la CA del estator?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Los consumidores suman 860 W. Elija un alternador normalizado (50, 70, 90, 120 A) con 25 % de reserva.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rotor mide 3,6 Ω. ¿Qué corriente de excitación máxima toma a 14 V?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11201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Calsina Fleta, M. (2011). Circuitos electrotécnicos básicos: Sistemas de carga y arranque del vehículo. Macmillan Iberia.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Instituto Nacional Tecnológico. (2016). Sistema de carga y arranque del vehículo y circuitos electrónicos básicos: Manual del protagonista. INATEC.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MAHLE. (s. f.). Manual de fallas prematuras en alternadores y motores de arranque [Manual aftermarket].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Minga González, M. A. (2022). El sistema de carga [Diapositivas de clase, Electricidad Automotriz I]. Instituto Superior Tecnológico Sudamericano.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Minga González, M. A. (2026). Guía de prácticas de Electricidad Automotriz: prácticas 8P1–8P5 y 9P1–9P5. Instituto Superior Tecnológico Sudamericano.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¡Gracias!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Próxima unidad: Sistemas de encendido (U3)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¡Hacemos gente de talento!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TS Electricidad">
  <a:themeElements>
    <a:clrScheme name="ISTS Electricidad">
      <a:dk1>
        <a:srgbClr val="1B2A33"/>
      </a:dk1>
      <a:lt1>
        <a:srgbClr val="FFFFFF"/>
      </a:lt1>
      <a:dk2>
        <a:srgbClr val="00575A"/>
      </a:dk2>
      <a:lt2>
        <a:srgbClr val="E4F1F1"/>
      </a:lt2>
      <a:accent1>
        <a:srgbClr val="007578"/>
      </a:accent1>
      <a:accent2>
        <a:srgbClr val="F2A516"/>
      </a:accent2>
      <a:accent3>
        <a:srgbClr val="C0392B"/>
      </a:accent3>
      <a:accent4>
        <a:srgbClr val="2E6DA4"/>
      </a:accent4>
      <a:accent5>
        <a:srgbClr val="5B6770"/>
      </a:accent5>
      <a:accent6>
        <a:srgbClr val="8DC63F"/>
      </a:accent6>
      <a:hlink>
        <a:srgbClr val="2E6DA4"/>
      </a:hlink>
      <a:folHlink>
        <a:srgbClr val="6B4C9A"/>
      </a:folHlink>
    </a:clrScheme>
    <a:fontScheme name="ISTS Electricid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Electricidad Automotriz - Unidad 2: Sistema de arranque y carga</dc:title>
  <dc:subject>PEA MA.03.02 - PAO Octubre 2026 - Febrero 2027</dc:subject>
  <dc:creator>Ing. Miguel Angel Minga González</dc:creator>
  <cp:lastModifiedBy>Ing. Miguel Angel Minga González</cp:lastModifiedBy>
  <cp:revision>1</cp:revision>
  <dcterms:created xsi:type="dcterms:W3CDTF">2026-10-13T20:42:56Z</dcterms:created>
  <dcterms:modified xsi:type="dcterms:W3CDTF">2026-10-13T20:42:56Z</dcterms:modified>
</cp:coreProperties>
</file>