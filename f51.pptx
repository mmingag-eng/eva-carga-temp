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358" r:id="rId94"/>
    <p:sldId id="359" r:id="rId95"/>
    <p:sldId id="360" r:id="rId96"/>
    <p:sldId id="361" r:id="rId97"/>
    <p:sldId id="362" r:id="rId98"/>
    <p:sldId id="363" r:id="rId99"/>
    <p:sldId id="364" r:id="rId100"/>
    <p:sldId id="365" r:id="rId101"/>
    <p:sldId id="366" r:id="rId102"/>
    <p:sldId id="367" r:id="rId103"/>
    <p:sldId id="368" r:id="rId104"/>
    <p:sldId id="369" r:id="rId105"/>
    <p:sldId id="370" r:id="rId106"/>
    <p:sldId id="371" r:id="rId107"/>
    <p:sldId id="372" r:id="rId108"/>
  </p:sldIdLst>
  <p:sldSz cx="12188825"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8"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06" autoAdjust="0"/>
  </p:normalViewPr>
  <p:slideViewPr>
    <p:cSldViewPr showGuides="1">
      <p:cViewPr varScale="1">
        <p:scale>
          <a:sx n="81" d="100"/>
          <a:sy n="81" d="100"/>
        </p:scale>
        <p:origin x="725" y="62"/>
      </p:cViewPr>
      <p:guideLst>
        <p:guide orient="horz" pos="2160"/>
        <p:guide pos="3839"/>
      </p:guideLst>
    </p:cSldViewPr>
  </p:slideViewPr>
  <p:notesTextViewPr>
    <p:cViewPr>
      <p:scale>
        <a:sx n="1" d="1"/>
        <a:sy n="1" d="1"/>
      </p:scale>
      <p:origin x="0" y="0"/>
    </p:cViewPr>
  </p:notesTextViewPr>
  <p:notesViewPr>
    <p:cSldViewPr showGuides="1">
      <p:cViewPr varScale="1">
        <p:scale>
          <a:sx n="46" d="100"/>
          <a:sy n="46" d="100"/>
        </p:scale>
        <p:origin x="660" y="42"/>
      </p:cViewPr>
      <p:guideLst/>
    </p:cSldViewPr>
  </p:notesViewPr>
  <p:gridSpacing cx="76200" cy="76200"/>
</p:viewPr>
</file>

<file path=ppt/_rels/presentation.xml.rels><?xml version="1.0" encoding="utf-8"?><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  <Relationship Id="rId44" Type="http://schemas.openxmlformats.org/officeDocument/2006/relationships/slide" Target="slides/slide34.xml"/>
  <Relationship Id="rId45" Type="http://schemas.openxmlformats.org/officeDocument/2006/relationships/slide" Target="slides/slide35.xml"/>
  <Relationship Id="rId46" Type="http://schemas.openxmlformats.org/officeDocument/2006/relationships/slide" Target="slides/slide36.xml"/>
  <Relationship Id="rId47" Type="http://schemas.openxmlformats.org/officeDocument/2006/relationships/slide" Target="slides/slide37.xml"/>
  <Relationship Id="rId48" Type="http://schemas.openxmlformats.org/officeDocument/2006/relationships/slide" Target="slides/slide38.xml"/>
  <Relationship Id="rId49" Type="http://schemas.openxmlformats.org/officeDocument/2006/relationships/slide" Target="slides/slide39.xml"/>
  <Relationship Id="rId50" Type="http://schemas.openxmlformats.org/officeDocument/2006/relationships/slide" Target="slides/slide40.xml"/>
  <Relationship Id="rId51" Type="http://schemas.openxmlformats.org/officeDocument/2006/relationships/slide" Target="slides/slide41.xml"/>
  <Relationship Id="rId52" Type="http://schemas.openxmlformats.org/officeDocument/2006/relationships/slide" Target="slides/slide42.xml"/>
  <Relationship Id="rId53" Type="http://schemas.openxmlformats.org/officeDocument/2006/relationships/slide" Target="slides/slide43.xml"/>
  <Relationship Id="rId54" Type="http://schemas.openxmlformats.org/officeDocument/2006/relationships/slide" Target="slides/slide44.xml"/>
  <Relationship Id="rId55" Type="http://schemas.openxmlformats.org/officeDocument/2006/relationships/slide" Target="slides/slide45.xml"/>
  <Relationship Id="rId56" Type="http://schemas.openxmlformats.org/officeDocument/2006/relationships/slide" Target="slides/slide46.xml"/>
  <Relationship Id="rId57" Type="http://schemas.openxmlformats.org/officeDocument/2006/relationships/slide" Target="slides/slide47.xml"/>
  <Relationship Id="rId58" Type="http://schemas.openxmlformats.org/officeDocument/2006/relationships/slide" Target="slides/slide48.xml"/>
  <Relationship Id="rId59" Type="http://schemas.openxmlformats.org/officeDocument/2006/relationships/slide" Target="slides/slide49.xml"/>
  <Relationship Id="rId60" Type="http://schemas.openxmlformats.org/officeDocument/2006/relationships/slide" Target="slides/slide50.xml"/>
  <Relationship Id="rId61" Type="http://schemas.openxmlformats.org/officeDocument/2006/relationships/slide" Target="slides/slide51.xml"/>
  <Relationship Id="rId62" Type="http://schemas.openxmlformats.org/officeDocument/2006/relationships/slide" Target="slides/slide52.xml"/>
  <Relationship Id="rId63" Type="http://schemas.openxmlformats.org/officeDocument/2006/relationships/slide" Target="slides/slide53.xml"/>
  <Relationship Id="rId64" Type="http://schemas.openxmlformats.org/officeDocument/2006/relationships/slide" Target="slides/slide54.xml"/>
  <Relationship Id="rId65" Type="http://schemas.openxmlformats.org/officeDocument/2006/relationships/slide" Target="slides/slide55.xml"/>
  <Relationship Id="rId66" Type="http://schemas.openxmlformats.org/officeDocument/2006/relationships/slide" Target="slides/slide56.xml"/>
  <Relationship Id="rId67" Type="http://schemas.openxmlformats.org/officeDocument/2006/relationships/slide" Target="slides/slide57.xml"/>
  <Relationship Id="rId68" Type="http://schemas.openxmlformats.org/officeDocument/2006/relationships/slide" Target="slides/slide58.xml"/>
  <Relationship Id="rId69" Type="http://schemas.openxmlformats.org/officeDocument/2006/relationships/slide" Target="slides/slide59.xml"/>
  <Relationship Id="rId70" Type="http://schemas.openxmlformats.org/officeDocument/2006/relationships/slide" Target="slides/slide60.xml"/>
  <Relationship Id="rId71" Type="http://schemas.openxmlformats.org/officeDocument/2006/relationships/slide" Target="slides/slide61.xml"/>
  <Relationship Id="rId72" Type="http://schemas.openxmlformats.org/officeDocument/2006/relationships/slide" Target="slides/slide62.xml"/>
  <Relationship Id="rId73" Type="http://schemas.openxmlformats.org/officeDocument/2006/relationships/slide" Target="slides/slide63.xml"/>
  <Relationship Id="rId74" Type="http://schemas.openxmlformats.org/officeDocument/2006/relationships/slide" Target="slides/slide64.xml"/>
  <Relationship Id="rId75" Type="http://schemas.openxmlformats.org/officeDocument/2006/relationships/slide" Target="slides/slide65.xml"/>
  <Relationship Id="rId76" Type="http://schemas.openxmlformats.org/officeDocument/2006/relationships/slide" Target="slides/slide66.xml"/>
  <Relationship Id="rId77" Type="http://schemas.openxmlformats.org/officeDocument/2006/relationships/slide" Target="slides/slide67.xml"/>
  <Relationship Id="rId78" Type="http://schemas.openxmlformats.org/officeDocument/2006/relationships/slide" Target="slides/slide68.xml"/>
  <Relationship Id="rId79" Type="http://schemas.openxmlformats.org/officeDocument/2006/relationships/slide" Target="slides/slide69.xml"/>
  <Relationship Id="rId80" Type="http://schemas.openxmlformats.org/officeDocument/2006/relationships/slide" Target="slides/slide70.xml"/>
  <Relationship Id="rId81" Type="http://schemas.openxmlformats.org/officeDocument/2006/relationships/slide" Target="slides/slide71.xml"/>
  <Relationship Id="rId82" Type="http://schemas.openxmlformats.org/officeDocument/2006/relationships/slide" Target="slides/slide72.xml"/>
  <Relationship Id="rId83" Type="http://schemas.openxmlformats.org/officeDocument/2006/relationships/slide" Target="slides/slide73.xml"/>
  <Relationship Id="rId84" Type="http://schemas.openxmlformats.org/officeDocument/2006/relationships/slide" Target="slides/slide74.xml"/>
  <Relationship Id="rId85" Type="http://schemas.openxmlformats.org/officeDocument/2006/relationships/slide" Target="slides/slide75.xml"/>
  <Relationship Id="rId86" Type="http://schemas.openxmlformats.org/officeDocument/2006/relationships/slide" Target="slides/slide76.xml"/>
  <Relationship Id="rId87" Type="http://schemas.openxmlformats.org/officeDocument/2006/relationships/slide" Target="slides/slide77.xml"/>
  <Relationship Id="rId88" Type="http://schemas.openxmlformats.org/officeDocument/2006/relationships/slide" Target="slides/slide78.xml"/>
  <Relationship Id="rId89" Type="http://schemas.openxmlformats.org/officeDocument/2006/relationships/slide" Target="slides/slide79.xml"/>
  <Relationship Id="rId90" Type="http://schemas.openxmlformats.org/officeDocument/2006/relationships/slide" Target="slides/slide80.xml"/>
  <Relationship Id="rId91" Type="http://schemas.openxmlformats.org/officeDocument/2006/relationships/slide" Target="slides/slide81.xml"/>
  <Relationship Id="rId92" Type="http://schemas.openxmlformats.org/officeDocument/2006/relationships/slide" Target="slides/slide82.xml"/>
  <Relationship Id="rId93" Type="http://schemas.openxmlformats.org/officeDocument/2006/relationships/slide" Target="slides/slide83.xml"/>
  <Relationship Id="rId94" Type="http://schemas.openxmlformats.org/officeDocument/2006/relationships/slide" Target="slides/slide84.xml"/>
  <Relationship Id="rId95" Type="http://schemas.openxmlformats.org/officeDocument/2006/relationships/slide" Target="slides/slide85.xml"/>
  <Relationship Id="rId96" Type="http://schemas.openxmlformats.org/officeDocument/2006/relationships/slide" Target="slides/slide86.xml"/>
  <Relationship Id="rId97" Type="http://schemas.openxmlformats.org/officeDocument/2006/relationships/slide" Target="slides/slide87.xml"/>
  <Relationship Id="rId98" Type="http://schemas.openxmlformats.org/officeDocument/2006/relationships/slide" Target="slides/slide88.xml"/>
  <Relationship Id="rId99" Type="http://schemas.openxmlformats.org/officeDocument/2006/relationships/slide" Target="slides/slide89.xml"/>
  <Relationship Id="rId100" Type="http://schemas.openxmlformats.org/officeDocument/2006/relationships/slide" Target="slides/slide90.xml"/>
  <Relationship Id="rId101" Type="http://schemas.openxmlformats.org/officeDocument/2006/relationships/slide" Target="slides/slide91.xml"/>
  <Relationship Id="rId102" Type="http://schemas.openxmlformats.org/officeDocument/2006/relationships/slide" Target="slides/slide92.xml"/>
  <Relationship Id="rId103" Type="http://schemas.openxmlformats.org/officeDocument/2006/relationships/slide" Target="slides/slide93.xml"/>
  <Relationship Id="rId104" Type="http://schemas.openxmlformats.org/officeDocument/2006/relationships/slide" Target="slides/slide94.xml"/>
  <Relationship Id="rId105" Type="http://schemas.openxmlformats.org/officeDocument/2006/relationships/slide" Target="slides/slide95.xml"/>
  <Relationship Id="rId106" Type="http://schemas.openxmlformats.org/officeDocument/2006/relationships/slide" Target="slides/slide96.xml"/>
  <Relationship Id="rId107" Type="http://schemas.openxmlformats.org/officeDocument/2006/relationships/slide" Target="slides/slide97.xml"/>
  <Relationship Id="rId108" Type="http://schemas.openxmlformats.org/officeDocument/2006/relationships/slide" Target="slides/slide98.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C91A5D5-FFF8-46DF-9C0E-0D4F23F47441}" type="datetime1">
              <a:rPr lang="es-ES" smtClean="0"/>
              <a:pPr rtl="0"/>
              <a:t>27/03/2024</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A4CBEF8-5CDE-472B-839B-B8BB0C881006}" type="slidenum">
              <a:rPr lang="es-ES"/>
              <a:pPr rtl="0"/>
              <a:t>‹Nº›</a:t>
            </a:fld>
            <a:endParaRPr lang="es-ES"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rtl="0"/>
            <a:fld id="{C2F57AFA-577C-4932-92E9-D908A67F120F}" type="datetime1">
              <a:rPr lang="es-ES" noProof="0" smtClean="0"/>
              <a:pPr rtl="0"/>
              <a:t>27/03/2024</a:t>
            </a:fld>
            <a:endParaRPr lang="es-ES" noProof="0" dirty="0"/>
          </a:p>
        </p:txBody>
      </p:sp>
      <p:sp>
        <p:nvSpPr>
          <p:cNvPr id="4" name="Marcador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6BB98AFB-CB0D-4DFE-87B9-B4B0D0DE73CD}" type="slidenum">
              <a:rPr lang="es-ES" noProof="0"/>
              <a:pPr rtl="0"/>
              <a:t>‹Nº›</a:t>
            </a:fld>
            <a:endParaRPr lang="es-ES" noProof="0"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5029200" cy="2514601"/>
          </a:xfrm>
        </p:spPr>
        <p:txBody>
          <a:bodyPr rtlCol="0">
            <a:normAutofit/>
          </a:bodyPr>
          <a:lstStyle>
            <a:lvl1pPr>
              <a:lnSpc>
                <a:spcPct val="80000"/>
              </a:lnSpc>
              <a:defRPr sz="5400"/>
            </a:lvl1pPr>
          </a:lstStyle>
          <a:p>
            <a:pPr rtl="0"/>
            <a:r>
              <a:rPr lang="es-ES" noProof="0" dirty="0"/>
              <a:t>Haga clic para modificar el estilo de título del patrón</a:t>
            </a:r>
          </a:p>
        </p:txBody>
      </p:sp>
      <p:sp>
        <p:nvSpPr>
          <p:cNvPr id="3" name="Subtítulo 2"/>
          <p:cNvSpPr>
            <a:spLocks noGrp="1"/>
          </p:cNvSpPr>
          <p:nvPr>
            <p:ph type="subTitle" idx="1"/>
          </p:nvPr>
        </p:nvSpPr>
        <p:spPr>
          <a:xfrm>
            <a:off x="1065212" y="3403600"/>
            <a:ext cx="5029201" cy="1397000"/>
          </a:xfrm>
        </p:spPr>
        <p:txBody>
          <a:bodyPr rtlCol="0">
            <a:normAutofit/>
          </a:bodyPr>
          <a:lstStyle>
            <a:lvl1pPr marL="0" indent="0" algn="l">
              <a:spcBef>
                <a:spcPts val="600"/>
              </a:spcBef>
              <a:buNone/>
              <a:defRPr sz="24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dirty="0"/>
              <a:t>Haga clic para editar el estilo de subtítulo del patrón</a:t>
            </a:r>
          </a:p>
        </p:txBody>
      </p:sp>
      <p:sp>
        <p:nvSpPr>
          <p:cNvPr id="5" name="Marcador de pie de página 4"/>
          <p:cNvSpPr>
            <a:spLocks noGrp="1"/>
          </p:cNvSpPr>
          <p:nvPr>
            <p:ph type="ftr" sz="quarter" idx="11"/>
          </p:nvPr>
        </p:nvSpPr>
        <p:spPr/>
        <p:txBody>
          <a:bodyPr rtlCol="0"/>
          <a:lstStyle/>
          <a:p>
            <a:pPr rtl="0"/>
            <a:r>
              <a:rPr lang="es-ES" noProof="0" dirty="0"/>
              <a:t>Agregar un pie de página</a:t>
            </a:r>
          </a:p>
        </p:txBody>
      </p:sp>
      <p:sp>
        <p:nvSpPr>
          <p:cNvPr id="4" name="Marcador de fecha 3"/>
          <p:cNvSpPr>
            <a:spLocks noGrp="1"/>
          </p:cNvSpPr>
          <p:nvPr>
            <p:ph type="dt" sz="half" idx="10"/>
          </p:nvPr>
        </p:nvSpPr>
        <p:spPr/>
        <p:txBody>
          <a:bodyPr rtlCol="0"/>
          <a:lstStyle/>
          <a:p>
            <a:pPr rtl="0"/>
            <a:fld id="{45F0BD41-664D-4ABB-BED5-60658B66DD7C}" type="datetime1">
              <a:rPr lang="es-ES" noProof="0" smtClean="0"/>
              <a:pPr rtl="0"/>
              <a:t>27/03/2024</a:t>
            </a:fld>
            <a:endParaRPr lang="es-ES" noProof="0" dirty="0"/>
          </a:p>
        </p:txBody>
      </p:sp>
      <p:sp>
        <p:nvSpPr>
          <p:cNvPr id="6" name="Marcador de número de diapositiva 5"/>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dirty="0"/>
              <a:t>Haga clic para modificar el estilo de título del patrón</a:t>
            </a:r>
          </a:p>
        </p:txBody>
      </p:sp>
      <p:sp>
        <p:nvSpPr>
          <p:cNvPr id="3" name="Marcador de contenido 2"/>
          <p:cNvSpPr>
            <a:spLocks noGrp="1"/>
          </p:cNvSpPr>
          <p:nvPr>
            <p:ph idx="1"/>
          </p:nvPr>
        </p:nvSpPr>
        <p:spPr/>
        <p:txBody>
          <a:bodyPr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ie de página 4"/>
          <p:cNvSpPr>
            <a:spLocks noGrp="1"/>
          </p:cNvSpPr>
          <p:nvPr>
            <p:ph type="ftr" sz="quarter" idx="11"/>
          </p:nvPr>
        </p:nvSpPr>
        <p:spPr/>
        <p:txBody>
          <a:bodyPr rtlCol="0"/>
          <a:lstStyle/>
          <a:p>
            <a:pPr rtl="0"/>
            <a:r>
              <a:rPr lang="es-ES" noProof="0" dirty="0"/>
              <a:t>Agregar un pie de página</a:t>
            </a:r>
          </a:p>
        </p:txBody>
      </p:sp>
      <p:sp>
        <p:nvSpPr>
          <p:cNvPr id="4" name="Marcador de fecha 3"/>
          <p:cNvSpPr>
            <a:spLocks noGrp="1"/>
          </p:cNvSpPr>
          <p:nvPr>
            <p:ph type="dt" sz="half" idx="10"/>
          </p:nvPr>
        </p:nvSpPr>
        <p:spPr/>
        <p:txBody>
          <a:bodyPr rtlCol="0"/>
          <a:lstStyle/>
          <a:p>
            <a:pPr rtl="0"/>
            <a:fld id="{5CAFB294-75A7-4B00-B220-CD65C2131025}" type="datetime1">
              <a:rPr lang="es-ES" noProof="0" smtClean="0"/>
              <a:pPr rtl="0"/>
              <a:t>27/03/2024</a:t>
            </a:fld>
            <a:endParaRPr lang="es-ES" noProof="0" dirty="0"/>
          </a:p>
        </p:txBody>
      </p:sp>
      <p:sp>
        <p:nvSpPr>
          <p:cNvPr id="6" name="Marcador de número de diapositiva 5"/>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65214" y="533400"/>
            <a:ext cx="8686800" cy="2286000"/>
          </a:xfrm>
        </p:spPr>
        <p:txBody>
          <a:bodyPr rtlCol="0" anchor="b">
            <a:normAutofit/>
          </a:bodyPr>
          <a:lstStyle>
            <a:lvl1pPr algn="l">
              <a:defRPr sz="5400" b="1" cap="none" baseline="0"/>
            </a:lvl1pPr>
          </a:lstStyle>
          <a:p>
            <a:pPr rtl="0"/>
            <a:r>
              <a:rPr lang="es-ES" noProof="0" dirty="0"/>
              <a:t>Haga clic para modificar el estilo de título del patrón</a:t>
            </a:r>
          </a:p>
        </p:txBody>
      </p:sp>
      <p:sp>
        <p:nvSpPr>
          <p:cNvPr id="3" name="Marcador de texto 2"/>
          <p:cNvSpPr>
            <a:spLocks noGrp="1"/>
          </p:cNvSpPr>
          <p:nvPr>
            <p:ph type="body" idx="1"/>
          </p:nvPr>
        </p:nvSpPr>
        <p:spPr>
          <a:xfrm>
            <a:off x="1065214" y="3124200"/>
            <a:ext cx="8686800" cy="1371600"/>
          </a:xfrm>
        </p:spPr>
        <p:txBody>
          <a:bodyPr rtlCol="0" anchor="t">
            <a:normAutofit/>
          </a:bodyPr>
          <a:lstStyle>
            <a:lvl1pPr marL="0" indent="0">
              <a:spcBef>
                <a:spcPts val="600"/>
              </a:spcBef>
              <a:buNone/>
              <a:defRPr sz="24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dirty="0"/>
              <a:t>Haga clic para modificar los estilos de texto del patrón</a:t>
            </a:r>
          </a:p>
        </p:txBody>
      </p:sp>
      <p:sp>
        <p:nvSpPr>
          <p:cNvPr id="5" name="Marcador de pie de página 4"/>
          <p:cNvSpPr>
            <a:spLocks noGrp="1"/>
          </p:cNvSpPr>
          <p:nvPr>
            <p:ph type="ftr" sz="quarter" idx="11"/>
          </p:nvPr>
        </p:nvSpPr>
        <p:spPr/>
        <p:txBody>
          <a:bodyPr rtlCol="0"/>
          <a:lstStyle/>
          <a:p>
            <a:pPr rtl="0"/>
            <a:r>
              <a:rPr lang="es-ES" noProof="0" dirty="0"/>
              <a:t>Agregar un pie de página</a:t>
            </a:r>
          </a:p>
        </p:txBody>
      </p:sp>
      <p:sp>
        <p:nvSpPr>
          <p:cNvPr id="4" name="Marcador de fecha 3"/>
          <p:cNvSpPr>
            <a:spLocks noGrp="1"/>
          </p:cNvSpPr>
          <p:nvPr>
            <p:ph type="dt" sz="half" idx="10"/>
          </p:nvPr>
        </p:nvSpPr>
        <p:spPr/>
        <p:txBody>
          <a:bodyPr rtlCol="0"/>
          <a:lstStyle/>
          <a:p>
            <a:pPr rtl="0"/>
            <a:fld id="{66EC0E9D-6882-4573-BA34-049B7160C60E}" type="datetime1">
              <a:rPr lang="es-ES" noProof="0" smtClean="0"/>
              <a:pPr rtl="0"/>
              <a:t>27/03/2024</a:t>
            </a:fld>
            <a:endParaRPr lang="es-ES" noProof="0" dirty="0"/>
          </a:p>
        </p:txBody>
      </p:sp>
      <p:sp>
        <p:nvSpPr>
          <p:cNvPr id="6" name="Marcador de número de diapositiva 5"/>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dirty="0"/>
              <a:t>Haga clic para modificar el estilo de título del patrón</a:t>
            </a:r>
          </a:p>
        </p:txBody>
      </p:sp>
      <p:sp>
        <p:nvSpPr>
          <p:cNvPr id="3" name="Marcador de contenido 2"/>
          <p:cNvSpPr>
            <a:spLocks noGrp="1"/>
          </p:cNvSpPr>
          <p:nvPr>
            <p:ph sz="half" idx="1"/>
          </p:nvPr>
        </p:nvSpPr>
        <p:spPr>
          <a:xfrm>
            <a:off x="1065212" y="1828800"/>
            <a:ext cx="4251960" cy="4191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contenido 3"/>
          <p:cNvSpPr>
            <a:spLocks noGrp="1"/>
          </p:cNvSpPr>
          <p:nvPr>
            <p:ph sz="half" idx="2"/>
          </p:nvPr>
        </p:nvSpPr>
        <p:spPr>
          <a:xfrm>
            <a:off x="5464598" y="1828800"/>
            <a:ext cx="4251960" cy="4191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11"/>
          </p:nvPr>
        </p:nvSpPr>
        <p:spPr/>
        <p:txBody>
          <a:bodyPr rtlCol="0"/>
          <a:lstStyle/>
          <a:p>
            <a:pPr rtl="0"/>
            <a:r>
              <a:rPr lang="es-ES" noProof="0" dirty="0"/>
              <a:t>Agregar un pie de página</a:t>
            </a:r>
          </a:p>
        </p:txBody>
      </p:sp>
      <p:sp>
        <p:nvSpPr>
          <p:cNvPr id="5" name="Marcador de fecha 4"/>
          <p:cNvSpPr>
            <a:spLocks noGrp="1"/>
          </p:cNvSpPr>
          <p:nvPr>
            <p:ph type="dt" sz="half" idx="10"/>
          </p:nvPr>
        </p:nvSpPr>
        <p:spPr/>
        <p:txBody>
          <a:bodyPr rtlCol="0"/>
          <a:lstStyle/>
          <a:p>
            <a:pPr rtl="0"/>
            <a:fld id="{79F87BAA-EB97-4293-BA03-25DA42ED3F33}" type="datetime1">
              <a:rPr lang="es-ES" noProof="0" smtClean="0"/>
              <a:pPr rtl="0"/>
              <a:t>27/03/2024</a:t>
            </a:fld>
            <a:endParaRPr lang="es-ES" noProof="0" dirty="0"/>
          </a:p>
        </p:txBody>
      </p:sp>
      <p:sp>
        <p:nvSpPr>
          <p:cNvPr id="7" name="Marcador de número de diapositiva 6"/>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dirty="0"/>
              <a:t>Haga clic para modificar el estilo de título del patrón</a:t>
            </a:r>
          </a:p>
        </p:txBody>
      </p:sp>
      <p:sp>
        <p:nvSpPr>
          <p:cNvPr id="3" name="Marcador de texto 2"/>
          <p:cNvSpPr>
            <a:spLocks noGrp="1"/>
          </p:cNvSpPr>
          <p:nvPr>
            <p:ph type="body" idx="1"/>
          </p:nvPr>
        </p:nvSpPr>
        <p:spPr>
          <a:xfrm>
            <a:off x="1065213" y="1828799"/>
            <a:ext cx="4251960" cy="685801"/>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dirty="0"/>
              <a:t>Haga clic para modificar los estilos de texto del patrón</a:t>
            </a:r>
          </a:p>
        </p:txBody>
      </p:sp>
      <p:sp>
        <p:nvSpPr>
          <p:cNvPr id="4" name="Marcador de contenido 3"/>
          <p:cNvSpPr>
            <a:spLocks noGrp="1"/>
          </p:cNvSpPr>
          <p:nvPr>
            <p:ph sz="half" idx="2"/>
          </p:nvPr>
        </p:nvSpPr>
        <p:spPr>
          <a:xfrm>
            <a:off x="1065213" y="2590800"/>
            <a:ext cx="4251960" cy="3429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texto 4"/>
          <p:cNvSpPr>
            <a:spLocks noGrp="1"/>
          </p:cNvSpPr>
          <p:nvPr>
            <p:ph type="body" sz="quarter" idx="3"/>
          </p:nvPr>
        </p:nvSpPr>
        <p:spPr>
          <a:xfrm>
            <a:off x="5500053" y="1828799"/>
            <a:ext cx="4251960" cy="685801"/>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dirty="0"/>
              <a:t>Haga clic para modificar los estilos de texto del patrón</a:t>
            </a:r>
          </a:p>
        </p:txBody>
      </p:sp>
      <p:sp>
        <p:nvSpPr>
          <p:cNvPr id="6" name="Marcador de contenido 5"/>
          <p:cNvSpPr>
            <a:spLocks noGrp="1"/>
          </p:cNvSpPr>
          <p:nvPr>
            <p:ph sz="quarter" idx="4"/>
          </p:nvPr>
        </p:nvSpPr>
        <p:spPr>
          <a:xfrm>
            <a:off x="5500053" y="2590800"/>
            <a:ext cx="4251960" cy="3429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8" name="Marcador de pie de página 7"/>
          <p:cNvSpPr>
            <a:spLocks noGrp="1"/>
          </p:cNvSpPr>
          <p:nvPr>
            <p:ph type="ftr" sz="quarter" idx="11"/>
          </p:nvPr>
        </p:nvSpPr>
        <p:spPr/>
        <p:txBody>
          <a:bodyPr rtlCol="0"/>
          <a:lstStyle/>
          <a:p>
            <a:pPr rtl="0"/>
            <a:r>
              <a:rPr lang="es-ES" noProof="0" dirty="0"/>
              <a:t>Agregar un pie de página</a:t>
            </a:r>
          </a:p>
        </p:txBody>
      </p:sp>
      <p:sp>
        <p:nvSpPr>
          <p:cNvPr id="7" name="Marcador de fecha 6"/>
          <p:cNvSpPr>
            <a:spLocks noGrp="1"/>
          </p:cNvSpPr>
          <p:nvPr>
            <p:ph type="dt" sz="half" idx="10"/>
          </p:nvPr>
        </p:nvSpPr>
        <p:spPr/>
        <p:txBody>
          <a:bodyPr rtlCol="0"/>
          <a:lstStyle/>
          <a:p>
            <a:pPr rtl="0"/>
            <a:fld id="{54873C6C-A638-4A2B-8C7B-738C92DEBADC}" type="datetime1">
              <a:rPr lang="es-ES" noProof="0" smtClean="0"/>
              <a:pPr rtl="0"/>
              <a:t>27/03/2024</a:t>
            </a:fld>
            <a:endParaRPr lang="es-ES" noProof="0" dirty="0"/>
          </a:p>
        </p:txBody>
      </p:sp>
      <p:sp>
        <p:nvSpPr>
          <p:cNvPr id="9" name="Marcador de número de diapositiva 8"/>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dirty="0"/>
              <a:t>Haga clic para modificar el estilo de título del patrón</a:t>
            </a:r>
          </a:p>
        </p:txBody>
      </p:sp>
      <p:sp>
        <p:nvSpPr>
          <p:cNvPr id="4" name="Marcador de pie de página 3"/>
          <p:cNvSpPr>
            <a:spLocks noGrp="1"/>
          </p:cNvSpPr>
          <p:nvPr>
            <p:ph type="ftr" sz="quarter" idx="11"/>
          </p:nvPr>
        </p:nvSpPr>
        <p:spPr/>
        <p:txBody>
          <a:bodyPr rtlCol="0"/>
          <a:lstStyle/>
          <a:p>
            <a:pPr rtl="0"/>
            <a:r>
              <a:rPr lang="es-ES" noProof="0" dirty="0"/>
              <a:t>Agregar un pie de página</a:t>
            </a:r>
          </a:p>
        </p:txBody>
      </p:sp>
      <p:sp>
        <p:nvSpPr>
          <p:cNvPr id="3" name="Marcador de fecha 2"/>
          <p:cNvSpPr>
            <a:spLocks noGrp="1"/>
          </p:cNvSpPr>
          <p:nvPr>
            <p:ph type="dt" sz="half" idx="10"/>
          </p:nvPr>
        </p:nvSpPr>
        <p:spPr/>
        <p:txBody>
          <a:bodyPr rtlCol="0"/>
          <a:lstStyle/>
          <a:p>
            <a:pPr rtl="0"/>
            <a:fld id="{BDAB7FA5-3598-48B9-9C77-8C3FE03A7F24}" type="datetime1">
              <a:rPr lang="es-ES" noProof="0" smtClean="0"/>
              <a:pPr rtl="0"/>
              <a:t>27/03/2024</a:t>
            </a:fld>
            <a:endParaRPr lang="es-ES" noProof="0" dirty="0"/>
          </a:p>
        </p:txBody>
      </p:sp>
      <p:sp>
        <p:nvSpPr>
          <p:cNvPr id="5" name="Marcador de número de diapositiva 4"/>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pie de página 2"/>
          <p:cNvSpPr>
            <a:spLocks noGrp="1"/>
          </p:cNvSpPr>
          <p:nvPr>
            <p:ph type="ftr" sz="quarter" idx="11"/>
          </p:nvPr>
        </p:nvSpPr>
        <p:spPr/>
        <p:txBody>
          <a:bodyPr rtlCol="0"/>
          <a:lstStyle/>
          <a:p>
            <a:pPr rtl="0"/>
            <a:r>
              <a:rPr lang="es-ES" noProof="0" dirty="0"/>
              <a:t>Agregar un pie de página</a:t>
            </a:r>
          </a:p>
        </p:txBody>
      </p:sp>
      <p:sp>
        <p:nvSpPr>
          <p:cNvPr id="2" name="Marcador de fecha 1"/>
          <p:cNvSpPr>
            <a:spLocks noGrp="1"/>
          </p:cNvSpPr>
          <p:nvPr>
            <p:ph type="dt" sz="half" idx="10"/>
          </p:nvPr>
        </p:nvSpPr>
        <p:spPr/>
        <p:txBody>
          <a:bodyPr rtlCol="0"/>
          <a:lstStyle/>
          <a:p>
            <a:pPr rtl="0"/>
            <a:fld id="{5855685E-F8EB-43D9-9EDD-55E7759E9BB9}" type="datetime1">
              <a:rPr lang="es-ES" noProof="0" smtClean="0"/>
              <a:pPr rtl="0"/>
              <a:t>27/03/2024</a:t>
            </a:fld>
            <a:endParaRPr lang="es-ES" noProof="0" dirty="0"/>
          </a:p>
        </p:txBody>
      </p:sp>
      <p:sp>
        <p:nvSpPr>
          <p:cNvPr id="4" name="Marcador de número de diapositiva 3"/>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65213" y="533400"/>
            <a:ext cx="4114800" cy="1524000"/>
          </a:xfrm>
        </p:spPr>
        <p:txBody>
          <a:bodyPr rtlCol="0" anchor="b">
            <a:normAutofit/>
          </a:bodyPr>
          <a:lstStyle>
            <a:lvl1pPr algn="l">
              <a:defRPr sz="3600" b="1"/>
            </a:lvl1pPr>
          </a:lstStyle>
          <a:p>
            <a:pPr rtl="0"/>
            <a:r>
              <a:rPr lang="es-ES" noProof="0" dirty="0"/>
              <a:t>Haga clic para modificar el estilo de título del patrón</a:t>
            </a:r>
          </a:p>
        </p:txBody>
      </p:sp>
      <p:sp>
        <p:nvSpPr>
          <p:cNvPr id="3" name="Marcador de contenido 2"/>
          <p:cNvSpPr>
            <a:spLocks noGrp="1"/>
          </p:cNvSpPr>
          <p:nvPr>
            <p:ph idx="1"/>
          </p:nvPr>
        </p:nvSpPr>
        <p:spPr>
          <a:xfrm>
            <a:off x="5865813" y="533400"/>
            <a:ext cx="5867400" cy="54864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texto 3"/>
          <p:cNvSpPr>
            <a:spLocks noGrp="1"/>
          </p:cNvSpPr>
          <p:nvPr>
            <p:ph type="body" sz="half" idx="2"/>
          </p:nvPr>
        </p:nvSpPr>
        <p:spPr>
          <a:xfrm>
            <a:off x="1065213" y="2209800"/>
            <a:ext cx="4114800" cy="3810000"/>
          </a:xfrm>
        </p:spPr>
        <p:txBody>
          <a:bodyPr rtlCol="0">
            <a:normAutofit/>
          </a:bodyPr>
          <a:lstStyle>
            <a:lvl1pPr marL="0" indent="0">
              <a:lnSpc>
                <a:spcPct val="110000"/>
              </a:lnSpc>
              <a:spcBef>
                <a:spcPts val="600"/>
              </a:spcBef>
              <a:buNone/>
              <a:defRPr sz="18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dirty="0"/>
              <a:t>Haga clic para modificar los estilos de texto del patrón</a:t>
            </a:r>
          </a:p>
        </p:txBody>
      </p:sp>
      <p:sp>
        <p:nvSpPr>
          <p:cNvPr id="6" name="Marcador de pie de página 5"/>
          <p:cNvSpPr>
            <a:spLocks noGrp="1"/>
          </p:cNvSpPr>
          <p:nvPr>
            <p:ph type="ftr" sz="quarter" idx="11"/>
          </p:nvPr>
        </p:nvSpPr>
        <p:spPr/>
        <p:txBody>
          <a:bodyPr rtlCol="0"/>
          <a:lstStyle/>
          <a:p>
            <a:pPr rtl="0"/>
            <a:r>
              <a:rPr lang="es-ES" noProof="0" dirty="0"/>
              <a:t>Agregar un pie de página</a:t>
            </a:r>
          </a:p>
        </p:txBody>
      </p:sp>
      <p:sp>
        <p:nvSpPr>
          <p:cNvPr id="5" name="Marcador de fecha 4"/>
          <p:cNvSpPr>
            <a:spLocks noGrp="1"/>
          </p:cNvSpPr>
          <p:nvPr>
            <p:ph type="dt" sz="half" idx="10"/>
          </p:nvPr>
        </p:nvSpPr>
        <p:spPr/>
        <p:txBody>
          <a:bodyPr rtlCol="0"/>
          <a:lstStyle/>
          <a:p>
            <a:pPr rtl="0"/>
            <a:fld id="{55392E02-8288-486A-A35E-2FB446293FE3}" type="datetime1">
              <a:rPr lang="es-ES" noProof="0" smtClean="0"/>
              <a:pPr rtl="0"/>
              <a:t>27/03/2024</a:t>
            </a:fld>
            <a:endParaRPr lang="es-ES" noProof="0" dirty="0"/>
          </a:p>
        </p:txBody>
      </p:sp>
      <p:sp>
        <p:nvSpPr>
          <p:cNvPr id="7" name="Marcador de número de diapositiva 6"/>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65213" y="533400"/>
            <a:ext cx="4114800" cy="1524000"/>
          </a:xfrm>
        </p:spPr>
        <p:txBody>
          <a:bodyPr rtlCol="0" anchor="b">
            <a:noAutofit/>
          </a:bodyPr>
          <a:lstStyle>
            <a:lvl1pPr algn="l">
              <a:defRPr sz="3600" b="1"/>
            </a:lvl1pPr>
          </a:lstStyle>
          <a:p>
            <a:pPr rtl="0"/>
            <a:r>
              <a:rPr lang="es-ES" noProof="0" dirty="0"/>
              <a:t>Haga clic para modificar el estilo de título del patrón</a:t>
            </a:r>
          </a:p>
        </p:txBody>
      </p:sp>
      <p:sp>
        <p:nvSpPr>
          <p:cNvPr id="3" name="Marcador de imagen 2" descr="Marcador de posición vacío para agregar una imagen. Haga clic en el marcador de posición y seleccione la imagen que desee agregar"/>
          <p:cNvSpPr>
            <a:spLocks noGrp="1"/>
          </p:cNvSpPr>
          <p:nvPr>
            <p:ph type="pic" idx="1"/>
          </p:nvPr>
        </p:nvSpPr>
        <p:spPr>
          <a:xfrm>
            <a:off x="5865812" y="533400"/>
            <a:ext cx="5780173" cy="5791200"/>
          </a:xfrm>
          <a:ln w="50800">
            <a:solidFill>
              <a:schemeClr val="tx1">
                <a:lumMod val="65000"/>
                <a:lumOff val="35000"/>
              </a:schemeClr>
            </a:solidFill>
            <a:miter lim="800000"/>
          </a:ln>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endParaRPr lang="es-ES" noProof="0" dirty="0"/>
          </a:p>
        </p:txBody>
      </p:sp>
      <p:sp>
        <p:nvSpPr>
          <p:cNvPr id="4" name="Marcador de texto 3"/>
          <p:cNvSpPr>
            <a:spLocks noGrp="1"/>
          </p:cNvSpPr>
          <p:nvPr>
            <p:ph type="body" sz="half" idx="2"/>
          </p:nvPr>
        </p:nvSpPr>
        <p:spPr>
          <a:xfrm>
            <a:off x="1065213" y="2209800"/>
            <a:ext cx="4114800" cy="3810000"/>
          </a:xfrm>
        </p:spPr>
        <p:txBody>
          <a:bodyPr rtlCol="0">
            <a:normAutofit/>
          </a:bodyPr>
          <a:lstStyle>
            <a:lvl1pPr marL="0" indent="0">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dirty="0"/>
              <a:t>Haga clic para modificar los estilos de texto del patrón</a:t>
            </a: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dirty="0"/>
              <a:t>Haga clic para modificar el estilo de título del patrón</a:t>
            </a:r>
          </a:p>
        </p:txBody>
      </p:sp>
      <p:sp>
        <p:nvSpPr>
          <p:cNvPr id="3" name="Marcador de texto vertical 2"/>
          <p:cNvSpPr>
            <a:spLocks noGrp="1"/>
          </p:cNvSpPr>
          <p:nvPr>
            <p:ph type="body" orient="vert" idx="1"/>
          </p:nvPr>
        </p:nvSpPr>
        <p:spPr/>
        <p:txBody>
          <a:bodyPr vert="eaVert"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ie de página 4"/>
          <p:cNvSpPr>
            <a:spLocks noGrp="1"/>
          </p:cNvSpPr>
          <p:nvPr>
            <p:ph type="ftr" sz="quarter" idx="11"/>
          </p:nvPr>
        </p:nvSpPr>
        <p:spPr/>
        <p:txBody>
          <a:bodyPr rtlCol="0"/>
          <a:lstStyle/>
          <a:p>
            <a:pPr rtl="0"/>
            <a:r>
              <a:rPr lang="es-ES" noProof="0" dirty="0"/>
              <a:t>Agregar un pie de página</a:t>
            </a:r>
          </a:p>
        </p:txBody>
      </p:sp>
      <p:sp>
        <p:nvSpPr>
          <p:cNvPr id="4" name="Marcador de fecha 3"/>
          <p:cNvSpPr>
            <a:spLocks noGrp="1"/>
          </p:cNvSpPr>
          <p:nvPr>
            <p:ph type="dt" sz="half" idx="10"/>
          </p:nvPr>
        </p:nvSpPr>
        <p:spPr/>
        <p:txBody>
          <a:bodyPr rtlCol="0"/>
          <a:lstStyle/>
          <a:p>
            <a:pPr rtl="0"/>
            <a:fld id="{7079A989-1972-408F-82FF-A58E53892B77}" type="datetime1">
              <a:rPr lang="es-ES" noProof="0" smtClean="0"/>
              <a:pPr rtl="0"/>
              <a:t>27/03/2024</a:t>
            </a:fld>
            <a:endParaRPr lang="es-ES" noProof="0" dirty="0"/>
          </a:p>
        </p:txBody>
      </p:sp>
      <p:sp>
        <p:nvSpPr>
          <p:cNvPr id="6" name="Marcador de número de diapositiva 5"/>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61412" y="533400"/>
            <a:ext cx="2362201" cy="5486400"/>
          </a:xfrm>
        </p:spPr>
        <p:txBody>
          <a:bodyPr vert="eaVert" rtlCol="0"/>
          <a:lstStyle/>
          <a:p>
            <a:pPr rtl="0"/>
            <a:r>
              <a:rPr lang="es-ES" noProof="0" dirty="0"/>
              <a:t>Haga clic para modificar el estilo de título del patrón</a:t>
            </a:r>
          </a:p>
        </p:txBody>
      </p:sp>
      <p:sp>
        <p:nvSpPr>
          <p:cNvPr id="3" name="Marcador de texto vertical 2"/>
          <p:cNvSpPr>
            <a:spLocks noGrp="1"/>
          </p:cNvSpPr>
          <p:nvPr>
            <p:ph type="body" orient="vert" idx="1"/>
          </p:nvPr>
        </p:nvSpPr>
        <p:spPr>
          <a:xfrm>
            <a:off x="1065213" y="533400"/>
            <a:ext cx="7467599" cy="5486400"/>
          </a:xfrm>
        </p:spPr>
        <p:txBody>
          <a:bodyPr vert="eaVert"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ie de página 4"/>
          <p:cNvSpPr>
            <a:spLocks noGrp="1"/>
          </p:cNvSpPr>
          <p:nvPr>
            <p:ph type="ftr" sz="quarter" idx="11"/>
          </p:nvPr>
        </p:nvSpPr>
        <p:spPr/>
        <p:txBody>
          <a:bodyPr rtlCol="0"/>
          <a:lstStyle/>
          <a:p>
            <a:pPr rtl="0"/>
            <a:r>
              <a:rPr lang="es-ES" noProof="0" dirty="0"/>
              <a:t>Agregar un pie de página</a:t>
            </a:r>
          </a:p>
        </p:txBody>
      </p:sp>
      <p:sp>
        <p:nvSpPr>
          <p:cNvPr id="4" name="Marcador de fecha 3"/>
          <p:cNvSpPr>
            <a:spLocks noGrp="1"/>
          </p:cNvSpPr>
          <p:nvPr>
            <p:ph type="dt" sz="half" idx="10"/>
          </p:nvPr>
        </p:nvSpPr>
        <p:spPr/>
        <p:txBody>
          <a:bodyPr rtlCol="0"/>
          <a:lstStyle/>
          <a:p>
            <a:pPr rtl="0"/>
            <a:fld id="{DECD3A61-A9C3-4CD9-B800-BFDBF3EEB1B4}" type="datetime1">
              <a:rPr lang="es-ES" noProof="0" smtClean="0"/>
              <a:pPr rtl="0"/>
              <a:t>27/03/2024</a:t>
            </a:fld>
            <a:endParaRPr lang="es-ES" noProof="0" dirty="0"/>
          </a:p>
        </p:txBody>
      </p:sp>
      <p:sp>
        <p:nvSpPr>
          <p:cNvPr id="6" name="Marcador de número de diapositiva 5"/>
          <p:cNvSpPr>
            <a:spLocks noGrp="1"/>
          </p:cNvSpPr>
          <p:nvPr>
            <p:ph type="sldNum" sz="quarter" idx="12"/>
          </p:nvPr>
        </p:nvSpPr>
        <p:spPr/>
        <p:txBody>
          <a:bodyPr rtlCol="0"/>
          <a:lstStyle/>
          <a:p>
            <a:pPr rtl="0"/>
            <a:fld id="{AAEAE4A8-A6E5-453E-B946-FB774B73F48C}" type="slidenum">
              <a:rPr lang="es-ES" noProof="0"/>
              <a:pPr rtl="0"/>
              <a:t>‹Nº›</a:t>
            </a:fld>
            <a:endParaRPr lang="es-ES" noProof="0" dirty="0"/>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ie de página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pPr rtl="0"/>
            <a:r>
              <a:rPr lang="es-ES" noProof="0" dirty="0"/>
              <a:t>Agregar un pie de página</a:t>
            </a:r>
          </a:p>
        </p:txBody>
      </p:sp>
      <p:sp>
        <p:nvSpPr>
          <p:cNvPr id="4" name="Marcador de fecha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pPr rtl="0"/>
            <a:fld id="{5F0077C4-AA9A-431A-A8F9-E2A2FBCC5765}" type="datetime1">
              <a:rPr lang="es-ES" noProof="0" smtClean="0"/>
              <a:pPr rtl="0"/>
              <a:t>27/03/2024</a:t>
            </a:fld>
            <a:endParaRPr lang="es-ES" noProof="0" dirty="0"/>
          </a:p>
        </p:txBody>
      </p:sp>
      <p:sp>
        <p:nvSpPr>
          <p:cNvPr id="6" name="Marcador de número de diapositiva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pPr rtl="0"/>
            <a:fld id="{AAEAE4A8-A6E5-453E-B946-FB774B73F48C}" type="slidenum">
              <a:rPr lang="es-ES" noProof="0" smtClean="0"/>
              <a:pPr rtl="0"/>
              <a:t>‹Nº›</a:t>
            </a:fld>
            <a:endParaRPr lang="es-ES" noProof="0" dirty="0"/>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80000"/>
        </a:lnSpc>
        <a:spcBef>
          <a:spcPct val="0"/>
        </a:spcBef>
        <a:buNone/>
        <a:defRPr sz="3600" b="1" kern="1200">
          <a:solidFill>
            <a:schemeClr val="accent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0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04.png"/><Relationship Id="rId3" Type="http://schemas.openxmlformats.org/officeDocument/2006/relationships/image" Target="../media/img_ists_convertidor_0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06.png"/><Relationship Id="rId3" Type="http://schemas.openxmlformats.org/officeDocument/2006/relationships/image" Target="../media/img_ists_convertidor_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16.png"/><Relationship Id="rId3" Type="http://schemas.openxmlformats.org/officeDocument/2006/relationships/image" Target="../media/img_ists_convertidor_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19.png"/><Relationship Id="rId3" Type="http://schemas.openxmlformats.org/officeDocument/2006/relationships/image" Target="../media/img_ists_convertidor_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23.png"/><Relationship Id="rId3" Type="http://schemas.openxmlformats.org/officeDocument/2006/relationships/image" Target="../media/img_ists_convertidor_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27.png"/><Relationship Id="rId3" Type="http://schemas.openxmlformats.org/officeDocument/2006/relationships/image" Target="../media/img_ists_convertidor_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convertidor_30.png"/><Relationship Id="rId3" Type="http://schemas.openxmlformats.org/officeDocument/2006/relationships/image" Target="../media/img_ists_convertidor_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tren_12_0.png"/><Relationship Id="rId3" Type="http://schemas.openxmlformats.org/officeDocument/2006/relationships/image" Target="../media/img_ists_tren_13_0.png"/><Relationship Id="rId4" Type="http://schemas.openxmlformats.org/officeDocument/2006/relationships/image" Target="../media/img_ists_tren_14_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tren_15_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0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tren_20_c.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arreglos_08.png"/><Relationship Id="rId3" Type="http://schemas.openxmlformats.org/officeDocument/2006/relationships/image" Target="../media/img_ists_arreglos_09.png"/><Relationship Id="rId4" Type="http://schemas.openxmlformats.org/officeDocument/2006/relationships/image" Target="../media/img_ists_arreglos_10.png"/><Relationship Id="rId5" Type="http://schemas.openxmlformats.org/officeDocument/2006/relationships/image" Target="../media/img_ists_arreglos_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tren_26_c.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tren_22_c.png"/><Relationship Id="rId3" Type="http://schemas.openxmlformats.org/officeDocument/2006/relationships/image" Target="../media/img_ists_arreglos_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arreglos_33.png"/><Relationship Id="rId3" Type="http://schemas.openxmlformats.org/officeDocument/2006/relationships/image" Target="../media/img_ists_arreglos_36.png"/><Relationship Id="rId4" Type="http://schemas.openxmlformats.org/officeDocument/2006/relationships/image" Target="../media/img_ists_arreglos_38.png"/><Relationship Id="rId5" Type="http://schemas.openxmlformats.org/officeDocument/2006/relationships/image" Target="../media/img_ists_arreglos_4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03.png"/><Relationship Id="rId3" Type="http://schemas.openxmlformats.org/officeDocument/2006/relationships/image" Target="../media/img_ists_g8_00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02.png"/><Relationship Id="rId3" Type="http://schemas.openxmlformats.org/officeDocument/2006/relationships/image" Target="../media/img_ists_g8_06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64.png"/><Relationship Id="rId3" Type="http://schemas.openxmlformats.org/officeDocument/2006/relationships/image" Target="../media/img_ists_g8_06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arreglos_0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9_00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9_001.png"/><Relationship Id="rId3" Type="http://schemas.openxmlformats.org/officeDocument/2006/relationships/image" Target="../media/img_ists_g9_00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9_007.png"/><Relationship Id="rId3" Type="http://schemas.openxmlformats.org/officeDocument/2006/relationships/image" Target="../media/img_ists_g9_01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9_013.png"/><Relationship Id="rId3" Type="http://schemas.openxmlformats.org/officeDocument/2006/relationships/image" Target="../media/img_ists_g9_01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9_01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01.png"/><Relationship Id="rId3" Type="http://schemas.openxmlformats.org/officeDocument/2006/relationships/image" Target="../media/img_ists_g8_07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11.png"/><Relationship Id="rId3" Type="http://schemas.openxmlformats.org/officeDocument/2006/relationships/image" Target="../media/img_ists_g8_012.png"/><Relationship Id="rId4" Type="http://schemas.openxmlformats.org/officeDocument/2006/relationships/image" Target="../media/img_ists_g8_041.png"/><Relationship Id="rId5" Type="http://schemas.openxmlformats.org/officeDocument/2006/relationships/image" Target="../media/img_ists_g8_02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g_ists_g8_046.png"/><Relationship Id="rId3" Type="http://schemas.openxmlformats.org/officeDocument/2006/relationships/image" Target="../media/img_ists_g8_006.png"/><Relationship Id="rId4" Type="http://schemas.openxmlformats.org/officeDocument/2006/relationships/image" Target="../media/img_ists_g8_071.png"/><Relationship Id="rId5" Type="http://schemas.openxmlformats.org/officeDocument/2006/relationships/image" Target="../media/img_ists_g8_07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MECÁNICA DE PATIO III · UNIDAD 3: TRANSMISIÓN AUTOMÁTICA</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UNIDAD 3 EN EL PEA: TEMAS Y PARTES DE LA PRESENTACIÓN.</a:t>
            </a:r>
          </a:p>
        </p:txBody>
      </p:sp>
      <p:graphicFrame>
        <p:nvGraphicFramePr>
          <p:cNvPr id="3" name="Tabla 3"/>
          <p:cNvGraphicFramePr>
            <a:graphicFrameLocks noGrp="1"/>
          </p:cNvGraphicFramePr>
          <p:nvPr/>
        </p:nvGraphicFramePr>
        <p:xfrm>
          <a:off x="1005840" y="1691640"/>
          <a:ext cx="5120640" cy="3657600"/>
        </p:xfrm>
        <a:graphic>
          <a:graphicData uri="http://schemas.openxmlformats.org/drawingml/2006/table">
            <a:tbl>
              <a:tblPr firstRow="1" bandRow="1"/>
              <a:tblGrid>
                <a:gridCol w="4343400"/>
                <a:gridCol w="777240"/>
              </a:tblGrid>
              <a:tr h="365760">
                <a:tc>
                  <a:txBody>
                    <a:bodyPr/>
                    <a:lstStyle/>
                    <a:p>
                      <a:pPr algn="l"/>
                      <a:r>
                        <a:rPr lang="es-EC" sz="1150" b="1" dirty="0">
                          <a:solidFill>
                            <a:schemeClr val="bg1"/>
                          </a:solidFill>
                          <a:latin typeface="Arial Narrow" pitchFamily="34" charset="0"/>
                        </a:rPr>
                        <a:t>Temas y subtemas del PEA (Unidad 3, diciembre 2026)</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Parte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365760">
                <a:tc>
                  <a:txBody>
                    <a:bodyPr/>
                    <a:lstStyle/>
                    <a:p>
                      <a:pPr algn="l"/>
                      <a:r>
                        <a:rPr lang="es-EC" sz="1150" dirty="0">
                          <a:solidFill>
                            <a:schemeClr val="tx1">
                              <a:lumMod val="75000"/>
                              <a:lumOff val="25000"/>
                            </a:schemeClr>
                          </a:solidFill>
                          <a:latin typeface="Arial Narrow" pitchFamily="34" charset="0"/>
                        </a:rPr>
                        <a:t>Introducción e historia de la transmisión automática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Parte 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365760">
                <a:tc>
                  <a:txBody>
                    <a:bodyPr/>
                    <a:lstStyle/>
                    <a:p>
                      <a:pPr algn="l"/>
                      <a:r>
                        <a:rPr lang="es-EC" sz="1150" dirty="0">
                          <a:solidFill>
                            <a:schemeClr val="tx1">
                              <a:lumMod val="75000"/>
                              <a:lumOff val="25000"/>
                            </a:schemeClr>
                          </a:solidFill>
                          <a:latin typeface="Arial Narrow" pitchFamily="34" charset="0"/>
                        </a:rPr>
                        <a:t>Principios básicos del sistema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Parte 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365760">
                <a:tc>
                  <a:txBody>
                    <a:bodyPr/>
                    <a:lstStyle/>
                    <a:p>
                      <a:pPr algn="l"/>
                      <a:r>
                        <a:rPr lang="es-EC" sz="1150" dirty="0">
                          <a:solidFill>
                            <a:schemeClr val="tx1">
                              <a:lumMod val="75000"/>
                              <a:lumOff val="25000"/>
                            </a:schemeClr>
                          </a:solidFill>
                          <a:latin typeface="Arial Narrow" pitchFamily="34" charset="0"/>
                        </a:rPr>
                        <a:t>Elementos fundamentales: convertidor de par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Parte 2</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365760">
                <a:tc>
                  <a:txBody>
                    <a:bodyPr/>
                    <a:lstStyle/>
                    <a:p>
                      <a:pPr algn="l"/>
                      <a:r>
                        <a:rPr lang="es-EC" sz="1150" dirty="0">
                          <a:solidFill>
                            <a:schemeClr val="tx1">
                              <a:lumMod val="75000"/>
                              <a:lumOff val="25000"/>
                            </a:schemeClr>
                          </a:solidFill>
                          <a:latin typeface="Arial Narrow" pitchFamily="34" charset="0"/>
                        </a:rPr>
                        <a:t>Grupo mecánico: tren epicicloidal y arreglos; elementos que lo conforman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Parte 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365760">
                <a:tc>
                  <a:txBody>
                    <a:bodyPr/>
                    <a:lstStyle/>
                    <a:p>
                      <a:pPr algn="l"/>
                      <a:r>
                        <a:rPr lang="es-EC" sz="1150" dirty="0">
                          <a:solidFill>
                            <a:schemeClr val="tx1">
                              <a:lumMod val="75000"/>
                              <a:lumOff val="25000"/>
                            </a:schemeClr>
                          </a:solidFill>
                          <a:latin typeface="Arial Narrow" pitchFamily="34" charset="0"/>
                        </a:rPr>
                        <a:t>Elementos fundamentales: discos de fricción (embragues, frenos, bandas)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Parte 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365760">
                <a:tc>
                  <a:txBody>
                    <a:bodyPr/>
                    <a:lstStyle/>
                    <a:p>
                      <a:pPr algn="l"/>
                      <a:r>
                        <a:rPr lang="es-EC" sz="1150" dirty="0">
                          <a:solidFill>
                            <a:schemeClr val="tx1">
                              <a:lumMod val="75000"/>
                              <a:lumOff val="25000"/>
                            </a:schemeClr>
                          </a:solidFill>
                          <a:latin typeface="Arial Narrow" pitchFamily="34" charset="0"/>
                        </a:rPr>
                        <a:t>Introducción al sistema hidráulico; elementos; cuerpo de válvulas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Parte 4</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365760">
                <a:tc>
                  <a:txBody>
                    <a:bodyPr/>
                    <a:lstStyle/>
                    <a:p>
                      <a:pPr algn="l"/>
                      <a:r>
                        <a:rPr lang="es-EC" sz="1150" dirty="0">
                          <a:solidFill>
                            <a:schemeClr val="tx1">
                              <a:lumMod val="75000"/>
                              <a:lumOff val="25000"/>
                            </a:schemeClr>
                          </a:solidFill>
                          <a:latin typeface="Arial Narrow" pitchFamily="34" charset="0"/>
                        </a:rPr>
                        <a:t>Transmisiones asistidas electrónicamente: introducción, operación y tipos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Parte 5</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365760">
                <a:tc>
                  <a:txBody>
                    <a:bodyPr/>
                    <a:lstStyle/>
                    <a:p>
                      <a:pPr algn="l"/>
                      <a:r>
                        <a:rPr lang="es-EC" sz="1150" dirty="0">
                          <a:solidFill>
                            <a:schemeClr val="tx1">
                              <a:lumMod val="75000"/>
                              <a:lumOff val="25000"/>
                            </a:schemeClr>
                          </a:solidFill>
                          <a:latin typeface="Arial Narrow" pitchFamily="34" charset="0"/>
                        </a:rPr>
                        <a:t>Diferencias con la caja sin asistencia electrónica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Parte 5</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365760">
                <a:tc>
                  <a:txBody>
                    <a:bodyPr/>
                    <a:lstStyle/>
                    <a:p>
                      <a:pPr algn="l"/>
                      <a:r>
                        <a:rPr lang="es-EC" sz="1150" dirty="0">
                          <a:solidFill>
                            <a:schemeClr val="tx1">
                              <a:lumMod val="75000"/>
                              <a:lumOff val="25000"/>
                            </a:schemeClr>
                          </a:solidFill>
                          <a:latin typeface="Arial Narrow" pitchFamily="34" charset="0"/>
                        </a:rPr>
                        <a:t>Cajas de mando electrónico longitudinales y transversales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Parte 5</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bl>
          </a:graphicData>
        </a:graphic>
      </p:graphicFrame>
      <p:sp>
        <p:nvSpPr>
          <p:cNvPr id="4" name="Texto 4"/>
          <p:cNvSpPr txBox="1"/>
          <p:nvPr/>
        </p:nvSpPr>
        <p:spPr>
          <a:xfrm>
            <a:off x="6400800" y="1691640"/>
            <a:ext cx="3200400" cy="3931920"/>
          </a:xfrm>
          <a:prstGeom prst="rect">
            <a:avLst/>
          </a:prstGeom>
          <a:noFill/>
        </p:spPr>
        <p:txBody>
          <a:bodyPr wrap="square" lIns="72000" tIns="36000" rIns="72000" bIns="36000" anchor="t">
            <a:noAutofit/>
          </a:bodyPr>
          <a:lstStyle/>
          <a:p>
            <a:pPr algn="l">
              <a:lnSpc>
                <a:spcPct val="110000"/>
              </a:lnSpc>
              <a:spcBef>
                <a:spcPts val="0"/>
              </a:spcBef>
              <a:buNone/>
            </a:pPr>
            <a:r>
              <a:rPr lang="es-EC" sz="1400" b="1" dirty="0">
                <a:solidFill>
                  <a:schemeClr val="accent1">
                    <a:lumMod val="75000"/>
                  </a:schemeClr>
                </a:solidFill>
                <a:latin typeface="Arial Narrow" pitchFamily="34" charset="0"/>
              </a:rPr>
              <a:t>Resultado de aprendizaje</a:t>
            </a:r>
            <a:endParaRPr lang="es-EC" sz="1400" dirty="0">
              <a:solidFill>
                <a:schemeClr val="tx1">
                  <a:lumMod val="75000"/>
                  <a:lumOff val="25000"/>
                </a:schemeClr>
              </a:solidFill>
              <a:latin typeface="Arial Narrow" pitchFamily="34" charset="0"/>
            </a:endParaRPr>
          </a:p>
          <a:p>
            <a:pPr marL="342900" indent="-285750" algn="l">
              <a:lnSpc>
                <a:spcPct val="110000"/>
              </a:lnSpc>
              <a:spcBef>
                <a:spcPts val="400"/>
              </a:spcBef>
              <a:buFont typeface="Arial" pitchFamily="34" charset="0"/>
              <a:buChar char="•"/>
            </a:pPr>
            <a:r>
              <a:rPr lang="es-EC" sz="1300" dirty="0">
                <a:solidFill>
                  <a:schemeClr val="tx1">
                    <a:lumMod val="75000"/>
                    <a:lumOff val="25000"/>
                  </a:schemeClr>
                </a:solidFill>
                <a:latin typeface="Arial Narrow" pitchFamily="34" charset="0"/>
              </a:rPr>
              <a:t>Comprender el funcionamiento de las transmisiones automáticas.</a:t>
            </a:r>
            <a:endParaRPr lang="es-EC" sz="1300" dirty="0">
              <a:solidFill>
                <a:schemeClr val="tx1">
                  <a:lumMod val="75000"/>
                  <a:lumOff val="25000"/>
                </a:schemeClr>
              </a:solidFill>
              <a:latin typeface="Arial Narrow" pitchFamily="34" charset="0"/>
            </a:endParaRPr>
          </a:p>
          <a:p>
            <a:pPr algn="l">
              <a:lnSpc>
                <a:spcPct val="110000"/>
              </a:lnSpc>
              <a:spcBef>
                <a:spcPts val="900"/>
              </a:spcBef>
              <a:buNone/>
            </a:pPr>
            <a:r>
              <a:rPr lang="es-EC" sz="1400" b="1" dirty="0">
                <a:solidFill>
                  <a:schemeClr val="accent1">
                    <a:lumMod val="75000"/>
                  </a:schemeClr>
                </a:solidFill>
                <a:latin typeface="Arial Narrow" pitchFamily="34" charset="0"/>
              </a:rPr>
              <a:t>Prácticas</a:t>
            </a:r>
            <a:endParaRPr lang="es-EC" sz="1400" dirty="0">
              <a:solidFill>
                <a:schemeClr val="tx1">
                  <a:lumMod val="75000"/>
                  <a:lumOff val="25000"/>
                </a:schemeClr>
              </a:solidFill>
              <a:latin typeface="Arial Narrow" pitchFamily="34" charset="0"/>
            </a:endParaRPr>
          </a:p>
          <a:p>
            <a:pPr marL="342900" indent="-285750" algn="l">
              <a:lnSpc>
                <a:spcPct val="110000"/>
              </a:lnSpc>
              <a:spcBef>
                <a:spcPts val="400"/>
              </a:spcBef>
              <a:buFont typeface="Arial" pitchFamily="34" charset="0"/>
              <a:buChar char="•"/>
            </a:pPr>
            <a:r>
              <a:rPr lang="es-EC" sz="1300" dirty="0">
                <a:solidFill>
                  <a:schemeClr val="tx1">
                    <a:lumMod val="75000"/>
                    <a:lumOff val="25000"/>
                  </a:schemeClr>
                </a:solidFill>
                <a:latin typeface="Arial Narrow" pitchFamily="34" charset="0"/>
              </a:rPr>
              <a:t>P7 Reconocimiento de los componentes de la transmisión automática.</a:t>
            </a:r>
            <a:endParaRPr lang="es-EC" sz="1300" dirty="0">
              <a:solidFill>
                <a:schemeClr val="tx1">
                  <a:lumMod val="75000"/>
                  <a:lumOff val="25000"/>
                </a:schemeClr>
              </a:solidFill>
              <a:latin typeface="Arial Narrow" pitchFamily="34" charset="0"/>
            </a:endParaRPr>
          </a:p>
          <a:p>
            <a:pPr marL="342900" indent="-285750" algn="l">
              <a:lnSpc>
                <a:spcPct val="110000"/>
              </a:lnSpc>
              <a:spcBef>
                <a:spcPts val="400"/>
              </a:spcBef>
              <a:buFont typeface="Arial" pitchFamily="34" charset="0"/>
              <a:buChar char="•"/>
            </a:pPr>
            <a:r>
              <a:rPr lang="es-EC" sz="1300" dirty="0">
                <a:solidFill>
                  <a:schemeClr val="tx1">
                    <a:lumMod val="75000"/>
                    <a:lumOff val="25000"/>
                  </a:schemeClr>
                </a:solidFill>
                <a:latin typeface="Arial Narrow" pitchFamily="34" charset="0"/>
              </a:rPr>
              <a:t>P8 Análisis funcional de la transmisión automática.</a:t>
            </a:r>
            <a:endParaRPr lang="es-EC" sz="1300" dirty="0">
              <a:solidFill>
                <a:schemeClr val="tx1">
                  <a:lumMod val="75000"/>
                  <a:lumOff val="25000"/>
                </a:schemeClr>
              </a:solidFill>
              <a:latin typeface="Arial Narrow" pitchFamily="34" charset="0"/>
            </a:endParaRPr>
          </a:p>
          <a:p>
            <a:pPr algn="l">
              <a:lnSpc>
                <a:spcPct val="110000"/>
              </a:lnSpc>
              <a:spcBef>
                <a:spcPts val="900"/>
              </a:spcBef>
              <a:buNone/>
            </a:pPr>
            <a:r>
              <a:rPr lang="es-EC" sz="1300" b="1" dirty="0">
                <a:solidFill>
                  <a:schemeClr val="accent1">
                    <a:lumMod val="75000"/>
                  </a:schemeClr>
                </a:solidFill>
                <a:latin typeface="Arial Narrow" pitchFamily="34" charset="0"/>
              </a:rPr>
              <a:t xml:space="preserve">Habilidades: </a:t>
            </a:r>
            <a:r>
              <a:rPr lang="es-EC" sz="1300" dirty="0">
                <a:solidFill>
                  <a:schemeClr val="tx1">
                    <a:lumMod val="75000"/>
                    <a:lumOff val="25000"/>
                  </a:schemeClr>
                </a:solidFill>
                <a:latin typeface="Arial Narrow" pitchFamily="34" charset="0"/>
              </a:rPr>
              <a:t>mejora continua y resolución de conflictos.</a:t>
            </a:r>
            <a:endParaRPr lang="es-EC" sz="13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CONTENIDOS.</a:t>
            </a:r>
          </a:p>
        </p:txBody>
      </p:sp>
      <p:sp>
        <p:nvSpPr>
          <p:cNvPr id="3" name="2 Marcador de contenido"/>
          <p:cNvSpPr>
            <a:spLocks noGrp="1"/>
          </p:cNvSpPr>
          <p:nvPr>
            <p:ph idx="1"/>
          </p:nvPr>
        </p:nvSpPr>
        <p:spPr/>
        <p:txBody>
          <a:bodyPr anchor="t">
            <a:normAutofit/>
          </a:bodyPr>
          <a:lstStyle/>
          <a:p>
            <a:pPr algn="l">
              <a:lnSpc>
                <a:spcPct val="110000"/>
              </a:lnSpc>
              <a:spcBef>
                <a:spcPts val="700"/>
              </a:spcBef>
              <a:buNone/>
            </a:pPr>
            <a:r>
              <a:rPr lang="es-EC" sz="1450" b="1" dirty="0">
                <a:solidFill>
                  <a:schemeClr val="accent1">
                    <a:lumMod val="75000"/>
                  </a:schemeClr>
                </a:solidFill>
                <a:latin typeface="Arial Narrow" pitchFamily="34" charset="0"/>
              </a:rPr>
              <a:t>Parte 1. Introducción, historia y principios básicos</a:t>
            </a:r>
            <a:endParaRPr lang="es-EC" sz="145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Qué es la caja automática, evolución histórica, constitución general y posiciones de la palanca.</a:t>
            </a:r>
            <a:endParaRPr lang="es-EC" sz="1300" dirty="0">
              <a:solidFill>
                <a:schemeClr val="tx1">
                  <a:lumMod val="75000"/>
                  <a:lumOff val="25000"/>
                </a:schemeClr>
              </a:solidFill>
              <a:latin typeface="Arial Narrow" pitchFamily="34" charset="0"/>
            </a:endParaRPr>
          </a:p>
          <a:p>
            <a:pPr algn="l">
              <a:lnSpc>
                <a:spcPct val="110000"/>
              </a:lnSpc>
              <a:spcBef>
                <a:spcPts val="700"/>
              </a:spcBef>
              <a:buNone/>
            </a:pPr>
            <a:r>
              <a:rPr lang="es-EC" sz="1450" b="1" dirty="0">
                <a:solidFill>
                  <a:schemeClr val="accent1">
                    <a:lumMod val="75000"/>
                  </a:schemeClr>
                </a:solidFill>
                <a:latin typeface="Arial Narrow" pitchFamily="34" charset="0"/>
              </a:rPr>
              <a:t>Parte 2. Convertidor de par</a:t>
            </a:r>
            <a:endParaRPr lang="es-EC" sz="145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Embrague hidráulico; bomba, turbina y reactor; fases de funcionamiento; embrague anulador (lock-up).</a:t>
            </a:r>
            <a:endParaRPr lang="es-EC" sz="1300" dirty="0">
              <a:solidFill>
                <a:schemeClr val="tx1">
                  <a:lumMod val="75000"/>
                  <a:lumOff val="25000"/>
                </a:schemeClr>
              </a:solidFill>
              <a:latin typeface="Arial Narrow" pitchFamily="34" charset="0"/>
            </a:endParaRPr>
          </a:p>
          <a:p>
            <a:pPr algn="l">
              <a:lnSpc>
                <a:spcPct val="110000"/>
              </a:lnSpc>
              <a:spcBef>
                <a:spcPts val="700"/>
              </a:spcBef>
              <a:buNone/>
            </a:pPr>
            <a:r>
              <a:rPr lang="es-EC" sz="1450" b="1" dirty="0">
                <a:solidFill>
                  <a:schemeClr val="accent1">
                    <a:lumMod val="75000"/>
                  </a:schemeClr>
                </a:solidFill>
                <a:latin typeface="Arial Narrow" pitchFamily="34" charset="0"/>
              </a:rPr>
              <a:t>Parte 3. Grupo mecánico</a:t>
            </a:r>
            <a:endParaRPr lang="es-EC" sz="145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Tren epicicloidal, ecuación de Willis y sus seis variantes; Simpson, Ravigneaux, Wilson y Hydramatic.</a:t>
            </a:r>
            <a:endParaRPr lang="es-EC" sz="130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Embragues de discos, frenos de banda, rueda libre, cruzamiento y trinquete de aparcamiento.</a:t>
            </a:r>
            <a:endParaRPr lang="es-EC" sz="1300" dirty="0">
              <a:solidFill>
                <a:schemeClr val="tx1">
                  <a:lumMod val="75000"/>
                  <a:lumOff val="25000"/>
                </a:schemeClr>
              </a:solidFill>
              <a:latin typeface="Arial Narrow" pitchFamily="34" charset="0"/>
            </a:endParaRPr>
          </a:p>
          <a:p>
            <a:pPr algn="l">
              <a:lnSpc>
                <a:spcPct val="110000"/>
              </a:lnSpc>
              <a:spcBef>
                <a:spcPts val="700"/>
              </a:spcBef>
              <a:buNone/>
            </a:pPr>
            <a:r>
              <a:rPr lang="es-EC" sz="1450" b="1" dirty="0">
                <a:solidFill>
                  <a:schemeClr val="accent1">
                    <a:lumMod val="75000"/>
                  </a:schemeClr>
                </a:solidFill>
                <a:latin typeface="Arial Narrow" pitchFamily="34" charset="0"/>
              </a:rPr>
              <a:t>Parte 4. Sistema hidráulico</a:t>
            </a:r>
            <a:endParaRPr lang="es-EC" sz="145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Bomba, cuerpo de válvulas, servos, acumuladores; ATF; pruebas de nivel, calado, retardo y presión.</a:t>
            </a:r>
            <a:endParaRPr lang="es-EC" sz="1300" dirty="0">
              <a:solidFill>
                <a:schemeClr val="tx1">
                  <a:lumMod val="75000"/>
                  <a:lumOff val="25000"/>
                </a:schemeClr>
              </a:solidFill>
              <a:latin typeface="Arial Narrow" pitchFamily="34" charset="0"/>
            </a:endParaRPr>
          </a:p>
          <a:p>
            <a:pPr algn="l">
              <a:lnSpc>
                <a:spcPct val="110000"/>
              </a:lnSpc>
              <a:spcBef>
                <a:spcPts val="700"/>
              </a:spcBef>
              <a:buNone/>
            </a:pPr>
            <a:r>
              <a:rPr lang="es-EC" sz="1450" b="1" dirty="0">
                <a:solidFill>
                  <a:schemeClr val="accent1">
                    <a:lumMod val="75000"/>
                  </a:schemeClr>
                </a:solidFill>
                <a:latin typeface="Arial Narrow" pitchFamily="34" charset="0"/>
              </a:rPr>
              <a:t>Parte 5. Transmisiones asistidas electrónicamente</a:t>
            </a:r>
            <a:endParaRPr lang="es-EC" sz="1450" dirty="0">
              <a:solidFill>
                <a:schemeClr val="tx1">
                  <a:lumMod val="75000"/>
                  <a:lumOff val="25000"/>
                </a:schemeClr>
              </a:solidFill>
              <a:latin typeface="Arial Narrow" pitchFamily="34" charset="0"/>
            </a:endParaRPr>
          </a:p>
          <a:p>
            <a:pPr marL="342900" indent="-285750" algn="l">
              <a:lnSpc>
                <a:spcPct val="110000"/>
              </a:lnSpc>
              <a:spcBef>
                <a:spcPts val="150"/>
              </a:spcBef>
              <a:buFont typeface="Courier New" pitchFamily="49" charset="0"/>
              <a:buChar char="o"/>
            </a:pPr>
            <a:r>
              <a:rPr lang="es-EC" sz="1300" dirty="0">
                <a:solidFill>
                  <a:schemeClr val="tx1">
                    <a:lumMod val="75000"/>
                    <a:lumOff val="25000"/>
                  </a:schemeClr>
                </a:solidFill>
                <a:latin typeface="Arial Narrow" pitchFamily="34" charset="0"/>
              </a:rPr>
              <a:t>Control hidráulico frente a electrónico; cajas longitudinales y transversales; inspección, diagnóstico; P7 y P8.</a:t>
            </a:r>
            <a:endParaRPr lang="es-EC" sz="13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UNIDAD 3 · PARTE 1: INTRODUCCIÓN, HISTORIA Y PRINCIPIOS BÁSICOS</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LA TRANSMISIÓN AUTOMÁTICA: DEFINICIÓN.</a:t>
            </a:r>
          </a:p>
        </p:txBody>
      </p:sp>
      <p:sp>
        <p:nvSpPr>
          <p:cNvPr id="3" name="2 Marcador de contenido"/>
          <p:cNvSpPr>
            <a:spLocks noGrp="1"/>
          </p:cNvSpPr>
          <p:nvPr>
            <p:ph idx="1"/>
          </p:nvPr>
        </p:nvSpPr>
        <p:spPr>
          <a:xfrm>
            <a:off x="1005840" y="1645920"/>
            <a:ext cx="438912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transmisión automática selecciona por sí misma la relación de marcha adecuada según la velocidad del vehículo y la carga del motor, sin pedal de embrague y sin interrumpir el flujo de fuerza durante el cambio.</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la caja manual el cambio exige desembragar, desplazar un manguito y volver a embragar; en la automática los engranajes están siempre engranados (trenes epicicloidales) y las marchas se obtienen aplicando o soltando embragues y frenos accionados por presión de aceite.</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conductor solo elige el programa con la palanca selectora: P, R, N, D y posiciones de marchas limitadas.</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623560" y="2156943"/>
            <a:ext cx="4023360" cy="2690417"/>
          </a:xfrm>
          <a:prstGeom prst="rect">
            <a:avLst/>
          </a:prstGeom>
        </p:spPr>
      </p:pic>
      <p:sp>
        <p:nvSpPr>
          <p:cNvPr id="5" name="Texto 5"/>
          <p:cNvSpPr txBox="1"/>
          <p:nvPr/>
        </p:nvSpPr>
        <p:spPr>
          <a:xfrm>
            <a:off x="5623560" y="4874792"/>
            <a:ext cx="40233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Caja automática: 1 eje, 2 embrague anulador, 3 bomba, 4 planetario, 5 eje de salida, 6 trinquete, 7 palanca, 8 unidad hidráulica, 9 unidad de control, 10 electroválvulas, 11 turbina.</a:t>
            </a: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HISTORIA DE LA TRANSMISIÓN AUTOMÁTICA.</a:t>
            </a:r>
          </a:p>
        </p:txBody>
      </p:sp>
      <p:graphicFrame>
        <p:nvGraphicFramePr>
          <p:cNvPr id="3" name="Tabla 3"/>
          <p:cNvGraphicFramePr>
            <a:graphicFrameLocks noGrp="1"/>
          </p:cNvGraphicFramePr>
          <p:nvPr/>
        </p:nvGraphicFramePr>
        <p:xfrm>
          <a:off x="1005840" y="1691640"/>
          <a:ext cx="8595360" cy="3520440"/>
        </p:xfrm>
        <a:graphic>
          <a:graphicData uri="http://schemas.openxmlformats.org/drawingml/2006/table">
            <a:tbl>
              <a:tblPr firstRow="1" bandRow="1"/>
              <a:tblGrid>
                <a:gridCol w="1280160"/>
                <a:gridCol w="7315200"/>
              </a:tblGrid>
              <a:tr h="502920">
                <a:tc>
                  <a:txBody>
                    <a:bodyPr/>
                    <a:lstStyle/>
                    <a:p>
                      <a:pPr algn="ctr"/>
                      <a:r>
                        <a:rPr lang="es-EC" sz="1200" b="1" dirty="0">
                          <a:solidFill>
                            <a:schemeClr val="bg1"/>
                          </a:solidFill>
                          <a:latin typeface="Arial Narrow" pitchFamily="34" charset="0"/>
                        </a:rPr>
                        <a:t>Año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200" b="1" dirty="0">
                          <a:solidFill>
                            <a:schemeClr val="bg1"/>
                          </a:solidFill>
                          <a:latin typeface="Arial Narrow" pitchFamily="34" charset="0"/>
                        </a:rPr>
                        <a:t>Hito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200" b="1" dirty="0">
                          <a:solidFill>
                            <a:schemeClr val="tx1">
                              <a:lumMod val="75000"/>
                              <a:lumOff val="25000"/>
                            </a:schemeClr>
                          </a:solidFill>
                          <a:latin typeface="Arial Narrow" pitchFamily="34" charset="0"/>
                        </a:rPr>
                        <a:t>1908</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Ford T: caja de dos marchas con trenes epicicloidales y frenos de banda accionados con pedales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200" b="1" dirty="0">
                          <a:solidFill>
                            <a:schemeClr val="tx1">
                              <a:lumMod val="75000"/>
                              <a:lumOff val="25000"/>
                            </a:schemeClr>
                          </a:solidFill>
                          <a:latin typeface="Arial Narrow" pitchFamily="34" charset="0"/>
                        </a:rPr>
                        <a:t>1940</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General Motors Hydra-Matic: primera caja automática de gran serie, con acoplamiento hidráulico y cuatro marchas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200" b="1" dirty="0">
                          <a:solidFill>
                            <a:schemeClr val="tx1">
                              <a:lumMod val="75000"/>
                              <a:lumOff val="25000"/>
                            </a:schemeClr>
                          </a:solidFill>
                          <a:latin typeface="Arial Narrow" pitchFamily="34" charset="0"/>
                        </a:rPr>
                        <a:t>1948–1950</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Buick Dynaflow y Chevrolet Powerglide: se generaliza el convertidor de par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200" b="1" dirty="0">
                          <a:solidFill>
                            <a:schemeClr val="tx1">
                              <a:lumMod val="75000"/>
                              <a:lumOff val="25000"/>
                            </a:schemeClr>
                          </a:solidFill>
                          <a:latin typeface="Arial Narrow" pitchFamily="34" charset="0"/>
                        </a:rPr>
                        <a:t>1956</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Chrysler TorqueFlite con tren Simpson de tres marchas; luego Ford C4 y GM TH400</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200" b="1" dirty="0">
                          <a:solidFill>
                            <a:schemeClr val="tx1">
                              <a:lumMod val="75000"/>
                              <a:lumOff val="25000"/>
                            </a:schemeClr>
                          </a:solidFill>
                          <a:latin typeface="Arial Narrow" pitchFamily="34" charset="0"/>
                        </a:rPr>
                        <a:t>1980–1990</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Sobremarcha (4 marchas), embrague anulador y control electrónico (TCM) con electroválvulas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200" b="1" dirty="0">
                          <a:solidFill>
                            <a:schemeClr val="tx1">
                              <a:lumMod val="75000"/>
                              <a:lumOff val="25000"/>
                            </a:schemeClr>
                          </a:solidFill>
                          <a:latin typeface="Arial Narrow" pitchFamily="34" charset="0"/>
                        </a:rPr>
                        <a:t>2000–hoy</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Cajas de 6 a 10 marchas (Lepelletier), doble embrague (DSG), CVT y transmisiones híbridas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Elaborado a partir de Domínguez y Ferrer (2018) y Borja et al. (2011).</a:t>
            </a: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PRINCIPIOS BÁSICOS: LOS TRES SISTEMAS.</a:t>
            </a:r>
          </a:p>
        </p:txBody>
      </p:sp>
      <p:sp>
        <p:nvSpPr>
          <p:cNvPr id="3" name="2 Marcador de contenido"/>
          <p:cNvSpPr>
            <a:spLocks noGrp="1"/>
          </p:cNvSpPr>
          <p:nvPr>
            <p:ph idx="1"/>
          </p:nvPr>
        </p:nvSpPr>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Una caja automática combina tres sistemas que trabajan juntos:</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Sistema mecánico: </a:t>
            </a:r>
            <a:r>
              <a:rPr lang="es-EC" sz="1400" dirty="0">
                <a:solidFill>
                  <a:schemeClr val="tx1">
                    <a:lumMod val="75000"/>
                    <a:lumOff val="25000"/>
                  </a:schemeClr>
                </a:solidFill>
                <a:latin typeface="Arial Narrow" pitchFamily="34" charset="0"/>
              </a:rPr>
              <a:t>convertidor de par, trenes epicicloidales, embragues multidisco, frenos de banda o de discos, ruedas libres, eje de salida y trinquete de aparcamiento.</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Sistema hidráulico: </a:t>
            </a:r>
            <a:r>
              <a:rPr lang="es-EC" sz="1400" dirty="0">
                <a:solidFill>
                  <a:schemeClr val="tx1">
                    <a:lumMod val="75000"/>
                    <a:lumOff val="25000"/>
                  </a:schemeClr>
                </a:solidFill>
                <a:latin typeface="Arial Narrow" pitchFamily="34" charset="0"/>
              </a:rPr>
              <a:t>bomba, cuerpo de válvulas, servos, acumuladores y el aceite ATF, que transmite fuerza, acciona los elementos, lubrica y refrigera.</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Sistema de control: </a:t>
            </a:r>
            <a:r>
              <a:rPr lang="es-EC" sz="1400" dirty="0">
                <a:solidFill>
                  <a:schemeClr val="tx1">
                    <a:lumMod val="75000"/>
                    <a:lumOff val="25000"/>
                  </a:schemeClr>
                </a:solidFill>
                <a:latin typeface="Arial Narrow" pitchFamily="34" charset="0"/>
              </a:rPr>
              <a:t>en las cajas antiguas, hidráulico (válvula reguladora centrífuga y válvula de mariposa); en las actuales, electrónico: sensores, unidad de control (TCM) y electroválvulas.</a:t>
            </a:r>
            <a:endParaRPr lang="es-EC" sz="1400" dirty="0">
              <a:solidFill>
                <a:schemeClr val="tx1">
                  <a:lumMod val="75000"/>
                  <a:lumOff val="25000"/>
                </a:schemeClr>
              </a:solidFill>
              <a:latin typeface="Arial Narrow" pitchFamily="34" charset="0"/>
            </a:endParaRPr>
          </a:p>
          <a:p>
            <a:pPr algn="just">
              <a:lnSpc>
                <a:spcPct val="130000"/>
              </a:lnSpc>
              <a:spcBef>
                <a:spcPts val="9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conductor actúa sobre la palanca selectora; los puntos de cambio los decide el sistema de control según la velocidad del vehículo y la carga del motor.</a:t>
            </a:r>
            <a:endParaRPr lang="es-EC" sz="14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PALANCA SELECTORA: POSICIONES.</a:t>
            </a:r>
          </a:p>
        </p:txBody>
      </p:sp>
      <p:sp>
        <p:nvSpPr>
          <p:cNvPr id="3" name="2 Marcador de contenido"/>
          <p:cNvSpPr>
            <a:spLocks noGrp="1"/>
          </p:cNvSpPr>
          <p:nvPr>
            <p:ph idx="1"/>
          </p:nvPr>
        </p:nvSpPr>
        <p:spPr>
          <a:xfrm>
            <a:off x="1005840" y="1600200"/>
            <a:ext cx="8595360" cy="640080"/>
          </a:xfrm>
        </p:spPr>
        <p:txBody>
          <a:bodyPr anchor="t">
            <a:normAutofit/>
          </a:bodyPr>
          <a:lstStyle/>
          <a:p>
            <a:pPr algn="just">
              <a:lnSpc>
                <a:spcPct val="115000"/>
              </a:lnSpc>
              <a:spcBef>
                <a:spcPts val="0"/>
              </a:spcBef>
              <a:buNone/>
            </a:pPr>
            <a:r>
              <a:rPr lang="es-EC" sz="1350" dirty="0">
                <a:solidFill>
                  <a:schemeClr val="tx1">
                    <a:lumMod val="75000"/>
                    <a:lumOff val="25000"/>
                  </a:schemeClr>
                </a:solidFill>
                <a:latin typeface="Arial Narrow" pitchFamily="34" charset="0"/>
              </a:rPr>
              <a:t>Por seguridad, el motor solo arranca en P o N (interruptor de rango) y la palanca no sale de P sin pisar el freno (shift lock).</a:t>
            </a:r>
            <a:endParaRPr lang="es-EC" sz="1350" dirty="0">
              <a:solidFill>
                <a:schemeClr val="tx1">
                  <a:lumMod val="75000"/>
                  <a:lumOff val="25000"/>
                </a:schemeClr>
              </a:solidFill>
              <a:latin typeface="Arial Narrow" pitchFamily="34" charset="0"/>
            </a:endParaRPr>
          </a:p>
        </p:txBody>
      </p:sp>
      <p:graphicFrame>
        <p:nvGraphicFramePr>
          <p:cNvPr id="4" name="Tabla 4"/>
          <p:cNvGraphicFramePr>
            <a:graphicFrameLocks noGrp="1"/>
          </p:cNvGraphicFramePr>
          <p:nvPr/>
        </p:nvGraphicFramePr>
        <p:xfrm>
          <a:off x="1005840" y="2240280"/>
          <a:ext cx="8595360" cy="3328416"/>
        </p:xfrm>
        <a:graphic>
          <a:graphicData uri="http://schemas.openxmlformats.org/drawingml/2006/table">
            <a:tbl>
              <a:tblPr firstRow="1" bandRow="1"/>
              <a:tblGrid>
                <a:gridCol w="1828800"/>
                <a:gridCol w="6766560"/>
              </a:tblGrid>
              <a:tr h="475488">
                <a:tc>
                  <a:txBody>
                    <a:bodyPr/>
                    <a:lstStyle/>
                    <a:p>
                      <a:pPr algn="ctr"/>
                      <a:r>
                        <a:rPr lang="es-EC" sz="1200" b="1" dirty="0">
                          <a:solidFill>
                            <a:schemeClr val="bg1"/>
                          </a:solidFill>
                          <a:latin typeface="Arial Narrow" pitchFamily="34" charset="0"/>
                        </a:rPr>
                        <a:t>Posición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200" b="1" dirty="0">
                          <a:solidFill>
                            <a:schemeClr val="bg1"/>
                          </a:solidFill>
                          <a:latin typeface="Arial Narrow" pitchFamily="34" charset="0"/>
                        </a:rPr>
                        <a:t>Función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475488">
                <a:tc>
                  <a:txBody>
                    <a:bodyPr/>
                    <a:lstStyle/>
                    <a:p>
                      <a:pPr algn="l"/>
                      <a:r>
                        <a:rPr lang="es-EC" sz="1200" b="1" dirty="0">
                          <a:solidFill>
                            <a:schemeClr val="tx1">
                              <a:lumMod val="75000"/>
                              <a:lumOff val="25000"/>
                            </a:schemeClr>
                          </a:solidFill>
                          <a:latin typeface="Arial Narrow" pitchFamily="34" charset="0"/>
                        </a:rPr>
                        <a:t>P (Parking)</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Neutro con el eje de salida bloqueado por el trinquete de aparcamiento. Permite arrancar el motor.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200" b="1" dirty="0">
                          <a:solidFill>
                            <a:schemeClr val="tx1">
                              <a:lumMod val="75000"/>
                              <a:lumOff val="25000"/>
                            </a:schemeClr>
                          </a:solidFill>
                          <a:latin typeface="Arial Narrow" pitchFamily="34" charset="0"/>
                        </a:rPr>
                        <a:t>R (Reverse)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Marcha atrás. Solo con el vehículo detenido.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75488">
                <a:tc>
                  <a:txBody>
                    <a:bodyPr/>
                    <a:lstStyle/>
                    <a:p>
                      <a:pPr algn="l"/>
                      <a:r>
                        <a:rPr lang="es-EC" sz="1200" b="1" dirty="0">
                          <a:solidFill>
                            <a:schemeClr val="tx1">
                              <a:lumMod val="75000"/>
                              <a:lumOff val="25000"/>
                            </a:schemeClr>
                          </a:solidFill>
                          <a:latin typeface="Arial Narrow" pitchFamily="34" charset="0"/>
                        </a:rPr>
                        <a:t>N (Neutral)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Neutro: el motor no transmite movimiento, pero las ruedas giran libres. Permite arrancar el motor.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200" b="1" dirty="0">
                          <a:solidFill>
                            <a:schemeClr val="tx1">
                              <a:lumMod val="75000"/>
                              <a:lumOff val="25000"/>
                            </a:schemeClr>
                          </a:solidFill>
                          <a:latin typeface="Arial Narrow" pitchFamily="34" charset="0"/>
                        </a:rPr>
                        <a:t>D (Drive)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Cambio automático de todas las marchas hacia adelante.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75488">
                <a:tc>
                  <a:txBody>
                    <a:bodyPr/>
                    <a:lstStyle/>
                    <a:p>
                      <a:pPr algn="l"/>
                      <a:r>
                        <a:rPr lang="es-EC" sz="1200" b="1" dirty="0">
                          <a:solidFill>
                            <a:schemeClr val="tx1">
                              <a:lumMod val="75000"/>
                              <a:lumOff val="25000"/>
                            </a:schemeClr>
                          </a:solidFill>
                          <a:latin typeface="Arial Narrow" pitchFamily="34" charset="0"/>
                        </a:rPr>
                        <a:t>3, 2, L (o 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Limitan la marcha más alta; dan freno motor en bajadas o tracción en pendientes.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200" b="1" dirty="0">
                          <a:solidFill>
                            <a:schemeClr val="tx1">
                              <a:lumMod val="75000"/>
                              <a:lumOff val="25000"/>
                            </a:schemeClr>
                          </a:solidFill>
                          <a:latin typeface="Arial Narrow" pitchFamily="34" charset="0"/>
                        </a:rPr>
                        <a:t>M / +/− (Tiptronic)</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Modo secuencial: el conductor pide subir o bajar marcha; la TCM protege el motor.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UNIDAD 3 · PARTE 2: CONVERTIDOR DE PAR</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 CONVERTIDOR DE PAR.</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Es el elemento de entrada de la caja automática y puede considerarse un embrague hidráulico perfeccionado: aprovecha su suavidad y progresividad, pero además multiplica el par.</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Va atornillado al volante (plato flexible) del motor, gira siempre con él y transmite el par a la caja a través del aceite ATF.</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También acciona la bomba de aceite de la caja mediante salientes o rebajes en el cubo del convertidor.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7007153" y="1645920"/>
            <a:ext cx="1439053"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Convertidor de par seccionado.</a:t>
            </a:r>
          </a:p>
        </p:txBody>
      </p:sp>
      <p:pic>
        <p:nvPicPr>
          <p:cNvPr id="6" name="Figura" descr="Figura"/>
          <p:cNvPicPr>
            <a:picLocks noChangeAspect="1"/>
          </p:cNvPicPr>
          <p:nvPr/>
        </p:nvPicPr>
        <p:blipFill>
          <a:blip r:embed="rId3"/>
          <a:stretch>
            <a:fillRect/>
          </a:stretch>
        </p:blipFill>
        <p:spPr>
          <a:xfrm>
            <a:off x="5806440" y="3779652"/>
            <a:ext cx="3840480" cy="1410958"/>
          </a:xfrm>
          <a:prstGeom prst="rect">
            <a:avLst/>
          </a:prstGeom>
        </p:spPr>
      </p:pic>
      <p:sp>
        <p:nvSpPr>
          <p:cNvPr id="7" name="Texto 7"/>
          <p:cNvSpPr txBox="1"/>
          <p:nvPr/>
        </p:nvSpPr>
        <p:spPr>
          <a:xfrm>
            <a:off x="5806440" y="5218043"/>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Rebajes o salientes de accionamiento de la bomba.</a:t>
            </a: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PRINCIPIO: EL EMBRAGUE HIDRÁULICO.</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Una bomba acelera el aceite y lo lanza contra una turbina: la energía cinética del aceite se convierte en giro mecánico, como dos ventiladores enfrentados.</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Entre bomba y turbina siempre hay resbalamiento: la turbina gira más despacio que la bomba. El par de salida es igual al de entrada; no hay multiplicación.</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Para multiplicar el par se añade un tercer elemento, el reactor o estator, y el embrague hidráulico se convierte en convertidor de par.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1823005"/>
            <a:ext cx="3840480" cy="3358292"/>
          </a:xfrm>
          <a:prstGeom prst="rect">
            <a:avLst/>
          </a:prstGeom>
        </p:spPr>
      </p:pic>
      <p:sp>
        <p:nvSpPr>
          <p:cNvPr id="5" name="Texto 5"/>
          <p:cNvSpPr txBox="1"/>
          <p:nvPr/>
        </p:nvSpPr>
        <p:spPr>
          <a:xfrm>
            <a:off x="5806440" y="5208730"/>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Corriente rotatoria y corriente de vórtice.</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ELEMENTOS DEL CONVERTIDOR.</a:t>
            </a:r>
          </a:p>
        </p:txBody>
      </p:sp>
      <p:sp>
        <p:nvSpPr>
          <p:cNvPr id="3" name="2 Marcador de contenido"/>
          <p:cNvSpPr>
            <a:spLocks noGrp="1"/>
          </p:cNvSpPr>
          <p:nvPr>
            <p:ph idx="1"/>
          </p:nvPr>
        </p:nvSpPr>
        <p:spPr>
          <a:xfrm>
            <a:off x="1005840" y="1645920"/>
            <a:ext cx="4572000" cy="4069080"/>
          </a:xfrm>
        </p:spPr>
        <p:txBody>
          <a:bodyPr anchor="t">
            <a:normAutofit/>
          </a:bodyPr>
          <a:lstStyle/>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Bomba (impulsor): </a:t>
            </a:r>
            <a:r>
              <a:rPr lang="es-EC" sz="1350" dirty="0">
                <a:solidFill>
                  <a:schemeClr val="tx1">
                    <a:lumMod val="75000"/>
                    <a:lumOff val="25000"/>
                  </a:schemeClr>
                </a:solidFill>
                <a:latin typeface="Arial Narrow" pitchFamily="34" charset="0"/>
              </a:rPr>
              <a:t>forma parte de la carcasa del convertidor y gira con el motor; aspira el aceite y lo impulsa contra la turbina.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Turbina: </a:t>
            </a:r>
            <a:r>
              <a:rPr lang="es-EC" sz="1350" dirty="0">
                <a:solidFill>
                  <a:schemeClr val="tx1">
                    <a:lumMod val="75000"/>
                    <a:lumOff val="25000"/>
                  </a:schemeClr>
                </a:solidFill>
                <a:latin typeface="Arial Narrow" pitchFamily="34" charset="0"/>
              </a:rPr>
              <a:t>estriada al eje de entrada de la caja (eje de turbina); recibe el aceite en sus álabes y gira.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Reactor (estator, rueda directriz): </a:t>
            </a:r>
            <a:r>
              <a:rPr lang="es-EC" sz="1350" dirty="0">
                <a:solidFill>
                  <a:schemeClr val="tx1">
                    <a:lumMod val="75000"/>
                    <a:lumOff val="25000"/>
                  </a:schemeClr>
                </a:solidFill>
                <a:latin typeface="Arial Narrow" pitchFamily="34" charset="0"/>
              </a:rPr>
              <a:t>entre turbina y bomba, montado sobre una rueda libre apoyada en un eje fijo de la caja; sus álabes curvos cambian la dirección del aceite que vuelve a la bomba.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Embrague anulador: </a:t>
            </a:r>
            <a:r>
              <a:rPr lang="es-EC" sz="1350" dirty="0">
                <a:solidFill>
                  <a:schemeClr val="tx1">
                    <a:lumMod val="75000"/>
                    <a:lumOff val="25000"/>
                  </a:schemeClr>
                </a:solidFill>
                <a:latin typeface="Arial Narrow" pitchFamily="34" charset="0"/>
              </a:rPr>
              <a:t>une mecánicamente turbina y carcasa a velocidad de crucero.</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736775" y="1645920"/>
            <a:ext cx="1979809"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Turbina, reactor y bomba.</a:t>
            </a:r>
          </a:p>
        </p:txBody>
      </p:sp>
      <p:pic>
        <p:nvPicPr>
          <p:cNvPr id="6" name="Figura" descr="Figura"/>
          <p:cNvPicPr>
            <a:picLocks noChangeAspect="1"/>
          </p:cNvPicPr>
          <p:nvPr/>
        </p:nvPicPr>
        <p:blipFill>
          <a:blip r:embed="rId3"/>
          <a:stretch>
            <a:fillRect/>
          </a:stretch>
        </p:blipFill>
        <p:spPr>
          <a:xfrm>
            <a:off x="6330101" y="3657600"/>
            <a:ext cx="2793157"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Embrague puente, turbina, reactor y bomba.</a:t>
            </a: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FUNCIONAMIENTO: RALENTÍ Y MULTIPLICACIÓN DEL PAR.</a:t>
            </a:r>
          </a:p>
        </p:txBody>
      </p:sp>
      <p:sp>
        <p:nvSpPr>
          <p:cNvPr id="3" name="2 Marcador de contenido"/>
          <p:cNvSpPr>
            <a:spLocks noGrp="1"/>
          </p:cNvSpPr>
          <p:nvPr>
            <p:ph idx="1"/>
          </p:nvPr>
        </p:nvSpPr>
        <p:spPr>
          <a:xfrm>
            <a:off x="1005840" y="1645920"/>
            <a:ext cx="4572000" cy="4069080"/>
          </a:xfrm>
        </p:spPr>
        <p:txBody>
          <a:bodyPr anchor="t">
            <a:normAutofit/>
          </a:bodyPr>
          <a:lstStyle/>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Ralentí: </a:t>
            </a:r>
            <a:r>
              <a:rPr lang="es-EC" sz="1350" dirty="0">
                <a:solidFill>
                  <a:schemeClr val="tx1">
                    <a:lumMod val="75000"/>
                    <a:lumOff val="25000"/>
                  </a:schemeClr>
                </a:solidFill>
                <a:latin typeface="Arial Narrow" pitchFamily="34" charset="0"/>
              </a:rPr>
              <a:t>la bomba gira y la turbina está parada (vehículo frenado). El resbalamiento es del 100 % y casi no se transmite par: el vehículo solo "se arrastra".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Multiplicación: </a:t>
            </a:r>
            <a:r>
              <a:rPr lang="es-EC" sz="1350" dirty="0">
                <a:solidFill>
                  <a:schemeClr val="tx1">
                    <a:lumMod val="75000"/>
                    <a:lumOff val="25000"/>
                  </a:schemeClr>
                </a:solidFill>
                <a:latin typeface="Arial Narrow" pitchFamily="34" charset="0"/>
              </a:rPr>
              <a:t>al acelerar, el aceite sale de la turbina a gran velocidad y en sentido contrario al giro de la bomba. Los álabes curvos del reactor, bloqueado por su rueda libre, lo invierten y lo devuelven a la bomba en su mismo sentido de giro: ese empuje se suma al del motor y el par en la turbina aumenta.</a:t>
            </a:r>
            <a:endParaRPr lang="es-EC" sz="1350" dirty="0">
              <a:solidFill>
                <a:schemeClr val="tx1">
                  <a:lumMod val="75000"/>
                  <a:lumOff val="25000"/>
                </a:schemeClr>
              </a:solidFill>
              <a:latin typeface="Arial Narrow" pitchFamily="34" charset="0"/>
            </a:endParaRPr>
          </a:p>
          <a:p>
            <a:pPr algn="just">
              <a:lnSpc>
                <a:spcPct val="130000"/>
              </a:lnSpc>
              <a:spcBef>
                <a:spcPts val="5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La multiplicación es máxima con la turbina parada (calado): unas 2 a 2,5 veces el par motor.</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1729433"/>
            <a:ext cx="3840480" cy="1488037"/>
          </a:xfrm>
          <a:prstGeom prst="rect">
            <a:avLst/>
          </a:prstGeom>
        </p:spPr>
      </p:pic>
      <p:sp>
        <p:nvSpPr>
          <p:cNvPr id="5" name="Texto 5"/>
          <p:cNvSpPr txBox="1"/>
          <p:nvPr/>
        </p:nvSpPr>
        <p:spPr>
          <a:xfrm>
            <a:off x="5806440" y="3244902"/>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Un deflector en U invierte el chorro y aumenta la fuerza.</a:t>
            </a:r>
          </a:p>
        </p:txBody>
      </p:sp>
      <p:pic>
        <p:nvPicPr>
          <p:cNvPr id="6" name="Figura" descr="Figura"/>
          <p:cNvPicPr>
            <a:picLocks noChangeAspect="1"/>
          </p:cNvPicPr>
          <p:nvPr/>
        </p:nvPicPr>
        <p:blipFill>
          <a:blip r:embed="rId3"/>
          <a:stretch>
            <a:fillRect/>
          </a:stretch>
        </p:blipFill>
        <p:spPr>
          <a:xfrm>
            <a:off x="6940062" y="3657600"/>
            <a:ext cx="1573234"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Reactor inmóvil: el aceite vuelve a la bomba.</a:t>
            </a:r>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FUNCIONAMIENTO: PUNTO DE ACOPLAMIENTO.</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A medida que la turbina se acelera, su velocidad se acerca a la de la bomba (90 % aproximadamente) y el aceite ya no golpea la cara de trabajo de los álabes del reactor sino su parte posterior.</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rueda libre deja entonces girar al reactor en el mismo sentido que bomba y turbina: el convertidor deja de multiplicar el par y funciona como embrague hidráulico (relación ≈ 1:1).</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Siempre existe un resbalamiento de 2 a 3 %; sin él no circularía el aceite y no se transmitiría par.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7140205" y="1645920"/>
            <a:ext cx="1172949"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Reactor girando libre.</a:t>
            </a:r>
          </a:p>
        </p:txBody>
      </p:sp>
      <p:pic>
        <p:nvPicPr>
          <p:cNvPr id="6" name="Figura" descr="Figura"/>
          <p:cNvPicPr>
            <a:picLocks noChangeAspect="1"/>
          </p:cNvPicPr>
          <p:nvPr/>
        </p:nvPicPr>
        <p:blipFill>
          <a:blip r:embed="rId3"/>
          <a:stretch>
            <a:fillRect/>
          </a:stretch>
        </p:blipFill>
        <p:spPr>
          <a:xfrm>
            <a:off x="6531757" y="3657600"/>
            <a:ext cx="2389844"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Recorrido del aceite en ambas fases.</a:t>
            </a: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MAGNITUDES DEL CONVERTIDOR.</a:t>
            </a:r>
          </a:p>
        </p:txBody>
      </p:sp>
      <p:sp>
        <p:nvSpPr>
          <p:cNvPr id="3" name="2 Marcador de contenido"/>
          <p:cNvSpPr>
            <a:spLocks noGrp="1"/>
          </p:cNvSpPr>
          <p:nvPr>
            <p:ph idx="1"/>
          </p:nvPr>
        </p:nvSpPr>
        <p:spPr>
          <a:xfrm>
            <a:off x="1005840" y="1645920"/>
            <a:ext cx="8595360" cy="82296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comportamiento del convertidor se describe con tres magnitudes, en función de las velocidades y pares de la bomba (p) y de la turbina (t):</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463040" y="2560320"/>
                <a:ext cx="7680960" cy="292608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650" i="1" dirty="0">
                          <a:solidFill>
                            <a:schemeClr val="tx1">
                              <a:lumMod val="75000"/>
                              <a:lumOff val="25000"/>
                            </a:schemeClr>
                          </a:solidFill>
                          <a:latin typeface="Cambria Math" panose="02040503050406030204" pitchFamily="18" charset="0"/>
                        </a:rPr>
                        <m:t xml:space="preserve">Resbalamiento:   s = </m:t>
                      </m:r>
                      <m:f>
                        <m:fPr>
                          <m:ctrlPr>
                            <a:rPr lang="es-EC" sz="1650" i="1" dirty="0">
                              <a:solidFill>
                                <a:schemeClr val="tx1">
                                  <a:lumMod val="75000"/>
                                  <a:lumOff val="25000"/>
                                </a:schemeClr>
                              </a:solidFill>
                              <a:latin typeface="Cambria Math" panose="02040503050406030204" pitchFamily="18" charset="0"/>
                            </a:rPr>
                          </m:ctrlPr>
                        </m:fPr>
                        <m:num>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p</m:t>
                              </m:r>
                            </m:sub>
                          </m:sSub>
                          <m:r>
                            <a:rPr lang="es-EC" sz="1650" i="1" dirty="0">
                              <a:solidFill>
                                <a:schemeClr val="tx1">
                                  <a:lumMod val="75000"/>
                                  <a:lumOff val="25000"/>
                                </a:schemeClr>
                              </a:solidFill>
                              <a:latin typeface="Cambria Math" panose="02040503050406030204" pitchFamily="18" charset="0"/>
                            </a:rPr>
                            <m:t xml:space="preserve"> − </m:t>
                          </m:r>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t</m:t>
                              </m:r>
                            </m:sub>
                          </m:sSub>
                        </m:num>
                        <m:den>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p</m:t>
                              </m:r>
                            </m:sub>
                          </m:sSub>
                        </m:den>
                      </m:f>
                      <m:r>
                        <a:rPr lang="es-EC" sz="1650" i="1" dirty="0">
                          <a:solidFill>
                            <a:schemeClr val="tx1">
                              <a:lumMod val="75000"/>
                              <a:lumOff val="25000"/>
                            </a:schemeClr>
                          </a:solidFill>
                          <a:latin typeface="Cambria Math" panose="02040503050406030204" pitchFamily="18" charset="0"/>
                        </a:rPr>
                        <m:t>·100 %</m:t>
                      </m:r>
                    </m:oMath>
                  </m:oMathPara>
                </a14:m>
              </a:p>
              <a:p>
                <a:pPr algn="ctr">
                  <a:lnSpc>
                    <a:spcPct val="110000"/>
                  </a:lnSpc>
                  <a:spcBef>
                    <a:spcPts val="300"/>
                  </a:spcBef>
                </a:pPr>
                <a14:m>
                  <m:oMathPara xmlns:m="http://schemas.openxmlformats.org/officeDocument/2006/math">
                    <m:oMathParaPr>
                      <m:jc m:val="centerGroup"/>
                    </m:oMathParaPr>
                    <m:oMath>
                      <m:r>
                        <a:rPr lang="es-EC" sz="1650" i="1" dirty="0">
                          <a:solidFill>
                            <a:schemeClr val="tx1">
                              <a:lumMod val="75000"/>
                              <a:lumOff val="25000"/>
                            </a:schemeClr>
                          </a:solidFill>
                          <a:latin typeface="Cambria Math" panose="02040503050406030204" pitchFamily="18" charset="0"/>
                        </a:rPr>
                        <m:t xml:space="preserve">Relación de pares:   TR = </m:t>
                      </m:r>
                      <m:f>
                        <m:fPr>
                          <m:ctrlPr>
                            <a:rPr lang="es-EC" sz="1650" i="1" dirty="0">
                              <a:solidFill>
                                <a:schemeClr val="tx1">
                                  <a:lumMod val="75000"/>
                                  <a:lumOff val="25000"/>
                                </a:schemeClr>
                              </a:solidFill>
                              <a:latin typeface="Cambria Math" panose="02040503050406030204" pitchFamily="18" charset="0"/>
                            </a:rPr>
                          </m:ctrlPr>
                        </m:fPr>
                        <m:num>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T</m:t>
                              </m:r>
                            </m:e>
                            <m:sub>
                              <m:r>
                                <a:rPr lang="es-EC" sz="1650" i="1" dirty="0">
                                  <a:solidFill>
                                    <a:schemeClr val="tx1">
                                      <a:lumMod val="75000"/>
                                      <a:lumOff val="25000"/>
                                    </a:schemeClr>
                                  </a:solidFill>
                                  <a:latin typeface="Cambria Math" panose="02040503050406030204" pitchFamily="18" charset="0"/>
                                </a:rPr>
                                <m:t>t</m:t>
                              </m:r>
                            </m:sub>
                          </m:sSub>
                        </m:num>
                        <m:den>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T</m:t>
                              </m:r>
                            </m:e>
                            <m:sub>
                              <m:r>
                                <a:rPr lang="es-EC" sz="1650" i="1" dirty="0">
                                  <a:solidFill>
                                    <a:schemeClr val="tx1">
                                      <a:lumMod val="75000"/>
                                      <a:lumOff val="25000"/>
                                    </a:schemeClr>
                                  </a:solidFill>
                                  <a:latin typeface="Cambria Math" panose="02040503050406030204" pitchFamily="18" charset="0"/>
                                </a:rPr>
                                <m:t>p</m:t>
                              </m:r>
                            </m:sub>
                          </m:sSub>
                        </m:den>
                      </m:f>
                    </m:oMath>
                  </m:oMathPara>
                </a14:m>
              </a:p>
              <a:p>
                <a:pPr algn="ctr">
                  <a:lnSpc>
                    <a:spcPct val="110000"/>
                  </a:lnSpc>
                  <a:spcBef>
                    <a:spcPts val="300"/>
                  </a:spcBef>
                </a:pPr>
                <a14:m>
                  <m:oMathPara xmlns:m="http://schemas.openxmlformats.org/officeDocument/2006/math">
                    <m:oMathParaPr>
                      <m:jc m:val="centerGroup"/>
                    </m:oMathParaPr>
                    <m:oMath>
                      <m:r>
                        <a:rPr lang="es-EC" sz="1650" i="1" dirty="0">
                          <a:solidFill>
                            <a:schemeClr val="tx1">
                              <a:lumMod val="75000"/>
                              <a:lumOff val="25000"/>
                            </a:schemeClr>
                          </a:solidFill>
                          <a:latin typeface="Cambria Math" panose="02040503050406030204" pitchFamily="18" charset="0"/>
                        </a:rPr>
                        <m:t xml:space="preserve">Relación de velocidades:   SR = </m:t>
                      </m:r>
                      <m:f>
                        <m:fPr>
                          <m:ctrlPr>
                            <a:rPr lang="es-EC" sz="1650" i="1" dirty="0">
                              <a:solidFill>
                                <a:schemeClr val="tx1">
                                  <a:lumMod val="75000"/>
                                  <a:lumOff val="25000"/>
                                </a:schemeClr>
                              </a:solidFill>
                              <a:latin typeface="Cambria Math" panose="02040503050406030204" pitchFamily="18" charset="0"/>
                            </a:rPr>
                          </m:ctrlPr>
                        </m:fPr>
                        <m:num>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t</m:t>
                              </m:r>
                            </m:sub>
                          </m:sSub>
                        </m:num>
                        <m:den>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p</m:t>
                              </m:r>
                            </m:sub>
                          </m:sSub>
                        </m:den>
                      </m:f>
                    </m:oMath>
                  </m:oMathPara>
                </a14:m>
              </a:p>
              <a:p>
                <a:pPr algn="ctr">
                  <a:lnSpc>
                    <a:spcPct val="110000"/>
                  </a:lnSpc>
                  <a:spcBef>
                    <a:spcPts val="300"/>
                  </a:spcBef>
                </a:pPr>
                <a14:m>
                  <m:oMathPara xmlns:m="http://schemas.openxmlformats.org/officeDocument/2006/math">
                    <m:oMathParaPr>
                      <m:jc m:val="centerGroup"/>
                    </m:oMathParaPr>
                    <m:oMath>
                      <m:r>
                        <a:rPr lang="es-EC" sz="1650" i="1" dirty="0">
                          <a:solidFill>
                            <a:schemeClr val="tx1">
                              <a:lumMod val="75000"/>
                              <a:lumOff val="25000"/>
                            </a:schemeClr>
                          </a:solidFill>
                          <a:latin typeface="Cambria Math" panose="02040503050406030204" pitchFamily="18" charset="0"/>
                        </a:rPr>
                        <m:t xml:space="preserve">Rendimiento:   η = </m:t>
                      </m:r>
                      <m:f>
                        <m:fPr>
                          <m:ctrlPr>
                            <a:rPr lang="es-EC" sz="1650" i="1" dirty="0">
                              <a:solidFill>
                                <a:schemeClr val="tx1">
                                  <a:lumMod val="75000"/>
                                  <a:lumOff val="25000"/>
                                </a:schemeClr>
                              </a:solidFill>
                              <a:latin typeface="Cambria Math" panose="02040503050406030204" pitchFamily="18" charset="0"/>
                            </a:rPr>
                          </m:ctrlPr>
                        </m:fPr>
                        <m:num>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T</m:t>
                              </m:r>
                            </m:e>
                            <m:sub>
                              <m:r>
                                <a:rPr lang="es-EC" sz="1650" i="1" dirty="0">
                                  <a:solidFill>
                                    <a:schemeClr val="tx1">
                                      <a:lumMod val="75000"/>
                                      <a:lumOff val="25000"/>
                                    </a:schemeClr>
                                  </a:solidFill>
                                  <a:latin typeface="Cambria Math" panose="02040503050406030204" pitchFamily="18" charset="0"/>
                                </a:rPr>
                                <m:t>t</m:t>
                              </m:r>
                            </m:sub>
                          </m:sSub>
                          <m:r>
                            <a:rPr lang="es-EC" sz="1650" i="1" dirty="0">
                              <a:solidFill>
                                <a:schemeClr val="tx1">
                                  <a:lumMod val="75000"/>
                                  <a:lumOff val="25000"/>
                                </a:schemeClr>
                              </a:solidFill>
                              <a:latin typeface="Cambria Math" panose="02040503050406030204" pitchFamily="18" charset="0"/>
                            </a:rPr>
                            <m:t>·</m:t>
                          </m:r>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t</m:t>
                              </m:r>
                            </m:sub>
                          </m:sSub>
                        </m:num>
                        <m:den>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T</m:t>
                              </m:r>
                            </m:e>
                            <m:sub>
                              <m:r>
                                <a:rPr lang="es-EC" sz="1650" i="1" dirty="0">
                                  <a:solidFill>
                                    <a:schemeClr val="tx1">
                                      <a:lumMod val="75000"/>
                                      <a:lumOff val="25000"/>
                                    </a:schemeClr>
                                  </a:solidFill>
                                  <a:latin typeface="Cambria Math" panose="02040503050406030204" pitchFamily="18" charset="0"/>
                                </a:rPr>
                                <m:t>p</m:t>
                              </m:r>
                            </m:sub>
                          </m:sSub>
                          <m:r>
                            <a:rPr lang="es-EC" sz="1650" i="1" dirty="0">
                              <a:solidFill>
                                <a:schemeClr val="tx1">
                                  <a:lumMod val="75000"/>
                                  <a:lumOff val="25000"/>
                                </a:schemeClr>
                              </a:solidFill>
                              <a:latin typeface="Cambria Math" panose="02040503050406030204" pitchFamily="18" charset="0"/>
                            </a:rPr>
                            <m:t>·</m:t>
                          </m:r>
                          <m:sSub>
                            <m:sSubPr>
                              <m:ctrlPr>
                                <a:rPr lang="es-EC" sz="1650" i="1" dirty="0">
                                  <a:solidFill>
                                    <a:schemeClr val="tx1">
                                      <a:lumMod val="75000"/>
                                      <a:lumOff val="25000"/>
                                    </a:schemeClr>
                                  </a:solidFill>
                                  <a:latin typeface="Cambria Math" panose="02040503050406030204" pitchFamily="18" charset="0"/>
                                </a:rPr>
                              </m:ctrlPr>
                            </m:sSubPr>
                            <m:e>
                              <m:r>
                                <a:rPr lang="es-EC" sz="1650" i="1" dirty="0">
                                  <a:solidFill>
                                    <a:schemeClr val="tx1">
                                      <a:lumMod val="75000"/>
                                      <a:lumOff val="25000"/>
                                    </a:schemeClr>
                                  </a:solidFill>
                                  <a:latin typeface="Cambria Math" panose="02040503050406030204" pitchFamily="18" charset="0"/>
                                </a:rPr>
                                <m:t>n</m:t>
                              </m:r>
                            </m:e>
                            <m:sub>
                              <m:r>
                                <a:rPr lang="es-EC" sz="1650" i="1" dirty="0">
                                  <a:solidFill>
                                    <a:schemeClr val="tx1">
                                      <a:lumMod val="75000"/>
                                      <a:lumOff val="25000"/>
                                    </a:schemeClr>
                                  </a:solidFill>
                                  <a:latin typeface="Cambria Math" panose="02040503050406030204" pitchFamily="18" charset="0"/>
                                </a:rPr>
                                <m:t>p</m:t>
                              </m:r>
                            </m:sub>
                          </m:sSub>
                        </m:den>
                      </m:f>
                      <m:r>
                        <a:rPr lang="es-EC" sz="1650" i="1" dirty="0">
                          <a:solidFill>
                            <a:schemeClr val="tx1">
                              <a:lumMod val="75000"/>
                              <a:lumOff val="25000"/>
                            </a:schemeClr>
                          </a:solidFill>
                          <a:latin typeface="Cambria Math" panose="02040503050406030204" pitchFamily="18" charset="0"/>
                        </a:rPr>
                        <m:t xml:space="preserve"> = TR·SR</m:t>
                      </m:r>
                    </m:oMath>
                  </m:oMathPara>
                </a14:m>
              </a:p>
            </p:txBody>
          </p:sp>
        </mc:Choice>
        <mc:Fallback>
          <p:sp>
            <p:nvSpPr>
              <p:cNvPr id="4" name="Ecuación 4"/>
              <p:cNvSpPr txBox="1"/>
              <p:nvPr/>
            </p:nvSpPr>
            <p:spPr>
              <a:xfrm>
                <a:off x="1463040" y="2560320"/>
                <a:ext cx="7680960" cy="292608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650" i="1" dirty="0">
                    <a:solidFill>
                      <a:schemeClr val="tx1">
                        <a:lumMod val="75000"/>
                        <a:lumOff val="25000"/>
                      </a:schemeClr>
                    </a:solidFill>
                    <a:latin typeface="Cambria Math" panose="02040503050406030204" pitchFamily="18" charset="0"/>
                  </a:rPr>
                  <a:t>Resbalamiento:   s = (np − nt)/np·100 %</a:t>
                </a:r>
              </a:p>
              <a:p>
                <a:pPr algn="ctr">
                  <a:lnSpc>
                    <a:spcPct val="110000"/>
                  </a:lnSpc>
                  <a:spcBef>
                    <a:spcPts val="300"/>
                  </a:spcBef>
                </a:pPr>
                <a:r>
                  <a:rPr lang="es-EC" sz="1650" i="1" dirty="0">
                    <a:solidFill>
                      <a:schemeClr val="tx1">
                        <a:lumMod val="75000"/>
                        <a:lumOff val="25000"/>
                      </a:schemeClr>
                    </a:solidFill>
                    <a:latin typeface="Cambria Math" panose="02040503050406030204" pitchFamily="18" charset="0"/>
                  </a:rPr>
                  <a:t>Relación de pares:   TR = Tt/Tp</a:t>
                </a:r>
              </a:p>
              <a:p>
                <a:pPr algn="ctr">
                  <a:lnSpc>
                    <a:spcPct val="110000"/>
                  </a:lnSpc>
                  <a:spcBef>
                    <a:spcPts val="300"/>
                  </a:spcBef>
                </a:pPr>
                <a:r>
                  <a:rPr lang="es-EC" sz="1650" i="1" dirty="0">
                    <a:solidFill>
                      <a:schemeClr val="tx1">
                        <a:lumMod val="75000"/>
                        <a:lumOff val="25000"/>
                      </a:schemeClr>
                    </a:solidFill>
                    <a:latin typeface="Cambria Math" panose="02040503050406030204" pitchFamily="18" charset="0"/>
                  </a:rPr>
                  <a:t>Relación de velocidades:   SR = nt/np</a:t>
                </a:r>
              </a:p>
              <a:p>
                <a:pPr algn="ctr">
                  <a:lnSpc>
                    <a:spcPct val="110000"/>
                  </a:lnSpc>
                  <a:spcBef>
                    <a:spcPts val="300"/>
                  </a:spcBef>
                </a:pPr>
                <a:r>
                  <a:rPr lang="es-EC" sz="1650" i="1" dirty="0">
                    <a:solidFill>
                      <a:schemeClr val="tx1">
                        <a:lumMod val="75000"/>
                        <a:lumOff val="25000"/>
                      </a:schemeClr>
                    </a:solidFill>
                    <a:latin typeface="Cambria Math" panose="02040503050406030204" pitchFamily="18" charset="0"/>
                  </a:rPr>
                  <a:t>Rendimiento:   η = Tt·nt/Tp·np = TR·SR</a:t>
                </a:r>
              </a:p>
            </p:txBody>
          </p:sp>
        </mc:Fallback>
      </mc:AlternateContent>
      <p:sp>
        <p:nvSpPr>
          <p:cNvPr id="5" name="Texto 5"/>
          <p:cNvSpPr txBox="1"/>
          <p:nvPr/>
        </p:nvSpPr>
        <p:spPr>
          <a:xfrm>
            <a:off x="1005840" y="5596128"/>
            <a:ext cx="8595360" cy="164591"/>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Interpretación: </a:t>
            </a:r>
            <a:r>
              <a:rPr lang="es-EC" sz="1350" dirty="0">
                <a:solidFill>
                  <a:schemeClr val="tx1">
                    <a:lumMod val="75000"/>
                    <a:lumOff val="25000"/>
                  </a:schemeClr>
                </a:solidFill>
                <a:latin typeface="Arial Narrow" pitchFamily="34" charset="0"/>
              </a:rPr>
              <a:t>con la turbina parada SR = 0 y η = 0 aunque TR sea máximo; el rendimiento llega a 85 – 90 % cerca del punto de acoplamiento y con el embrague anulador cerrado se acerca al 100 %.</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EJEMPLO RESUELTO: CONVERTIDOR EN FASE DE MULTIPLICACIÓN.</a:t>
            </a:r>
          </a:p>
        </p:txBody>
      </p:sp>
      <p:sp>
        <p:nvSpPr>
          <p:cNvPr id="3" name="2 Marcador de contenido"/>
          <p:cNvSpPr>
            <a:spLocks noGrp="1"/>
          </p:cNvSpPr>
          <p:nvPr>
            <p:ph idx="1"/>
          </p:nvPr>
        </p:nvSpPr>
        <p:spPr>
          <a:xfrm>
            <a:off x="1005840" y="1600200"/>
            <a:ext cx="8595360" cy="868680"/>
          </a:xfrm>
        </p:spPr>
        <p:txBody>
          <a:bodyPr anchor="t">
            <a:normAutofit/>
          </a:bodyPr>
          <a:lstStyle/>
          <a:p>
            <a:pPr algn="just">
              <a:lnSpc>
                <a:spcPct val="120000"/>
              </a:lnSpc>
              <a:spcBef>
                <a:spcPts val="0"/>
              </a:spcBef>
              <a:buNone/>
            </a:pPr>
            <a:r>
              <a:rPr lang="es-EC" sz="1400" b="1" dirty="0">
                <a:solidFill>
                  <a:schemeClr val="accent1">
                    <a:lumMod val="75000"/>
                  </a:schemeClr>
                </a:solidFill>
                <a:latin typeface="Arial Narrow" pitchFamily="34" charset="0"/>
              </a:rPr>
              <a:t xml:space="preserve">Datos: </a:t>
            </a:r>
            <a:r>
              <a:rPr lang="es-EC" sz="1400" dirty="0">
                <a:solidFill>
                  <a:schemeClr val="tx1">
                    <a:lumMod val="75000"/>
                    <a:lumOff val="25000"/>
                  </a:schemeClr>
                </a:solidFill>
                <a:latin typeface="Arial Narrow" pitchFamily="34" charset="0"/>
              </a:rPr>
              <a:t>el motor gira a np = 2000 rpm con Tp = 150 N·m; la turbina gira a nt = 1200 rpm y entrega Tt = 210 N·m.</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005840" y="2514600"/>
                <a:ext cx="420624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600" i="1" dirty="0">
                          <a:solidFill>
                            <a:schemeClr val="tx1">
                              <a:lumMod val="75000"/>
                              <a:lumOff val="25000"/>
                            </a:schemeClr>
                          </a:solidFill>
                          <a:latin typeface="Cambria Math" panose="02040503050406030204" pitchFamily="18" charset="0"/>
                        </a:rPr>
                        <m:t xml:space="preserve">s = </m:t>
                      </m:r>
                      <m:f>
                        <m:fPr>
                          <m:ctrlPr>
                            <a:rPr lang="es-EC" sz="1600" i="1" dirty="0">
                              <a:solidFill>
                                <a:schemeClr val="tx1">
                                  <a:lumMod val="75000"/>
                                  <a:lumOff val="25000"/>
                                </a:schemeClr>
                              </a:solidFill>
                              <a:latin typeface="Cambria Math" panose="02040503050406030204" pitchFamily="18" charset="0"/>
                            </a:rPr>
                          </m:ctrlPr>
                        </m:fPr>
                        <m:num>
                          <m:r>
                            <a:rPr lang="es-EC" sz="1600" i="1" dirty="0">
                              <a:solidFill>
                                <a:schemeClr val="tx1">
                                  <a:lumMod val="75000"/>
                                  <a:lumOff val="25000"/>
                                </a:schemeClr>
                              </a:solidFill>
                              <a:latin typeface="Cambria Math" panose="02040503050406030204" pitchFamily="18" charset="0"/>
                            </a:rPr>
                            <m:t>2000 − 1200</m:t>
                          </m:r>
                        </m:num>
                        <m:den>
                          <m:r>
                            <a:rPr lang="es-EC" sz="1600" i="1" dirty="0">
                              <a:solidFill>
                                <a:schemeClr val="tx1">
                                  <a:lumMod val="75000"/>
                                  <a:lumOff val="25000"/>
                                </a:schemeClr>
                              </a:solidFill>
                              <a:latin typeface="Cambria Math" panose="02040503050406030204" pitchFamily="18" charset="0"/>
                            </a:rPr>
                            <m:t>2000</m:t>
                          </m:r>
                        </m:den>
                      </m:f>
                      <m:r>
                        <a:rPr lang="es-EC" sz="1600" i="1" dirty="0">
                          <a:solidFill>
                            <a:schemeClr val="tx1">
                              <a:lumMod val="75000"/>
                              <a:lumOff val="25000"/>
                            </a:schemeClr>
                          </a:solidFill>
                          <a:latin typeface="Cambria Math" panose="02040503050406030204" pitchFamily="18" charset="0"/>
                        </a:rPr>
                        <m:t>·100 = 40 %</m:t>
                      </m:r>
                    </m:oMath>
                  </m:oMathPara>
                </a14:m>
              </a:p>
              <a:p>
                <a:pPr algn="ctr">
                  <a:lnSpc>
                    <a:spcPct val="110000"/>
                  </a:lnSpc>
                  <a:spcBef>
                    <a:spcPts val="300"/>
                  </a:spcBef>
                </a:pPr>
                <a14:m>
                  <m:oMathPara xmlns:m="http://schemas.openxmlformats.org/officeDocument/2006/math">
                    <m:oMathParaPr>
                      <m:jc m:val="centerGroup"/>
                    </m:oMathParaPr>
                    <m:oMath>
                      <m:r>
                        <a:rPr lang="es-EC" sz="1600" i="1" dirty="0">
                          <a:solidFill>
                            <a:schemeClr val="tx1">
                              <a:lumMod val="75000"/>
                              <a:lumOff val="25000"/>
                            </a:schemeClr>
                          </a:solidFill>
                          <a:latin typeface="Cambria Math" panose="02040503050406030204" pitchFamily="18" charset="0"/>
                        </a:rPr>
                        <m:t xml:space="preserve">TR = </m:t>
                      </m:r>
                      <m:f>
                        <m:fPr>
                          <m:ctrlPr>
                            <a:rPr lang="es-EC" sz="1600" i="1" dirty="0">
                              <a:solidFill>
                                <a:schemeClr val="tx1">
                                  <a:lumMod val="75000"/>
                                  <a:lumOff val="25000"/>
                                </a:schemeClr>
                              </a:solidFill>
                              <a:latin typeface="Cambria Math" panose="02040503050406030204" pitchFamily="18" charset="0"/>
                            </a:rPr>
                          </m:ctrlPr>
                        </m:fPr>
                        <m:num>
                          <m:r>
                            <a:rPr lang="es-EC" sz="1600" i="1" dirty="0">
                              <a:solidFill>
                                <a:schemeClr val="tx1">
                                  <a:lumMod val="75000"/>
                                  <a:lumOff val="25000"/>
                                </a:schemeClr>
                              </a:solidFill>
                              <a:latin typeface="Cambria Math" panose="02040503050406030204" pitchFamily="18" charset="0"/>
                            </a:rPr>
                            <m:t>210</m:t>
                          </m:r>
                        </m:num>
                        <m:den>
                          <m:r>
                            <a:rPr lang="es-EC" sz="1600" i="1" dirty="0">
                              <a:solidFill>
                                <a:schemeClr val="tx1">
                                  <a:lumMod val="75000"/>
                                  <a:lumOff val="25000"/>
                                </a:schemeClr>
                              </a:solidFill>
                              <a:latin typeface="Cambria Math" panose="02040503050406030204" pitchFamily="18" charset="0"/>
                            </a:rPr>
                            <m:t>150</m:t>
                          </m:r>
                        </m:den>
                      </m:f>
                      <m:r>
                        <a:rPr lang="es-EC" sz="1600" i="1" dirty="0">
                          <a:solidFill>
                            <a:schemeClr val="tx1">
                              <a:lumMod val="75000"/>
                              <a:lumOff val="25000"/>
                            </a:schemeClr>
                          </a:solidFill>
                          <a:latin typeface="Cambria Math" panose="02040503050406030204" pitchFamily="18" charset="0"/>
                        </a:rPr>
                        <m:t xml:space="preserve"> = </m:t>
                      </m:r>
                      <m:r>
                        <m:rPr>
                          <m:nor/>
                        </m:rPr>
                        <a:rPr lang="es-EC" sz="1600" i="0" dirty="0">
                          <a:solidFill>
                            <a:schemeClr val="tx1">
                              <a:lumMod val="75000"/>
                              <a:lumOff val="25000"/>
                            </a:schemeClr>
                          </a:solidFill>
                          <a:latin typeface="Cambria Math" panose="02040503050406030204" pitchFamily="18" charset="0"/>
                        </a:rPr>
                        <m:t>1,40</m:t>
                      </m:r>
                    </m:oMath>
                  </m:oMathPara>
                </a14:m>
              </a:p>
              <a:p>
                <a:pPr algn="ctr">
                  <a:lnSpc>
                    <a:spcPct val="110000"/>
                  </a:lnSpc>
                  <a:spcBef>
                    <a:spcPts val="300"/>
                  </a:spcBef>
                </a:pPr>
                <a14:m>
                  <m:oMathPara xmlns:m="http://schemas.openxmlformats.org/officeDocument/2006/math">
                    <m:oMathParaPr>
                      <m:jc m:val="centerGroup"/>
                    </m:oMathParaPr>
                    <m:oMath>
                      <m:r>
                        <a:rPr lang="es-EC" sz="1600" i="1" dirty="0">
                          <a:solidFill>
                            <a:schemeClr val="tx1">
                              <a:lumMod val="75000"/>
                              <a:lumOff val="25000"/>
                            </a:schemeClr>
                          </a:solidFill>
                          <a:latin typeface="Cambria Math" panose="02040503050406030204" pitchFamily="18" charset="0"/>
                        </a:rPr>
                        <m:t xml:space="preserve">SR = </m:t>
                      </m:r>
                      <m:f>
                        <m:fPr>
                          <m:ctrlPr>
                            <a:rPr lang="es-EC" sz="1600" i="1" dirty="0">
                              <a:solidFill>
                                <a:schemeClr val="tx1">
                                  <a:lumMod val="75000"/>
                                  <a:lumOff val="25000"/>
                                </a:schemeClr>
                              </a:solidFill>
                              <a:latin typeface="Cambria Math" panose="02040503050406030204" pitchFamily="18" charset="0"/>
                            </a:rPr>
                          </m:ctrlPr>
                        </m:fPr>
                        <m:num>
                          <m:r>
                            <a:rPr lang="es-EC" sz="1600" i="1" dirty="0">
                              <a:solidFill>
                                <a:schemeClr val="tx1">
                                  <a:lumMod val="75000"/>
                                  <a:lumOff val="25000"/>
                                </a:schemeClr>
                              </a:solidFill>
                              <a:latin typeface="Cambria Math" panose="02040503050406030204" pitchFamily="18" charset="0"/>
                            </a:rPr>
                            <m:t>1200</m:t>
                          </m:r>
                        </m:num>
                        <m:den>
                          <m:r>
                            <a:rPr lang="es-EC" sz="1600" i="1" dirty="0">
                              <a:solidFill>
                                <a:schemeClr val="tx1">
                                  <a:lumMod val="75000"/>
                                  <a:lumOff val="25000"/>
                                </a:schemeClr>
                              </a:solidFill>
                              <a:latin typeface="Cambria Math" panose="02040503050406030204" pitchFamily="18" charset="0"/>
                            </a:rPr>
                            <m:t>2000</m:t>
                          </m:r>
                        </m:den>
                      </m:f>
                      <m:r>
                        <a:rPr lang="es-EC" sz="1600" i="1" dirty="0">
                          <a:solidFill>
                            <a:schemeClr val="tx1">
                              <a:lumMod val="75000"/>
                              <a:lumOff val="25000"/>
                            </a:schemeClr>
                          </a:solidFill>
                          <a:latin typeface="Cambria Math" panose="02040503050406030204" pitchFamily="18" charset="0"/>
                        </a:rPr>
                        <m:t xml:space="preserve"> = </m:t>
                      </m:r>
                      <m:r>
                        <m:rPr>
                          <m:nor/>
                        </m:rPr>
                        <a:rPr lang="es-EC" sz="1600" i="0" dirty="0">
                          <a:solidFill>
                            <a:schemeClr val="tx1">
                              <a:lumMod val="75000"/>
                              <a:lumOff val="25000"/>
                            </a:schemeClr>
                          </a:solidFill>
                          <a:latin typeface="Cambria Math" panose="02040503050406030204" pitchFamily="18" charset="0"/>
                        </a:rPr>
                        <m:t>0,60</m:t>
                      </m:r>
                    </m:oMath>
                  </m:oMathPara>
                </a14:m>
              </a:p>
            </p:txBody>
          </p:sp>
        </mc:Choice>
        <mc:Fallback>
          <p:sp>
            <p:nvSpPr>
              <p:cNvPr id="4" name="Ecuación 4"/>
              <p:cNvSpPr txBox="1"/>
              <p:nvPr/>
            </p:nvSpPr>
            <p:spPr>
              <a:xfrm>
                <a:off x="1005840" y="2514600"/>
                <a:ext cx="420624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s = (2000 − 1200)/2000·100 = 40 %</a:t>
                </a:r>
              </a:p>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TR = 210/150 = 1,40</a:t>
                </a:r>
              </a:p>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SR = 1200/2000 = 0,60</a:t>
                </a:r>
              </a:p>
            </p:txBody>
          </p:sp>
        </mc:Fallback>
      </mc:AlternateContent>
      <mc:AlternateContent xmlns:mc="http://schemas.openxmlformats.org/markup-compatibility/2006" xmlns:a14="http://schemas.microsoft.com/office/drawing/2010/main">
        <mc:Choice Requires="a14">
          <p:sp>
            <p:nvSpPr>
              <p:cNvPr id="5" name="Ecuación 5"/>
              <p:cNvSpPr txBox="1"/>
              <p:nvPr/>
            </p:nvSpPr>
            <p:spPr>
              <a:xfrm>
                <a:off x="5394959" y="2514600"/>
                <a:ext cx="420624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600" i="1" dirty="0">
                          <a:solidFill>
                            <a:schemeClr val="tx1">
                              <a:lumMod val="75000"/>
                              <a:lumOff val="25000"/>
                            </a:schemeClr>
                          </a:solidFill>
                          <a:latin typeface="Cambria Math" panose="02040503050406030204" pitchFamily="18" charset="0"/>
                        </a:rPr>
                        <m:t xml:space="preserve">η = TR·SR = </m:t>
                      </m:r>
                      <m:r>
                        <m:rPr>
                          <m:nor/>
                        </m:rPr>
                        <a:rPr lang="es-EC" sz="1600" i="0" dirty="0">
                          <a:solidFill>
                            <a:schemeClr val="tx1">
                              <a:lumMod val="75000"/>
                              <a:lumOff val="25000"/>
                            </a:schemeClr>
                          </a:solidFill>
                          <a:latin typeface="Cambria Math" panose="02040503050406030204" pitchFamily="18" charset="0"/>
                        </a:rPr>
                        <m:t>1,40</m:t>
                      </m:r>
                      <m:r>
                        <a:rPr lang="es-EC" sz="1600" i="1" dirty="0">
                          <a:solidFill>
                            <a:schemeClr val="tx1">
                              <a:lumMod val="75000"/>
                              <a:lumOff val="25000"/>
                            </a:schemeClr>
                          </a:solidFill>
                          <a:latin typeface="Cambria Math" panose="02040503050406030204" pitchFamily="18" charset="0"/>
                        </a:rPr>
                        <m:t>·</m:t>
                      </m:r>
                      <m:r>
                        <m:rPr>
                          <m:nor/>
                        </m:rPr>
                        <a:rPr lang="es-EC" sz="1600" i="0" dirty="0">
                          <a:solidFill>
                            <a:schemeClr val="tx1">
                              <a:lumMod val="75000"/>
                              <a:lumOff val="25000"/>
                            </a:schemeClr>
                          </a:solidFill>
                          <a:latin typeface="Cambria Math" panose="02040503050406030204" pitchFamily="18" charset="0"/>
                        </a:rPr>
                        <m:t>0,60</m:t>
                      </m:r>
                      <m:r>
                        <a:rPr lang="es-EC" sz="1600" i="1" dirty="0">
                          <a:solidFill>
                            <a:schemeClr val="tx1">
                              <a:lumMod val="75000"/>
                              <a:lumOff val="25000"/>
                            </a:schemeClr>
                          </a:solidFill>
                          <a:latin typeface="Cambria Math" panose="02040503050406030204" pitchFamily="18" charset="0"/>
                        </a:rPr>
                        <m:t xml:space="preserve"> = </m:t>
                      </m:r>
                      <m:r>
                        <m:rPr>
                          <m:nor/>
                        </m:rPr>
                        <a:rPr lang="es-EC" sz="1600" i="0" dirty="0">
                          <a:solidFill>
                            <a:schemeClr val="tx1">
                              <a:lumMod val="75000"/>
                              <a:lumOff val="25000"/>
                            </a:schemeClr>
                          </a:solidFill>
                          <a:latin typeface="Cambria Math" panose="02040503050406030204" pitchFamily="18" charset="0"/>
                        </a:rPr>
                        <m:t>0,84</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600" i="1" dirty="0">
                              <a:solidFill>
                                <a:schemeClr val="tx1">
                                  <a:lumMod val="75000"/>
                                  <a:lumOff val="25000"/>
                                </a:schemeClr>
                              </a:solidFill>
                              <a:latin typeface="Cambria Math" panose="02040503050406030204" pitchFamily="18" charset="0"/>
                            </a:rPr>
                          </m:ctrlPr>
                        </m:sSubPr>
                        <m:e>
                          <m:r>
                            <a:rPr lang="es-EC" sz="1600" i="1" dirty="0">
                              <a:solidFill>
                                <a:schemeClr val="tx1">
                                  <a:lumMod val="75000"/>
                                  <a:lumOff val="25000"/>
                                </a:schemeClr>
                              </a:solidFill>
                              <a:latin typeface="Cambria Math" panose="02040503050406030204" pitchFamily="18" charset="0"/>
                            </a:rPr>
                            <m:t>P</m:t>
                          </m:r>
                        </m:e>
                        <m:sub>
                          <m:r>
                            <a:rPr lang="es-EC" sz="1600" i="1" dirty="0">
                              <a:solidFill>
                                <a:schemeClr val="tx1">
                                  <a:lumMod val="75000"/>
                                  <a:lumOff val="25000"/>
                                </a:schemeClr>
                              </a:solidFill>
                              <a:latin typeface="Cambria Math" panose="02040503050406030204" pitchFamily="18" charset="0"/>
                            </a:rPr>
                            <m:t>p</m:t>
                          </m:r>
                        </m:sub>
                      </m:sSub>
                      <m:r>
                        <a:rPr lang="es-EC" sz="1600" i="1" dirty="0">
                          <a:solidFill>
                            <a:schemeClr val="tx1">
                              <a:lumMod val="75000"/>
                              <a:lumOff val="25000"/>
                            </a:schemeClr>
                          </a:solidFill>
                          <a:latin typeface="Cambria Math" panose="02040503050406030204" pitchFamily="18" charset="0"/>
                        </a:rPr>
                        <m:t xml:space="preserve"> = </m:t>
                      </m:r>
                      <m:f>
                        <m:fPr>
                          <m:ctrlPr>
                            <a:rPr lang="es-EC" sz="1600" i="1" dirty="0">
                              <a:solidFill>
                                <a:schemeClr val="tx1">
                                  <a:lumMod val="75000"/>
                                  <a:lumOff val="25000"/>
                                </a:schemeClr>
                              </a:solidFill>
                              <a:latin typeface="Cambria Math" panose="02040503050406030204" pitchFamily="18" charset="0"/>
                            </a:rPr>
                          </m:ctrlPr>
                        </m:fPr>
                        <m:num>
                          <m:r>
                            <a:rPr lang="es-EC" sz="1600" i="1" dirty="0">
                              <a:solidFill>
                                <a:schemeClr val="tx1">
                                  <a:lumMod val="75000"/>
                                  <a:lumOff val="25000"/>
                                </a:schemeClr>
                              </a:solidFill>
                              <a:latin typeface="Cambria Math" panose="02040503050406030204" pitchFamily="18" charset="0"/>
                            </a:rPr>
                            <m:t>150·2000</m:t>
                          </m:r>
                        </m:num>
                        <m:den>
                          <m:r>
                            <a:rPr lang="es-EC" sz="1600" i="1" dirty="0">
                              <a:solidFill>
                                <a:schemeClr val="tx1">
                                  <a:lumMod val="75000"/>
                                  <a:lumOff val="25000"/>
                                </a:schemeClr>
                              </a:solidFill>
                              <a:latin typeface="Cambria Math" panose="02040503050406030204" pitchFamily="18" charset="0"/>
                            </a:rPr>
                            <m:t>9549</m:t>
                          </m:r>
                        </m:den>
                      </m:f>
                      <m:r>
                        <a:rPr lang="es-EC" sz="1600" i="1" dirty="0">
                          <a:solidFill>
                            <a:schemeClr val="tx1">
                              <a:lumMod val="75000"/>
                              <a:lumOff val="25000"/>
                            </a:schemeClr>
                          </a:solidFill>
                          <a:latin typeface="Cambria Math" panose="02040503050406030204" pitchFamily="18" charset="0"/>
                        </a:rPr>
                        <m:t xml:space="preserve"> = </m:t>
                      </m:r>
                      <m:r>
                        <m:rPr>
                          <m:nor/>
                        </m:rPr>
                        <a:rPr lang="es-EC" sz="1600" i="0" dirty="0">
                          <a:solidFill>
                            <a:schemeClr val="tx1">
                              <a:lumMod val="75000"/>
                              <a:lumOff val="25000"/>
                            </a:schemeClr>
                          </a:solidFill>
                          <a:latin typeface="Cambria Math" panose="02040503050406030204" pitchFamily="18" charset="0"/>
                        </a:rPr>
                        <m:t>31,4</m:t>
                      </m:r>
                      <m:r>
                        <a:rPr lang="es-EC" sz="1600" i="1" dirty="0">
                          <a:solidFill>
                            <a:schemeClr val="tx1">
                              <a:lumMod val="75000"/>
                              <a:lumOff val="25000"/>
                            </a:schemeClr>
                          </a:solidFill>
                          <a:latin typeface="Cambria Math" panose="02040503050406030204" pitchFamily="18" charset="0"/>
                        </a:rPr>
                        <m:t xml:space="preserve"> </m:t>
                      </m:r>
                      <m:r>
                        <m:rPr>
                          <m:sty m:val="p"/>
                        </m:rPr>
                        <a:rPr lang="es-EC" sz="1600" i="0" dirty="0">
                          <a:solidFill>
                            <a:schemeClr val="tx1">
                              <a:lumMod val="75000"/>
                              <a:lumOff val="25000"/>
                            </a:schemeClr>
                          </a:solidFill>
                          <a:latin typeface="Cambria Math" panose="02040503050406030204" pitchFamily="18" charset="0"/>
                        </a:rPr>
                        <m:t>kW</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600" i="1" dirty="0">
                              <a:solidFill>
                                <a:schemeClr val="tx1">
                                  <a:lumMod val="75000"/>
                                  <a:lumOff val="25000"/>
                                </a:schemeClr>
                              </a:solidFill>
                              <a:latin typeface="Cambria Math" panose="02040503050406030204" pitchFamily="18" charset="0"/>
                            </a:rPr>
                          </m:ctrlPr>
                        </m:sSubPr>
                        <m:e>
                          <m:r>
                            <a:rPr lang="es-EC" sz="1600" i="1" dirty="0">
                              <a:solidFill>
                                <a:schemeClr val="tx1">
                                  <a:lumMod val="75000"/>
                                  <a:lumOff val="25000"/>
                                </a:schemeClr>
                              </a:solidFill>
                              <a:latin typeface="Cambria Math" panose="02040503050406030204" pitchFamily="18" charset="0"/>
                            </a:rPr>
                            <m:t>P</m:t>
                          </m:r>
                        </m:e>
                        <m:sub>
                          <m:r>
                            <a:rPr lang="es-EC" sz="1600" i="1" dirty="0">
                              <a:solidFill>
                                <a:schemeClr val="tx1">
                                  <a:lumMod val="75000"/>
                                  <a:lumOff val="25000"/>
                                </a:schemeClr>
                              </a:solidFill>
                              <a:latin typeface="Cambria Math" panose="02040503050406030204" pitchFamily="18" charset="0"/>
                            </a:rPr>
                            <m:t>t</m:t>
                          </m:r>
                        </m:sub>
                      </m:sSub>
                      <m:r>
                        <a:rPr lang="es-EC" sz="1600" i="1" dirty="0">
                          <a:solidFill>
                            <a:schemeClr val="tx1">
                              <a:lumMod val="75000"/>
                              <a:lumOff val="25000"/>
                            </a:schemeClr>
                          </a:solidFill>
                          <a:latin typeface="Cambria Math" panose="02040503050406030204" pitchFamily="18" charset="0"/>
                        </a:rPr>
                        <m:t xml:space="preserve"> = </m:t>
                      </m:r>
                      <m:f>
                        <m:fPr>
                          <m:ctrlPr>
                            <a:rPr lang="es-EC" sz="1600" i="1" dirty="0">
                              <a:solidFill>
                                <a:schemeClr val="tx1">
                                  <a:lumMod val="75000"/>
                                  <a:lumOff val="25000"/>
                                </a:schemeClr>
                              </a:solidFill>
                              <a:latin typeface="Cambria Math" panose="02040503050406030204" pitchFamily="18" charset="0"/>
                            </a:rPr>
                          </m:ctrlPr>
                        </m:fPr>
                        <m:num>
                          <m:r>
                            <a:rPr lang="es-EC" sz="1600" i="1" dirty="0">
                              <a:solidFill>
                                <a:schemeClr val="tx1">
                                  <a:lumMod val="75000"/>
                                  <a:lumOff val="25000"/>
                                </a:schemeClr>
                              </a:solidFill>
                              <a:latin typeface="Cambria Math" panose="02040503050406030204" pitchFamily="18" charset="0"/>
                            </a:rPr>
                            <m:t>210·1200</m:t>
                          </m:r>
                        </m:num>
                        <m:den>
                          <m:r>
                            <a:rPr lang="es-EC" sz="1600" i="1" dirty="0">
                              <a:solidFill>
                                <a:schemeClr val="tx1">
                                  <a:lumMod val="75000"/>
                                  <a:lumOff val="25000"/>
                                </a:schemeClr>
                              </a:solidFill>
                              <a:latin typeface="Cambria Math" panose="02040503050406030204" pitchFamily="18" charset="0"/>
                            </a:rPr>
                            <m:t>9549</m:t>
                          </m:r>
                        </m:den>
                      </m:f>
                      <m:r>
                        <a:rPr lang="es-EC" sz="1600" i="1" dirty="0">
                          <a:solidFill>
                            <a:schemeClr val="tx1">
                              <a:lumMod val="75000"/>
                              <a:lumOff val="25000"/>
                            </a:schemeClr>
                          </a:solidFill>
                          <a:latin typeface="Cambria Math" panose="02040503050406030204" pitchFamily="18" charset="0"/>
                        </a:rPr>
                        <m:t xml:space="preserve"> = </m:t>
                      </m:r>
                      <m:r>
                        <m:rPr>
                          <m:nor/>
                        </m:rPr>
                        <a:rPr lang="es-EC" sz="1600" i="0" dirty="0">
                          <a:solidFill>
                            <a:schemeClr val="tx1">
                              <a:lumMod val="75000"/>
                              <a:lumOff val="25000"/>
                            </a:schemeClr>
                          </a:solidFill>
                          <a:latin typeface="Cambria Math" panose="02040503050406030204" pitchFamily="18" charset="0"/>
                        </a:rPr>
                        <m:t>26,4</m:t>
                      </m:r>
                      <m:r>
                        <a:rPr lang="es-EC" sz="1600" i="1" dirty="0">
                          <a:solidFill>
                            <a:schemeClr val="tx1">
                              <a:lumMod val="75000"/>
                              <a:lumOff val="25000"/>
                            </a:schemeClr>
                          </a:solidFill>
                          <a:latin typeface="Cambria Math" panose="02040503050406030204" pitchFamily="18" charset="0"/>
                        </a:rPr>
                        <m:t xml:space="preserve"> </m:t>
                      </m:r>
                      <m:r>
                        <m:rPr>
                          <m:sty m:val="p"/>
                        </m:rPr>
                        <a:rPr lang="es-EC" sz="1600" i="0" dirty="0">
                          <a:solidFill>
                            <a:schemeClr val="tx1">
                              <a:lumMod val="75000"/>
                              <a:lumOff val="25000"/>
                            </a:schemeClr>
                          </a:solidFill>
                          <a:latin typeface="Cambria Math" panose="02040503050406030204" pitchFamily="18" charset="0"/>
                        </a:rPr>
                        <m:t>kW</m:t>
                      </m:r>
                    </m:oMath>
                  </m:oMathPara>
                </a14:m>
              </a:p>
            </p:txBody>
          </p:sp>
        </mc:Choice>
        <mc:Fallback>
          <p:sp>
            <p:nvSpPr>
              <p:cNvPr id="5" name="Ecuación 5"/>
              <p:cNvSpPr txBox="1"/>
              <p:nvPr/>
            </p:nvSpPr>
            <p:spPr>
              <a:xfrm>
                <a:off x="5394959" y="2514600"/>
                <a:ext cx="420624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η = TR·SR = 1,40·0,60 = 0,84</a:t>
                </a:r>
              </a:p>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Pp = 150·2000/9549 = 31,4 kW</a:t>
                </a:r>
              </a:p>
              <a:p>
                <a:pPr algn="ctr">
                  <a:lnSpc>
                    <a:spcPct val="110000"/>
                  </a:lnSpc>
                  <a:spcBef>
                    <a:spcPts val="300"/>
                  </a:spcBef>
                </a:pPr>
                <a:r>
                  <a:rPr lang="es-EC" sz="1600" i="1" dirty="0">
                    <a:solidFill>
                      <a:schemeClr val="tx1">
                        <a:lumMod val="75000"/>
                        <a:lumOff val="25000"/>
                      </a:schemeClr>
                    </a:solidFill>
                    <a:latin typeface="Cambria Math" panose="02040503050406030204" pitchFamily="18" charset="0"/>
                  </a:rPr>
                  <a:t>Pt = 210·1200/9549 = 26,4 kW</a:t>
                </a:r>
              </a:p>
            </p:txBody>
          </p:sp>
        </mc:Fallback>
      </mc:AlternateContent>
      <p:sp>
        <p:nvSpPr>
          <p:cNvPr id="6" name="Texto 6"/>
          <p:cNvSpPr txBox="1"/>
          <p:nvPr/>
        </p:nvSpPr>
        <p:spPr>
          <a:xfrm>
            <a:off x="1005840" y="4937760"/>
            <a:ext cx="8595360" cy="777240"/>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Conclusión: </a:t>
            </a:r>
            <a:r>
              <a:rPr lang="es-EC" sz="1350" dirty="0">
                <a:solidFill>
                  <a:schemeClr val="tx1">
                    <a:lumMod val="75000"/>
                    <a:lumOff val="25000"/>
                  </a:schemeClr>
                </a:solidFill>
                <a:latin typeface="Arial Narrow" pitchFamily="34" charset="0"/>
              </a:rPr>
              <a:t>el convertidor multiplica el par un 40 %, pero pierde un 16 % de la potencia (5 kW) en forma de calor en el ATF. Por eso necesita radiador de aceite y embrague anulador.</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EMBRAGUE ANULADOR (LOCK-UP).</a:t>
            </a:r>
          </a:p>
        </p:txBody>
      </p:sp>
      <p:sp>
        <p:nvSpPr>
          <p:cNvPr id="3" name="2 Marcador de contenido"/>
          <p:cNvSpPr>
            <a:spLocks noGrp="1"/>
          </p:cNvSpPr>
          <p:nvPr>
            <p:ph idx="1"/>
          </p:nvPr>
        </p:nvSpPr>
        <p:spPr>
          <a:xfrm>
            <a:off x="1005840" y="1645920"/>
            <a:ext cx="484632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Para eliminar el resbalamiento a velocidad de crucero, la caja incorpora dentro del convertidor un embrague con un forro anular, unido a la turbina, que la presión del aceite aprieta contra la carcasa.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Lleva un amortiguador de torsión, como el disco de embrague, para filtrar las vibraciones del motor.</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unidad de control lo mantiene abierto, en regulación (deslizamiento controlado) o cerrado, según el régimen y par del motor, la velocidad de turbina y de salida, la temperatura y la marcha. Reduce el consumo entre 2 y 8 %.</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7128933" y="1645920"/>
            <a:ext cx="1469813" cy="1655064"/>
          </a:xfrm>
          <a:prstGeom prst="rect">
            <a:avLst/>
          </a:prstGeom>
        </p:spPr>
      </p:pic>
      <p:sp>
        <p:nvSpPr>
          <p:cNvPr id="5" name="Texto 5"/>
          <p:cNvSpPr txBox="1"/>
          <p:nvPr/>
        </p:nvSpPr>
        <p:spPr>
          <a:xfrm>
            <a:off x="6080760" y="3328416"/>
            <a:ext cx="35661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Embrague de anulación.</a:t>
            </a:r>
          </a:p>
        </p:txBody>
      </p:sp>
      <p:pic>
        <p:nvPicPr>
          <p:cNvPr id="6" name="Figura" descr="Figura"/>
          <p:cNvPicPr>
            <a:picLocks noChangeAspect="1"/>
          </p:cNvPicPr>
          <p:nvPr/>
        </p:nvPicPr>
        <p:blipFill>
          <a:blip r:embed="rId3"/>
          <a:stretch>
            <a:fillRect/>
          </a:stretch>
        </p:blipFill>
        <p:spPr>
          <a:xfrm>
            <a:off x="7036308" y="3657600"/>
            <a:ext cx="1655064" cy="1655064"/>
          </a:xfrm>
          <a:prstGeom prst="rect">
            <a:avLst/>
          </a:prstGeom>
        </p:spPr>
      </p:pic>
      <p:sp>
        <p:nvSpPr>
          <p:cNvPr id="7" name="Texto 7"/>
          <p:cNvSpPr txBox="1"/>
          <p:nvPr/>
        </p:nvSpPr>
        <p:spPr>
          <a:xfrm>
            <a:off x="6080760" y="5340096"/>
            <a:ext cx="35661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Amortiguador del embrague.</a:t>
            </a: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EMBRAGUE ANULADOR: ABIERTO Y CERRADO.</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Abierto: el ATF entra por el lado del émbolo, la presión se equilibra a ambos lados y el aceite pasa hacia la turbina. Cerrado: se invierte el flujo con una válvula y una electroválvula; la presión del lado de la turbina aprieta el émbolo contra la carcasa.</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747737"/>
            <a:ext cx="4206240" cy="2240349"/>
          </a:xfrm>
          <a:prstGeom prst="rect">
            <a:avLst/>
          </a:prstGeom>
        </p:spPr>
      </p:pic>
      <p:sp>
        <p:nvSpPr>
          <p:cNvPr id="5" name="Texto 5"/>
          <p:cNvSpPr txBox="1"/>
          <p:nvPr/>
        </p:nvSpPr>
        <p:spPr>
          <a:xfrm>
            <a:off x="1005840" y="5015518"/>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Embrague anulador abierto y cerrado.</a:t>
            </a:r>
          </a:p>
        </p:txBody>
      </p:sp>
      <p:pic>
        <p:nvPicPr>
          <p:cNvPr id="6" name="Figura" descr="Figura"/>
          <p:cNvPicPr>
            <a:picLocks noChangeAspect="1"/>
          </p:cNvPicPr>
          <p:nvPr/>
        </p:nvPicPr>
        <p:blipFill>
          <a:blip r:embed="rId3"/>
          <a:stretch>
            <a:fillRect/>
          </a:stretch>
        </p:blipFill>
        <p:spPr>
          <a:xfrm>
            <a:off x="5394960" y="2587856"/>
            <a:ext cx="4206240" cy="2560111"/>
          </a:xfrm>
          <a:prstGeom prst="rect">
            <a:avLst/>
          </a:prstGeom>
        </p:spPr>
      </p:pic>
      <p:sp>
        <p:nvSpPr>
          <p:cNvPr id="7" name="Texto 7"/>
          <p:cNvSpPr txBox="1"/>
          <p:nvPr/>
        </p:nvSpPr>
        <p:spPr>
          <a:xfrm>
            <a:off x="5394960" y="5175399"/>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Despiece: bomba, estator, turbina y embrague amortiguador.</a:t>
            </a: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ALIMENTACIÓN Y REFRIGERACIÓN DEL ATF.</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El convertidor recibe aceite de forma continua desde la bomba para accionar el embrague anulador y para refrigerarse: el ATF caliente pasa por un radiador, normalmente integrado en el radiador del motor o como intercambiador aceite–refrigerante.</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453917" y="2331720"/>
            <a:ext cx="3310085" cy="3072384"/>
          </a:xfrm>
          <a:prstGeom prst="rect">
            <a:avLst/>
          </a:prstGeom>
        </p:spPr>
      </p:pic>
      <p:sp>
        <p:nvSpPr>
          <p:cNvPr id="5" name="Texto 5"/>
          <p:cNvSpPr txBox="1"/>
          <p:nvPr/>
        </p:nvSpPr>
        <p:spPr>
          <a:xfrm>
            <a:off x="1005840" y="5431536"/>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Circuito del convertidor (válvulas de presión y anulador).</a:t>
            </a:r>
          </a:p>
        </p:txBody>
      </p:sp>
      <p:pic>
        <p:nvPicPr>
          <p:cNvPr id="6" name="Figura" descr="Figura"/>
          <p:cNvPicPr>
            <a:picLocks noChangeAspect="1"/>
          </p:cNvPicPr>
          <p:nvPr/>
        </p:nvPicPr>
        <p:blipFill>
          <a:blip r:embed="rId3"/>
          <a:stretch>
            <a:fillRect/>
          </a:stretch>
        </p:blipFill>
        <p:spPr>
          <a:xfrm>
            <a:off x="5394960" y="2623761"/>
            <a:ext cx="4206240" cy="2488300"/>
          </a:xfrm>
          <a:prstGeom prst="rect">
            <a:avLst/>
          </a:prstGeom>
        </p:spPr>
      </p:pic>
      <p:sp>
        <p:nvSpPr>
          <p:cNvPr id="7" name="Texto 7"/>
          <p:cNvSpPr txBox="1"/>
          <p:nvPr/>
        </p:nvSpPr>
        <p:spPr>
          <a:xfrm>
            <a:off x="5394960" y="5139494"/>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Circuito de refrigeración del ATF.</a:t>
            </a: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DIAGNÓSTICO DEL CONVERTIDOR DE PAR.</a:t>
            </a:r>
          </a:p>
        </p:txBody>
      </p:sp>
      <p:graphicFrame>
        <p:nvGraphicFramePr>
          <p:cNvPr id="3" name="Tabla 3"/>
          <p:cNvGraphicFramePr>
            <a:graphicFrameLocks noGrp="1"/>
          </p:cNvGraphicFramePr>
          <p:nvPr/>
        </p:nvGraphicFramePr>
        <p:xfrm>
          <a:off x="1005840" y="1691640"/>
          <a:ext cx="8595360" cy="3520440"/>
        </p:xfrm>
        <a:graphic>
          <a:graphicData uri="http://schemas.openxmlformats.org/drawingml/2006/table">
            <a:tbl>
              <a:tblPr firstRow="1" bandRow="1"/>
              <a:tblGrid>
                <a:gridCol w="2743200"/>
                <a:gridCol w="3017520"/>
                <a:gridCol w="2834640"/>
              </a:tblGrid>
              <a:tr h="502920">
                <a:tc>
                  <a:txBody>
                    <a:bodyPr/>
                    <a:lstStyle/>
                    <a:p>
                      <a:pPr algn="ctr"/>
                      <a:r>
                        <a:rPr lang="es-EC" sz="1100" b="1" dirty="0">
                          <a:solidFill>
                            <a:schemeClr val="bg1"/>
                          </a:solidFill>
                          <a:latin typeface="Arial Narrow" pitchFamily="34" charset="0"/>
                        </a:rPr>
                        <a:t>Síntoma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00" b="1" dirty="0">
                          <a:solidFill>
                            <a:schemeClr val="bg1"/>
                          </a:solidFill>
                          <a:latin typeface="Arial Narrow" pitchFamily="34" charset="0"/>
                        </a:rPr>
                        <a:t>Causa probable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00" b="1" dirty="0">
                          <a:solidFill>
                            <a:schemeClr val="bg1"/>
                          </a:solidFill>
                          <a:latin typeface="Arial Narrow" pitchFamily="34" charset="0"/>
                        </a:rPr>
                        <a:t>Reparación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100" b="1" dirty="0">
                          <a:solidFill>
                            <a:schemeClr val="tx1">
                              <a:lumMod val="75000"/>
                              <a:lumOff val="25000"/>
                            </a:schemeClr>
                          </a:solidFill>
                          <a:latin typeface="Arial Narrow" pitchFamily="34" charset="0"/>
                        </a:rPr>
                        <a:t>Resbalamiento excesivo (sube el régimen sin acelerar)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Falta de aceite o aceite en mal estado; temperatura alta; avería del control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Corregir nivel o cambiar ATF; revisar refrigeración; leer DTC</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00" b="1" dirty="0">
                          <a:solidFill>
                            <a:schemeClr val="tx1">
                              <a:lumMod val="75000"/>
                              <a:lumOff val="25000"/>
                            </a:schemeClr>
                          </a:solidFill>
                          <a:latin typeface="Arial Narrow" pitchFamily="34" charset="0"/>
                        </a:rPr>
                        <a:t>Régimen de calado bajo; aceleración pobre desde parado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Rueda libre del reactor patina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Sustituir el convertidor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00" b="1" dirty="0">
                          <a:solidFill>
                            <a:schemeClr val="tx1">
                              <a:lumMod val="75000"/>
                              <a:lumOff val="25000"/>
                            </a:schemeClr>
                          </a:solidFill>
                          <a:latin typeface="Arial Narrow" pitchFamily="34" charset="0"/>
                        </a:rPr>
                        <a:t>Régimen de calado bajo y sobrecalentamiento a alta velocidad</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Rueda libre del reactor bloqueada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Sustituir el convertidor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00" b="1" dirty="0">
                          <a:solidFill>
                            <a:schemeClr val="tx1">
                              <a:lumMod val="75000"/>
                              <a:lumOff val="25000"/>
                            </a:schemeClr>
                          </a:solidFill>
                          <a:latin typeface="Arial Narrow" pitchFamily="34" charset="0"/>
                        </a:rPr>
                        <a:t>Arrastre al ralentí (el vehículo empuja con fuerza)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ATF demasiado espeso; nivel excesivo; ralentí alto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Corregir nivel y viscosidad</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00" b="1" dirty="0">
                          <a:solidFill>
                            <a:schemeClr val="tx1">
                              <a:lumMod val="75000"/>
                              <a:lumOff val="25000"/>
                            </a:schemeClr>
                          </a:solidFill>
                          <a:latin typeface="Arial Narrow" pitchFamily="34" charset="0"/>
                        </a:rPr>
                        <a:t>Vibración al solicitar potencia en marchas altas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Embrague anulador que patina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Sustituir el convertidor con su embrague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00" b="1" dirty="0">
                          <a:solidFill>
                            <a:schemeClr val="tx1">
                              <a:lumMod val="75000"/>
                              <a:lumOff val="25000"/>
                            </a:schemeClr>
                          </a:solidFill>
                          <a:latin typeface="Arial Narrow" pitchFamily="34" charset="0"/>
                        </a:rPr>
                        <a:t>Fugas de aceite por la campana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Retén de la bomba o cubo del convertidor dañado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Cambiar retén; revisar el cubo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UNIDAD 3 · PARTE 3: GRUPO MECÁNICO: TRENES EPICICLOIDALES Y ELEMENTOS DE MANDO</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POR QUÉ TRENES EPICICLOIDALES.</a:t>
            </a:r>
          </a:p>
        </p:txBody>
      </p:sp>
      <p:sp>
        <p:nvSpPr>
          <p:cNvPr id="3" name="2 Marcador de contenido"/>
          <p:cNvSpPr>
            <a:spLocks noGrp="1"/>
          </p:cNvSpPr>
          <p:nvPr>
            <p:ph idx="1"/>
          </p:nvPr>
        </p:nvSpPr>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la caja manual la marcha se cambia interrumpiendo el flujo de fuerza: se desengrana una pareja de piñones y se engrana otra. En la caja automática el cambio debe hacerse sin interrumpir la fuerza.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Los trenes epicicloidales (planetarios) lo permiten porque todos sus piñones están siempre engranados: no hay que sincronizar piñones, basta con frenar o unir sus elementos con embragues y frenos accionados por aceite.</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Además son compactos y coaxiales: la entrada y la salida están en el mismo eje y el par se reparte entre varios satélites, por lo que soportan pares elevados con piezas pequeñas.</a:t>
            </a:r>
            <a:endParaRPr lang="es-EC" sz="14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ELEMENTOS DEL TREN EPICICLOIDAL.</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Un tren epicicloidal simple tiene tres elementos que pueden girar sobre el mismo eje: el planetario (piñón solar), los satélites con su portasatélites y la corona de dentado interior.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961872"/>
            <a:ext cx="2743200" cy="1812079"/>
          </a:xfrm>
          <a:prstGeom prst="rect">
            <a:avLst/>
          </a:prstGeom>
        </p:spPr>
      </p:pic>
      <p:sp>
        <p:nvSpPr>
          <p:cNvPr id="5" name="Texto 5"/>
          <p:cNvSpPr txBox="1"/>
          <p:nvPr/>
        </p:nvSpPr>
        <p:spPr>
          <a:xfrm>
            <a:off x="1005840" y="4801383"/>
            <a:ext cx="274320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Corona.</a:t>
            </a:r>
          </a:p>
        </p:txBody>
      </p:sp>
      <p:pic>
        <p:nvPicPr>
          <p:cNvPr id="6" name="Figura" descr="Figura"/>
          <p:cNvPicPr>
            <a:picLocks noChangeAspect="1"/>
          </p:cNvPicPr>
          <p:nvPr/>
        </p:nvPicPr>
        <p:blipFill>
          <a:blip r:embed="rId3"/>
          <a:stretch>
            <a:fillRect/>
          </a:stretch>
        </p:blipFill>
        <p:spPr>
          <a:xfrm>
            <a:off x="3931920" y="2926033"/>
            <a:ext cx="2743200" cy="1883757"/>
          </a:xfrm>
          <a:prstGeom prst="rect">
            <a:avLst/>
          </a:prstGeom>
        </p:spPr>
      </p:pic>
      <p:sp>
        <p:nvSpPr>
          <p:cNvPr id="7" name="Texto 7"/>
          <p:cNvSpPr txBox="1"/>
          <p:nvPr/>
        </p:nvSpPr>
        <p:spPr>
          <a:xfrm>
            <a:off x="3931920" y="4837222"/>
            <a:ext cx="274320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Satélites y portasatélites.</a:t>
            </a:r>
          </a:p>
        </p:txBody>
      </p:sp>
      <p:pic>
        <p:nvPicPr>
          <p:cNvPr id="8" name="Figura" descr="Figura"/>
          <p:cNvPicPr>
            <a:picLocks noChangeAspect="1"/>
          </p:cNvPicPr>
          <p:nvPr/>
        </p:nvPicPr>
        <p:blipFill>
          <a:blip r:embed="rId4"/>
          <a:stretch>
            <a:fillRect/>
          </a:stretch>
        </p:blipFill>
        <p:spPr>
          <a:xfrm>
            <a:off x="6858000" y="2971587"/>
            <a:ext cx="2743200" cy="1792649"/>
          </a:xfrm>
          <a:prstGeom prst="rect">
            <a:avLst/>
          </a:prstGeom>
        </p:spPr>
      </p:pic>
      <p:sp>
        <p:nvSpPr>
          <p:cNvPr id="9" name="Texto 9"/>
          <p:cNvSpPr txBox="1"/>
          <p:nvPr/>
        </p:nvSpPr>
        <p:spPr>
          <a:xfrm>
            <a:off x="6858000" y="4791668"/>
            <a:ext cx="274320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Planetario (solar).</a:t>
            </a: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FUNCIONAMIENTO DEL TREN EPICICLOIDAL.</a:t>
            </a:r>
          </a:p>
        </p:txBody>
      </p:sp>
      <p:sp>
        <p:nvSpPr>
          <p:cNvPr id="3" name="2 Marcador de contenido"/>
          <p:cNvSpPr>
            <a:spLocks noGrp="1"/>
          </p:cNvSpPr>
          <p:nvPr>
            <p:ph idx="1"/>
          </p:nvPr>
        </p:nvSpPr>
        <p:spPr>
          <a:xfrm>
            <a:off x="1005840" y="1645920"/>
            <a:ext cx="420624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Los satélites giran sobre sus ejes (montados en el portasatélites) y a la vez pueden girar alrededor del planetario, engranando con este y con la corona.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Para transmitir movimiento hay que fijar uno de los tres elementos (reacción), mover otro (entrada) y tomar la salida del tercero.</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Ningún elemento retenido: </a:t>
            </a:r>
            <a:r>
              <a:rPr lang="es-EC" sz="1350" dirty="0">
                <a:solidFill>
                  <a:schemeClr val="tx1">
                    <a:lumMod val="75000"/>
                    <a:lumOff val="25000"/>
                  </a:schemeClr>
                </a:solidFill>
                <a:latin typeface="Arial Narrow" pitchFamily="34" charset="0"/>
              </a:rPr>
              <a:t>punto muerto.</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Dos elementos unidos: </a:t>
            </a:r>
            <a:r>
              <a:rPr lang="es-EC" sz="1350" dirty="0">
                <a:solidFill>
                  <a:schemeClr val="tx1">
                    <a:lumMod val="75000"/>
                    <a:lumOff val="25000"/>
                  </a:schemeClr>
                </a:solidFill>
                <a:latin typeface="Arial Narrow" pitchFamily="34" charset="0"/>
              </a:rPr>
              <a:t>el tren gira en bloque, toma directa 1:1.</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Portasatélites frenado: </a:t>
            </a:r>
            <a:r>
              <a:rPr lang="es-EC" sz="1350" dirty="0">
                <a:solidFill>
                  <a:schemeClr val="tx1">
                    <a:lumMod val="75000"/>
                    <a:lumOff val="25000"/>
                  </a:schemeClr>
                </a:solidFill>
                <a:latin typeface="Arial Narrow" pitchFamily="34" charset="0"/>
              </a:rPr>
              <a:t>inversión de giro (marcha atrás).</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440679" y="2491350"/>
            <a:ext cx="4206240" cy="2021603"/>
          </a:xfrm>
          <a:prstGeom prst="rect">
            <a:avLst/>
          </a:prstGeom>
        </p:spPr>
      </p:pic>
      <p:sp>
        <p:nvSpPr>
          <p:cNvPr id="5" name="Texto 5"/>
          <p:cNvSpPr txBox="1"/>
          <p:nvPr/>
        </p:nvSpPr>
        <p:spPr>
          <a:xfrm>
            <a:off x="5440679" y="4540385"/>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Representación y componentes del tren epicicloidal.</a:t>
            </a: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ECUACIÓN DE WILLIS.</a:t>
            </a:r>
          </a:p>
        </p:txBody>
      </p:sp>
      <p:sp>
        <p:nvSpPr>
          <p:cNvPr id="3" name="2 Marcador de contenido"/>
          <p:cNvSpPr>
            <a:spLocks noGrp="1"/>
          </p:cNvSpPr>
          <p:nvPr>
            <p:ph idx="1"/>
          </p:nvPr>
        </p:nvSpPr>
        <p:spPr>
          <a:xfrm>
            <a:off x="1005840" y="1645920"/>
            <a:ext cx="8595360" cy="91440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relación entre las velocidades de los tres elementos depende solo del número de dientes del planetario (Z₁) y de la corona (Z₃); el número de dientes de los satélites no interviene:</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463040" y="2651760"/>
                <a:ext cx="7680960" cy="114300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n</m:t>
                          </m:r>
                        </m:e>
                        <m:sub>
                          <m:r>
                            <a:rPr lang="es-EC" sz="2000" i="1" dirty="0">
                              <a:solidFill>
                                <a:schemeClr val="tx1">
                                  <a:lumMod val="75000"/>
                                  <a:lumOff val="25000"/>
                                </a:schemeClr>
                              </a:solidFill>
                              <a:latin typeface="Cambria Math" panose="02040503050406030204" pitchFamily="18" charset="0"/>
                            </a:rPr>
                            <m:t>2</m:t>
                          </m:r>
                        </m:sub>
                      </m:sSub>
                      <m:r>
                        <a:rPr lang="es-EC" sz="2000" i="1" dirty="0">
                          <a:solidFill>
                            <a:schemeClr val="tx1">
                              <a:lumMod val="75000"/>
                              <a:lumOff val="25000"/>
                            </a:schemeClr>
                          </a:solidFill>
                          <a:latin typeface="Cambria Math" panose="02040503050406030204" pitchFamily="18" charset="0"/>
                        </a:rPr>
                        <m:t xml:space="preserve"> = </m:t>
                      </m:r>
                      <m:f>
                        <m:fPr>
                          <m:ctrlPr>
                            <a:rPr lang="es-EC" sz="2000" i="1" dirty="0">
                              <a:solidFill>
                                <a:schemeClr val="tx1">
                                  <a:lumMod val="75000"/>
                                  <a:lumOff val="25000"/>
                                </a:schemeClr>
                              </a:solidFill>
                              <a:latin typeface="Cambria Math" panose="02040503050406030204" pitchFamily="18" charset="0"/>
                            </a:rPr>
                          </m:ctrlPr>
                        </m:fPr>
                        <m:num>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Z</m:t>
                              </m:r>
                            </m:e>
                            <m:sub>
                              <m:r>
                                <a:rPr lang="es-EC" sz="2000" i="1" dirty="0">
                                  <a:solidFill>
                                    <a:schemeClr val="tx1">
                                      <a:lumMod val="75000"/>
                                      <a:lumOff val="25000"/>
                                    </a:schemeClr>
                                  </a:solidFill>
                                  <a:latin typeface="Cambria Math" panose="02040503050406030204" pitchFamily="18" charset="0"/>
                                </a:rPr>
                                <m:t>3</m:t>
                              </m:r>
                            </m:sub>
                          </m:sSub>
                          <m:r>
                            <a:rPr lang="es-EC" sz="2000" i="1" dirty="0">
                              <a:solidFill>
                                <a:schemeClr val="tx1">
                                  <a:lumMod val="75000"/>
                                  <a:lumOff val="25000"/>
                                </a:schemeClr>
                              </a:solidFill>
                              <a:latin typeface="Cambria Math" panose="02040503050406030204" pitchFamily="18" charset="0"/>
                            </a:rPr>
                            <m:t>·</m:t>
                          </m:r>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n</m:t>
                              </m:r>
                            </m:e>
                            <m:sub>
                              <m:r>
                                <a:rPr lang="es-EC" sz="2000" i="1" dirty="0">
                                  <a:solidFill>
                                    <a:schemeClr val="tx1">
                                      <a:lumMod val="75000"/>
                                      <a:lumOff val="25000"/>
                                    </a:schemeClr>
                                  </a:solidFill>
                                  <a:latin typeface="Cambria Math" panose="02040503050406030204" pitchFamily="18" charset="0"/>
                                </a:rPr>
                                <m:t>3</m:t>
                              </m:r>
                            </m:sub>
                          </m:sSub>
                          <m:r>
                            <a:rPr lang="es-EC" sz="2000" i="1" dirty="0">
                              <a:solidFill>
                                <a:schemeClr val="tx1">
                                  <a:lumMod val="75000"/>
                                  <a:lumOff val="25000"/>
                                </a:schemeClr>
                              </a:solidFill>
                              <a:latin typeface="Cambria Math" panose="02040503050406030204" pitchFamily="18" charset="0"/>
                            </a:rPr>
                            <m:t xml:space="preserve"> + </m:t>
                          </m:r>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Z</m:t>
                              </m:r>
                            </m:e>
                            <m:sub>
                              <m:r>
                                <a:rPr lang="es-EC" sz="2000" i="1" dirty="0">
                                  <a:solidFill>
                                    <a:schemeClr val="tx1">
                                      <a:lumMod val="75000"/>
                                      <a:lumOff val="25000"/>
                                    </a:schemeClr>
                                  </a:solidFill>
                                  <a:latin typeface="Cambria Math" panose="02040503050406030204" pitchFamily="18" charset="0"/>
                                </a:rPr>
                                <m:t>1</m:t>
                              </m:r>
                            </m:sub>
                          </m:sSub>
                          <m:r>
                            <a:rPr lang="es-EC" sz="2000" i="1" dirty="0">
                              <a:solidFill>
                                <a:schemeClr val="tx1">
                                  <a:lumMod val="75000"/>
                                  <a:lumOff val="25000"/>
                                </a:schemeClr>
                              </a:solidFill>
                              <a:latin typeface="Cambria Math" panose="02040503050406030204" pitchFamily="18" charset="0"/>
                            </a:rPr>
                            <m:t>·</m:t>
                          </m:r>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n</m:t>
                              </m:r>
                            </m:e>
                            <m:sub>
                              <m:r>
                                <a:rPr lang="es-EC" sz="2000" i="1" dirty="0">
                                  <a:solidFill>
                                    <a:schemeClr val="tx1">
                                      <a:lumMod val="75000"/>
                                      <a:lumOff val="25000"/>
                                    </a:schemeClr>
                                  </a:solidFill>
                                  <a:latin typeface="Cambria Math" panose="02040503050406030204" pitchFamily="18" charset="0"/>
                                </a:rPr>
                                <m:t>1</m:t>
                              </m:r>
                            </m:sub>
                          </m:sSub>
                        </m:num>
                        <m:den>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Z</m:t>
                              </m:r>
                            </m:e>
                            <m:sub>
                              <m:r>
                                <a:rPr lang="es-EC" sz="2000" i="1" dirty="0">
                                  <a:solidFill>
                                    <a:schemeClr val="tx1">
                                      <a:lumMod val="75000"/>
                                      <a:lumOff val="25000"/>
                                    </a:schemeClr>
                                  </a:solidFill>
                                  <a:latin typeface="Cambria Math" panose="02040503050406030204" pitchFamily="18" charset="0"/>
                                </a:rPr>
                                <m:t>1</m:t>
                              </m:r>
                            </m:sub>
                          </m:sSub>
                          <m:r>
                            <a:rPr lang="es-EC" sz="2000" i="1" dirty="0">
                              <a:solidFill>
                                <a:schemeClr val="tx1">
                                  <a:lumMod val="75000"/>
                                  <a:lumOff val="25000"/>
                                </a:schemeClr>
                              </a:solidFill>
                              <a:latin typeface="Cambria Math" panose="02040503050406030204" pitchFamily="18" charset="0"/>
                            </a:rPr>
                            <m:t xml:space="preserve"> + </m:t>
                          </m:r>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Z</m:t>
                              </m:r>
                            </m:e>
                            <m:sub>
                              <m:r>
                                <a:rPr lang="es-EC" sz="2000" i="1" dirty="0">
                                  <a:solidFill>
                                    <a:schemeClr val="tx1">
                                      <a:lumMod val="75000"/>
                                      <a:lumOff val="25000"/>
                                    </a:schemeClr>
                                  </a:solidFill>
                                  <a:latin typeface="Cambria Math" panose="02040503050406030204" pitchFamily="18" charset="0"/>
                                </a:rPr>
                                <m:t>3</m:t>
                              </m:r>
                            </m:sub>
                          </m:sSub>
                        </m:den>
                      </m:f>
                      <m:r>
                        <a:rPr lang="es-EC" sz="2000" i="1" dirty="0">
                          <a:solidFill>
                            <a:schemeClr val="tx1">
                              <a:lumMod val="75000"/>
                              <a:lumOff val="25000"/>
                            </a:schemeClr>
                          </a:solidFill>
                          <a:latin typeface="Cambria Math" panose="02040503050406030204" pitchFamily="18" charset="0"/>
                        </a:rPr>
                        <m:t xml:space="preserve">          </m:t>
                      </m:r>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R</m:t>
                          </m:r>
                        </m:e>
                        <m:sub>
                          <m:r>
                            <a:rPr lang="es-EC" sz="2000" i="1" dirty="0">
                              <a:solidFill>
                                <a:schemeClr val="tx1">
                                  <a:lumMod val="75000"/>
                                  <a:lumOff val="25000"/>
                                </a:schemeClr>
                              </a:solidFill>
                              <a:latin typeface="Cambria Math" panose="02040503050406030204" pitchFamily="18" charset="0"/>
                            </a:rPr>
                            <m:t>t</m:t>
                          </m:r>
                        </m:sub>
                      </m:sSub>
                      <m:r>
                        <a:rPr lang="es-EC" sz="2000" i="1" dirty="0">
                          <a:solidFill>
                            <a:schemeClr val="tx1">
                              <a:lumMod val="75000"/>
                              <a:lumOff val="25000"/>
                            </a:schemeClr>
                          </a:solidFill>
                          <a:latin typeface="Cambria Math" panose="02040503050406030204" pitchFamily="18" charset="0"/>
                        </a:rPr>
                        <m:t xml:space="preserve"> = </m:t>
                      </m:r>
                      <m:f>
                        <m:fPr>
                          <m:ctrlPr>
                            <a:rPr lang="es-EC" sz="2000" i="1" dirty="0">
                              <a:solidFill>
                                <a:schemeClr val="tx1">
                                  <a:lumMod val="75000"/>
                                  <a:lumOff val="25000"/>
                                </a:schemeClr>
                              </a:solidFill>
                              <a:latin typeface="Cambria Math" panose="02040503050406030204" pitchFamily="18" charset="0"/>
                            </a:rPr>
                          </m:ctrlPr>
                        </m:fPr>
                        <m:num>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n</m:t>
                              </m:r>
                            </m:e>
                            <m:sub>
                              <m:r>
                                <m:rPr>
                                  <m:sty m:val="p"/>
                                </m:rPr>
                                <a:rPr lang="es-EC" sz="2000" i="0" dirty="0">
                                  <a:solidFill>
                                    <a:schemeClr val="tx1">
                                      <a:lumMod val="75000"/>
                                      <a:lumOff val="25000"/>
                                    </a:schemeClr>
                                  </a:solidFill>
                                  <a:latin typeface="Cambria Math" panose="02040503050406030204" pitchFamily="18" charset="0"/>
                                </a:rPr>
                                <m:t>entrada</m:t>
                              </m:r>
                            </m:sub>
                          </m:sSub>
                        </m:num>
                        <m:den>
                          <m:sSub>
                            <m:sSubPr>
                              <m:ctrlPr>
                                <a:rPr lang="es-EC" sz="2000" i="1" dirty="0">
                                  <a:solidFill>
                                    <a:schemeClr val="tx1">
                                      <a:lumMod val="75000"/>
                                      <a:lumOff val="25000"/>
                                    </a:schemeClr>
                                  </a:solidFill>
                                  <a:latin typeface="Cambria Math" panose="02040503050406030204" pitchFamily="18" charset="0"/>
                                </a:rPr>
                              </m:ctrlPr>
                            </m:sSubPr>
                            <m:e>
                              <m:r>
                                <a:rPr lang="es-EC" sz="2000" i="1" dirty="0">
                                  <a:solidFill>
                                    <a:schemeClr val="tx1">
                                      <a:lumMod val="75000"/>
                                      <a:lumOff val="25000"/>
                                    </a:schemeClr>
                                  </a:solidFill>
                                  <a:latin typeface="Cambria Math" panose="02040503050406030204" pitchFamily="18" charset="0"/>
                                </a:rPr>
                                <m:t>n</m:t>
                              </m:r>
                            </m:e>
                            <m:sub>
                              <m:r>
                                <m:rPr>
                                  <m:sty m:val="p"/>
                                </m:rPr>
                                <a:rPr lang="es-EC" sz="2000" i="0" dirty="0">
                                  <a:solidFill>
                                    <a:schemeClr val="tx1">
                                      <a:lumMod val="75000"/>
                                      <a:lumOff val="25000"/>
                                    </a:schemeClr>
                                  </a:solidFill>
                                  <a:latin typeface="Cambria Math" panose="02040503050406030204" pitchFamily="18" charset="0"/>
                                </a:rPr>
                                <m:t>salida</m:t>
                              </m:r>
                            </m:sub>
                          </m:sSub>
                        </m:den>
                      </m:f>
                    </m:oMath>
                  </m:oMathPara>
                </a14:m>
              </a:p>
            </p:txBody>
          </p:sp>
        </mc:Choice>
        <mc:Fallback>
          <p:sp>
            <p:nvSpPr>
              <p:cNvPr id="4" name="Ecuación 4"/>
              <p:cNvSpPr txBox="1"/>
              <p:nvPr/>
            </p:nvSpPr>
            <p:spPr>
              <a:xfrm>
                <a:off x="1463040" y="2651760"/>
                <a:ext cx="7680960" cy="114300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2000" i="1" dirty="0">
                    <a:solidFill>
                      <a:schemeClr val="tx1">
                        <a:lumMod val="75000"/>
                        <a:lumOff val="25000"/>
                      </a:schemeClr>
                    </a:solidFill>
                    <a:latin typeface="Cambria Math" panose="02040503050406030204" pitchFamily="18" charset="0"/>
                  </a:rPr>
                  <a:t>n2 = (Z3·n3 + Z1·n1)/(Z1 + Z3)          Rt = nentrada/nsalida</a:t>
                </a:r>
              </a:p>
            </p:txBody>
          </p:sp>
        </mc:Fallback>
      </mc:AlternateContent>
      <p:sp>
        <p:nvSpPr>
          <p:cNvPr id="5" name="Texto 5"/>
          <p:cNvSpPr txBox="1"/>
          <p:nvPr/>
        </p:nvSpPr>
        <p:spPr>
          <a:xfrm>
            <a:off x="1005840" y="3904488"/>
            <a:ext cx="8595360" cy="1856231"/>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n₁: </a:t>
            </a:r>
            <a:r>
              <a:rPr lang="es-EC" sz="1350" dirty="0">
                <a:solidFill>
                  <a:schemeClr val="tx1">
                    <a:lumMod val="75000"/>
                    <a:lumOff val="25000"/>
                  </a:schemeClr>
                </a:solidFill>
                <a:latin typeface="Arial Narrow" pitchFamily="34" charset="0"/>
              </a:rPr>
              <a:t xml:space="preserve">rpm del planetario;  </a:t>
            </a:r>
            <a:r>
              <a:rPr lang="es-EC" sz="1350" b="1" dirty="0">
                <a:solidFill>
                  <a:schemeClr val="accent1">
                    <a:lumMod val="75000"/>
                  </a:schemeClr>
                </a:solidFill>
                <a:latin typeface="Arial Narrow" pitchFamily="34" charset="0"/>
              </a:rPr>
              <a:t xml:space="preserve">n₂: </a:t>
            </a:r>
            <a:r>
              <a:rPr lang="es-EC" sz="1350" dirty="0">
                <a:solidFill>
                  <a:schemeClr val="tx1">
                    <a:lumMod val="75000"/>
                    <a:lumOff val="25000"/>
                  </a:schemeClr>
                </a:solidFill>
                <a:latin typeface="Arial Narrow" pitchFamily="34" charset="0"/>
              </a:rPr>
              <a:t xml:space="preserve">rpm del portasatélites;  </a:t>
            </a:r>
            <a:r>
              <a:rPr lang="es-EC" sz="1350" b="1" dirty="0">
                <a:solidFill>
                  <a:schemeClr val="accent1">
                    <a:lumMod val="75000"/>
                  </a:schemeClr>
                </a:solidFill>
                <a:latin typeface="Arial Narrow" pitchFamily="34" charset="0"/>
              </a:rPr>
              <a:t xml:space="preserve">n₃: </a:t>
            </a:r>
            <a:r>
              <a:rPr lang="es-EC" sz="1350" dirty="0">
                <a:solidFill>
                  <a:schemeClr val="tx1">
                    <a:lumMod val="75000"/>
                    <a:lumOff val="25000"/>
                  </a:schemeClr>
                </a:solidFill>
                <a:latin typeface="Arial Narrow" pitchFamily="34" charset="0"/>
              </a:rPr>
              <a:t xml:space="preserve">rpm de la corona;  </a:t>
            </a:r>
            <a:r>
              <a:rPr lang="es-EC" sz="1350" b="1" dirty="0">
                <a:solidFill>
                  <a:schemeClr val="accent1">
                    <a:lumMod val="75000"/>
                  </a:schemeClr>
                </a:solidFill>
                <a:latin typeface="Arial Narrow" pitchFamily="34" charset="0"/>
              </a:rPr>
              <a:t xml:space="preserve">Z₁, Z₃: </a:t>
            </a:r>
            <a:r>
              <a:rPr lang="es-EC" sz="1350" dirty="0">
                <a:solidFill>
                  <a:schemeClr val="tx1">
                    <a:lumMod val="75000"/>
                    <a:lumOff val="25000"/>
                  </a:schemeClr>
                </a:solidFill>
                <a:latin typeface="Arial Narrow" pitchFamily="34" charset="0"/>
              </a:rPr>
              <a:t>dientes del planetario y de la corona. El elemento frenado tiene n = 0. Rt &gt; 1 reduce la velocidad y multiplica el par; Rt &lt; 1 la aumenta (sobremarcha); el signo negativo indica inversión de giro.</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LAS SEIS VARIANTES DEL TREN EPICICLOIDAL.</a:t>
            </a:r>
          </a:p>
        </p:txBody>
      </p:sp>
      <p:graphicFrame>
        <p:nvGraphicFramePr>
          <p:cNvPr id="3" name="Tabla 3"/>
          <p:cNvGraphicFramePr>
            <a:graphicFrameLocks noGrp="1"/>
          </p:cNvGraphicFramePr>
          <p:nvPr/>
        </p:nvGraphicFramePr>
        <p:xfrm>
          <a:off x="1005840" y="1691640"/>
          <a:ext cx="8595360" cy="3072384"/>
        </p:xfrm>
        <a:graphic>
          <a:graphicData uri="http://schemas.openxmlformats.org/drawingml/2006/table">
            <a:tbl>
              <a:tblPr firstRow="1" bandRow="1"/>
              <a:tblGrid>
                <a:gridCol w="548640"/>
                <a:gridCol w="1371600"/>
                <a:gridCol w="1371600"/>
                <a:gridCol w="1371600"/>
                <a:gridCol w="2377440"/>
                <a:gridCol w="1554480"/>
              </a:tblGrid>
              <a:tr h="438912">
                <a:tc>
                  <a:txBody>
                    <a:bodyPr/>
                    <a:lstStyle/>
                    <a:p>
                      <a:pPr algn="ctr"/>
                      <a:r>
                        <a:rPr lang="es-EC" sz="1150" b="1" dirty="0">
                          <a:solidFill>
                            <a:schemeClr val="bg1"/>
                          </a:solidFill>
                          <a:latin typeface="Arial Narrow" pitchFamily="34" charset="0"/>
                        </a:rPr>
                        <a:t>Var.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l"/>
                      <a:r>
                        <a:rPr lang="es-EC" sz="1150" b="1" dirty="0">
                          <a:solidFill>
                            <a:schemeClr val="bg1"/>
                          </a:solidFill>
                          <a:latin typeface="Arial Narrow" pitchFamily="34" charset="0"/>
                        </a:rPr>
                        <a:t>Frenado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l"/>
                      <a:r>
                        <a:rPr lang="es-EC" sz="1150" b="1" dirty="0">
                          <a:solidFill>
                            <a:schemeClr val="bg1"/>
                          </a:solidFill>
                          <a:latin typeface="Arial Narrow" pitchFamily="34" charset="0"/>
                        </a:rPr>
                        <a:t>Entrada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l"/>
                      <a:r>
                        <a:rPr lang="es-EC" sz="1150" b="1" dirty="0">
                          <a:solidFill>
                            <a:schemeClr val="bg1"/>
                          </a:solidFill>
                          <a:latin typeface="Arial Narrow" pitchFamily="34" charset="0"/>
                        </a:rPr>
                        <a:t>Salida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Relación Rt = n entrada / n salida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l"/>
                      <a:r>
                        <a:rPr lang="es-EC" sz="1150" b="1" dirty="0">
                          <a:solidFill>
                            <a:schemeClr val="bg1"/>
                          </a:solidFill>
                          <a:latin typeface="Arial Narrow" pitchFamily="34" charset="0"/>
                        </a:rPr>
                        <a:t>Efecto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438912">
                <a:tc>
                  <a:txBody>
                    <a:bodyPr/>
                    <a:lstStyle/>
                    <a:p>
                      <a:pPr algn="ctr"/>
                      <a:r>
                        <a:rPr lang="es-EC" sz="1150" b="1" dirty="0">
                          <a:solidFill>
                            <a:schemeClr val="tx1">
                              <a:lumMod val="75000"/>
                              <a:lumOff val="25000"/>
                            </a:schemeClr>
                          </a:solidFill>
                          <a:latin typeface="Arial Narrow" pitchFamily="34" charset="0"/>
                        </a:rPr>
                        <a:t>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Rt = (Z1 + Z3) / Z3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Reducción pequeña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38912">
                <a:tc>
                  <a:txBody>
                    <a:bodyPr/>
                    <a:lstStyle/>
                    <a:p>
                      <a:pPr algn="ctr"/>
                      <a:r>
                        <a:rPr lang="es-EC" sz="1150" b="1" dirty="0">
                          <a:solidFill>
                            <a:schemeClr val="tx1">
                              <a:lumMod val="75000"/>
                              <a:lumOff val="25000"/>
                            </a:schemeClr>
                          </a:solidFill>
                          <a:latin typeface="Arial Narrow" pitchFamily="34" charset="0"/>
                        </a:rPr>
                        <a:t>2</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Rt = Z3 / (Z1 + Z3)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Sobremarcha pequeña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38912">
                <a:tc>
                  <a:txBody>
                    <a:bodyPr/>
                    <a:lstStyle/>
                    <a:p>
                      <a:pPr algn="ctr"/>
                      <a:r>
                        <a:rPr lang="es-EC" sz="1150" b="1" dirty="0">
                          <a:solidFill>
                            <a:schemeClr val="tx1">
                              <a:lumMod val="75000"/>
                              <a:lumOff val="25000"/>
                            </a:schemeClr>
                          </a:solidFill>
                          <a:latin typeface="Arial Narrow" pitchFamily="34" charset="0"/>
                        </a:rPr>
                        <a:t>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Rt = − Z3 / Z1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Marcha atrás con reducción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38912">
                <a:tc>
                  <a:txBody>
                    <a:bodyPr/>
                    <a:lstStyle/>
                    <a:p>
                      <a:pPr algn="ctr"/>
                      <a:r>
                        <a:rPr lang="es-EC" sz="1150" b="1" dirty="0">
                          <a:solidFill>
                            <a:schemeClr val="tx1">
                              <a:lumMod val="75000"/>
                              <a:lumOff val="25000"/>
                            </a:schemeClr>
                          </a:solidFill>
                          <a:latin typeface="Arial Narrow" pitchFamily="34" charset="0"/>
                        </a:rPr>
                        <a:t>4</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Rt = − Z1 / Z3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Marcha atrás con multiplicación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38912">
                <a:tc>
                  <a:txBody>
                    <a:bodyPr/>
                    <a:lstStyle/>
                    <a:p>
                      <a:pPr algn="ctr"/>
                      <a:r>
                        <a:rPr lang="es-EC" sz="1150" b="1" dirty="0">
                          <a:solidFill>
                            <a:schemeClr val="tx1">
                              <a:lumMod val="75000"/>
                              <a:lumOff val="25000"/>
                            </a:schemeClr>
                          </a:solidFill>
                          <a:latin typeface="Arial Narrow" pitchFamily="34" charset="0"/>
                        </a:rPr>
                        <a:t>5</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Rt = (Z1 + Z3) / Z1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Gran reducción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38912">
                <a:tc>
                  <a:txBody>
                    <a:bodyPr/>
                    <a:lstStyle/>
                    <a:p>
                      <a:pPr algn="ctr"/>
                      <a:r>
                        <a:rPr lang="es-EC" sz="1150" b="1" dirty="0">
                          <a:solidFill>
                            <a:schemeClr val="tx1">
                              <a:lumMod val="75000"/>
                              <a:lumOff val="25000"/>
                            </a:schemeClr>
                          </a:solidFill>
                          <a:latin typeface="Arial Narrow" pitchFamily="34" charset="0"/>
                        </a:rPr>
                        <a:t>6</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Planetario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Rt = Z1 / (Z1 + Z3)</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Gran sobremarcha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Variante 0: dos elementos unidos entre sí → el tren gira en bloque (Rt = 1, directa). Se deducen de la ecuación de Willis haciendo n = 0 en el elemento frenado.</a:t>
            </a: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EJEMPLO RESUELTO: VARIANTES 1 Y 2 (PLANETARIO FRENADO).</a:t>
            </a:r>
          </a:p>
        </p:txBody>
      </p:sp>
      <p:sp>
        <p:nvSpPr>
          <p:cNvPr id="3" name="2 Marcador de contenido"/>
          <p:cNvSpPr>
            <a:spLocks noGrp="1"/>
          </p:cNvSpPr>
          <p:nvPr>
            <p:ph idx="1"/>
          </p:nvPr>
        </p:nvSpPr>
        <p:spPr>
          <a:xfrm>
            <a:off x="1005840" y="1600200"/>
            <a:ext cx="8595360" cy="868680"/>
          </a:xfrm>
        </p:spPr>
        <p:txBody>
          <a:bodyPr anchor="t">
            <a:normAutofit/>
          </a:bodyPr>
          <a:lstStyle/>
          <a:p>
            <a:pPr algn="just">
              <a:lnSpc>
                <a:spcPct val="120000"/>
              </a:lnSpc>
              <a:spcBef>
                <a:spcPts val="0"/>
              </a:spcBef>
              <a:buNone/>
            </a:pPr>
            <a:r>
              <a:rPr lang="es-EC" sz="1400" b="1" dirty="0">
                <a:solidFill>
                  <a:schemeClr val="accent1">
                    <a:lumMod val="75000"/>
                  </a:schemeClr>
                </a:solidFill>
                <a:latin typeface="Arial Narrow" pitchFamily="34" charset="0"/>
              </a:rPr>
              <a:t xml:space="preserve">Datos: </a:t>
            </a:r>
            <a:r>
              <a:rPr lang="es-EC" sz="1400" dirty="0">
                <a:solidFill>
                  <a:schemeClr val="tx1">
                    <a:lumMod val="75000"/>
                    <a:lumOff val="25000"/>
                  </a:schemeClr>
                </a:solidFill>
                <a:latin typeface="Arial Narrow" pitchFamily="34" charset="0"/>
              </a:rPr>
              <a:t>tren con Z1 = 16 (planetario) y Z3 = 32 (corona). El elemento de entrada gira a 5000 rpm.</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1: entra la corona, sale el portasatélites</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16 + 32</m:t>
                          </m:r>
                        </m:num>
                        <m:den>
                          <m:r>
                            <a:rPr lang="es-EC" sz="1550" i="1" dirty="0">
                              <a:solidFill>
                                <a:schemeClr val="tx1">
                                  <a:lumMod val="75000"/>
                                  <a:lumOff val="25000"/>
                                </a:schemeClr>
                              </a:solidFill>
                              <a:latin typeface="Cambria Math" panose="02040503050406030204" pitchFamily="18" charset="0"/>
                            </a:rPr>
                            <m:t>32</m:t>
                          </m:r>
                        </m:den>
                      </m:f>
                      <m:r>
                        <a:rPr lang="es-EC" sz="1550" i="1" dirty="0">
                          <a:solidFill>
                            <a:schemeClr val="tx1">
                              <a:lumMod val="75000"/>
                              <a:lumOff val="25000"/>
                            </a:schemeClr>
                          </a:solidFill>
                          <a:latin typeface="Cambria Math" panose="02040503050406030204" pitchFamily="18" charset="0"/>
                        </a:rPr>
                        <m:t xml:space="preserve"> = </m:t>
                      </m:r>
                      <m:r>
                        <m:rPr>
                          <m:nor/>
                        </m:rPr>
                        <a:rPr lang="es-EC" sz="1550" i="0" dirty="0">
                          <a:solidFill>
                            <a:schemeClr val="tx1">
                              <a:lumMod val="75000"/>
                              <a:lumOff val="25000"/>
                            </a:schemeClr>
                          </a:solidFill>
                          <a:latin typeface="Cambria Math" panose="02040503050406030204" pitchFamily="18" charset="0"/>
                        </a:rPr>
                        <m:t>1,5</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2</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m:rPr>
                              <m:nor/>
                            </m:rPr>
                            <a:rPr lang="es-EC" sz="1550" i="0" dirty="0">
                              <a:solidFill>
                                <a:schemeClr val="tx1">
                                  <a:lumMod val="75000"/>
                                  <a:lumOff val="25000"/>
                                </a:schemeClr>
                              </a:solidFill>
                              <a:latin typeface="Cambria Math" panose="02040503050406030204" pitchFamily="18" charset="0"/>
                            </a:rPr>
                            <m:t>1,5</m:t>
                          </m:r>
                        </m:den>
                      </m:f>
                      <m:r>
                        <a:rPr lang="es-EC" sz="1550" i="1" dirty="0">
                          <a:solidFill>
                            <a:schemeClr val="tx1">
                              <a:lumMod val="75000"/>
                              <a:lumOff val="25000"/>
                            </a:schemeClr>
                          </a:solidFill>
                          <a:latin typeface="Cambria Math" panose="02040503050406030204" pitchFamily="18" charset="0"/>
                        </a:rPr>
                        <m:t xml:space="preserve"> = 3333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1: entra la corona, sale el portasatélites</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(16 + 32)/32 = 1,5</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n2 = 5000/1,5 = 3333 rpm</a:t>
                </a:r>
              </a:p>
            </p:txBody>
          </p:sp>
        </mc:Fallback>
      </mc:AlternateContent>
      <mc:AlternateContent xmlns:mc="http://schemas.openxmlformats.org/markup-compatibility/2006" xmlns:a14="http://schemas.microsoft.com/office/drawing/2010/main">
        <mc:Choice Requires="a14">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2: entra el portasatélites, sale la corona</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32</m:t>
                          </m:r>
                        </m:num>
                        <m:den>
                          <m:r>
                            <a:rPr lang="es-EC" sz="1550" i="1" dirty="0">
                              <a:solidFill>
                                <a:schemeClr val="tx1">
                                  <a:lumMod val="75000"/>
                                  <a:lumOff val="25000"/>
                                </a:schemeClr>
                              </a:solidFill>
                              <a:latin typeface="Cambria Math" panose="02040503050406030204" pitchFamily="18" charset="0"/>
                            </a:rPr>
                            <m:t>16 + 32</m:t>
                          </m:r>
                        </m:den>
                      </m:f>
                      <m:r>
                        <a:rPr lang="es-EC" sz="1550" i="1" dirty="0">
                          <a:solidFill>
                            <a:schemeClr val="tx1">
                              <a:lumMod val="75000"/>
                              <a:lumOff val="25000"/>
                            </a:schemeClr>
                          </a:solidFill>
                          <a:latin typeface="Cambria Math" panose="02040503050406030204" pitchFamily="18" charset="0"/>
                        </a:rPr>
                        <m:t xml:space="preserve"> = </m:t>
                      </m:r>
                      <m:r>
                        <m:rPr>
                          <m:nor/>
                        </m:rPr>
                        <a:rPr lang="es-EC" sz="1550" i="0" dirty="0">
                          <a:solidFill>
                            <a:schemeClr val="tx1">
                              <a:lumMod val="75000"/>
                              <a:lumOff val="25000"/>
                            </a:schemeClr>
                          </a:solidFill>
                          <a:latin typeface="Cambria Math" panose="02040503050406030204" pitchFamily="18" charset="0"/>
                        </a:rPr>
                        <m:t>0,667</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3</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m:rPr>
                              <m:nor/>
                            </m:rPr>
                            <a:rPr lang="es-EC" sz="1550" i="0" dirty="0">
                              <a:solidFill>
                                <a:schemeClr val="tx1">
                                  <a:lumMod val="75000"/>
                                  <a:lumOff val="25000"/>
                                </a:schemeClr>
                              </a:solidFill>
                              <a:latin typeface="Cambria Math" panose="02040503050406030204" pitchFamily="18" charset="0"/>
                            </a:rPr>
                            <m:t>0,667</m:t>
                          </m:r>
                        </m:den>
                      </m:f>
                      <m:r>
                        <a:rPr lang="es-EC" sz="1550" i="1" dirty="0">
                          <a:solidFill>
                            <a:schemeClr val="tx1">
                              <a:lumMod val="75000"/>
                              <a:lumOff val="25000"/>
                            </a:schemeClr>
                          </a:solidFill>
                          <a:latin typeface="Cambria Math" panose="02040503050406030204" pitchFamily="18" charset="0"/>
                        </a:rPr>
                        <m:t xml:space="preserve"> = 7500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2: entra el portasatélites, sale la corona</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32/(16 + 32) = 0,667</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n3 = 5000/0,667 = 7500 rpm</a:t>
                </a:r>
              </a:p>
            </p:txBody>
          </p:sp>
        </mc:Fallback>
      </mc:AlternateContent>
      <p:sp>
        <p:nvSpPr>
          <p:cNvPr id="6" name="Texto 6"/>
          <p:cNvSpPr txBox="1"/>
          <p:nvPr/>
        </p:nvSpPr>
        <p:spPr>
          <a:xfrm>
            <a:off x="1005840" y="4937760"/>
            <a:ext cx="8595360" cy="777240"/>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Conclusión: </a:t>
            </a:r>
            <a:r>
              <a:rPr lang="es-EC" sz="1350" dirty="0">
                <a:solidFill>
                  <a:schemeClr val="tx1">
                    <a:lumMod val="75000"/>
                    <a:lumOff val="25000"/>
                  </a:schemeClr>
                </a:solidFill>
                <a:latin typeface="Arial Narrow" pitchFamily="34" charset="0"/>
              </a:rPr>
              <a:t>con el planetario frenado se obtiene una reducción pequeña (como una 2.ª o 3.ª marcha) o una sobremarcha. Nota: con Rt redondeado a 0,66 se obtendrían 7575 rpm; el valor exacto es 7500 rpm.</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EJEMPLO RESUELTO: VARIANTES 3 Y 4 (PORTASATÉLITES FRENADO).</a:t>
            </a:r>
          </a:p>
        </p:txBody>
      </p:sp>
      <p:sp>
        <p:nvSpPr>
          <p:cNvPr id="3" name="2 Marcador de contenido"/>
          <p:cNvSpPr>
            <a:spLocks noGrp="1"/>
          </p:cNvSpPr>
          <p:nvPr>
            <p:ph idx="1"/>
          </p:nvPr>
        </p:nvSpPr>
        <p:spPr>
          <a:xfrm>
            <a:off x="1005840" y="1600200"/>
            <a:ext cx="8595360" cy="868680"/>
          </a:xfrm>
        </p:spPr>
        <p:txBody>
          <a:bodyPr anchor="t">
            <a:normAutofit/>
          </a:bodyPr>
          <a:lstStyle/>
          <a:p>
            <a:pPr algn="just">
              <a:lnSpc>
                <a:spcPct val="120000"/>
              </a:lnSpc>
              <a:spcBef>
                <a:spcPts val="0"/>
              </a:spcBef>
              <a:buNone/>
            </a:pPr>
            <a:r>
              <a:rPr lang="es-EC" sz="1400" b="1" dirty="0">
                <a:solidFill>
                  <a:schemeClr val="accent1">
                    <a:lumMod val="75000"/>
                  </a:schemeClr>
                </a:solidFill>
                <a:latin typeface="Arial Narrow" pitchFamily="34" charset="0"/>
              </a:rPr>
              <a:t xml:space="preserve">Datos: </a:t>
            </a:r>
            <a:r>
              <a:rPr lang="es-EC" sz="1400" dirty="0">
                <a:solidFill>
                  <a:schemeClr val="tx1">
                    <a:lumMod val="75000"/>
                    <a:lumOff val="25000"/>
                  </a:schemeClr>
                </a:solidFill>
                <a:latin typeface="Arial Narrow" pitchFamily="34" charset="0"/>
              </a:rPr>
              <a:t>mismo tren (Z1 = 16, Z3 = 32); el elemento de entrada gira a 5000 rpm.</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3: entra el planetario, sale la corona</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32</m:t>
                          </m:r>
                        </m:num>
                        <m:den>
                          <m:r>
                            <a:rPr lang="es-EC" sz="1550" i="1" dirty="0">
                              <a:solidFill>
                                <a:schemeClr val="tx1">
                                  <a:lumMod val="75000"/>
                                  <a:lumOff val="25000"/>
                                </a:schemeClr>
                              </a:solidFill>
                              <a:latin typeface="Cambria Math" panose="02040503050406030204" pitchFamily="18" charset="0"/>
                            </a:rPr>
                            <m:t>16</m:t>
                          </m:r>
                        </m:den>
                      </m:f>
                      <m:r>
                        <a:rPr lang="es-EC" sz="1550" i="1" dirty="0">
                          <a:solidFill>
                            <a:schemeClr val="tx1">
                              <a:lumMod val="75000"/>
                              <a:lumOff val="25000"/>
                            </a:schemeClr>
                          </a:solidFill>
                          <a:latin typeface="Cambria Math" panose="02040503050406030204" pitchFamily="18" charset="0"/>
                        </a:rPr>
                        <m:t xml:space="preserve"> = − 2</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3</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a:rPr lang="es-EC" sz="1550" i="1" dirty="0">
                              <a:solidFill>
                                <a:schemeClr val="tx1">
                                  <a:lumMod val="75000"/>
                                  <a:lumOff val="25000"/>
                                </a:schemeClr>
                              </a:solidFill>
                              <a:latin typeface="Cambria Math" panose="02040503050406030204" pitchFamily="18" charset="0"/>
                            </a:rPr>
                            <m:t>− 2</m:t>
                          </m:r>
                        </m:den>
                      </m:f>
                      <m:r>
                        <a:rPr lang="es-EC" sz="1550" i="1" dirty="0">
                          <a:solidFill>
                            <a:schemeClr val="tx1">
                              <a:lumMod val="75000"/>
                              <a:lumOff val="25000"/>
                            </a:schemeClr>
                          </a:solidFill>
                          <a:latin typeface="Cambria Math" panose="02040503050406030204" pitchFamily="18" charset="0"/>
                        </a:rPr>
                        <m:t xml:space="preserve"> = − 2500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3: entra el planetario, sale la corona</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− 32/16 = − 2</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n3 = 5000/(− 2) = − 2500 rpm</a:t>
                </a:r>
              </a:p>
            </p:txBody>
          </p:sp>
        </mc:Fallback>
      </mc:AlternateContent>
      <mc:AlternateContent xmlns:mc="http://schemas.openxmlformats.org/markup-compatibility/2006" xmlns:a14="http://schemas.microsoft.com/office/drawing/2010/main">
        <mc:Choice Requires="a14">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4: entra la corona, sale el planetario</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16</m:t>
                          </m:r>
                        </m:num>
                        <m:den>
                          <m:r>
                            <a:rPr lang="es-EC" sz="1550" i="1" dirty="0">
                              <a:solidFill>
                                <a:schemeClr val="tx1">
                                  <a:lumMod val="75000"/>
                                  <a:lumOff val="25000"/>
                                </a:schemeClr>
                              </a:solidFill>
                              <a:latin typeface="Cambria Math" panose="02040503050406030204" pitchFamily="18" charset="0"/>
                            </a:rPr>
                            <m:t>32</m:t>
                          </m:r>
                        </m:den>
                      </m:f>
                      <m:r>
                        <a:rPr lang="es-EC" sz="1550" i="1" dirty="0">
                          <a:solidFill>
                            <a:schemeClr val="tx1">
                              <a:lumMod val="75000"/>
                              <a:lumOff val="25000"/>
                            </a:schemeClr>
                          </a:solidFill>
                          <a:latin typeface="Cambria Math" panose="02040503050406030204" pitchFamily="18" charset="0"/>
                        </a:rPr>
                        <m:t xml:space="preserve"> = − </m:t>
                      </m:r>
                      <m:r>
                        <m:rPr>
                          <m:nor/>
                        </m:rPr>
                        <a:rPr lang="es-EC" sz="1550" i="0" dirty="0">
                          <a:solidFill>
                            <a:schemeClr val="tx1">
                              <a:lumMod val="75000"/>
                              <a:lumOff val="25000"/>
                            </a:schemeClr>
                          </a:solidFill>
                          <a:latin typeface="Cambria Math" panose="02040503050406030204" pitchFamily="18" charset="0"/>
                        </a:rPr>
                        <m:t>0,5</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1</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a:rPr lang="es-EC" sz="1550" i="1" dirty="0">
                              <a:solidFill>
                                <a:schemeClr val="tx1">
                                  <a:lumMod val="75000"/>
                                  <a:lumOff val="25000"/>
                                </a:schemeClr>
                              </a:solidFill>
                              <a:latin typeface="Cambria Math" panose="02040503050406030204" pitchFamily="18" charset="0"/>
                            </a:rPr>
                            <m:t xml:space="preserve">− </m:t>
                          </m:r>
                          <m:r>
                            <m:rPr>
                              <m:nor/>
                            </m:rPr>
                            <a:rPr lang="es-EC" sz="1550" i="0" dirty="0">
                              <a:solidFill>
                                <a:schemeClr val="tx1">
                                  <a:lumMod val="75000"/>
                                  <a:lumOff val="25000"/>
                                </a:schemeClr>
                              </a:solidFill>
                              <a:latin typeface="Cambria Math" panose="02040503050406030204" pitchFamily="18" charset="0"/>
                            </a:rPr>
                            <m:t>0,5</m:t>
                          </m:r>
                        </m:den>
                      </m:f>
                      <m:r>
                        <a:rPr lang="es-EC" sz="1550" i="1" dirty="0">
                          <a:solidFill>
                            <a:schemeClr val="tx1">
                              <a:lumMod val="75000"/>
                              <a:lumOff val="25000"/>
                            </a:schemeClr>
                          </a:solidFill>
                          <a:latin typeface="Cambria Math" panose="02040503050406030204" pitchFamily="18" charset="0"/>
                        </a:rPr>
                        <m:t xml:space="preserve"> = − 10 000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4: entra la corona, sale el planetario</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− 16/32 = − 0,5</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n1 = 5000/(− 0,5) = − 10 000 rpm</a:t>
                </a:r>
              </a:p>
            </p:txBody>
          </p:sp>
        </mc:Fallback>
      </mc:AlternateContent>
      <p:sp>
        <p:nvSpPr>
          <p:cNvPr id="6" name="Texto 6"/>
          <p:cNvSpPr txBox="1"/>
          <p:nvPr/>
        </p:nvSpPr>
        <p:spPr>
          <a:xfrm>
            <a:off x="1005840" y="4937760"/>
            <a:ext cx="8595360" cy="777240"/>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Conclusión: </a:t>
            </a:r>
            <a:r>
              <a:rPr lang="es-EC" sz="1350" dirty="0">
                <a:solidFill>
                  <a:schemeClr val="tx1">
                    <a:lumMod val="75000"/>
                    <a:lumOff val="25000"/>
                  </a:schemeClr>
                </a:solidFill>
                <a:latin typeface="Arial Narrow" pitchFamily="34" charset="0"/>
              </a:rPr>
              <a:t>con el portasatélites frenado los satélites actúan como piñones locos y el sentido de giro se invierte: la variante 3 es la que se utiliza como marcha atrás, porque además reduce la velocidad y multiplica el par.</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EJEMPLO RESUELTO: VARIANTES 5 Y 6 (CORONA FRENADA).</a:t>
            </a:r>
          </a:p>
        </p:txBody>
      </p:sp>
      <p:sp>
        <p:nvSpPr>
          <p:cNvPr id="3" name="2 Marcador de contenido"/>
          <p:cNvSpPr>
            <a:spLocks noGrp="1"/>
          </p:cNvSpPr>
          <p:nvPr>
            <p:ph idx="1"/>
          </p:nvPr>
        </p:nvSpPr>
        <p:spPr>
          <a:xfrm>
            <a:off x="1005840" y="1600200"/>
            <a:ext cx="8595360" cy="868680"/>
          </a:xfrm>
        </p:spPr>
        <p:txBody>
          <a:bodyPr anchor="t">
            <a:normAutofit/>
          </a:bodyPr>
          <a:lstStyle/>
          <a:p>
            <a:pPr algn="just">
              <a:lnSpc>
                <a:spcPct val="120000"/>
              </a:lnSpc>
              <a:spcBef>
                <a:spcPts val="0"/>
              </a:spcBef>
              <a:buNone/>
            </a:pPr>
            <a:r>
              <a:rPr lang="es-EC" sz="1400" b="1" dirty="0">
                <a:solidFill>
                  <a:schemeClr val="accent1">
                    <a:lumMod val="75000"/>
                  </a:schemeClr>
                </a:solidFill>
                <a:latin typeface="Arial Narrow" pitchFamily="34" charset="0"/>
              </a:rPr>
              <a:t xml:space="preserve">Datos: </a:t>
            </a:r>
            <a:r>
              <a:rPr lang="es-EC" sz="1400" dirty="0">
                <a:solidFill>
                  <a:schemeClr val="tx1">
                    <a:lumMod val="75000"/>
                    <a:lumOff val="25000"/>
                  </a:schemeClr>
                </a:solidFill>
                <a:latin typeface="Arial Narrow" pitchFamily="34" charset="0"/>
              </a:rPr>
              <a:t>mismo tren (Z1 = 16, Z3 = 32); el elemento de entrada gira a 5000 rpm.</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5: entra el planetario, sale el portasatélites</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16 + 32</m:t>
                          </m:r>
                        </m:num>
                        <m:den>
                          <m:r>
                            <a:rPr lang="es-EC" sz="1550" i="1" dirty="0">
                              <a:solidFill>
                                <a:schemeClr val="tx1">
                                  <a:lumMod val="75000"/>
                                  <a:lumOff val="25000"/>
                                </a:schemeClr>
                              </a:solidFill>
                              <a:latin typeface="Cambria Math" panose="02040503050406030204" pitchFamily="18" charset="0"/>
                            </a:rPr>
                            <m:t>16</m:t>
                          </m:r>
                        </m:den>
                      </m:f>
                      <m:r>
                        <a:rPr lang="es-EC" sz="1550" i="1" dirty="0">
                          <a:solidFill>
                            <a:schemeClr val="tx1">
                              <a:lumMod val="75000"/>
                              <a:lumOff val="25000"/>
                            </a:schemeClr>
                          </a:solidFill>
                          <a:latin typeface="Cambria Math" panose="02040503050406030204" pitchFamily="18" charset="0"/>
                        </a:rPr>
                        <m:t xml:space="preserve"> = 3</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2</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a:rPr lang="es-EC" sz="1550" i="1" dirty="0">
                              <a:solidFill>
                                <a:schemeClr val="tx1">
                                  <a:lumMod val="75000"/>
                                  <a:lumOff val="25000"/>
                                </a:schemeClr>
                              </a:solidFill>
                              <a:latin typeface="Cambria Math" panose="02040503050406030204" pitchFamily="18" charset="0"/>
                            </a:rPr>
                            <m:t>3</m:t>
                          </m:r>
                        </m:den>
                      </m:f>
                      <m:r>
                        <a:rPr lang="es-EC" sz="1550" i="1" dirty="0">
                          <a:solidFill>
                            <a:schemeClr val="tx1">
                              <a:lumMod val="75000"/>
                              <a:lumOff val="25000"/>
                            </a:schemeClr>
                          </a:solidFill>
                          <a:latin typeface="Cambria Math" panose="02040503050406030204" pitchFamily="18" charset="0"/>
                        </a:rPr>
                        <m:t xml:space="preserve"> = 1667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5: entra el planetario, sale el portasatélites</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(16 + 32)/16 = 3</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n2 = 5000/3 = 1667 rpm</a:t>
                </a:r>
              </a:p>
            </p:txBody>
          </p:sp>
        </mc:Fallback>
      </mc:AlternateContent>
      <mc:AlternateContent xmlns:mc="http://schemas.openxmlformats.org/markup-compatibility/2006" xmlns:a14="http://schemas.microsoft.com/office/drawing/2010/main">
        <mc:Choice Requires="a14">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Var. 6: entra el portasatélites, sale el planetario</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16</m:t>
                          </m:r>
                        </m:num>
                        <m:den>
                          <m:r>
                            <a:rPr lang="es-EC" sz="1550" i="1" dirty="0">
                              <a:solidFill>
                                <a:schemeClr val="tx1">
                                  <a:lumMod val="75000"/>
                                  <a:lumOff val="25000"/>
                                </a:schemeClr>
                              </a:solidFill>
                              <a:latin typeface="Cambria Math" panose="02040503050406030204" pitchFamily="18" charset="0"/>
                            </a:rPr>
                            <m:t>16 + 32</m:t>
                          </m:r>
                        </m:den>
                      </m:f>
                      <m:r>
                        <a:rPr lang="es-EC" sz="1550" i="1" dirty="0">
                          <a:solidFill>
                            <a:schemeClr val="tx1">
                              <a:lumMod val="75000"/>
                              <a:lumOff val="25000"/>
                            </a:schemeClr>
                          </a:solidFill>
                          <a:latin typeface="Cambria Math" panose="02040503050406030204" pitchFamily="18" charset="0"/>
                        </a:rPr>
                        <m:t xml:space="preserve"> = </m:t>
                      </m:r>
                      <m:r>
                        <m:rPr>
                          <m:nor/>
                        </m:rPr>
                        <a:rPr lang="es-EC" sz="1550" i="0" dirty="0">
                          <a:solidFill>
                            <a:schemeClr val="tx1">
                              <a:lumMod val="75000"/>
                              <a:lumOff val="25000"/>
                            </a:schemeClr>
                          </a:solidFill>
                          <a:latin typeface="Cambria Math" panose="02040503050406030204" pitchFamily="18" charset="0"/>
                        </a:rPr>
                        <m:t>0,333</m:t>
                      </m:r>
                    </m:oMath>
                  </m:oMathPara>
                </a14:m>
              </a:p>
              <a:p>
                <a:pPr algn="ctr">
                  <a:lnSpc>
                    <a:spcPct val="110000"/>
                  </a:lnSpc>
                  <a:spcBef>
                    <a:spcPts val="300"/>
                  </a:spcBef>
                </a:pPr>
                <a14:m>
                  <m:oMathPara xmlns:m="http://schemas.openxmlformats.org/officeDocument/2006/math">
                    <m:oMathParaPr>
                      <m:jc m:val="centerGroup"/>
                    </m:oMathParaPr>
                    <m:oMath>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n</m:t>
                          </m:r>
                        </m:e>
                        <m:sub>
                          <m:r>
                            <a:rPr lang="es-EC" sz="1550" i="1" dirty="0">
                              <a:solidFill>
                                <a:schemeClr val="tx1">
                                  <a:lumMod val="75000"/>
                                  <a:lumOff val="25000"/>
                                </a:schemeClr>
                              </a:solidFill>
                              <a:latin typeface="Cambria Math" panose="02040503050406030204" pitchFamily="18" charset="0"/>
                            </a:rPr>
                            <m:t>1</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5000</m:t>
                          </m:r>
                        </m:num>
                        <m:den>
                          <m:r>
                            <m:rPr>
                              <m:nor/>
                            </m:rPr>
                            <a:rPr lang="es-EC" sz="1550" i="0" dirty="0">
                              <a:solidFill>
                                <a:schemeClr val="tx1">
                                  <a:lumMod val="75000"/>
                                  <a:lumOff val="25000"/>
                                </a:schemeClr>
                              </a:solidFill>
                              <a:latin typeface="Cambria Math" panose="02040503050406030204" pitchFamily="18" charset="0"/>
                            </a:rPr>
                            <m:t>0,333</m:t>
                          </m:r>
                        </m:den>
                      </m:f>
                      <m:r>
                        <a:rPr lang="es-EC" sz="1550" i="1" dirty="0">
                          <a:solidFill>
                            <a:schemeClr val="tx1">
                              <a:lumMod val="75000"/>
                              <a:lumOff val="25000"/>
                            </a:schemeClr>
                          </a:solidFill>
                          <a:latin typeface="Cambria Math" panose="02040503050406030204" pitchFamily="18" charset="0"/>
                        </a:rPr>
                        <m:t xml:space="preserve"> = 15 000 </m:t>
                      </m:r>
                      <m:r>
                        <m:rPr>
                          <m:sty m:val="p"/>
                        </m:rPr>
                        <a:rPr lang="es-EC" sz="1550" i="0" dirty="0">
                          <a:solidFill>
                            <a:schemeClr val="tx1">
                              <a:lumMod val="75000"/>
                              <a:lumOff val="25000"/>
                            </a:schemeClr>
                          </a:solidFill>
                          <a:latin typeface="Cambria Math" panose="02040503050406030204" pitchFamily="18" charset="0"/>
                        </a:rPr>
                        <m:t>rpm</m:t>
                      </m:r>
                    </m:oMath>
                  </m:oMathPara>
                </a14:m>
              </a:p>
            </p:txBody>
          </p:sp>
        </mc:Choice>
        <mc:Fallback>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Var. 6: entra el portasatélites, sale el planetario</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Rt = 16/(16 + 32) = 0,333</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n1 = 5000/0,333 = 15 000 rpm</a:t>
                </a:r>
              </a:p>
            </p:txBody>
          </p:sp>
        </mc:Fallback>
      </mc:AlternateContent>
      <p:sp>
        <p:nvSpPr>
          <p:cNvPr id="6" name="Texto 6"/>
          <p:cNvSpPr txBox="1"/>
          <p:nvPr/>
        </p:nvSpPr>
        <p:spPr>
          <a:xfrm>
            <a:off x="1005840" y="4937760"/>
            <a:ext cx="8595360" cy="777240"/>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Conclusión: </a:t>
            </a:r>
            <a:r>
              <a:rPr lang="es-EC" sz="1350" dirty="0">
                <a:solidFill>
                  <a:schemeClr val="tx1">
                    <a:lumMod val="75000"/>
                    <a:lumOff val="25000"/>
                  </a:schemeClr>
                </a:solidFill>
                <a:latin typeface="Arial Narrow" pitchFamily="34" charset="0"/>
              </a:rPr>
              <a:t>la variante 5 da la mayor reducción del tren y se usa como 1.ª marcha; la variante 6 da una sobremarcha excesiva y casi no se emplea. Con Rt redondeado a 0,33 saldrían 15 151 rpm; el valor exacto es 15 000 rpm.</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ARREGLOS DE TRENES EPICICLOIDALES.</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 solo tren no basta para obtener todas las marchas con una sola entrada y una sola salida. Las cajas combinan dos o más trenes cuyos elementos están unidos entre sí; las configuraciones más conocidas llevan el nombre de su inventor:</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Simpson: </a:t>
            </a:r>
            <a:r>
              <a:rPr lang="es-EC" sz="1350" dirty="0">
                <a:solidFill>
                  <a:schemeClr val="tx1">
                    <a:lumMod val="75000"/>
                    <a:lumOff val="25000"/>
                  </a:schemeClr>
                </a:solidFill>
                <a:latin typeface="Arial Narrow" pitchFamily="34" charset="0"/>
              </a:rPr>
              <a:t>dos trenes con planetario común (3 marchas).</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Ravigneaux: </a:t>
            </a:r>
            <a:r>
              <a:rPr lang="es-EC" sz="1350" dirty="0">
                <a:solidFill>
                  <a:schemeClr val="tx1">
                    <a:lumMod val="75000"/>
                    <a:lumOff val="25000"/>
                  </a:schemeClr>
                </a:solidFill>
                <a:latin typeface="Arial Narrow" pitchFamily="34" charset="0"/>
              </a:rPr>
              <a:t>dos planetarios, satélites cortos y largos y una sola corona (compacto).</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Wilson: </a:t>
            </a:r>
            <a:r>
              <a:rPr lang="es-EC" sz="1350" dirty="0">
                <a:solidFill>
                  <a:schemeClr val="tx1">
                    <a:lumMod val="75000"/>
                    <a:lumOff val="25000"/>
                  </a:schemeClr>
                </a:solidFill>
                <a:latin typeface="Arial Narrow" pitchFamily="34" charset="0"/>
              </a:rPr>
              <a:t>varios trenes en serie, cada uno con su freno de banda.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Lepelletier: </a:t>
            </a:r>
            <a:r>
              <a:rPr lang="es-EC" sz="1350" dirty="0">
                <a:solidFill>
                  <a:schemeClr val="tx1">
                    <a:lumMod val="75000"/>
                    <a:lumOff val="25000"/>
                  </a:schemeClr>
                </a:solidFill>
                <a:latin typeface="Arial Narrow" pitchFamily="34" charset="0"/>
              </a:rPr>
              <a:t>un tren simple delante de un Ravigneaux (6 a 8 marchas).</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2207792"/>
            <a:ext cx="3840480" cy="2588719"/>
          </a:xfrm>
          <a:prstGeom prst="rect">
            <a:avLst/>
          </a:prstGeom>
        </p:spPr>
      </p:pic>
      <p:sp>
        <p:nvSpPr>
          <p:cNvPr id="5" name="Texto 5"/>
          <p:cNvSpPr txBox="1"/>
          <p:nvPr/>
        </p:nvSpPr>
        <p:spPr>
          <a:xfrm>
            <a:off x="5806440" y="4823943"/>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Tren Ravigneaux: corona, satélites cortos y largos, planetarios grande y pequeño.</a:t>
            </a: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SIMPSON: CONSTITUCIÓN.</a:t>
            </a:r>
          </a:p>
        </p:txBody>
      </p:sp>
      <p:sp>
        <p:nvSpPr>
          <p:cNvPr id="3" name="2 Marcador de contenido"/>
          <p:cNvSpPr>
            <a:spLocks noGrp="1"/>
          </p:cNvSpPr>
          <p:nvPr>
            <p:ph idx="1"/>
          </p:nvPr>
        </p:nvSpPr>
        <p:spPr>
          <a:xfrm>
            <a:off x="1005840" y="1645920"/>
            <a:ext cx="438912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Dos trenes epicicloidales con un planetario común (P1–P2). El portasatélites del tren delantero (PS1), la corona del trasero (C2) y el árbol de salida están unidos entre sí.</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entrada en marchas adelante se hace por la corona delantera (C1), a través del embrague E1.</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00" b="1" dirty="0">
                <a:solidFill>
                  <a:schemeClr val="accent1">
                    <a:lumMod val="75000"/>
                  </a:schemeClr>
                </a:solidFill>
                <a:latin typeface="Arial Narrow" pitchFamily="34" charset="0"/>
              </a:rPr>
              <a:t xml:space="preserve">Elementos de mando: </a:t>
            </a:r>
            <a:r>
              <a:rPr lang="es-EC" sz="1300" dirty="0">
                <a:solidFill>
                  <a:schemeClr val="tx1">
                    <a:lumMod val="75000"/>
                    <a:lumOff val="25000"/>
                  </a:schemeClr>
                </a:solidFill>
                <a:latin typeface="Arial Narrow" pitchFamily="34" charset="0"/>
              </a:rPr>
              <a:t>E1 (embrague de marcha adelante), E2 (embrague de directa y marcha atrás), F1 (freno del portasatélites trasero PS2, con rueda libre RL) y F2 (freno del planetario).</a:t>
            </a:r>
            <a:endParaRPr lang="es-EC" sz="1300" dirty="0">
              <a:solidFill>
                <a:schemeClr val="tx1">
                  <a:lumMod val="75000"/>
                  <a:lumOff val="25000"/>
                </a:schemeClr>
              </a:solidFill>
              <a:latin typeface="Arial Narrow" pitchFamily="34" charset="0"/>
            </a:endParaRPr>
          </a:p>
          <a:p>
            <a:pPr algn="just">
              <a:lnSpc>
                <a:spcPct val="130000"/>
              </a:lnSpc>
              <a:spcBef>
                <a:spcPts val="500"/>
              </a:spcBef>
              <a:buNone/>
            </a:pPr>
            <a:r>
              <a:rPr lang="es-EC" sz="1300" dirty="0">
                <a:solidFill>
                  <a:schemeClr val="tx1">
                    <a:lumMod val="75000"/>
                    <a:lumOff val="25000"/>
                  </a:schemeClr>
                </a:solidFill>
                <a:latin typeface="Arial Narrow" pitchFamily="34" charset="0"/>
              </a:rPr>
              <a:t xml:space="preserve">	</a:t>
            </a:r>
            <a:r>
              <a:rPr lang="es-EC" sz="1300" dirty="0">
                <a:solidFill>
                  <a:schemeClr val="tx1">
                    <a:lumMod val="75000"/>
                    <a:lumOff val="25000"/>
                  </a:schemeClr>
                </a:solidFill>
                <a:latin typeface="Arial Narrow" pitchFamily="34" charset="0"/>
              </a:rPr>
              <a:t>Fue la configuración de las cajas de tres marchas (TorqueFlite, C4, TH400).</a:t>
            </a:r>
            <a:endParaRPr lang="es-EC" sz="13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623560" y="2458867"/>
            <a:ext cx="4023360" cy="2086569"/>
          </a:xfrm>
          <a:prstGeom prst="rect">
            <a:avLst/>
          </a:prstGeom>
        </p:spPr>
      </p:pic>
      <p:sp>
        <p:nvSpPr>
          <p:cNvPr id="5" name="Texto 5"/>
          <p:cNvSpPr txBox="1"/>
          <p:nvPr/>
        </p:nvSpPr>
        <p:spPr>
          <a:xfrm>
            <a:off x="5623560" y="4572868"/>
            <a:ext cx="40233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Acoplamiento de trenes tipo Simpson.</a:t>
            </a:r>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SIMPSON: CUADRO DE APLICACIÓN DE ELEMENTOS.</a:t>
            </a:r>
          </a:p>
        </p:txBody>
      </p:sp>
      <p:graphicFrame>
        <p:nvGraphicFramePr>
          <p:cNvPr id="3" name="Tabla 3"/>
          <p:cNvGraphicFramePr>
            <a:graphicFrameLocks noGrp="1"/>
          </p:cNvGraphicFramePr>
          <p:nvPr/>
        </p:nvGraphicFramePr>
        <p:xfrm>
          <a:off x="1005840" y="1691640"/>
          <a:ext cx="8595360" cy="2834640"/>
        </p:xfrm>
        <a:graphic>
          <a:graphicData uri="http://schemas.openxmlformats.org/drawingml/2006/table">
            <a:tbl>
              <a:tblPr firstRow="1" bandRow="1"/>
              <a:tblGrid>
                <a:gridCol w="1371600"/>
                <a:gridCol w="548640"/>
                <a:gridCol w="548640"/>
                <a:gridCol w="1005840"/>
                <a:gridCol w="548640"/>
                <a:gridCol w="4572000"/>
              </a:tblGrid>
              <a:tr h="566928">
                <a:tc>
                  <a:txBody>
                    <a:bodyPr/>
                    <a:lstStyle/>
                    <a:p>
                      <a:pPr algn="l"/>
                      <a:r>
                        <a:rPr lang="es-EC" sz="1150" b="1" dirty="0">
                          <a:solidFill>
                            <a:schemeClr val="bg1"/>
                          </a:solidFill>
                          <a:latin typeface="Arial Narrow" pitchFamily="34" charset="0"/>
                        </a:rPr>
                        <a:t>Marcha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E1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E2</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F1 (o RL)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F2</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l"/>
                      <a:r>
                        <a:rPr lang="es-EC" sz="1150" b="1" dirty="0">
                          <a:solidFill>
                            <a:schemeClr val="bg1"/>
                          </a:solidFill>
                          <a:latin typeface="Arial Narrow" pitchFamily="34" charset="0"/>
                        </a:rPr>
                        <a:t>Flujo de fuerza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66928">
                <a:tc>
                  <a:txBody>
                    <a:bodyPr/>
                    <a:lstStyle/>
                    <a:p>
                      <a:pPr algn="l"/>
                      <a:r>
                        <a:rPr lang="es-EC" sz="1150" b="1" dirty="0">
                          <a:solidFill>
                            <a:schemeClr val="tx1">
                              <a:lumMod val="75000"/>
                              <a:lumOff val="25000"/>
                            </a:schemeClr>
                          </a:solidFill>
                          <a:latin typeface="Arial Narrow" pitchFamily="34" charset="0"/>
                        </a:rPr>
                        <a:t>1.ª</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C1 → satélites → PS1 + PS2 frenado: reducción en los dos trenes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66928">
                <a:tc>
                  <a:txBody>
                    <a:bodyPr/>
                    <a:lstStyle/>
                    <a:p>
                      <a:pPr algn="l"/>
                      <a:r>
                        <a:rPr lang="es-EC" sz="1150" b="1" dirty="0">
                          <a:solidFill>
                            <a:schemeClr val="tx1">
                              <a:lumMod val="75000"/>
                              <a:lumOff val="25000"/>
                            </a:schemeClr>
                          </a:solidFill>
                          <a:latin typeface="Arial Narrow" pitchFamily="34" charset="0"/>
                        </a:rPr>
                        <a:t>2.ª</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C1 → satélites ruedan sobre P1 frenado → PS1: reducción en el tren delantero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66928">
                <a:tc>
                  <a:txBody>
                    <a:bodyPr/>
                    <a:lstStyle/>
                    <a:p>
                      <a:pPr algn="l"/>
                      <a:r>
                        <a:rPr lang="es-EC" sz="1150" b="1" dirty="0">
                          <a:solidFill>
                            <a:schemeClr val="tx1">
                              <a:lumMod val="75000"/>
                              <a:lumOff val="25000"/>
                            </a:schemeClr>
                          </a:solidFill>
                          <a:latin typeface="Arial Narrow" pitchFamily="34" charset="0"/>
                        </a:rPr>
                        <a:t>3.ª (directa)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 y corona unidos: el tren delantero gira en bloque, Rt = 1</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66928">
                <a:tc>
                  <a:txBody>
                    <a:bodyPr/>
                    <a:lstStyle/>
                    <a:p>
                      <a:pPr algn="l"/>
                      <a:r>
                        <a:rPr lang="es-EC" sz="1150" b="1" dirty="0">
                          <a:solidFill>
                            <a:schemeClr val="tx1">
                              <a:lumMod val="75000"/>
                              <a:lumOff val="25000"/>
                            </a:schemeClr>
                          </a:solidFill>
                          <a:latin typeface="Arial Narrow" pitchFamily="34" charset="0"/>
                        </a:rPr>
                        <a:t>Marcha atrás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ctr"/>
                      <a:r>
                        <a:rPr lang="es-EC" sz="1150" dirty="0">
                          <a:solidFill>
                            <a:schemeClr val="tx1">
                              <a:lumMod val="75000"/>
                              <a:lumOff val="25000"/>
                            </a:schemeClr>
                          </a:solidFill>
                          <a:latin typeface="Arial Narrow" pitchFamily="34" charset="0"/>
                        </a:rPr>
                        <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Entra por P2 con PS2 frenado: C2 gira en sentido contrario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 = elemento aplicado. En 1.ª la rueda libre RL sustituye a F1 en tracción; F1 se aplica en la posición L para tener freno motor.</a:t>
            </a:r>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SIMPSON: FLUJO DE FUERZA EN CADA MARCHA.</a:t>
            </a:r>
          </a:p>
        </p:txBody>
      </p:sp>
      <p:pic>
        <p:nvPicPr>
          <p:cNvPr id="3" name="Figura" descr="Figura"/>
          <p:cNvPicPr>
            <a:picLocks noChangeAspect="1"/>
          </p:cNvPicPr>
          <p:nvPr/>
        </p:nvPicPr>
        <p:blipFill>
          <a:blip r:embed="rId2"/>
          <a:stretch>
            <a:fillRect/>
          </a:stretch>
        </p:blipFill>
        <p:spPr>
          <a:xfrm>
            <a:off x="1005840" y="2915075"/>
            <a:ext cx="2011680" cy="1219872"/>
          </a:xfrm>
          <a:prstGeom prst="rect">
            <a:avLst/>
          </a:prstGeom>
        </p:spPr>
      </p:pic>
      <p:sp>
        <p:nvSpPr>
          <p:cNvPr id="4" name="Texto 4"/>
          <p:cNvSpPr txBox="1"/>
          <p:nvPr/>
        </p:nvSpPr>
        <p:spPr>
          <a:xfrm>
            <a:off x="1005840" y="4162380"/>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1.ª: E1 y F1.</a:t>
            </a:r>
          </a:p>
        </p:txBody>
      </p:sp>
      <p:pic>
        <p:nvPicPr>
          <p:cNvPr id="5" name="Figura" descr="Figura"/>
          <p:cNvPicPr>
            <a:picLocks noChangeAspect="1"/>
          </p:cNvPicPr>
          <p:nvPr/>
        </p:nvPicPr>
        <p:blipFill>
          <a:blip r:embed="rId3"/>
          <a:stretch>
            <a:fillRect/>
          </a:stretch>
        </p:blipFill>
        <p:spPr>
          <a:xfrm>
            <a:off x="3200400" y="2829814"/>
            <a:ext cx="2011680" cy="1390394"/>
          </a:xfrm>
          <a:prstGeom prst="rect">
            <a:avLst/>
          </a:prstGeom>
        </p:spPr>
      </p:pic>
      <p:sp>
        <p:nvSpPr>
          <p:cNvPr id="6" name="Texto 6"/>
          <p:cNvSpPr txBox="1"/>
          <p:nvPr/>
        </p:nvSpPr>
        <p:spPr>
          <a:xfrm>
            <a:off x="3200400" y="4247641"/>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2.ª: E1 y F2.</a:t>
            </a:r>
          </a:p>
        </p:txBody>
      </p:sp>
      <p:pic>
        <p:nvPicPr>
          <p:cNvPr id="7" name="Figura" descr="Figura"/>
          <p:cNvPicPr>
            <a:picLocks noChangeAspect="1"/>
          </p:cNvPicPr>
          <p:nvPr/>
        </p:nvPicPr>
        <p:blipFill>
          <a:blip r:embed="rId4"/>
          <a:stretch>
            <a:fillRect/>
          </a:stretch>
        </p:blipFill>
        <p:spPr>
          <a:xfrm>
            <a:off x="5394960" y="2907323"/>
            <a:ext cx="2011680" cy="1235377"/>
          </a:xfrm>
          <a:prstGeom prst="rect">
            <a:avLst/>
          </a:prstGeom>
        </p:spPr>
      </p:pic>
      <p:sp>
        <p:nvSpPr>
          <p:cNvPr id="8" name="Texto 8"/>
          <p:cNvSpPr txBox="1"/>
          <p:nvPr/>
        </p:nvSpPr>
        <p:spPr>
          <a:xfrm>
            <a:off x="5394960" y="4170132"/>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3.ª: E1 y E2.</a:t>
            </a:r>
          </a:p>
        </p:txBody>
      </p:sp>
      <p:pic>
        <p:nvPicPr>
          <p:cNvPr id="9" name="Figura" descr="Figura"/>
          <p:cNvPicPr>
            <a:picLocks noChangeAspect="1"/>
          </p:cNvPicPr>
          <p:nvPr/>
        </p:nvPicPr>
        <p:blipFill>
          <a:blip r:embed="rId5"/>
          <a:stretch>
            <a:fillRect/>
          </a:stretch>
        </p:blipFill>
        <p:spPr>
          <a:xfrm>
            <a:off x="7589520" y="2882392"/>
            <a:ext cx="2011680" cy="1285240"/>
          </a:xfrm>
          <a:prstGeom prst="rect">
            <a:avLst/>
          </a:prstGeom>
        </p:spPr>
      </p:pic>
      <p:sp>
        <p:nvSpPr>
          <p:cNvPr id="10" name="Texto 10"/>
          <p:cNvSpPr txBox="1"/>
          <p:nvPr/>
        </p:nvSpPr>
        <p:spPr>
          <a:xfrm>
            <a:off x="7589520" y="4195064"/>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Marcha atrás: E2 y F1.</a:t>
            </a:r>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EJEMPLO RESUELTO: RELACIONES DE UNA CAJA SIMPSON.</a:t>
            </a:r>
          </a:p>
        </p:txBody>
      </p:sp>
      <p:sp>
        <p:nvSpPr>
          <p:cNvPr id="3" name="2 Marcador de contenido"/>
          <p:cNvSpPr>
            <a:spLocks noGrp="1"/>
          </p:cNvSpPr>
          <p:nvPr>
            <p:ph idx="1"/>
          </p:nvPr>
        </p:nvSpPr>
        <p:spPr>
          <a:xfrm>
            <a:off x="1005840" y="1600200"/>
            <a:ext cx="8595360" cy="868680"/>
          </a:xfrm>
        </p:spPr>
        <p:txBody>
          <a:bodyPr anchor="t">
            <a:normAutofit/>
          </a:bodyPr>
          <a:lstStyle/>
          <a:p>
            <a:pPr algn="just">
              <a:lnSpc>
                <a:spcPct val="120000"/>
              </a:lnSpc>
              <a:spcBef>
                <a:spcPts val="0"/>
              </a:spcBef>
              <a:buNone/>
            </a:pPr>
            <a:r>
              <a:rPr lang="es-EC" sz="1400" b="1" dirty="0">
                <a:solidFill>
                  <a:schemeClr val="accent1">
                    <a:lumMod val="75000"/>
                  </a:schemeClr>
                </a:solidFill>
                <a:latin typeface="Arial Narrow" pitchFamily="34" charset="0"/>
              </a:rPr>
              <a:t xml:space="preserve">Datos: </a:t>
            </a:r>
            <a:r>
              <a:rPr lang="es-EC" sz="1400" dirty="0">
                <a:solidFill>
                  <a:schemeClr val="tx1">
                    <a:lumMod val="75000"/>
                    <a:lumOff val="25000"/>
                  </a:schemeClr>
                </a:solidFill>
                <a:latin typeface="Arial Narrow" pitchFamily="34" charset="0"/>
              </a:rPr>
              <a:t>ambos trenes con planetario Zs = 30 y corona Zr = 72. Aplicando Willis a los dos trenes unidos se obtienen las relaciones de cada marcha.</a:t>
            </a:r>
            <a:endParaRPr lang="es-EC" sz="1400" dirty="0">
              <a:solidFill>
                <a:schemeClr val="tx1">
                  <a:lumMod val="75000"/>
                  <a:lumOff val="25000"/>
                </a:schemeClr>
              </a:solidFill>
              <a:latin typeface="Arial Narrow" pitchFamily="34" charset="0"/>
            </a:endParaRPr>
          </a:p>
        </p:txBody>
      </p:sp>
      <mc:AlternateContent xmlns:mc="http://schemas.openxmlformats.org/markup-compatibility/2006" xmlns:a14="http://schemas.microsoft.com/office/drawing/2010/main">
        <mc:Choice Requires="a14">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 xml:space="preserve">1.ª: </m:t>
                      </m:r>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2 + </m:t>
                      </m:r>
                      <m:f>
                        <m:fPr>
                          <m:ctrlPr>
                            <a:rPr lang="es-EC" sz="1550" i="1" dirty="0">
                              <a:solidFill>
                                <a:schemeClr val="tx1">
                                  <a:lumMod val="75000"/>
                                  <a:lumOff val="25000"/>
                                </a:schemeClr>
                              </a:solidFill>
                              <a:latin typeface="Cambria Math" panose="02040503050406030204" pitchFamily="18" charset="0"/>
                            </a:rPr>
                          </m:ctrlPr>
                        </m:fPr>
                        <m:num>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s</m:t>
                              </m:r>
                            </m:sub>
                          </m:sSub>
                        </m:num>
                        <m:den>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r</m:t>
                              </m:r>
                            </m:sub>
                          </m:sSub>
                        </m:den>
                      </m:f>
                      <m:r>
                        <a:rPr lang="es-EC" sz="1550" i="1" dirty="0">
                          <a:solidFill>
                            <a:schemeClr val="tx1">
                              <a:lumMod val="75000"/>
                              <a:lumOff val="25000"/>
                            </a:schemeClr>
                          </a:solidFill>
                          <a:latin typeface="Cambria Math" panose="02040503050406030204" pitchFamily="18" charset="0"/>
                        </a:rPr>
                        <m:t xml:space="preserve"> = 2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30</m:t>
                          </m:r>
                        </m:num>
                        <m:den>
                          <m:r>
                            <a:rPr lang="es-EC" sz="1550" i="1" dirty="0">
                              <a:solidFill>
                                <a:schemeClr val="tx1">
                                  <a:lumMod val="75000"/>
                                  <a:lumOff val="25000"/>
                                </a:schemeClr>
                              </a:solidFill>
                              <a:latin typeface="Cambria Math" panose="02040503050406030204" pitchFamily="18" charset="0"/>
                            </a:rPr>
                            <m:t>72</m:t>
                          </m:r>
                        </m:den>
                      </m:f>
                      <m:r>
                        <a:rPr lang="es-EC" sz="1550" i="1" dirty="0">
                          <a:solidFill>
                            <a:schemeClr val="tx1">
                              <a:lumMod val="75000"/>
                              <a:lumOff val="25000"/>
                            </a:schemeClr>
                          </a:solidFill>
                          <a:latin typeface="Cambria Math" panose="02040503050406030204" pitchFamily="18" charset="0"/>
                        </a:rPr>
                        <m:t xml:space="preserve"> = </m:t>
                      </m:r>
                      <m:r>
                        <m:rPr>
                          <m:nor/>
                        </m:rPr>
                        <a:rPr lang="es-EC" sz="1550" i="0" dirty="0">
                          <a:solidFill>
                            <a:schemeClr val="tx1">
                              <a:lumMod val="75000"/>
                              <a:lumOff val="25000"/>
                            </a:schemeClr>
                          </a:solidFill>
                          <a:latin typeface="Cambria Math" panose="02040503050406030204" pitchFamily="18" charset="0"/>
                        </a:rPr>
                        <m:t>2,42</m:t>
                      </m:r>
                    </m:oMath>
                  </m:oMathPara>
                </a14:m>
              </a:p>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 xml:space="preserve">2.ª: </m:t>
                      </m:r>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s</m:t>
                              </m:r>
                            </m:sub>
                          </m:sSub>
                          <m:r>
                            <a:rPr lang="es-EC" sz="1550" i="1" dirty="0">
                              <a:solidFill>
                                <a:schemeClr val="tx1">
                                  <a:lumMod val="75000"/>
                                  <a:lumOff val="25000"/>
                                </a:schemeClr>
                              </a:solidFill>
                              <a:latin typeface="Cambria Math" panose="02040503050406030204" pitchFamily="18" charset="0"/>
                            </a:rPr>
                            <m:t xml:space="preserve"> + </m:t>
                          </m:r>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r</m:t>
                              </m:r>
                            </m:sub>
                          </m:sSub>
                        </m:num>
                        <m:den>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r</m:t>
                              </m:r>
                            </m:sub>
                          </m:sSub>
                        </m:den>
                      </m:f>
                      <m:r>
                        <a:rPr lang="es-EC" sz="1550" i="1" dirty="0">
                          <a:solidFill>
                            <a:schemeClr val="tx1">
                              <a:lumMod val="75000"/>
                              <a:lumOff val="25000"/>
                            </a:schemeClr>
                          </a:solidFill>
                          <a:latin typeface="Cambria Math" panose="02040503050406030204" pitchFamily="18" charset="0"/>
                        </a:rPr>
                        <m:t xml:space="preserve">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102</m:t>
                          </m:r>
                        </m:num>
                        <m:den>
                          <m:r>
                            <a:rPr lang="es-EC" sz="1550" i="1" dirty="0">
                              <a:solidFill>
                                <a:schemeClr val="tx1">
                                  <a:lumMod val="75000"/>
                                  <a:lumOff val="25000"/>
                                </a:schemeClr>
                              </a:solidFill>
                              <a:latin typeface="Cambria Math" panose="02040503050406030204" pitchFamily="18" charset="0"/>
                            </a:rPr>
                            <m:t>72</m:t>
                          </m:r>
                        </m:den>
                      </m:f>
                      <m:r>
                        <a:rPr lang="es-EC" sz="1550" i="1" dirty="0">
                          <a:solidFill>
                            <a:schemeClr val="tx1">
                              <a:lumMod val="75000"/>
                              <a:lumOff val="25000"/>
                            </a:schemeClr>
                          </a:solidFill>
                          <a:latin typeface="Cambria Math" panose="02040503050406030204" pitchFamily="18" charset="0"/>
                        </a:rPr>
                        <m:t xml:space="preserve"> = </m:t>
                      </m:r>
                      <m:r>
                        <m:rPr>
                          <m:nor/>
                        </m:rPr>
                        <a:rPr lang="es-EC" sz="1550" i="0" dirty="0">
                          <a:solidFill>
                            <a:schemeClr val="tx1">
                              <a:lumMod val="75000"/>
                              <a:lumOff val="25000"/>
                            </a:schemeClr>
                          </a:solidFill>
                          <a:latin typeface="Cambria Math" panose="02040503050406030204" pitchFamily="18" charset="0"/>
                        </a:rPr>
                        <m:t>1,42</m:t>
                      </m:r>
                    </m:oMath>
                  </m:oMathPara>
                </a14:m>
              </a:p>
            </p:txBody>
          </p:sp>
        </mc:Choice>
        <mc:Fallback>
          <p:sp>
            <p:nvSpPr>
              <p:cNvPr id="4" name="Ecuación 4"/>
              <p:cNvSpPr txBox="1"/>
              <p:nvPr/>
            </p:nvSpPr>
            <p:spPr>
              <a:xfrm>
                <a:off x="1005840" y="2514600"/>
                <a:ext cx="429768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1.ª: Rt = 2 + Zs/Zr = 2 + 30/72 = 2,42</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2.ª: Rt = (Zs + Zr)/Zr = 102/72 = 1,42</a:t>
                </a:r>
              </a:p>
            </p:txBody>
          </p:sp>
        </mc:Fallback>
      </mc:AlternateContent>
      <mc:AlternateContent xmlns:mc="http://schemas.openxmlformats.org/markup-compatibility/2006" xmlns:a14="http://schemas.microsoft.com/office/drawing/2010/main">
        <mc:Choice Requires="a14">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 xml:space="preserve">3.ª: </m:t>
                      </m:r>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1 (directa)</m:t>
                      </m:r>
                    </m:oMath>
                  </m:oMathPara>
                </a14:m>
              </a:p>
              <a:p>
                <a:pPr algn="ctr">
                  <a:lnSpc>
                    <a:spcPct val="110000"/>
                  </a:lnSpc>
                  <a:spcBef>
                    <a:spcPts val="300"/>
                  </a:spcBef>
                </a:pPr>
                <a14:m>
                  <m:oMathPara xmlns:m="http://schemas.openxmlformats.org/officeDocument/2006/math">
                    <m:oMathParaPr>
                      <m:jc m:val="centerGroup"/>
                    </m:oMathParaPr>
                    <m:oMath>
                      <m:r>
                        <a:rPr lang="es-EC" sz="1550" i="1" dirty="0">
                          <a:solidFill>
                            <a:schemeClr val="tx1">
                              <a:lumMod val="75000"/>
                              <a:lumOff val="25000"/>
                            </a:schemeClr>
                          </a:solidFill>
                          <a:latin typeface="Cambria Math" panose="02040503050406030204" pitchFamily="18" charset="0"/>
                        </a:rPr>
                        <m:t xml:space="preserve">MA: </m:t>
                      </m:r>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R</m:t>
                          </m:r>
                        </m:e>
                        <m:sub>
                          <m:r>
                            <a:rPr lang="es-EC" sz="1550" i="1" dirty="0">
                              <a:solidFill>
                                <a:schemeClr val="tx1">
                                  <a:lumMod val="75000"/>
                                  <a:lumOff val="25000"/>
                                </a:schemeClr>
                              </a:solidFill>
                              <a:latin typeface="Cambria Math" panose="02040503050406030204" pitchFamily="18" charset="0"/>
                            </a:rPr>
                            <m:t>t</m:t>
                          </m:r>
                        </m:sub>
                      </m:sSub>
                      <m:r>
                        <a:rPr lang="es-EC" sz="1550" i="1" dirty="0">
                          <a:solidFill>
                            <a:schemeClr val="tx1">
                              <a:lumMod val="75000"/>
                              <a:lumOff val="25000"/>
                            </a:schemeClr>
                          </a:solidFill>
                          <a:latin typeface="Cambria Math" panose="02040503050406030204" pitchFamily="18" charset="0"/>
                        </a:rPr>
                        <m:t xml:space="preserve"> = − </m:t>
                      </m:r>
                      <m:f>
                        <m:fPr>
                          <m:ctrlPr>
                            <a:rPr lang="es-EC" sz="1550" i="1" dirty="0">
                              <a:solidFill>
                                <a:schemeClr val="tx1">
                                  <a:lumMod val="75000"/>
                                  <a:lumOff val="25000"/>
                                </a:schemeClr>
                              </a:solidFill>
                              <a:latin typeface="Cambria Math" panose="02040503050406030204" pitchFamily="18" charset="0"/>
                            </a:rPr>
                          </m:ctrlPr>
                        </m:fPr>
                        <m:num>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r</m:t>
                              </m:r>
                            </m:sub>
                          </m:sSub>
                        </m:num>
                        <m:den>
                          <m:sSub>
                            <m:sSubPr>
                              <m:ctrlPr>
                                <a:rPr lang="es-EC" sz="1550" i="1" dirty="0">
                                  <a:solidFill>
                                    <a:schemeClr val="tx1">
                                      <a:lumMod val="75000"/>
                                      <a:lumOff val="25000"/>
                                    </a:schemeClr>
                                  </a:solidFill>
                                  <a:latin typeface="Cambria Math" panose="02040503050406030204" pitchFamily="18" charset="0"/>
                                </a:rPr>
                              </m:ctrlPr>
                            </m:sSubPr>
                            <m:e>
                              <m:r>
                                <a:rPr lang="es-EC" sz="1550" i="1" dirty="0">
                                  <a:solidFill>
                                    <a:schemeClr val="tx1">
                                      <a:lumMod val="75000"/>
                                      <a:lumOff val="25000"/>
                                    </a:schemeClr>
                                  </a:solidFill>
                                  <a:latin typeface="Cambria Math" panose="02040503050406030204" pitchFamily="18" charset="0"/>
                                </a:rPr>
                                <m:t>Z</m:t>
                              </m:r>
                            </m:e>
                            <m:sub>
                              <m:r>
                                <a:rPr lang="es-EC" sz="1550" i="1" dirty="0">
                                  <a:solidFill>
                                    <a:schemeClr val="tx1">
                                      <a:lumMod val="75000"/>
                                      <a:lumOff val="25000"/>
                                    </a:schemeClr>
                                  </a:solidFill>
                                  <a:latin typeface="Cambria Math" panose="02040503050406030204" pitchFamily="18" charset="0"/>
                                </a:rPr>
                                <m:t>s</m:t>
                              </m:r>
                            </m:sub>
                          </m:sSub>
                        </m:den>
                      </m:f>
                      <m:r>
                        <a:rPr lang="es-EC" sz="1550" i="1" dirty="0">
                          <a:solidFill>
                            <a:schemeClr val="tx1">
                              <a:lumMod val="75000"/>
                              <a:lumOff val="25000"/>
                            </a:schemeClr>
                          </a:solidFill>
                          <a:latin typeface="Cambria Math" panose="02040503050406030204" pitchFamily="18" charset="0"/>
                        </a:rPr>
                        <m:t xml:space="preserve"> = − </m:t>
                      </m:r>
                      <m:f>
                        <m:fPr>
                          <m:ctrlPr>
                            <a:rPr lang="es-EC" sz="1550" i="1" dirty="0">
                              <a:solidFill>
                                <a:schemeClr val="tx1">
                                  <a:lumMod val="75000"/>
                                  <a:lumOff val="25000"/>
                                </a:schemeClr>
                              </a:solidFill>
                              <a:latin typeface="Cambria Math" panose="02040503050406030204" pitchFamily="18" charset="0"/>
                            </a:rPr>
                          </m:ctrlPr>
                        </m:fPr>
                        <m:num>
                          <m:r>
                            <a:rPr lang="es-EC" sz="1550" i="1" dirty="0">
                              <a:solidFill>
                                <a:schemeClr val="tx1">
                                  <a:lumMod val="75000"/>
                                  <a:lumOff val="25000"/>
                                </a:schemeClr>
                              </a:solidFill>
                              <a:latin typeface="Cambria Math" panose="02040503050406030204" pitchFamily="18" charset="0"/>
                            </a:rPr>
                            <m:t>72</m:t>
                          </m:r>
                        </m:num>
                        <m:den>
                          <m:r>
                            <a:rPr lang="es-EC" sz="1550" i="1" dirty="0">
                              <a:solidFill>
                                <a:schemeClr val="tx1">
                                  <a:lumMod val="75000"/>
                                  <a:lumOff val="25000"/>
                                </a:schemeClr>
                              </a:solidFill>
                              <a:latin typeface="Cambria Math" panose="02040503050406030204" pitchFamily="18" charset="0"/>
                            </a:rPr>
                            <m:t>30</m:t>
                          </m:r>
                        </m:den>
                      </m:f>
                      <m:r>
                        <a:rPr lang="es-EC" sz="1550" i="1" dirty="0">
                          <a:solidFill>
                            <a:schemeClr val="tx1">
                              <a:lumMod val="75000"/>
                              <a:lumOff val="25000"/>
                            </a:schemeClr>
                          </a:solidFill>
                          <a:latin typeface="Cambria Math" panose="02040503050406030204" pitchFamily="18" charset="0"/>
                        </a:rPr>
                        <m:t xml:space="preserve"> = − </m:t>
                      </m:r>
                      <m:r>
                        <m:rPr>
                          <m:nor/>
                        </m:rPr>
                        <a:rPr lang="es-EC" sz="1550" i="0" dirty="0">
                          <a:solidFill>
                            <a:schemeClr val="tx1">
                              <a:lumMod val="75000"/>
                              <a:lumOff val="25000"/>
                            </a:schemeClr>
                          </a:solidFill>
                          <a:latin typeface="Cambria Math" panose="02040503050406030204" pitchFamily="18" charset="0"/>
                        </a:rPr>
                        <m:t>2,40</m:t>
                      </m:r>
                    </m:oMath>
                  </m:oMathPara>
                </a14:m>
              </a:p>
            </p:txBody>
          </p:sp>
        </mc:Choice>
        <mc:Fallback>
          <p:sp>
            <p:nvSpPr>
              <p:cNvPr id="5" name="Ecuación 5"/>
              <p:cNvSpPr txBox="1"/>
              <p:nvPr/>
            </p:nvSpPr>
            <p:spPr>
              <a:xfrm>
                <a:off x="5486400" y="2514600"/>
                <a:ext cx="4114800" cy="2331720"/>
              </a:xfrm>
              <a:prstGeom prst="rect">
                <a:avLst/>
              </a:prstGeom>
              <a:noFill/>
              <a:ln w="9525">
                <a:solidFill>
                  <a:schemeClr val="accent1"/>
                </a:solidFill>
              </a:ln>
            </p:spPr>
            <p:txBody>
              <a:bodyPr wrap="square" lIns="72000" tIns="36000" rIns="72000" bIns="36000" anchor="ctr">
                <a:noAutofit/>
              </a:bodyPr>
              <a:lstStyle/>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3.ª: Rt = 1 (directa)</a:t>
                </a:r>
              </a:p>
              <a:p>
                <a:pPr algn="ctr">
                  <a:lnSpc>
                    <a:spcPct val="110000"/>
                  </a:lnSpc>
                  <a:spcBef>
                    <a:spcPts val="300"/>
                  </a:spcBef>
                </a:pPr>
                <a:r>
                  <a:rPr lang="es-EC" sz="1550" i="1" dirty="0">
                    <a:solidFill>
                      <a:schemeClr val="tx1">
                        <a:lumMod val="75000"/>
                        <a:lumOff val="25000"/>
                      </a:schemeClr>
                    </a:solidFill>
                    <a:latin typeface="Cambria Math" panose="02040503050406030204" pitchFamily="18" charset="0"/>
                  </a:rPr>
                  <a:t>MA: Rt = − Zr/Zs = − 72/30 = − 2,40</a:t>
                </a:r>
              </a:p>
            </p:txBody>
          </p:sp>
        </mc:Fallback>
      </mc:AlternateContent>
      <p:sp>
        <p:nvSpPr>
          <p:cNvPr id="6" name="Texto 6"/>
          <p:cNvSpPr txBox="1"/>
          <p:nvPr/>
        </p:nvSpPr>
        <p:spPr>
          <a:xfrm>
            <a:off x="1005840" y="4937760"/>
            <a:ext cx="8595360" cy="777240"/>
          </a:xfrm>
          <a:prstGeom prst="rect">
            <a:avLst/>
          </a:prstGeom>
          <a:noFill/>
        </p:spPr>
        <p:txBody>
          <a:bodyPr wrap="square" lIns="72000" tIns="36000" rIns="72000" bIns="36000" anchor="t">
            <a:noAutofit/>
          </a:bodyPr>
          <a:lstStyle/>
          <a:p>
            <a:pPr algn="just">
              <a:lnSpc>
                <a:spcPct val="118000"/>
              </a:lnSpc>
              <a:spcBef>
                <a:spcPts val="0"/>
              </a:spcBef>
              <a:buNone/>
            </a:pPr>
            <a:r>
              <a:rPr lang="es-EC" sz="1350" b="1" dirty="0">
                <a:solidFill>
                  <a:schemeClr val="accent1">
                    <a:lumMod val="75000"/>
                  </a:schemeClr>
                </a:solidFill>
                <a:latin typeface="Arial Narrow" pitchFamily="34" charset="0"/>
              </a:rPr>
              <a:t xml:space="preserve">Conclusión: </a:t>
            </a:r>
            <a:r>
              <a:rPr lang="es-EC" sz="1350" dirty="0">
                <a:solidFill>
                  <a:schemeClr val="tx1">
                    <a:lumMod val="75000"/>
                    <a:lumOff val="25000"/>
                  </a:schemeClr>
                </a:solidFill>
                <a:latin typeface="Arial Narrow" pitchFamily="34" charset="0"/>
              </a:rPr>
              <a:t>la serie 2,42 – 1,42 – 1,00 / MA 2,40 es la típica de las cajas Simpson de tres marchas (por ejemplo, Ford C4: 2,46 – 1,46 – 1,00 / 2,18). En 1.ª los dos trenes reducen; en 2.ª solo el delantero.</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RAVIGNEAUX.</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 solo portasatélites lleva satélites cortos y largos. Los cortos engranan con el planetario pequeño (P1) y con los largos; los largos engranan con el planetario grande (P2) y con la única corona.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movimiento de la turbina puede llegar a P1 o a P2 mediante los embragues E1 y E2; el freno F1 (con rueda libre) actúa sobre el portasatélites y el freno F2 sobre P2.</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Solo un elemento da salida, la corona o el portasatélites. Es muy compacto y se usa en transejes de tracción delantera y en cajas de 4 a 8 marchas (Lepelletier).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2556619"/>
            <a:ext cx="3840480" cy="1891065"/>
          </a:xfrm>
          <a:prstGeom prst="rect">
            <a:avLst/>
          </a:prstGeom>
        </p:spPr>
      </p:pic>
      <p:sp>
        <p:nvSpPr>
          <p:cNvPr id="5" name="Texto 5"/>
          <p:cNvSpPr txBox="1"/>
          <p:nvPr/>
        </p:nvSpPr>
        <p:spPr>
          <a:xfrm>
            <a:off x="5806440" y="44751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Satélites cortos y largos en un portasatélites común.</a:t>
            </a:r>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RAVIGNEAUX: MARCHAS (EJEMPLO DE TRES VELOCIDADES).</a:t>
            </a:r>
          </a:p>
        </p:txBody>
      </p:sp>
      <p:graphicFrame>
        <p:nvGraphicFramePr>
          <p:cNvPr id="3" name="Tabla 3"/>
          <p:cNvGraphicFramePr>
            <a:graphicFrameLocks noGrp="1"/>
          </p:cNvGraphicFramePr>
          <p:nvPr/>
        </p:nvGraphicFramePr>
        <p:xfrm>
          <a:off x="1005840" y="1691640"/>
          <a:ext cx="8503920" cy="3017520"/>
        </p:xfrm>
        <a:graphic>
          <a:graphicData uri="http://schemas.openxmlformats.org/drawingml/2006/table">
            <a:tbl>
              <a:tblPr firstRow="1" bandRow="1"/>
              <a:tblGrid>
                <a:gridCol w="1280160"/>
                <a:gridCol w="2377440"/>
                <a:gridCol w="1737360"/>
                <a:gridCol w="1371600"/>
                <a:gridCol w="1737360"/>
              </a:tblGrid>
              <a:tr h="502920">
                <a:tc>
                  <a:txBody>
                    <a:bodyPr/>
                    <a:lstStyle/>
                    <a:p>
                      <a:pPr algn="ctr"/>
                      <a:r>
                        <a:rPr lang="es-EC" sz="1150" b="1" dirty="0">
                          <a:solidFill>
                            <a:schemeClr val="bg1"/>
                          </a:solidFill>
                          <a:latin typeface="Arial Narrow" pitchFamily="34" charset="0"/>
                        </a:rPr>
                        <a:t>Marcha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Entrada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Elemento retenido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Salida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Resultado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150" b="1" dirty="0">
                          <a:solidFill>
                            <a:schemeClr val="tx1">
                              <a:lumMod val="75000"/>
                              <a:lumOff val="25000"/>
                            </a:schemeClr>
                          </a:solidFill>
                          <a:latin typeface="Arial Narrow" pitchFamily="34" charset="0"/>
                        </a:rPr>
                        <a:t>Neutro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Ninguna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Ninguno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Sin transmisión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1.ª</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Planetario de entrada (pequeño)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Planetario de reacción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Reducción grande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2.ª</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 de reacción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Reducción menor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3.ª</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Corona y planetario de entrada unidos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Ninguno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Directa (bloqueo)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Marcha atrás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Planetario de entrada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Corona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Portasatélites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Inversión con reducción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En el esquema didáctico de la presentación original la salida es el portasatélites; en muchos transejes la salida es la corona.</a:t>
            </a:r>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CAMBIO WILSON.</a:t>
            </a:r>
          </a:p>
        </p:txBody>
      </p:sp>
      <p:sp>
        <p:nvSpPr>
          <p:cNvPr id="3" name="2 Marcador de contenido"/>
          <p:cNvSpPr>
            <a:spLocks noGrp="1"/>
          </p:cNvSpPr>
          <p:nvPr>
            <p:ph idx="1"/>
          </p:nvPr>
        </p:nvSpPr>
        <p:spPr>
          <a:xfrm>
            <a:off x="1005840" y="1645920"/>
            <a:ext cx="438912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Varios trenes epicicloidales en serie, cada uno con una corona exterior en forma de tambor que se frena con una banda: un tambor por marcha (1.ª, 2.ª, 3.ª, marcha atrás) y un embrague D para la directa.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primera corona, el segundo portasatélites y la tercera corona están unidos; el segundo y el tercer planetario forman un piñón doble que recibe el giro en las marchas adelante.</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Frenando un solo tambor cada vez se obtiene una relación distinta; se usó en autobuses y vehículos industriales con preselector.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115678" y="1645920"/>
            <a:ext cx="3039123" cy="1655064"/>
          </a:xfrm>
          <a:prstGeom prst="rect">
            <a:avLst/>
          </a:prstGeom>
        </p:spPr>
      </p:pic>
      <p:sp>
        <p:nvSpPr>
          <p:cNvPr id="5" name="Texto 5"/>
          <p:cNvSpPr txBox="1"/>
          <p:nvPr/>
        </p:nvSpPr>
        <p:spPr>
          <a:xfrm>
            <a:off x="5623560" y="3328416"/>
            <a:ext cx="40233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Acoplamiento de trenes tipo Wilson.</a:t>
            </a:r>
          </a:p>
        </p:txBody>
      </p:sp>
      <p:pic>
        <p:nvPicPr>
          <p:cNvPr id="6" name="Figura" descr="Figura"/>
          <p:cNvPicPr>
            <a:picLocks noChangeAspect="1"/>
          </p:cNvPicPr>
          <p:nvPr/>
        </p:nvPicPr>
        <p:blipFill>
          <a:blip r:embed="rId3"/>
          <a:stretch>
            <a:fillRect/>
          </a:stretch>
        </p:blipFill>
        <p:spPr>
          <a:xfrm>
            <a:off x="6341103" y="3657600"/>
            <a:ext cx="2588272" cy="1655064"/>
          </a:xfrm>
          <a:prstGeom prst="rect">
            <a:avLst/>
          </a:prstGeom>
        </p:spPr>
      </p:pic>
      <p:sp>
        <p:nvSpPr>
          <p:cNvPr id="7" name="Texto 7"/>
          <p:cNvSpPr txBox="1"/>
          <p:nvPr/>
        </p:nvSpPr>
        <p:spPr>
          <a:xfrm>
            <a:off x="5623560" y="5340096"/>
            <a:ext cx="402336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Esquema del cambio planetario Wilson.</a:t>
            </a:r>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 HYDRAMATIC: FUNCIONAMIENTO POR MARCHAS.</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Dos trenes (I y II) con un embrague hidráulico entre ellos; cada tren tiene un freno de cinta (F) y un embrague (E). 1.ª: F1 y F2 (reducen ambos trenes) · 2.ª: E1 y F2 (reduce solo el II) · 3.ª: F1 y E2 (reduce solo el I) · 4.ª: E1 y E2 (directa) · MA: F1 y corona C3 enclavada.</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3093532"/>
            <a:ext cx="2011680" cy="1457318"/>
          </a:xfrm>
          <a:prstGeom prst="rect">
            <a:avLst/>
          </a:prstGeom>
        </p:spPr>
      </p:pic>
      <p:sp>
        <p:nvSpPr>
          <p:cNvPr id="5" name="Texto 5"/>
          <p:cNvSpPr txBox="1"/>
          <p:nvPr/>
        </p:nvSpPr>
        <p:spPr>
          <a:xfrm>
            <a:off x="1005840" y="4578283"/>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1.ª velocidad.</a:t>
            </a:r>
          </a:p>
        </p:txBody>
      </p:sp>
      <p:pic>
        <p:nvPicPr>
          <p:cNvPr id="6" name="Figura" descr="Figura"/>
          <p:cNvPicPr>
            <a:picLocks noChangeAspect="1"/>
          </p:cNvPicPr>
          <p:nvPr/>
        </p:nvPicPr>
        <p:blipFill>
          <a:blip r:embed="rId3"/>
          <a:stretch>
            <a:fillRect/>
          </a:stretch>
        </p:blipFill>
        <p:spPr>
          <a:xfrm>
            <a:off x="3200400" y="2948265"/>
            <a:ext cx="2011680" cy="1747853"/>
          </a:xfrm>
          <a:prstGeom prst="rect">
            <a:avLst/>
          </a:prstGeom>
        </p:spPr>
      </p:pic>
      <p:sp>
        <p:nvSpPr>
          <p:cNvPr id="7" name="Texto 7"/>
          <p:cNvSpPr txBox="1"/>
          <p:nvPr/>
        </p:nvSpPr>
        <p:spPr>
          <a:xfrm>
            <a:off x="3200400" y="4723550"/>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2.ª velocidad.</a:t>
            </a:r>
          </a:p>
        </p:txBody>
      </p:sp>
      <p:pic>
        <p:nvPicPr>
          <p:cNvPr id="8" name="Figura" descr="Figura"/>
          <p:cNvPicPr>
            <a:picLocks noChangeAspect="1"/>
          </p:cNvPicPr>
          <p:nvPr/>
        </p:nvPicPr>
        <p:blipFill>
          <a:blip r:embed="rId4"/>
          <a:stretch>
            <a:fillRect/>
          </a:stretch>
        </p:blipFill>
        <p:spPr>
          <a:xfrm>
            <a:off x="5394960" y="3069171"/>
            <a:ext cx="2011680" cy="1506041"/>
          </a:xfrm>
          <a:prstGeom prst="rect">
            <a:avLst/>
          </a:prstGeom>
        </p:spPr>
      </p:pic>
      <p:sp>
        <p:nvSpPr>
          <p:cNvPr id="9" name="Texto 9"/>
          <p:cNvSpPr txBox="1"/>
          <p:nvPr/>
        </p:nvSpPr>
        <p:spPr>
          <a:xfrm>
            <a:off x="5394960" y="4602644"/>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3.ª velocidad.</a:t>
            </a:r>
          </a:p>
        </p:txBody>
      </p:sp>
      <p:pic>
        <p:nvPicPr>
          <p:cNvPr id="10" name="Figura" descr="Figura"/>
          <p:cNvPicPr>
            <a:picLocks noChangeAspect="1"/>
          </p:cNvPicPr>
          <p:nvPr/>
        </p:nvPicPr>
        <p:blipFill>
          <a:blip r:embed="rId5"/>
          <a:stretch>
            <a:fillRect/>
          </a:stretch>
        </p:blipFill>
        <p:spPr>
          <a:xfrm>
            <a:off x="7589520" y="3141521"/>
            <a:ext cx="2011680" cy="1361341"/>
          </a:xfrm>
          <a:prstGeom prst="rect">
            <a:avLst/>
          </a:prstGeom>
        </p:spPr>
      </p:pic>
      <p:sp>
        <p:nvSpPr>
          <p:cNvPr id="11" name="Texto 11"/>
          <p:cNvSpPr txBox="1"/>
          <p:nvPr/>
        </p:nvSpPr>
        <p:spPr>
          <a:xfrm>
            <a:off x="7589520" y="4530294"/>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4.ª velocidad.</a:t>
            </a:r>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ELEMENTOS DE MANDO: EMBRAGUES DE DISCOS.</a:t>
            </a:r>
          </a:p>
        </p:txBody>
      </p:sp>
      <p:sp>
        <p:nvSpPr>
          <p:cNvPr id="3" name="2 Marcador de contenido"/>
          <p:cNvSpPr>
            <a:spLocks noGrp="1"/>
          </p:cNvSpPr>
          <p:nvPr>
            <p:ph idx="1"/>
          </p:nvPr>
        </p:nvSpPr>
        <p:spPr>
          <a:xfrm>
            <a:off x="1005840" y="1645920"/>
            <a:ext cx="448056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Unen dos elementos giratorios del tren (por ejemplo, el eje de turbina con una corona). Están formados por discos exteriores de acero, encajados en el tambor (portadiscos), y discos interiores con forro de fricción, encajados en el cubo, sumergidos en ATF.</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 émbolo hidráulico comprime el paquete y los une; al descargar la presión, unos muelles de retorno (o un muelle de platillo) separan el émbolo. Una válvula de bola en el émbolo evacúa el aceite que la fuerza centrífuga retiene al desembragar.</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número de discos y el juego del paquete los fija el fabricante: un juego excesivo retrasa el acoplamiento y lo hace patinar.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113988" y="1645920"/>
            <a:ext cx="3133943" cy="1655064"/>
          </a:xfrm>
          <a:prstGeom prst="rect">
            <a:avLst/>
          </a:prstGeom>
        </p:spPr>
      </p:pic>
      <p:sp>
        <p:nvSpPr>
          <p:cNvPr id="5" name="Texto 5"/>
          <p:cNvSpPr txBox="1"/>
          <p:nvPr/>
        </p:nvSpPr>
        <p:spPr>
          <a:xfrm>
            <a:off x="5715000" y="3328416"/>
            <a:ext cx="393192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Embrague multidisco: tambor, émbolo, muelles y discos.</a:t>
            </a:r>
          </a:p>
        </p:txBody>
      </p:sp>
      <p:pic>
        <p:nvPicPr>
          <p:cNvPr id="6" name="Figura" descr="Figura"/>
          <p:cNvPicPr>
            <a:picLocks noChangeAspect="1"/>
          </p:cNvPicPr>
          <p:nvPr/>
        </p:nvPicPr>
        <p:blipFill>
          <a:blip r:embed="rId3"/>
          <a:stretch>
            <a:fillRect/>
          </a:stretch>
        </p:blipFill>
        <p:spPr>
          <a:xfrm>
            <a:off x="5715000" y="3691558"/>
            <a:ext cx="3931920" cy="1587146"/>
          </a:xfrm>
          <a:prstGeom prst="rect">
            <a:avLst/>
          </a:prstGeom>
        </p:spPr>
      </p:pic>
      <p:sp>
        <p:nvSpPr>
          <p:cNvPr id="7" name="Texto 7"/>
          <p:cNvSpPr txBox="1"/>
          <p:nvPr/>
        </p:nvSpPr>
        <p:spPr>
          <a:xfrm>
            <a:off x="5715000" y="5306137"/>
            <a:ext cx="393192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Funcionamiento: émbolo aplicado y liberado.</a:t>
            </a:r>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FRENOS DE DISCOS Y DE CINTA (BANDA).</a:t>
            </a:r>
          </a:p>
        </p:txBody>
      </p:sp>
      <p:sp>
        <p:nvSpPr>
          <p:cNvPr id="3" name="2 Marcador de contenido"/>
          <p:cNvSpPr>
            <a:spLocks noGrp="1"/>
          </p:cNvSpPr>
          <p:nvPr>
            <p:ph idx="1"/>
          </p:nvPr>
        </p:nvSpPr>
        <p:spPr>
          <a:xfrm>
            <a:off x="1005840" y="1645920"/>
            <a:ext cx="4572000" cy="4069080"/>
          </a:xfrm>
        </p:spPr>
        <p:txBody>
          <a:bodyPr anchor="t">
            <a:normAutofit/>
          </a:bodyPr>
          <a:lstStyle/>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Freno de discos: </a:t>
            </a:r>
            <a:r>
              <a:rPr lang="es-EC" sz="1350" dirty="0">
                <a:solidFill>
                  <a:schemeClr val="tx1">
                    <a:lumMod val="75000"/>
                    <a:lumOff val="25000"/>
                  </a:schemeClr>
                </a:solidFill>
                <a:latin typeface="Arial Narrow" pitchFamily="34" charset="0"/>
              </a:rPr>
              <a:t>igual al embrague, pero los discos exteriores están fijos en la carcasa: inmoviliza un elemento del tren. Su émbolo está fijo en la caja.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Freno de cinta: </a:t>
            </a:r>
            <a:r>
              <a:rPr lang="es-EC" sz="1350" dirty="0">
                <a:solidFill>
                  <a:schemeClr val="tx1">
                    <a:lumMod val="75000"/>
                    <a:lumOff val="25000"/>
                  </a:schemeClr>
                </a:solidFill>
                <a:latin typeface="Arial Narrow" pitchFamily="34" charset="0"/>
              </a:rPr>
              <a:t>una banda de acero con forro abraza el exterior de un tambor; un servo hidráulico la aprieta contra él y lo inmoviliza. Un extremo se apoya en la carcasa y el otro recibe la fuerza del émbolo.</a:t>
            </a:r>
            <a:endParaRPr lang="es-EC" sz="1350" dirty="0">
              <a:solidFill>
                <a:schemeClr val="tx1">
                  <a:lumMod val="75000"/>
                  <a:lumOff val="25000"/>
                </a:schemeClr>
              </a:solidFill>
              <a:latin typeface="Arial Narrow" pitchFamily="34" charset="0"/>
            </a:endParaRPr>
          </a:p>
          <a:p>
            <a:pPr algn="just">
              <a:lnSpc>
                <a:spcPct val="130000"/>
              </a:lnSpc>
              <a:spcBef>
                <a:spcPts val="5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Los forros son de papel y fibras con resina, con minerales para ajustar la fricción y fibras de aramida para resistir la temperatura.</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1753969"/>
            <a:ext cx="3840480" cy="1438964"/>
          </a:xfrm>
          <a:prstGeom prst="rect">
            <a:avLst/>
          </a:prstGeom>
        </p:spPr>
      </p:pic>
      <p:sp>
        <p:nvSpPr>
          <p:cNvPr id="5" name="Texto 5"/>
          <p:cNvSpPr txBox="1"/>
          <p:nvPr/>
        </p:nvSpPr>
        <p:spPr>
          <a:xfrm>
            <a:off x="5806440" y="322036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Funcionamiento del freno de banda.</a:t>
            </a:r>
          </a:p>
        </p:txBody>
      </p:sp>
      <p:pic>
        <p:nvPicPr>
          <p:cNvPr id="6" name="Figura" descr="Figura"/>
          <p:cNvPicPr>
            <a:picLocks noChangeAspect="1"/>
          </p:cNvPicPr>
          <p:nvPr/>
        </p:nvPicPr>
        <p:blipFill>
          <a:blip r:embed="rId3"/>
          <a:stretch>
            <a:fillRect/>
          </a:stretch>
        </p:blipFill>
        <p:spPr>
          <a:xfrm>
            <a:off x="6682516" y="3657600"/>
            <a:ext cx="2088326"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Servo de banda desmontado.</a:t>
            </a:r>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RUEDA LIBRE (PIÑÓN LIBRE).</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Permite el giro en un sentido y lo bloquea en el otro. Simplifica el cambio: el elemento se aplica o se libera solo, sin intervención hidráulica, y la transición entre marchas es exacta.</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De rodillos: </a:t>
            </a:r>
            <a:r>
              <a:rPr lang="es-EC" sz="1350" dirty="0">
                <a:solidFill>
                  <a:schemeClr val="tx1">
                    <a:lumMod val="75000"/>
                    <a:lumOff val="25000"/>
                  </a:schemeClr>
                </a:solidFill>
                <a:latin typeface="Arial Narrow" pitchFamily="34" charset="0"/>
              </a:rPr>
              <a:t>rodillos entre un anillo interior y otro exterior con rampas; unos muelles los empujan hacia la parte estrecha.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De cuerpos de apriete (sprag): </a:t>
            </a:r>
            <a:r>
              <a:rPr lang="es-EC" sz="1350" dirty="0">
                <a:solidFill>
                  <a:schemeClr val="tx1">
                    <a:lumMod val="75000"/>
                    <a:lumOff val="25000"/>
                  </a:schemeClr>
                </a:solidFill>
                <a:latin typeface="Arial Narrow" pitchFamily="34" charset="0"/>
              </a:rPr>
              <a:t>más cuerpos en el mismo espacio y mayor par; al bloquear, los cuerpos se levantan y se acuñan entre las pistas.</a:t>
            </a:r>
            <a:endParaRPr lang="es-EC" sz="1350" dirty="0">
              <a:solidFill>
                <a:schemeClr val="tx1">
                  <a:lumMod val="75000"/>
                  <a:lumOff val="25000"/>
                </a:schemeClr>
              </a:solidFill>
              <a:latin typeface="Arial Narrow" pitchFamily="34" charset="0"/>
            </a:endParaRPr>
          </a:p>
          <a:p>
            <a:pPr algn="just">
              <a:lnSpc>
                <a:spcPct val="130000"/>
              </a:lnSpc>
              <a:spcBef>
                <a:spcPts val="5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Se usa en el reactor del convertidor y como freno de 1.ª marcha.</a:t>
            </a:r>
            <a:endParaRPr lang="es-EC" sz="135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899148" y="1645920"/>
            <a:ext cx="1655064"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Rueda libre de cuerpos de apriete.</a:t>
            </a:r>
          </a:p>
        </p:txBody>
      </p:sp>
      <p:pic>
        <p:nvPicPr>
          <p:cNvPr id="6" name="Figura" descr="Figura"/>
          <p:cNvPicPr>
            <a:picLocks noChangeAspect="1"/>
          </p:cNvPicPr>
          <p:nvPr/>
        </p:nvPicPr>
        <p:blipFill>
          <a:blip r:embed="rId3"/>
          <a:stretch>
            <a:fillRect/>
          </a:stretch>
        </p:blipFill>
        <p:spPr>
          <a:xfrm>
            <a:off x="6748353" y="3657600"/>
            <a:ext cx="1956653"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Pista exterior con rampas.</a:t>
            </a:r>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CRUZAMIENTO (SOLAPAMIENTO) EN EL CAMBIO DE MARCHA.</a:t>
            </a:r>
          </a:p>
        </p:txBody>
      </p:sp>
      <p:sp>
        <p:nvSpPr>
          <p:cNvPr id="3" name="2 Marcador de contenido"/>
          <p:cNvSpPr>
            <a:spLocks noGrp="1"/>
          </p:cNvSpPr>
          <p:nvPr>
            <p:ph idx="1"/>
          </p:nvPr>
        </p:nvSpPr>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el acoplamiento electrohidráulico de marchas, durante el cambio un elemento se abre y otro se cierra a la vez. La presión del que se desacopla baja mientras sube la del que se acopla, de modo que el par se transfiere sin interrupción: es el cruzamiento.</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Cruzamiento cero: </a:t>
            </a:r>
            <a:r>
              <a:rPr lang="es-EC" sz="1350" dirty="0">
                <a:solidFill>
                  <a:schemeClr val="tx1">
                    <a:lumMod val="75000"/>
                    <a:lumOff val="25000"/>
                  </a:schemeClr>
                </a:solidFill>
                <a:latin typeface="Arial Narrow" pitchFamily="34" charset="0"/>
              </a:rPr>
              <a:t>el elemento que se acopla absorbe exactamente el par que cede el que se desacopla; la fuerza de tracción se mantiene.</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Cruzamiento negativo: </a:t>
            </a:r>
            <a:r>
              <a:rPr lang="es-EC" sz="1350" dirty="0">
                <a:solidFill>
                  <a:schemeClr val="tx1">
                    <a:lumMod val="75000"/>
                    <a:lumOff val="25000"/>
                  </a:schemeClr>
                </a:solidFill>
                <a:latin typeface="Arial Narrow" pitchFamily="34" charset="0"/>
              </a:rPr>
              <a:t>el nuevo elemento toma el par demasiado tarde: el motor se embala momentáneamente (resbalón al subir de marcha bajo carga).</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Cruzamiento positivo: </a:t>
            </a:r>
            <a:r>
              <a:rPr lang="es-EC" sz="1350" dirty="0">
                <a:solidFill>
                  <a:schemeClr val="tx1">
                    <a:lumMod val="75000"/>
                    <a:lumOff val="25000"/>
                  </a:schemeClr>
                </a:solidFill>
                <a:latin typeface="Arial Narrow" pitchFamily="34" charset="0"/>
              </a:rPr>
              <a:t>el nuevo elemento toma el par demasiado pronto: los dos elementos trabajan a la vez y se produce un breve bloqueo y un tirón; se aprovecha para bajar el régimen rápidamente.</a:t>
            </a:r>
            <a:endParaRPr lang="es-EC" sz="1350" dirty="0">
              <a:solidFill>
                <a:schemeClr val="tx1">
                  <a:lumMod val="75000"/>
                  <a:lumOff val="25000"/>
                </a:schemeClr>
              </a:solidFill>
              <a:latin typeface="Arial Narrow" pitchFamily="34" charset="0"/>
            </a:endParaRPr>
          </a:p>
          <a:p>
            <a:pPr algn="just">
              <a:lnSpc>
                <a:spcPct val="130000"/>
              </a:lnSpc>
              <a:spcBef>
                <a:spcPts val="5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La unidad de control ajusta el cruzamiento con las electroválvulas moduladoras para que el cambio sea suave.</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TRINQUETE (RUEDA) DE APARCAMIENTO.</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Inmoviliza el vehículo cuando la palanca está en P. En el eje de salida hay una rueda dentada; al seleccionar P, una varilla con un cono empuja el trinquete (dedo) y lo encaja entre sus dientes.</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Si el dedo coincide con un diente, un muelle lo mantiene cargado y encaja en cuanto el vehículo se mueve un poco.</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b="1" dirty="0">
                <a:solidFill>
                  <a:schemeClr val="accent1">
                    <a:lumMod val="75000"/>
                  </a:schemeClr>
                </a:solidFill>
                <a:latin typeface="Arial Narrow" pitchFamily="34" charset="0"/>
              </a:rPr>
              <a:t xml:space="preserve">Precaución: </a:t>
            </a:r>
            <a:r>
              <a:rPr lang="es-EC" sz="1400" dirty="0">
                <a:solidFill>
                  <a:schemeClr val="tx1">
                    <a:lumMod val="75000"/>
                    <a:lumOff val="25000"/>
                  </a:schemeClr>
                </a:solidFill>
                <a:latin typeface="Arial Narrow" pitchFamily="34" charset="0"/>
              </a:rPr>
              <a:t>no seleccionar P con el vehículo en movimiento y usar siempre el freno de estacionamiento en pendientes: el trinquete puede romperse o quedar atrapado.</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2657309"/>
            <a:ext cx="3840480" cy="1689684"/>
          </a:xfrm>
          <a:prstGeom prst="rect">
            <a:avLst/>
          </a:prstGeom>
        </p:spPr>
      </p:pic>
      <p:sp>
        <p:nvSpPr>
          <p:cNvPr id="5" name="Texto 5"/>
          <p:cNvSpPr txBox="1"/>
          <p:nvPr/>
        </p:nvSpPr>
        <p:spPr>
          <a:xfrm>
            <a:off x="5806440" y="437442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Esquema de la caja con la rueda de parking.</a:t>
            </a:r>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UNIDAD 3 · PARTE 4: SISTEMA HIDRÁULICO</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INTRODUCCIÓN AL SISTEMA HIDRÁULICO.</a:t>
            </a:r>
          </a:p>
        </p:txBody>
      </p:sp>
      <p:sp>
        <p:nvSpPr>
          <p:cNvPr id="3" name="2 Marcador de contenido"/>
          <p:cNvSpPr>
            <a:spLocks noGrp="1"/>
          </p:cNvSpPr>
          <p:nvPr>
            <p:ph idx="1"/>
          </p:nvPr>
        </p:nvSpPr>
        <p:spPr>
          <a:xfrm>
            <a:off x="1005840" y="1645920"/>
            <a:ext cx="420624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la caja automática el aceite es imprescindible: sin presión de aceite se pierden todas las funciones.</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El circuito hidráulico alimenta el convertidor, acciona los embragues, frenos y servos, lubrica todo el conjunto y lleva el calor al radiador.</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Su "cerebro" es la unidad hidráulica (cuerpo de válvulas), normalmente en la parte baja de la caja, donde se regula y distribuye la presión a cada elemento.</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440679" y="2319720"/>
            <a:ext cx="4206240" cy="2364862"/>
          </a:xfrm>
          <a:prstGeom prst="rect">
            <a:avLst/>
          </a:prstGeom>
        </p:spPr>
      </p:pic>
      <p:sp>
        <p:nvSpPr>
          <p:cNvPr id="5" name="Texto 5"/>
          <p:cNvSpPr txBox="1"/>
          <p:nvPr/>
        </p:nvSpPr>
        <p:spPr>
          <a:xfrm>
            <a:off x="5440679" y="4712015"/>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Circuito hidráulico: bomba, convertidor, cuerpo de válvulas, elementos de cambio y radiador.</a:t>
            </a:r>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BOMBA DE ACEITE.</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Está en la parte delantera de la caja y la mueve el cubo del convertidor, es decir, gira con el motor: solo hay presión con el motor en marcha (un vehículo automático no se arranca empujándolo).</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Genera la presión de trabajo, que puede llegar a unos 25 bar, y asegura el suministro a los elementos del cambio, al mando, al convertidor y a la lubricación.</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Tipos: de engranajes internos con media luna, trocoidal (de lóbulos) y de paletas (de caudal variable).</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769648" y="1645920"/>
            <a:ext cx="1914062"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Bomba de engranajes.</a:t>
            </a:r>
          </a:p>
        </p:txBody>
      </p:sp>
      <p:pic>
        <p:nvPicPr>
          <p:cNvPr id="6" name="Figura" descr="Figura"/>
          <p:cNvPicPr>
            <a:picLocks noChangeAspect="1"/>
          </p:cNvPicPr>
          <p:nvPr/>
        </p:nvPicPr>
        <p:blipFill>
          <a:blip r:embed="rId3"/>
          <a:stretch>
            <a:fillRect/>
          </a:stretch>
        </p:blipFill>
        <p:spPr>
          <a:xfrm>
            <a:off x="6724930" y="3657600"/>
            <a:ext cx="2003498"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Bomba de media luna.</a:t>
            </a:r>
          </a:p>
        </p:txBody>
      </p:sp>
    </p:spTree>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CUERPO DE VÁLVULAS (UNIDAD HIDRÁULICA).</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Varias carcasas con canales tallados y una placa separadora alojan las válvulas que regulan y dirigen el aceite.</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00" b="1" dirty="0">
                <a:solidFill>
                  <a:schemeClr val="accent1">
                    <a:lumMod val="75000"/>
                  </a:schemeClr>
                </a:solidFill>
                <a:latin typeface="Arial Narrow" pitchFamily="34" charset="0"/>
              </a:rPr>
              <a:t xml:space="preserve">Válvula reguladora de presión: </a:t>
            </a:r>
            <a:r>
              <a:rPr lang="es-EC" sz="1300" dirty="0">
                <a:solidFill>
                  <a:schemeClr val="tx1">
                    <a:lumMod val="75000"/>
                    <a:lumOff val="25000"/>
                  </a:schemeClr>
                </a:solidFill>
                <a:latin typeface="Arial Narrow" pitchFamily="34" charset="0"/>
              </a:rPr>
              <a:t>mantiene la presión de línea según la carga del motor.</a:t>
            </a:r>
            <a:endParaRPr lang="es-EC" sz="13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00" b="1" dirty="0">
                <a:solidFill>
                  <a:schemeClr val="accent1">
                    <a:lumMod val="75000"/>
                  </a:schemeClr>
                </a:solidFill>
                <a:latin typeface="Arial Narrow" pitchFamily="34" charset="0"/>
              </a:rPr>
              <a:t xml:space="preserve">Válvula manual: </a:t>
            </a:r>
            <a:r>
              <a:rPr lang="es-EC" sz="1300" dirty="0">
                <a:solidFill>
                  <a:schemeClr val="tx1">
                    <a:lumMod val="75000"/>
                    <a:lumOff val="25000"/>
                  </a:schemeClr>
                </a:solidFill>
                <a:latin typeface="Arial Narrow" pitchFamily="34" charset="0"/>
              </a:rPr>
              <a:t>unida a la palanca selectora (P-R-N-D) por la corredera manual.</a:t>
            </a:r>
            <a:endParaRPr lang="es-EC" sz="13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00" b="1" dirty="0">
                <a:solidFill>
                  <a:schemeClr val="accent1">
                    <a:lumMod val="75000"/>
                  </a:schemeClr>
                </a:solidFill>
                <a:latin typeface="Arial Narrow" pitchFamily="34" charset="0"/>
              </a:rPr>
              <a:t xml:space="preserve">Válvulas de cambio (relé): </a:t>
            </a:r>
            <a:r>
              <a:rPr lang="es-EC" sz="1300" dirty="0">
                <a:solidFill>
                  <a:schemeClr val="tx1">
                    <a:lumMod val="75000"/>
                    <a:lumOff val="25000"/>
                  </a:schemeClr>
                </a:solidFill>
                <a:latin typeface="Arial Narrow" pitchFamily="34" charset="0"/>
              </a:rPr>
              <a:t>envían la presión al embrague o freno de cada marcha.</a:t>
            </a:r>
            <a:endParaRPr lang="es-EC" sz="13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00" b="1" dirty="0">
                <a:solidFill>
                  <a:schemeClr val="accent1">
                    <a:lumMod val="75000"/>
                  </a:schemeClr>
                </a:solidFill>
                <a:latin typeface="Arial Narrow" pitchFamily="34" charset="0"/>
              </a:rPr>
              <a:t xml:space="preserve">Electroválvulas, bolas de retención y amortiguadores: </a:t>
            </a:r>
            <a:r>
              <a:rPr lang="es-EC" sz="1300" dirty="0">
                <a:solidFill>
                  <a:schemeClr val="tx1">
                    <a:lumMod val="75000"/>
                    <a:lumOff val="25000"/>
                  </a:schemeClr>
                </a:solidFill>
                <a:latin typeface="Arial Narrow" pitchFamily="34" charset="0"/>
              </a:rPr>
              <a:t>controlan, retienen y suavizan los cambios.</a:t>
            </a:r>
            <a:endParaRPr lang="es-EC" sz="13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6835491" y="1645920"/>
            <a:ext cx="1782376" cy="1655064"/>
          </a:xfrm>
          <a:prstGeom prst="rect">
            <a:avLst/>
          </a:prstGeom>
        </p:spPr>
      </p:pic>
      <p:sp>
        <p:nvSpPr>
          <p:cNvPr id="5" name="Texto 5"/>
          <p:cNvSpPr txBox="1"/>
          <p:nvPr/>
        </p:nvSpPr>
        <p:spPr>
          <a:xfrm>
            <a:off x="5806440" y="332841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Cuerpo de válvulas.</a:t>
            </a:r>
          </a:p>
        </p:txBody>
      </p:sp>
      <p:pic>
        <p:nvPicPr>
          <p:cNvPr id="6" name="Figura" descr="Figura"/>
          <p:cNvPicPr>
            <a:picLocks noChangeAspect="1"/>
          </p:cNvPicPr>
          <p:nvPr/>
        </p:nvPicPr>
        <p:blipFill>
          <a:blip r:embed="rId3"/>
          <a:stretch>
            <a:fillRect/>
          </a:stretch>
        </p:blipFill>
        <p:spPr>
          <a:xfrm>
            <a:off x="6855878" y="3657600"/>
            <a:ext cx="1741603" cy="1655064"/>
          </a:xfrm>
          <a:prstGeom prst="rect">
            <a:avLst/>
          </a:prstGeom>
        </p:spPr>
      </p:pic>
      <p:sp>
        <p:nvSpPr>
          <p:cNvPr id="7" name="Texto 7"/>
          <p:cNvSpPr txBox="1"/>
          <p:nvPr/>
        </p:nvSpPr>
        <p:spPr>
          <a:xfrm>
            <a:off x="5806440" y="534009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Válvula manual y corredera.</a:t>
            </a:r>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VÁLVULAS DEL CUERPO SUPERIOR E INFERIOR.</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Posición de las válvulas en un cuerpo de válvulas real (manual de servicio). Al desarmarlo se debe respetar la posición de cada válvula, muelle y bola de retención.</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577654"/>
            <a:ext cx="4206240" cy="2580515"/>
          </a:xfrm>
          <a:prstGeom prst="rect">
            <a:avLst/>
          </a:prstGeom>
        </p:spPr>
      </p:pic>
      <p:sp>
        <p:nvSpPr>
          <p:cNvPr id="5" name="Texto 5"/>
          <p:cNvSpPr txBox="1"/>
          <p:nvPr/>
        </p:nvSpPr>
        <p:spPr>
          <a:xfrm>
            <a:off x="1005840" y="5185601"/>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Cuerpo superior.</a:t>
            </a:r>
          </a:p>
        </p:txBody>
      </p:sp>
      <p:pic>
        <p:nvPicPr>
          <p:cNvPr id="6" name="Figura" descr="Figura"/>
          <p:cNvPicPr>
            <a:picLocks noChangeAspect="1"/>
          </p:cNvPicPr>
          <p:nvPr/>
        </p:nvPicPr>
        <p:blipFill>
          <a:blip r:embed="rId3"/>
          <a:stretch>
            <a:fillRect/>
          </a:stretch>
        </p:blipFill>
        <p:spPr>
          <a:xfrm>
            <a:off x="5700735" y="2331720"/>
            <a:ext cx="3594689" cy="3072384"/>
          </a:xfrm>
          <a:prstGeom prst="rect">
            <a:avLst/>
          </a:prstGeom>
        </p:spPr>
      </p:pic>
      <p:sp>
        <p:nvSpPr>
          <p:cNvPr id="7" name="Texto 7"/>
          <p:cNvSpPr txBox="1"/>
          <p:nvPr/>
        </p:nvSpPr>
        <p:spPr>
          <a:xfrm>
            <a:off x="5394960" y="5431536"/>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Cuerpo inferior.</a:t>
            </a:r>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SERVOS Y ACUMULADORES.</a:t>
            </a:r>
          </a:p>
        </p:txBody>
      </p:sp>
      <p:sp>
        <p:nvSpPr>
          <p:cNvPr id="3" name="2 Marcador de contenido"/>
          <p:cNvSpPr>
            <a:spLocks noGrp="1"/>
          </p:cNvSpPr>
          <p:nvPr>
            <p:ph idx="1"/>
          </p:nvPr>
        </p:nvSpPr>
        <p:spPr/>
        <p:txBody>
          <a:bodyPr anchor="t">
            <a:normAutofit/>
          </a:bodyPr>
          <a:lstStyle/>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Servos: </a:t>
            </a:r>
            <a:r>
              <a:rPr lang="es-EC" sz="1400" dirty="0">
                <a:solidFill>
                  <a:schemeClr val="tx1">
                    <a:lumMod val="75000"/>
                    <a:lumOff val="25000"/>
                  </a:schemeClr>
                </a:solidFill>
                <a:latin typeface="Arial Narrow" pitchFamily="34" charset="0"/>
              </a:rPr>
              <a:t>cilindro con émbolo y muelle que aprieta o libera la banda de freno. La presión de aplicación empuja el émbolo; en algunos diseños una presión de liberación ayuda al muelle a soltarla rápidamente.</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Acumuladores: </a:t>
            </a:r>
            <a:r>
              <a:rPr lang="es-EC" sz="1400" dirty="0">
                <a:solidFill>
                  <a:schemeClr val="tx1">
                    <a:lumMod val="75000"/>
                    <a:lumOff val="25000"/>
                  </a:schemeClr>
                </a:solidFill>
                <a:latin typeface="Arial Narrow" pitchFamily="34" charset="0"/>
              </a:rPr>
              <a:t>cilindros con émbolo y muelle conectados en paralelo con cada embrague o freno. Al aplicar el elemento, parte del aceite llena primero el acumulador, de modo que la presión sube de forma progresiva y el cambio es suave.</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Bolas de retención (check): </a:t>
            </a:r>
            <a:r>
              <a:rPr lang="es-EC" sz="1400" dirty="0">
                <a:solidFill>
                  <a:schemeClr val="tx1">
                    <a:lumMod val="75000"/>
                    <a:lumOff val="25000"/>
                  </a:schemeClr>
                </a:solidFill>
                <a:latin typeface="Arial Narrow" pitchFamily="34" charset="0"/>
              </a:rPr>
              <a:t>permiten el paso de aceite en un sentido y obligan a pasar por un calibre en el otro: controlan la velocidad de aplicación y liberación.</a:t>
            </a:r>
            <a:endParaRPr lang="es-EC" sz="1400" dirty="0">
              <a:solidFill>
                <a:schemeClr val="tx1">
                  <a:lumMod val="75000"/>
                  <a:lumOff val="25000"/>
                </a:schemeClr>
              </a:solidFill>
              <a:latin typeface="Arial Narrow" pitchFamily="34" charset="0"/>
            </a:endParaRPr>
          </a:p>
          <a:p>
            <a:pPr algn="just">
              <a:lnSpc>
                <a:spcPct val="130000"/>
              </a:lnSpc>
              <a:spcBef>
                <a:spcPts val="9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Un acumulador agarrotado o un muelle roto produce cambios bruscos; una bola perdida al desarmar el cuerpo de válvulas cambia el comportamiento de toda la caja.</a:t>
            </a:r>
            <a:endParaRPr lang="es-EC" sz="14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 ACEITE ATF.</a:t>
            </a:r>
          </a:p>
        </p:txBody>
      </p:sp>
      <p:sp>
        <p:nvSpPr>
          <p:cNvPr id="3" name="2 Marcador de contenido"/>
          <p:cNvSpPr>
            <a:spLocks noGrp="1"/>
          </p:cNvSpPr>
          <p:nvPr>
            <p:ph idx="1"/>
          </p:nvPr>
        </p:nvSpPr>
        <p:spPr>
          <a:xfrm>
            <a:off x="1005840" y="1600200"/>
            <a:ext cx="8595360" cy="640080"/>
          </a:xfrm>
        </p:spPr>
        <p:txBody>
          <a:bodyPr anchor="t">
            <a:normAutofit/>
          </a:bodyPr>
          <a:lstStyle/>
          <a:p>
            <a:pPr algn="just">
              <a:lnSpc>
                <a:spcPct val="115000"/>
              </a:lnSpc>
              <a:spcBef>
                <a:spcPts val="0"/>
              </a:spcBef>
              <a:buNone/>
            </a:pPr>
            <a:r>
              <a:rPr lang="es-EC" sz="1350" dirty="0">
                <a:solidFill>
                  <a:schemeClr val="tx1">
                    <a:lumMod val="75000"/>
                    <a:lumOff val="25000"/>
                  </a:schemeClr>
                </a:solidFill>
                <a:latin typeface="Arial Narrow" pitchFamily="34" charset="0"/>
              </a:rPr>
              <a:t>El ATF es un aceite de baja viscosidad con aditivos específicos (Dexron, Mercon, ATF+4, JWS, etc.). No son intercambiables: un ATF incorrecto produce patinamiento, tirones o vibración del lock-up.</a:t>
            </a:r>
            <a:endParaRPr lang="es-EC" sz="1350" dirty="0">
              <a:solidFill>
                <a:schemeClr val="tx1">
                  <a:lumMod val="75000"/>
                  <a:lumOff val="25000"/>
                </a:schemeClr>
              </a:solidFill>
              <a:latin typeface="Arial Narrow" pitchFamily="34" charset="0"/>
            </a:endParaRPr>
          </a:p>
        </p:txBody>
      </p:sp>
      <p:graphicFrame>
        <p:nvGraphicFramePr>
          <p:cNvPr id="4" name="Tabla 4"/>
          <p:cNvGraphicFramePr>
            <a:graphicFrameLocks noGrp="1"/>
          </p:cNvGraphicFramePr>
          <p:nvPr/>
        </p:nvGraphicFramePr>
        <p:xfrm>
          <a:off x="1005840" y="2240280"/>
          <a:ext cx="8595360" cy="2743200"/>
        </p:xfrm>
        <a:graphic>
          <a:graphicData uri="http://schemas.openxmlformats.org/drawingml/2006/table">
            <a:tbl>
              <a:tblPr firstRow="1" bandRow="1"/>
              <a:tblGrid>
                <a:gridCol w="2011680"/>
                <a:gridCol w="6583680"/>
              </a:tblGrid>
              <a:tr h="457200">
                <a:tc>
                  <a:txBody>
                    <a:bodyPr/>
                    <a:lstStyle/>
                    <a:p>
                      <a:pPr algn="ctr"/>
                      <a:r>
                        <a:rPr lang="es-EC" sz="1200" b="1" dirty="0">
                          <a:solidFill>
                            <a:schemeClr val="bg1"/>
                          </a:solidFill>
                          <a:latin typeface="Arial Narrow" pitchFamily="34" charset="0"/>
                        </a:rPr>
                        <a:t>Función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200" b="1" dirty="0">
                          <a:solidFill>
                            <a:schemeClr val="bg1"/>
                          </a:solidFill>
                          <a:latin typeface="Arial Narrow" pitchFamily="34" charset="0"/>
                        </a:rPr>
                        <a:t>Detalle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457200">
                <a:tc>
                  <a:txBody>
                    <a:bodyPr/>
                    <a:lstStyle/>
                    <a:p>
                      <a:pPr algn="l"/>
                      <a:r>
                        <a:rPr lang="es-EC" sz="1200" b="1" dirty="0">
                          <a:solidFill>
                            <a:schemeClr val="tx1">
                              <a:lumMod val="75000"/>
                              <a:lumOff val="25000"/>
                            </a:schemeClr>
                          </a:solidFill>
                          <a:latin typeface="Arial Narrow" pitchFamily="34" charset="0"/>
                        </a:rPr>
                        <a:t>Transmitir fuerza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En el convertidor de par (energía cinética del aceite)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57200">
                <a:tc>
                  <a:txBody>
                    <a:bodyPr/>
                    <a:lstStyle/>
                    <a:p>
                      <a:pPr algn="l"/>
                      <a:r>
                        <a:rPr lang="es-EC" sz="1200" b="1" dirty="0">
                          <a:solidFill>
                            <a:schemeClr val="tx1">
                              <a:lumMod val="75000"/>
                              <a:lumOff val="25000"/>
                            </a:schemeClr>
                          </a:solidFill>
                          <a:latin typeface="Arial Narrow" pitchFamily="34" charset="0"/>
                        </a:rPr>
                        <a:t>Accionar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Embragues, frenos y servos mediante la presión hidráulica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57200">
                <a:tc>
                  <a:txBody>
                    <a:bodyPr/>
                    <a:lstStyle/>
                    <a:p>
                      <a:pPr algn="l"/>
                      <a:r>
                        <a:rPr lang="es-EC" sz="1200" b="1" dirty="0">
                          <a:solidFill>
                            <a:schemeClr val="tx1">
                              <a:lumMod val="75000"/>
                              <a:lumOff val="25000"/>
                            </a:schemeClr>
                          </a:solidFill>
                          <a:latin typeface="Arial Narrow" pitchFamily="34" charset="0"/>
                        </a:rPr>
                        <a:t>Lubricar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Engranajes, rodamientos, bujes y ruedas libres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57200">
                <a:tc>
                  <a:txBody>
                    <a:bodyPr/>
                    <a:lstStyle/>
                    <a:p>
                      <a:pPr algn="l"/>
                      <a:r>
                        <a:rPr lang="es-EC" sz="1200" b="1" dirty="0">
                          <a:solidFill>
                            <a:schemeClr val="tx1">
                              <a:lumMod val="75000"/>
                              <a:lumOff val="25000"/>
                            </a:schemeClr>
                          </a:solidFill>
                          <a:latin typeface="Arial Narrow" pitchFamily="34" charset="0"/>
                        </a:rPr>
                        <a:t>Refrigerar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Lleva el calor del convertidor y de los embragues al radiador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57200">
                <a:tc>
                  <a:txBody>
                    <a:bodyPr/>
                    <a:lstStyle/>
                    <a:p>
                      <a:pPr algn="l"/>
                      <a:r>
                        <a:rPr lang="es-EC" sz="1200" b="1" dirty="0">
                          <a:solidFill>
                            <a:schemeClr val="tx1">
                              <a:lumMod val="75000"/>
                              <a:lumOff val="25000"/>
                            </a:schemeClr>
                          </a:solidFill>
                          <a:latin typeface="Arial Narrow" pitchFamily="34" charset="0"/>
                        </a:rPr>
                        <a:t>Fricción controlada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Sus aditivos dan a los discos el coeficiente de fricción adecuado para cambios suaves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bl>
          </a:graphicData>
        </a:graphic>
      </p:graphicFrame>
      <p:sp>
        <p:nvSpPr>
          <p:cNvPr id="5" name="Texto 5"/>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Temperatura normal de trabajo 70 – 90 °C. Por encima de unos 120 °C el aceite se degrada rápidamente (olor a quemado, color oscuro).</a:t>
            </a:r>
          </a:p>
        </p:txBody>
      </p:sp>
    </p:spTree>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PRUEBAS FUNCIONALES SIN DESMONTAR LA CAJA (1/2).</a:t>
            </a:r>
          </a:p>
        </p:txBody>
      </p:sp>
      <p:sp>
        <p:nvSpPr>
          <p:cNvPr id="3" name="2 Marcador de contenido"/>
          <p:cNvSpPr>
            <a:spLocks noGrp="1"/>
          </p:cNvSpPr>
          <p:nvPr>
            <p:ph idx="1"/>
          </p:nvPr>
        </p:nvSpPr>
        <p:spPr/>
        <p:txBody>
          <a:bodyPr anchor="t">
            <a:normAutofit/>
          </a:bodyPr>
          <a:lstStyle/>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Nivel y estado del ATF: </a:t>
            </a:r>
            <a:r>
              <a:rPr lang="es-EC" sz="1350" dirty="0">
                <a:solidFill>
                  <a:schemeClr val="tx1">
                    <a:lumMod val="75000"/>
                    <a:lumOff val="25000"/>
                  </a:schemeClr>
                </a:solidFill>
                <a:latin typeface="Arial Narrow" pitchFamily="34" charset="0"/>
              </a:rPr>
              <a:t>con motor al ralentí y ATF a 70 – 80 °C, pasar la palanca por todas las posiciones, volver a P y leer la varilla en la zona HOT (o el procedimiento del tapón de nivel del fabricante). Observar color y olor: oscuro o quemado indica discos dañados; lechoso, entrada de refrigerante.</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Prueba de retardo: </a:t>
            </a:r>
            <a:r>
              <a:rPr lang="es-EC" sz="1350" dirty="0">
                <a:solidFill>
                  <a:schemeClr val="tx1">
                    <a:lumMod val="75000"/>
                    <a:lumOff val="25000"/>
                  </a:schemeClr>
                </a:solidFill>
                <a:latin typeface="Arial Narrow" pitchFamily="34" charset="0"/>
              </a:rPr>
              <a:t>con ATF caliente y ralentí, mover la palanca de N a D y de N a R y medir con cronómetro el tiempo hasta sentir el acople. Normal: menos de 1,2 s en D y de 1,5 s en R. Un tiempo mayor indica baja presión o embragues gastados.</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Presión de línea: </a:t>
            </a:r>
            <a:r>
              <a:rPr lang="es-EC" sz="1350" dirty="0">
                <a:solidFill>
                  <a:schemeClr val="tx1">
                    <a:lumMod val="75000"/>
                    <a:lumOff val="25000"/>
                  </a:schemeClr>
                </a:solidFill>
                <a:latin typeface="Arial Narrow" pitchFamily="34" charset="0"/>
              </a:rPr>
              <a:t>instalar un manómetro (0–30 bar) en la toma de la caja y medir al ralentí y en calado en D y R; comparar con la especificación.</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PRUEBAS FUNCIONALES SIN DESMONTAR LA CAJA (2/2).</a:t>
            </a:r>
          </a:p>
        </p:txBody>
      </p:sp>
      <p:sp>
        <p:nvSpPr>
          <p:cNvPr id="3" name="2 Marcador de contenido"/>
          <p:cNvSpPr>
            <a:spLocks noGrp="1"/>
          </p:cNvSpPr>
          <p:nvPr>
            <p:ph idx="1"/>
          </p:nvPr>
        </p:nvSpPr>
        <p:spPr/>
        <p:txBody>
          <a:bodyPr anchor="t">
            <a:normAutofit/>
          </a:bodyPr>
          <a:lstStyle/>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Prueba de calado (stall test): </a:t>
            </a:r>
            <a:r>
              <a:rPr lang="es-EC" sz="1350" dirty="0">
                <a:solidFill>
                  <a:schemeClr val="tx1">
                    <a:lumMod val="75000"/>
                    <a:lumOff val="25000"/>
                  </a:schemeClr>
                </a:solidFill>
                <a:latin typeface="Arial Narrow" pitchFamily="34" charset="0"/>
              </a:rPr>
              <a:t>calzar las ruedas, aplicar freno de estacionamiento y de servicio a fondo, seleccionar D y acelerar a fondo durante no más de 5 segundos; leer el régimen máximo. Dejar enfriar el ATF en N a unas 1000 rpm al menos un minuto y repetir en R.</a:t>
            </a:r>
            <a:endParaRPr lang="es-EC" sz="1350" dirty="0">
              <a:solidFill>
                <a:schemeClr val="tx1">
                  <a:lumMod val="75000"/>
                  <a:lumOff val="25000"/>
                </a:schemeClr>
              </a:solidFill>
              <a:latin typeface="Arial Narrow" pitchFamily="34" charset="0"/>
            </a:endParaRPr>
          </a:p>
          <a:p>
            <a:pPr algn="just">
              <a:lnSpc>
                <a:spcPct val="130000"/>
              </a:lnSpc>
              <a:spcBef>
                <a:spcPts val="5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Solo con el docente presente y el vehículo bien inmovilizado; nadie delante ni detrás del vehículo.</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Prueba en carretera: </a:t>
            </a:r>
            <a:r>
              <a:rPr lang="es-EC" sz="1350" dirty="0">
                <a:solidFill>
                  <a:schemeClr val="tx1">
                    <a:lumMod val="75000"/>
                    <a:lumOff val="25000"/>
                  </a:schemeClr>
                </a:solidFill>
                <a:latin typeface="Arial Narrow" pitchFamily="34" charset="0"/>
              </a:rPr>
              <a:t>registrar la velocidad y el régimen de cada cambio ascendente y descendente, el kick-down y el acople del lock-up.</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INTERPRETACIÓN DE LA PRUEBA DE CALADO.</a:t>
            </a:r>
          </a:p>
        </p:txBody>
      </p:sp>
      <p:graphicFrame>
        <p:nvGraphicFramePr>
          <p:cNvPr id="3" name="Tabla 3"/>
          <p:cNvGraphicFramePr>
            <a:graphicFrameLocks noGrp="1"/>
          </p:cNvGraphicFramePr>
          <p:nvPr/>
        </p:nvGraphicFramePr>
        <p:xfrm>
          <a:off x="1005840" y="1691640"/>
          <a:ext cx="8595360" cy="3017520"/>
        </p:xfrm>
        <a:graphic>
          <a:graphicData uri="http://schemas.openxmlformats.org/drawingml/2006/table">
            <a:tbl>
              <a:tblPr firstRow="1" bandRow="1"/>
              <a:tblGrid>
                <a:gridCol w="3291840"/>
                <a:gridCol w="5303520"/>
              </a:tblGrid>
              <a:tr h="502920">
                <a:tc>
                  <a:txBody>
                    <a:bodyPr/>
                    <a:lstStyle/>
                    <a:p>
                      <a:pPr algn="ctr"/>
                      <a:r>
                        <a:rPr lang="es-EC" sz="1200" b="1" dirty="0">
                          <a:solidFill>
                            <a:schemeClr val="bg1"/>
                          </a:solidFill>
                          <a:latin typeface="Arial Narrow" pitchFamily="34" charset="0"/>
                        </a:rPr>
                        <a:t>Resultado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200" b="1" dirty="0">
                          <a:solidFill>
                            <a:schemeClr val="bg1"/>
                          </a:solidFill>
                          <a:latin typeface="Arial Narrow" pitchFamily="34" charset="0"/>
                        </a:rPr>
                        <a:t>Posible causa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200" b="1" dirty="0">
                          <a:solidFill>
                            <a:schemeClr val="tx1">
                              <a:lumMod val="75000"/>
                              <a:lumOff val="25000"/>
                            </a:schemeClr>
                          </a:solidFill>
                          <a:latin typeface="Arial Narrow" pitchFamily="34" charset="0"/>
                        </a:rPr>
                        <a:t>Régimen igual al especificado en D y en 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Convertidor, embragues y frenos correctos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200" b="1" dirty="0">
                          <a:solidFill>
                            <a:schemeClr val="tx1">
                              <a:lumMod val="75000"/>
                              <a:lumOff val="25000"/>
                            </a:schemeClr>
                          </a:solidFill>
                          <a:latin typeface="Arial Narrow" pitchFamily="34" charset="0"/>
                        </a:rPr>
                        <a:t>Régimen alto en D</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Embrague de marcha adelante o rueda libre patinan; presión de línea baja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200" b="1" dirty="0">
                          <a:solidFill>
                            <a:schemeClr val="tx1">
                              <a:lumMod val="75000"/>
                              <a:lumOff val="25000"/>
                            </a:schemeClr>
                          </a:solidFill>
                          <a:latin typeface="Arial Narrow" pitchFamily="34" charset="0"/>
                        </a:rPr>
                        <a:t>Régimen alto en 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Embrague directo o freno de baja/marcha atrás patinan; presión de línea baja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200" b="1" dirty="0">
                          <a:solidFill>
                            <a:schemeClr val="tx1">
                              <a:lumMod val="75000"/>
                              <a:lumOff val="25000"/>
                            </a:schemeClr>
                          </a:solidFill>
                          <a:latin typeface="Arial Narrow" pitchFamily="34" charset="0"/>
                        </a:rPr>
                        <a:t>Régimen alto en D y en 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200" dirty="0">
                          <a:solidFill>
                            <a:schemeClr val="tx1">
                              <a:lumMod val="75000"/>
                              <a:lumOff val="25000"/>
                            </a:schemeClr>
                          </a:solidFill>
                          <a:latin typeface="Arial Narrow" pitchFamily="34" charset="0"/>
                        </a:rPr>
                        <a:t>Presión de línea baja; nivel de ATF incorrecto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200" b="1" dirty="0">
                          <a:solidFill>
                            <a:schemeClr val="tx1">
                              <a:lumMod val="75000"/>
                              <a:lumOff val="25000"/>
                            </a:schemeClr>
                          </a:solidFill>
                          <a:latin typeface="Arial Narrow" pitchFamily="34" charset="0"/>
                        </a:rPr>
                        <a:t>Régimen bajo en D y en 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200" dirty="0">
                          <a:solidFill>
                            <a:schemeClr val="tx1">
                              <a:lumMod val="75000"/>
                              <a:lumOff val="25000"/>
                            </a:schemeClr>
                          </a:solidFill>
                          <a:latin typeface="Arial Narrow" pitchFamily="34" charset="0"/>
                        </a:rPr>
                        <a:t>Motor con poca potencia o rueda libre del reactor patinando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Valores de referencia en el manual del fabricante (típicamente 2000 a 2800 rpm).</a:t>
            </a:r>
          </a:p>
        </p:txBody>
      </p:sp>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5214" y="533400"/>
            <a:ext cx="7848598" cy="2514601"/>
          </a:xfrm>
        </p:spPr>
        <p:txBody>
          <a:bodyPr rtlCol="0"/>
          <a:lstStyle/>
          <a:p>
            <a:pPr rtl="0"/>
            <a:r>
              <a:rPr lang="es-ES" dirty="0"/>
              <a:t>Instituto Tecnológico Superior Sudamericano</a:t>
            </a:r>
          </a:p>
        </p:txBody>
      </p:sp>
      <p:sp>
        <p:nvSpPr>
          <p:cNvPr id="3" name="Subtítulo 2"/>
          <p:cNvSpPr>
            <a:spLocks noGrp="1"/>
          </p:cNvSpPr>
          <p:nvPr>
            <p:ph type="subTitle" idx="1"/>
          </p:nvPr>
        </p:nvSpPr>
        <p:spPr>
          <a:xfrm>
            <a:off x="1065212" y="3403600"/>
            <a:ext cx="6324600" cy="1397000"/>
          </a:xfrm>
        </p:spPr>
        <p:txBody>
          <a:bodyPr rtlCol="0"/>
          <a:lstStyle/>
          <a:p>
            <a:pPr rtl="0"/>
            <a:r>
              <a:rPr lang="es-ES" dirty="0"/>
              <a:t>UNIDAD 3 · PARTE 5: TRANSMISIONES AUTOMÁTICAS ASISTIDAS ELECTRÓNICAMENTE</a:t>
            </a:r>
          </a:p>
        </p:txBody>
      </p:sp>
      <p:sp>
        <p:nvSpPr>
          <p:cNvPr id="6" name="Subtítulo 2"/>
          <p:cNvSpPr txBox="1">
            <a:spLocks/>
          </p:cNvSpPr>
          <p:nvPr/>
        </p:nvSpPr>
        <p:spPr>
          <a:xfrm>
            <a:off x="1065212" y="4495800"/>
            <a:ext cx="6324600" cy="1397000"/>
          </a:xfrm>
          <a:prstGeom prst="rect">
            <a:avLst/>
          </a:prstGeom>
        </p:spPr>
        <p:txBody>
          <a:bodyPr vert="horz" lIns="91440" tIns="45720" rIns="91440" bIns="45720" rtlCol="0">
            <a:noAutofit/>
          </a:bodyPr>
          <a:lstStyle/>
          <a:p>
            <a:endParaRPr lang="es-EC" sz="1600" dirty="0">
              <a:solidFill>
                <a:schemeClr val="bg2">
                  <a:lumMod val="50000"/>
                </a:schemeClr>
              </a:solidFill>
            </a:endParaRPr>
          </a:p>
          <a:p>
            <a:r>
              <a:rPr lang="es-EC" sz="1600" dirty="0">
                <a:solidFill>
                  <a:schemeClr val="bg2">
                    <a:lumMod val="50000"/>
                  </a:schemeClr>
                </a:solidFill>
              </a:rPr>
              <a:t>MIGUEL ANGEL MINGA GONZÁLEZ.</a:t>
            </a:r>
          </a:p>
          <a:p>
            <a:r>
              <a:rPr lang="es-EC" sz="1600" dirty="0">
                <a:solidFill>
                  <a:schemeClr val="bg2">
                    <a:lumMod val="50000"/>
                  </a:schemeClr>
                </a:solidFill>
              </a:rPr>
              <a:t>Ingeniero Mecánico Automotriz</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INTRODUCCIÓN Y TEORÍA DE OPERACIÓN.</a:t>
            </a:r>
          </a:p>
        </p:txBody>
      </p:sp>
      <p:sp>
        <p:nvSpPr>
          <p:cNvPr id="3" name="2 Marcador de contenido"/>
          <p:cNvSpPr>
            <a:spLocks noGrp="1"/>
          </p:cNvSpPr>
          <p:nvPr>
            <p:ph idx="1"/>
          </p:nvPr>
        </p:nvSpPr>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las cajas asistidas electrónicamente, una unidad de control de la transmisión (TCM, independiente o integrada en el PCM) decide el momento del cambio, la presión de aplicación y el acople del lock-up.</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Entradas: </a:t>
            </a:r>
            <a:r>
              <a:rPr lang="es-EC" sz="1350" dirty="0">
                <a:solidFill>
                  <a:schemeClr val="tx1">
                    <a:lumMod val="75000"/>
                    <a:lumOff val="25000"/>
                  </a:schemeClr>
                </a:solidFill>
                <a:latin typeface="Arial Narrow" pitchFamily="34" charset="0"/>
              </a:rPr>
              <a:t>velocidad de turbina y de salida, posición del acelerador y par motor (por CAN), temperatura del ATF, rango de la palanca, freno, kick-down y modo de conducción.</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Procesamiento: </a:t>
            </a:r>
            <a:r>
              <a:rPr lang="es-EC" sz="1350" dirty="0">
                <a:solidFill>
                  <a:schemeClr val="tx1">
                    <a:lumMod val="75000"/>
                    <a:lumOff val="25000"/>
                  </a:schemeClr>
                </a:solidFill>
                <a:latin typeface="Arial Narrow" pitchFamily="34" charset="0"/>
              </a:rPr>
              <a:t>la TCM compara las señales con sus mapas de cambio (económico, deportivo, invierno) y con valores adaptados al desgaste.</a:t>
            </a:r>
            <a:endParaRPr lang="es-EC" sz="135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350" b="1" dirty="0">
                <a:solidFill>
                  <a:schemeClr val="accent1">
                    <a:lumMod val="75000"/>
                  </a:schemeClr>
                </a:solidFill>
                <a:latin typeface="Arial Narrow" pitchFamily="34" charset="0"/>
              </a:rPr>
              <a:t xml:space="preserve">Salidas: </a:t>
            </a:r>
            <a:r>
              <a:rPr lang="es-EC" sz="1350" dirty="0">
                <a:solidFill>
                  <a:schemeClr val="tx1">
                    <a:lumMod val="75000"/>
                    <a:lumOff val="25000"/>
                  </a:schemeClr>
                </a:solidFill>
                <a:latin typeface="Arial Narrow" pitchFamily="34" charset="0"/>
              </a:rPr>
              <a:t>electroválvulas de cambio (on/off), electroválvulas moduladoras de presión (PWM) y del lock-up; mensajes CAN para reducir el par del motor durante el cambio.</a:t>
            </a:r>
            <a:endParaRPr lang="es-EC" sz="1350" dirty="0">
              <a:solidFill>
                <a:schemeClr val="tx1">
                  <a:lumMod val="75000"/>
                  <a:lumOff val="25000"/>
                </a:schemeClr>
              </a:solidFill>
              <a:latin typeface="Arial Narrow" pitchFamily="34" charset="0"/>
            </a:endParaRPr>
          </a:p>
          <a:p>
            <a:pPr algn="just">
              <a:lnSpc>
                <a:spcPct val="130000"/>
              </a:lnSpc>
              <a:spcBef>
                <a:spcPts val="700"/>
              </a:spcBef>
              <a:buNone/>
            </a:pPr>
            <a:r>
              <a:rPr lang="es-EC" sz="1350" dirty="0">
                <a:solidFill>
                  <a:schemeClr val="tx1">
                    <a:lumMod val="75000"/>
                    <a:lumOff val="25000"/>
                  </a:schemeClr>
                </a:solidFill>
                <a:latin typeface="Arial Narrow" pitchFamily="34" charset="0"/>
              </a:rPr>
              <a:t xml:space="preserve">	</a:t>
            </a:r>
            <a:r>
              <a:rPr lang="es-EC" sz="1350" dirty="0">
                <a:solidFill>
                  <a:schemeClr val="tx1">
                    <a:lumMod val="75000"/>
                    <a:lumOff val="25000"/>
                  </a:schemeClr>
                </a:solidFill>
                <a:latin typeface="Arial Narrow" pitchFamily="34" charset="0"/>
              </a:rPr>
              <a:t>El cuerpo de válvulas sigue siendo hidráulico: la electrónica solo sustituye a las señales hidráulicas de velocidad y carga. El estudio detallado de sensores, actuadores y diagnóstico corresponde a la Unidad 4.</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ELEMENTOS DEL CONTROL ELECTRÓNICO EN LA CAJA.</a:t>
            </a:r>
          </a:p>
        </p:txBody>
      </p:sp>
      <p:sp>
        <p:nvSpPr>
          <p:cNvPr id="3" name="2 Marcador de contenido"/>
          <p:cNvSpPr>
            <a:spLocks noGrp="1"/>
          </p:cNvSpPr>
          <p:nvPr>
            <p:ph idx="1"/>
          </p:nvPr>
        </p:nvSpPr>
        <p:spPr>
          <a:xfrm>
            <a:off x="1005840" y="1645920"/>
            <a:ext cx="4572000" cy="4069080"/>
          </a:xfrm>
        </p:spPr>
        <p:txBody>
          <a:bodyPr anchor="t">
            <a:normAutofit/>
          </a:bodyPr>
          <a:lstStyle/>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Las electroválvulas se montan sobre el cuerpo de válvulas, por fuera, para poder sustituirlas en el servicio. Una lámina conductora (o mazo) las une al conector de la caja.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En las cajas modernas la unidad de control va integrada sobre el propio cuerpo de válvulas (mecatrónica), con los sensores de velocidad, presión y temperatura.</a:t>
            </a:r>
            <a:endParaRPr lang="es-EC" sz="1400" dirty="0">
              <a:solidFill>
                <a:schemeClr val="tx1">
                  <a:lumMod val="75000"/>
                  <a:lumOff val="25000"/>
                </a:schemeClr>
              </a:solidFill>
              <a:latin typeface="Arial Narrow" pitchFamily="34" charset="0"/>
            </a:endParaRPr>
          </a:p>
          <a:p>
            <a:pPr algn="just">
              <a:lnSpc>
                <a:spcPct val="130000"/>
              </a:lnSpc>
              <a:spcBef>
                <a:spcPts val="500"/>
              </a:spcBef>
              <a:buNone/>
            </a:pPr>
            <a:r>
              <a:rPr lang="es-EC" sz="1400" dirty="0">
                <a:solidFill>
                  <a:schemeClr val="tx1">
                    <a:lumMod val="75000"/>
                    <a:lumOff val="25000"/>
                  </a:schemeClr>
                </a:solidFill>
                <a:latin typeface="Arial Narrow" pitchFamily="34" charset="0"/>
              </a:rPr>
              <a:t xml:space="preserve">	</a:t>
            </a:r>
            <a:r>
              <a:rPr lang="es-EC" sz="1400" dirty="0">
                <a:solidFill>
                  <a:schemeClr val="tx1">
                    <a:lumMod val="75000"/>
                    <a:lumOff val="25000"/>
                  </a:schemeClr>
                </a:solidFill>
                <a:latin typeface="Arial Narrow" pitchFamily="34" charset="0"/>
              </a:rPr>
              <a:t>La unidad hidráulica sigue unida mecánicamente a la palanca selectora mediante la corredera manual: si falla la electrónica, la caja funciona en modo de emergencia con una marcha fija.</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5806440" y="1790049"/>
            <a:ext cx="3840480" cy="3424204"/>
          </a:xfrm>
          <a:prstGeom prst="rect">
            <a:avLst/>
          </a:prstGeom>
        </p:spPr>
      </p:pic>
      <p:sp>
        <p:nvSpPr>
          <p:cNvPr id="5" name="Texto 5"/>
          <p:cNvSpPr txBox="1"/>
          <p:nvPr/>
        </p:nvSpPr>
        <p:spPr>
          <a:xfrm>
            <a:off x="5806440" y="5241686"/>
            <a:ext cx="38404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Unidad hidráulica con electroválvulas y lámina conductora de señales.</a:t>
            </a:r>
          </a:p>
        </p:txBody>
      </p:sp>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DIFERENCIAS: MANDO HIDRÁULICO FRENTE A MANDO ELECTRÓNICO.</a:t>
            </a:r>
          </a:p>
        </p:txBody>
      </p:sp>
      <p:graphicFrame>
        <p:nvGraphicFramePr>
          <p:cNvPr id="3" name="Tabla 3"/>
          <p:cNvGraphicFramePr>
            <a:graphicFrameLocks noGrp="1"/>
          </p:cNvGraphicFramePr>
          <p:nvPr/>
        </p:nvGraphicFramePr>
        <p:xfrm>
          <a:off x="1005840" y="1691640"/>
          <a:ext cx="8595360" cy="3520440"/>
        </p:xfrm>
        <a:graphic>
          <a:graphicData uri="http://schemas.openxmlformats.org/drawingml/2006/table">
            <a:tbl>
              <a:tblPr firstRow="1" bandRow="1"/>
              <a:tblGrid>
                <a:gridCol w="1828800"/>
                <a:gridCol w="3383280"/>
                <a:gridCol w="3383280"/>
              </a:tblGrid>
              <a:tr h="502920">
                <a:tc>
                  <a:txBody>
                    <a:bodyPr/>
                    <a:lstStyle/>
                    <a:p>
                      <a:pPr algn="ctr"/>
                      <a:r>
                        <a:rPr lang="es-EC" sz="1150" b="1" dirty="0">
                          <a:solidFill>
                            <a:schemeClr val="bg1"/>
                          </a:solidFill>
                          <a:latin typeface="Arial Narrow" pitchFamily="34" charset="0"/>
                        </a:rPr>
                        <a:t>Aspecto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Sin asistencia electrónica (hidráulica)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Asistida electrónicamente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150" b="1" dirty="0">
                          <a:solidFill>
                            <a:schemeClr val="tx1">
                              <a:lumMod val="75000"/>
                              <a:lumOff val="25000"/>
                            </a:schemeClr>
                          </a:solidFill>
                          <a:latin typeface="Arial Narrow" pitchFamily="34" charset="0"/>
                        </a:rPr>
                        <a:t>Señal de velocidad</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Válvula reguladora centrífuga (governor) en el eje de salida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Sensores de velocidad de entrada y salida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Señal de carga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Válvula de mariposa (throttle) unida por cable al acelerador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Sensor del acelerador y par motor por CAN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Decisión del cambio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Equilibrio de presiones en las válvulas de cambio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Mapas de la TCM con varios programas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Calidad del cambio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Fija; depende de muelles y acumuladores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Adaptativa; modulación de presión y reducción de par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Lock-up</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Inexistente o hidráulico simple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Controlado con deslizamiento regulado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Diagnóstico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Pruebas de presión y en carretera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Además DTC, datos en vivo y modo de emergencia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TIPOS DE SISTEMAS: CAJAS LONGITUDINALES Y TRANSVERSALES.</a:t>
            </a:r>
          </a:p>
        </p:txBody>
      </p:sp>
      <p:graphicFrame>
        <p:nvGraphicFramePr>
          <p:cNvPr id="3" name="Tabla 3"/>
          <p:cNvGraphicFramePr>
            <a:graphicFrameLocks noGrp="1"/>
          </p:cNvGraphicFramePr>
          <p:nvPr/>
        </p:nvGraphicFramePr>
        <p:xfrm>
          <a:off x="1005840" y="1691640"/>
          <a:ext cx="8595360" cy="3017520"/>
        </p:xfrm>
        <a:graphic>
          <a:graphicData uri="http://schemas.openxmlformats.org/drawingml/2006/table">
            <a:tbl>
              <a:tblPr firstRow="1" bandRow="1"/>
              <a:tblGrid>
                <a:gridCol w="1828800"/>
                <a:gridCol w="3383280"/>
                <a:gridCol w="3383280"/>
              </a:tblGrid>
              <a:tr h="502920">
                <a:tc>
                  <a:txBody>
                    <a:bodyPr/>
                    <a:lstStyle/>
                    <a:p>
                      <a:pPr algn="ctr"/>
                      <a:r>
                        <a:rPr lang="es-EC" sz="1150" b="1" dirty="0">
                          <a:solidFill>
                            <a:schemeClr val="bg1"/>
                          </a:solidFill>
                          <a:latin typeface="Arial Narrow" pitchFamily="34" charset="0"/>
                        </a:rPr>
                        <a:t>Característica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Longitudinal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50" b="1" dirty="0">
                          <a:solidFill>
                            <a:schemeClr val="bg1"/>
                          </a:solidFill>
                          <a:latin typeface="Arial Narrow" pitchFamily="34" charset="0"/>
                        </a:rPr>
                        <a:t>Transversal (transeje)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502920">
                <a:tc>
                  <a:txBody>
                    <a:bodyPr/>
                    <a:lstStyle/>
                    <a:p>
                      <a:pPr algn="l"/>
                      <a:r>
                        <a:rPr lang="es-EC" sz="1150" b="1" dirty="0">
                          <a:solidFill>
                            <a:schemeClr val="tx1">
                              <a:lumMod val="75000"/>
                              <a:lumOff val="25000"/>
                            </a:schemeClr>
                          </a:solidFill>
                          <a:latin typeface="Arial Narrow" pitchFamily="34" charset="0"/>
                        </a:rPr>
                        <a:t>Vehículo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Propulsión trasera (FR) y 4x4</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Tracción delantera (FF) con motor transversal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Disposición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Convertidor, trenes y eje de salida alineados en un mismo eje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Ejes paralelos; el par pasa por engranajes o cadena de transferencia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Diferencial</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Separado, en el puente trasero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Integrado en la misma carcasa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502920">
                <a:tc>
                  <a:txBody>
                    <a:bodyPr/>
                    <a:lstStyle/>
                    <a:p>
                      <a:pPr algn="l"/>
                      <a:r>
                        <a:rPr lang="es-EC" sz="1150" b="1" dirty="0">
                          <a:solidFill>
                            <a:schemeClr val="tx1">
                              <a:lumMod val="75000"/>
                              <a:lumOff val="25000"/>
                            </a:schemeClr>
                          </a:solidFill>
                          <a:latin typeface="Arial Narrow" pitchFamily="34" charset="0"/>
                        </a:rPr>
                        <a:t>Trenes típicos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Simpson, Ravigneaux o Lepelletier de 4 a 10 marchas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50" dirty="0">
                          <a:solidFill>
                            <a:schemeClr val="tx1">
                              <a:lumMod val="75000"/>
                              <a:lumOff val="25000"/>
                            </a:schemeClr>
                          </a:solidFill>
                          <a:latin typeface="Arial Narrow" pitchFamily="34" charset="0"/>
                        </a:rPr>
                        <a:t>Simpson o Ravigneaux compactos de 4 a 9 marchas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502920">
                <a:tc>
                  <a:txBody>
                    <a:bodyPr/>
                    <a:lstStyle/>
                    <a:p>
                      <a:pPr algn="l"/>
                      <a:r>
                        <a:rPr lang="es-EC" sz="1150" b="1" dirty="0">
                          <a:solidFill>
                            <a:schemeClr val="tx1">
                              <a:lumMod val="75000"/>
                              <a:lumOff val="25000"/>
                            </a:schemeClr>
                          </a:solidFill>
                          <a:latin typeface="Arial Narrow" pitchFamily="34" charset="0"/>
                        </a:rPr>
                        <a:t>Ejemplos de taller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Caja Ford longitudinal (práctica 7)</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50" dirty="0">
                          <a:solidFill>
                            <a:schemeClr val="tx1">
                              <a:lumMod val="75000"/>
                              <a:lumOff val="25000"/>
                            </a:schemeClr>
                          </a:solidFill>
                          <a:latin typeface="Arial Narrow" pitchFamily="34" charset="0"/>
                        </a:rPr>
                        <a:t>Mitsubishi F4A41/F4A42/F4A51 (práctica 7)</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bl>
          </a:graphicData>
        </a:graphic>
      </p:graphicFrame>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CAJAS LONGITUDINAL Y TRANSVERSAL DEL TALLER.</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Funcionamiento y características: en ambas el control electrónico gestiona los cambios; la diferencia está en la disposición de los ejes y la integración del diferencial.</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461557"/>
            <a:ext cx="4206240" cy="2812709"/>
          </a:xfrm>
          <a:prstGeom prst="rect">
            <a:avLst/>
          </a:prstGeom>
        </p:spPr>
      </p:pic>
      <p:sp>
        <p:nvSpPr>
          <p:cNvPr id="5" name="Texto 5"/>
          <p:cNvSpPr txBox="1"/>
          <p:nvPr/>
        </p:nvSpPr>
        <p:spPr>
          <a:xfrm>
            <a:off x="1005840" y="5301698"/>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Caja automática longitudinal en corte.</a:t>
            </a:r>
          </a:p>
        </p:txBody>
      </p:sp>
      <p:pic>
        <p:nvPicPr>
          <p:cNvPr id="6" name="Figura" descr="Figura"/>
          <p:cNvPicPr>
            <a:picLocks noChangeAspect="1"/>
          </p:cNvPicPr>
          <p:nvPr/>
        </p:nvPicPr>
        <p:blipFill>
          <a:blip r:embed="rId3"/>
          <a:stretch>
            <a:fillRect/>
          </a:stretch>
        </p:blipFill>
        <p:spPr>
          <a:xfrm>
            <a:off x="5787909" y="2331720"/>
            <a:ext cx="3420340" cy="3072384"/>
          </a:xfrm>
          <a:prstGeom prst="rect">
            <a:avLst/>
          </a:prstGeom>
        </p:spPr>
      </p:pic>
      <p:sp>
        <p:nvSpPr>
          <p:cNvPr id="7" name="Texto 7"/>
          <p:cNvSpPr txBox="1"/>
          <p:nvPr/>
        </p:nvSpPr>
        <p:spPr>
          <a:xfrm>
            <a:off x="5394960" y="5431536"/>
            <a:ext cx="420624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Transeje automático FF en banco didáctico (G-211502).</a:t>
            </a:r>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INSPECCIÓN DE COMPONENTES: DISCOS Y BOMBA.</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Discos de fricción sin decoloración, manchas ni material desprendido (si uno está mal se cambian todos); discos de acero totalmente planos; bomba y estator sin rayas; bolas check sueltas en sus alojamientos; válvula de alivio en su lugar.</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953774"/>
            <a:ext cx="2011680" cy="1462514"/>
          </a:xfrm>
          <a:prstGeom prst="rect">
            <a:avLst/>
          </a:prstGeom>
        </p:spPr>
      </p:pic>
      <p:sp>
        <p:nvSpPr>
          <p:cNvPr id="5" name="Texto 5"/>
          <p:cNvSpPr txBox="1"/>
          <p:nvPr/>
        </p:nvSpPr>
        <p:spPr>
          <a:xfrm>
            <a:off x="1005840" y="4443721"/>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Arandelas y discos.</a:t>
            </a:r>
          </a:p>
        </p:txBody>
      </p:sp>
      <p:pic>
        <p:nvPicPr>
          <p:cNvPr id="6" name="Figura" descr="Figura"/>
          <p:cNvPicPr>
            <a:picLocks noChangeAspect="1"/>
          </p:cNvPicPr>
          <p:nvPr/>
        </p:nvPicPr>
        <p:blipFill>
          <a:blip r:embed="rId3"/>
          <a:stretch>
            <a:fillRect/>
          </a:stretch>
        </p:blipFill>
        <p:spPr>
          <a:xfrm>
            <a:off x="3200400" y="2879817"/>
            <a:ext cx="2011680" cy="1610428"/>
          </a:xfrm>
          <a:prstGeom prst="rect">
            <a:avLst/>
          </a:prstGeom>
        </p:spPr>
      </p:pic>
      <p:sp>
        <p:nvSpPr>
          <p:cNvPr id="7" name="Texto 7"/>
          <p:cNvSpPr txBox="1"/>
          <p:nvPr/>
        </p:nvSpPr>
        <p:spPr>
          <a:xfrm>
            <a:off x="3200400" y="4517678"/>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Discos de fricción y de acero.</a:t>
            </a:r>
          </a:p>
        </p:txBody>
      </p:sp>
      <p:pic>
        <p:nvPicPr>
          <p:cNvPr id="8" name="Figura" descr="Figura"/>
          <p:cNvPicPr>
            <a:picLocks noChangeAspect="1"/>
          </p:cNvPicPr>
          <p:nvPr/>
        </p:nvPicPr>
        <p:blipFill>
          <a:blip r:embed="rId4"/>
          <a:stretch>
            <a:fillRect/>
          </a:stretch>
        </p:blipFill>
        <p:spPr>
          <a:xfrm>
            <a:off x="5394960" y="2673411"/>
            <a:ext cx="2011680" cy="2023241"/>
          </a:xfrm>
          <a:prstGeom prst="rect">
            <a:avLst/>
          </a:prstGeom>
        </p:spPr>
      </p:pic>
      <p:sp>
        <p:nvSpPr>
          <p:cNvPr id="9" name="Texto 9"/>
          <p:cNvSpPr txBox="1"/>
          <p:nvPr/>
        </p:nvSpPr>
        <p:spPr>
          <a:xfrm>
            <a:off x="5394960" y="4724084"/>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Bomba de aceite.</a:t>
            </a:r>
          </a:p>
        </p:txBody>
      </p:sp>
      <p:pic>
        <p:nvPicPr>
          <p:cNvPr id="10" name="Figura" descr="Figura"/>
          <p:cNvPicPr>
            <a:picLocks noChangeAspect="1"/>
          </p:cNvPicPr>
          <p:nvPr/>
        </p:nvPicPr>
        <p:blipFill>
          <a:blip r:embed="rId5"/>
          <a:stretch>
            <a:fillRect/>
          </a:stretch>
        </p:blipFill>
        <p:spPr>
          <a:xfrm>
            <a:off x="7589520" y="2574164"/>
            <a:ext cx="2011680" cy="2221734"/>
          </a:xfrm>
          <a:prstGeom prst="rect">
            <a:avLst/>
          </a:prstGeom>
        </p:spPr>
      </p:pic>
      <p:sp>
        <p:nvSpPr>
          <p:cNvPr id="11" name="Texto 11"/>
          <p:cNvSpPr txBox="1"/>
          <p:nvPr/>
        </p:nvSpPr>
        <p:spPr>
          <a:xfrm>
            <a:off x="7589520" y="4823331"/>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Muelles de retorno.</a:t>
            </a:r>
          </a:p>
        </p:txBody>
      </p:sp>
    </p:spTree>
  </p:cSld>
  <p:clrMapOvr>
    <a:masterClrMapping/>
  </p:clrMapOvr>
  <p:transition spd="med">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INSPECCIÓN DE COMPONENTES: TAMBORES, TREN Y CUERPO DE VÁLVULAS.</a:t>
            </a:r>
          </a:p>
        </p:txBody>
      </p:sp>
      <p:sp>
        <p:nvSpPr>
          <p:cNvPr id="3" name="2 Marcador de contenido"/>
          <p:cNvSpPr>
            <a:spLocks noGrp="1"/>
          </p:cNvSpPr>
          <p:nvPr>
            <p:ph idx="1"/>
          </p:nvPr>
        </p:nvSpPr>
        <p:spPr>
          <a:xfrm>
            <a:off x="1005840" y="1600200"/>
            <a:ext cx="8595360" cy="685800"/>
          </a:xfrm>
        </p:spPr>
        <p:txBody>
          <a:bodyPr anchor="t">
            <a:normAutofit/>
          </a:bodyPr>
          <a:lstStyle/>
          <a:p>
            <a:pPr algn="just">
              <a:lnSpc>
                <a:spcPct val="120000"/>
              </a:lnSpc>
              <a:spcBef>
                <a:spcPts val="0"/>
              </a:spcBef>
              <a:buNone/>
            </a:pPr>
            <a:r>
              <a:rPr lang="es-EC" sz="1400" dirty="0">
                <a:solidFill>
                  <a:schemeClr val="tx1">
                    <a:lumMod val="75000"/>
                    <a:lumOff val="25000"/>
                  </a:schemeClr>
                </a:solidFill>
                <a:latin typeface="Arial Narrow" pitchFamily="34" charset="0"/>
              </a:rPr>
              <a:t>Tambores sin manchas de calor ni grietas; holgura axial de los satélites 0,20 a 0,61 mm; rueda libre que bloquea en un sentido y gira en el otro; placa separadora sin deformaciones; correderas que se deslizan por su propio peso.</a:t>
            </a:r>
            <a:endParaRPr lang="es-EC" sz="1400" dirty="0">
              <a:solidFill>
                <a:schemeClr val="tx1">
                  <a:lumMod val="75000"/>
                  <a:lumOff val="25000"/>
                </a:schemeClr>
              </a:solidFill>
              <a:latin typeface="Arial Narrow" pitchFamily="34" charset="0"/>
            </a:endParaRPr>
          </a:p>
        </p:txBody>
      </p:sp>
      <p:pic>
        <p:nvPicPr>
          <p:cNvPr id="4" name="Figura" descr="Figura"/>
          <p:cNvPicPr>
            <a:picLocks noChangeAspect="1"/>
          </p:cNvPicPr>
          <p:nvPr/>
        </p:nvPicPr>
        <p:blipFill>
          <a:blip r:embed="rId2"/>
          <a:stretch>
            <a:fillRect/>
          </a:stretch>
        </p:blipFill>
        <p:spPr>
          <a:xfrm>
            <a:off x="1005840" y="2837453"/>
            <a:ext cx="2011680" cy="1695156"/>
          </a:xfrm>
          <a:prstGeom prst="rect">
            <a:avLst/>
          </a:prstGeom>
        </p:spPr>
      </p:pic>
      <p:sp>
        <p:nvSpPr>
          <p:cNvPr id="5" name="Texto 5"/>
          <p:cNvSpPr txBox="1"/>
          <p:nvPr/>
        </p:nvSpPr>
        <p:spPr>
          <a:xfrm>
            <a:off x="1005840" y="4560042"/>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Tambor de embrague.</a:t>
            </a:r>
          </a:p>
        </p:txBody>
      </p:sp>
      <p:pic>
        <p:nvPicPr>
          <p:cNvPr id="6" name="Figura" descr="Figura"/>
          <p:cNvPicPr>
            <a:picLocks noChangeAspect="1"/>
          </p:cNvPicPr>
          <p:nvPr/>
        </p:nvPicPr>
        <p:blipFill>
          <a:blip r:embed="rId3"/>
          <a:stretch>
            <a:fillRect/>
          </a:stretch>
        </p:blipFill>
        <p:spPr>
          <a:xfrm>
            <a:off x="3200400" y="2945639"/>
            <a:ext cx="2011680" cy="1478784"/>
          </a:xfrm>
          <a:prstGeom prst="rect">
            <a:avLst/>
          </a:prstGeom>
        </p:spPr>
      </p:pic>
      <p:sp>
        <p:nvSpPr>
          <p:cNvPr id="7" name="Texto 7"/>
          <p:cNvSpPr txBox="1"/>
          <p:nvPr/>
        </p:nvSpPr>
        <p:spPr>
          <a:xfrm>
            <a:off x="3200400" y="4451856"/>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Conjunto planetario.</a:t>
            </a:r>
          </a:p>
        </p:txBody>
      </p:sp>
      <p:pic>
        <p:nvPicPr>
          <p:cNvPr id="8" name="Figura" descr="Figura"/>
          <p:cNvPicPr>
            <a:picLocks noChangeAspect="1"/>
          </p:cNvPicPr>
          <p:nvPr/>
        </p:nvPicPr>
        <p:blipFill>
          <a:blip r:embed="rId4"/>
          <a:stretch>
            <a:fillRect/>
          </a:stretch>
        </p:blipFill>
        <p:spPr>
          <a:xfrm>
            <a:off x="5394960" y="2773945"/>
            <a:ext cx="2011680" cy="1822173"/>
          </a:xfrm>
          <a:prstGeom prst="rect">
            <a:avLst/>
          </a:prstGeom>
        </p:spPr>
      </p:pic>
      <p:sp>
        <p:nvSpPr>
          <p:cNvPr id="9" name="Texto 9"/>
          <p:cNvSpPr txBox="1"/>
          <p:nvPr/>
        </p:nvSpPr>
        <p:spPr>
          <a:xfrm>
            <a:off x="5394960" y="4623550"/>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Placa separadora.</a:t>
            </a:r>
          </a:p>
        </p:txBody>
      </p:sp>
      <p:pic>
        <p:nvPicPr>
          <p:cNvPr id="10" name="Figura" descr="Figura"/>
          <p:cNvPicPr>
            <a:picLocks noChangeAspect="1"/>
          </p:cNvPicPr>
          <p:nvPr/>
        </p:nvPicPr>
        <p:blipFill>
          <a:blip r:embed="rId5"/>
          <a:stretch>
            <a:fillRect/>
          </a:stretch>
        </p:blipFill>
        <p:spPr>
          <a:xfrm>
            <a:off x="7589520" y="2783604"/>
            <a:ext cx="2011680" cy="1802855"/>
          </a:xfrm>
          <a:prstGeom prst="rect">
            <a:avLst/>
          </a:prstGeom>
        </p:spPr>
      </p:pic>
      <p:sp>
        <p:nvSpPr>
          <p:cNvPr id="11" name="Texto 11"/>
          <p:cNvSpPr txBox="1"/>
          <p:nvPr/>
        </p:nvSpPr>
        <p:spPr>
          <a:xfrm>
            <a:off x="7589520" y="4613891"/>
            <a:ext cx="2011680" cy="292608"/>
          </a:xfrm>
          <a:prstGeom prst="rect">
            <a:avLst/>
          </a:prstGeom>
          <a:noFill/>
        </p:spPr>
        <p:txBody>
          <a:bodyPr wrap="square" lIns="72000" tIns="36000" rIns="72000" bIns="36000" anchor="t">
            <a:noAutofit/>
          </a:bodyPr>
          <a:lstStyle/>
          <a:p>
            <a:pPr algn="ctr"/>
            <a:r>
              <a:rPr lang="es-EC" sz="1050" b="1" dirty="0">
                <a:solidFill>
                  <a:schemeClr val="accent1">
                    <a:lumMod val="75000"/>
                  </a:schemeClr>
                </a:solidFill>
                <a:latin typeface="Arial Narrow" pitchFamily="34" charset="0"/>
              </a:rPr>
              <a:t>Asientos de las bolas check.</a:t>
            </a:r>
          </a:p>
        </p:txBody>
      </p:sp>
    </p:spTree>
  </p:cSld>
  <p:clrMapOvr>
    <a:masterClrMapping/>
  </p:clrMapOvr>
  <p:transition spd="med">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DIAGNÓSTICO BÁSICO DE LA TRANSMISIÓN AUTOMÁTICA.</a:t>
            </a:r>
          </a:p>
        </p:txBody>
      </p:sp>
      <p:graphicFrame>
        <p:nvGraphicFramePr>
          <p:cNvPr id="3" name="Tabla 3"/>
          <p:cNvGraphicFramePr>
            <a:graphicFrameLocks noGrp="1"/>
          </p:cNvGraphicFramePr>
          <p:nvPr/>
        </p:nvGraphicFramePr>
        <p:xfrm>
          <a:off x="1005840" y="1691640"/>
          <a:ext cx="8595360" cy="3328416"/>
        </p:xfrm>
        <a:graphic>
          <a:graphicData uri="http://schemas.openxmlformats.org/drawingml/2006/table">
            <a:tbl>
              <a:tblPr firstRow="1" bandRow="1"/>
              <a:tblGrid>
                <a:gridCol w="2743200"/>
                <a:gridCol w="3291840"/>
                <a:gridCol w="2560320"/>
              </a:tblGrid>
              <a:tr h="475488">
                <a:tc>
                  <a:txBody>
                    <a:bodyPr/>
                    <a:lstStyle/>
                    <a:p>
                      <a:pPr algn="ctr"/>
                      <a:r>
                        <a:rPr lang="es-EC" sz="1100" b="1" dirty="0">
                          <a:solidFill>
                            <a:schemeClr val="bg1"/>
                          </a:solidFill>
                          <a:latin typeface="Arial Narrow" pitchFamily="34" charset="0"/>
                        </a:rPr>
                        <a:t>Síntoma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00" b="1" dirty="0">
                          <a:solidFill>
                            <a:schemeClr val="bg1"/>
                          </a:solidFill>
                          <a:latin typeface="Arial Narrow" pitchFamily="34" charset="0"/>
                        </a:rPr>
                        <a:t>Causa probable</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c>
                  <a:txBody>
                    <a:bodyPr/>
                    <a:lstStyle/>
                    <a:p>
                      <a:pPr algn="ctr"/>
                      <a:r>
                        <a:rPr lang="es-EC" sz="1100" b="1" dirty="0">
                          <a:solidFill>
                            <a:schemeClr val="bg1"/>
                          </a:solidFill>
                          <a:latin typeface="Arial Narrow" pitchFamily="34" charset="0"/>
                        </a:rPr>
                        <a:t>Comprobación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75000"/>
                      </a:schemeClr>
                    </a:solidFill>
                  </a:tcPr>
                </a:tc>
              </a:tr>
              <a:tr h="475488">
                <a:tc>
                  <a:txBody>
                    <a:bodyPr/>
                    <a:lstStyle/>
                    <a:p>
                      <a:pPr algn="l"/>
                      <a:r>
                        <a:rPr lang="es-EC" sz="1100" b="1" dirty="0">
                          <a:solidFill>
                            <a:schemeClr val="tx1">
                              <a:lumMod val="75000"/>
                              <a:lumOff val="25000"/>
                            </a:schemeClr>
                          </a:solidFill>
                          <a:latin typeface="Arial Narrow" pitchFamily="34" charset="0"/>
                        </a:rPr>
                        <a:t>No hay movimiento en ninguna posición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Nivel de ATF muy bajo; bomba; eje de turbina roto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Nivel; presión de línea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100" b="1" dirty="0">
                          <a:solidFill>
                            <a:schemeClr val="tx1">
                              <a:lumMod val="75000"/>
                              <a:lumOff val="25000"/>
                            </a:schemeClr>
                          </a:solidFill>
                          <a:latin typeface="Arial Narrow" pitchFamily="34" charset="0"/>
                        </a:rPr>
                        <a:t>Patina en una marcha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Embrague o freno de esa marcha gastado; fuga en su circuito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Cuadro de aplicación; calado; presión</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75488">
                <a:tc>
                  <a:txBody>
                    <a:bodyPr/>
                    <a:lstStyle/>
                    <a:p>
                      <a:pPr algn="l"/>
                      <a:r>
                        <a:rPr lang="es-EC" sz="1100" b="1" dirty="0">
                          <a:solidFill>
                            <a:schemeClr val="tx1">
                              <a:lumMod val="75000"/>
                              <a:lumOff val="25000"/>
                            </a:schemeClr>
                          </a:solidFill>
                          <a:latin typeface="Arial Narrow" pitchFamily="34" charset="0"/>
                        </a:rPr>
                        <a:t>Cambios bruscos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Acumulador o válvula agarrotados; presión alta; electroválvula moduladora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Presión; datos en vivo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100" b="1" dirty="0">
                          <a:solidFill>
                            <a:schemeClr val="tx1">
                              <a:lumMod val="75000"/>
                              <a:lumOff val="25000"/>
                            </a:schemeClr>
                          </a:solidFill>
                          <a:latin typeface="Arial Narrow" pitchFamily="34" charset="0"/>
                        </a:rPr>
                        <a:t>Cambios tardíos o sin cambio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Señal de velocidad o de carga; electroválvula de cambio</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Sensores; DTC; modo emergencia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r h="475488">
                <a:tc>
                  <a:txBody>
                    <a:bodyPr/>
                    <a:lstStyle/>
                    <a:p>
                      <a:pPr algn="l"/>
                      <a:r>
                        <a:rPr lang="es-EC" sz="1100" b="1" dirty="0">
                          <a:solidFill>
                            <a:schemeClr val="tx1">
                              <a:lumMod val="75000"/>
                              <a:lumOff val="25000"/>
                            </a:schemeClr>
                          </a:solidFill>
                          <a:latin typeface="Arial Narrow" pitchFamily="34" charset="0"/>
                        </a:rPr>
                        <a:t>ATF quemado o con partículas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Sobrecalentamiento; discos destruidos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c>
                  <a:txBody>
                    <a:bodyPr/>
                    <a:lstStyle/>
                    <a:p>
                      <a:pPr algn="l"/>
                      <a:r>
                        <a:rPr lang="es-EC" sz="1100" dirty="0">
                          <a:solidFill>
                            <a:schemeClr val="tx1">
                              <a:lumMod val="75000"/>
                              <a:lumOff val="25000"/>
                            </a:schemeClr>
                          </a:solidFill>
                          <a:latin typeface="Arial Narrow" pitchFamily="34" charset="0"/>
                        </a:rPr>
                        <a:t>Revisar radiador; desarmar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bg1"/>
                    </a:solidFill>
                  </a:tcPr>
                </a:tc>
              </a:tr>
              <a:tr h="475488">
                <a:tc>
                  <a:txBody>
                    <a:bodyPr/>
                    <a:lstStyle/>
                    <a:p>
                      <a:pPr algn="l"/>
                      <a:r>
                        <a:rPr lang="es-EC" sz="1100" b="1" dirty="0">
                          <a:solidFill>
                            <a:schemeClr val="tx1">
                              <a:lumMod val="75000"/>
                              <a:lumOff val="25000"/>
                            </a:schemeClr>
                          </a:solidFill>
                          <a:latin typeface="Arial Narrow" pitchFamily="34" charset="0"/>
                        </a:rPr>
                        <a:t>Ruido en todas las marchas</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Bomba o convertidor</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c>
                  <a:txBody>
                    <a:bodyPr/>
                    <a:lstStyle/>
                    <a:p>
                      <a:pPr algn="l"/>
                      <a:r>
                        <a:rPr lang="es-EC" sz="1100" dirty="0">
                          <a:solidFill>
                            <a:schemeClr val="tx1">
                              <a:lumMod val="75000"/>
                              <a:lumOff val="25000"/>
                            </a:schemeClr>
                          </a:solidFill>
                          <a:latin typeface="Arial Narrow" pitchFamily="34" charset="0"/>
                        </a:rPr>
                        <a:t>Escuchar en P/N y en marcha</a:t>
                      </a:r>
                    </a:p>
                  </a:txBody>
                  <a:tcPr marL="54000" marR="54000" marT="36000" marB="36000" anchor="ctr">
                    <a:lnL w="6350">
                      <a:solidFill>
                        <a:schemeClr val="accent1">
                          <a:lumMod val="50000"/>
                        </a:schemeClr>
                      </a:solidFill>
                    </a:lnL>
                    <a:lnR w="6350">
                      <a:solidFill>
                        <a:schemeClr val="accent1">
                          <a:lumMod val="50000"/>
                        </a:schemeClr>
                      </a:solidFill>
                    </a:lnR>
                    <a:lnT w="6350">
                      <a:solidFill>
                        <a:schemeClr val="accent1">
                          <a:lumMod val="50000"/>
                        </a:schemeClr>
                      </a:solidFill>
                    </a:lnT>
                    <a:lnB w="6350">
                      <a:solidFill>
                        <a:schemeClr val="accent1">
                          <a:lumMod val="50000"/>
                        </a:schemeClr>
                      </a:solidFill>
                    </a:lnB>
                    <a:solidFill>
                      <a:schemeClr val="accent1">
                        <a:lumMod val="20000"/>
                        <a:lumOff val="80000"/>
                      </a:schemeClr>
                    </a:solidFill>
                  </a:tcPr>
                </a:tc>
              </a:tr>
            </a:tbl>
          </a:graphicData>
        </a:graphic>
      </p:graphicFrame>
      <p:sp>
        <p:nvSpPr>
          <p:cNvPr id="4" name="Texto 4"/>
          <p:cNvSpPr txBox="1"/>
          <p:nvPr/>
        </p:nvSpPr>
        <p:spPr>
          <a:xfrm>
            <a:off x="1005840" y="5486400"/>
            <a:ext cx="8229600" cy="274320"/>
          </a:xfrm>
          <a:prstGeom prst="rect">
            <a:avLst/>
          </a:prstGeom>
          <a:noFill/>
        </p:spPr>
        <p:txBody>
          <a:bodyPr wrap="square" lIns="72000" tIns="36000" rIns="72000" bIns="36000" anchor="t">
            <a:noAutofit/>
          </a:bodyPr>
          <a:lstStyle/>
          <a:p>
            <a:pPr algn="l"/>
            <a:r>
              <a:rPr lang="es-EC" sz="1050" i="1" dirty="0">
                <a:solidFill>
                  <a:schemeClr val="tx1">
                    <a:lumMod val="75000"/>
                    <a:lumOff val="25000"/>
                  </a:schemeClr>
                </a:solidFill>
                <a:latin typeface="Arial Narrow" pitchFamily="34" charset="0"/>
              </a:rPr>
              <a:t>Antes de desarmar: comprobar siempre nivel y estado del ATF, ajuste del cable selector y códigos de avería.</a:t>
            </a:r>
          </a:p>
        </p:txBody>
      </p:sp>
    </p:spTree>
  </p:cSld>
  <p:clrMapOvr>
    <a:masterClrMapping/>
  </p:clrMapOvr>
  <p:transition spd="med">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ACTIVIDADES Y PRÁCTICAS DE LA UNIDAD 3 (PEA).</a:t>
            </a:r>
          </a:p>
        </p:txBody>
      </p:sp>
      <p:sp>
        <p:nvSpPr>
          <p:cNvPr id="3" name="2 Marcador de contenido"/>
          <p:cNvSpPr>
            <a:spLocks noGrp="1"/>
          </p:cNvSpPr>
          <p:nvPr>
            <p:ph idx="1"/>
          </p:nvPr>
        </p:nvSpPr>
        <p:spPr/>
        <p:txBody>
          <a:bodyPr anchor="t">
            <a:normAutofit/>
          </a:bodyPr>
          <a:lstStyle/>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Trabajo autónomo: </a:t>
            </a:r>
            <a:r>
              <a:rPr lang="es-EC" sz="1400" dirty="0">
                <a:solidFill>
                  <a:schemeClr val="tx1">
                    <a:lumMod val="75000"/>
                    <a:lumOff val="25000"/>
                  </a:schemeClr>
                </a:solidFill>
                <a:latin typeface="Arial Narrow" pitchFamily="34" charset="0"/>
              </a:rPr>
              <a:t>investigar historia, principios de funcionamiento y componentes de la transmisión automática; elaborar un esquema del sistema hidráulico y mecánico; comparar transmisiones automáticas convencionales y asistidas electrónicamente.</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Prácticas en el entorno académico: </a:t>
            </a:r>
            <a:r>
              <a:rPr lang="es-EC" sz="1400" dirty="0">
                <a:solidFill>
                  <a:schemeClr val="tx1">
                    <a:lumMod val="75000"/>
                    <a:lumOff val="25000"/>
                  </a:schemeClr>
                </a:solidFill>
                <a:latin typeface="Arial Narrow" pitchFamily="34" charset="0"/>
              </a:rPr>
              <a:t>P7 Reconocimiento de los componentes de la transmisión automática (desarmado de una caja transversal Mitsubishi F4A y una longitudinal Ford) · P8 Análisis funcional de la transmisión automática (convertidor, Willis, circuito hidráulico y pruebas de nivel, retardo, calado y presión).</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Habilidades: </a:t>
            </a:r>
            <a:r>
              <a:rPr lang="es-EC" sz="1400" dirty="0">
                <a:solidFill>
                  <a:schemeClr val="tx1">
                    <a:lumMod val="75000"/>
                    <a:lumOff val="25000"/>
                  </a:schemeClr>
                </a:solidFill>
                <a:latin typeface="Arial Narrow" pitchFamily="34" charset="0"/>
              </a:rPr>
              <a:t>mejora continua y resolución de conflictos.</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Evaluación: </a:t>
            </a:r>
            <a:r>
              <a:rPr lang="es-EC" sz="1400" dirty="0">
                <a:solidFill>
                  <a:schemeClr val="tx1">
                    <a:lumMod val="75000"/>
                    <a:lumOff val="25000"/>
                  </a:schemeClr>
                </a:solidFill>
                <a:latin typeface="Arial Narrow" pitchFamily="34" charset="0"/>
              </a:rPr>
              <a:t>trabajos autónomos, actividades prácticas, trabajos colaborativos, prueba de unidad y evaluación bimestral.</a:t>
            </a:r>
            <a:endParaRPr lang="es-EC" sz="1400" dirty="0">
              <a:solidFill>
                <a:schemeClr val="tx1">
                  <a:lumMod val="75000"/>
                  <a:lumOff val="25000"/>
                </a:schemeClr>
              </a:solidFill>
              <a:latin typeface="Arial Narrow" pitchFamily="34" charset="0"/>
            </a:endParaRPr>
          </a:p>
          <a:p>
            <a:pPr marL="342900" indent="-285750" algn="just">
              <a:lnSpc>
                <a:spcPct val="125000"/>
              </a:lnSpc>
              <a:spcBef>
                <a:spcPts val="500"/>
              </a:spcBef>
              <a:buFont typeface="Courier New" pitchFamily="49" charset="0"/>
              <a:buChar char="o"/>
            </a:pPr>
            <a:r>
              <a:rPr lang="es-EC" sz="1400" b="1" dirty="0">
                <a:solidFill>
                  <a:schemeClr val="accent1">
                    <a:lumMod val="75000"/>
                  </a:schemeClr>
                </a:solidFill>
                <a:latin typeface="Arial Narrow" pitchFamily="34" charset="0"/>
              </a:rPr>
              <a:t xml:space="preserve">Resultado de aprendizaje: </a:t>
            </a:r>
            <a:r>
              <a:rPr lang="es-EC" sz="1400" dirty="0">
                <a:solidFill>
                  <a:schemeClr val="tx1">
                    <a:lumMod val="75000"/>
                    <a:lumOff val="25000"/>
                  </a:schemeClr>
                </a:solidFill>
                <a:latin typeface="Arial Narrow" pitchFamily="34" charset="0"/>
              </a:rPr>
              <a:t>comprender el funcionamiento de las transmisiones automáticas.</a:t>
            </a:r>
            <a:endParaRPr lang="es-EC" sz="14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EJERCICIOS PROPUESTOS DE LA UNIDAD 3.</a:t>
            </a:r>
          </a:p>
        </p:txBody>
      </p:sp>
      <p:sp>
        <p:nvSpPr>
          <p:cNvPr id="3" name="2 Marcador de contenido"/>
          <p:cNvSpPr>
            <a:spLocks noGrp="1"/>
          </p:cNvSpPr>
          <p:nvPr>
            <p:ph idx="1"/>
          </p:nvPr>
        </p:nvSpPr>
        <p:spPr/>
        <p:txBody>
          <a:bodyPr anchor="t">
            <a:normAutofit/>
          </a:bodyPr>
          <a:lstStyle/>
          <a:p>
            <a:pPr algn="just">
              <a:lnSpc>
                <a:spcPct val="125000"/>
              </a:lnSpc>
              <a:spcBef>
                <a:spcPts val="500"/>
              </a:spcBef>
              <a:buNone/>
            </a:pPr>
            <a:r>
              <a:rPr lang="es-EC" sz="1350" b="1" dirty="0">
                <a:solidFill>
                  <a:schemeClr val="accent1">
                    <a:lumMod val="75000"/>
                  </a:schemeClr>
                </a:solidFill>
                <a:latin typeface="Arial Narrow" pitchFamily="34" charset="0"/>
              </a:rPr>
              <a:t xml:space="preserve">1. </a:t>
            </a:r>
            <a:r>
              <a:rPr lang="es-EC" sz="1350" dirty="0">
                <a:solidFill>
                  <a:schemeClr val="tx1">
                    <a:lumMod val="75000"/>
                    <a:lumOff val="25000"/>
                  </a:schemeClr>
                </a:solidFill>
                <a:latin typeface="Arial Narrow" pitchFamily="34" charset="0"/>
              </a:rPr>
              <a:t>Tren con Z3 = 46 (corona) y Z1 = 14 (planetario), planetario frenado y entrada por la corona a 3000 rpm: calcule Rt y las rpm del portasatélites.</a:t>
            </a:r>
            <a:endParaRPr lang="es-EC" sz="1350" dirty="0">
              <a:solidFill>
                <a:schemeClr val="tx1">
                  <a:lumMod val="75000"/>
                  <a:lumOff val="25000"/>
                </a:schemeClr>
              </a:solidFill>
              <a:latin typeface="Arial Narrow" pitchFamily="34" charset="0"/>
            </a:endParaRPr>
          </a:p>
          <a:p>
            <a:pPr algn="just">
              <a:lnSpc>
                <a:spcPct val="125000"/>
              </a:lnSpc>
              <a:spcBef>
                <a:spcPts val="500"/>
              </a:spcBef>
              <a:buNone/>
            </a:pPr>
            <a:r>
              <a:rPr lang="es-EC" sz="1350" b="1" dirty="0">
                <a:solidFill>
                  <a:schemeClr val="accent1">
                    <a:lumMod val="75000"/>
                  </a:schemeClr>
                </a:solidFill>
                <a:latin typeface="Arial Narrow" pitchFamily="34" charset="0"/>
              </a:rPr>
              <a:t xml:space="preserve">2. </a:t>
            </a:r>
            <a:r>
              <a:rPr lang="es-EC" sz="1350" dirty="0">
                <a:solidFill>
                  <a:schemeClr val="tx1">
                    <a:lumMod val="75000"/>
                    <a:lumOff val="25000"/>
                  </a:schemeClr>
                </a:solidFill>
                <a:latin typeface="Arial Narrow" pitchFamily="34" charset="0"/>
              </a:rPr>
              <a:t>Mismo tren, planetario frenado, entrada por el portasatélites a 7000 rpm y salida por la corona: calcule Rt y las rpm de salida.</a:t>
            </a:r>
            <a:endParaRPr lang="es-EC" sz="1350" dirty="0">
              <a:solidFill>
                <a:schemeClr val="tx1">
                  <a:lumMod val="75000"/>
                  <a:lumOff val="25000"/>
                </a:schemeClr>
              </a:solidFill>
              <a:latin typeface="Arial Narrow" pitchFamily="34" charset="0"/>
            </a:endParaRPr>
          </a:p>
          <a:p>
            <a:pPr algn="just">
              <a:lnSpc>
                <a:spcPct val="125000"/>
              </a:lnSpc>
              <a:spcBef>
                <a:spcPts val="500"/>
              </a:spcBef>
              <a:buNone/>
            </a:pPr>
            <a:r>
              <a:rPr lang="es-EC" sz="1350" b="1" dirty="0">
                <a:solidFill>
                  <a:schemeClr val="accent1">
                    <a:lumMod val="75000"/>
                  </a:schemeClr>
                </a:solidFill>
                <a:latin typeface="Arial Narrow" pitchFamily="34" charset="0"/>
              </a:rPr>
              <a:t xml:space="preserve">3. </a:t>
            </a:r>
            <a:r>
              <a:rPr lang="es-EC" sz="1350" dirty="0">
                <a:solidFill>
                  <a:schemeClr val="tx1">
                    <a:lumMod val="75000"/>
                    <a:lumOff val="25000"/>
                  </a:schemeClr>
                </a:solidFill>
                <a:latin typeface="Arial Narrow" pitchFamily="34" charset="0"/>
              </a:rPr>
              <a:t>Mismo tren, portasatélites frenado y entrada por el planetario a 8000 rpm: calcule Rt, las rpm de la corona y su sentido de giro.</a:t>
            </a:r>
            <a:endParaRPr lang="es-EC" sz="1350" dirty="0">
              <a:solidFill>
                <a:schemeClr val="tx1">
                  <a:lumMod val="75000"/>
                  <a:lumOff val="25000"/>
                </a:schemeClr>
              </a:solidFill>
              <a:latin typeface="Arial Narrow" pitchFamily="34" charset="0"/>
            </a:endParaRPr>
          </a:p>
          <a:p>
            <a:pPr algn="just">
              <a:lnSpc>
                <a:spcPct val="125000"/>
              </a:lnSpc>
              <a:spcBef>
                <a:spcPts val="500"/>
              </a:spcBef>
              <a:buNone/>
            </a:pPr>
            <a:r>
              <a:rPr lang="es-EC" sz="1350" b="1" dirty="0">
                <a:solidFill>
                  <a:schemeClr val="accent1">
                    <a:lumMod val="75000"/>
                  </a:schemeClr>
                </a:solidFill>
                <a:latin typeface="Arial Narrow" pitchFamily="34" charset="0"/>
              </a:rPr>
              <a:t xml:space="preserve">4. </a:t>
            </a:r>
            <a:r>
              <a:rPr lang="es-EC" sz="1350" dirty="0">
                <a:solidFill>
                  <a:schemeClr val="tx1">
                    <a:lumMod val="75000"/>
                    <a:lumOff val="25000"/>
                  </a:schemeClr>
                </a:solidFill>
                <a:latin typeface="Arial Narrow" pitchFamily="34" charset="0"/>
              </a:rPr>
              <a:t>Tren con Z3 = 36 y Z1 = 16, entrada a 6000 rpm: calcule Rt y rpm de salida con la corona frenada entrando por el planetario, y entrando por el portasatélites.</a:t>
            </a:r>
            <a:endParaRPr lang="es-EC" sz="1350" dirty="0">
              <a:solidFill>
                <a:schemeClr val="tx1">
                  <a:lumMod val="75000"/>
                  <a:lumOff val="25000"/>
                </a:schemeClr>
              </a:solidFill>
              <a:latin typeface="Arial Narrow" pitchFamily="34" charset="0"/>
            </a:endParaRPr>
          </a:p>
          <a:p>
            <a:pPr algn="just">
              <a:lnSpc>
                <a:spcPct val="125000"/>
              </a:lnSpc>
              <a:spcBef>
                <a:spcPts val="500"/>
              </a:spcBef>
              <a:buNone/>
            </a:pPr>
            <a:r>
              <a:rPr lang="es-EC" sz="1350" b="1" dirty="0">
                <a:solidFill>
                  <a:schemeClr val="accent1">
                    <a:lumMod val="75000"/>
                  </a:schemeClr>
                </a:solidFill>
                <a:latin typeface="Arial Narrow" pitchFamily="34" charset="0"/>
              </a:rPr>
              <a:t xml:space="preserve">5. </a:t>
            </a:r>
            <a:r>
              <a:rPr lang="es-EC" sz="1350" dirty="0">
                <a:solidFill>
                  <a:schemeClr val="tx1">
                    <a:lumMod val="75000"/>
                    <a:lumOff val="25000"/>
                  </a:schemeClr>
                </a:solidFill>
                <a:latin typeface="Arial Narrow" pitchFamily="34" charset="0"/>
              </a:rPr>
              <a:t>Convertidor: np = 2500 rpm, nt = 2000 rpm, Tp = 180 N·m y Tt = 205 N·m. Calcule s, TR, SR y η. ¿En qué fase trabaja?</a:t>
            </a:r>
            <a:endParaRPr lang="es-EC" sz="1350" dirty="0">
              <a:solidFill>
                <a:schemeClr val="tx1">
                  <a:lumMod val="75000"/>
                  <a:lumOff val="25000"/>
                </a:schemeClr>
              </a:solidFill>
              <a:latin typeface="Arial Narrow" pitchFamily="34" charset="0"/>
            </a:endParaRPr>
          </a:p>
          <a:p>
            <a:pPr algn="just">
              <a:lnSpc>
                <a:spcPct val="125000"/>
              </a:lnSpc>
              <a:spcBef>
                <a:spcPts val="500"/>
              </a:spcBef>
              <a:buNone/>
            </a:pPr>
            <a:r>
              <a:rPr lang="es-EC" sz="1350" b="1" dirty="0">
                <a:solidFill>
                  <a:schemeClr val="accent1">
                    <a:lumMod val="75000"/>
                  </a:schemeClr>
                </a:solidFill>
                <a:latin typeface="Arial Narrow" pitchFamily="34" charset="0"/>
              </a:rPr>
              <a:t xml:space="preserve">6. </a:t>
            </a:r>
            <a:r>
              <a:rPr lang="es-EC" sz="1350" dirty="0">
                <a:solidFill>
                  <a:schemeClr val="tx1">
                    <a:lumMod val="75000"/>
                    <a:lumOff val="25000"/>
                  </a:schemeClr>
                </a:solidFill>
                <a:latin typeface="Arial Narrow" pitchFamily="34" charset="0"/>
              </a:rPr>
              <a:t>Caja Simpson con Zs = 33 y Zr = 75: calcule las relaciones de 1.ª, 2.ª, 3.ª y marcha atrás.</a:t>
            </a:r>
            <a:endParaRPr lang="es-EC" sz="135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sz="2800" dirty="0"/>
              <a:t>BIBLIOGRAFÍA.</a:t>
            </a:r>
          </a:p>
        </p:txBody>
      </p:sp>
      <p:sp>
        <p:nvSpPr>
          <p:cNvPr id="3" name="2 Marcador de contenido"/>
          <p:cNvSpPr>
            <a:spLocks noGrp="1"/>
          </p:cNvSpPr>
          <p:nvPr>
            <p:ph idx="1"/>
          </p:nvPr>
        </p:nvSpPr>
        <p:spPr/>
        <p:txBody>
          <a:bodyPr anchor="t">
            <a:normAutofit/>
          </a:bodyPr>
          <a:lstStyle/>
          <a:p>
            <a:pPr algn="just">
              <a:lnSpc>
                <a:spcPct val="120000"/>
              </a:lnSpc>
              <a:spcBef>
                <a:spcPts val="600"/>
              </a:spcBef>
              <a:buNone/>
            </a:pPr>
            <a:r>
              <a:rPr lang="es-EC" sz="1300" dirty="0">
                <a:solidFill>
                  <a:schemeClr val="tx1">
                    <a:lumMod val="75000"/>
                    <a:lumOff val="25000"/>
                  </a:schemeClr>
                </a:solidFill>
                <a:latin typeface="Arial Narrow" pitchFamily="34" charset="0"/>
              </a:rPr>
              <a:t>Borja Sendra, J. C., Fenoll Castelló, J., &amp; Seco de Herrera Torregrosa, J. (2011). Sistemas de transmisión y frenado. Macmillan Iberia.</a:t>
            </a:r>
            <a:endParaRPr lang="es-EC" sz="1300" dirty="0">
              <a:solidFill>
                <a:schemeClr val="tx1">
                  <a:lumMod val="75000"/>
                  <a:lumOff val="25000"/>
                </a:schemeClr>
              </a:solidFill>
              <a:latin typeface="Arial Narrow" pitchFamily="34" charset="0"/>
            </a:endParaRPr>
          </a:p>
          <a:p>
            <a:pPr algn="just">
              <a:lnSpc>
                <a:spcPct val="120000"/>
              </a:lnSpc>
              <a:spcBef>
                <a:spcPts val="600"/>
              </a:spcBef>
              <a:buNone/>
            </a:pPr>
            <a:r>
              <a:rPr lang="es-EC" sz="1300" dirty="0">
                <a:solidFill>
                  <a:schemeClr val="tx1">
                    <a:lumMod val="75000"/>
                    <a:lumOff val="25000"/>
                  </a:schemeClr>
                </a:solidFill>
                <a:latin typeface="Arial Narrow" pitchFamily="34" charset="0"/>
              </a:rPr>
              <a:t>Domínguez Soriano, E. J., &amp; Ferrer Ruiz, J. (2018). Sistemas de transmisión y frenado. Editex.</a:t>
            </a:r>
            <a:endParaRPr lang="es-EC" sz="1300" dirty="0">
              <a:solidFill>
                <a:schemeClr val="tx1">
                  <a:lumMod val="75000"/>
                  <a:lumOff val="25000"/>
                </a:schemeClr>
              </a:solidFill>
              <a:latin typeface="Arial Narrow" pitchFamily="34" charset="0"/>
            </a:endParaRPr>
          </a:p>
          <a:p>
            <a:pPr algn="just">
              <a:lnSpc>
                <a:spcPct val="120000"/>
              </a:lnSpc>
              <a:spcBef>
                <a:spcPts val="600"/>
              </a:spcBef>
              <a:buNone/>
            </a:pPr>
            <a:r>
              <a:rPr lang="es-EC" sz="1300" dirty="0">
                <a:solidFill>
                  <a:schemeClr val="tx1">
                    <a:lumMod val="75000"/>
                    <a:lumOff val="25000"/>
                  </a:schemeClr>
                </a:solidFill>
                <a:latin typeface="Arial Narrow" pitchFamily="34" charset="0"/>
              </a:rPr>
              <a:t>Rodríguez García, J. I., &amp; Villar Paul, J. (2017). Sistemas de transmisión y frenado. Macmillan Profesional.</a:t>
            </a:r>
            <a:endParaRPr lang="es-EC" sz="1300" dirty="0">
              <a:solidFill>
                <a:schemeClr val="tx1">
                  <a:lumMod val="75000"/>
                  <a:lumOff val="25000"/>
                </a:schemeClr>
              </a:solidFill>
              <a:latin typeface="Arial Narrow" pitchFamily="34" charset="0"/>
            </a:endParaRPr>
          </a:p>
          <a:p>
            <a:pPr algn="just">
              <a:lnSpc>
                <a:spcPct val="120000"/>
              </a:lnSpc>
              <a:spcBef>
                <a:spcPts val="600"/>
              </a:spcBef>
              <a:buNone/>
            </a:pPr>
            <a:r>
              <a:rPr lang="es-EC" sz="1300" dirty="0">
                <a:solidFill>
                  <a:schemeClr val="tx1">
                    <a:lumMod val="75000"/>
                    <a:lumOff val="25000"/>
                  </a:schemeClr>
                </a:solidFill>
                <a:latin typeface="Arial Narrow" pitchFamily="34" charset="0"/>
              </a:rPr>
              <a:t>Águeda Casado, E., Martín Navarro, J., &amp; Gómez Morales, T. (2012). Sistemas de transmisión y frenado. Paraninfo.</a:t>
            </a:r>
            <a:endParaRPr lang="es-EC" sz="1300" dirty="0">
              <a:solidFill>
                <a:schemeClr val="tx1">
                  <a:lumMod val="75000"/>
                  <a:lumOff val="25000"/>
                </a:schemeClr>
              </a:solidFill>
              <a:latin typeface="Arial Narrow" pitchFamily="34" charset="0"/>
            </a:endParaRPr>
          </a:p>
          <a:p>
            <a:pPr algn="just">
              <a:lnSpc>
                <a:spcPct val="120000"/>
              </a:lnSpc>
              <a:spcBef>
                <a:spcPts val="600"/>
              </a:spcBef>
              <a:buNone/>
            </a:pPr>
            <a:r>
              <a:rPr lang="es-EC" sz="1300" dirty="0">
                <a:solidFill>
                  <a:schemeClr val="tx1">
                    <a:lumMod val="75000"/>
                    <a:lumOff val="25000"/>
                  </a:schemeClr>
                </a:solidFill>
                <a:latin typeface="Arial Narrow" pitchFamily="34" charset="0"/>
              </a:rPr>
              <a:t>Universidad Politécnica Salesiana. (s. f.). Manual de procedimientos de prácticas: Laboratorio de tren de fuerza motriz (prácticas 8 y 9). Carrera de Ingeniería Mecánica Automotriz, sede Cuenca.</a:t>
            </a:r>
            <a:endParaRPr lang="es-EC" sz="1300" dirty="0">
              <a:solidFill>
                <a:schemeClr val="tx1">
                  <a:lumMod val="75000"/>
                  <a:lumOff val="25000"/>
                </a:schemeClr>
              </a:solidFill>
              <a:latin typeface="Arial Narrow" pitchFamily="34" charset="0"/>
            </a:endParaRPr>
          </a:p>
          <a:p>
            <a:pPr algn="just">
              <a:lnSpc>
                <a:spcPct val="120000"/>
              </a:lnSpc>
              <a:spcBef>
                <a:spcPts val="600"/>
              </a:spcBef>
              <a:buNone/>
            </a:pPr>
            <a:r>
              <a:rPr lang="es-EC" sz="1300" dirty="0">
                <a:solidFill>
                  <a:schemeClr val="tx1">
                    <a:lumMod val="75000"/>
                    <a:lumOff val="25000"/>
                  </a:schemeClr>
                </a:solidFill>
                <a:latin typeface="Arial Narrow" pitchFamily="34" charset="0"/>
              </a:rPr>
              <a:t>Morocho Domínguez, W. G. (s. f.). Tren de fuerza motriz: convertidor de par, tren epicicloidal, cálculos y arreglos epicicloidales [Presentaciones de clase]. Universidad Politécnica Salesiana, sede Quito. Figuras adaptadas.</a:t>
            </a:r>
            <a:endParaRPr lang="es-EC" sz="1300" dirty="0">
              <a:solidFill>
                <a:schemeClr val="tx1">
                  <a:lumMod val="75000"/>
                  <a:lumOff val="25000"/>
                </a:schemeClr>
              </a:solidFill>
              <a:latin typeface="Arial Narrow" pitchFamily="34" charset="0"/>
            </a:endParaRPr>
          </a:p>
        </p:txBody>
      </p:sp>
    </p:spTree>
  </p:cSld>
  <p:clrMapOvr>
    <a:masterClrMapping/>
  </p:clrMapOvr>
  <p:transition spd="med">
    <p:fade/>
  </p:transition>
</p:sld>
</file>

<file path=ppt/theme/theme1.xml><?xml version="1.0" encoding="utf-8"?>
<a:theme xmlns:a="http://schemas.openxmlformats.org/drawingml/2006/main" name="Empresarial Contraste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5870690_TF02895266.potx" id="{662AE8D8-24CF-4300-88CA-77AD0B4045E0}" vid="{53658028-3D1B-4AA4-8E7B-3BB150406BCD}"/>
    </a:ext>
  </a:extLst>
</a:theme>
</file>

<file path=ppt/theme/theme2.xml><?xml version="1.0" encoding="utf-8"?>
<a:theme xmlns:a="http://schemas.openxmlformats.org/drawingml/2006/main" name="Tema de Offic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80FAF7-F941-4D3E-A3C3-283A611079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220E13-D325-4A9E-AA7A-0D1409275EB9}">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s>
</ds:datastoreItem>
</file>

<file path=customXml/itemProps3.xml><?xml version="1.0" encoding="utf-8"?>
<ds:datastoreItem xmlns:ds="http://schemas.openxmlformats.org/officeDocument/2006/customXml" ds:itemID="{02F2BE50-DDB3-465B-A26E-975A276D43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140</TotalTime>
  <Words>2171</Words>
  <Application>Microsoft Office PowerPoint</Application>
  <PresentationFormat>Personalizado</PresentationFormat>
  <Paragraphs>149</Paragraphs>
  <Slides>25</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Arial Narrow</vt:lpstr>
      <vt:lpstr>Courier New</vt:lpstr>
      <vt:lpstr>Franklin Gothic Medium</vt:lpstr>
      <vt:lpstr>Empresarial Contraste 16x9</vt:lpstr>
      <vt:lpstr>Instituto Tecnológico Superior Sudamericano</vt:lpstr>
      <vt:lpstr>CONTENIDOS.</vt:lpstr>
      <vt:lpstr>INTRODUCCIÓN.</vt:lpstr>
      <vt:lpstr>MISIÓN DEL TREN DE FUERZA MOTRIZ.</vt:lpstr>
      <vt:lpstr>MISIÓN DEL TREN DE FUERZA MOTRIZ.</vt:lpstr>
      <vt:lpstr>REQUERIMIENTOS DEL SISTEMA DE TRANSMISIÓN.</vt:lpstr>
      <vt:lpstr>ELEMENTOS DEL TREN DE FUERZA MOTRIZ.</vt:lpstr>
      <vt:lpstr>ELEMENTOS DEL TREN DE FUERZA MOTRIZ.</vt:lpstr>
      <vt:lpstr>CLASIFICACIÓN DEL TREN DE FUERZA MOTRIZ.</vt:lpstr>
      <vt:lpstr>CLASIFICACIÓN DEL TREN DE FUERZA MOTRIZ.</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lpstr>FÍSICA DE LA TRANSMISIÓN DE FUERZA.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Politécnica Salesiana</dc:title>
  <dc:creator>GALO PACHAR</dc:creator>
  <cp:lastModifiedBy>Ing. Miguel Angel  Minga Gonzalez</cp:lastModifiedBy>
  <cp:revision>11</cp:revision>
  <dcterms:created xsi:type="dcterms:W3CDTF">2012-05-08T23:28:34Z</dcterms:created>
  <dcterms:modified xsi:type="dcterms:W3CDTF">2024-03-27T18:22:35Z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