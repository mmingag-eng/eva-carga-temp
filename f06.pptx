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b8e5fc49-0dde-ecd1-972e-0cf0a0ab94fb}">
          <p14:sldIdLst>
            <p14:sldId id="256"/>
            <p14:sldId id="257"/>
            <p14:sldId id="258"/>
          </p14:sldIdLst>
        </p14:section>
        <p14:section name="3.1 Concepto general del MCIA" id="{52a75dff-9661-360a-8cf6-b9905539e9ef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3.2 Clasificación de los MCIA" id="{6e140ab4-a776-91b3-53a5-69d61d65279a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3.3 Constitución del motor" id="{8ca20d07-4817-6b0f-e6e7-d5f2c3e66629}">
          <p14:sldIdLst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3.4 Partes fijas del motor" id="{e19d427b-e9f4-1a2c-2e22-92e26a21e5c3}">
          <p14:sldIdLst>
            <p14:sldId id="280"/>
            <p14:sldId id="281"/>
            <p14:sldId id="282"/>
            <p14:sldId id="283"/>
          </p14:sldIdLst>
        </p14:section>
        <p14:section name="3.5 Partes móviles del motor" id="{db7603a9-aa42-e954-105b-d1634885e699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Cierre" id="{3ca94fe7-e8ff-4d95-9a36-d12ec6d9289e}">
          <p14:sldIdLst>
            <p14:sldId id="293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Unidad 3 del PEA: Motor de combustión interna alternativo (MCIA). Clasificación y constitución.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Texto literal del PEA (programa curricular, Unidad 3). Técnicas del PEA: proyectos de servicio comunitario, estudio de casos sobre sostenibilidad ambiental y role-playing.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cinco apartados siguen el bloque de contenidos de la Unidad 3 del PEA (3.1 a 3.5).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 la Unidad 2 (2.1.1 y 2.1.2).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3.1.1 del PEA.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de Escudero et al. (2011), unidad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3.1.2 del PEA. El detalle de los cuatro tiempos se estudia en la Unidad 4 (4.5).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3.1.3 del PEA. Los MCIA cubren potencias desde 0,1 kW hasta 32 MW.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3.2.1 del PEA. Comparación detallada de 2T y 4T en la Unidad 2 (2.4.4).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3.2.2 del PEA. Se relaciona con los ciclos Otto y Diesel de la Unidad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3.2.3 del PEA.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3.2.4 del PEA. Banco de preguntas U3: motores VR y 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3.2.5 del PEA. La sobrealimentación se amplía en la Unidad 4 (4.6.1.1).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3.2.6 del PEA. El sistema de refrigeración se presenta en la Unidad 4 (4.6.4).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3.2.7 del PEA. Ilustra el resultado de aprendizaje: evolución básica de los sistemas del motor.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3.3 del PEA. Clasificación de los elementos según Escudero et al. (2011).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3.3.1 del PEA.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3.3.2 del PEA.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3.3.3 del PEA. Ver Payri y Desantes (2011), capítulo 9, para el diseño de conductos y válvulas.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requisitos del deck original (Unidad3_MCI).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3.3.4 del PEA.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3.4.1 del PEA.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3.4.2 del PEA.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3.4.3 del PEA. Los circuitos completos se ven en la Unidad 4 (4.6).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3.5 del PEA.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3.5.1 del PEA.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Contenido del deck original (Clase 5: Pistones).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3.5.2 del PEA.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3.5.3 y 3.5.4 del PEA.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3.5.5 y 3.5.6 del PEA.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3.5.7 y 3.5.8 del PEA.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apoya en las guías prácticas 3A–3D (una por maqueta). Técnica del PEA: role-playing (un grupo explica como técnico y otro como cliente).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Repasar con preguntas dirigidas antes de la autoevaluación.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 adaptadas del banco BP_U3. Respuestas: 1) Combustión dentro del cilindro y movimiento alternativo del pistón. 2) 720° (4T) y 360° (2T). 3) MEP: chispa; MEC: autoencendido por compresión. 4) La húmeda está en contacto con el refrigerante. 5) Almacenar energía y regularizar el giro.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Bibliografía del PEA (apartado 18) y material del docente.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256032"/>
            <a:ext cx="969264" cy="512064"/>
          </a:xfrm>
          <a:prstGeom prst="rect">
            <a:avLst/>
          </a:prstGeom>
        </p:spPr>
      </p:pic>
      <p:pic>
        <p:nvPicPr>
          <p:cNvPr id="3" name="Image 1" descr="/home/claude/img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01168"/>
            <a:ext cx="667512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Motores (MA.01.04)  ·  Unidad 3: MCIA, clasificación y constitución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rgbClr val="15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gif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gif"/><Relationship Id="rId2" Type="http://schemas.openxmlformats.org/officeDocument/2006/relationships/image" Target="../media/image-11-2.gif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image" Target="../media/image-3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</p:spPr>
      </p:sp>
      <p:pic>
        <p:nvPicPr>
          <p:cNvPr id="3" name="Image 0" descr="/home/claude/img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94360"/>
            <a:ext cx="1298448" cy="685800"/>
          </a:xfrm>
          <a:prstGeom prst="rect">
            <a:avLst/>
          </a:prstGeom>
        </p:spPr>
      </p:pic>
      <p:pic>
        <p:nvPicPr>
          <p:cNvPr id="4" name="Image 1" descr="/home/claude/img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576072"/>
            <a:ext cx="850392" cy="72237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0080" y="1828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MOTORES (MA.01.04)  ·  UNIDAD 3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2402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de combustión interna alternativo (MCIA)</a:t>
            </a:r>
            <a:endParaRPr lang="en-US" sz="38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3703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y constitución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4343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 de Tecnología Superior en Mecánica Automotriz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Superior Tecnológico Sudamericano – Loja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 octubre 2026 – febrero 2027  ·  Primer periodo académico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5669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Ing. Miguel Ángel Minga González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315200" y="914400"/>
            <a:ext cx="4297680" cy="50292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</p:spPr>
      </p:sp>
      <p:pic>
        <p:nvPicPr>
          <p:cNvPr id="11" name="img_1" descr="/home/claude/img/u34_advantage_12_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911519"/>
            <a:ext cx="4023360" cy="30349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de aprendizaje de la unidad</a:t>
            </a:r>
            <a:endParaRPr lang="en-US" sz="3000" dirty="0"/>
          </a:p>
        </p:txBody>
      </p:sp>
      <p:sp>
        <p:nvSpPr>
          <p:cNvPr id="3" name="kicker_2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</a:t>
            </a:r>
            <a:endParaRPr lang="en-US" sz="1100" dirty="0"/>
          </a:p>
        </p:txBody>
      </p:sp>
      <p:sp>
        <p:nvSpPr>
          <p:cNvPr id="5" name="card_3"/>
          <p:cNvSpPr/>
          <p:nvPr/>
        </p:nvSpPr>
        <p:spPr>
          <a:xfrm>
            <a:off x="548640" y="1463040"/>
            <a:ext cx="6766560" cy="2103120"/>
          </a:xfrm>
          <a:prstGeom prst="roundRect">
            <a:avLst>
              <a:gd name="adj" fmla="val 4348"/>
            </a:avLst>
          </a:prstGeom>
          <a:solidFill>
            <a:srgbClr val="15233F"/>
          </a:solidFill>
          <a:ln/>
        </p:spPr>
      </p:sp>
      <p:sp>
        <p:nvSpPr>
          <p:cNvPr id="6" name="txt_4"/>
          <p:cNvSpPr txBox="1"/>
          <p:nvPr/>
        </p:nvSpPr>
        <p:spPr>
          <a:xfrm>
            <a:off x="822960" y="1691640"/>
            <a:ext cx="6217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APRENDIZAJE  ·  PEA</a:t>
            </a:r>
            <a:endParaRPr lang="en-US" sz="1200" dirty="0"/>
          </a:p>
        </p:txBody>
      </p:sp>
      <p:sp>
        <p:nvSpPr>
          <p:cNvPr id="7" name="txt_5"/>
          <p:cNvSpPr txBox="1"/>
          <p:nvPr/>
        </p:nvSpPr>
        <p:spPr>
          <a:xfrm>
            <a:off x="822960" y="2057400"/>
            <a:ext cx="62179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Examinar la evolución básica de los sistemas de funcionamiento del motor y diferenciar los elementos fijos y móviles del motor de combustión interna.</a:t>
            </a:r>
            <a:endParaRPr lang="en-US" sz="2000" dirty="0"/>
          </a:p>
        </p:txBody>
      </p:sp>
      <p:sp>
        <p:nvSpPr>
          <p:cNvPr id="8" name="card_6"/>
          <p:cNvSpPr/>
          <p:nvPr/>
        </p:nvSpPr>
        <p:spPr>
          <a:xfrm>
            <a:off x="548640" y="3840480"/>
            <a:ext cx="2139696" cy="2377440"/>
          </a:xfrm>
          <a:prstGeom prst="roundRect">
            <a:avLst>
              <a:gd name="adj" fmla="val 4274"/>
            </a:avLst>
          </a:prstGeom>
          <a:solidFill>
            <a:srgbClr val="F2F5F8"/>
          </a:solidFill>
          <a:ln/>
        </p:spPr>
      </p:sp>
      <p:sp>
        <p:nvSpPr>
          <p:cNvPr id="9" name="txt_7"/>
          <p:cNvSpPr txBox="1"/>
          <p:nvPr/>
        </p:nvSpPr>
        <p:spPr>
          <a:xfrm>
            <a:off x="777240" y="4023360"/>
            <a:ext cx="17373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h</a:t>
            </a:r>
            <a:endParaRPr lang="en-US" sz="3600" dirty="0"/>
          </a:p>
        </p:txBody>
      </p:sp>
      <p:sp>
        <p:nvSpPr>
          <p:cNvPr id="10" name="txt_8"/>
          <p:cNvSpPr txBox="1"/>
          <p:nvPr/>
        </p:nvSpPr>
        <p:spPr>
          <a:xfrm>
            <a:off x="777240" y="4892040"/>
            <a:ext cx="17830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Docencia en contacto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docente</a:t>
            </a:r>
            <a:endParaRPr lang="en-US" sz="1400" dirty="0"/>
          </a:p>
        </p:txBody>
      </p:sp>
      <p:sp>
        <p:nvSpPr>
          <p:cNvPr id="11" name="card_9"/>
          <p:cNvSpPr/>
          <p:nvPr/>
        </p:nvSpPr>
        <p:spPr>
          <a:xfrm>
            <a:off x="2862072" y="3840480"/>
            <a:ext cx="2139696" cy="2377440"/>
          </a:xfrm>
          <a:prstGeom prst="roundRect">
            <a:avLst>
              <a:gd name="adj" fmla="val 4274"/>
            </a:avLst>
          </a:prstGeom>
          <a:solidFill>
            <a:srgbClr val="F2F5F8"/>
          </a:solidFill>
          <a:ln/>
        </p:spPr>
      </p:sp>
      <p:sp>
        <p:nvSpPr>
          <p:cNvPr id="12" name="txt_10"/>
          <p:cNvSpPr txBox="1"/>
          <p:nvPr/>
        </p:nvSpPr>
        <p:spPr>
          <a:xfrm>
            <a:off x="3090672" y="4023360"/>
            <a:ext cx="17373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h</a:t>
            </a:r>
            <a:endParaRPr lang="en-US" sz="3600" dirty="0"/>
          </a:p>
        </p:txBody>
      </p:sp>
      <p:sp>
        <p:nvSpPr>
          <p:cNvPr id="13" name="txt_11"/>
          <p:cNvSpPr txBox="1"/>
          <p:nvPr/>
        </p:nvSpPr>
        <p:spPr>
          <a:xfrm>
            <a:off x="3090672" y="4892040"/>
            <a:ext cx="17830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práctico–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</a:t>
            </a:r>
            <a:endParaRPr lang="en-US" sz="1400" dirty="0"/>
          </a:p>
        </p:txBody>
      </p:sp>
      <p:sp>
        <p:nvSpPr>
          <p:cNvPr id="14" name="card_12"/>
          <p:cNvSpPr/>
          <p:nvPr/>
        </p:nvSpPr>
        <p:spPr>
          <a:xfrm>
            <a:off x="5175504" y="3840480"/>
            <a:ext cx="2139696" cy="2377440"/>
          </a:xfrm>
          <a:prstGeom prst="roundRect">
            <a:avLst>
              <a:gd name="adj" fmla="val 4274"/>
            </a:avLst>
          </a:prstGeom>
          <a:solidFill>
            <a:srgbClr val="F2F5F8"/>
          </a:solidFill>
          <a:ln/>
        </p:spPr>
      </p:sp>
      <p:sp>
        <p:nvSpPr>
          <p:cNvPr id="15" name="txt_13"/>
          <p:cNvSpPr txBox="1"/>
          <p:nvPr/>
        </p:nvSpPr>
        <p:spPr>
          <a:xfrm>
            <a:off x="5404104" y="4023360"/>
            <a:ext cx="17373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h</a:t>
            </a:r>
            <a:endParaRPr lang="en-US" sz="3600" dirty="0"/>
          </a:p>
        </p:txBody>
      </p:sp>
      <p:sp>
        <p:nvSpPr>
          <p:cNvPr id="16" name="txt_14"/>
          <p:cNvSpPr txBox="1"/>
          <p:nvPr/>
        </p:nvSpPr>
        <p:spPr>
          <a:xfrm>
            <a:off x="5404104" y="4892040"/>
            <a:ext cx="17830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autónomo</a:t>
            </a:r>
            <a:endParaRPr lang="en-US" sz="1400" dirty="0"/>
          </a:p>
        </p:txBody>
      </p:sp>
      <p:sp>
        <p:nvSpPr>
          <p:cNvPr id="17" name="card_15"/>
          <p:cNvSpPr/>
          <p:nvPr/>
        </p:nvSpPr>
        <p:spPr>
          <a:xfrm>
            <a:off x="7680960" y="1463040"/>
            <a:ext cx="3962095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18" name="dot_16"/>
          <p:cNvSpPr/>
          <p:nvPr/>
        </p:nvSpPr>
        <p:spPr>
          <a:xfrm>
            <a:off x="790956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9" name="ic_1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7576" y="1819656"/>
            <a:ext cx="310896" cy="310896"/>
          </a:xfrm>
          <a:prstGeom prst="rect">
            <a:avLst/>
          </a:prstGeom>
        </p:spPr>
      </p:pic>
      <p:sp>
        <p:nvSpPr>
          <p:cNvPr id="20" name="txt_18"/>
          <p:cNvSpPr txBox="1"/>
          <p:nvPr/>
        </p:nvSpPr>
        <p:spPr>
          <a:xfrm>
            <a:off x="8613648" y="1664208"/>
            <a:ext cx="286481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#3</a:t>
            </a:r>
            <a:endParaRPr lang="en-US" sz="1700" dirty="0"/>
          </a:p>
        </p:txBody>
      </p:sp>
      <p:sp>
        <p:nvSpPr>
          <p:cNvPr id="21" name="txt_19"/>
          <p:cNvSpPr txBox="1"/>
          <p:nvPr/>
        </p:nvSpPr>
        <p:spPr>
          <a:xfrm>
            <a:off x="7909560" y="2377440"/>
            <a:ext cx="3550615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de la clasificación y constitución de un MCIA (maquetas del taller).</a:t>
            </a:r>
            <a:endParaRPr lang="en-US" sz="1500" dirty="0"/>
          </a:p>
        </p:txBody>
      </p:sp>
      <p:sp>
        <p:nvSpPr>
          <p:cNvPr id="22" name="card_20"/>
          <p:cNvSpPr/>
          <p:nvPr/>
        </p:nvSpPr>
        <p:spPr>
          <a:xfrm>
            <a:off x="7680960" y="3977640"/>
            <a:ext cx="3962095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23" name="dot_21"/>
          <p:cNvSpPr/>
          <p:nvPr/>
        </p:nvSpPr>
        <p:spPr>
          <a:xfrm>
            <a:off x="7909560" y="420624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4" name="ic_2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576" y="4334256"/>
            <a:ext cx="310896" cy="310896"/>
          </a:xfrm>
          <a:prstGeom prst="rect">
            <a:avLst/>
          </a:prstGeom>
        </p:spPr>
      </p:pic>
      <p:sp>
        <p:nvSpPr>
          <p:cNvPr id="25" name="txt_23"/>
          <p:cNvSpPr txBox="1"/>
          <p:nvPr/>
        </p:nvSpPr>
        <p:spPr>
          <a:xfrm>
            <a:off x="8613648" y="4178808"/>
            <a:ext cx="286481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</a:t>
            </a:r>
            <a:endParaRPr lang="en-US" sz="1700" dirty="0"/>
          </a:p>
        </p:txBody>
      </p:sp>
      <p:sp>
        <p:nvSpPr>
          <p:cNvPr id="26" name="txt_24"/>
          <p:cNvSpPr txBox="1"/>
          <p:nvPr/>
        </p:nvSpPr>
        <p:spPr>
          <a:xfrm>
            <a:off x="7909560" y="4892040"/>
            <a:ext cx="3550615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Trabajos autónomos, actividades prácticas, trabajos colaborativos y prueba de unidad.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Contenidos de la unidad</a:t>
            </a:r>
            <a:endParaRPr lang="en-US" sz="3000" dirty="0"/>
          </a:p>
        </p:txBody>
      </p:sp>
      <p:sp>
        <p:nvSpPr>
          <p:cNvPr id="3" name="kicker_25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</a:t>
            </a:r>
            <a:endParaRPr lang="en-US" sz="1100" dirty="0"/>
          </a:p>
        </p:txBody>
      </p:sp>
      <p:sp>
        <p:nvSpPr>
          <p:cNvPr id="5" name="card_26"/>
          <p:cNvSpPr/>
          <p:nvPr/>
        </p:nvSpPr>
        <p:spPr>
          <a:xfrm>
            <a:off x="548640" y="14630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2F5F8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572768"/>
            <a:ext cx="566928" cy="566928"/>
          </a:xfrm>
          <a:prstGeom prst="ellipse">
            <a:avLst/>
          </a:prstGeom>
          <a:solidFill>
            <a:srgbClr val="15233F"/>
          </a:solidFill>
          <a:ln/>
        </p:spPr>
      </p:sp>
      <p:sp>
        <p:nvSpPr>
          <p:cNvPr id="7" name="txt_27"/>
          <p:cNvSpPr txBox="1"/>
          <p:nvPr/>
        </p:nvSpPr>
        <p:spPr>
          <a:xfrm>
            <a:off x="777240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500" dirty="0"/>
          </a:p>
        </p:txBody>
      </p:sp>
      <p:sp>
        <p:nvSpPr>
          <p:cNvPr id="8" name="txt_28"/>
          <p:cNvSpPr txBox="1"/>
          <p:nvPr/>
        </p:nvSpPr>
        <p:spPr>
          <a:xfrm>
            <a:off x="1554480" y="1463040"/>
            <a:ext cx="9905695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general del MCIA</a:t>
            </a:r>
            <a:endParaRPr lang="en-US" sz="2000" dirty="0"/>
          </a:p>
        </p:txBody>
      </p:sp>
      <p:sp>
        <p:nvSpPr>
          <p:cNvPr id="9" name="card_29"/>
          <p:cNvSpPr/>
          <p:nvPr/>
        </p:nvSpPr>
        <p:spPr>
          <a:xfrm>
            <a:off x="548640" y="242316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2F5F8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532888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xt_30"/>
          <p:cNvSpPr txBox="1"/>
          <p:nvPr/>
        </p:nvSpPr>
        <p:spPr>
          <a:xfrm>
            <a:off x="777240" y="2532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500" dirty="0"/>
          </a:p>
        </p:txBody>
      </p:sp>
      <p:sp>
        <p:nvSpPr>
          <p:cNvPr id="12" name="txt_31"/>
          <p:cNvSpPr txBox="1"/>
          <p:nvPr/>
        </p:nvSpPr>
        <p:spPr>
          <a:xfrm>
            <a:off x="1554480" y="2423160"/>
            <a:ext cx="9905695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de los MCIA</a:t>
            </a:r>
            <a:endParaRPr lang="en-US" sz="2000" dirty="0"/>
          </a:p>
        </p:txBody>
      </p:sp>
      <p:sp>
        <p:nvSpPr>
          <p:cNvPr id="13" name="card_32"/>
          <p:cNvSpPr/>
          <p:nvPr/>
        </p:nvSpPr>
        <p:spPr>
          <a:xfrm>
            <a:off x="548640" y="338328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2F5F8"/>
          </a:solidFill>
          <a:ln/>
        </p:spPr>
      </p:sp>
      <p:sp>
        <p:nvSpPr>
          <p:cNvPr id="14" name="Shape 11"/>
          <p:cNvSpPr/>
          <p:nvPr/>
        </p:nvSpPr>
        <p:spPr>
          <a:xfrm>
            <a:off x="777240" y="3493008"/>
            <a:ext cx="566928" cy="566928"/>
          </a:xfrm>
          <a:prstGeom prst="ellipse">
            <a:avLst/>
          </a:prstGeom>
          <a:solidFill>
            <a:srgbClr val="15233F"/>
          </a:solidFill>
          <a:ln/>
        </p:spPr>
      </p:sp>
      <p:sp>
        <p:nvSpPr>
          <p:cNvPr id="15" name="txt_33"/>
          <p:cNvSpPr txBox="1"/>
          <p:nvPr/>
        </p:nvSpPr>
        <p:spPr>
          <a:xfrm>
            <a:off x="777240" y="3493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1500" dirty="0"/>
          </a:p>
        </p:txBody>
      </p:sp>
      <p:sp>
        <p:nvSpPr>
          <p:cNvPr id="16" name="txt_34"/>
          <p:cNvSpPr txBox="1"/>
          <p:nvPr/>
        </p:nvSpPr>
        <p:spPr>
          <a:xfrm>
            <a:off x="1554480" y="3383280"/>
            <a:ext cx="9905695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Constitución del motor</a:t>
            </a:r>
            <a:endParaRPr lang="en-US" sz="2000" dirty="0"/>
          </a:p>
        </p:txBody>
      </p:sp>
      <p:sp>
        <p:nvSpPr>
          <p:cNvPr id="17" name="card_35"/>
          <p:cNvSpPr/>
          <p:nvPr/>
        </p:nvSpPr>
        <p:spPr>
          <a:xfrm>
            <a:off x="548640" y="434340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2F5F8"/>
          </a:solidFill>
          <a:ln/>
        </p:spPr>
      </p:sp>
      <p:sp>
        <p:nvSpPr>
          <p:cNvPr id="18" name="Shape 15"/>
          <p:cNvSpPr/>
          <p:nvPr/>
        </p:nvSpPr>
        <p:spPr>
          <a:xfrm>
            <a:off x="777240" y="4453128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9" name="txt_36"/>
          <p:cNvSpPr txBox="1"/>
          <p:nvPr/>
        </p:nvSpPr>
        <p:spPr>
          <a:xfrm>
            <a:off x="777240" y="4453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1500" dirty="0"/>
          </a:p>
        </p:txBody>
      </p:sp>
      <p:sp>
        <p:nvSpPr>
          <p:cNvPr id="20" name="txt_37"/>
          <p:cNvSpPr txBox="1"/>
          <p:nvPr/>
        </p:nvSpPr>
        <p:spPr>
          <a:xfrm>
            <a:off x="1554480" y="4343400"/>
            <a:ext cx="9905695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Partes fijas del motor</a:t>
            </a:r>
            <a:endParaRPr lang="en-US" sz="2000" dirty="0"/>
          </a:p>
        </p:txBody>
      </p:sp>
      <p:sp>
        <p:nvSpPr>
          <p:cNvPr id="21" name="card_38"/>
          <p:cNvSpPr/>
          <p:nvPr/>
        </p:nvSpPr>
        <p:spPr>
          <a:xfrm>
            <a:off x="548640" y="530352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2F5F8"/>
          </a:solidFill>
          <a:ln/>
        </p:spPr>
      </p:sp>
      <p:sp>
        <p:nvSpPr>
          <p:cNvPr id="22" name="Shape 19"/>
          <p:cNvSpPr/>
          <p:nvPr/>
        </p:nvSpPr>
        <p:spPr>
          <a:xfrm>
            <a:off x="777240" y="5413248"/>
            <a:ext cx="566928" cy="566928"/>
          </a:xfrm>
          <a:prstGeom prst="ellipse">
            <a:avLst/>
          </a:prstGeom>
          <a:solidFill>
            <a:srgbClr val="15233F"/>
          </a:solidFill>
          <a:ln/>
        </p:spPr>
      </p:sp>
      <p:sp>
        <p:nvSpPr>
          <p:cNvPr id="23" name="txt_39"/>
          <p:cNvSpPr txBox="1"/>
          <p:nvPr/>
        </p:nvSpPr>
        <p:spPr>
          <a:xfrm>
            <a:off x="777240" y="5413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1500" dirty="0"/>
          </a:p>
        </p:txBody>
      </p:sp>
      <p:sp>
        <p:nvSpPr>
          <p:cNvPr id="24" name="txt_40"/>
          <p:cNvSpPr txBox="1"/>
          <p:nvPr/>
        </p:nvSpPr>
        <p:spPr>
          <a:xfrm>
            <a:off x="1554480" y="5303520"/>
            <a:ext cx="9905695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Partes móviles del motor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general del MCIA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526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MCIA, principio general de funcionamiento y aplicación en automoción.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052560" y="2011680"/>
            <a:ext cx="2377440" cy="2377440"/>
          </a:xfrm>
          <a:prstGeom prst="ellipse">
            <a:avLst/>
          </a:prstGeom>
          <a:solidFill>
            <a:srgbClr val="2234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60604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Motores (MA.01.04)  ·  Unidad 3: MCIA, clasificación y constitución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Máquina térmica y motor térmico</a:t>
            </a:r>
            <a:endParaRPr lang="en-US" sz="3000" dirty="0"/>
          </a:p>
        </p:txBody>
      </p:sp>
      <p:sp>
        <p:nvSpPr>
          <p:cNvPr id="3" name="kicker_41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·  CONCEPTO GENERAL DEL MCIA</a:t>
            </a:r>
            <a:endParaRPr lang="en-US" sz="1100" dirty="0"/>
          </a:p>
        </p:txBody>
      </p:sp>
      <p:sp>
        <p:nvSpPr>
          <p:cNvPr id="5" name="txt_42"/>
          <p:cNvSpPr txBox="1"/>
          <p:nvPr/>
        </p:nvSpPr>
        <p:spPr>
          <a:xfrm>
            <a:off x="548640" y="1463040"/>
            <a:ext cx="566928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térmico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conjunto de elementos mecánicos que obtiene energía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partir de la energía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térmica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liberada en una combustión.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Combustión externa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(exotérmicos): la combustión ocurre fuera del motor. Ej.: máquina de vapor.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Combustión interna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(endotérmicos): la combustión ocurre dentro del propio motor, en el fluido de trabajo. Ej.: motores de gasolina y diésel.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Fluido de trabajo: vapor de agua, aire o los gases de la combustión.</a:t>
            </a:r>
            <a:endParaRPr lang="en-US" sz="1600" dirty="0"/>
          </a:p>
        </p:txBody>
      </p:sp>
      <p:sp>
        <p:nvSpPr>
          <p:cNvPr id="6" name="fig_43"/>
          <p:cNvSpPr/>
          <p:nvPr/>
        </p:nvSpPr>
        <p:spPr>
          <a:xfrm>
            <a:off x="6492240" y="1463040"/>
            <a:ext cx="5150815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g_44" descr="/home/claude/img/u34_u3mci_4_0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382" y="1572768"/>
            <a:ext cx="4900531" cy="1499616"/>
          </a:xfrm>
          <a:prstGeom prst="rect">
            <a:avLst/>
          </a:prstGeom>
        </p:spPr>
      </p:pic>
      <p:sp>
        <p:nvSpPr>
          <p:cNvPr id="8" name="cap_45"/>
          <p:cNvSpPr txBox="1"/>
          <p:nvPr/>
        </p:nvSpPr>
        <p:spPr>
          <a:xfrm>
            <a:off x="6583680" y="3127248"/>
            <a:ext cx="4967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Combustión externa: locomotora de vapor</a:t>
            </a:r>
            <a:endParaRPr lang="en-US" sz="1100" dirty="0"/>
          </a:p>
        </p:txBody>
      </p:sp>
      <p:sp>
        <p:nvSpPr>
          <p:cNvPr id="9" name="fig_46"/>
          <p:cNvSpPr/>
          <p:nvPr/>
        </p:nvSpPr>
        <p:spPr>
          <a:xfrm>
            <a:off x="6492240" y="3794760"/>
            <a:ext cx="2377440" cy="2423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g_47" descr="/home/claude/img/u34_advantage_5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517" y="3904488"/>
            <a:ext cx="1518886" cy="1819656"/>
          </a:xfrm>
          <a:prstGeom prst="rect">
            <a:avLst/>
          </a:prstGeom>
        </p:spPr>
      </p:pic>
      <p:sp>
        <p:nvSpPr>
          <p:cNvPr id="11" name="cap_48"/>
          <p:cNvSpPr txBox="1"/>
          <p:nvPr/>
        </p:nvSpPr>
        <p:spPr>
          <a:xfrm>
            <a:off x="6583680" y="57790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continuo (turbina)</a:t>
            </a:r>
            <a:endParaRPr lang="en-US" sz="1100" dirty="0"/>
          </a:p>
        </p:txBody>
      </p:sp>
      <p:sp>
        <p:nvSpPr>
          <p:cNvPr id="12" name="fig_49"/>
          <p:cNvSpPr/>
          <p:nvPr/>
        </p:nvSpPr>
        <p:spPr>
          <a:xfrm>
            <a:off x="9098280" y="3794760"/>
            <a:ext cx="2544775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g_50" descr="/home/claude/img/u34_advantage_8_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1604" y="3904488"/>
            <a:ext cx="2258127" cy="1819656"/>
          </a:xfrm>
          <a:prstGeom prst="rect">
            <a:avLst/>
          </a:prstGeom>
        </p:spPr>
      </p:pic>
      <p:sp>
        <p:nvSpPr>
          <p:cNvPr id="14" name="cap_51"/>
          <p:cNvSpPr txBox="1"/>
          <p:nvPr/>
        </p:nvSpPr>
        <p:spPr>
          <a:xfrm>
            <a:off x="9189720" y="5779008"/>
            <a:ext cx="2361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Combustión interna alternativo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 de MCIA</a:t>
            </a:r>
            <a:endParaRPr lang="en-US" sz="3000" dirty="0"/>
          </a:p>
        </p:txBody>
      </p:sp>
      <p:sp>
        <p:nvSpPr>
          <p:cNvPr id="3" name="kicker_52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·  CONCEPTO GENERAL DEL MCIA</a:t>
            </a:r>
            <a:endParaRPr lang="en-US" sz="1100" dirty="0"/>
          </a:p>
        </p:txBody>
      </p:sp>
      <p:sp>
        <p:nvSpPr>
          <p:cNvPr id="5" name="card_53"/>
          <p:cNvSpPr/>
          <p:nvPr/>
        </p:nvSpPr>
        <p:spPr>
          <a:xfrm>
            <a:off x="548640" y="1463040"/>
            <a:ext cx="11094415" cy="1188720"/>
          </a:xfrm>
          <a:prstGeom prst="roundRect">
            <a:avLst>
              <a:gd name="adj" fmla="val 7692"/>
            </a:avLst>
          </a:prstGeom>
          <a:solidFill>
            <a:srgbClr val="15233F"/>
          </a:solidFill>
          <a:ln/>
        </p:spPr>
      </p:sp>
      <p:sp>
        <p:nvSpPr>
          <p:cNvPr id="6" name="txt_54"/>
          <p:cNvSpPr txBox="1"/>
          <p:nvPr/>
        </p:nvSpPr>
        <p:spPr>
          <a:xfrm>
            <a:off x="822960" y="1554480"/>
            <a:ext cx="10545775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combustión interna alternativo (MCIA)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una máquina que transforma la energía química del combustible en energía mecánica mediante la combustión dentro de un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cilindro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donde un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pistón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movimiento alternativo (lineal de vaivén) entre PMS y PMI acciona un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cigüeñal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txt_55"/>
          <p:cNvSpPr txBox="1"/>
          <p:nvPr/>
        </p:nvSpPr>
        <p:spPr>
          <a:xfrm>
            <a:off x="548640" y="2880360"/>
            <a:ext cx="5577840" cy="3337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Alternativo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pistón sube y baja; el movimiento se convierte en rotación con el mecanismo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biela–manivela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Rotativo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(Wankel): los órganos principales giran sin cambiar de sentido.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Volumétrico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trabajo lo realiza un fluido que actúa sobre elementos que encierran un volumen variable, entre un máximo y un mínimo.</a:t>
            </a:r>
            <a:endParaRPr lang="en-US" sz="1600" dirty="0"/>
          </a:p>
        </p:txBody>
      </p:sp>
      <p:sp>
        <p:nvSpPr>
          <p:cNvPr id="8" name="fig_56"/>
          <p:cNvSpPr/>
          <p:nvPr/>
        </p:nvSpPr>
        <p:spPr>
          <a:xfrm>
            <a:off x="6400800" y="2880360"/>
            <a:ext cx="2514600" cy="33375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g_57" descr="/home/claude/img/u34_advantage_6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28" y="3357975"/>
            <a:ext cx="2295144" cy="1998282"/>
          </a:xfrm>
          <a:prstGeom prst="rect">
            <a:avLst/>
          </a:prstGeom>
        </p:spPr>
      </p:pic>
      <p:sp>
        <p:nvSpPr>
          <p:cNvPr id="10" name="cap_58"/>
          <p:cNvSpPr txBox="1"/>
          <p:nvPr/>
        </p:nvSpPr>
        <p:spPr>
          <a:xfrm>
            <a:off x="6492240" y="57790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alternativo</a:t>
            </a:r>
            <a:endParaRPr lang="en-US" sz="1100" dirty="0"/>
          </a:p>
        </p:txBody>
      </p:sp>
      <p:sp>
        <p:nvSpPr>
          <p:cNvPr id="11" name="fig_59"/>
          <p:cNvSpPr/>
          <p:nvPr/>
        </p:nvSpPr>
        <p:spPr>
          <a:xfrm>
            <a:off x="9098280" y="2880360"/>
            <a:ext cx="2544775" cy="3337560"/>
          </a:xfrm>
          <a:prstGeom prst="roundRect">
            <a:avLst>
              <a:gd name="adj" fmla="val 2875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g_60" descr="/home/claude/img/u34_advantage_6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8008" y="3335799"/>
            <a:ext cx="2325319" cy="2042633"/>
          </a:xfrm>
          <a:prstGeom prst="rect">
            <a:avLst/>
          </a:prstGeom>
        </p:spPr>
      </p:pic>
      <p:sp>
        <p:nvSpPr>
          <p:cNvPr id="13" name="cap_61"/>
          <p:cNvSpPr txBox="1"/>
          <p:nvPr/>
        </p:nvSpPr>
        <p:spPr>
          <a:xfrm>
            <a:off x="9189720" y="5779008"/>
            <a:ext cx="2361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rotativo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Alternativos frente a rotativos</a:t>
            </a:r>
            <a:endParaRPr lang="en-US" sz="3000" dirty="0"/>
          </a:p>
        </p:txBody>
      </p:sp>
      <p:sp>
        <p:nvSpPr>
          <p:cNvPr id="3" name="kicker_62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·  CONCEPTO GENERAL DEL MCIA</a:t>
            </a:r>
            <a:endParaRPr lang="en-US" sz="1100" dirty="0"/>
          </a:p>
        </p:txBody>
      </p:sp>
      <p:graphicFrame>
        <p:nvGraphicFramePr>
          <p:cNvPr id="8" name="tbl_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680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26517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alternativo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rotativo (Wankel)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Movimiento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Lineal del pistón → rotación por biela–manivela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Rotación directa del rotor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Tamaño para igual potencia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Reducido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Vibraciones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Mayores (masas alternativas)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Emisiones y consumo de aceite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Controlables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Difíciles de controlar; alto consumo de aceite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Estanqueidad y mantenimiento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Buena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Problemas de estanqueidad, mantenimiento elevado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Coste de producción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Moderado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Elevado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fig_64"/>
          <p:cNvSpPr/>
          <p:nvPr/>
        </p:nvSpPr>
        <p:spPr>
          <a:xfrm>
            <a:off x="8595360" y="1463040"/>
            <a:ext cx="3047695" cy="475488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g_65" descr="/home/claude/img/u34_u3mci_2_0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88" y="1762963"/>
            <a:ext cx="2828239" cy="3770986"/>
          </a:xfrm>
          <a:prstGeom prst="rect">
            <a:avLst/>
          </a:prstGeom>
        </p:spPr>
      </p:pic>
      <p:sp>
        <p:nvSpPr>
          <p:cNvPr id="8" name="cap_66"/>
          <p:cNvSpPr txBox="1"/>
          <p:nvPr/>
        </p:nvSpPr>
        <p:spPr>
          <a:xfrm>
            <a:off x="8686800" y="5779008"/>
            <a:ext cx="28648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Rotor del motor Wankel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 general de funcionamiento</a:t>
            </a:r>
            <a:endParaRPr lang="en-US" sz="3000" dirty="0"/>
          </a:p>
        </p:txBody>
      </p:sp>
      <p:sp>
        <p:nvSpPr>
          <p:cNvPr id="3" name="kicker_67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·  CONCEPTO GENERAL DEL MCIA</a:t>
            </a:r>
            <a:endParaRPr lang="en-US" sz="1100" dirty="0"/>
          </a:p>
        </p:txBody>
      </p:sp>
      <p:sp>
        <p:nvSpPr>
          <p:cNvPr id="5" name="card_68"/>
          <p:cNvSpPr/>
          <p:nvPr/>
        </p:nvSpPr>
        <p:spPr>
          <a:xfrm>
            <a:off x="548640" y="146304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2F5F8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22345A"/>
          </a:solidFill>
          <a:ln/>
        </p:spPr>
      </p:sp>
      <p:sp>
        <p:nvSpPr>
          <p:cNvPr id="7" name="txt_69"/>
          <p:cNvSpPr txBox="1"/>
          <p:nvPr/>
        </p:nvSpPr>
        <p:spPr>
          <a:xfrm>
            <a:off x="77724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xt_70"/>
          <p:cNvSpPr txBox="1"/>
          <p:nvPr/>
        </p:nvSpPr>
        <p:spPr>
          <a:xfrm>
            <a:off x="1463040" y="1645920"/>
            <a:ext cx="16459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Mezcla en el cilindro</a:t>
            </a:r>
            <a:endParaRPr lang="en-US" sz="1600" dirty="0"/>
          </a:p>
        </p:txBody>
      </p:sp>
      <p:sp>
        <p:nvSpPr>
          <p:cNvPr id="9" name="txt_71"/>
          <p:cNvSpPr txBox="1"/>
          <p:nvPr/>
        </p:nvSpPr>
        <p:spPr>
          <a:xfrm>
            <a:off x="777240" y="2423160"/>
            <a:ext cx="21945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 + combustible (energía química)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154680" y="2560320"/>
            <a:ext cx="210312" cy="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1" name="card_72"/>
          <p:cNvSpPr/>
          <p:nvPr/>
        </p:nvSpPr>
        <p:spPr>
          <a:xfrm>
            <a:off x="3364992" y="146304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2F5F8"/>
          </a:solidFill>
          <a:ln/>
        </p:spPr>
      </p:sp>
      <p:sp>
        <p:nvSpPr>
          <p:cNvPr id="12" name="Shape 9"/>
          <p:cNvSpPr/>
          <p:nvPr/>
        </p:nvSpPr>
        <p:spPr>
          <a:xfrm>
            <a:off x="3593592" y="169164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xt_73"/>
          <p:cNvSpPr txBox="1"/>
          <p:nvPr/>
        </p:nvSpPr>
        <p:spPr>
          <a:xfrm>
            <a:off x="3593592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xt_74"/>
          <p:cNvSpPr txBox="1"/>
          <p:nvPr/>
        </p:nvSpPr>
        <p:spPr>
          <a:xfrm>
            <a:off x="4279392" y="1645920"/>
            <a:ext cx="16459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Combustión</a:t>
            </a:r>
            <a:endParaRPr lang="en-US" sz="1600" dirty="0"/>
          </a:p>
        </p:txBody>
      </p:sp>
      <p:sp>
        <p:nvSpPr>
          <p:cNvPr id="15" name="txt_75"/>
          <p:cNvSpPr txBox="1"/>
          <p:nvPr/>
        </p:nvSpPr>
        <p:spPr>
          <a:xfrm>
            <a:off x="3593592" y="2423160"/>
            <a:ext cx="21945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Aumentan presión y temperatura (energía térmica)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971032" y="2560320"/>
            <a:ext cx="210312" cy="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7" name="card_76"/>
          <p:cNvSpPr/>
          <p:nvPr/>
        </p:nvSpPr>
        <p:spPr>
          <a:xfrm>
            <a:off x="6181344" y="146304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2F5F8"/>
          </a:solidFill>
          <a:ln/>
        </p:spPr>
      </p:sp>
      <p:sp>
        <p:nvSpPr>
          <p:cNvPr id="18" name="Shape 15"/>
          <p:cNvSpPr/>
          <p:nvPr/>
        </p:nvSpPr>
        <p:spPr>
          <a:xfrm>
            <a:off x="6409944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9" name="txt_77"/>
          <p:cNvSpPr txBox="1"/>
          <p:nvPr/>
        </p:nvSpPr>
        <p:spPr>
          <a:xfrm>
            <a:off x="6409944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xt_78"/>
          <p:cNvSpPr txBox="1"/>
          <p:nvPr/>
        </p:nvSpPr>
        <p:spPr>
          <a:xfrm>
            <a:off x="7095744" y="1645920"/>
            <a:ext cx="16459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Empuje del pistón</a:t>
            </a:r>
            <a:endParaRPr lang="en-US" sz="1600" dirty="0"/>
          </a:p>
        </p:txBody>
      </p:sp>
      <p:sp>
        <p:nvSpPr>
          <p:cNvPr id="21" name="txt_79"/>
          <p:cNvSpPr txBox="1"/>
          <p:nvPr/>
        </p:nvSpPr>
        <p:spPr>
          <a:xfrm>
            <a:off x="6409944" y="2423160"/>
            <a:ext cx="21945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presión mueve el pistón (trabajo lineal)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787384" y="2560320"/>
            <a:ext cx="210312" cy="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3" name="card_80"/>
          <p:cNvSpPr/>
          <p:nvPr/>
        </p:nvSpPr>
        <p:spPr>
          <a:xfrm>
            <a:off x="8997696" y="146304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2F5F8"/>
          </a:solidFill>
          <a:ln/>
        </p:spPr>
      </p:sp>
      <p:sp>
        <p:nvSpPr>
          <p:cNvPr id="24" name="Shape 21"/>
          <p:cNvSpPr/>
          <p:nvPr/>
        </p:nvSpPr>
        <p:spPr>
          <a:xfrm>
            <a:off x="9226296" y="1691640"/>
            <a:ext cx="566928" cy="566928"/>
          </a:xfrm>
          <a:prstGeom prst="ellipse">
            <a:avLst/>
          </a:prstGeom>
          <a:solidFill>
            <a:srgbClr val="15233F"/>
          </a:solidFill>
          <a:ln/>
        </p:spPr>
      </p:sp>
      <p:sp>
        <p:nvSpPr>
          <p:cNvPr id="25" name="txt_81"/>
          <p:cNvSpPr txBox="1"/>
          <p:nvPr/>
        </p:nvSpPr>
        <p:spPr>
          <a:xfrm>
            <a:off x="9226296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xt_82"/>
          <p:cNvSpPr txBox="1"/>
          <p:nvPr/>
        </p:nvSpPr>
        <p:spPr>
          <a:xfrm>
            <a:off x="9912096" y="1645920"/>
            <a:ext cx="16459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Giro del cigüeñal</a:t>
            </a:r>
            <a:endParaRPr lang="en-US" sz="1600" dirty="0"/>
          </a:p>
        </p:txBody>
      </p:sp>
      <p:sp>
        <p:nvSpPr>
          <p:cNvPr id="27" name="txt_83"/>
          <p:cNvSpPr txBox="1"/>
          <p:nvPr/>
        </p:nvSpPr>
        <p:spPr>
          <a:xfrm>
            <a:off x="9226296" y="2423160"/>
            <a:ext cx="21945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biela convierte el movimiento en rotación (par motor)</a:t>
            </a:r>
            <a:endParaRPr lang="en-US" sz="1400" dirty="0"/>
          </a:p>
        </p:txBody>
      </p:sp>
      <p:sp>
        <p:nvSpPr>
          <p:cNvPr id="28" name="fig_84"/>
          <p:cNvSpPr/>
          <p:nvPr/>
        </p:nvSpPr>
        <p:spPr>
          <a:xfrm>
            <a:off x="548640" y="3886200"/>
            <a:ext cx="27432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9" name="img_85" descr="/home/claude/img/u34_u3mci_17_1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1819" y="3995928"/>
            <a:ext cx="796842" cy="1728216"/>
          </a:xfrm>
          <a:prstGeom prst="rect">
            <a:avLst/>
          </a:prstGeom>
        </p:spPr>
      </p:pic>
      <p:sp>
        <p:nvSpPr>
          <p:cNvPr id="30" name="cap_86"/>
          <p:cNvSpPr txBox="1"/>
          <p:nvPr/>
        </p:nvSpPr>
        <p:spPr>
          <a:xfrm>
            <a:off x="640080" y="57790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4 tiempos</a:t>
            </a:r>
            <a:endParaRPr lang="en-US" sz="1100" dirty="0"/>
          </a:p>
        </p:txBody>
      </p:sp>
      <p:sp>
        <p:nvSpPr>
          <p:cNvPr id="31" name="txt_87"/>
          <p:cNvSpPr txBox="1"/>
          <p:nvPr/>
        </p:nvSpPr>
        <p:spPr>
          <a:xfrm>
            <a:off x="3566160" y="3977640"/>
            <a:ext cx="8076895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se repite de forma continua mientras haya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aire, combustible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encendido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(chispa o autoencendido).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la energía se pierde como calor (refrigeración y escape) y por fricción (Unidad 1, apartado 1.1).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 general en automoción</a:t>
            </a:r>
            <a:endParaRPr lang="en-US" sz="3000" dirty="0"/>
          </a:p>
        </p:txBody>
      </p:sp>
      <p:sp>
        <p:nvSpPr>
          <p:cNvPr id="3" name="kicker_88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·  CONCEPTO GENERAL DEL MCIA</a:t>
            </a:r>
            <a:endParaRPr lang="en-US" sz="1100" dirty="0"/>
          </a:p>
        </p:txBody>
      </p:sp>
      <p:sp>
        <p:nvSpPr>
          <p:cNvPr id="5" name="card_89"/>
          <p:cNvSpPr/>
          <p:nvPr/>
        </p:nvSpPr>
        <p:spPr>
          <a:xfrm>
            <a:off x="548640" y="1463040"/>
            <a:ext cx="3515258" cy="2743200"/>
          </a:xfrm>
          <a:prstGeom prst="roundRect">
            <a:avLst>
              <a:gd name="adj" fmla="val 3333"/>
            </a:avLst>
          </a:prstGeom>
          <a:solidFill>
            <a:srgbClr val="F2F5F8"/>
          </a:solidFill>
          <a:ln/>
        </p:spPr>
      </p:sp>
      <p:sp>
        <p:nvSpPr>
          <p:cNvPr id="6" name="dot_90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7" name="ic_9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19656"/>
            <a:ext cx="310896" cy="310896"/>
          </a:xfrm>
          <a:prstGeom prst="rect">
            <a:avLst/>
          </a:prstGeom>
        </p:spPr>
      </p:pic>
      <p:sp>
        <p:nvSpPr>
          <p:cNvPr id="8" name="txt_92"/>
          <p:cNvSpPr txBox="1"/>
          <p:nvPr/>
        </p:nvSpPr>
        <p:spPr>
          <a:xfrm>
            <a:off x="1481328" y="16642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Automoción</a:t>
            </a:r>
            <a:endParaRPr lang="en-US" sz="1700" dirty="0"/>
          </a:p>
        </p:txBody>
      </p:sp>
      <p:sp>
        <p:nvSpPr>
          <p:cNvPr id="9" name="txt_93"/>
          <p:cNvSpPr txBox="1"/>
          <p:nvPr/>
        </p:nvSpPr>
        <p:spPr>
          <a:xfrm>
            <a:off x="777240" y="2377440"/>
            <a:ext cx="3103778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Automóviles y motocicletas.</a:t>
            </a:r>
            <a:endParaRPr lang="en-US" sz="14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Camiones, buses y maquinaria agrícola y de obras.</a:t>
            </a:r>
            <a:endParaRPr lang="en-US" sz="14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Trenes, barcos y pequeños aviones.</a:t>
            </a:r>
            <a:endParaRPr lang="en-US" sz="1400" dirty="0"/>
          </a:p>
        </p:txBody>
      </p:sp>
      <p:sp>
        <p:nvSpPr>
          <p:cNvPr id="10" name="card_94"/>
          <p:cNvSpPr/>
          <p:nvPr/>
        </p:nvSpPr>
        <p:spPr>
          <a:xfrm>
            <a:off x="4338218" y="1463040"/>
            <a:ext cx="3515258" cy="2743200"/>
          </a:xfrm>
          <a:prstGeom prst="roundRect">
            <a:avLst>
              <a:gd name="adj" fmla="val 3333"/>
            </a:avLst>
          </a:prstGeom>
          <a:solidFill>
            <a:srgbClr val="F2F5F8"/>
          </a:solidFill>
          <a:ln/>
        </p:spPr>
      </p:sp>
      <p:sp>
        <p:nvSpPr>
          <p:cNvPr id="11" name="dot_95"/>
          <p:cNvSpPr/>
          <p:nvPr/>
        </p:nvSpPr>
        <p:spPr>
          <a:xfrm>
            <a:off x="4566818" y="169164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2" name="ic_9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834" y="1819656"/>
            <a:ext cx="310896" cy="310896"/>
          </a:xfrm>
          <a:prstGeom prst="rect">
            <a:avLst/>
          </a:prstGeom>
        </p:spPr>
      </p:pic>
      <p:sp>
        <p:nvSpPr>
          <p:cNvPr id="13" name="txt_97"/>
          <p:cNvSpPr txBox="1"/>
          <p:nvPr/>
        </p:nvSpPr>
        <p:spPr>
          <a:xfrm>
            <a:off x="5270906" y="16642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Otros usos</a:t>
            </a:r>
            <a:endParaRPr lang="en-US" sz="1700" dirty="0"/>
          </a:p>
        </p:txBody>
      </p:sp>
      <p:sp>
        <p:nvSpPr>
          <p:cNvPr id="14" name="txt_98"/>
          <p:cNvSpPr txBox="1"/>
          <p:nvPr/>
        </p:nvSpPr>
        <p:spPr>
          <a:xfrm>
            <a:off x="4566818" y="2377440"/>
            <a:ext cx="3103778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energía eléctrica.</a:t>
            </a:r>
            <a:endParaRPr lang="en-US" sz="14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Accionamiento industrial: bombas, compresores, transportadoras.</a:t>
            </a:r>
            <a:endParaRPr lang="en-US" sz="1400" dirty="0"/>
          </a:p>
        </p:txBody>
      </p:sp>
      <p:sp>
        <p:nvSpPr>
          <p:cNvPr id="15" name="card_99"/>
          <p:cNvSpPr/>
          <p:nvPr/>
        </p:nvSpPr>
        <p:spPr>
          <a:xfrm>
            <a:off x="8127797" y="1463040"/>
            <a:ext cx="3515258" cy="2743200"/>
          </a:xfrm>
          <a:prstGeom prst="roundRect">
            <a:avLst>
              <a:gd name="adj" fmla="val 3333"/>
            </a:avLst>
          </a:prstGeom>
          <a:solidFill>
            <a:srgbClr val="F2F5F8"/>
          </a:solidFill>
          <a:ln/>
        </p:spPr>
      </p:sp>
      <p:sp>
        <p:nvSpPr>
          <p:cNvPr id="16" name="dot_100"/>
          <p:cNvSpPr/>
          <p:nvPr/>
        </p:nvSpPr>
        <p:spPr>
          <a:xfrm>
            <a:off x="8356397" y="1691640"/>
            <a:ext cx="566928" cy="566928"/>
          </a:xfrm>
          <a:prstGeom prst="ellipse">
            <a:avLst/>
          </a:prstGeom>
          <a:solidFill>
            <a:srgbClr val="22345A"/>
          </a:solidFill>
          <a:ln/>
        </p:spPr>
      </p:sp>
      <p:pic>
        <p:nvPicPr>
          <p:cNvPr id="17" name="ic_10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4413" y="1819656"/>
            <a:ext cx="310896" cy="310896"/>
          </a:xfrm>
          <a:prstGeom prst="rect">
            <a:avLst/>
          </a:prstGeom>
        </p:spPr>
      </p:pic>
      <p:sp>
        <p:nvSpPr>
          <p:cNvPr id="18" name="txt_102"/>
          <p:cNvSpPr txBox="1"/>
          <p:nvPr/>
        </p:nvSpPr>
        <p:spPr>
          <a:xfrm>
            <a:off x="9060485" y="16642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son tan usados</a:t>
            </a:r>
            <a:endParaRPr lang="en-US" sz="1700" dirty="0"/>
          </a:p>
        </p:txBody>
      </p:sp>
      <p:sp>
        <p:nvSpPr>
          <p:cNvPr id="19" name="txt_103"/>
          <p:cNvSpPr txBox="1"/>
          <p:nvPr/>
        </p:nvSpPr>
        <p:spPr>
          <a:xfrm>
            <a:off x="8356397" y="2377440"/>
            <a:ext cx="3103778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Versátiles y compactos.</a:t>
            </a:r>
            <a:endParaRPr lang="en-US" sz="14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aceptable.</a:t>
            </a:r>
            <a:endParaRPr lang="en-US" sz="14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Combustibles de alto poder calorífico y fácil almacenamiento.</a:t>
            </a:r>
            <a:endParaRPr lang="en-US" sz="1400" dirty="0"/>
          </a:p>
        </p:txBody>
      </p:sp>
      <p:sp>
        <p:nvSpPr>
          <p:cNvPr id="20" name="fig_104"/>
          <p:cNvSpPr/>
          <p:nvPr/>
        </p:nvSpPr>
        <p:spPr>
          <a:xfrm>
            <a:off x="548640" y="443484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g_105" descr="/home/claude/img/u34_advantage_8_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9757" y="4544568"/>
            <a:ext cx="1364166" cy="1179576"/>
          </a:xfrm>
          <a:prstGeom prst="rect">
            <a:avLst/>
          </a:prstGeom>
        </p:spPr>
      </p:pic>
      <p:sp>
        <p:nvSpPr>
          <p:cNvPr id="22" name="cap_106"/>
          <p:cNvSpPr txBox="1"/>
          <p:nvPr/>
        </p:nvSpPr>
        <p:spPr>
          <a:xfrm>
            <a:off x="640080" y="577900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ciclo diésel</a:t>
            </a:r>
            <a:endParaRPr lang="en-US" sz="1100" dirty="0"/>
          </a:p>
        </p:txBody>
      </p:sp>
      <p:sp>
        <p:nvSpPr>
          <p:cNvPr id="23" name="fig_107"/>
          <p:cNvSpPr/>
          <p:nvPr/>
        </p:nvSpPr>
        <p:spPr>
          <a:xfrm>
            <a:off x="6309360" y="4434840"/>
            <a:ext cx="5333695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g_108" descr="/home/claude/img/u34_advantage_8_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4302" y="4544568"/>
            <a:ext cx="1463811" cy="1179576"/>
          </a:xfrm>
          <a:prstGeom prst="rect">
            <a:avLst/>
          </a:prstGeom>
        </p:spPr>
      </p:pic>
      <p:sp>
        <p:nvSpPr>
          <p:cNvPr id="25" name="cap_109"/>
          <p:cNvSpPr txBox="1"/>
          <p:nvPr/>
        </p:nvSpPr>
        <p:spPr>
          <a:xfrm>
            <a:off x="6400800" y="5779008"/>
            <a:ext cx="51508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ciclo Otto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de los MCIA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526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criterios del PEA para clasificar los motores de combustión interna alternativos.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052560" y="2011680"/>
            <a:ext cx="2377440" cy="2377440"/>
          </a:xfrm>
          <a:prstGeom prst="ellipse">
            <a:avLst/>
          </a:prstGeom>
          <a:solidFill>
            <a:srgbClr val="2234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60604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Motores (MA.01.04)  ·  Unidad 3: MCIA, clasificación y constitución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Según el ciclo de trabajo</a:t>
            </a:r>
            <a:endParaRPr lang="en-US" sz="3000" dirty="0"/>
          </a:p>
        </p:txBody>
      </p:sp>
      <p:sp>
        <p:nvSpPr>
          <p:cNvPr id="3" name="kicker_110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·  CLASIFICACIÓN DE LOS MCIA</a:t>
            </a:r>
            <a:endParaRPr lang="en-US" sz="1100" dirty="0"/>
          </a:p>
        </p:txBody>
      </p:sp>
      <p:sp>
        <p:nvSpPr>
          <p:cNvPr id="5" name="card_111"/>
          <p:cNvSpPr/>
          <p:nvPr/>
        </p:nvSpPr>
        <p:spPr>
          <a:xfrm>
            <a:off x="548640" y="1463040"/>
            <a:ext cx="6583680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6" name="dot_112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7" name="txt_113"/>
          <p:cNvSpPr txBox="1"/>
          <p:nvPr/>
        </p:nvSpPr>
        <p:spPr>
          <a:xfrm>
            <a:off x="77724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</a:t>
            </a:r>
            <a:endParaRPr lang="en-US" sz="1800" dirty="0"/>
          </a:p>
        </p:txBody>
      </p:sp>
      <p:sp>
        <p:nvSpPr>
          <p:cNvPr id="8" name="txt_114"/>
          <p:cNvSpPr txBox="1"/>
          <p:nvPr/>
        </p:nvSpPr>
        <p:spPr>
          <a:xfrm>
            <a:off x="1481328" y="1664208"/>
            <a:ext cx="5486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tiempos</a:t>
            </a:r>
            <a:endParaRPr lang="en-US" sz="1700" dirty="0"/>
          </a:p>
        </p:txBody>
      </p:sp>
      <p:sp>
        <p:nvSpPr>
          <p:cNvPr id="9" name="txt_115"/>
          <p:cNvSpPr txBox="1"/>
          <p:nvPr/>
        </p:nvSpPr>
        <p:spPr>
          <a:xfrm>
            <a:off x="777240" y="2377440"/>
            <a:ext cx="617220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pistón realiza 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carreras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admisión, compresión, expansión y escape.</a:t>
            </a:r>
            <a:endParaRPr lang="en-US" sz="15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cigüeñal gira 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720°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 vueltas) por ciclo.</a:t>
            </a:r>
            <a:endParaRPr lang="en-US" sz="15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Automóviles, camiones y la mayoría de motores.</a:t>
            </a:r>
            <a:endParaRPr lang="en-US" sz="1500" dirty="0"/>
          </a:p>
        </p:txBody>
      </p:sp>
      <p:sp>
        <p:nvSpPr>
          <p:cNvPr id="10" name="card_116"/>
          <p:cNvSpPr/>
          <p:nvPr/>
        </p:nvSpPr>
        <p:spPr>
          <a:xfrm>
            <a:off x="548640" y="3977640"/>
            <a:ext cx="6583680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11" name="dot_117"/>
          <p:cNvSpPr/>
          <p:nvPr/>
        </p:nvSpPr>
        <p:spPr>
          <a:xfrm>
            <a:off x="777240" y="420624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xt_118"/>
          <p:cNvSpPr txBox="1"/>
          <p:nvPr/>
        </p:nvSpPr>
        <p:spPr>
          <a:xfrm>
            <a:off x="77724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2T</a:t>
            </a:r>
            <a:endParaRPr lang="en-US" sz="1800" dirty="0"/>
          </a:p>
        </p:txBody>
      </p:sp>
      <p:sp>
        <p:nvSpPr>
          <p:cNvPr id="13" name="txt_119"/>
          <p:cNvSpPr txBox="1"/>
          <p:nvPr/>
        </p:nvSpPr>
        <p:spPr>
          <a:xfrm>
            <a:off x="1481328" y="4178808"/>
            <a:ext cx="5486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tiempos</a:t>
            </a:r>
            <a:endParaRPr lang="en-US" sz="1700" dirty="0"/>
          </a:p>
        </p:txBody>
      </p:sp>
      <p:sp>
        <p:nvSpPr>
          <p:cNvPr id="14" name="txt_120"/>
          <p:cNvSpPr txBox="1"/>
          <p:nvPr/>
        </p:nvSpPr>
        <p:spPr>
          <a:xfrm>
            <a:off x="777240" y="4892040"/>
            <a:ext cx="617220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se completa en 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carreras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cigüeñal gira 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 vuelta).</a:t>
            </a:r>
            <a:endParaRPr lang="en-US" sz="15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Motos pequeñas, motosierras, grandes diésel marinos (sobrealimentados).</a:t>
            </a:r>
            <a:endParaRPr lang="en-US" sz="1500" dirty="0"/>
          </a:p>
        </p:txBody>
      </p:sp>
      <p:sp>
        <p:nvSpPr>
          <p:cNvPr id="15" name="fig_121"/>
          <p:cNvSpPr/>
          <p:nvPr/>
        </p:nvSpPr>
        <p:spPr>
          <a:xfrm>
            <a:off x="7406640" y="1463040"/>
            <a:ext cx="2011680" cy="47548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g_122" descr="/home/claude/img/u34_u3mci_17_1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1704940"/>
            <a:ext cx="1792224" cy="3887031"/>
          </a:xfrm>
          <a:prstGeom prst="rect">
            <a:avLst/>
          </a:prstGeom>
        </p:spPr>
      </p:pic>
      <p:sp>
        <p:nvSpPr>
          <p:cNvPr id="17" name="cap_123"/>
          <p:cNvSpPr txBox="1"/>
          <p:nvPr/>
        </p:nvSpPr>
        <p:spPr>
          <a:xfrm>
            <a:off x="7498080" y="57790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</a:t>
            </a:r>
            <a:endParaRPr lang="en-US" sz="1100" dirty="0"/>
          </a:p>
        </p:txBody>
      </p:sp>
      <p:sp>
        <p:nvSpPr>
          <p:cNvPr id="18" name="fig_124"/>
          <p:cNvSpPr/>
          <p:nvPr/>
        </p:nvSpPr>
        <p:spPr>
          <a:xfrm>
            <a:off x="9601200" y="1463040"/>
            <a:ext cx="2041855" cy="4754880"/>
          </a:xfrm>
          <a:prstGeom prst="roundRect">
            <a:avLst>
              <a:gd name="adj" fmla="val 3583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g_125" descr="/home/claude/img/u34_u3mci_17_0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2063521"/>
            <a:ext cx="1822399" cy="3169870"/>
          </a:xfrm>
          <a:prstGeom prst="rect">
            <a:avLst/>
          </a:prstGeom>
        </p:spPr>
      </p:pic>
      <p:sp>
        <p:nvSpPr>
          <p:cNvPr id="20" name="cap_126"/>
          <p:cNvSpPr txBox="1"/>
          <p:nvPr/>
        </p:nvSpPr>
        <p:spPr>
          <a:xfrm>
            <a:off x="9692640" y="5779008"/>
            <a:ext cx="1858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Según el tipo de encendido</a:t>
            </a:r>
            <a:endParaRPr lang="en-US" sz="3000" dirty="0"/>
          </a:p>
        </p:txBody>
      </p:sp>
      <p:sp>
        <p:nvSpPr>
          <p:cNvPr id="3" name="kicker_127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·  CLASIFICACIÓN DE LOS MCIA</a:t>
            </a:r>
            <a:endParaRPr lang="en-US" sz="1100" dirty="0"/>
          </a:p>
        </p:txBody>
      </p:sp>
      <p:sp>
        <p:nvSpPr>
          <p:cNvPr id="5" name="card_128"/>
          <p:cNvSpPr/>
          <p:nvPr/>
        </p:nvSpPr>
        <p:spPr>
          <a:xfrm>
            <a:off x="548640" y="1463040"/>
            <a:ext cx="6949440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6" name="dot_129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7" name="ic_13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19656"/>
            <a:ext cx="310896" cy="310896"/>
          </a:xfrm>
          <a:prstGeom prst="rect">
            <a:avLst/>
          </a:prstGeom>
        </p:spPr>
      </p:pic>
      <p:sp>
        <p:nvSpPr>
          <p:cNvPr id="8" name="txt_131"/>
          <p:cNvSpPr txBox="1"/>
          <p:nvPr/>
        </p:nvSpPr>
        <p:spPr>
          <a:xfrm>
            <a:off x="1481328" y="1664208"/>
            <a:ext cx="58521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Encendido provocado (MEP)</a:t>
            </a:r>
            <a:endParaRPr lang="en-US" sz="1700" dirty="0"/>
          </a:p>
        </p:txBody>
      </p:sp>
      <p:sp>
        <p:nvSpPr>
          <p:cNvPr id="9" name="txt_132"/>
          <p:cNvSpPr txBox="1"/>
          <p:nvPr/>
        </p:nvSpPr>
        <p:spPr>
          <a:xfrm>
            <a:off x="777240" y="2377440"/>
            <a:ext cx="653796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Otto. La 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chispa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bujía enciende la mezcla aire–combustible.</a:t>
            </a:r>
            <a:endParaRPr lang="en-US" sz="15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Combustibles: gasolina, GLP, GNV, alcohol.</a:t>
            </a:r>
            <a:endParaRPr lang="en-US" sz="15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de mezcla: carburador o inyección.</a:t>
            </a:r>
            <a:endParaRPr lang="en-US" sz="1500" dirty="0"/>
          </a:p>
        </p:txBody>
      </p:sp>
      <p:sp>
        <p:nvSpPr>
          <p:cNvPr id="10" name="card_133"/>
          <p:cNvSpPr/>
          <p:nvPr/>
        </p:nvSpPr>
        <p:spPr>
          <a:xfrm>
            <a:off x="548640" y="3977640"/>
            <a:ext cx="6949440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11" name="dot_134"/>
          <p:cNvSpPr/>
          <p:nvPr/>
        </p:nvSpPr>
        <p:spPr>
          <a:xfrm>
            <a:off x="777240" y="420624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2" name="ic_13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4334256"/>
            <a:ext cx="310896" cy="310896"/>
          </a:xfrm>
          <a:prstGeom prst="rect">
            <a:avLst/>
          </a:prstGeom>
        </p:spPr>
      </p:pic>
      <p:sp>
        <p:nvSpPr>
          <p:cNvPr id="13" name="txt_136"/>
          <p:cNvSpPr txBox="1"/>
          <p:nvPr/>
        </p:nvSpPr>
        <p:spPr>
          <a:xfrm>
            <a:off x="1481328" y="4178808"/>
            <a:ext cx="58521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Encendido por compresión (MEC)</a:t>
            </a:r>
            <a:endParaRPr lang="en-US" sz="1700" dirty="0"/>
          </a:p>
        </p:txBody>
      </p:sp>
      <p:sp>
        <p:nvSpPr>
          <p:cNvPr id="14" name="txt_137"/>
          <p:cNvSpPr txBox="1"/>
          <p:nvPr/>
        </p:nvSpPr>
        <p:spPr>
          <a:xfrm>
            <a:off x="777240" y="4892040"/>
            <a:ext cx="653796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diésel. El aire comprimido supera la temperatura de 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autoencendido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el combustible inyectado se inflama.</a:t>
            </a:r>
            <a:endParaRPr lang="en-US" sz="15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directa o indirecta (precámara).</a:t>
            </a:r>
            <a:endParaRPr lang="en-US" sz="1500" dirty="0"/>
          </a:p>
        </p:txBody>
      </p:sp>
      <p:sp>
        <p:nvSpPr>
          <p:cNvPr id="15" name="fig_138"/>
          <p:cNvSpPr/>
          <p:nvPr/>
        </p:nvSpPr>
        <p:spPr>
          <a:xfrm>
            <a:off x="7772400" y="1463040"/>
            <a:ext cx="18288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g_139" descr="/home/claude/img/u34_u3mci_18_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2189579"/>
            <a:ext cx="1609344" cy="2917754"/>
          </a:xfrm>
          <a:prstGeom prst="rect">
            <a:avLst/>
          </a:prstGeom>
        </p:spPr>
      </p:pic>
      <p:sp>
        <p:nvSpPr>
          <p:cNvPr id="17" name="cap_140"/>
          <p:cNvSpPr txBox="1"/>
          <p:nvPr/>
        </p:nvSpPr>
        <p:spPr>
          <a:xfrm>
            <a:off x="7863840" y="57790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Gasolina: bujía</a:t>
            </a:r>
            <a:endParaRPr lang="en-US" sz="1100" dirty="0"/>
          </a:p>
        </p:txBody>
      </p:sp>
      <p:sp>
        <p:nvSpPr>
          <p:cNvPr id="18" name="fig_141"/>
          <p:cNvSpPr/>
          <p:nvPr/>
        </p:nvSpPr>
        <p:spPr>
          <a:xfrm>
            <a:off x="9784080" y="1463040"/>
            <a:ext cx="1858975" cy="4754880"/>
          </a:xfrm>
          <a:prstGeom prst="roundRect">
            <a:avLst>
              <a:gd name="adj" fmla="val 3935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g_142" descr="/home/claude/img/u34_u3mci_18_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08" y="2001618"/>
            <a:ext cx="1639519" cy="3293677"/>
          </a:xfrm>
          <a:prstGeom prst="rect">
            <a:avLst/>
          </a:prstGeom>
        </p:spPr>
      </p:pic>
      <p:sp>
        <p:nvSpPr>
          <p:cNvPr id="20" name="cap_143"/>
          <p:cNvSpPr txBox="1"/>
          <p:nvPr/>
        </p:nvSpPr>
        <p:spPr>
          <a:xfrm>
            <a:off x="9875520" y="5779008"/>
            <a:ext cx="1676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Diésel: inyector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Según el número de cilindros</a:t>
            </a:r>
            <a:endParaRPr lang="en-US" sz="3000" dirty="0"/>
          </a:p>
        </p:txBody>
      </p:sp>
      <p:sp>
        <p:nvSpPr>
          <p:cNvPr id="3" name="kicker_144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·  CLASIFICACIÓN DE LOS MCIA</a:t>
            </a:r>
            <a:endParaRPr lang="en-US" sz="1100" dirty="0"/>
          </a:p>
        </p:txBody>
      </p:sp>
      <p:graphicFrame>
        <p:nvGraphicFramePr>
          <p:cNvPr id="14" name="tbl_1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4980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23774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Cilindros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Ejemplos de aplicación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(monocilíndrico)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Motos, motocultores, generadores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Simple; muchas vibraciones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y 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Motos, autos pequeños (Suzuki Forsa G13B: 3 cil.)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Compactos y económicos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mayoría de automóviles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Buen equilibrio coste–suavidad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y 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Autos de gama media-alta, camionetas, camiones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suaves y potentes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 10, 12 o más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Deportivos, vehículos pesados, barcos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 potencia y suavidad; costosos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rd_146"/>
          <p:cNvSpPr/>
          <p:nvPr/>
        </p:nvSpPr>
        <p:spPr>
          <a:xfrm>
            <a:off x="8321040" y="1463040"/>
            <a:ext cx="3322015" cy="2011680"/>
          </a:xfrm>
          <a:prstGeom prst="roundRect">
            <a:avLst>
              <a:gd name="adj" fmla="val 4545"/>
            </a:avLst>
          </a:prstGeom>
          <a:solidFill>
            <a:srgbClr val="FCE6DF"/>
          </a:solidFill>
          <a:ln/>
        </p:spPr>
      </p:sp>
      <p:sp>
        <p:nvSpPr>
          <p:cNvPr id="7" name="dot_147"/>
          <p:cNvSpPr/>
          <p:nvPr/>
        </p:nvSpPr>
        <p:spPr>
          <a:xfrm>
            <a:off x="8503920" y="2194560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8" name="ic_14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2" y="2313432"/>
            <a:ext cx="310896" cy="310896"/>
          </a:xfrm>
          <a:prstGeom prst="rect">
            <a:avLst/>
          </a:prstGeom>
        </p:spPr>
      </p:pic>
      <p:sp>
        <p:nvSpPr>
          <p:cNvPr id="9" name="txt_149"/>
          <p:cNvSpPr txBox="1"/>
          <p:nvPr/>
        </p:nvSpPr>
        <p:spPr>
          <a:xfrm>
            <a:off x="9189720" y="1536192"/>
            <a:ext cx="2316175" cy="18653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mayor número de cilindros, las explosiones se reparten mejor a lo largo de la vuelta: el motor gira más </a:t>
            </a:r>
            <a:pPr algn="l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</a:t>
            </a:r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vibra menos.</a:t>
            </a:r>
            <a:endParaRPr lang="en-US" sz="1500" dirty="0"/>
          </a:p>
        </p:txBody>
      </p:sp>
      <p:sp>
        <p:nvSpPr>
          <p:cNvPr id="10" name="fig_150"/>
          <p:cNvSpPr/>
          <p:nvPr/>
        </p:nvSpPr>
        <p:spPr>
          <a:xfrm>
            <a:off x="8321040" y="3703320"/>
            <a:ext cx="3322015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g_151" descr="/home/claude/img/u34_advantage_12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5306" y="3813048"/>
            <a:ext cx="2533484" cy="1911096"/>
          </a:xfrm>
          <a:prstGeom prst="rect">
            <a:avLst/>
          </a:prstGeom>
        </p:spPr>
      </p:pic>
      <p:sp>
        <p:nvSpPr>
          <p:cNvPr id="12" name="cap_152"/>
          <p:cNvSpPr txBox="1"/>
          <p:nvPr/>
        </p:nvSpPr>
        <p:spPr>
          <a:xfrm>
            <a:off x="8412480" y="5779008"/>
            <a:ext cx="3139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4 cilindros en línea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Según la disposición de los cilindros</a:t>
            </a:r>
            <a:endParaRPr lang="en-US" sz="3000" dirty="0"/>
          </a:p>
        </p:txBody>
      </p:sp>
      <p:sp>
        <p:nvSpPr>
          <p:cNvPr id="3" name="kicker_153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·  CLASIFICACIÓN DE LOS MCIA</a:t>
            </a:r>
            <a:endParaRPr lang="en-US" sz="1100" dirty="0"/>
          </a:p>
        </p:txBody>
      </p:sp>
      <p:sp>
        <p:nvSpPr>
          <p:cNvPr id="5" name="card_154"/>
          <p:cNvSpPr/>
          <p:nvPr/>
        </p:nvSpPr>
        <p:spPr>
          <a:xfrm>
            <a:off x="548640" y="1463040"/>
            <a:ext cx="3703320" cy="1463040"/>
          </a:xfrm>
          <a:prstGeom prst="roundRect">
            <a:avLst>
              <a:gd name="adj" fmla="val 6250"/>
            </a:avLst>
          </a:prstGeom>
          <a:solidFill>
            <a:srgbClr val="F2F5F8"/>
          </a:solidFill>
          <a:ln/>
        </p:spPr>
      </p:sp>
      <p:sp>
        <p:nvSpPr>
          <p:cNvPr id="6" name="dot_155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7" name="txt_156"/>
          <p:cNvSpPr txBox="1"/>
          <p:nvPr/>
        </p:nvSpPr>
        <p:spPr>
          <a:xfrm>
            <a:off x="77724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800" dirty="0"/>
          </a:p>
        </p:txBody>
      </p:sp>
      <p:sp>
        <p:nvSpPr>
          <p:cNvPr id="8" name="txt_157"/>
          <p:cNvSpPr txBox="1"/>
          <p:nvPr/>
        </p:nvSpPr>
        <p:spPr>
          <a:xfrm>
            <a:off x="1481328" y="1664208"/>
            <a:ext cx="26060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línea</a:t>
            </a:r>
            <a:endParaRPr lang="en-US" sz="1500" dirty="0"/>
          </a:p>
        </p:txBody>
      </p:sp>
      <p:sp>
        <p:nvSpPr>
          <p:cNvPr id="9" name="txt_158"/>
          <p:cNvSpPr txBox="1"/>
          <p:nvPr/>
        </p:nvSpPr>
        <p:spPr>
          <a:xfrm>
            <a:off x="77724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Cilindros uno tras otro. Sencillo; largo en motores de muchos cilindros.</a:t>
            </a:r>
            <a:endParaRPr lang="en-US" sz="1300" dirty="0"/>
          </a:p>
        </p:txBody>
      </p:sp>
      <p:sp>
        <p:nvSpPr>
          <p:cNvPr id="10" name="card_159"/>
          <p:cNvSpPr/>
          <p:nvPr/>
        </p:nvSpPr>
        <p:spPr>
          <a:xfrm>
            <a:off x="4434840" y="1463040"/>
            <a:ext cx="3703320" cy="1463040"/>
          </a:xfrm>
          <a:prstGeom prst="roundRect">
            <a:avLst>
              <a:gd name="adj" fmla="val 6250"/>
            </a:avLst>
          </a:prstGeom>
          <a:solidFill>
            <a:srgbClr val="F2F5F8"/>
          </a:solidFill>
          <a:ln/>
        </p:spPr>
      </p:sp>
      <p:sp>
        <p:nvSpPr>
          <p:cNvPr id="11" name="dot_160"/>
          <p:cNvSpPr/>
          <p:nvPr/>
        </p:nvSpPr>
        <p:spPr>
          <a:xfrm>
            <a:off x="466344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2" name="txt_161"/>
          <p:cNvSpPr txBox="1"/>
          <p:nvPr/>
        </p:nvSpPr>
        <p:spPr>
          <a:xfrm>
            <a:off x="466344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13" name="txt_162"/>
          <p:cNvSpPr txBox="1"/>
          <p:nvPr/>
        </p:nvSpPr>
        <p:spPr>
          <a:xfrm>
            <a:off x="5367528" y="1664208"/>
            <a:ext cx="26060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V</a:t>
            </a:r>
            <a:endParaRPr lang="en-US" sz="1500" dirty="0"/>
          </a:p>
        </p:txBody>
      </p:sp>
      <p:sp>
        <p:nvSpPr>
          <p:cNvPr id="14" name="txt_163"/>
          <p:cNvSpPr txBox="1"/>
          <p:nvPr/>
        </p:nvSpPr>
        <p:spPr>
          <a:xfrm>
            <a:off x="466344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bancadas en ángulo (60°, 90°). Más corto que en línea.</a:t>
            </a:r>
            <a:endParaRPr lang="en-US" sz="1300" dirty="0"/>
          </a:p>
        </p:txBody>
      </p:sp>
      <p:sp>
        <p:nvSpPr>
          <p:cNvPr id="15" name="card_164"/>
          <p:cNvSpPr/>
          <p:nvPr/>
        </p:nvSpPr>
        <p:spPr>
          <a:xfrm>
            <a:off x="548640" y="3108960"/>
            <a:ext cx="3703320" cy="1463040"/>
          </a:xfrm>
          <a:prstGeom prst="roundRect">
            <a:avLst>
              <a:gd name="adj" fmla="val 6250"/>
            </a:avLst>
          </a:prstGeom>
          <a:solidFill>
            <a:srgbClr val="F2F5F8"/>
          </a:solidFill>
          <a:ln/>
        </p:spPr>
      </p:sp>
      <p:sp>
        <p:nvSpPr>
          <p:cNvPr id="16" name="dot_165"/>
          <p:cNvSpPr/>
          <p:nvPr/>
        </p:nvSpPr>
        <p:spPr>
          <a:xfrm>
            <a:off x="777240" y="333756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xt_166"/>
          <p:cNvSpPr txBox="1"/>
          <p:nvPr/>
        </p:nvSpPr>
        <p:spPr>
          <a:xfrm>
            <a:off x="777240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8" name="txt_167"/>
          <p:cNvSpPr txBox="1"/>
          <p:nvPr/>
        </p:nvSpPr>
        <p:spPr>
          <a:xfrm>
            <a:off x="1481328" y="3310128"/>
            <a:ext cx="26060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Opuestos (bóxer)</a:t>
            </a:r>
            <a:endParaRPr lang="en-US" sz="1500" dirty="0"/>
          </a:p>
        </p:txBody>
      </p:sp>
      <p:sp>
        <p:nvSpPr>
          <p:cNvPr id="19" name="txt_168"/>
          <p:cNvSpPr txBox="1"/>
          <p:nvPr/>
        </p:nvSpPr>
        <p:spPr>
          <a:xfrm>
            <a:off x="777240" y="4023360"/>
            <a:ext cx="3291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Bancadas a 180°. Centro de gravedad bajo (Porsche, Subaru, VW).</a:t>
            </a:r>
            <a:endParaRPr lang="en-US" sz="1300" dirty="0"/>
          </a:p>
        </p:txBody>
      </p:sp>
      <p:sp>
        <p:nvSpPr>
          <p:cNvPr id="20" name="card_169"/>
          <p:cNvSpPr/>
          <p:nvPr/>
        </p:nvSpPr>
        <p:spPr>
          <a:xfrm>
            <a:off x="4434840" y="3108960"/>
            <a:ext cx="3703320" cy="1463040"/>
          </a:xfrm>
          <a:prstGeom prst="roundRect">
            <a:avLst>
              <a:gd name="adj" fmla="val 6250"/>
            </a:avLst>
          </a:prstGeom>
          <a:solidFill>
            <a:srgbClr val="F2F5F8"/>
          </a:solidFill>
          <a:ln/>
        </p:spPr>
      </p:sp>
      <p:sp>
        <p:nvSpPr>
          <p:cNvPr id="21" name="dot_170"/>
          <p:cNvSpPr/>
          <p:nvPr/>
        </p:nvSpPr>
        <p:spPr>
          <a:xfrm>
            <a:off x="4663440" y="333756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2" name="txt_171"/>
          <p:cNvSpPr txBox="1"/>
          <p:nvPr/>
        </p:nvSpPr>
        <p:spPr>
          <a:xfrm>
            <a:off x="4663440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800" dirty="0"/>
          </a:p>
        </p:txBody>
      </p:sp>
      <p:sp>
        <p:nvSpPr>
          <p:cNvPr id="23" name="txt_172"/>
          <p:cNvSpPr txBox="1"/>
          <p:nvPr/>
        </p:nvSpPr>
        <p:spPr>
          <a:xfrm>
            <a:off x="5367528" y="3310128"/>
            <a:ext cx="26060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W y VR</a:t>
            </a:r>
            <a:endParaRPr lang="en-US" sz="1500" dirty="0"/>
          </a:p>
        </p:txBody>
      </p:sp>
      <p:sp>
        <p:nvSpPr>
          <p:cNvPr id="24" name="txt_173"/>
          <p:cNvSpPr txBox="1"/>
          <p:nvPr/>
        </p:nvSpPr>
        <p:spPr>
          <a:xfrm>
            <a:off x="4663440" y="4023360"/>
            <a:ext cx="3291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 estrechas combinadas; muy compactos (VW, Bugatti).</a:t>
            </a:r>
            <a:endParaRPr lang="en-US" sz="1300" dirty="0"/>
          </a:p>
        </p:txBody>
      </p:sp>
      <p:sp>
        <p:nvSpPr>
          <p:cNvPr id="25" name="card_174"/>
          <p:cNvSpPr/>
          <p:nvPr/>
        </p:nvSpPr>
        <p:spPr>
          <a:xfrm>
            <a:off x="548640" y="4754880"/>
            <a:ext cx="3703320" cy="1463040"/>
          </a:xfrm>
          <a:prstGeom prst="roundRect">
            <a:avLst>
              <a:gd name="adj" fmla="val 6250"/>
            </a:avLst>
          </a:prstGeom>
          <a:solidFill>
            <a:srgbClr val="F2F5F8"/>
          </a:solidFill>
          <a:ln/>
        </p:spPr>
      </p:sp>
      <p:sp>
        <p:nvSpPr>
          <p:cNvPr id="26" name="dot_175"/>
          <p:cNvSpPr/>
          <p:nvPr/>
        </p:nvSpPr>
        <p:spPr>
          <a:xfrm>
            <a:off x="777240" y="4983480"/>
            <a:ext cx="566928" cy="566928"/>
          </a:xfrm>
          <a:prstGeom prst="ellipse">
            <a:avLst/>
          </a:prstGeom>
          <a:solidFill>
            <a:srgbClr val="22345A"/>
          </a:solidFill>
          <a:ln/>
        </p:spPr>
      </p:sp>
      <p:sp>
        <p:nvSpPr>
          <p:cNvPr id="27" name="txt_176"/>
          <p:cNvSpPr txBox="1"/>
          <p:nvPr/>
        </p:nvSpPr>
        <p:spPr>
          <a:xfrm>
            <a:off x="777240" y="4983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800" dirty="0"/>
          </a:p>
        </p:txBody>
      </p:sp>
      <p:sp>
        <p:nvSpPr>
          <p:cNvPr id="28" name="txt_177"/>
          <p:cNvSpPr txBox="1"/>
          <p:nvPr/>
        </p:nvSpPr>
        <p:spPr>
          <a:xfrm>
            <a:off x="1481328" y="4956048"/>
            <a:ext cx="26060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H</a:t>
            </a:r>
            <a:endParaRPr lang="en-US" sz="1500" dirty="0"/>
          </a:p>
        </p:txBody>
      </p:sp>
      <p:sp>
        <p:nvSpPr>
          <p:cNvPr id="29" name="txt_178"/>
          <p:cNvSpPr txBox="1"/>
          <p:nvPr/>
        </p:nvSpPr>
        <p:spPr>
          <a:xfrm>
            <a:off x="777240" y="5669280"/>
            <a:ext cx="3291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motores bóxer superpuestos con dos cigüeñales.</a:t>
            </a:r>
            <a:endParaRPr lang="en-US" sz="1300" dirty="0"/>
          </a:p>
        </p:txBody>
      </p:sp>
      <p:sp>
        <p:nvSpPr>
          <p:cNvPr id="30" name="card_179"/>
          <p:cNvSpPr/>
          <p:nvPr/>
        </p:nvSpPr>
        <p:spPr>
          <a:xfrm>
            <a:off x="4434840" y="4754880"/>
            <a:ext cx="3703320" cy="1463040"/>
          </a:xfrm>
          <a:prstGeom prst="roundRect">
            <a:avLst>
              <a:gd name="adj" fmla="val 6250"/>
            </a:avLst>
          </a:prstGeom>
          <a:solidFill>
            <a:srgbClr val="F2F5F8"/>
          </a:solidFill>
          <a:ln/>
        </p:spPr>
      </p:sp>
      <p:sp>
        <p:nvSpPr>
          <p:cNvPr id="31" name="dot_180"/>
          <p:cNvSpPr/>
          <p:nvPr/>
        </p:nvSpPr>
        <p:spPr>
          <a:xfrm>
            <a:off x="4663440" y="4983480"/>
            <a:ext cx="566928" cy="566928"/>
          </a:xfrm>
          <a:prstGeom prst="ellipse">
            <a:avLst/>
          </a:prstGeom>
          <a:solidFill>
            <a:srgbClr val="22345A"/>
          </a:solidFill>
          <a:ln/>
        </p:spPr>
      </p:sp>
      <p:sp>
        <p:nvSpPr>
          <p:cNvPr id="32" name="txt_181"/>
          <p:cNvSpPr txBox="1"/>
          <p:nvPr/>
        </p:nvSpPr>
        <p:spPr>
          <a:xfrm>
            <a:off x="4663440" y="4983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33" name="txt_182"/>
          <p:cNvSpPr txBox="1"/>
          <p:nvPr/>
        </p:nvSpPr>
        <p:spPr>
          <a:xfrm>
            <a:off x="5367528" y="4956048"/>
            <a:ext cx="26060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estrella</a:t>
            </a:r>
            <a:endParaRPr lang="en-US" sz="1500" dirty="0"/>
          </a:p>
        </p:txBody>
      </p:sp>
      <p:sp>
        <p:nvSpPr>
          <p:cNvPr id="34" name="txt_183"/>
          <p:cNvSpPr txBox="1"/>
          <p:nvPr/>
        </p:nvSpPr>
        <p:spPr>
          <a:xfrm>
            <a:off x="4663440" y="5669280"/>
            <a:ext cx="3291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Cilindros radiales alrededor del cigüeñal; aviación clásica.</a:t>
            </a:r>
            <a:endParaRPr lang="en-US" sz="1300" dirty="0"/>
          </a:p>
        </p:txBody>
      </p:sp>
      <p:sp>
        <p:nvSpPr>
          <p:cNvPr id="35" name="fig_184"/>
          <p:cNvSpPr/>
          <p:nvPr/>
        </p:nvSpPr>
        <p:spPr>
          <a:xfrm>
            <a:off x="8412480" y="1463040"/>
            <a:ext cx="323057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6" name="img_185" descr="/home/claude/img/u34_u3mci_15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7773" y="1572768"/>
            <a:ext cx="1139990" cy="950976"/>
          </a:xfrm>
          <a:prstGeom prst="rect">
            <a:avLst/>
          </a:prstGeom>
        </p:spPr>
      </p:pic>
      <p:sp>
        <p:nvSpPr>
          <p:cNvPr id="37" name="cap_186"/>
          <p:cNvSpPr txBox="1"/>
          <p:nvPr/>
        </p:nvSpPr>
        <p:spPr>
          <a:xfrm>
            <a:off x="8503920" y="2578608"/>
            <a:ext cx="3047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Cilindros opuestos</a:t>
            </a:r>
            <a:endParaRPr lang="en-US" sz="1100" dirty="0"/>
          </a:p>
        </p:txBody>
      </p:sp>
      <p:sp>
        <p:nvSpPr>
          <p:cNvPr id="38" name="fig_187"/>
          <p:cNvSpPr/>
          <p:nvPr/>
        </p:nvSpPr>
        <p:spPr>
          <a:xfrm>
            <a:off x="8412480" y="3154680"/>
            <a:ext cx="323057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9" name="img_188" descr="/home/claude/img/u34_u3mci_15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5986" y="3264408"/>
            <a:ext cx="1083564" cy="950976"/>
          </a:xfrm>
          <a:prstGeom prst="rect">
            <a:avLst/>
          </a:prstGeom>
        </p:spPr>
      </p:pic>
      <p:sp>
        <p:nvSpPr>
          <p:cNvPr id="40" name="cap_189"/>
          <p:cNvSpPr txBox="1"/>
          <p:nvPr/>
        </p:nvSpPr>
        <p:spPr>
          <a:xfrm>
            <a:off x="8503920" y="4270248"/>
            <a:ext cx="3047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Cilindros en V</a:t>
            </a:r>
            <a:endParaRPr lang="en-US" sz="1100" dirty="0"/>
          </a:p>
        </p:txBody>
      </p:sp>
      <p:sp>
        <p:nvSpPr>
          <p:cNvPr id="41" name="fig_190"/>
          <p:cNvSpPr/>
          <p:nvPr/>
        </p:nvSpPr>
        <p:spPr>
          <a:xfrm>
            <a:off x="8412480" y="4846320"/>
            <a:ext cx="3230575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2" name="img_191" descr="/home/claude/img/u34_u3mci_16_0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840" y="4956048"/>
            <a:ext cx="813855" cy="768096"/>
          </a:xfrm>
          <a:prstGeom prst="rect">
            <a:avLst/>
          </a:prstGeom>
        </p:spPr>
      </p:pic>
      <p:sp>
        <p:nvSpPr>
          <p:cNvPr id="43" name="cap_192"/>
          <p:cNvSpPr txBox="1"/>
          <p:nvPr/>
        </p:nvSpPr>
        <p:spPr>
          <a:xfrm>
            <a:off x="8503920" y="5779008"/>
            <a:ext cx="3047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estrella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Según la presión de admisión</a:t>
            </a:r>
            <a:endParaRPr lang="en-US" sz="3000" dirty="0"/>
          </a:p>
        </p:txBody>
      </p:sp>
      <p:sp>
        <p:nvSpPr>
          <p:cNvPr id="3" name="kicker_193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·  CLASIFICACIÓN DE LOS MCIA</a:t>
            </a:r>
            <a:endParaRPr lang="en-US" sz="1100" dirty="0"/>
          </a:p>
        </p:txBody>
      </p:sp>
      <p:sp>
        <p:nvSpPr>
          <p:cNvPr id="5" name="card_194"/>
          <p:cNvSpPr/>
          <p:nvPr/>
        </p:nvSpPr>
        <p:spPr>
          <a:xfrm>
            <a:off x="548640" y="1463040"/>
            <a:ext cx="6400800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6" name="dot_195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7" name="ic_19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19656"/>
            <a:ext cx="310896" cy="310896"/>
          </a:xfrm>
          <a:prstGeom prst="rect">
            <a:avLst/>
          </a:prstGeom>
        </p:spPr>
      </p:pic>
      <p:sp>
        <p:nvSpPr>
          <p:cNvPr id="8" name="txt_197"/>
          <p:cNvSpPr txBox="1"/>
          <p:nvPr/>
        </p:nvSpPr>
        <p:spPr>
          <a:xfrm>
            <a:off x="1481328" y="1664208"/>
            <a:ext cx="53035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Atmosférico (aspiración natural)</a:t>
            </a:r>
            <a:endParaRPr lang="en-US" sz="1700" dirty="0"/>
          </a:p>
        </p:txBody>
      </p:sp>
      <p:sp>
        <p:nvSpPr>
          <p:cNvPr id="9" name="txt_198"/>
          <p:cNvSpPr txBox="1"/>
          <p:nvPr/>
        </p:nvSpPr>
        <p:spPr>
          <a:xfrm>
            <a:off x="777240" y="2377440"/>
            <a:ext cx="598932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aire entra por la depresión que crea el pistón.</a:t>
            </a:r>
            <a:endParaRPr lang="en-US" sz="15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 potencia con la altitud: en Loja (≈ 79 kPa) entra ≈ 22 % menos aire.</a:t>
            </a:r>
            <a:endParaRPr lang="en-US" sz="1500" dirty="0"/>
          </a:p>
        </p:txBody>
      </p:sp>
      <p:sp>
        <p:nvSpPr>
          <p:cNvPr id="10" name="card_199"/>
          <p:cNvSpPr/>
          <p:nvPr/>
        </p:nvSpPr>
        <p:spPr>
          <a:xfrm>
            <a:off x="548640" y="3977640"/>
            <a:ext cx="6400800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11" name="dot_200"/>
          <p:cNvSpPr/>
          <p:nvPr/>
        </p:nvSpPr>
        <p:spPr>
          <a:xfrm>
            <a:off x="777240" y="420624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2" name="ic_20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4334256"/>
            <a:ext cx="310896" cy="310896"/>
          </a:xfrm>
          <a:prstGeom prst="rect">
            <a:avLst/>
          </a:prstGeom>
        </p:spPr>
      </p:pic>
      <p:sp>
        <p:nvSpPr>
          <p:cNvPr id="13" name="txt_202"/>
          <p:cNvSpPr txBox="1"/>
          <p:nvPr/>
        </p:nvSpPr>
        <p:spPr>
          <a:xfrm>
            <a:off x="1481328" y="4178808"/>
            <a:ext cx="53035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Sobrealimentado</a:t>
            </a:r>
            <a:endParaRPr lang="en-US" sz="1700" dirty="0"/>
          </a:p>
        </p:txBody>
      </p:sp>
      <p:sp>
        <p:nvSpPr>
          <p:cNvPr id="14" name="txt_203"/>
          <p:cNvSpPr txBox="1"/>
          <p:nvPr/>
        </p:nvSpPr>
        <p:spPr>
          <a:xfrm>
            <a:off x="777240" y="4892040"/>
            <a:ext cx="598932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compresor introduce aire a presión mayor que la atmosférica.</a:t>
            </a:r>
            <a:endParaRPr lang="en-US" sz="15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Turbocompresor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movido por los gases de escape.</a:t>
            </a:r>
            <a:endParaRPr lang="en-US" sz="15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Compresor volumétrico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movido por el cigüeñal.</a:t>
            </a:r>
            <a:endParaRPr lang="en-US" sz="15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Intercooler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enfría el aire comprimido.</a:t>
            </a:r>
            <a:endParaRPr lang="en-US" sz="1500" dirty="0"/>
          </a:p>
        </p:txBody>
      </p:sp>
      <p:sp>
        <p:nvSpPr>
          <p:cNvPr id="15" name="fig_204"/>
          <p:cNvSpPr/>
          <p:nvPr/>
        </p:nvSpPr>
        <p:spPr>
          <a:xfrm>
            <a:off x="7223760" y="1463040"/>
            <a:ext cx="4419295" cy="4754880"/>
          </a:xfrm>
          <a:prstGeom prst="roundRect">
            <a:avLst>
              <a:gd name="adj" fmla="val 1655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g_205" descr="/home/claude/img/u34_advantage_10_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2150250"/>
            <a:ext cx="4199839" cy="2996412"/>
          </a:xfrm>
          <a:prstGeom prst="rect">
            <a:avLst/>
          </a:prstGeom>
        </p:spPr>
      </p:pic>
      <p:sp>
        <p:nvSpPr>
          <p:cNvPr id="17" name="cap_206"/>
          <p:cNvSpPr txBox="1"/>
          <p:nvPr/>
        </p:nvSpPr>
        <p:spPr>
          <a:xfrm>
            <a:off x="7315200" y="5779008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Turbocompresor: turbina y compresor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Según el tipo de refrigeración</a:t>
            </a:r>
            <a:endParaRPr lang="en-US" sz="3000" dirty="0"/>
          </a:p>
        </p:txBody>
      </p:sp>
      <p:sp>
        <p:nvSpPr>
          <p:cNvPr id="3" name="kicker_207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·  CLASIFICACIÓN DE LOS MCIA</a:t>
            </a:r>
            <a:endParaRPr lang="en-US" sz="1100" dirty="0"/>
          </a:p>
        </p:txBody>
      </p:sp>
      <p:sp>
        <p:nvSpPr>
          <p:cNvPr id="5" name="card_208"/>
          <p:cNvSpPr/>
          <p:nvPr/>
        </p:nvSpPr>
        <p:spPr>
          <a:xfrm>
            <a:off x="548640" y="1463040"/>
            <a:ext cx="5852160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6" name="dot_209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7" name="ic_21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19656"/>
            <a:ext cx="310896" cy="310896"/>
          </a:xfrm>
          <a:prstGeom prst="rect">
            <a:avLst/>
          </a:prstGeom>
        </p:spPr>
      </p:pic>
      <p:sp>
        <p:nvSpPr>
          <p:cNvPr id="8" name="txt_211"/>
          <p:cNvSpPr txBox="1"/>
          <p:nvPr/>
        </p:nvSpPr>
        <p:spPr>
          <a:xfrm>
            <a:off x="1481328" y="1664208"/>
            <a:ext cx="4754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aire</a:t>
            </a:r>
            <a:endParaRPr lang="en-US" sz="1700" dirty="0"/>
          </a:p>
        </p:txBody>
      </p:sp>
      <p:sp>
        <p:nvSpPr>
          <p:cNvPr id="9" name="txt_212"/>
          <p:cNvSpPr txBox="1"/>
          <p:nvPr/>
        </p:nvSpPr>
        <p:spPr>
          <a:xfrm>
            <a:off x="777240" y="2377440"/>
            <a:ext cx="544068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cilindro y la culata llevan 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aletas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aumentan la superficie de contacto.</a:t>
            </a:r>
            <a:endParaRPr lang="en-US" sz="15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(por el avance del vehículo) o forzada (ventilador).</a:t>
            </a:r>
            <a:endParaRPr lang="en-US" sz="15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Motos, motores pequeños, VW clásico.</a:t>
            </a:r>
            <a:endParaRPr lang="en-US" sz="1500" dirty="0"/>
          </a:p>
        </p:txBody>
      </p:sp>
      <p:sp>
        <p:nvSpPr>
          <p:cNvPr id="10" name="card_213"/>
          <p:cNvSpPr/>
          <p:nvPr/>
        </p:nvSpPr>
        <p:spPr>
          <a:xfrm>
            <a:off x="548640" y="3977640"/>
            <a:ext cx="5852160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11" name="dot_214"/>
          <p:cNvSpPr/>
          <p:nvPr/>
        </p:nvSpPr>
        <p:spPr>
          <a:xfrm>
            <a:off x="777240" y="42062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2" name="ic_21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4334256"/>
            <a:ext cx="310896" cy="310896"/>
          </a:xfrm>
          <a:prstGeom prst="rect">
            <a:avLst/>
          </a:prstGeom>
        </p:spPr>
      </p:pic>
      <p:sp>
        <p:nvSpPr>
          <p:cNvPr id="13" name="txt_216"/>
          <p:cNvSpPr txBox="1"/>
          <p:nvPr/>
        </p:nvSpPr>
        <p:spPr>
          <a:xfrm>
            <a:off x="1481328" y="4178808"/>
            <a:ext cx="4754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líquido</a:t>
            </a:r>
            <a:endParaRPr lang="en-US" sz="1700" dirty="0"/>
          </a:p>
        </p:txBody>
      </p:sp>
      <p:sp>
        <p:nvSpPr>
          <p:cNvPr id="14" name="txt_217"/>
          <p:cNvSpPr txBox="1"/>
          <p:nvPr/>
        </p:nvSpPr>
        <p:spPr>
          <a:xfrm>
            <a:off x="777240" y="4892040"/>
            <a:ext cx="544068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calor pasa al refrigerante que circula por el bloque y la culata.</a:t>
            </a:r>
            <a:endParaRPr lang="en-US" sz="15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Bomba de agua, termostato y radiador.</a:t>
            </a:r>
            <a:endParaRPr lang="en-US" sz="15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automóviles.</a:t>
            </a:r>
            <a:endParaRPr lang="en-US" sz="1500" dirty="0"/>
          </a:p>
        </p:txBody>
      </p:sp>
      <p:sp>
        <p:nvSpPr>
          <p:cNvPr id="15" name="fig_218"/>
          <p:cNvSpPr/>
          <p:nvPr/>
        </p:nvSpPr>
        <p:spPr>
          <a:xfrm>
            <a:off x="6675120" y="1463040"/>
            <a:ext cx="4967935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g_219" descr="/home/claude/img/u34_advantage_9_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5352" y="1572768"/>
            <a:ext cx="2267472" cy="1773936"/>
          </a:xfrm>
          <a:prstGeom prst="rect">
            <a:avLst/>
          </a:prstGeom>
        </p:spPr>
      </p:pic>
      <p:sp>
        <p:nvSpPr>
          <p:cNvPr id="17" name="cap_220"/>
          <p:cNvSpPr txBox="1"/>
          <p:nvPr/>
        </p:nvSpPr>
        <p:spPr>
          <a:xfrm>
            <a:off x="6766560" y="3401568"/>
            <a:ext cx="4785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refrigerado por aire</a:t>
            </a:r>
            <a:endParaRPr lang="en-US" sz="1100" dirty="0"/>
          </a:p>
        </p:txBody>
      </p:sp>
      <p:sp>
        <p:nvSpPr>
          <p:cNvPr id="18" name="fig_221"/>
          <p:cNvSpPr/>
          <p:nvPr/>
        </p:nvSpPr>
        <p:spPr>
          <a:xfrm>
            <a:off x="6675120" y="4069080"/>
            <a:ext cx="4967935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g_222" descr="/home/claude/img/u34_u4sist_362_0.jpe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5207" y="4178808"/>
            <a:ext cx="2247761" cy="1545336"/>
          </a:xfrm>
          <a:prstGeom prst="rect">
            <a:avLst/>
          </a:prstGeom>
        </p:spPr>
      </p:pic>
      <p:sp>
        <p:nvSpPr>
          <p:cNvPr id="20" name="cap_223"/>
          <p:cNvSpPr txBox="1"/>
          <p:nvPr/>
        </p:nvSpPr>
        <p:spPr>
          <a:xfrm>
            <a:off x="6766560" y="5779008"/>
            <a:ext cx="4785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Refrigeración por líquido con bomba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Según la evolución tecnológica</a:t>
            </a:r>
            <a:endParaRPr lang="en-US" sz="3000" dirty="0"/>
          </a:p>
        </p:txBody>
      </p:sp>
      <p:sp>
        <p:nvSpPr>
          <p:cNvPr id="3" name="kicker_224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·  CLASIFICACIÓN DE LOS MCIA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2377440"/>
            <a:ext cx="11094415" cy="0"/>
          </a:xfrm>
          <a:prstGeom prst="line">
            <a:avLst/>
          </a:prstGeom>
          <a:noFill/>
          <a:ln w="38100">
            <a:solidFill>
              <a:srgbClr val="D5DCE3"/>
            </a:solidFill>
            <a:prstDash val="solid"/>
            <a:tailEnd type="triangle"/>
          </a:ln>
        </p:spPr>
      </p:sp>
      <p:sp>
        <p:nvSpPr>
          <p:cNvPr id="6" name="Shape 3"/>
          <p:cNvSpPr/>
          <p:nvPr/>
        </p:nvSpPr>
        <p:spPr>
          <a:xfrm>
            <a:off x="1198855" y="2103120"/>
            <a:ext cx="548640" cy="548640"/>
          </a:xfrm>
          <a:prstGeom prst="ellipse">
            <a:avLst/>
          </a:prstGeom>
          <a:solidFill>
            <a:srgbClr val="2234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xt_225"/>
          <p:cNvSpPr txBox="1"/>
          <p:nvPr/>
        </p:nvSpPr>
        <p:spPr>
          <a:xfrm>
            <a:off x="1198855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card_226"/>
          <p:cNvSpPr/>
          <p:nvPr/>
        </p:nvSpPr>
        <p:spPr>
          <a:xfrm>
            <a:off x="621792" y="2926080"/>
            <a:ext cx="1702765" cy="2377440"/>
          </a:xfrm>
          <a:prstGeom prst="roundRect">
            <a:avLst>
              <a:gd name="adj" fmla="val 5370"/>
            </a:avLst>
          </a:prstGeom>
          <a:solidFill>
            <a:srgbClr val="F2F5F8"/>
          </a:solidFill>
          <a:ln/>
        </p:spPr>
      </p:sp>
      <p:sp>
        <p:nvSpPr>
          <p:cNvPr id="9" name="txt_227"/>
          <p:cNvSpPr txBox="1"/>
          <p:nvPr/>
        </p:nvSpPr>
        <p:spPr>
          <a:xfrm>
            <a:off x="731520" y="3017520"/>
            <a:ext cx="1483309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Carburador</a:t>
            </a:r>
            <a:endParaRPr lang="en-US" sz="1500" dirty="0"/>
          </a:p>
        </p:txBody>
      </p:sp>
      <p:sp>
        <p:nvSpPr>
          <p:cNvPr id="10" name="txt_228"/>
          <p:cNvSpPr txBox="1"/>
          <p:nvPr/>
        </p:nvSpPr>
        <p:spPr>
          <a:xfrm>
            <a:off x="731520" y="3657600"/>
            <a:ext cx="1483309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 por depresión; sin control electrónico.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047924" y="2103120"/>
            <a:ext cx="548640" cy="548640"/>
          </a:xfrm>
          <a:prstGeom prst="ellipse">
            <a:avLst/>
          </a:prstGeom>
          <a:solidFill>
            <a:srgbClr val="2234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xt_229"/>
          <p:cNvSpPr txBox="1"/>
          <p:nvPr/>
        </p:nvSpPr>
        <p:spPr>
          <a:xfrm>
            <a:off x="3047924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card_230"/>
          <p:cNvSpPr/>
          <p:nvPr/>
        </p:nvSpPr>
        <p:spPr>
          <a:xfrm>
            <a:off x="2470861" y="2926080"/>
            <a:ext cx="1702765" cy="2377440"/>
          </a:xfrm>
          <a:prstGeom prst="roundRect">
            <a:avLst>
              <a:gd name="adj" fmla="val 5370"/>
            </a:avLst>
          </a:prstGeom>
          <a:solidFill>
            <a:srgbClr val="F2F5F8"/>
          </a:solidFill>
          <a:ln/>
        </p:spPr>
      </p:sp>
      <p:sp>
        <p:nvSpPr>
          <p:cNvPr id="14" name="txt_231"/>
          <p:cNvSpPr txBox="1"/>
          <p:nvPr/>
        </p:nvSpPr>
        <p:spPr>
          <a:xfrm>
            <a:off x="2580589" y="3017520"/>
            <a:ext cx="1483309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Inyección mecánica</a:t>
            </a:r>
            <a:endParaRPr lang="en-US" sz="1500" dirty="0"/>
          </a:p>
        </p:txBody>
      </p:sp>
      <p:sp>
        <p:nvSpPr>
          <p:cNvPr id="15" name="txt_232"/>
          <p:cNvSpPr txBox="1"/>
          <p:nvPr/>
        </p:nvSpPr>
        <p:spPr>
          <a:xfrm>
            <a:off x="2580589" y="3657600"/>
            <a:ext cx="1483309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Bomba inyectora; diésel y algunos gasolina.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896993" y="2103120"/>
            <a:ext cx="548640" cy="548640"/>
          </a:xfrm>
          <a:prstGeom prst="ellipse">
            <a:avLst/>
          </a:prstGeom>
          <a:solidFill>
            <a:srgbClr val="0E7C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xt_233"/>
          <p:cNvSpPr txBox="1"/>
          <p:nvPr/>
        </p:nvSpPr>
        <p:spPr>
          <a:xfrm>
            <a:off x="4896993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card_234"/>
          <p:cNvSpPr/>
          <p:nvPr/>
        </p:nvSpPr>
        <p:spPr>
          <a:xfrm>
            <a:off x="4319930" y="2926080"/>
            <a:ext cx="1702765" cy="2377440"/>
          </a:xfrm>
          <a:prstGeom prst="roundRect">
            <a:avLst>
              <a:gd name="adj" fmla="val 5370"/>
            </a:avLst>
          </a:prstGeom>
          <a:solidFill>
            <a:srgbClr val="F2F5F8"/>
          </a:solidFill>
          <a:ln/>
        </p:spPr>
      </p:sp>
      <p:sp>
        <p:nvSpPr>
          <p:cNvPr id="19" name="txt_235"/>
          <p:cNvSpPr txBox="1"/>
          <p:nvPr/>
        </p:nvSpPr>
        <p:spPr>
          <a:xfrm>
            <a:off x="4429658" y="3017520"/>
            <a:ext cx="1483309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Inyección electrónica</a:t>
            </a:r>
            <a:endParaRPr lang="en-US" sz="1500" dirty="0"/>
          </a:p>
        </p:txBody>
      </p:sp>
      <p:sp>
        <p:nvSpPr>
          <p:cNvPr id="20" name="txt_236"/>
          <p:cNvSpPr txBox="1"/>
          <p:nvPr/>
        </p:nvSpPr>
        <p:spPr>
          <a:xfrm>
            <a:off x="4429658" y="3657600"/>
            <a:ext cx="1483309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Monopunto y multipunto, controladas por ECU con sensores.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746062" y="2103120"/>
            <a:ext cx="548640" cy="548640"/>
          </a:xfrm>
          <a:prstGeom prst="ellipse">
            <a:avLst/>
          </a:prstGeom>
          <a:solidFill>
            <a:srgbClr val="0E7C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xt_237"/>
          <p:cNvSpPr txBox="1"/>
          <p:nvPr/>
        </p:nvSpPr>
        <p:spPr>
          <a:xfrm>
            <a:off x="6746062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card_238"/>
          <p:cNvSpPr/>
          <p:nvPr/>
        </p:nvSpPr>
        <p:spPr>
          <a:xfrm>
            <a:off x="6169000" y="2926080"/>
            <a:ext cx="1702765" cy="2377440"/>
          </a:xfrm>
          <a:prstGeom prst="roundRect">
            <a:avLst>
              <a:gd name="adj" fmla="val 5370"/>
            </a:avLst>
          </a:prstGeom>
          <a:solidFill>
            <a:srgbClr val="F2F5F8"/>
          </a:solidFill>
          <a:ln/>
        </p:spPr>
      </p:sp>
      <p:sp>
        <p:nvSpPr>
          <p:cNvPr id="24" name="txt_239"/>
          <p:cNvSpPr txBox="1"/>
          <p:nvPr/>
        </p:nvSpPr>
        <p:spPr>
          <a:xfrm>
            <a:off x="6278728" y="3017520"/>
            <a:ext cx="1483309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Inyección directa</a:t>
            </a:r>
            <a:endParaRPr lang="en-US" sz="1500" dirty="0"/>
          </a:p>
        </p:txBody>
      </p:sp>
      <p:sp>
        <p:nvSpPr>
          <p:cNvPr id="25" name="txt_240"/>
          <p:cNvSpPr txBox="1"/>
          <p:nvPr/>
        </p:nvSpPr>
        <p:spPr>
          <a:xfrm>
            <a:off x="6278728" y="3657600"/>
            <a:ext cx="1483309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Gasolina (GDI) y diésel common rail a alta presión.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595131" y="2103120"/>
            <a:ext cx="548640" cy="548640"/>
          </a:xfrm>
          <a:prstGeom prst="ellipse">
            <a:avLst/>
          </a:prstGeom>
          <a:solidFill>
            <a:srgbClr val="E457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xt_241"/>
          <p:cNvSpPr txBox="1"/>
          <p:nvPr/>
        </p:nvSpPr>
        <p:spPr>
          <a:xfrm>
            <a:off x="8595131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card_242"/>
          <p:cNvSpPr/>
          <p:nvPr/>
        </p:nvSpPr>
        <p:spPr>
          <a:xfrm>
            <a:off x="8018069" y="2926080"/>
            <a:ext cx="1702765" cy="2377440"/>
          </a:xfrm>
          <a:prstGeom prst="roundRect">
            <a:avLst>
              <a:gd name="adj" fmla="val 5370"/>
            </a:avLst>
          </a:prstGeom>
          <a:solidFill>
            <a:srgbClr val="F2F5F8"/>
          </a:solidFill>
          <a:ln/>
        </p:spPr>
      </p:sp>
      <p:sp>
        <p:nvSpPr>
          <p:cNvPr id="29" name="txt_243"/>
          <p:cNvSpPr txBox="1"/>
          <p:nvPr/>
        </p:nvSpPr>
        <p:spPr>
          <a:xfrm>
            <a:off x="8127797" y="3017520"/>
            <a:ext cx="1483309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Turbo + downsizing</a:t>
            </a:r>
            <a:endParaRPr lang="en-US" sz="1500" dirty="0"/>
          </a:p>
        </p:txBody>
      </p:sp>
      <p:sp>
        <p:nvSpPr>
          <p:cNvPr id="30" name="txt_244"/>
          <p:cNvSpPr txBox="1"/>
          <p:nvPr/>
        </p:nvSpPr>
        <p:spPr>
          <a:xfrm>
            <a:off x="8127797" y="3657600"/>
            <a:ext cx="1483309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cilindrada con turbo: igual potencia, menos consumo.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10444201" y="2103120"/>
            <a:ext cx="548640" cy="548640"/>
          </a:xfrm>
          <a:prstGeom prst="ellipse">
            <a:avLst/>
          </a:prstGeom>
          <a:solidFill>
            <a:srgbClr val="E457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xt_245"/>
          <p:cNvSpPr txBox="1"/>
          <p:nvPr/>
        </p:nvSpPr>
        <p:spPr>
          <a:xfrm>
            <a:off x="10444201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card_246"/>
          <p:cNvSpPr/>
          <p:nvPr/>
        </p:nvSpPr>
        <p:spPr>
          <a:xfrm>
            <a:off x="9867138" y="2926080"/>
            <a:ext cx="1702765" cy="2377440"/>
          </a:xfrm>
          <a:prstGeom prst="roundRect">
            <a:avLst>
              <a:gd name="adj" fmla="val 5370"/>
            </a:avLst>
          </a:prstGeom>
          <a:solidFill>
            <a:srgbClr val="F2F5F8"/>
          </a:solidFill>
          <a:ln/>
        </p:spPr>
      </p:sp>
      <p:sp>
        <p:nvSpPr>
          <p:cNvPr id="34" name="txt_247"/>
          <p:cNvSpPr txBox="1"/>
          <p:nvPr/>
        </p:nvSpPr>
        <p:spPr>
          <a:xfrm>
            <a:off x="9976866" y="3017520"/>
            <a:ext cx="1483309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Electrificación</a:t>
            </a:r>
            <a:endParaRPr lang="en-US" sz="1500" dirty="0"/>
          </a:p>
        </p:txBody>
      </p:sp>
      <p:sp>
        <p:nvSpPr>
          <p:cNvPr id="35" name="txt_248"/>
          <p:cNvSpPr txBox="1"/>
          <p:nvPr/>
        </p:nvSpPr>
        <p:spPr>
          <a:xfrm>
            <a:off x="9976866" y="3657600"/>
            <a:ext cx="1483309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híbridos (ciclo Atkinson) y start–stop.</a:t>
            </a:r>
            <a:endParaRPr lang="en-US" sz="1300" dirty="0"/>
          </a:p>
        </p:txBody>
      </p:sp>
      <p:sp>
        <p:nvSpPr>
          <p:cNvPr id="36" name="txt_249"/>
          <p:cNvSpPr txBox="1"/>
          <p:nvPr/>
        </p:nvSpPr>
        <p:spPr>
          <a:xfrm>
            <a:off x="54864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ANTIGUO</a:t>
            </a:r>
            <a:endParaRPr lang="en-US" sz="1200" dirty="0"/>
          </a:p>
        </p:txBody>
      </p:sp>
      <p:sp>
        <p:nvSpPr>
          <p:cNvPr id="37" name="txt_250"/>
          <p:cNvSpPr txBox="1"/>
          <p:nvPr/>
        </p:nvSpPr>
        <p:spPr>
          <a:xfrm>
            <a:off x="8899855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RECIENTE</a:t>
            </a:r>
            <a:endParaRPr lang="en-US" sz="1200" dirty="0"/>
          </a:p>
        </p:txBody>
      </p:sp>
      <p:sp>
        <p:nvSpPr>
          <p:cNvPr id="38" name="card_251"/>
          <p:cNvSpPr/>
          <p:nvPr/>
        </p:nvSpPr>
        <p:spPr>
          <a:xfrm>
            <a:off x="548640" y="5532120"/>
            <a:ext cx="11094415" cy="685800"/>
          </a:xfrm>
          <a:prstGeom prst="roundRect">
            <a:avLst>
              <a:gd name="adj" fmla="val 13333"/>
            </a:avLst>
          </a:prstGeom>
          <a:solidFill>
            <a:srgbClr val="FCE6DF"/>
          </a:solidFill>
          <a:ln/>
        </p:spPr>
      </p:sp>
      <p:sp>
        <p:nvSpPr>
          <p:cNvPr id="39" name="dot_252"/>
          <p:cNvSpPr/>
          <p:nvPr/>
        </p:nvSpPr>
        <p:spPr>
          <a:xfrm>
            <a:off x="731520" y="5600700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0" name="ic_25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5719572"/>
            <a:ext cx="310896" cy="310896"/>
          </a:xfrm>
          <a:prstGeom prst="rect">
            <a:avLst/>
          </a:prstGeom>
        </p:spPr>
      </p:pic>
      <p:sp>
        <p:nvSpPr>
          <p:cNvPr id="41" name="txt_254"/>
          <p:cNvSpPr txBox="1"/>
          <p:nvPr/>
        </p:nvSpPr>
        <p:spPr>
          <a:xfrm>
            <a:off x="1417320" y="5605272"/>
            <a:ext cx="10088575" cy="539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clasificaciones del deck original: por </a:t>
            </a:r>
            <a:pPr algn="l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combustible</a:t>
            </a:r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(gasolina, gas, alcohol, diésel), por </a:t>
            </a:r>
            <a:pPr algn="l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régimen</a:t>
            </a:r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diésel (lentos &lt; 300 rpm, medios 400–1 000 rpm, rápidos &gt; 1 500 rpm) y por </a:t>
            </a:r>
            <a:pPr algn="l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</a:t>
            </a:r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(longitudinal o transversal).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Constitución del motor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526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Bloque, cárter, culata y juntas: la estructura que aloja y guía las partes móviles.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052560" y="2011680"/>
            <a:ext cx="2377440" cy="2377440"/>
          </a:xfrm>
          <a:prstGeom prst="ellipse">
            <a:avLst/>
          </a:prstGeom>
          <a:solidFill>
            <a:srgbClr val="2234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60604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Motores (MA.01.04)  ·  Unidad 3: MCIA, clasificación y constitución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Constitución general del motor</a:t>
            </a:r>
            <a:endParaRPr lang="en-US" sz="3000" dirty="0"/>
          </a:p>
        </p:txBody>
      </p:sp>
      <p:sp>
        <p:nvSpPr>
          <p:cNvPr id="3" name="kicker_255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·  CONSTITUCIÓN DEL MOTOR</a:t>
            </a:r>
            <a:endParaRPr lang="en-US" sz="1100" dirty="0"/>
          </a:p>
        </p:txBody>
      </p:sp>
      <p:graphicFrame>
        <p:nvGraphicFramePr>
          <p:cNvPr id="20" name="tbl_2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949440" cy="914400"/>
        </p:xfrm>
        <a:graphic>
          <a:graphicData uri="http://schemas.openxmlformats.org/drawingml/2006/table">
            <a:tbl>
              <a:tblPr/>
              <a:tblGrid>
                <a:gridCol w="2313432"/>
                <a:gridCol w="2313432"/>
                <a:gridCol w="2322576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Elementos fijos (estructurales)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Elementos móviles (tren alternativo)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Mecanismos y circuitos auxiliares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Culata y tapa de balancines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Pistones y segmentos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Distribución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y camisas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Bulones y bielas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Circuito de engrase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Cárter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Cigüeñal y cojinetes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Circuito de refrigeración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Juntas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Volante de inercia y dámper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Alimentación, encendido, escape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card_257"/>
          <p:cNvSpPr/>
          <p:nvPr/>
        </p:nvSpPr>
        <p:spPr>
          <a:xfrm>
            <a:off x="548640" y="5120640"/>
            <a:ext cx="6949440" cy="1097280"/>
          </a:xfrm>
          <a:prstGeom prst="roundRect">
            <a:avLst>
              <a:gd name="adj" fmla="val 8333"/>
            </a:avLst>
          </a:prstGeom>
          <a:solidFill>
            <a:srgbClr val="FCE6DF"/>
          </a:solidFill>
          <a:ln/>
        </p:spPr>
      </p:sp>
      <p:sp>
        <p:nvSpPr>
          <p:cNvPr id="7" name="dot_258"/>
          <p:cNvSpPr/>
          <p:nvPr/>
        </p:nvSpPr>
        <p:spPr>
          <a:xfrm>
            <a:off x="731520" y="5394960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8" name="ic_25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5513832"/>
            <a:ext cx="310896" cy="310896"/>
          </a:xfrm>
          <a:prstGeom prst="rect">
            <a:avLst/>
          </a:prstGeom>
        </p:spPr>
      </p:pic>
      <p:sp>
        <p:nvSpPr>
          <p:cNvPr id="9" name="txt_260"/>
          <p:cNvSpPr txBox="1"/>
          <p:nvPr/>
        </p:nvSpPr>
        <p:spPr>
          <a:xfrm>
            <a:off x="1417320" y="5193792"/>
            <a:ext cx="5943600" cy="9509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elementos fijos sirven de </a:t>
            </a:r>
            <a:pPr algn="l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alojamiento, soporte y guía</a:t>
            </a:r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los elementos móviles, que transforman la energía del combustible en movimiento.</a:t>
            </a:r>
            <a:endParaRPr lang="en-US" sz="1500" dirty="0"/>
          </a:p>
        </p:txBody>
      </p:sp>
      <p:sp>
        <p:nvSpPr>
          <p:cNvPr id="10" name="fig_261"/>
          <p:cNvSpPr/>
          <p:nvPr/>
        </p:nvSpPr>
        <p:spPr>
          <a:xfrm>
            <a:off x="7863840" y="1463040"/>
            <a:ext cx="3779215" cy="4754880"/>
          </a:xfrm>
          <a:prstGeom prst="roundRect">
            <a:avLst>
              <a:gd name="adj" fmla="val 1936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g_262" descr="/home/claude/img/u34_advantage_13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1180" y="1572768"/>
            <a:ext cx="2984534" cy="4151376"/>
          </a:xfrm>
          <a:prstGeom prst="rect">
            <a:avLst/>
          </a:prstGeom>
        </p:spPr>
      </p:pic>
      <p:sp>
        <p:nvSpPr>
          <p:cNvPr id="12" name="cap_263"/>
          <p:cNvSpPr txBox="1"/>
          <p:nvPr/>
        </p:nvSpPr>
        <p:spPr>
          <a:xfrm>
            <a:off x="7955280" y="5779008"/>
            <a:ext cx="3596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estructurales: tapa de balancines, culata, junta, bloque, junta y cárter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 del motor</a:t>
            </a:r>
            <a:endParaRPr lang="en-US" sz="3000" dirty="0"/>
          </a:p>
        </p:txBody>
      </p:sp>
      <p:sp>
        <p:nvSpPr>
          <p:cNvPr id="3" name="kicker_264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·  CONSTITUCIÓN DEL MOTOR</a:t>
            </a:r>
            <a:endParaRPr lang="en-US" sz="1100" dirty="0"/>
          </a:p>
        </p:txBody>
      </p:sp>
      <p:sp>
        <p:nvSpPr>
          <p:cNvPr id="5" name="txt_265"/>
          <p:cNvSpPr txBox="1"/>
          <p:nvPr/>
        </p:nvSpPr>
        <p:spPr>
          <a:xfrm>
            <a:off x="548640" y="1463040"/>
            <a:ext cx="585216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 principal del motor (monoblock): aloja el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 alternativo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(pistones, bielas y cigüeñal).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Arriba se une la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culata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abajo, el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cárter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Contiene los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cilindros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los conductos de refrigerante y de aceite.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 los soportes de bomba de agua, bomba de aceite y otros accesorios accionados por el cigüeñal.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fundición de hierro (resistente; motores diésel grandes) o aleación de aluminio (ligera y mejor disipación; requiere camisas).</a:t>
            </a:r>
            <a:endParaRPr lang="en-US" sz="1500" dirty="0"/>
          </a:p>
        </p:txBody>
      </p:sp>
      <p:sp>
        <p:nvSpPr>
          <p:cNvPr id="6" name="fig_266"/>
          <p:cNvSpPr/>
          <p:nvPr/>
        </p:nvSpPr>
        <p:spPr>
          <a:xfrm>
            <a:off x="6675120" y="1463040"/>
            <a:ext cx="4967935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g_267" descr="/home/claude/img/u34_advantage_1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8846" y="1572768"/>
            <a:ext cx="2020483" cy="1773936"/>
          </a:xfrm>
          <a:prstGeom prst="rect">
            <a:avLst/>
          </a:prstGeom>
        </p:spPr>
      </p:pic>
      <p:sp>
        <p:nvSpPr>
          <p:cNvPr id="8" name="cap_268"/>
          <p:cNvSpPr txBox="1"/>
          <p:nvPr/>
        </p:nvSpPr>
        <p:spPr>
          <a:xfrm>
            <a:off x="6766560" y="3401568"/>
            <a:ext cx="4785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motor</a:t>
            </a:r>
            <a:endParaRPr lang="en-US" sz="1100" dirty="0"/>
          </a:p>
        </p:txBody>
      </p:sp>
      <p:sp>
        <p:nvSpPr>
          <p:cNvPr id="9" name="fig_269"/>
          <p:cNvSpPr/>
          <p:nvPr/>
        </p:nvSpPr>
        <p:spPr>
          <a:xfrm>
            <a:off x="6675120" y="4069080"/>
            <a:ext cx="4967935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g_270" descr="/home/claude/img/u34_clase4_23_0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559" y="4178808"/>
            <a:ext cx="1707057" cy="1545336"/>
          </a:xfrm>
          <a:prstGeom prst="rect">
            <a:avLst/>
          </a:prstGeom>
        </p:spPr>
      </p:pic>
      <p:sp>
        <p:nvSpPr>
          <p:cNvPr id="11" name="cap_271"/>
          <p:cNvSpPr txBox="1"/>
          <p:nvPr/>
        </p:nvSpPr>
        <p:spPr>
          <a:xfrm>
            <a:off x="6766560" y="5779008"/>
            <a:ext cx="4785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en V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Cárter</a:t>
            </a:r>
            <a:endParaRPr lang="en-US" sz="3000" dirty="0"/>
          </a:p>
        </p:txBody>
      </p:sp>
      <p:sp>
        <p:nvSpPr>
          <p:cNvPr id="3" name="kicker_272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·  CONSTITUCIÓN DEL MOTOR</a:t>
            </a:r>
            <a:endParaRPr lang="en-US" sz="1100" dirty="0"/>
          </a:p>
        </p:txBody>
      </p:sp>
      <p:sp>
        <p:nvSpPr>
          <p:cNvPr id="5" name="txt_273"/>
          <p:cNvSpPr txBox="1"/>
          <p:nvPr/>
        </p:nvSpPr>
        <p:spPr>
          <a:xfrm>
            <a:off x="548640" y="1463040"/>
            <a:ext cx="585216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el bloque por la parte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inferior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forma estanca.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aceite y lo enfría al ceder calor al exterior.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Fabricado en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chapa de acero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estampada o en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aluminio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(más ligero, con aletas y menos ruido).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chapas rompeolas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frenan el oleaje del aceite.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fija con pernos y una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(corcho, sintética o sellador líquido); abajo está el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tapón de vaciado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fig_274"/>
          <p:cNvSpPr/>
          <p:nvPr/>
        </p:nvSpPr>
        <p:spPr>
          <a:xfrm>
            <a:off x="6675120" y="1463040"/>
            <a:ext cx="4967935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g_275" descr="/home/claude/img/u34_advantage_17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8535" y="1572768"/>
            <a:ext cx="2161105" cy="1773936"/>
          </a:xfrm>
          <a:prstGeom prst="rect">
            <a:avLst/>
          </a:prstGeom>
        </p:spPr>
      </p:pic>
      <p:sp>
        <p:nvSpPr>
          <p:cNvPr id="8" name="cap_276"/>
          <p:cNvSpPr txBox="1"/>
          <p:nvPr/>
        </p:nvSpPr>
        <p:spPr>
          <a:xfrm>
            <a:off x="6766560" y="3401568"/>
            <a:ext cx="4785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Cárter mixto</a:t>
            </a:r>
            <a:endParaRPr lang="en-US" sz="1100" dirty="0"/>
          </a:p>
        </p:txBody>
      </p:sp>
      <p:sp>
        <p:nvSpPr>
          <p:cNvPr id="9" name="fig_277"/>
          <p:cNvSpPr/>
          <p:nvPr/>
        </p:nvSpPr>
        <p:spPr>
          <a:xfrm>
            <a:off x="6675120" y="4069080"/>
            <a:ext cx="4967935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g_278" descr="/home/claude/img/u34_u3mci_59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074" y="4178808"/>
            <a:ext cx="2554028" cy="1545336"/>
          </a:xfrm>
          <a:prstGeom prst="rect">
            <a:avLst/>
          </a:prstGeom>
        </p:spPr>
      </p:pic>
      <p:sp>
        <p:nvSpPr>
          <p:cNvPr id="11" name="cap_279"/>
          <p:cNvSpPr txBox="1"/>
          <p:nvPr/>
        </p:nvSpPr>
        <p:spPr>
          <a:xfrm>
            <a:off x="6766560" y="5779008"/>
            <a:ext cx="4785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de cárter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Cabezote o culata</a:t>
            </a:r>
            <a:endParaRPr lang="en-US" sz="3000" dirty="0"/>
          </a:p>
        </p:txBody>
      </p:sp>
      <p:sp>
        <p:nvSpPr>
          <p:cNvPr id="3" name="kicker_280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·  CONSTITUCIÓN DEL MOTOR</a:t>
            </a:r>
            <a:endParaRPr lang="en-US" sz="1100" dirty="0"/>
          </a:p>
        </p:txBody>
      </p:sp>
      <p:sp>
        <p:nvSpPr>
          <p:cNvPr id="5" name="txt_281"/>
          <p:cNvSpPr txBox="1"/>
          <p:nvPr/>
        </p:nvSpPr>
        <p:spPr>
          <a:xfrm>
            <a:off x="548640" y="1463040"/>
            <a:ext cx="585216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los cilindros por la parte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(tapa de cilindros).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forma la cámara de combustión, contiene los conductos de admisión y escape, aloja válvulas y bujías o inyectores, y los conductos de refrigerante y aceite.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ser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rígida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conductora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calor; se fija al bloque con numerosos espárragos y la junta de culata.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antes fundición de hierro; hoy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aluminio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que permite aumentar la relación de compresión sin detonación.</a:t>
            </a:r>
            <a:endParaRPr lang="en-US" sz="1500" dirty="0"/>
          </a:p>
        </p:txBody>
      </p:sp>
      <p:sp>
        <p:nvSpPr>
          <p:cNvPr id="6" name="fig_282"/>
          <p:cNvSpPr/>
          <p:nvPr/>
        </p:nvSpPr>
        <p:spPr>
          <a:xfrm>
            <a:off x="6675120" y="1463040"/>
            <a:ext cx="2468880" cy="4754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g_283" descr="/home/claude/img/u34_advantage_15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48" y="2122857"/>
            <a:ext cx="2249424" cy="3051199"/>
          </a:xfrm>
          <a:prstGeom prst="rect">
            <a:avLst/>
          </a:prstGeom>
        </p:spPr>
      </p:pic>
      <p:sp>
        <p:nvSpPr>
          <p:cNvPr id="8" name="cap_284"/>
          <p:cNvSpPr txBox="1"/>
          <p:nvPr/>
        </p:nvSpPr>
        <p:spPr>
          <a:xfrm>
            <a:off x="6766560" y="57790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Culata</a:t>
            </a:r>
            <a:endParaRPr lang="en-US" sz="1100" dirty="0"/>
          </a:p>
        </p:txBody>
      </p:sp>
      <p:sp>
        <p:nvSpPr>
          <p:cNvPr id="9" name="fig_285"/>
          <p:cNvSpPr/>
          <p:nvPr/>
        </p:nvSpPr>
        <p:spPr>
          <a:xfrm>
            <a:off x="9326880" y="1463040"/>
            <a:ext cx="2316175" cy="47548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g_286" descr="/home/claude/img/u34_u3mci_30_0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08" y="2862186"/>
            <a:ext cx="2096719" cy="1572539"/>
          </a:xfrm>
          <a:prstGeom prst="rect">
            <a:avLst/>
          </a:prstGeom>
        </p:spPr>
      </p:pic>
      <p:sp>
        <p:nvSpPr>
          <p:cNvPr id="11" name="cap_287"/>
          <p:cNvSpPr txBox="1"/>
          <p:nvPr/>
        </p:nvSpPr>
        <p:spPr>
          <a:xfrm>
            <a:off x="9418320" y="5779008"/>
            <a:ext cx="2133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Cámaras y asientos de válvula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 la cámara de combustión</a:t>
            </a:r>
            <a:endParaRPr lang="en-US" sz="3000" dirty="0"/>
          </a:p>
        </p:txBody>
      </p:sp>
      <p:sp>
        <p:nvSpPr>
          <p:cNvPr id="3" name="kicker_288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·  CONSTITUCIÓN DEL MOTOR</a:t>
            </a:r>
            <a:endParaRPr lang="en-US" sz="1100" dirty="0"/>
          </a:p>
        </p:txBody>
      </p:sp>
      <p:sp>
        <p:nvSpPr>
          <p:cNvPr id="5" name="card_289"/>
          <p:cNvSpPr/>
          <p:nvPr/>
        </p:nvSpPr>
        <p:spPr>
          <a:xfrm>
            <a:off x="548640" y="1463040"/>
            <a:ext cx="3703320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6" name="dot_290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7" name="txt_291"/>
          <p:cNvSpPr txBox="1"/>
          <p:nvPr/>
        </p:nvSpPr>
        <p:spPr>
          <a:xfrm>
            <a:off x="77724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xt_292"/>
          <p:cNvSpPr txBox="1"/>
          <p:nvPr/>
        </p:nvSpPr>
        <p:spPr>
          <a:xfrm>
            <a:off x="1481328" y="1664208"/>
            <a:ext cx="26060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más compacta posible</a:t>
            </a:r>
            <a:endParaRPr lang="en-US" sz="1700" dirty="0"/>
          </a:p>
        </p:txBody>
      </p:sp>
      <p:sp>
        <p:nvSpPr>
          <p:cNvPr id="9" name="txt_293"/>
          <p:cNvSpPr txBox="1"/>
          <p:nvPr/>
        </p:nvSpPr>
        <p:spPr>
          <a:xfrm>
            <a:off x="777240" y="2377440"/>
            <a:ext cx="32918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relación superficie/volumen: combustión estable y menos pérdidas de calor.</a:t>
            </a:r>
            <a:endParaRPr lang="en-US" sz="1500" dirty="0"/>
          </a:p>
        </p:txBody>
      </p:sp>
      <p:sp>
        <p:nvSpPr>
          <p:cNvPr id="10" name="card_294"/>
          <p:cNvSpPr/>
          <p:nvPr/>
        </p:nvSpPr>
        <p:spPr>
          <a:xfrm>
            <a:off x="4526280" y="1463040"/>
            <a:ext cx="3703320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11" name="dot_295"/>
          <p:cNvSpPr/>
          <p:nvPr/>
        </p:nvSpPr>
        <p:spPr>
          <a:xfrm>
            <a:off x="4754880" y="169164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xt_296"/>
          <p:cNvSpPr txBox="1"/>
          <p:nvPr/>
        </p:nvSpPr>
        <p:spPr>
          <a:xfrm>
            <a:off x="475488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xt_297"/>
          <p:cNvSpPr txBox="1"/>
          <p:nvPr/>
        </p:nvSpPr>
        <p:spPr>
          <a:xfrm>
            <a:off x="5458968" y="1664208"/>
            <a:ext cx="26060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Bujía centrada</a:t>
            </a:r>
            <a:endParaRPr lang="en-US" sz="1700" dirty="0"/>
          </a:p>
        </p:txBody>
      </p:sp>
      <p:sp>
        <p:nvSpPr>
          <p:cNvPr id="14" name="txt_298"/>
          <p:cNvSpPr txBox="1"/>
          <p:nvPr/>
        </p:nvSpPr>
        <p:spPr>
          <a:xfrm>
            <a:off x="4754880" y="2377440"/>
            <a:ext cx="32918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frente de llama recorre menos distancia: combustión más rápida.</a:t>
            </a:r>
            <a:endParaRPr lang="en-US" sz="1500" dirty="0"/>
          </a:p>
        </p:txBody>
      </p:sp>
      <p:sp>
        <p:nvSpPr>
          <p:cNvPr id="15" name="card_299"/>
          <p:cNvSpPr/>
          <p:nvPr/>
        </p:nvSpPr>
        <p:spPr>
          <a:xfrm>
            <a:off x="548640" y="3977640"/>
            <a:ext cx="3703320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16" name="dot_300"/>
          <p:cNvSpPr/>
          <p:nvPr/>
        </p:nvSpPr>
        <p:spPr>
          <a:xfrm>
            <a:off x="777240" y="4206240"/>
            <a:ext cx="566928" cy="566928"/>
          </a:xfrm>
          <a:prstGeom prst="ellipse">
            <a:avLst/>
          </a:prstGeom>
          <a:solidFill>
            <a:srgbClr val="15233F"/>
          </a:solidFill>
          <a:ln/>
        </p:spPr>
      </p:sp>
      <p:sp>
        <p:nvSpPr>
          <p:cNvPr id="17" name="txt_301"/>
          <p:cNvSpPr txBox="1"/>
          <p:nvPr/>
        </p:nvSpPr>
        <p:spPr>
          <a:xfrm>
            <a:off x="77724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xt_302"/>
          <p:cNvSpPr txBox="1"/>
          <p:nvPr/>
        </p:nvSpPr>
        <p:spPr>
          <a:xfrm>
            <a:off x="1481328" y="4178808"/>
            <a:ext cx="26060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 alejada fría</a:t>
            </a:r>
            <a:endParaRPr lang="en-US" sz="1700" dirty="0"/>
          </a:p>
        </p:txBody>
      </p:sp>
      <p:sp>
        <p:nvSpPr>
          <p:cNvPr id="19" name="txt_303"/>
          <p:cNvSpPr txBox="1"/>
          <p:nvPr/>
        </p:nvSpPr>
        <p:spPr>
          <a:xfrm>
            <a:off x="777240" y="4892040"/>
            <a:ext cx="32918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más alejado de la bujía, en zona fría: reduce el picado y el autoencendido.</a:t>
            </a:r>
            <a:endParaRPr lang="en-US" sz="1500" dirty="0"/>
          </a:p>
        </p:txBody>
      </p:sp>
      <p:sp>
        <p:nvSpPr>
          <p:cNvPr id="20" name="card_304"/>
          <p:cNvSpPr/>
          <p:nvPr/>
        </p:nvSpPr>
        <p:spPr>
          <a:xfrm>
            <a:off x="4526280" y="3977640"/>
            <a:ext cx="3703320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21" name="dot_305"/>
          <p:cNvSpPr/>
          <p:nvPr/>
        </p:nvSpPr>
        <p:spPr>
          <a:xfrm>
            <a:off x="4754880" y="4206240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2" name="txt_306"/>
          <p:cNvSpPr txBox="1"/>
          <p:nvPr/>
        </p:nvSpPr>
        <p:spPr>
          <a:xfrm>
            <a:off x="475488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xt_307"/>
          <p:cNvSpPr txBox="1"/>
          <p:nvPr/>
        </p:nvSpPr>
        <p:spPr>
          <a:xfrm>
            <a:off x="5458968" y="4178808"/>
            <a:ext cx="26060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Válvulas grandes</a:t>
            </a:r>
            <a:endParaRPr lang="en-US" sz="1700" dirty="0"/>
          </a:p>
        </p:txBody>
      </p:sp>
      <p:sp>
        <p:nvSpPr>
          <p:cNvPr id="24" name="txt_308"/>
          <p:cNvSpPr txBox="1"/>
          <p:nvPr/>
        </p:nvSpPr>
        <p:spPr>
          <a:xfrm>
            <a:off x="4754880" y="4892040"/>
            <a:ext cx="32918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llenado y más potencia a alto régimen.</a:t>
            </a:r>
            <a:endParaRPr lang="en-US" sz="1500" dirty="0"/>
          </a:p>
        </p:txBody>
      </p:sp>
      <p:sp>
        <p:nvSpPr>
          <p:cNvPr id="25" name="fig_309"/>
          <p:cNvSpPr/>
          <p:nvPr/>
        </p:nvSpPr>
        <p:spPr>
          <a:xfrm>
            <a:off x="8503920" y="1463040"/>
            <a:ext cx="3139135" cy="475488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6" name="img_310" descr="/home/claude/img/u34_advantage_16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3648" y="2678055"/>
            <a:ext cx="2919679" cy="1940803"/>
          </a:xfrm>
          <a:prstGeom prst="rect">
            <a:avLst/>
          </a:prstGeom>
        </p:spPr>
      </p:pic>
      <p:sp>
        <p:nvSpPr>
          <p:cNvPr id="27" name="cap_311"/>
          <p:cNvSpPr txBox="1"/>
          <p:nvPr/>
        </p:nvSpPr>
        <p:spPr>
          <a:xfrm>
            <a:off x="8595360" y="5779008"/>
            <a:ext cx="2956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Tapa de culata o de balancines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Juntas principales</a:t>
            </a:r>
            <a:endParaRPr lang="en-US" sz="3000" dirty="0"/>
          </a:p>
        </p:txBody>
      </p:sp>
      <p:sp>
        <p:nvSpPr>
          <p:cNvPr id="3" name="kicker_312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·  CONSTITUCIÓN DEL MOTOR</a:t>
            </a:r>
            <a:endParaRPr lang="en-US" sz="1100" dirty="0"/>
          </a:p>
        </p:txBody>
      </p:sp>
      <p:graphicFrame>
        <p:nvGraphicFramePr>
          <p:cNvPr id="25" name="tbl_3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680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103120"/>
                <a:gridCol w="36576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Junta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Ubicación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 y material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Junta de culata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 bloque y culata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Sella la cámara de combustión, el refrigerante y el aceite. Multicapa de acero (MLS) o metaloplástica.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Junta del cárter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 bloque y cárter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Estanqueidad del aceite. Corcho, caucho o sellador líquido.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Junta de tapa de balancines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 la culata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 fugas de aceite. Caucho o elastómero.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Juntas de colectores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Admisión y escape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Evitan entradas de aire y fugas de gases. Metálicas en el escape.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Extremos del cigüeñal y del árbol de levas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Sellan el aceite en ejes que giran.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rd_314"/>
          <p:cNvSpPr/>
          <p:nvPr/>
        </p:nvSpPr>
        <p:spPr>
          <a:xfrm>
            <a:off x="8503920" y="1463040"/>
            <a:ext cx="3139135" cy="1828800"/>
          </a:xfrm>
          <a:prstGeom prst="roundRect">
            <a:avLst>
              <a:gd name="adj" fmla="val 5000"/>
            </a:avLst>
          </a:prstGeom>
          <a:solidFill>
            <a:srgbClr val="FCE6DF"/>
          </a:solidFill>
          <a:ln/>
        </p:spPr>
      </p:sp>
      <p:sp>
        <p:nvSpPr>
          <p:cNvPr id="7" name="dot_315"/>
          <p:cNvSpPr/>
          <p:nvPr/>
        </p:nvSpPr>
        <p:spPr>
          <a:xfrm>
            <a:off x="8686800" y="2103120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8" name="ic_31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5672" y="2221992"/>
            <a:ext cx="310896" cy="310896"/>
          </a:xfrm>
          <a:prstGeom prst="rect">
            <a:avLst/>
          </a:prstGeom>
        </p:spPr>
      </p:pic>
      <p:sp>
        <p:nvSpPr>
          <p:cNvPr id="9" name="txt_317"/>
          <p:cNvSpPr txBox="1"/>
          <p:nvPr/>
        </p:nvSpPr>
        <p:spPr>
          <a:xfrm>
            <a:off x="9372600" y="1536192"/>
            <a:ext cx="2133295" cy="1682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pPr algn="l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espesor de la junta de culata</a:t>
            </a:r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modifica el volumen de la cámara y, por tanto, la </a:t>
            </a:r>
            <a:pPr algn="l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de compresión</a:t>
            </a:r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(Unidad 4, apartado 4.2).</a:t>
            </a:r>
            <a:endParaRPr lang="en-US" sz="1500" dirty="0"/>
          </a:p>
        </p:txBody>
      </p:sp>
      <p:sp>
        <p:nvSpPr>
          <p:cNvPr id="10" name="fig_318"/>
          <p:cNvSpPr/>
          <p:nvPr/>
        </p:nvSpPr>
        <p:spPr>
          <a:xfrm>
            <a:off x="8503920" y="3520440"/>
            <a:ext cx="3139135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g_319" descr="/home/claude/img/u34_advantage_13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0780" y="3630168"/>
            <a:ext cx="1505415" cy="2093976"/>
          </a:xfrm>
          <a:prstGeom prst="rect">
            <a:avLst/>
          </a:prstGeom>
        </p:spPr>
      </p:pic>
      <p:sp>
        <p:nvSpPr>
          <p:cNvPr id="12" name="cap_320"/>
          <p:cNvSpPr txBox="1"/>
          <p:nvPr/>
        </p:nvSpPr>
        <p:spPr>
          <a:xfrm>
            <a:off x="8595360" y="5779008"/>
            <a:ext cx="2956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de las juntas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Partes fijas del motor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526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Camisas y cilindros, bancadas y apoyos, y conductos internos.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052560" y="2011680"/>
            <a:ext cx="2377440" cy="2377440"/>
          </a:xfrm>
          <a:prstGeom prst="ellipse">
            <a:avLst/>
          </a:prstGeom>
          <a:solidFill>
            <a:srgbClr val="2234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60604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Motores (MA.01.04)  ·  Unidad 3: MCIA, clasificación y constitución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Camisas y cilindros</a:t>
            </a:r>
            <a:endParaRPr lang="en-US" sz="3000" dirty="0"/>
          </a:p>
        </p:txBody>
      </p:sp>
      <p:sp>
        <p:nvSpPr>
          <p:cNvPr id="3" name="kicker_321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·  PARTES FIJAS DEL MOTOR</a:t>
            </a:r>
            <a:endParaRPr lang="en-US" sz="1100" dirty="0"/>
          </a:p>
        </p:txBody>
      </p:sp>
      <p:sp>
        <p:nvSpPr>
          <p:cNvPr id="5" name="card_322"/>
          <p:cNvSpPr/>
          <p:nvPr/>
        </p:nvSpPr>
        <p:spPr>
          <a:xfrm>
            <a:off x="548640" y="1463040"/>
            <a:ext cx="6766560" cy="1402080"/>
          </a:xfrm>
          <a:prstGeom prst="roundRect">
            <a:avLst>
              <a:gd name="adj" fmla="val 6522"/>
            </a:avLst>
          </a:prstGeom>
          <a:solidFill>
            <a:srgbClr val="F2F5F8"/>
          </a:solidFill>
          <a:ln/>
        </p:spPr>
      </p:sp>
      <p:sp>
        <p:nvSpPr>
          <p:cNvPr id="6" name="dot_323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7" name="txt_324"/>
          <p:cNvSpPr txBox="1"/>
          <p:nvPr/>
        </p:nvSpPr>
        <p:spPr>
          <a:xfrm>
            <a:off x="77724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8" name="txt_325"/>
          <p:cNvSpPr txBox="1"/>
          <p:nvPr/>
        </p:nvSpPr>
        <p:spPr>
          <a:xfrm>
            <a:off x="1481328" y="1664208"/>
            <a:ext cx="56692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 integral</a:t>
            </a:r>
            <a:endParaRPr lang="en-US" sz="1700" dirty="0"/>
          </a:p>
        </p:txBody>
      </p:sp>
      <p:sp>
        <p:nvSpPr>
          <p:cNvPr id="9" name="txt_326"/>
          <p:cNvSpPr txBox="1"/>
          <p:nvPr/>
        </p:nvSpPr>
        <p:spPr>
          <a:xfrm>
            <a:off x="777240" y="2377440"/>
            <a:ext cx="6355080" cy="39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cilindros se mecanizan en el propio bloque: compacto y rígido.</a:t>
            </a:r>
            <a:endParaRPr lang="en-US" sz="1400" dirty="0"/>
          </a:p>
        </p:txBody>
      </p:sp>
      <p:sp>
        <p:nvSpPr>
          <p:cNvPr id="10" name="card_327"/>
          <p:cNvSpPr/>
          <p:nvPr/>
        </p:nvSpPr>
        <p:spPr>
          <a:xfrm>
            <a:off x="548640" y="3139440"/>
            <a:ext cx="6766560" cy="1402080"/>
          </a:xfrm>
          <a:prstGeom prst="roundRect">
            <a:avLst>
              <a:gd name="adj" fmla="val 6522"/>
            </a:avLst>
          </a:prstGeom>
          <a:solidFill>
            <a:srgbClr val="F2F5F8"/>
          </a:solidFill>
          <a:ln/>
        </p:spPr>
      </p:sp>
      <p:sp>
        <p:nvSpPr>
          <p:cNvPr id="11" name="dot_328"/>
          <p:cNvSpPr/>
          <p:nvPr/>
        </p:nvSpPr>
        <p:spPr>
          <a:xfrm>
            <a:off x="777240" y="336804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xt_329"/>
          <p:cNvSpPr txBox="1"/>
          <p:nvPr/>
        </p:nvSpPr>
        <p:spPr>
          <a:xfrm>
            <a:off x="777240" y="3368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13" name="txt_330"/>
          <p:cNvSpPr txBox="1"/>
          <p:nvPr/>
        </p:nvSpPr>
        <p:spPr>
          <a:xfrm>
            <a:off x="1481328" y="3340608"/>
            <a:ext cx="56692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Camisa seca</a:t>
            </a:r>
            <a:endParaRPr lang="en-US" sz="1700" dirty="0"/>
          </a:p>
        </p:txBody>
      </p:sp>
      <p:sp>
        <p:nvSpPr>
          <p:cNvPr id="14" name="txt_331"/>
          <p:cNvSpPr txBox="1"/>
          <p:nvPr/>
        </p:nvSpPr>
        <p:spPr>
          <a:xfrm>
            <a:off x="777240" y="4053840"/>
            <a:ext cx="6355080" cy="39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Cilindro postizo sin contacto con el refrigerante. Buena continuidad térmica; requiere tratamiento tras el mecanizado.</a:t>
            </a:r>
            <a:endParaRPr lang="en-US" sz="1400" dirty="0"/>
          </a:p>
        </p:txBody>
      </p:sp>
      <p:sp>
        <p:nvSpPr>
          <p:cNvPr id="15" name="card_332"/>
          <p:cNvSpPr/>
          <p:nvPr/>
        </p:nvSpPr>
        <p:spPr>
          <a:xfrm>
            <a:off x="548640" y="4815840"/>
            <a:ext cx="6766560" cy="1402080"/>
          </a:xfrm>
          <a:prstGeom prst="roundRect">
            <a:avLst>
              <a:gd name="adj" fmla="val 6522"/>
            </a:avLst>
          </a:prstGeom>
          <a:solidFill>
            <a:srgbClr val="F2F5F8"/>
          </a:solidFill>
          <a:ln/>
        </p:spPr>
      </p:sp>
      <p:sp>
        <p:nvSpPr>
          <p:cNvPr id="16" name="dot_333"/>
          <p:cNvSpPr/>
          <p:nvPr/>
        </p:nvSpPr>
        <p:spPr>
          <a:xfrm>
            <a:off x="777240" y="50444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7" name="txt_334"/>
          <p:cNvSpPr txBox="1"/>
          <p:nvPr/>
        </p:nvSpPr>
        <p:spPr>
          <a:xfrm>
            <a:off x="777240" y="5044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800" dirty="0"/>
          </a:p>
        </p:txBody>
      </p:sp>
      <p:sp>
        <p:nvSpPr>
          <p:cNvPr id="18" name="txt_335"/>
          <p:cNvSpPr txBox="1"/>
          <p:nvPr/>
        </p:nvSpPr>
        <p:spPr>
          <a:xfrm>
            <a:off x="1481328" y="5017008"/>
            <a:ext cx="56692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Camisa húmeda</a:t>
            </a:r>
            <a:endParaRPr lang="en-US" sz="1700" dirty="0"/>
          </a:p>
        </p:txBody>
      </p:sp>
      <p:sp>
        <p:nvSpPr>
          <p:cNvPr id="19" name="txt_336"/>
          <p:cNvSpPr txBox="1"/>
          <p:nvPr/>
        </p:nvSpPr>
        <p:spPr>
          <a:xfrm>
            <a:off x="777240" y="5730240"/>
            <a:ext cx="6355080" cy="39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contacto directo con el refrigerante: mejor disipación y fácil sustitución. Necesita juntas tóricas; menos rigidez.</a:t>
            </a:r>
            <a:endParaRPr lang="en-US" sz="1400" dirty="0"/>
          </a:p>
        </p:txBody>
      </p:sp>
      <p:sp>
        <p:nvSpPr>
          <p:cNvPr id="20" name="fig_337"/>
          <p:cNvSpPr/>
          <p:nvPr/>
        </p:nvSpPr>
        <p:spPr>
          <a:xfrm>
            <a:off x="7589520" y="1463040"/>
            <a:ext cx="2011680" cy="47548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g_338" descr="/home/claude/img/u34_u3mci_46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9248" y="2639940"/>
            <a:ext cx="1792224" cy="2017033"/>
          </a:xfrm>
          <a:prstGeom prst="rect">
            <a:avLst/>
          </a:prstGeom>
        </p:spPr>
      </p:pic>
      <p:sp>
        <p:nvSpPr>
          <p:cNvPr id="22" name="cap_339"/>
          <p:cNvSpPr txBox="1"/>
          <p:nvPr/>
        </p:nvSpPr>
        <p:spPr>
          <a:xfrm>
            <a:off x="7680960" y="57790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Camisa húmeda</a:t>
            </a:r>
            <a:endParaRPr lang="en-US" sz="1100" dirty="0"/>
          </a:p>
        </p:txBody>
      </p:sp>
      <p:sp>
        <p:nvSpPr>
          <p:cNvPr id="23" name="fig_340"/>
          <p:cNvSpPr/>
          <p:nvPr/>
        </p:nvSpPr>
        <p:spPr>
          <a:xfrm>
            <a:off x="9784080" y="1463040"/>
            <a:ext cx="1858975" cy="4754880"/>
          </a:xfrm>
          <a:prstGeom prst="roundRect">
            <a:avLst>
              <a:gd name="adj" fmla="val 3935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g_341" descr="/home/claude/img/u34_clase4_26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8" y="3010865"/>
            <a:ext cx="1639519" cy="1275182"/>
          </a:xfrm>
          <a:prstGeom prst="rect">
            <a:avLst/>
          </a:prstGeom>
        </p:spPr>
      </p:pic>
      <p:sp>
        <p:nvSpPr>
          <p:cNvPr id="25" name="cap_342"/>
          <p:cNvSpPr txBox="1"/>
          <p:nvPr/>
        </p:nvSpPr>
        <p:spPr>
          <a:xfrm>
            <a:off x="9875520" y="5779008"/>
            <a:ext cx="1676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Camisas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Bancadas y apoyos</a:t>
            </a:r>
            <a:endParaRPr lang="en-US" sz="3000" dirty="0"/>
          </a:p>
        </p:txBody>
      </p:sp>
      <p:sp>
        <p:nvSpPr>
          <p:cNvPr id="3" name="kicker_343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·  PARTES FIJAS DEL MOTOR</a:t>
            </a:r>
            <a:endParaRPr lang="en-US" sz="1100" dirty="0"/>
          </a:p>
        </p:txBody>
      </p:sp>
      <p:sp>
        <p:nvSpPr>
          <p:cNvPr id="5" name="txt_344"/>
          <p:cNvSpPr txBox="1"/>
          <p:nvPr/>
        </p:nvSpPr>
        <p:spPr>
          <a:xfrm>
            <a:off x="548640" y="1463040"/>
            <a:ext cx="60350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Bancadas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apoyos del cigüeñal en la parte inferior del bloque.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Sombreretes de bancada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tapas atornilladas que sujetan el cigüeñal; se montan en su posición y orden originales.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el cigüeñal y la bancada van los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semicojinetes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(3.5.6).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Soportes del motor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tacos de caucho que fijan el motor al chasis y absorben vibraciones.</a:t>
            </a:r>
            <a:endParaRPr lang="en-US" sz="1600" dirty="0"/>
          </a:p>
        </p:txBody>
      </p:sp>
      <p:sp>
        <p:nvSpPr>
          <p:cNvPr id="6" name="fig_345"/>
          <p:cNvSpPr/>
          <p:nvPr/>
        </p:nvSpPr>
        <p:spPr>
          <a:xfrm>
            <a:off x="6858000" y="1463040"/>
            <a:ext cx="4785055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g_346" descr="/home/claude/img/u34_advantage_14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6736" y="1572768"/>
            <a:ext cx="2767584" cy="4151376"/>
          </a:xfrm>
          <a:prstGeom prst="rect">
            <a:avLst/>
          </a:prstGeom>
        </p:spPr>
      </p:pic>
      <p:sp>
        <p:nvSpPr>
          <p:cNvPr id="8" name="cap_347"/>
          <p:cNvSpPr txBox="1"/>
          <p:nvPr/>
        </p:nvSpPr>
        <p:spPr>
          <a:xfrm>
            <a:off x="6949440" y="5779008"/>
            <a:ext cx="4602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con sombreretes de bancada independientes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Conductos internos básicos</a:t>
            </a:r>
            <a:endParaRPr lang="en-US" sz="3000" dirty="0"/>
          </a:p>
        </p:txBody>
      </p:sp>
      <p:sp>
        <p:nvSpPr>
          <p:cNvPr id="3" name="kicker_348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·  PARTES FIJAS DEL MOTOR</a:t>
            </a:r>
            <a:endParaRPr lang="en-US" sz="1100" dirty="0"/>
          </a:p>
        </p:txBody>
      </p:sp>
      <p:sp>
        <p:nvSpPr>
          <p:cNvPr id="5" name="txt_349"/>
          <p:cNvSpPr txBox="1"/>
          <p:nvPr/>
        </p:nvSpPr>
        <p:spPr>
          <a:xfrm>
            <a:off x="548640" y="1463040"/>
            <a:ext cx="402336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Conductos de refrigerante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(cámaras de agua) alrededor de los cilindros y en la culata.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Galería principal de aceite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conductos hacia bancadas, bielas, árbol de levas y tensores.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Conductos de admisión y escape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la culata.</a:t>
            </a:r>
            <a:endParaRPr lang="en-US" sz="1500" dirty="0"/>
          </a:p>
        </p:txBody>
      </p:sp>
      <p:sp>
        <p:nvSpPr>
          <p:cNvPr id="6" name="fig_350"/>
          <p:cNvSpPr/>
          <p:nvPr/>
        </p:nvSpPr>
        <p:spPr>
          <a:xfrm>
            <a:off x="4754880" y="1463040"/>
            <a:ext cx="3429000" cy="47548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g_351" descr="/home/claude/img/u34_advantage_28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4608" y="2200124"/>
            <a:ext cx="3209544" cy="2896664"/>
          </a:xfrm>
          <a:prstGeom prst="rect">
            <a:avLst/>
          </a:prstGeom>
        </p:spPr>
      </p:pic>
      <p:sp>
        <p:nvSpPr>
          <p:cNvPr id="8" name="cap_352"/>
          <p:cNvSpPr txBox="1"/>
          <p:nvPr/>
        </p:nvSpPr>
        <p:spPr>
          <a:xfrm>
            <a:off x="4846320" y="577900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de engrase</a:t>
            </a:r>
            <a:endParaRPr lang="en-US" sz="1100" dirty="0"/>
          </a:p>
        </p:txBody>
      </p:sp>
      <p:sp>
        <p:nvSpPr>
          <p:cNvPr id="9" name="fig_353"/>
          <p:cNvSpPr/>
          <p:nvPr/>
        </p:nvSpPr>
        <p:spPr>
          <a:xfrm>
            <a:off x="8412480" y="1463040"/>
            <a:ext cx="3230575" cy="475488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g_354" descr="/home/claude/img/u34_advantage_29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208" y="2339686"/>
            <a:ext cx="3011119" cy="2617540"/>
          </a:xfrm>
          <a:prstGeom prst="rect">
            <a:avLst/>
          </a:prstGeom>
        </p:spPr>
      </p:pic>
      <p:sp>
        <p:nvSpPr>
          <p:cNvPr id="11" name="cap_355"/>
          <p:cNvSpPr txBox="1"/>
          <p:nvPr/>
        </p:nvSpPr>
        <p:spPr>
          <a:xfrm>
            <a:off x="8503920" y="5779008"/>
            <a:ext cx="3047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de refrigeración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Partes móviles del motor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526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tren alternativo: pistón, segmentos, bulón, biela, cigüeñal, cojinetes, volante y dámper.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052560" y="2011680"/>
            <a:ext cx="2377440" cy="2377440"/>
          </a:xfrm>
          <a:prstGeom prst="ellipse">
            <a:avLst/>
          </a:prstGeom>
          <a:solidFill>
            <a:srgbClr val="2234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60604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Motores (MA.01.04)  ·  Unidad 3: MCIA, clasificación y constitución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tren alternativo</a:t>
            </a:r>
            <a:endParaRPr lang="en-US" sz="3000" dirty="0"/>
          </a:p>
        </p:txBody>
      </p:sp>
      <p:sp>
        <p:nvSpPr>
          <p:cNvPr id="3" name="kicker_356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 ·  PARTES MÓVILES DEL MOTOR</a:t>
            </a:r>
            <a:endParaRPr lang="en-US" sz="1100" dirty="0"/>
          </a:p>
        </p:txBody>
      </p:sp>
      <p:sp>
        <p:nvSpPr>
          <p:cNvPr id="5" name="txt_357"/>
          <p:cNvSpPr txBox="1"/>
          <p:nvPr/>
        </p:nvSpPr>
        <p:spPr>
          <a:xfrm>
            <a:off x="548640" y="1463040"/>
            <a:ext cx="438912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elementos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móviles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transforman la presión de los gases en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motor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pistón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recibe la fuerza, el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bulón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pasa a la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biela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esta hace girar el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cigüeñal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volante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regulariza el giro y el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dámper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amortigua las vibraciones de torsión.</a:t>
            </a:r>
            <a:endParaRPr lang="en-US" sz="1600" dirty="0"/>
          </a:p>
        </p:txBody>
      </p:sp>
      <p:sp>
        <p:nvSpPr>
          <p:cNvPr id="6" name="fig_358"/>
          <p:cNvSpPr/>
          <p:nvPr/>
        </p:nvSpPr>
        <p:spPr>
          <a:xfrm>
            <a:off x="5212080" y="1463040"/>
            <a:ext cx="6430975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g_359" descr="/home/claude/img/u34_advantage_18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08" y="1586952"/>
            <a:ext cx="6211519" cy="4123008"/>
          </a:xfrm>
          <a:prstGeom prst="rect">
            <a:avLst/>
          </a:prstGeom>
        </p:spPr>
      </p:pic>
      <p:sp>
        <p:nvSpPr>
          <p:cNvPr id="8" name="cap_360"/>
          <p:cNvSpPr txBox="1"/>
          <p:nvPr/>
        </p:nvSpPr>
        <p:spPr>
          <a:xfrm>
            <a:off x="5303520" y="5779008"/>
            <a:ext cx="6248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 alternativo del motor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Pistón: funciones y partes</a:t>
            </a:r>
            <a:endParaRPr lang="en-US" sz="3000" dirty="0"/>
          </a:p>
        </p:txBody>
      </p:sp>
      <p:sp>
        <p:nvSpPr>
          <p:cNvPr id="3" name="kicker_361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 ·  PARTES MÓVILES DEL MOTOR</a:t>
            </a:r>
            <a:endParaRPr lang="en-US" sz="1100" dirty="0"/>
          </a:p>
        </p:txBody>
      </p:sp>
      <p:sp>
        <p:nvSpPr>
          <p:cNvPr id="5" name="txt_362"/>
          <p:cNvSpPr txBox="1"/>
          <p:nvPr/>
        </p:nvSpPr>
        <p:spPr>
          <a:xfrm>
            <a:off x="548640" y="1463040"/>
            <a:ext cx="530352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</a:t>
            </a:r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500" dirty="0"/>
          </a:p>
          <a:p>
            <a:pPr algn="l" lvl="1" marL="4064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de forma móvil la cámara de combustión.</a:t>
            </a:r>
            <a:endParaRPr lang="en-US" sz="1500" dirty="0"/>
          </a:p>
          <a:p>
            <a:pPr algn="l" lvl="1" marL="4064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Recibir la presión de los gases y transmitirla a la biela.</a:t>
            </a:r>
            <a:endParaRPr lang="en-US" sz="1500" dirty="0"/>
          </a:p>
          <a:p>
            <a:pPr algn="l" lvl="1" marL="4064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Evacuar el calor hacia los cilindros y el refrigerante.</a:t>
            </a:r>
            <a:endParaRPr lang="en-US" sz="1500" dirty="0"/>
          </a:p>
          <a:p>
            <a:pPr algn="l" lvl="1" marL="4064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Expulsar los gases de escape y aspirar la mezcla.</a:t>
            </a:r>
            <a:endParaRPr lang="en-US" sz="15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</a:t>
            </a:r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cabeza, zona de segmentos, alojamiento del bulón y falda.</a:t>
            </a:r>
            <a:endParaRPr lang="en-US" sz="15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Cabeza plana o abombada en Otto; con la </a:t>
            </a:r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labrada</a:t>
            </a:r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diésel de inyección directa.</a:t>
            </a:r>
            <a:endParaRPr lang="en-US" sz="1500" dirty="0"/>
          </a:p>
        </p:txBody>
      </p:sp>
      <p:sp>
        <p:nvSpPr>
          <p:cNvPr id="6" name="fig_363"/>
          <p:cNvSpPr/>
          <p:nvPr/>
        </p:nvSpPr>
        <p:spPr>
          <a:xfrm>
            <a:off x="6126480" y="1463040"/>
            <a:ext cx="2651760" cy="4754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g_364" descr="/home/claude/img/u34_advantage_19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08" y="1746474"/>
            <a:ext cx="2432304" cy="3803964"/>
          </a:xfrm>
          <a:prstGeom prst="rect">
            <a:avLst/>
          </a:prstGeom>
        </p:spPr>
      </p:pic>
      <p:sp>
        <p:nvSpPr>
          <p:cNvPr id="8" name="cap_365"/>
          <p:cNvSpPr txBox="1"/>
          <p:nvPr/>
        </p:nvSpPr>
        <p:spPr>
          <a:xfrm>
            <a:off x="6217920" y="57790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Pistón de diésel de inyección directa</a:t>
            </a:r>
            <a:endParaRPr lang="en-US" sz="1100" dirty="0"/>
          </a:p>
        </p:txBody>
      </p:sp>
      <p:sp>
        <p:nvSpPr>
          <p:cNvPr id="9" name="fig_366"/>
          <p:cNvSpPr/>
          <p:nvPr/>
        </p:nvSpPr>
        <p:spPr>
          <a:xfrm>
            <a:off x="8961120" y="1463040"/>
            <a:ext cx="2681935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g_367" descr="/home/claude/img/u34_u3mci_69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848" y="1819845"/>
            <a:ext cx="2462479" cy="1005462"/>
          </a:xfrm>
          <a:prstGeom prst="rect">
            <a:avLst/>
          </a:prstGeom>
        </p:spPr>
      </p:pic>
      <p:sp>
        <p:nvSpPr>
          <p:cNvPr id="11" name="cap_368"/>
          <p:cNvSpPr txBox="1"/>
          <p:nvPr/>
        </p:nvSpPr>
        <p:spPr>
          <a:xfrm>
            <a:off x="9052560" y="3127248"/>
            <a:ext cx="2499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del pistón</a:t>
            </a:r>
            <a:endParaRPr lang="en-US" sz="1100" dirty="0"/>
          </a:p>
        </p:txBody>
      </p:sp>
      <p:sp>
        <p:nvSpPr>
          <p:cNvPr id="12" name="fig_369"/>
          <p:cNvSpPr/>
          <p:nvPr/>
        </p:nvSpPr>
        <p:spPr>
          <a:xfrm>
            <a:off x="8961120" y="3794760"/>
            <a:ext cx="2681935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g_370" descr="/home/claude/img/u34_u3mci_94_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48" y="3941970"/>
            <a:ext cx="2462479" cy="1744693"/>
          </a:xfrm>
          <a:prstGeom prst="rect">
            <a:avLst/>
          </a:prstGeom>
        </p:spPr>
      </p:pic>
      <p:sp>
        <p:nvSpPr>
          <p:cNvPr id="14" name="cap_371"/>
          <p:cNvSpPr txBox="1"/>
          <p:nvPr/>
        </p:nvSpPr>
        <p:spPr>
          <a:xfrm>
            <a:off x="9052560" y="5779008"/>
            <a:ext cx="2499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lateral en la falda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Pistón: materiales y fabricación</a:t>
            </a:r>
            <a:endParaRPr lang="en-US" sz="3000" dirty="0"/>
          </a:p>
        </p:txBody>
      </p:sp>
      <p:sp>
        <p:nvSpPr>
          <p:cNvPr id="3" name="kicker_372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 ·  PARTES MÓVILES DEL MOTOR</a:t>
            </a:r>
            <a:endParaRPr lang="en-US" sz="1100" dirty="0"/>
          </a:p>
        </p:txBody>
      </p:sp>
      <p:sp>
        <p:nvSpPr>
          <p:cNvPr id="5" name="card_373"/>
          <p:cNvSpPr/>
          <p:nvPr/>
        </p:nvSpPr>
        <p:spPr>
          <a:xfrm>
            <a:off x="548640" y="1463040"/>
            <a:ext cx="7863840" cy="1463040"/>
          </a:xfrm>
          <a:prstGeom prst="roundRect">
            <a:avLst>
              <a:gd name="adj" fmla="val 6250"/>
            </a:avLst>
          </a:prstGeom>
          <a:solidFill>
            <a:srgbClr val="F2F5F8"/>
          </a:solidFill>
          <a:ln/>
        </p:spPr>
      </p:sp>
      <p:sp>
        <p:nvSpPr>
          <p:cNvPr id="6" name="dot_374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7" name="ic_37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19656"/>
            <a:ext cx="310896" cy="310896"/>
          </a:xfrm>
          <a:prstGeom prst="rect">
            <a:avLst/>
          </a:prstGeom>
        </p:spPr>
      </p:pic>
      <p:sp>
        <p:nvSpPr>
          <p:cNvPr id="8" name="txt_376"/>
          <p:cNvSpPr txBox="1"/>
          <p:nvPr/>
        </p:nvSpPr>
        <p:spPr>
          <a:xfrm>
            <a:off x="1481328" y="1664208"/>
            <a:ext cx="67665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</a:t>
            </a:r>
            <a:endParaRPr lang="en-US" sz="1700" dirty="0"/>
          </a:p>
        </p:txBody>
      </p:sp>
      <p:sp>
        <p:nvSpPr>
          <p:cNvPr id="9" name="txt_377"/>
          <p:cNvSpPr txBox="1"/>
          <p:nvPr/>
        </p:nvSpPr>
        <p:spPr>
          <a:xfrm>
            <a:off x="777240" y="2377440"/>
            <a:ext cx="7452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Rígido y resistente al calor y la presión.</a:t>
            </a:r>
            <a:endParaRPr lang="en-US" sz="14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Ligero (menos inercia).</a:t>
            </a:r>
            <a:endParaRPr lang="en-US" sz="14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 dilatación y alta conductividad.</a:t>
            </a:r>
            <a:endParaRPr lang="en-US" sz="1400" dirty="0"/>
          </a:p>
        </p:txBody>
      </p:sp>
      <p:sp>
        <p:nvSpPr>
          <p:cNvPr id="10" name="card_378"/>
          <p:cNvSpPr/>
          <p:nvPr/>
        </p:nvSpPr>
        <p:spPr>
          <a:xfrm>
            <a:off x="548640" y="3108960"/>
            <a:ext cx="7863840" cy="1463040"/>
          </a:xfrm>
          <a:prstGeom prst="roundRect">
            <a:avLst>
              <a:gd name="adj" fmla="val 6250"/>
            </a:avLst>
          </a:prstGeom>
          <a:solidFill>
            <a:srgbClr val="F2F5F8"/>
          </a:solidFill>
          <a:ln/>
        </p:spPr>
      </p:sp>
      <p:sp>
        <p:nvSpPr>
          <p:cNvPr id="11" name="dot_379"/>
          <p:cNvSpPr/>
          <p:nvPr/>
        </p:nvSpPr>
        <p:spPr>
          <a:xfrm>
            <a:off x="777240" y="333756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2" name="ic_38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465576"/>
            <a:ext cx="310896" cy="310896"/>
          </a:xfrm>
          <a:prstGeom prst="rect">
            <a:avLst/>
          </a:prstGeom>
        </p:spPr>
      </p:pic>
      <p:sp>
        <p:nvSpPr>
          <p:cNvPr id="13" name="txt_381"/>
          <p:cNvSpPr txBox="1"/>
          <p:nvPr/>
        </p:nvSpPr>
        <p:spPr>
          <a:xfrm>
            <a:off x="1481328" y="3310128"/>
            <a:ext cx="67665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Materiales</a:t>
            </a:r>
            <a:endParaRPr lang="en-US" sz="1700" dirty="0"/>
          </a:p>
        </p:txBody>
      </p:sp>
      <p:sp>
        <p:nvSpPr>
          <p:cNvPr id="14" name="txt_382"/>
          <p:cNvSpPr txBox="1"/>
          <p:nvPr/>
        </p:nvSpPr>
        <p:spPr>
          <a:xfrm>
            <a:off x="777240" y="4023360"/>
            <a:ext cx="7452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Aleaciones de aluminio con silicio, cobre, níquel y magnesio.</a:t>
            </a:r>
            <a:endParaRPr lang="en-US" sz="14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Fundición o acero en usos especiales.</a:t>
            </a:r>
            <a:endParaRPr lang="en-US" sz="1400" dirty="0"/>
          </a:p>
        </p:txBody>
      </p:sp>
      <p:sp>
        <p:nvSpPr>
          <p:cNvPr id="15" name="card_383"/>
          <p:cNvSpPr/>
          <p:nvPr/>
        </p:nvSpPr>
        <p:spPr>
          <a:xfrm>
            <a:off x="548640" y="4754880"/>
            <a:ext cx="7863840" cy="1463040"/>
          </a:xfrm>
          <a:prstGeom prst="roundRect">
            <a:avLst>
              <a:gd name="adj" fmla="val 6250"/>
            </a:avLst>
          </a:prstGeom>
          <a:solidFill>
            <a:srgbClr val="F2F5F8"/>
          </a:solidFill>
          <a:ln/>
        </p:spPr>
      </p:sp>
      <p:sp>
        <p:nvSpPr>
          <p:cNvPr id="16" name="dot_384"/>
          <p:cNvSpPr/>
          <p:nvPr/>
        </p:nvSpPr>
        <p:spPr>
          <a:xfrm>
            <a:off x="777240" y="4983480"/>
            <a:ext cx="566928" cy="566928"/>
          </a:xfrm>
          <a:prstGeom prst="ellipse">
            <a:avLst/>
          </a:prstGeom>
          <a:solidFill>
            <a:srgbClr val="22345A"/>
          </a:solidFill>
          <a:ln/>
        </p:spPr>
      </p:sp>
      <p:pic>
        <p:nvPicPr>
          <p:cNvPr id="17" name="ic_38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111496"/>
            <a:ext cx="310896" cy="310896"/>
          </a:xfrm>
          <a:prstGeom prst="rect">
            <a:avLst/>
          </a:prstGeom>
        </p:spPr>
      </p:pic>
      <p:sp>
        <p:nvSpPr>
          <p:cNvPr id="18" name="txt_386"/>
          <p:cNvSpPr txBox="1"/>
          <p:nvPr/>
        </p:nvSpPr>
        <p:spPr>
          <a:xfrm>
            <a:off x="1481328" y="4956048"/>
            <a:ext cx="67665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Fundido frente a forjado</a:t>
            </a:r>
            <a:endParaRPr lang="en-US" sz="1700" dirty="0"/>
          </a:p>
        </p:txBody>
      </p:sp>
      <p:sp>
        <p:nvSpPr>
          <p:cNvPr id="19" name="txt_387"/>
          <p:cNvSpPr txBox="1"/>
          <p:nvPr/>
        </p:nvSpPr>
        <p:spPr>
          <a:xfrm>
            <a:off x="777240" y="5669280"/>
            <a:ext cx="7452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forjado es hasta tres veces más resistente y disipa mejor el calor.</a:t>
            </a:r>
            <a:endParaRPr lang="en-US" sz="14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dilata más: requiere más holgura.</a:t>
            </a:r>
            <a:endParaRPr lang="en-US" sz="1400" dirty="0"/>
          </a:p>
        </p:txBody>
      </p:sp>
      <p:sp>
        <p:nvSpPr>
          <p:cNvPr id="20" name="fig_388"/>
          <p:cNvSpPr/>
          <p:nvPr/>
        </p:nvSpPr>
        <p:spPr>
          <a:xfrm>
            <a:off x="8686800" y="1463040"/>
            <a:ext cx="2956255" cy="475488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g_389" descr="/home/claude/img/u34_u3mci_103_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28" y="2131115"/>
            <a:ext cx="2736799" cy="3034682"/>
          </a:xfrm>
          <a:prstGeom prst="rect">
            <a:avLst/>
          </a:prstGeom>
        </p:spPr>
      </p:pic>
      <p:sp>
        <p:nvSpPr>
          <p:cNvPr id="22" name="cap_390"/>
          <p:cNvSpPr txBox="1"/>
          <p:nvPr/>
        </p:nvSpPr>
        <p:spPr>
          <a:xfrm>
            <a:off x="8778240" y="5779008"/>
            <a:ext cx="27733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temperaturas en el pistón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Segmentos o rines</a:t>
            </a:r>
            <a:endParaRPr lang="en-US" sz="3000" dirty="0"/>
          </a:p>
        </p:txBody>
      </p:sp>
      <p:sp>
        <p:nvSpPr>
          <p:cNvPr id="3" name="kicker_391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 ·  PARTES MÓVILES DEL MOTOR</a:t>
            </a:r>
            <a:endParaRPr lang="en-US" sz="1100" dirty="0"/>
          </a:p>
        </p:txBody>
      </p:sp>
      <p:sp>
        <p:nvSpPr>
          <p:cNvPr id="5" name="txt_392"/>
          <p:cNvSpPr txBox="1"/>
          <p:nvPr/>
        </p:nvSpPr>
        <p:spPr>
          <a:xfrm>
            <a:off x="548640" y="1463040"/>
            <a:ext cx="576072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Anillos elásticos alojados en las ranuras del pistón.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fuego y compresión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sellan la cámara y evitan el paso de gases al cárter.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Rascador o de engrase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retira el exceso de aceite de la pared del cilindro.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Otto: normalmente 2 de compresión + 1 de aceite. Diésel grande: hasta 3–4 de compresión y 2 de aceite.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tendencia actual es reducir su número y espesor para disminuir la fricción.</a:t>
            </a:r>
            <a:endParaRPr lang="en-US" sz="1500" dirty="0"/>
          </a:p>
        </p:txBody>
      </p:sp>
      <p:sp>
        <p:nvSpPr>
          <p:cNvPr id="6" name="fig_393"/>
          <p:cNvSpPr/>
          <p:nvPr/>
        </p:nvSpPr>
        <p:spPr>
          <a:xfrm>
            <a:off x="6583680" y="1463040"/>
            <a:ext cx="2743200" cy="47548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g_394" descr="/home/claude/img/u34_advantage_20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08" y="2531198"/>
            <a:ext cx="2523744" cy="2234516"/>
          </a:xfrm>
          <a:prstGeom prst="rect">
            <a:avLst/>
          </a:prstGeom>
        </p:spPr>
      </p:pic>
      <p:sp>
        <p:nvSpPr>
          <p:cNvPr id="8" name="cap_395"/>
          <p:cNvSpPr txBox="1"/>
          <p:nvPr/>
        </p:nvSpPr>
        <p:spPr>
          <a:xfrm>
            <a:off x="6675120" y="57790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de los segmentos</a:t>
            </a:r>
            <a:endParaRPr lang="en-US" sz="1100" dirty="0"/>
          </a:p>
        </p:txBody>
      </p:sp>
      <p:sp>
        <p:nvSpPr>
          <p:cNvPr id="9" name="fig_396"/>
          <p:cNvSpPr/>
          <p:nvPr/>
        </p:nvSpPr>
        <p:spPr>
          <a:xfrm>
            <a:off x="9509760" y="1463040"/>
            <a:ext cx="2133295" cy="475488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g_397" descr="/home/claude/img/u34_u3mci_72_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9488" y="2791481"/>
            <a:ext cx="1913839" cy="1713949"/>
          </a:xfrm>
          <a:prstGeom prst="rect">
            <a:avLst/>
          </a:prstGeom>
        </p:spPr>
      </p:pic>
      <p:sp>
        <p:nvSpPr>
          <p:cNvPr id="11" name="cap_398"/>
          <p:cNvSpPr txBox="1"/>
          <p:nvPr/>
        </p:nvSpPr>
        <p:spPr>
          <a:xfrm>
            <a:off x="9601200" y="5779008"/>
            <a:ext cx="1950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Pistón con segmentos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Bulón y biela</a:t>
            </a:r>
            <a:endParaRPr lang="en-US" sz="3000" dirty="0"/>
          </a:p>
        </p:txBody>
      </p:sp>
      <p:sp>
        <p:nvSpPr>
          <p:cNvPr id="3" name="kicker_399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 ·  PARTES MÓVILES DEL MOTOR</a:t>
            </a:r>
            <a:endParaRPr lang="en-US" sz="1100" dirty="0"/>
          </a:p>
        </p:txBody>
      </p:sp>
      <p:sp>
        <p:nvSpPr>
          <p:cNvPr id="5" name="card_400"/>
          <p:cNvSpPr/>
          <p:nvPr/>
        </p:nvSpPr>
        <p:spPr>
          <a:xfrm>
            <a:off x="548640" y="1463040"/>
            <a:ext cx="6035040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6" name="dot_401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7" name="ic_40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19656"/>
            <a:ext cx="310896" cy="310896"/>
          </a:xfrm>
          <a:prstGeom prst="rect">
            <a:avLst/>
          </a:prstGeom>
        </p:spPr>
      </p:pic>
      <p:sp>
        <p:nvSpPr>
          <p:cNvPr id="8" name="txt_403"/>
          <p:cNvSpPr txBox="1"/>
          <p:nvPr/>
        </p:nvSpPr>
        <p:spPr>
          <a:xfrm>
            <a:off x="1481328" y="1664208"/>
            <a:ext cx="4937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Bulón</a:t>
            </a:r>
            <a:endParaRPr lang="en-US" sz="1700" dirty="0"/>
          </a:p>
        </p:txBody>
      </p:sp>
      <p:sp>
        <p:nvSpPr>
          <p:cNvPr id="9" name="txt_404"/>
          <p:cNvSpPr txBox="1"/>
          <p:nvPr/>
        </p:nvSpPr>
        <p:spPr>
          <a:xfrm>
            <a:off x="777240" y="2377440"/>
            <a:ext cx="562356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que une el pistón con el 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de la biela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él pasa toda la fuerza de la combustión.</a:t>
            </a:r>
            <a:endParaRPr lang="en-US" sz="14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Acero cementado, hueco para reducir peso; fijado con anillos (seguros).</a:t>
            </a:r>
            <a:endParaRPr lang="en-US" sz="1400" dirty="0"/>
          </a:p>
        </p:txBody>
      </p:sp>
      <p:sp>
        <p:nvSpPr>
          <p:cNvPr id="10" name="card_405"/>
          <p:cNvSpPr/>
          <p:nvPr/>
        </p:nvSpPr>
        <p:spPr>
          <a:xfrm>
            <a:off x="548640" y="3977640"/>
            <a:ext cx="6035040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11" name="dot_406"/>
          <p:cNvSpPr/>
          <p:nvPr/>
        </p:nvSpPr>
        <p:spPr>
          <a:xfrm>
            <a:off x="777240" y="420624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2" name="ic_40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4334256"/>
            <a:ext cx="310896" cy="310896"/>
          </a:xfrm>
          <a:prstGeom prst="rect">
            <a:avLst/>
          </a:prstGeom>
        </p:spPr>
      </p:pic>
      <p:sp>
        <p:nvSpPr>
          <p:cNvPr id="13" name="txt_408"/>
          <p:cNvSpPr txBox="1"/>
          <p:nvPr/>
        </p:nvSpPr>
        <p:spPr>
          <a:xfrm>
            <a:off x="1481328" y="4178808"/>
            <a:ext cx="4937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Biela</a:t>
            </a:r>
            <a:endParaRPr lang="en-US" sz="1700" dirty="0"/>
          </a:p>
        </p:txBody>
      </p:sp>
      <p:sp>
        <p:nvSpPr>
          <p:cNvPr id="14" name="txt_409"/>
          <p:cNvSpPr txBox="1"/>
          <p:nvPr/>
        </p:nvSpPr>
        <p:spPr>
          <a:xfrm>
            <a:off x="777240" y="4892040"/>
            <a:ext cx="562356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Transmite la fuerza del pistón al cigüeñal.</a:t>
            </a:r>
            <a:endParaRPr lang="en-US" sz="14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Partes: 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(sección en doble T) y 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cabeza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sombrerete y semicojinetes.</a:t>
            </a:r>
            <a:endParaRPr lang="en-US" sz="14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del mecanismo biela–manivela (Unidad 4, 4.4).</a:t>
            </a:r>
            <a:endParaRPr lang="en-US" sz="1400" dirty="0"/>
          </a:p>
        </p:txBody>
      </p:sp>
      <p:sp>
        <p:nvSpPr>
          <p:cNvPr id="15" name="fig_410"/>
          <p:cNvSpPr/>
          <p:nvPr/>
        </p:nvSpPr>
        <p:spPr>
          <a:xfrm>
            <a:off x="6858000" y="1463040"/>
            <a:ext cx="4785055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g_411" descr="/home/claude/img/u34_advantage_21_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13" y="1572768"/>
            <a:ext cx="1757629" cy="1591056"/>
          </a:xfrm>
          <a:prstGeom prst="rect">
            <a:avLst/>
          </a:prstGeom>
        </p:spPr>
      </p:pic>
      <p:sp>
        <p:nvSpPr>
          <p:cNvPr id="17" name="cap_412"/>
          <p:cNvSpPr txBox="1"/>
          <p:nvPr/>
        </p:nvSpPr>
        <p:spPr>
          <a:xfrm>
            <a:off x="6949440" y="3218688"/>
            <a:ext cx="4602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Bulón</a:t>
            </a:r>
            <a:endParaRPr lang="en-US" sz="1100" dirty="0"/>
          </a:p>
        </p:txBody>
      </p:sp>
      <p:sp>
        <p:nvSpPr>
          <p:cNvPr id="18" name="fig_413"/>
          <p:cNvSpPr/>
          <p:nvPr/>
        </p:nvSpPr>
        <p:spPr>
          <a:xfrm>
            <a:off x="6858000" y="3886200"/>
            <a:ext cx="4785055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g_414" descr="/home/claude/img/u34_advantage_22_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5361" y="3995928"/>
            <a:ext cx="2330334" cy="1728216"/>
          </a:xfrm>
          <a:prstGeom prst="rect">
            <a:avLst/>
          </a:prstGeom>
        </p:spPr>
      </p:pic>
      <p:sp>
        <p:nvSpPr>
          <p:cNvPr id="20" name="cap_415"/>
          <p:cNvSpPr txBox="1"/>
          <p:nvPr/>
        </p:nvSpPr>
        <p:spPr>
          <a:xfrm>
            <a:off x="6949440" y="5779008"/>
            <a:ext cx="4602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Bielas con pie trapezoidal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Cigüeñal y cojinetes</a:t>
            </a:r>
            <a:endParaRPr lang="en-US" sz="3000" dirty="0"/>
          </a:p>
        </p:txBody>
      </p:sp>
      <p:sp>
        <p:nvSpPr>
          <p:cNvPr id="3" name="kicker_416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 ·  PARTES MÓVILES DEL MOTOR</a:t>
            </a:r>
            <a:endParaRPr lang="en-US" sz="1100" dirty="0"/>
          </a:p>
        </p:txBody>
      </p:sp>
      <p:sp>
        <p:nvSpPr>
          <p:cNvPr id="5" name="txt_417"/>
          <p:cNvSpPr txBox="1"/>
          <p:nvPr/>
        </p:nvSpPr>
        <p:spPr>
          <a:xfrm>
            <a:off x="548640" y="1463040"/>
            <a:ext cx="548640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Cigüeñal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árbol motriz con tantos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codos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como cilindros. Convierte la fuerza de las bielas en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algn="l"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Muñones de bancada (apoyos) y muñequillas de biela.</a:t>
            </a:r>
            <a:endParaRPr lang="en-US" sz="1500" dirty="0"/>
          </a:p>
          <a:p>
            <a:pPr algn="l"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Contrapesos para equilibrar las masas.</a:t>
            </a:r>
            <a:endParaRPr lang="en-US" sz="1500" dirty="0"/>
          </a:p>
          <a:p>
            <a:pPr algn="l"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Conductos internos de aceite.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Cojinetes (semicojinetes)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casquillos de fricción entre el cigüeñal y la bancada o la biela. Reducen la fricción y el desgaste; tienen canal de engrase y pestaña de posicionamiento.</a:t>
            </a:r>
            <a:endParaRPr lang="en-US" sz="1500" dirty="0"/>
          </a:p>
        </p:txBody>
      </p:sp>
      <p:sp>
        <p:nvSpPr>
          <p:cNvPr id="6" name="fig_418"/>
          <p:cNvSpPr/>
          <p:nvPr/>
        </p:nvSpPr>
        <p:spPr>
          <a:xfrm>
            <a:off x="6309360" y="1463040"/>
            <a:ext cx="2651760" cy="4754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g_419" descr="/home/claude/img/u34_advantage_2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088" y="2303866"/>
            <a:ext cx="2432304" cy="2689181"/>
          </a:xfrm>
          <a:prstGeom prst="rect">
            <a:avLst/>
          </a:prstGeom>
        </p:spPr>
      </p:pic>
      <p:sp>
        <p:nvSpPr>
          <p:cNvPr id="8" name="cap_420"/>
          <p:cNvSpPr txBox="1"/>
          <p:nvPr/>
        </p:nvSpPr>
        <p:spPr>
          <a:xfrm>
            <a:off x="6400800" y="57790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Cigüeñal</a:t>
            </a:r>
            <a:endParaRPr lang="en-US" sz="1100" dirty="0"/>
          </a:p>
        </p:txBody>
      </p:sp>
      <p:sp>
        <p:nvSpPr>
          <p:cNvPr id="9" name="fig_421"/>
          <p:cNvSpPr/>
          <p:nvPr/>
        </p:nvSpPr>
        <p:spPr>
          <a:xfrm>
            <a:off x="9144000" y="1463040"/>
            <a:ext cx="2499055" cy="47548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g_422" descr="/home/claude/img/u34_advantage_24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28" y="2489848"/>
            <a:ext cx="2279599" cy="2317216"/>
          </a:xfrm>
          <a:prstGeom prst="rect">
            <a:avLst/>
          </a:prstGeom>
        </p:spPr>
      </p:pic>
      <p:sp>
        <p:nvSpPr>
          <p:cNvPr id="11" name="cap_423"/>
          <p:cNvSpPr txBox="1"/>
          <p:nvPr/>
        </p:nvSpPr>
        <p:spPr>
          <a:xfrm>
            <a:off x="9235440" y="5779008"/>
            <a:ext cx="2316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Semicojinetes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Volante de inercia y regulador de vibraciones</a:t>
            </a:r>
            <a:endParaRPr lang="en-US" sz="3000" dirty="0"/>
          </a:p>
        </p:txBody>
      </p:sp>
      <p:sp>
        <p:nvSpPr>
          <p:cNvPr id="3" name="kicker_424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 ·  PARTES MÓVILES DEL MOTOR</a:t>
            </a:r>
            <a:endParaRPr lang="en-US" sz="1100" dirty="0"/>
          </a:p>
        </p:txBody>
      </p:sp>
      <p:sp>
        <p:nvSpPr>
          <p:cNvPr id="5" name="card_425"/>
          <p:cNvSpPr/>
          <p:nvPr/>
        </p:nvSpPr>
        <p:spPr>
          <a:xfrm>
            <a:off x="548640" y="1463040"/>
            <a:ext cx="5852160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6" name="dot_426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7" name="ic_42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19656"/>
            <a:ext cx="310896" cy="310896"/>
          </a:xfrm>
          <a:prstGeom prst="rect">
            <a:avLst/>
          </a:prstGeom>
        </p:spPr>
      </p:pic>
      <p:sp>
        <p:nvSpPr>
          <p:cNvPr id="8" name="txt_428"/>
          <p:cNvSpPr txBox="1"/>
          <p:nvPr/>
        </p:nvSpPr>
        <p:spPr>
          <a:xfrm>
            <a:off x="1481328" y="1664208"/>
            <a:ext cx="4754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Volante de inercia</a:t>
            </a:r>
            <a:endParaRPr lang="en-US" sz="1700" dirty="0"/>
          </a:p>
        </p:txBody>
      </p:sp>
      <p:sp>
        <p:nvSpPr>
          <p:cNvPr id="9" name="txt_429"/>
          <p:cNvSpPr txBox="1"/>
          <p:nvPr/>
        </p:nvSpPr>
        <p:spPr>
          <a:xfrm>
            <a:off x="777240" y="2377440"/>
            <a:ext cx="544068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pesado al final del cigüeñal.</a:t>
            </a:r>
            <a:endParaRPr lang="en-US" sz="14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energía en la carrera de expansión y la cede en las demás: 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 el giro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 la corona de arranque y la superficie del embrague. Hay volantes 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bimasa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card_430"/>
          <p:cNvSpPr/>
          <p:nvPr/>
        </p:nvSpPr>
        <p:spPr>
          <a:xfrm>
            <a:off x="548640" y="3977640"/>
            <a:ext cx="5852160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11" name="dot_431"/>
          <p:cNvSpPr/>
          <p:nvPr/>
        </p:nvSpPr>
        <p:spPr>
          <a:xfrm>
            <a:off x="777240" y="420624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2" name="ic_43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4334256"/>
            <a:ext cx="310896" cy="310896"/>
          </a:xfrm>
          <a:prstGeom prst="rect">
            <a:avLst/>
          </a:prstGeom>
        </p:spPr>
      </p:pic>
      <p:sp>
        <p:nvSpPr>
          <p:cNvPr id="13" name="txt_433"/>
          <p:cNvSpPr txBox="1"/>
          <p:nvPr/>
        </p:nvSpPr>
        <p:spPr>
          <a:xfrm>
            <a:off x="1481328" y="4178808"/>
            <a:ext cx="4754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Regulador de vibraciones (dámper)</a:t>
            </a:r>
            <a:endParaRPr lang="en-US" sz="1700" dirty="0"/>
          </a:p>
        </p:txBody>
      </p:sp>
      <p:sp>
        <p:nvSpPr>
          <p:cNvPr id="14" name="txt_434"/>
          <p:cNvSpPr txBox="1"/>
          <p:nvPr/>
        </p:nvSpPr>
        <p:spPr>
          <a:xfrm>
            <a:off x="777240" y="4892040"/>
            <a:ext cx="544068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Polea con un anillo de caucho o fluido viscoso en la parte delantera del cigüeñal.</a:t>
            </a:r>
            <a:endParaRPr lang="en-US" sz="14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Amortigua las 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vibraciones de torsión</a:t>
            </a:r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podrían romper el cigüeñal.</a:t>
            </a:r>
            <a:endParaRPr lang="en-US" sz="1400" dirty="0"/>
          </a:p>
        </p:txBody>
      </p:sp>
      <p:sp>
        <p:nvSpPr>
          <p:cNvPr id="15" name="fig_435"/>
          <p:cNvSpPr/>
          <p:nvPr/>
        </p:nvSpPr>
        <p:spPr>
          <a:xfrm>
            <a:off x="6675120" y="1463040"/>
            <a:ext cx="4967935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g_436" descr="/home/claude/img/u34_advantage_25_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2758116"/>
            <a:ext cx="4748479" cy="1780680"/>
          </a:xfrm>
          <a:prstGeom prst="rect">
            <a:avLst/>
          </a:prstGeom>
        </p:spPr>
      </p:pic>
      <p:sp>
        <p:nvSpPr>
          <p:cNvPr id="17" name="cap_437"/>
          <p:cNvSpPr txBox="1"/>
          <p:nvPr/>
        </p:nvSpPr>
        <p:spPr>
          <a:xfrm>
            <a:off x="6766560" y="5779008"/>
            <a:ext cx="4785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Volantes motor: rígido y bimasa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#3: inspección en las maquetas del taller</a:t>
            </a:r>
            <a:endParaRPr lang="en-US" sz="3000" dirty="0"/>
          </a:p>
        </p:txBody>
      </p:sp>
      <p:sp>
        <p:nvSpPr>
          <p:cNvPr id="3" name="kicker_438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 ·  PARTES MÓVILES DEL MOTOR</a:t>
            </a:r>
            <a:endParaRPr lang="en-US" sz="1100" dirty="0"/>
          </a:p>
        </p:txBody>
      </p:sp>
      <p:graphicFrame>
        <p:nvGraphicFramePr>
          <p:cNvPr id="38" name="tbl_4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3152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286000"/>
                <a:gridCol w="24688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Maqueta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Identificación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Aspectos a inspeccionar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Daihatsu CB-20 (Charade G10)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en la culata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Clasificación, número de cilindros, elementos fijos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Nissan A14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de válvulas en culata (OHV)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Bloque, culata, juntas y elementos faltantes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Hyundai (culata LC4V)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de 4 válvulas por cilindro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Culata, árbol de levas, cámara de combustión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Chevrolet Monza 2.0 (20LV)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GM, correa dentada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Partes fijas y móviles; distribución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card_440"/>
          <p:cNvSpPr/>
          <p:nvPr/>
        </p:nvSpPr>
        <p:spPr>
          <a:xfrm>
            <a:off x="8138160" y="1463040"/>
            <a:ext cx="3504895" cy="1463040"/>
          </a:xfrm>
          <a:prstGeom prst="roundRect">
            <a:avLst>
              <a:gd name="adj" fmla="val 6250"/>
            </a:avLst>
          </a:prstGeom>
          <a:solidFill>
            <a:srgbClr val="F2F5F8"/>
          </a:solidFill>
          <a:ln/>
        </p:spPr>
      </p:sp>
      <p:sp>
        <p:nvSpPr>
          <p:cNvPr id="7" name="dot_441"/>
          <p:cNvSpPr/>
          <p:nvPr/>
        </p:nvSpPr>
        <p:spPr>
          <a:xfrm>
            <a:off x="836676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xt_442"/>
          <p:cNvSpPr txBox="1"/>
          <p:nvPr/>
        </p:nvSpPr>
        <p:spPr>
          <a:xfrm>
            <a:off x="836676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xt_443"/>
          <p:cNvSpPr txBox="1"/>
          <p:nvPr/>
        </p:nvSpPr>
        <p:spPr>
          <a:xfrm>
            <a:off x="9070848" y="1664208"/>
            <a:ext cx="240761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Clasifique</a:t>
            </a:r>
            <a:endParaRPr lang="en-US" sz="1500" dirty="0"/>
          </a:p>
        </p:txBody>
      </p:sp>
      <p:sp>
        <p:nvSpPr>
          <p:cNvPr id="10" name="txt_444"/>
          <p:cNvSpPr txBox="1"/>
          <p:nvPr/>
        </p:nvSpPr>
        <p:spPr>
          <a:xfrm>
            <a:off x="8366760" y="2377440"/>
            <a:ext cx="3093415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los 7 criterios del apartado 3.2.</a:t>
            </a:r>
            <a:endParaRPr lang="en-US" sz="1300" dirty="0"/>
          </a:p>
        </p:txBody>
      </p:sp>
      <p:sp>
        <p:nvSpPr>
          <p:cNvPr id="11" name="card_445"/>
          <p:cNvSpPr/>
          <p:nvPr/>
        </p:nvSpPr>
        <p:spPr>
          <a:xfrm>
            <a:off x="8138160" y="3108960"/>
            <a:ext cx="3504895" cy="1463040"/>
          </a:xfrm>
          <a:prstGeom prst="roundRect">
            <a:avLst>
              <a:gd name="adj" fmla="val 6250"/>
            </a:avLst>
          </a:prstGeom>
          <a:solidFill>
            <a:srgbClr val="F2F5F8"/>
          </a:solidFill>
          <a:ln/>
        </p:spPr>
      </p:sp>
      <p:sp>
        <p:nvSpPr>
          <p:cNvPr id="12" name="dot_446"/>
          <p:cNvSpPr/>
          <p:nvPr/>
        </p:nvSpPr>
        <p:spPr>
          <a:xfrm>
            <a:off x="8366760" y="333756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3" name="txt_447"/>
          <p:cNvSpPr txBox="1"/>
          <p:nvPr/>
        </p:nvSpPr>
        <p:spPr>
          <a:xfrm>
            <a:off x="8366760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xt_448"/>
          <p:cNvSpPr txBox="1"/>
          <p:nvPr/>
        </p:nvSpPr>
        <p:spPr>
          <a:xfrm>
            <a:off x="9070848" y="3310128"/>
            <a:ext cx="240761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Identifique</a:t>
            </a:r>
            <a:endParaRPr lang="en-US" sz="1500" dirty="0"/>
          </a:p>
        </p:txBody>
      </p:sp>
      <p:sp>
        <p:nvSpPr>
          <p:cNvPr id="15" name="txt_449"/>
          <p:cNvSpPr txBox="1"/>
          <p:nvPr/>
        </p:nvSpPr>
        <p:spPr>
          <a:xfrm>
            <a:off x="8366760" y="4023360"/>
            <a:ext cx="3093415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fijos y móviles presentes y faltantes.</a:t>
            </a:r>
            <a:endParaRPr lang="en-US" sz="1300" dirty="0"/>
          </a:p>
        </p:txBody>
      </p:sp>
      <p:sp>
        <p:nvSpPr>
          <p:cNvPr id="16" name="card_450"/>
          <p:cNvSpPr/>
          <p:nvPr/>
        </p:nvSpPr>
        <p:spPr>
          <a:xfrm>
            <a:off x="8138160" y="4754880"/>
            <a:ext cx="3504895" cy="1463040"/>
          </a:xfrm>
          <a:prstGeom prst="roundRect">
            <a:avLst>
              <a:gd name="adj" fmla="val 6250"/>
            </a:avLst>
          </a:prstGeom>
          <a:solidFill>
            <a:srgbClr val="F2F5F8"/>
          </a:solidFill>
          <a:ln/>
        </p:spPr>
      </p:sp>
      <p:sp>
        <p:nvSpPr>
          <p:cNvPr id="17" name="dot_451"/>
          <p:cNvSpPr/>
          <p:nvPr/>
        </p:nvSpPr>
        <p:spPr>
          <a:xfrm>
            <a:off x="8366760" y="498348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8" name="txt_452"/>
          <p:cNvSpPr txBox="1"/>
          <p:nvPr/>
        </p:nvSpPr>
        <p:spPr>
          <a:xfrm>
            <a:off x="8366760" y="4983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xt_453"/>
          <p:cNvSpPr txBox="1"/>
          <p:nvPr/>
        </p:nvSpPr>
        <p:spPr>
          <a:xfrm>
            <a:off x="9070848" y="4956048"/>
            <a:ext cx="240761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Registre</a:t>
            </a:r>
            <a:endParaRPr lang="en-US" sz="1500" dirty="0"/>
          </a:p>
        </p:txBody>
      </p:sp>
      <p:sp>
        <p:nvSpPr>
          <p:cNvPr id="20" name="txt_454"/>
          <p:cNvSpPr txBox="1"/>
          <p:nvPr/>
        </p:nvSpPr>
        <p:spPr>
          <a:xfrm>
            <a:off x="8366760" y="5669280"/>
            <a:ext cx="3093415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y fotografías en el informe.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 clave</a:t>
            </a:r>
            <a:endParaRPr lang="en-US" sz="3000" dirty="0"/>
          </a:p>
        </p:txBody>
      </p:sp>
      <p:sp>
        <p:nvSpPr>
          <p:cNvPr id="3" name="kicker_455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5" name="card_456"/>
          <p:cNvSpPr/>
          <p:nvPr/>
        </p:nvSpPr>
        <p:spPr>
          <a:xfrm>
            <a:off x="548640" y="14630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6" name="dot_457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7" name="ic_45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19656"/>
            <a:ext cx="310896" cy="310896"/>
          </a:xfrm>
          <a:prstGeom prst="rect">
            <a:avLst/>
          </a:prstGeom>
        </p:spPr>
      </p:pic>
      <p:sp>
        <p:nvSpPr>
          <p:cNvPr id="8" name="txt_459"/>
          <p:cNvSpPr txBox="1"/>
          <p:nvPr/>
        </p:nvSpPr>
        <p:spPr>
          <a:xfrm>
            <a:off x="1481328" y="16642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  MCIA</a:t>
            </a:r>
            <a:endParaRPr lang="en-US" sz="1500" dirty="0"/>
          </a:p>
        </p:txBody>
      </p:sp>
      <p:sp>
        <p:nvSpPr>
          <p:cNvPr id="9" name="txt_460"/>
          <p:cNvSpPr txBox="1"/>
          <p:nvPr/>
        </p:nvSpPr>
        <p:spPr>
          <a:xfrm>
            <a:off x="777240" y="2377440"/>
            <a:ext cx="3103778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Combustión interna dentro de un cilindro; el pistón alternativo mueve el cigüeñal.</a:t>
            </a:r>
            <a:endParaRPr lang="en-US" sz="1400" dirty="0"/>
          </a:p>
        </p:txBody>
      </p:sp>
      <p:sp>
        <p:nvSpPr>
          <p:cNvPr id="10" name="card_461"/>
          <p:cNvSpPr/>
          <p:nvPr/>
        </p:nvSpPr>
        <p:spPr>
          <a:xfrm>
            <a:off x="4338218" y="14630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11" name="dot_462"/>
          <p:cNvSpPr/>
          <p:nvPr/>
        </p:nvSpPr>
        <p:spPr>
          <a:xfrm>
            <a:off x="4566818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2" name="ic_46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834" y="1819656"/>
            <a:ext cx="310896" cy="310896"/>
          </a:xfrm>
          <a:prstGeom prst="rect">
            <a:avLst/>
          </a:prstGeom>
        </p:spPr>
      </p:pic>
      <p:sp>
        <p:nvSpPr>
          <p:cNvPr id="13" name="txt_464"/>
          <p:cNvSpPr txBox="1"/>
          <p:nvPr/>
        </p:nvSpPr>
        <p:spPr>
          <a:xfrm>
            <a:off x="5270906" y="16642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  Clasificación</a:t>
            </a:r>
            <a:endParaRPr lang="en-US" sz="1500" dirty="0"/>
          </a:p>
        </p:txBody>
      </p:sp>
      <p:sp>
        <p:nvSpPr>
          <p:cNvPr id="14" name="txt_465"/>
          <p:cNvSpPr txBox="1"/>
          <p:nvPr/>
        </p:nvSpPr>
        <p:spPr>
          <a:xfrm>
            <a:off x="4566818" y="2377440"/>
            <a:ext cx="3103778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ciclo, encendido, cilindros, disposición, admisión, refrigeración y tecnología.</a:t>
            </a:r>
            <a:endParaRPr lang="en-US" sz="1400" dirty="0"/>
          </a:p>
        </p:txBody>
      </p:sp>
      <p:sp>
        <p:nvSpPr>
          <p:cNvPr id="15" name="card_466"/>
          <p:cNvSpPr/>
          <p:nvPr/>
        </p:nvSpPr>
        <p:spPr>
          <a:xfrm>
            <a:off x="8127797" y="14630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16" name="dot_467"/>
          <p:cNvSpPr/>
          <p:nvPr/>
        </p:nvSpPr>
        <p:spPr>
          <a:xfrm>
            <a:off x="8356397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7" name="ic_46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4413" y="1819656"/>
            <a:ext cx="310896" cy="310896"/>
          </a:xfrm>
          <a:prstGeom prst="rect">
            <a:avLst/>
          </a:prstGeom>
        </p:spPr>
      </p:pic>
      <p:sp>
        <p:nvSpPr>
          <p:cNvPr id="18" name="txt_469"/>
          <p:cNvSpPr txBox="1"/>
          <p:nvPr/>
        </p:nvSpPr>
        <p:spPr>
          <a:xfrm>
            <a:off x="9060485" y="16642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  Constitución</a:t>
            </a:r>
            <a:endParaRPr lang="en-US" sz="1500" dirty="0"/>
          </a:p>
        </p:txBody>
      </p:sp>
      <p:sp>
        <p:nvSpPr>
          <p:cNvPr id="19" name="txt_470"/>
          <p:cNvSpPr txBox="1"/>
          <p:nvPr/>
        </p:nvSpPr>
        <p:spPr>
          <a:xfrm>
            <a:off x="8356397" y="2377440"/>
            <a:ext cx="3103778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Bloque, culata y cárter, unidos con juntas.</a:t>
            </a:r>
            <a:endParaRPr lang="en-US" sz="1400" dirty="0"/>
          </a:p>
        </p:txBody>
      </p:sp>
      <p:sp>
        <p:nvSpPr>
          <p:cNvPr id="20" name="card_471"/>
          <p:cNvSpPr/>
          <p:nvPr/>
        </p:nvSpPr>
        <p:spPr>
          <a:xfrm>
            <a:off x="548640" y="39776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21" name="dot_472"/>
          <p:cNvSpPr/>
          <p:nvPr/>
        </p:nvSpPr>
        <p:spPr>
          <a:xfrm>
            <a:off x="777240" y="42062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2" name="ic_47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334256"/>
            <a:ext cx="310896" cy="310896"/>
          </a:xfrm>
          <a:prstGeom prst="rect">
            <a:avLst/>
          </a:prstGeom>
        </p:spPr>
      </p:pic>
      <p:sp>
        <p:nvSpPr>
          <p:cNvPr id="23" name="txt_474"/>
          <p:cNvSpPr txBox="1"/>
          <p:nvPr/>
        </p:nvSpPr>
        <p:spPr>
          <a:xfrm>
            <a:off x="1481328" y="41788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  Partes fijas</a:t>
            </a:r>
            <a:endParaRPr lang="en-US" sz="1500" dirty="0"/>
          </a:p>
        </p:txBody>
      </p:sp>
      <p:sp>
        <p:nvSpPr>
          <p:cNvPr id="24" name="txt_475"/>
          <p:cNvSpPr txBox="1"/>
          <p:nvPr/>
        </p:nvSpPr>
        <p:spPr>
          <a:xfrm>
            <a:off x="777240" y="4892040"/>
            <a:ext cx="3103778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Camisas (integral, seca, húmeda), bancadas y conductos internos.</a:t>
            </a:r>
            <a:endParaRPr lang="en-US" sz="1400" dirty="0"/>
          </a:p>
        </p:txBody>
      </p:sp>
      <p:sp>
        <p:nvSpPr>
          <p:cNvPr id="25" name="card_476"/>
          <p:cNvSpPr/>
          <p:nvPr/>
        </p:nvSpPr>
        <p:spPr>
          <a:xfrm>
            <a:off x="4338218" y="39776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26" name="dot_477"/>
          <p:cNvSpPr/>
          <p:nvPr/>
        </p:nvSpPr>
        <p:spPr>
          <a:xfrm>
            <a:off x="4566818" y="42062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7" name="ic_47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4834" y="4334256"/>
            <a:ext cx="310896" cy="310896"/>
          </a:xfrm>
          <a:prstGeom prst="rect">
            <a:avLst/>
          </a:prstGeom>
        </p:spPr>
      </p:pic>
      <p:sp>
        <p:nvSpPr>
          <p:cNvPr id="28" name="txt_479"/>
          <p:cNvSpPr txBox="1"/>
          <p:nvPr/>
        </p:nvSpPr>
        <p:spPr>
          <a:xfrm>
            <a:off x="5270906" y="41788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  Partes móviles</a:t>
            </a:r>
            <a:endParaRPr lang="en-US" sz="1500" dirty="0"/>
          </a:p>
        </p:txBody>
      </p:sp>
      <p:sp>
        <p:nvSpPr>
          <p:cNvPr id="29" name="txt_480"/>
          <p:cNvSpPr txBox="1"/>
          <p:nvPr/>
        </p:nvSpPr>
        <p:spPr>
          <a:xfrm>
            <a:off x="4566818" y="4892040"/>
            <a:ext cx="3103778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Pistón, segmentos, bulón, biela, cigüeñal, cojinetes, volante y dámper.</a:t>
            </a:r>
            <a:endParaRPr lang="en-US" sz="1400" dirty="0"/>
          </a:p>
        </p:txBody>
      </p:sp>
      <p:sp>
        <p:nvSpPr>
          <p:cNvPr id="30" name="card_481"/>
          <p:cNvSpPr/>
          <p:nvPr/>
        </p:nvSpPr>
        <p:spPr>
          <a:xfrm>
            <a:off x="8127797" y="39776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31" name="dot_482"/>
          <p:cNvSpPr/>
          <p:nvPr/>
        </p:nvSpPr>
        <p:spPr>
          <a:xfrm>
            <a:off x="8356397" y="42062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2" name="ic_48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4413" y="4334256"/>
            <a:ext cx="310896" cy="310896"/>
          </a:xfrm>
          <a:prstGeom prst="rect">
            <a:avLst/>
          </a:prstGeom>
        </p:spPr>
      </p:pic>
      <p:sp>
        <p:nvSpPr>
          <p:cNvPr id="33" name="txt_484"/>
          <p:cNvSpPr txBox="1"/>
          <p:nvPr/>
        </p:nvSpPr>
        <p:spPr>
          <a:xfrm>
            <a:off x="9060485" y="41788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#3</a:t>
            </a:r>
            <a:endParaRPr lang="en-US" sz="1500" dirty="0"/>
          </a:p>
        </p:txBody>
      </p:sp>
      <p:sp>
        <p:nvSpPr>
          <p:cNvPr id="34" name="txt_485"/>
          <p:cNvSpPr txBox="1"/>
          <p:nvPr/>
        </p:nvSpPr>
        <p:spPr>
          <a:xfrm>
            <a:off x="8356397" y="4892040"/>
            <a:ext cx="3103778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e identificar en las maquetas del taller.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Autoevaluación</a:t>
            </a:r>
            <a:endParaRPr lang="en-US" sz="3000" dirty="0"/>
          </a:p>
        </p:txBody>
      </p:sp>
      <p:sp>
        <p:nvSpPr>
          <p:cNvPr id="3" name="kicker_486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5" name="card_487"/>
          <p:cNvSpPr/>
          <p:nvPr/>
        </p:nvSpPr>
        <p:spPr>
          <a:xfrm>
            <a:off x="548640" y="14630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2F5F8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1581912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xt_488"/>
          <p:cNvSpPr txBox="1"/>
          <p:nvPr/>
        </p:nvSpPr>
        <p:spPr>
          <a:xfrm>
            <a:off x="731520" y="1581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xt_489"/>
          <p:cNvSpPr txBox="1"/>
          <p:nvPr/>
        </p:nvSpPr>
        <p:spPr>
          <a:xfrm>
            <a:off x="1508760" y="1463040"/>
            <a:ext cx="9905695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caracteriza a un motor de combustión interna alternativo?</a:t>
            </a:r>
            <a:endParaRPr lang="en-US" sz="1700" dirty="0"/>
          </a:p>
        </p:txBody>
      </p:sp>
      <p:sp>
        <p:nvSpPr>
          <p:cNvPr id="9" name="card_490"/>
          <p:cNvSpPr/>
          <p:nvPr/>
        </p:nvSpPr>
        <p:spPr>
          <a:xfrm>
            <a:off x="548640" y="242316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2F5F8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2542032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xt_491"/>
          <p:cNvSpPr txBox="1"/>
          <p:nvPr/>
        </p:nvSpPr>
        <p:spPr>
          <a:xfrm>
            <a:off x="731520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xt_492"/>
          <p:cNvSpPr txBox="1"/>
          <p:nvPr/>
        </p:nvSpPr>
        <p:spPr>
          <a:xfrm>
            <a:off x="1508760" y="2423160"/>
            <a:ext cx="9905695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grados gira el cigüeñal en un ciclo de 4T y en uno de 2T?</a:t>
            </a:r>
            <a:endParaRPr lang="en-US" sz="1700" dirty="0"/>
          </a:p>
        </p:txBody>
      </p:sp>
      <p:sp>
        <p:nvSpPr>
          <p:cNvPr id="13" name="card_493"/>
          <p:cNvSpPr/>
          <p:nvPr/>
        </p:nvSpPr>
        <p:spPr>
          <a:xfrm>
            <a:off x="548640" y="338328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2F5F8"/>
          </a:solidFill>
          <a:ln/>
        </p:spPr>
      </p:sp>
      <p:sp>
        <p:nvSpPr>
          <p:cNvPr id="14" name="Shape 11"/>
          <p:cNvSpPr/>
          <p:nvPr/>
        </p:nvSpPr>
        <p:spPr>
          <a:xfrm>
            <a:off x="731520" y="3502152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xt_494"/>
          <p:cNvSpPr txBox="1"/>
          <p:nvPr/>
        </p:nvSpPr>
        <p:spPr>
          <a:xfrm>
            <a:off x="73152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xt_495"/>
          <p:cNvSpPr txBox="1"/>
          <p:nvPr/>
        </p:nvSpPr>
        <p:spPr>
          <a:xfrm>
            <a:off x="1508760" y="3383280"/>
            <a:ext cx="9905695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se diferencia un motor MEP de uno MEC?</a:t>
            </a:r>
            <a:endParaRPr lang="en-US" sz="1700" dirty="0"/>
          </a:p>
        </p:txBody>
      </p:sp>
      <p:sp>
        <p:nvSpPr>
          <p:cNvPr id="17" name="card_496"/>
          <p:cNvSpPr/>
          <p:nvPr/>
        </p:nvSpPr>
        <p:spPr>
          <a:xfrm>
            <a:off x="548640" y="434340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2F5F8"/>
          </a:solidFill>
          <a:ln/>
        </p:spPr>
      </p:sp>
      <p:sp>
        <p:nvSpPr>
          <p:cNvPr id="18" name="Shape 15"/>
          <p:cNvSpPr/>
          <p:nvPr/>
        </p:nvSpPr>
        <p:spPr>
          <a:xfrm>
            <a:off x="731520" y="4462272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9" name="txt_497"/>
          <p:cNvSpPr txBox="1"/>
          <p:nvPr/>
        </p:nvSpPr>
        <p:spPr>
          <a:xfrm>
            <a:off x="731520" y="4462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xt_498"/>
          <p:cNvSpPr txBox="1"/>
          <p:nvPr/>
        </p:nvSpPr>
        <p:spPr>
          <a:xfrm>
            <a:off x="1508760" y="4343400"/>
            <a:ext cx="9905695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diferencia hay entre una camisa seca y una húmeda?</a:t>
            </a:r>
            <a:endParaRPr lang="en-US" sz="1700" dirty="0"/>
          </a:p>
        </p:txBody>
      </p:sp>
      <p:sp>
        <p:nvSpPr>
          <p:cNvPr id="21" name="card_499"/>
          <p:cNvSpPr/>
          <p:nvPr/>
        </p:nvSpPr>
        <p:spPr>
          <a:xfrm>
            <a:off x="548640" y="530352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2F5F8"/>
          </a:solidFill>
          <a:ln/>
        </p:spPr>
      </p:sp>
      <p:sp>
        <p:nvSpPr>
          <p:cNvPr id="22" name="Shape 19"/>
          <p:cNvSpPr/>
          <p:nvPr/>
        </p:nvSpPr>
        <p:spPr>
          <a:xfrm>
            <a:off x="731520" y="5422392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3" name="txt_500"/>
          <p:cNvSpPr txBox="1"/>
          <p:nvPr/>
        </p:nvSpPr>
        <p:spPr>
          <a:xfrm>
            <a:off x="731520" y="5422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xt_501"/>
          <p:cNvSpPr txBox="1"/>
          <p:nvPr/>
        </p:nvSpPr>
        <p:spPr>
          <a:xfrm>
            <a:off x="1508760" y="5303520"/>
            <a:ext cx="9905695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función del volante de inercia?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Bibliografía</a:t>
            </a:r>
            <a:endParaRPr lang="en-US" sz="3000" dirty="0"/>
          </a:p>
        </p:txBody>
      </p:sp>
      <p:sp>
        <p:nvSpPr>
          <p:cNvPr id="3" name="kicker_502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5" name="txt_503"/>
          <p:cNvSpPr txBox="1"/>
          <p:nvPr/>
        </p:nvSpPr>
        <p:spPr>
          <a:xfrm>
            <a:off x="548640" y="1463040"/>
            <a:ext cx="804672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 (PEA)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Minga, M. A. (2026). </a:t>
            </a:r>
            <a:pPr algn="l" indent="0" marL="0">
              <a:spcAft>
                <a:spcPts val="500"/>
              </a:spcAft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Introducción a motores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ISTS.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Escudero Fernández, S., González González, J., Rivas Cuadrado, J. L., y Suárez Linares, A. (2011). </a:t>
            </a:r>
            <a:pPr algn="l" indent="0" marL="0">
              <a:spcAft>
                <a:spcPts val="500"/>
              </a:spcAft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Macmillan Iberia.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Escudero, S., González, J., y Rivas, J. L. (2024). </a:t>
            </a:r>
            <a:pPr algn="l" indent="0" marL="0">
              <a:spcAft>
                <a:spcPts val="500"/>
              </a:spcAft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Motores: Cuaderno de prácticas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Macmillan Iberia.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 Martínez, H. (2015). </a:t>
            </a:r>
            <a:pPr algn="l" indent="0" marL="0">
              <a:spcAft>
                <a:spcPts val="500"/>
              </a:spcAft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manual práctico del automóvil: Reparación, mantenimiento y prácticas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Cultural.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Complementaria y de consulta (PEA)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Rueda Santander, J. R. (2010). </a:t>
            </a:r>
            <a:pPr algn="l" indent="0" marL="0">
              <a:spcAft>
                <a:spcPts val="500"/>
              </a:spcAft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en mecánica y electrónica automotriz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(Tomos 1 y 2, 2.ª ed.). Diseli.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Payri González, F., y Desantes Fernández, J. M. (2023). </a:t>
            </a:r>
            <a:pPr algn="l" indent="0" marL="0">
              <a:spcAft>
                <a:spcPts val="500"/>
              </a:spcAft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de combustión interna alternativos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(7.ª reimp.). Universitat Politècnica de València.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clase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Diapositivas del docente: Unidad3_MCI, Clase 3, Clase 4 y Clase 5 (Pistones), y presentación multimedia de Escudero et al. (2011).</a:t>
            </a:r>
            <a:endParaRPr lang="en-US" sz="1400" dirty="0"/>
          </a:p>
        </p:txBody>
      </p:sp>
      <p:sp>
        <p:nvSpPr>
          <p:cNvPr id="6" name="card_504"/>
          <p:cNvSpPr/>
          <p:nvPr/>
        </p:nvSpPr>
        <p:spPr>
          <a:xfrm>
            <a:off x="8961120" y="1463040"/>
            <a:ext cx="2681935" cy="1645920"/>
          </a:xfrm>
          <a:prstGeom prst="roundRect">
            <a:avLst>
              <a:gd name="adj" fmla="val 5556"/>
            </a:avLst>
          </a:prstGeom>
          <a:solidFill>
            <a:srgbClr val="FCE6DF"/>
          </a:solidFill>
          <a:ln/>
        </p:spPr>
      </p:sp>
      <p:sp>
        <p:nvSpPr>
          <p:cNvPr id="7" name="dot_505"/>
          <p:cNvSpPr/>
          <p:nvPr/>
        </p:nvSpPr>
        <p:spPr>
          <a:xfrm>
            <a:off x="9144000" y="2011680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8" name="ic_50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2872" y="2130552"/>
            <a:ext cx="310896" cy="310896"/>
          </a:xfrm>
          <a:prstGeom prst="rect">
            <a:avLst/>
          </a:prstGeom>
        </p:spPr>
      </p:pic>
      <p:sp>
        <p:nvSpPr>
          <p:cNvPr id="9" name="txt_507"/>
          <p:cNvSpPr txBox="1"/>
          <p:nvPr/>
        </p:nvSpPr>
        <p:spPr>
          <a:xfrm>
            <a:off x="9829800" y="1536192"/>
            <a:ext cx="1676095" cy="1499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imágenes provienen del material de clase del docente y de Escudero et al. (2011).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rmodinamica ISTS">
  <a:themeElements>
    <a:clrScheme name="Termodinamica ISTS">
      <a:dk1>
        <a:srgbClr val="1F2933"/>
      </a:dk1>
      <a:lt1>
        <a:srgbClr val="FFFFFF"/>
      </a:lt1>
      <a:dk2>
        <a:srgbClr val="15233F"/>
      </a:dk2>
      <a:lt2>
        <a:srgbClr val="F2F5F8"/>
      </a:lt2>
      <a:accent1>
        <a:srgbClr val="0E7C7B"/>
      </a:accent1>
      <a:accent2>
        <a:srgbClr val="E4572E"/>
      </a:accent2>
      <a:accent3>
        <a:srgbClr val="22345A"/>
      </a:accent3>
      <a:accent4>
        <a:srgbClr val="F2A541"/>
      </a:accent4>
      <a:accent5>
        <a:srgbClr val="5B6770"/>
      </a:accent5>
      <a:accent6>
        <a:srgbClr val="7FB7B6"/>
      </a:accent6>
      <a:hlink>
        <a:srgbClr val="0E7C7B"/>
      </a:hlink>
      <a:folHlink>
        <a:srgbClr val="5B6770"/>
      </a:folHlink>
    </a:clrScheme>
    <a:fontScheme name="Termodinamica IST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Instituto Superior Tecnológico Sudamericano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3 – MCIA: clasificación y constitución</dc:title>
  <dc:subject>PptxGenJS Presentation</dc:subject>
  <dc:creator>ISTS – Mecánica Automotriz</dc:creator>
  <cp:lastModifiedBy>ISTS – Mecánica Automotriz</cp:lastModifiedBy>
  <cp:revision>1</cp:revision>
  <dcterms:created xsi:type="dcterms:W3CDTF">2026-10-12T14:00:27Z</dcterms:created>
  <dcterms:modified xsi:type="dcterms:W3CDTF">2026-10-12T14:00:27Z</dcterms:modified>
</cp:coreProperties>
</file>