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Lst>
  <p:notesMasterIdLst>
    <p:notesMasterId r:id="rId10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ción" id="{a62b0ec5-c375-8999-01af-6a1391452a51}">
          <p14:sldIdLst>
            <p14:sldId id="256"/>
            <p14:sldId id="257"/>
            <p14:sldId id="258"/>
          </p14:sldIdLst>
        </p14:section>
        <p14:section name="4.1 Introducción" id="{81c6eb37-27ec-c026-9500-403459d3b05e}">
          <p14:sldIdLst>
            <p14:sldId id="259"/>
            <p14:sldId id="260"/>
            <p14:sldId id="261"/>
            <p14:sldId id="262"/>
            <p14:sldId id="263"/>
            <p14:sldId id="264"/>
            <p14:sldId id="265"/>
            <p14:sldId id="266"/>
          </p14:sldIdLst>
        </p14:section>
        <p14:section name="4.2 Circuito de posición, cruce y carretera" id="{bb9acc7d-9ecc-ec2a-896a-d68fc672c1b6}">
          <p14:sldIdLst>
            <p14:sldId id="267"/>
            <p14:sldId id="268"/>
            <p14:sldId id="269"/>
            <p14:sldId id="270"/>
            <p14:sldId id="271"/>
            <p14:sldId id="272"/>
          </p14:sldIdLst>
        </p14:section>
        <p14:section name="4.3 Circuitos de posición, cruce y carretera" id="{08dbd8c4-ed56-c592-cd48-fffd68156fe4}">
          <p14:sldIdLst>
            <p14:sldId id="273"/>
            <p14:sldId id="274"/>
            <p14:sldId id="275"/>
            <p14:sldId id="276"/>
            <p14:sldId id="277"/>
          </p14:sldIdLst>
        </p14:section>
        <p14:section name="4.4 Alumbrado antiniebla" id="{0930f574-0b18-f1f8-9d8e-10466b166b8f}">
          <p14:sldIdLst>
            <p14:sldId id="278"/>
            <p14:sldId id="279"/>
            <p14:sldId id="280"/>
          </p14:sldIdLst>
        </p14:section>
        <p14:section name="4.5 Circuitos de iluminación antiniebla" id="{60a20f77-94d1-a3f6-7b76-9ef204ebdab1}">
          <p14:sldIdLst>
            <p14:sldId id="281"/>
            <p14:sldId id="282"/>
            <p14:sldId id="283"/>
          </p14:sldIdLst>
        </p14:section>
        <p14:section name="4.6 Intermitencia y emergencia" id="{a67dda5b-eb79-d498-5bd4-1578652edf64}">
          <p14:sldIdLst>
            <p14:sldId id="284"/>
            <p14:sldId id="285"/>
            <p14:sldId id="286"/>
            <p14:sldId id="287"/>
            <p14:sldId id="288"/>
            <p14:sldId id="289"/>
          </p14:sldIdLst>
        </p14:section>
        <p14:section name="4.7 Luces de conducción diurna" id="{fa86b808-a7f1-84ac-e658-b6f59c63a42b}">
          <p14:sldIdLst>
            <p14:sldId id="290"/>
            <p14:sldId id="291"/>
          </p14:sldIdLst>
        </p14:section>
        <p14:section name="4.8 – 4.10 Freno, marcha atrás e iluminación interior" id="{01aebb6c-4296-7b9e-9181-a8c5f27e7e1e}">
          <p14:sldIdLst>
            <p14:sldId id="292"/>
            <p14:sldId id="293"/>
            <p14:sldId id="294"/>
            <p14:sldId id="295"/>
          </p14:sldIdLst>
        </p14:section>
        <p14:section name="4.11 Cálculo y dimensionado de circuitos de iluminación" id="{7ff59110-76c9-f9fc-d452-b9e9ad772550}">
          <p14:sldIdLst>
            <p14:sldId id="296"/>
            <p14:sldId id="297"/>
            <p14:sldId id="298"/>
            <p14:sldId id="299"/>
            <p14:sldId id="300"/>
          </p14:sldIdLst>
        </p14:section>
        <p14:section name="4.12 Regulación de faros" id="{68c6921b-47a3-fba4-904c-eef62f5b708d}">
          <p14:sldIdLst>
            <p14:sldId id="301"/>
            <p14:sldId id="302"/>
            <p14:sldId id="303"/>
            <p14:sldId id="304"/>
            <p14:sldId id="305"/>
          </p14:sldIdLst>
        </p14:section>
        <p14:section name="4.13 Práctica en taller" id="{0137dd84-531e-83ca-c7d7-638057c0870d}">
          <p14:sldIdLst>
            <p14:sldId id="306"/>
            <p14:sldId id="307"/>
            <p14:sldId id="308"/>
            <p14:sldId id="309"/>
            <p14:sldId id="310"/>
            <p14:sldId id="311"/>
            <p14:sldId id="312"/>
            <p14:sldId id="313"/>
          </p14:sldIdLst>
        </p14:section>
        <p14:section name="4.14 Circuito de limpiaparabrisas y calefactor" id="{00d1c21b-d316-a521-a9e7-54facbbcfccc}">
          <p14:sldIdLst>
            <p14:sldId id="314"/>
            <p14:sldId id="315"/>
            <p14:sldId id="316"/>
            <p14:sldId id="317"/>
            <p14:sldId id="318"/>
            <p14:sldId id="319"/>
            <p14:sldId id="320"/>
            <p14:sldId id="321"/>
            <p14:sldId id="322"/>
            <p14:sldId id="323"/>
            <p14:sldId id="324"/>
          </p14:sldIdLst>
        </p14:section>
        <p14:section name="4.15 Cuadros de instrumentos e indicadores" id="{f3b7a315-3ad7-9ca4-7529-87a9f5fd3c0a}">
          <p14:sldIdLst>
            <p14:sldId id="325"/>
            <p14:sldId id="326"/>
            <p14:sldId id="327"/>
            <p14:sldId id="328"/>
            <p14:sldId id="329"/>
            <p14:sldId id="330"/>
            <p14:sldId id="331"/>
            <p14:sldId id="332"/>
            <p14:sldId id="333"/>
            <p14:sldId id="334"/>
            <p14:sldId id="335"/>
            <p14:sldId id="336"/>
          </p14:sldIdLst>
        </p14:section>
        <p14:section name="4.16 Otros mecanismos eléctricos" id="{78620cd0-a99f-dc9f-bb46-629ff21ec142}">
          <p14:sldIdLst>
            <p14:sldId id="337"/>
            <p14:sldId id="338"/>
            <p14:sldId id="339"/>
            <p14:sldId id="340"/>
            <p14:sldId id="341"/>
            <p14:sldId id="342"/>
            <p14:sldId id="343"/>
            <p14:sldId id="344"/>
            <p14:sldId id="345"/>
            <p14:sldId id="346"/>
          </p14:sldIdLst>
        </p14:section>
        <p14:section name="4.17 Sistema de alarma de seguridad" id="{c2017f98-9c78-397b-b285-b6f24a987c29}">
          <p14:sldIdLst>
            <p14:sldId id="347"/>
            <p14:sldId id="348"/>
            <p14:sldId id="349"/>
            <p14:sldId id="350"/>
          </p14:sldIdLst>
        </p14:section>
        <p14:section name="Prácticas y cierre" id="{659c8d9e-7c24-b96b-c752-59b27f174dd4}">
          <p14:sldIdLst>
            <p14:sldId id="351"/>
            <p14:sldId id="352"/>
            <p14:sldId id="353"/>
            <p14:sldId id="354"/>
            <p14:sldId id="355"/>
            <p14:sldId id="3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notesMaster" Target="notesMasters/notesMaster1.xml"/><Relationship Id="rId104" Type="http://schemas.openxmlformats.org/officeDocument/2006/relationships/presProps" Target="presProps.xml"/><Relationship Id="rId105" Type="http://schemas.openxmlformats.org/officeDocument/2006/relationships/viewProps" Target="viewProps.xml"/><Relationship Id="rId106" Type="http://schemas.openxmlformats.org/officeDocument/2006/relationships/theme" Target="theme/theme1.xml"/><Relationship Id="rId10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Unidad 4 del PEA (enero – febrero de 2027). Prácticas asociadas de la guía unificada: 14 (alumbrado), 15 (señalización), 16 (limpiaparabrisas), 17 (cuadro de instrumentos), 18 (luneta térmica), 19 (cierre centralizado) y 20 (red CAN). Este mazo sustituye a los materiales sueltos de EA II (AVAC: antiniebla, indicadores de anomalía, retrovisores, cierre centralizado, luces piloto) y a SEEA M5S3 (limpiaparabrisas).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Orden exacto del bloque de contenidos del PEA para la Unidad 4. La numeración del práctica en taller del PEA (4.12.1–4.12.3) se mantiene en el tema 4.13.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 de aprendizaje del PEA (dominio operativo): interpreta diagramas y circuitos eléctricos en automóviles, identifica tipos de alumbrado del vehículo y sus diagramas eléctricos, e identifica y repara circuitos eléctricos auxiliares.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introductorio: sin estos conceptos no se pueden leer los esquemas de los temas 4.2 a 4.13.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Clasificación habitual (Llanos López, 2022; Sánchez Fernández, 2024). Las luces de maniobra informan de una intención (girar, frenar, retroceder).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INEN (2009), tablas 1 y 3. Los vehículos de 4 o más ruedas llevan dos faros de cada tipo; asimétricos con mayor iluminación hacia la derecha (circulación por la derecha). La norma es la referencia de la revisión técnica vehicular en Ecuador.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Tabla 6.1). Los colores de los testigos siguen la convención ISO 2575: rojo = peligro/actuar ya; ámbar = advertencia; verde = función activa; azul = luz de carretera.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Bornes de uso frecuente en esquemas europeos (DIN 72552; Sánchez Fernández, 2024). En la Unidad 1 se estudió la norma completa; aquí solo los de esta unidad.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y figuras de Sánchez Fernández (2024). La lámpara halógena aprovecha el ciclo del halógeno: el wolframio evaporado se combina con el yodo/bromo y vuelve a depositarse en el filamento, lo que permite más temperatura y más flujo.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Valores nominales a 12 V según catálogos y Sánchez Fernández (2024). Las vidas útiles son orientativas. La designación P21/5W indica dos filamentos: 21 W (freno) y 5 W (posición).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Sánchez Fernández (2024). En el faro de reflexión parabólico la lámpara está en el foco; en el proyector (elipsoidal, PES) un diafragma recorta el haz para formar la línea de corte, y una lente convergente lo proyecta.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alumbrado de posición, cruce y carretera suele ir agrupado en el faro principal; por eso se estudia junto.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e INEN (2009). En muchos vehículos la luz de posición también alimenta la iluminación de los mandos (borne 58) y de la matrícula. Se usan lámparas W5W/T4W delante y R5W o la parte de 5 W de la P21/5W detrás.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luz de estacionamiento (parking) permite dejar encendida solo la posición de un lado con la llave retirada; se alimenta desde 30 a través del mando (borne 57 en algunos fabricantes). La luz de matrícula se conecta con la posición.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ilumina la calzada en una distancia mínima de unos 40 m sin deslumbrar. La línea de corte y el ascenso a 15° hacia la derecha se ven en la pantalla del regloscopio (tema 4.13).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Reglamento CEPE n.º 48: la intensidad máxima de todas las luces de carretera que pueden encenderse a la vez no debe superar 430 000 cd (valor de referencia 100). Las ráfagas (56d) se alimentan desde 30 para funcionar con el vehículo parado.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figuras 6.10 y 6.11) y Sánchez Fernández (2024). El mando multifunción reúne posición, cruce, carretera, ráfagas, intermitentes y, a veces, antiniebla; el mando giratorio en el salpicadero es la otra variante.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analizan tres esquemas de complejidad creciente (Llanos López, 2022, ejemplos 6.1 a 6.3) y el esquema real de Sánchez Fernández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Esquema 6.1). Cada conmutador gobierna la bobina de un relé; el relé lleva la corriente de las lámparas. Al cerrar RL2 de cruce se habilita además el interruptor de carretera.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Esquema 6.2). Un único conmutador activa los tres relés. Compare con el anterior: aquí el relé de carretera recibe positivo directo de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Cálculo propio. La bobina típica de un relé de 12 V tiene 70–90 Ω. El mando pasa de conducir 9,2 A a 0,15 A: unas 60 veces menos, por eso sus contactos no se queman.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esquemas 6.5 y 6.6). La LDR baja su resistencia con la luz. Con poca luz, la tensión base-emisor supera ~0,7 V, el transistor conduce y excita el relé de cruce. El potenciómetro ajusta el umbral; el diodo protege el transistor de la f.e.m. de autoinducción de la bobina.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 anterior revisado: «Faros antiniebla delanteros y posteriores» (EA II, AVAC).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INEN (2009, 5.10) y Reglamento CEPE n.º 48 (visibilidad geométrica). Corrección al material anterior: la antiniebla trasera es obligatoria según CEPE n.º 48 pero opcional según INEN 1155. Ninguna de las dos normas exige que las antiniebla se apaguen al encender la carretera; es una opción de algunos fabricantes.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Reglamento CEPE n.º 48, recogido en el material anterior: clase B −1,5 % o inferior; clase F3 según la altura h del borde inferior. INEN 1155 remite al mismo reglaje de los faros (5.2.1.5). Valores a contrastar con la ficha del vehículo.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esquemas 6.11 y 6.12).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Esquema 6.11). Activada la posición, puede activarse el cruce (RL2) y la antiniebla delantera (RL5, relé doble). La antiniebla trasera (RL4) se alimenta desde el cruce: así cumple que solo se encienda con el cruce o la carretera.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Esquema 6.12). La centralita recibe la señal de cruce (56b) y el pulso del mando; al primer pulso enciende delanteras (RL1) y al segundo las traseras (RL2). Se alimenta desde las luces de posición (58).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frecuencia de destellos es la exigencia clave: 90 ± 30 por minuto (INEN 1155) = 60–120 (Sánchez Fernández,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INEN (2009, notas de las tablas 1 y 3) y Sánchez Fernández (2024). Todas las luces de un mismo lado se encienden y apagan sincronizadas, junto con el testigo verde.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Sánchez Fernández (2024) y Llanos López (2022). La duplicación de la frecuencia es un aviso normalizado: si el testigo parpadea rápido, revisar primero las lámparas del lado afectado.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Cálculo propio con lámparas normalizadas. El testigo del cuadro (≈ 1,2 W) se desprecia. El relé electrónico compara la corriente con un umbral (≈ 3 A en este caso): por debajo, duplica la frecuencia.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esquemas 6.14 y 6.15). El conmutador de intermitencia tiene tres posiciones (izquierda, reposo, derecha) y retorno automático al terminar el giro. En la figura, relé de 4 terminales (+, −, C, R) y de 3 terminales.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figuras 6.27 y esquemas 6.17–6.18). El mando de emergencia debe funcionar con la llave quitada, por eso se alimenta desde +30. Tiene 6 o más conectores porque conmuta a la vez la alimentación del relé y ambos lados.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Directiva 2008/89/CE: obligatorias en la UE para turismos nuevos desde 2011. La NTE INEN 1155:2009 no las incluye entre los dispositivos mínimos.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figura 6.33 y esquema 6.23) y Sánchez Fernández (2024). La centralita de cada faro recibe +15 para detectar el contacto: se encienden con el motor en marcha y se apagan o atenúan al conectar el cruce.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circuitos con interruptor accionado mecánicamente: pedal, caja de cambios y puertas.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esquemas 6.24–6.25, figura 6.37) e INEN (2009). La tercera luz de freno es obligatoria en turismos (INEN: luz de freno central). Algunos vehículos tienen interruptor doble (NA + NC) para dar señal redundante a la gestión del motor y al ESP.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esquema 6.26) e INEN (2009): blanco, altura máxima 1 200 mm; en vehículos de más de 6 m, una a cada lado. El interruptor va en la caja de cambios y se cierra al engranar la marcha atrás.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esquemas 6.27–6.31). Los pulsadores de puerta cierran a masa. La centralita o un temporizador RC mantienen la luz tras cerrar la puerta: el condensador alimenta la base del transistor mientras se descarga.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apartado 6.13) y Sánchez Fernández (2024). Se corrigen dos erratas del ejemplo del libro.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6.13). ρ (cobre) = 0,017 Ω·mm²/m. La longitud L es la del conductor recorrido por la corriente: si el retorno es por la carrocería se usa la ida; si el circuito tiene cable de retorno se usa 2·L.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Cálculo propio con el método de Llanos López (2022). Secciones normalizadas: 0,5 – 0,75 – 1 – 1,5 – 2,5 – 4 – 6 mm². Fusibles normalizados: 5 – 7,5 – 10 – 15 – 20 – 25 – 30 A. Criterio de fusible: ≥ 1,25 × I y ≤ la corriente que admite el cable.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actividades resueltas 6.2 y 6.4) revisadas. En el libro aparece «12 − 0,02 = 0,24 V»; la operación correcta es 12 × 0,02 = 0,24 V. El tiempo calculado es teórico: a 9 A la capacidad real de la batería es menor que la nominal C20 (efecto Peukert, Unidad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Fusible de hilo: D = m · ∛I², con m = 0,06 (cobre) o 0,25 (plomo) e I incrementada por el coeficiente de seguridad (Llanos López, 2022, actividad 6.3; resultado verificado).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6.14) y Sánchez Fernández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Sánchez Fernández (2024, figuras 30 y 39–41). Un faro alto deslumbra; un faro bajo acorta el alcance y aumenta el tiempo de reacción. La carga, la aceleración y el frenado cambian la inclinación de la carrocería.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INEN (2009, 5.2.1.5): alineación horizontal ≥ 2 % hacia el centro; vertical ≥ 2,5 % por debajo del plano horizontal; intensidad ≤ 135 «candela metro (luxes)». La norma mezcla unidades (candela es intensidad, lux es iluminancia); usar el valor y la unidad del regloscopio de la revisión técnica. CEPE n.º 48: reglaje inicial −1,0 % a −1,5 % (h &lt; 0,8 m) o −1,5 % a −2,0 % (h &gt; 1 m), dado por el fabricante en una placa junto al faro.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esquema 6.32, figura 6.59) y Sánchez Fernández (2024, figuras 42–44). La regulación automática es obligatoria con faros de xenón (junto con el lavafaros). Los sensores de altura de los ejes informan a la centralita, que mueve los motores paso a paso de los faros.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Sánchez Fernández (2024, figuras 50 y 57). El sistema AFS gira los módulos de los faros en función del ángulo del volante y la velocidad (hasta ≈ 15° hacia el interior de la curva). Las luces de cornering encienden una lámpara lateral a baja velocidad.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Numeración del PEA para la práctica en taller: 4.12.1 a 4.12.3. Enlaza con la Práctica 14 de la guía.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6.14.1). Si no se prepara el vehículo, cualquier medida posterior es inútil.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figuras 6.45–6.47). Líneas de la pantalla: a = eje de simetría del vehículo; b = centros de los faros; c = altura de los centros; d = 10 cm por debajo de c (equivale a −1 % a 10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figuras 6.43, 6.47 y 6.52) y Sánchez Fernández (2024, figura 31). El regloscopio es una cámara óptica con lente: la pantalla reproduce la imagen que se vería a 25 m. Lleva visor de centrado, regulador de altura, caja óptica, indicador (luxómetro) y base móvil.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figuras 6.53–6.57). El regloscopio no solo sirve para regular: la forma de la imagen revela lámparas mal asentadas, reflectores deteriorados o lámparas envejecidas.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6.14.2): el luxómetro del regloscopio mide la iluminancia; se coloca a 10–15 cm del faro con el motor en marcha, primero con cruce y luego con carretera. La ley inversa del cuadrado relaciona intensidad (cd) e iluminancia (lx).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Procedimiento general con el material de Llanos López (2022) y Sánchez Fernández (2024). En sistemas automáticos, tras cambiar un sensor de eje, un faro o modificar la suspensión, es obligatoria la puesta a cero con el equipo de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6.15 y Tabla 6.3). Orden lógico: de lo más probable y fácil a lo menos probable. La mayor parte de las averías de intermitencia se deben al relé.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Sustituye al mazo SEEA M5S3. Llanos López (2022, 7.1), Sánchez Fernández (2024, unidad 8) y Vidal Pastor et al. (2011, unidad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figuras 7.6–7.8) y Sánchez Fernández (2024). El motor es de corriente continua de imanes permanentes con reductor de tornillo sinfín. Con tres escobillas da dos velocidades: la velocidad lenta ofrece unos 45 ciclos/min y la rápida unos 65 ciclos/min.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figuras 7.9–7.12). La escobilla de alta velocidad está desfasada: el campo efectivo disminuye y el motor gira más rápido. La leva de parada mantiene alimentado el motor por 53a hasta que las escobillas llegan a su posición de reposo, y después cortocircuita el inducido para frenarlo.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esquemas 7.1, 7.2 y 7.5). En el esquema 7.2, al llegar a la posición de reposo, la leva cortocircuita el motor (frenado dinámico). En el 7.5 un reóstato regula la cadencia del barrido intermitente.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figuras 7.26–7.27) y Sánchez Fernández (2024, figura 32). El sensor de lluvia emite luz infrarroja por un prisma hacia el parabrisas: con el cristal seco se refleja totalmente; las gotas desvían parte de la luz y el receptor recibe menos. La unidad de control ajusta la cadencia.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Cálculo propio con el consumo típico de Sánchez Fernández (2024): limpiaparabrisas ≈ 90 W. El pico de arranque del motor de CC puede ser 3–4 veces la corriente nominal, por eso el fusible se elige con más margen que en alumbrado.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Vidal Pastor et al. (2011, figuras 1.2, 1.3 y 1.9). El aire se calienta al pasar por un radiador de calefacción recorrido por el líquido refrigerante del motor. Una trampilla de mezcla (o un grifo) regula la temperatura y otras trampillas distribuyen el 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Vidal Pastor et al. (2011, figuras 1.8 y 1.13) y Llanos López (2022, esquema 7.18). La caja de resistencias se intercala entre el conmutador y el motor: cuantas más resistencias atraviesa la corriente, menor velocidad. En la máxima velocidad el motor recibe tensión directa (a menudo por relé).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Cálculo propio. En una luneta los filamentos están en paralelo: si se corta uno, el resto sigue calentando y queda una franja empañada. La corriente se comprueba con pinza amperimétrica y la continuidad de cada hilo con el voltímetro (la tensión debe bajar de forma gradual a lo largo del hilo).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Vidal Pastor et al. (2011, unidad 4) y Llanos López (2022). En la climatización automática la centralita compara la temperatura deseada con la medida y actúa sobre la trampilla de mezcla, la distribución y el soplador (control en lazo cerrado).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Vidal Pastor et al. (2011, 4. Averías y comprobaciones) y Llanos López (2022, prácticas de taller del apartado 7.1). Enlaza con las prácticas 16 y 18 de la guía.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Sustituye a «Indicadores de anomalía» e «Indicador de temperatura del motor» (EA II). Llanos López (2022, unidad 8) y Sánchez Fernández (2024, unidad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esquema 8.1) y Sánchez Fernández (2024, figura 9). Las dos bobinas B1 y B2 forman un ángulo; la aguja se orienta según la resultante de sus campos. B2 está en serie con la resistencia variable del sensor: si R es grande, domina B1 y la aguja va al cero; si R es pequeña, domina B2 y va al máximo.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Sánchez Fernández (2024, figuras 33 y 39) y Llanos López (2022, esquema 8.25). El módulo de control mide la caída de tensión en una resistencia de 0,1 Ω en serie con cada grupo de lámparas: si la corriente baja, una lámpara está fundida.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esquemas 8.8–8.10, figuras 8.20–8.21). El aforador es un potenciómetro movido por un flotador. En los cuadros con centralita, la resistencia del aforador entra en un divisor de tensión y la centralita mueve la aguja con un motor paso a paso; también calcula la autonomía.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actividad resuelta 8.1) revisada: B1 (6 Ω) va en paralelo con la rama B2 (12 Ω) + aforador R. En el apartado b) el libro escribe (12 + 24) en el numerador; debe ser (12 + 12). Los valores de las bobinas son didácticos: en un cuadro real son mucho mayores y la corriente es de miliamperios.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esquema 8.18, figuras 8.40–8.43) y Sánchez Fernández (2024, figuras 23–27). Manocontacto: interruptor que se abre al subir la presión (≈ 0,3–0,5 bar) y apaga el testigo rojo. Manorresistencia: polvo de carbón que, al ser comprimido por la membrana, mejora el contacto entre granos y baja su resistencia.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Sánchez Fernández (2024, figuras 26–28). Con el motor parado, la centralita alimenta durante 2–3 s una resistencia de la sonda; si está sumergida, el aceite disipa el calor y la tensión casi no cambia; si está fuera de aceite, se calienta, su resistencia y la caída de tensión aumentan y se avisa de nivel bajo. Corrección: el material anterior llamaba «PTC» a las resistencias de platino y níquel; son termorresistencias metálicas (RTD, tipo Pt100), no termistores PTC.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esquemas 8.14–8.16, «Recuerda que»): la NTC usada en el refrigerante varía de unos 48 kΩ a −40 °C hasta unos 60 Ω a 140 °C y soporta ≈ 2,5 mA. El testigo de sobretemperatura lo cierra un termocontacto bimetálico (≈ 97 °C). Corrección al material anterior: el sensor no es una «válvula de temperatura», es un transmisor (termistor NTC).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Cálculo propio con valores típicos de una NTC de refrigerante (no de un vehículo concreto). Así funcionan los cuadros con centralita: miden la tensión del divisor y la convierten en temperatura con una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figuras 8.46–8.47) y Sánchez Fernández (2024, figuras 12–17). El velocímetro mecánico (cable flexible e imán) ha sido sustituido por sensores inductivos o Hall en la caja de cambios o en las ruedas (ABS). El cuentarrevoluciones toma la señal del primario de encendido, del sensor de cigüeñal o de la centralita por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Cálculo propio. La frecuencia de un sensor de rueda es f = n_rueda × z (dientes). El cuentarrevoluciones de un motor de 4 cilindros y 4 tiempos recibe 2 impulsos de encendido por vuelta del cigüeñal (Unidad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8.6 y prácticas de taller) y Sánchez Fernández (2024). Enlaza con la Práctica 17. Simular el sensor con una resistencia o una década permite saber si la avería está en el reloj, en el cableado o en el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Sustituye a «Cierre centralizado» y «Retrovisores eléctricos» (EA II). Se incluyen espejos y bocina como complemento.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esquema 7.20, figura 7.92) y material anterior. Los actuadores de electroimán (dos bobinas: cerrar/abrir) están obsoletos por su alto consumo; hoy se usan motores de CC con reductora, cuyo sentido de giro se invierte cambiando la polaridad.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Principio común al cierre centralizado, los elevalunas y los espejos (Llanos López, 2022). Con dos relés conmutados (o un puente H en la centralita) los dos bornes del motor están en reposo a masa; al activar uno de ellos, ese borne pasa a +12 V y el motor gira en un sentido.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figuras 7.38 y 7.59, esquema 7.7) y Vidal Pastor et al. (2011, figura 10.26). La normativa europea limita la fuerza de cierre (antiatrapamiento): la centralita detecta el aumento de consumo o la disminución de la velocidad (sensor Hall del motor) e invierte el giro.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esquemas 7.12–7.13) y Vidal Pastor et al. (2011, figura 9.56). Cada espejo tiene dos motores (eje vertical y horizontal); el selector elige el espejo. INEN 1155: mínimo dos retrovisores exteriores (izquierdo y derecho) y uno interior con posición día/noche en vehículos livianos. Los electrocrómicos se oscurecen al aplicar tensión a un gel entre dos capas conductoras.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 anterior («Indicadores de anomalía en el vehículo», figura del módulo bomba-aforador) y conocimientos de U3. Al poner el contacto la centralita activa el relé 1–3 s para presurizar; con el motor girando lo mantiene. Si el motor se cala o hay un choque, corta el relé (o el interruptor inercial).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Esquema didáctico. En sistemas convencionales un termocontacto de dos etapas (≈ 92 °C 1.ª velocidad, ≈ 97 °C 2.ª) gobierna relés; la 1.ª velocidad se obtiene con una resistencia en serie. En los actuales la ECU usa el sensor NTC y regula el motor con un módulo PWM. Las temperaturas son orientativas.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Encendedor: resistencia en espiral que, al presionar, queda retenida por una pinza bimetálica; al calentarse, el bimetal se abre y el botón salta. Su toma se usa hoy como enchufe de 12 V. Reloj horario: necesita +30 permanente para no perder la hora y +58 para su iluminación; con +15 puede aumentar el brillo.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esquema 8.30, figura 8.63). Los interruptores de las hebillas informan a la centralita del airbag (que también usa el sensor de ocupación del asiento); esta comunica por CAN con el cuadro, que enciende los testigos y el aviso acústico. Los protocolos Euro NCAP premian que el aviso sea insistente por encima de ~25 km/h.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Llanos López (2022, figuras 7.83–7.85, esquema 7.17). La bobina atrae el núcleo y la membrana; al moverse, abre sus propios contactos, la membrana vuelve y el ciclo se repite (vibración). El tornillo de regulación ajusta el tono. El relé protege el pulsador del volante, que solo lleva la corriente de la bobina del relé.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Vidal Pastor et al. (2011, unidad 9). Para ampliar: Martín Hernández y Pérez Belló (2024), texto del PEA.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Vidal Pastor et al. (2011, 9.2). La protección perimétrica vigila la apertura de puertas, capó y maletero; la volumétrica, el movimiento en el habitáculo (ultrasonidos o microondas); la anti-inclinación detecta el levantamiento del vehículo; la antiarranque impide arrancar.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Vidal Pastor et al. (2011, figuras 9.3–9.12). La central electrónica recibe las señales de los sensores y del mando y activa la sirena, los intermitentes y el corte de arranque. La sirena autoalimentada tiene batería propia: sigue sonando si se corta el cable de alimentación.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Cálculo propio que enlaza con la Unidad 1 (fugas de corriente). Una alarma mal instalada o un módulo que no «duerme» puede dejar el vehículo sin arranque. La medición del consumo en reposo se hace con amperímetro en serie en el negativo, tras esperar el tiempo de dormido de las centralitas.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Numeración unificada de la guía de prácticas (sílabo Oct 2026 – Feb 2027). Orden de la U4 según la guía firmada: 17 cuadro, 18 luneta, 19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Síntesis de la unidad para repaso.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Respuestas: 1 b; 2 c; 3 a; 4 c; 5 b; 6 a; 7 c; 8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Soluciones: 1) I = 4×5/13,2 = 1,52 A. 2) I = 2×55/12 = 9,17 A; S = 0,017×4×9,17/0,3 = 2,08 mm² ⇒ 2,5 mm²; fusible 15 A. 3) t = 0,75×45/(2×55/12) = 3,68 h. 4) Descenso = 10 000×0,012 = 120 mm ⇒ corte a 530 mm. 5) R_eq vacío = 8·(10+40)/(8+10+40) = 6,9 Ω; I = 1,74 A; lleno: 8·10/18 = 4,44 Ω; I = 2,7 A. 6) I = 120/13,5 = 8,9 A; R = 1,52 Ω; por hilo (10 hilos) 15,2 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Formato APA 7. Los reglamentos CEPE deben consultarse en su versión vigente.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STS_PORTADA">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498080" cy="6858000"/>
          </a:xfrm>
          <a:prstGeom prst="rect">
            <a:avLst/>
          </a:prstGeom>
          <a:solidFill>
            <a:schemeClr val="accent1"/>
          </a:solidFill>
          <a:ln/>
        </p:spPr>
      </p:sp>
      <p:pic>
        <p:nvPicPr>
          <p:cNvPr id="3" name="Image 0" descr="/home/claude/u4/fig/old_u1_s01_1.png">    </p:cNvPr>
          <p:cNvPicPr>
            <a:picLocks noChangeAspect="1"/>
          </p:cNvPicPr>
          <p:nvPr/>
        </p:nvPicPr>
        <p:blipFill>
          <a:blip r:embed="rId1"/>
          <a:stretch>
            <a:fillRect/>
          </a:stretch>
        </p:blipFill>
        <p:spPr>
          <a:xfrm>
            <a:off x="8183880" y="1463040"/>
            <a:ext cx="3383280" cy="2157984"/>
          </a:xfrm>
          <a:prstGeom prst="rect">
            <a:avLst/>
          </a:prstGeom>
        </p:spPr>
      </p:pic>
      <p:sp>
        <p:nvSpPr>
          <p:cNvPr id="4" name="Text 1"/>
          <p:cNvSpPr/>
          <p:nvPr>
            <p:ph idx="102" type="title" hasCustomPrompt="1"/>
          </p:nvPr>
        </p:nvSpPr>
        <p:spPr>
          <a:xfrm>
            <a:off x="640080" y="1554480"/>
            <a:ext cx="6400800" cy="20116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5" name="Text 1"/>
          <p:cNvSpPr/>
          <p:nvPr>
            <p:ph idx="103" type="body" hasCustomPrompt="1"/>
          </p:nvPr>
        </p:nvSpPr>
        <p:spPr>
          <a:xfrm>
            <a:off x="640080" y="3749040"/>
            <a:ext cx="6400800" cy="2377440"/>
          </a:xfrm>
          <a:prstGeom prst="rect">
            <a:avLst/>
          </a:prstGeom>
          <a:noFill/>
          <a:ln/>
        </p:spPr>
        <p:txBody>
          <a:bodyPr wrap="square" rtlCol="0"/>
          <a:lstStyle>
            <a:lvl1pPr algn="l" indent="0" marL="0">
              <a:buNone/>
              <a:defRPr lang="en-US" sz="1800" dirty="0">
                <a:solidFill>
                  <a:schemeClr val="bg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STS_SECCION">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9966960" y="320040"/>
            <a:ext cx="1874520" cy="1234440"/>
          </a:xfrm>
          <a:prstGeom prst="rect">
            <a:avLst>
              <a:gd name="adj" fmla="val 7407"/>
            </a:avLst>
          </a:prstGeom>
          <a:solidFill>
            <a:srgbClr val="FFFFFF"/>
          </a:solidFill>
          <a:ln/>
        </p:spPr>
      </p:sp>
      <p:pic>
        <p:nvPicPr>
          <p:cNvPr id="3" name="Image 0" descr="/home/claude/u4/fig/old_u1_s01_1.png">    </p:cNvPr>
          <p:cNvPicPr>
            <a:picLocks noChangeAspect="1"/>
          </p:cNvPicPr>
          <p:nvPr/>
        </p:nvPicPr>
        <p:blipFill>
          <a:blip r:embed="rId1"/>
          <a:stretch>
            <a:fillRect/>
          </a:stretch>
        </p:blipFill>
        <p:spPr>
          <a:xfrm>
            <a:off x="10058400" y="393192"/>
            <a:ext cx="1691640" cy="1078992"/>
          </a:xfrm>
          <a:prstGeom prst="rect">
            <a:avLst/>
          </a:prstGeom>
        </p:spPr>
      </p:pic>
      <p:sp>
        <p:nvSpPr>
          <p:cNvPr id="4" name="Text 1"/>
          <p:cNvSpPr/>
          <p:nvPr>
            <p:ph idx="102" type="body" hasCustomPrompt="1"/>
          </p:nvPr>
        </p:nvSpPr>
        <p:spPr>
          <a:xfrm>
            <a:off x="731520" y="1463040"/>
            <a:ext cx="4114800" cy="1463040"/>
          </a:xfrm>
          <a:prstGeom prst="rect">
            <a:avLst/>
          </a:prstGeom>
          <a:noFill/>
          <a:ln/>
        </p:spPr>
        <p:txBody>
          <a:bodyPr wrap="square" rtlCol="0"/>
          <a:lstStyle>
            <a:lvl1pPr algn="l" indent="0" marL="0">
              <a:buNone/>
              <a:defRPr lang="en-US" sz="8000" b="1" dirty="0">
                <a:solidFill>
                  <a:schemeClr val="accent2"/>
                </a:solidFill>
              </a:defRPr>
            </a:lvl1pPr>
          </a:lstStyle>
          <a:p>
            <a:pPr algn="l" indent="0" marL="0">
              <a:buNone/>
            </a:pPr>
            <a:endParaRPr lang="en-US" sz="8000" dirty="0"/>
          </a:p>
        </p:txBody>
      </p:sp>
      <p:sp>
        <p:nvSpPr>
          <p:cNvPr id="5" name="Text 1"/>
          <p:cNvSpPr/>
          <p:nvPr>
            <p:ph idx="103" type="title" hasCustomPrompt="1"/>
          </p:nvPr>
        </p:nvSpPr>
        <p:spPr>
          <a:xfrm>
            <a:off x="731520" y="2971800"/>
            <a:ext cx="1051560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6" name="Text 1"/>
          <p:cNvSpPr/>
          <p:nvPr>
            <p:ph idx="104" type="body" hasCustomPrompt="1"/>
          </p:nvPr>
        </p:nvSpPr>
        <p:spPr>
          <a:xfrm>
            <a:off x="731520" y="4434840"/>
            <a:ext cx="10058400" cy="14630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STS_CONTENIDO">
    <p:bg>
      <p:bgPr>
        <a:solidFill>
          <a:srgbClr val="FFFFFF"/>
        </a:solidFill>
      </p:bgPr>
    </p:bg>
    <p:spTree>
      <p:nvGrpSpPr>
        <p:cNvPr id="1" name=""/>
        <p:cNvGrpSpPr/>
        <p:nvPr/>
      </p:nvGrpSpPr>
      <p:grpSpPr>
        <a:xfrm>
          <a:off x="0" y="0"/>
          <a:ext cx="0" cy="0"/>
          <a:chOff x="0" y="0"/>
          <a:chExt cx="0" cy="0"/>
        </a:xfrm>
      </p:grpSpPr>
      <p:pic>
        <p:nvPicPr>
          <p:cNvPr id="2" name="Image 0" descr="/home/claude/u4/fig/old_u1_s01_1.png">    </p:cNvPr>
          <p:cNvPicPr>
            <a:picLocks noChangeAspect="1"/>
          </p:cNvPicPr>
          <p:nvPr/>
        </p:nvPicPr>
        <p:blipFill>
          <a:blip r:embed="rId1"/>
          <a:stretch>
            <a:fillRect/>
          </a:stretch>
        </p:blipFill>
        <p:spPr>
          <a:xfrm>
            <a:off x="10835640" y="182880"/>
            <a:ext cx="1097280" cy="699516"/>
          </a:xfrm>
          <a:prstGeom prst="rect">
            <a:avLst/>
          </a:prstGeom>
        </p:spPr>
      </p:pic>
      <p:sp>
        <p:nvSpPr>
          <p:cNvPr id="3" name="Text 0"/>
          <p:cNvSpPr/>
          <p:nvPr>
            <p:ph idx="101" type="title" hasCustomPrompt="1"/>
          </p:nvPr>
        </p:nvSpPr>
        <p:spPr>
          <a:xfrm>
            <a:off x="502920" y="274320"/>
            <a:ext cx="10149840" cy="73152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0"/>
          <p:cNvSpPr/>
          <p:nvPr/>
        </p:nvSpPr>
        <p:spPr>
          <a:xfrm>
            <a:off x="502920" y="6400800"/>
            <a:ext cx="7315200" cy="274320"/>
          </a:xfrm>
          <a:prstGeom prst="rect">
            <a:avLst/>
          </a:prstGeom>
          <a:noFill/>
          <a:ln/>
        </p:spPr>
        <p:txBody>
          <a:bodyPr wrap="square" rtlCol="0" anchor="ctr"/>
          <a:lstStyle/>
          <a:p>
            <a:pPr indent="0" marL="0">
              <a:buNone/>
            </a:pPr>
            <a:r>
              <a:rPr lang="en-US" sz="1000" dirty="0">
                <a:solidFill>
                  <a:schemeClr val="accent5"/>
                </a:solidFill>
              </a:rPr>
              <a:t>Electricidad Automotriz · Unidad 4 · ISTS</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image" Target="../media/image-17-3.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image" Target="../media/image-34-2.jpg"/><Relationship Id="rId3" Type="http://schemas.openxmlformats.org/officeDocument/2006/relationships/image" Target="../media/image-34-3.jpg"/><Relationship Id="rId4" Type="http://schemas.openxmlformats.org/officeDocument/2006/relationships/slideLayout" Target="../slideLayouts/slideLayout4.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image" Target="../media/image-36-2.png"/><Relationship Id="rId3" Type="http://schemas.openxmlformats.org/officeDocument/2006/relationships/slideLayout" Target="../slideLayouts/slideLayout4.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image" Target="../media/image-38-2.jpg"/><Relationship Id="rId3" Type="http://schemas.openxmlformats.org/officeDocument/2006/relationships/image" Target="../media/image-38-3.jpg"/><Relationship Id="rId4" Type="http://schemas.openxmlformats.org/officeDocument/2006/relationships/slideLayout" Target="../slideLayouts/slideLayout4.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image" Target="../media/image-39-2.jpg"/><Relationship Id="rId3" Type="http://schemas.openxmlformats.org/officeDocument/2006/relationships/slideLayout" Target="../slideLayouts/slideLayout4.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jpg"/><Relationship Id="rId5" Type="http://schemas.openxmlformats.org/officeDocument/2006/relationships/slideLayout" Target="../slideLayouts/slideLayout4.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image" Target="../media/image-49-2.jpg"/><Relationship Id="rId3" Type="http://schemas.openxmlformats.org/officeDocument/2006/relationships/image" Target="../media/image-49-3.png"/><Relationship Id="rId4" Type="http://schemas.openxmlformats.org/officeDocument/2006/relationships/slideLayout" Target="../slideLayouts/slideLayout4.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4.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image" Target="../media/image-53-2.jpg"/><Relationship Id="rId3" Type="http://schemas.openxmlformats.org/officeDocument/2006/relationships/image" Target="../media/image-53-3.png"/><Relationship Id="rId4" Type="http://schemas.openxmlformats.org/officeDocument/2006/relationships/slideLayout" Target="../slideLayouts/slideLayout4.xml"/><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jpg"/><Relationship Id="rId3" Type="http://schemas.openxmlformats.org/officeDocument/2006/relationships/image" Target="../media/image-54-3.jpg"/><Relationship Id="rId4" Type="http://schemas.openxmlformats.org/officeDocument/2006/relationships/slideLayout" Target="../slideLayouts/slideLayout4.xm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slideLayout" Target="../slideLayouts/slideLayout4.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4.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slideLayout" Target="../slideLayouts/slideLayout4.xml"/><Relationship Id="rId5"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image" Target="../media/image-61-2.jpg"/><Relationship Id="rId3" Type="http://schemas.openxmlformats.org/officeDocument/2006/relationships/image" Target="../media/image-61-3.jpg"/><Relationship Id="rId4" Type="http://schemas.openxmlformats.org/officeDocument/2006/relationships/slideLayout" Target="../slideLayouts/slideLayout4.xm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image" Target="../media/image-62-2.jpg"/><Relationship Id="rId3" Type="http://schemas.openxmlformats.org/officeDocument/2006/relationships/slideLayout" Target="../slideLayouts/slideLayout4.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image" Target="../media/image-63-2.png"/><Relationship Id="rId3" Type="http://schemas.openxmlformats.org/officeDocument/2006/relationships/image" Target="../media/image-63-3.jpg"/><Relationship Id="rId4" Type="http://schemas.openxmlformats.org/officeDocument/2006/relationships/slideLayout" Target="../slideLayouts/slideLayout4.xml"/><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4.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g"/><Relationship Id="rId2" Type="http://schemas.openxmlformats.org/officeDocument/2006/relationships/image" Target="../media/image-65-2.png"/><Relationship Id="rId3" Type="http://schemas.openxmlformats.org/officeDocument/2006/relationships/image" Target="../media/image-65-3.jpg"/><Relationship Id="rId4" Type="http://schemas.openxmlformats.org/officeDocument/2006/relationships/slideLayout" Target="../slideLayouts/slideLayout4.xml"/><Relationship Id="rId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g"/><Relationship Id="rId2" Type="http://schemas.openxmlformats.org/officeDocument/2006/relationships/image" Target="../media/image-66-2.jpg"/><Relationship Id="rId3" Type="http://schemas.openxmlformats.org/officeDocument/2006/relationships/image" Target="../media/image-66-3.jpg"/><Relationship Id="rId4" Type="http://schemas.openxmlformats.org/officeDocument/2006/relationships/image" Target="../media/image-66-4.jpg"/><Relationship Id="rId5" Type="http://schemas.openxmlformats.org/officeDocument/2006/relationships/slideLayout" Target="../slideLayouts/slideLayout4.xml"/><Relationship Id="rId6"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image" Target="../media/image-71-2.png"/><Relationship Id="rId3" Type="http://schemas.openxmlformats.org/officeDocument/2006/relationships/image" Target="../media/image-71-3.png"/><Relationship Id="rId4" Type="http://schemas.openxmlformats.org/officeDocument/2006/relationships/slideLayout" Target="../slideLayouts/slideLayout4.xml"/><Relationship Id="rId5"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jpg"/><Relationship Id="rId3" Type="http://schemas.openxmlformats.org/officeDocument/2006/relationships/slideLayout" Target="../slideLayouts/slideLayout4.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image" Target="../media/image-73-2.jpg"/><Relationship Id="rId3" Type="http://schemas.openxmlformats.org/officeDocument/2006/relationships/image" Target="../media/image-73-3.png"/><Relationship Id="rId4" Type="http://schemas.openxmlformats.org/officeDocument/2006/relationships/slideLayout" Target="../slideLayouts/slideLayout4.xml"/><Relationship Id="rId5"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slideLayout" Target="../slideLayouts/slideLayout4.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slideLayout" Target="../slideLayouts/slideLayout4.xml"/><Relationship Id="rId6"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slideLayout" Target="../slideLayouts/slideLayout4.xml"/><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jpg"/><Relationship Id="rId2" Type="http://schemas.openxmlformats.org/officeDocument/2006/relationships/image" Target="../media/image-77-2.png"/><Relationship Id="rId3" Type="http://schemas.openxmlformats.org/officeDocument/2006/relationships/slideLayout" Target="../slideLayouts/slideLayout4.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4.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jpg"/><Relationship Id="rId2" Type="http://schemas.openxmlformats.org/officeDocument/2006/relationships/image" Target="../media/image-79-2.jpg"/><Relationship Id="rId3" Type="http://schemas.openxmlformats.org/officeDocument/2006/relationships/image" Target="../media/image-79-3.png"/><Relationship Id="rId4" Type="http://schemas.openxmlformats.org/officeDocument/2006/relationships/image" Target="../media/image-79-4.png"/><Relationship Id="rId5" Type="http://schemas.openxmlformats.org/officeDocument/2006/relationships/slideLayout" Target="../slideLayouts/slideLayout4.xml"/><Relationship Id="rId6"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jpg"/><Relationship Id="rId2" Type="http://schemas.openxmlformats.org/officeDocument/2006/relationships/image" Target="../media/image-83-2.jpg"/><Relationship Id="rId3" Type="http://schemas.openxmlformats.org/officeDocument/2006/relationships/image" Target="../media/image-83-3.png"/><Relationship Id="rId4" Type="http://schemas.openxmlformats.org/officeDocument/2006/relationships/slideLayout" Target="../slideLayouts/slideLayout4.xml"/><Relationship Id="rId5"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slideLayout" Target="../slideLayouts/slideLayout4.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jpg"/><Relationship Id="rId2" Type="http://schemas.openxmlformats.org/officeDocument/2006/relationships/image" Target="../media/image-85-2.jpg"/><Relationship Id="rId3" Type="http://schemas.openxmlformats.org/officeDocument/2006/relationships/slideLayout" Target="../slideLayouts/slideLayout4.xml"/><Relationship Id="rId4"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jpg"/><Relationship Id="rId2" Type="http://schemas.openxmlformats.org/officeDocument/2006/relationships/image" Target="../media/image-86-2.png"/><Relationship Id="rId3" Type="http://schemas.openxmlformats.org/officeDocument/2006/relationships/slideLayout" Target="../slideLayouts/slideLayout4.xml"/><Relationship Id="rId4"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4.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jpg"/><Relationship Id="rId2" Type="http://schemas.openxmlformats.org/officeDocument/2006/relationships/image" Target="../media/image-90-2.jpg"/><Relationship Id="rId3" Type="http://schemas.openxmlformats.org/officeDocument/2006/relationships/slideLayout" Target="../slideLayouts/slideLayout4.xml"/><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jpg"/><Relationship Id="rId2" Type="http://schemas.openxmlformats.org/officeDocument/2006/relationships/image" Target="../media/image-91-2.jpg"/><Relationship Id="rId3" Type="http://schemas.openxmlformats.org/officeDocument/2006/relationships/image" Target="../media/image-91-3.jpg"/><Relationship Id="rId4" Type="http://schemas.openxmlformats.org/officeDocument/2006/relationships/slideLayout" Target="../slideLayouts/slideLayout4.xml"/><Relationship Id="rId5"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image" Target="../media/image-94-2.png"/><Relationship Id="rId3" Type="http://schemas.openxmlformats.org/officeDocument/2006/relationships/image" Target="../media/image-94-3.png"/><Relationship Id="rId4" Type="http://schemas.openxmlformats.org/officeDocument/2006/relationships/image" Target="../media/image-94-4.png"/><Relationship Id="rId5" Type="http://schemas.openxmlformats.org/officeDocument/2006/relationships/slideLayout" Target="../slideLayouts/slideLayout4.xml"/><Relationship Id="rId6"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640080" y="1554480"/>
            <a:ext cx="6400800" cy="2011680"/>
          </a:xfrm>
          <a:prstGeom prst="rect">
            <a:avLst/>
          </a:prstGeom>
          <a:noFill/>
          <a:ln/>
        </p:spPr>
        <p:txBody>
          <a:bodyPr wrap="square" rtlCol="0" anchor="t"/>
          <a:lstStyle/>
          <a:p>
            <a:pPr algn="l" indent="0" marL="0">
              <a:buNone/>
            </a:pPr>
            <a:r>
              <a:rPr lang="en-US" sz="4000" b="1" dirty="0">
                <a:solidFill>
                  <a:schemeClr val="bg1"/>
                </a:solidFill>
              </a:rPr>
              <a:t>Unidad 4</a:t>
            </a:r>
            <a:endParaRPr lang="en-US" sz="4000" dirty="0"/>
          </a:p>
          <a:p>
            <a:pPr algn="l" indent="0" marL="0">
              <a:buNone/>
            </a:pPr>
            <a:r>
              <a:rPr lang="en-US" sz="4000" b="1" dirty="0">
                <a:solidFill>
                  <a:schemeClr val="bg1"/>
                </a:solidFill>
              </a:rPr>
              <a:t>Circuitos eléctricos auxiliares</a:t>
            </a:r>
            <a:endParaRPr lang="en-US" sz="4000" dirty="0"/>
          </a:p>
        </p:txBody>
      </p:sp>
      <p:sp>
        <p:nvSpPr>
          <p:cNvPr id="3" name="Text 1"/>
          <p:cNvSpPr/>
          <p:nvPr>
            <p:ph idx="103" type="body" hasCustomPrompt="1"/>
          </p:nvPr>
        </p:nvSpPr>
        <p:spPr>
          <a:xfrm>
            <a:off x="640080" y="3749040"/>
            <a:ext cx="6400800" cy="2377440"/>
          </a:xfrm>
          <a:prstGeom prst="rect">
            <a:avLst/>
          </a:prstGeom>
          <a:noFill/>
          <a:ln/>
        </p:spPr>
        <p:txBody>
          <a:bodyPr wrap="square" rtlCol="0" anchor="t"/>
          <a:lstStyle/>
          <a:p>
            <a:pPr algn="l" indent="0" marL="0">
              <a:buNone/>
            </a:pPr>
            <a:r>
              <a:rPr lang="en-US" sz="1800" b="1" dirty="0">
                <a:solidFill>
                  <a:schemeClr val="bg1"/>
                </a:solidFill>
              </a:rPr>
              <a:t>Electricidad Automotriz (MA.03.02)</a:t>
            </a:r>
            <a:endParaRPr lang="en-US" sz="1800" dirty="0"/>
          </a:p>
          <a:p>
            <a:pPr algn="l" indent="0" marL="0">
              <a:buNone/>
            </a:pPr>
            <a:r>
              <a:rPr lang="en-US" sz="1800" dirty="0">
                <a:solidFill>
                  <a:schemeClr val="bg1"/>
                </a:solidFill>
              </a:rPr>
              <a:t>Tecnología Superior en Mecánica Automotriz · Tercer período</a:t>
            </a:r>
            <a:endParaRPr lang="en-US" sz="1800" dirty="0"/>
          </a:p>
          <a:p>
            <a:pPr algn="l" indent="0" marL="0">
              <a:buNone/>
            </a:pPr>
            <a:r>
              <a:rPr lang="en-US" sz="1800" dirty="0">
                <a:solidFill>
                  <a:schemeClr val="bg1"/>
                </a:solidFill>
              </a:rPr>
              <a:t>PAO Octubre 2026 – Febrero 2027 · Diurno A / Nocturno B</a:t>
            </a:r>
            <a:endParaRPr lang="en-US" sz="1800" dirty="0"/>
          </a:p>
          <a:p>
            <a:pPr algn="l" indent="0" marL="0">
              <a:buNone/>
            </a:pPr>
            <a:r>
              <a:rPr lang="en-US" sz="1800" dirty="0">
                <a:solidFill>
                  <a:schemeClr val="bg1"/>
                </a:solidFill>
              </a:rPr>
              <a:t> </a:t>
            </a:r>
            <a:endParaRPr lang="en-US" sz="1800" dirty="0"/>
          </a:p>
          <a:p>
            <a:pPr algn="l" indent="0" marL="0">
              <a:buNone/>
            </a:pPr>
            <a:r>
              <a:rPr lang="en-US" sz="1800" b="1" dirty="0">
                <a:solidFill>
                  <a:schemeClr val="bg1"/>
                </a:solidFill>
              </a:rPr>
              <a:t>Ing. Miguel Angel Minga González</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Contenidos de la unidad según el PEA</a:t>
            </a:r>
            <a:endParaRPr lang="en-US" sz="2800" dirty="0"/>
          </a:p>
        </p:txBody>
      </p:sp>
      <p:sp>
        <p:nvSpPr>
          <p:cNvPr id="4" name="Shape 1"/>
          <p:cNvSpPr/>
          <p:nvPr/>
        </p:nvSpPr>
        <p:spPr>
          <a:xfrm>
            <a:off x="502920" y="1344168"/>
            <a:ext cx="868680" cy="502920"/>
          </a:xfrm>
          <a:prstGeom prst="roundRect">
            <a:avLst>
              <a:gd name="adj" fmla="val 49091"/>
            </a:avLst>
          </a:prstGeom>
          <a:solidFill>
            <a:srgbClr val="007578"/>
          </a:solidFill>
          <a:ln w="12700">
            <a:solidFill>
              <a:srgbClr val="007578"/>
            </a:solidFill>
            <a:prstDash val="solid"/>
          </a:ln>
        </p:spPr>
      </p:sp>
      <p:sp>
        <p:nvSpPr>
          <p:cNvPr id="5" name="Text 2"/>
          <p:cNvSpPr txBox="1"/>
          <p:nvPr/>
        </p:nvSpPr>
        <p:spPr>
          <a:xfrm>
            <a:off x="502920" y="1344168"/>
            <a:ext cx="868680" cy="502920"/>
          </a:xfrm>
          <a:prstGeom prst="rect">
            <a:avLst/>
          </a:prstGeom>
          <a:noFill/>
          <a:ln/>
        </p:spPr>
        <p:txBody>
          <a:bodyPr wrap="square" lIns="0" tIns="0" rIns="0" bIns="0" rtlCol="0" anchor="ctr"/>
          <a:lstStyle/>
          <a:p>
            <a:pPr algn="ctr" indent="0" marL="0">
              <a:buNone/>
            </a:pPr>
            <a:r>
              <a:rPr lang="en-US" sz="1400" b="1" dirty="0">
                <a:solidFill>
                  <a:srgbClr val="FFFFFF"/>
                </a:solidFill>
              </a:rPr>
              <a:t>4.1</a:t>
            </a:r>
            <a:endParaRPr lang="en-US" sz="1400" dirty="0"/>
          </a:p>
        </p:txBody>
      </p:sp>
      <p:sp>
        <p:nvSpPr>
          <p:cNvPr id="6" name="Text 3"/>
          <p:cNvSpPr txBox="1"/>
          <p:nvPr/>
        </p:nvSpPr>
        <p:spPr>
          <a:xfrm>
            <a:off x="1463040" y="1234440"/>
            <a:ext cx="2697480" cy="731520"/>
          </a:xfrm>
          <a:prstGeom prst="rect">
            <a:avLst/>
          </a:prstGeom>
          <a:noFill/>
          <a:ln/>
        </p:spPr>
        <p:txBody>
          <a:bodyPr wrap="square" lIns="0" tIns="0" rIns="0" bIns="0" rtlCol="0" anchor="ctr"/>
          <a:lstStyle/>
          <a:p>
            <a:pPr indent="0" marL="0">
              <a:buNone/>
            </a:pPr>
            <a:r>
              <a:rPr lang="en-US" sz="1400" dirty="0">
                <a:solidFill>
                  <a:srgbClr val="1B2A33"/>
                </a:solidFill>
              </a:rPr>
              <a:t>Introducción</a:t>
            </a:r>
            <a:endParaRPr lang="en-US" sz="1400" dirty="0"/>
          </a:p>
        </p:txBody>
      </p:sp>
      <p:sp>
        <p:nvSpPr>
          <p:cNvPr id="7" name="Shape 4"/>
          <p:cNvSpPr/>
          <p:nvPr/>
        </p:nvSpPr>
        <p:spPr>
          <a:xfrm>
            <a:off x="502920" y="2167128"/>
            <a:ext cx="868680" cy="502920"/>
          </a:xfrm>
          <a:prstGeom prst="roundRect">
            <a:avLst>
              <a:gd name="adj" fmla="val 49091"/>
            </a:avLst>
          </a:prstGeom>
          <a:solidFill>
            <a:srgbClr val="007578"/>
          </a:solidFill>
          <a:ln w="12700">
            <a:solidFill>
              <a:srgbClr val="007578"/>
            </a:solidFill>
            <a:prstDash val="solid"/>
          </a:ln>
        </p:spPr>
      </p:sp>
      <p:sp>
        <p:nvSpPr>
          <p:cNvPr id="8" name="Text 5"/>
          <p:cNvSpPr txBox="1"/>
          <p:nvPr/>
        </p:nvSpPr>
        <p:spPr>
          <a:xfrm>
            <a:off x="502920" y="2167128"/>
            <a:ext cx="868680" cy="502920"/>
          </a:xfrm>
          <a:prstGeom prst="rect">
            <a:avLst/>
          </a:prstGeom>
          <a:noFill/>
          <a:ln/>
        </p:spPr>
        <p:txBody>
          <a:bodyPr wrap="square" lIns="0" tIns="0" rIns="0" bIns="0" rtlCol="0" anchor="ctr"/>
          <a:lstStyle/>
          <a:p>
            <a:pPr algn="ctr" indent="0" marL="0">
              <a:buNone/>
            </a:pPr>
            <a:r>
              <a:rPr lang="en-US" sz="1400" b="1" dirty="0">
                <a:solidFill>
                  <a:srgbClr val="FFFFFF"/>
                </a:solidFill>
              </a:rPr>
              <a:t>4.2</a:t>
            </a:r>
            <a:endParaRPr lang="en-US" sz="1400" dirty="0"/>
          </a:p>
        </p:txBody>
      </p:sp>
      <p:sp>
        <p:nvSpPr>
          <p:cNvPr id="9" name="Text 6"/>
          <p:cNvSpPr txBox="1"/>
          <p:nvPr/>
        </p:nvSpPr>
        <p:spPr>
          <a:xfrm>
            <a:off x="1463040" y="2057400"/>
            <a:ext cx="2697480" cy="731520"/>
          </a:xfrm>
          <a:prstGeom prst="rect">
            <a:avLst/>
          </a:prstGeom>
          <a:noFill/>
          <a:ln/>
        </p:spPr>
        <p:txBody>
          <a:bodyPr wrap="square" lIns="0" tIns="0" rIns="0" bIns="0" rtlCol="0" anchor="ctr"/>
          <a:lstStyle/>
          <a:p>
            <a:pPr indent="0" marL="0">
              <a:buNone/>
            </a:pPr>
            <a:r>
              <a:rPr lang="en-US" sz="1400" dirty="0">
                <a:solidFill>
                  <a:srgbClr val="1B2A33"/>
                </a:solidFill>
              </a:rPr>
              <a:t>Posición, estacionamiento, matrícula, cruce, carretera y mando</a:t>
            </a:r>
            <a:endParaRPr lang="en-US" sz="1400" dirty="0"/>
          </a:p>
        </p:txBody>
      </p:sp>
      <p:sp>
        <p:nvSpPr>
          <p:cNvPr id="10" name="Shape 7"/>
          <p:cNvSpPr/>
          <p:nvPr/>
        </p:nvSpPr>
        <p:spPr>
          <a:xfrm>
            <a:off x="502920" y="2990088"/>
            <a:ext cx="868680" cy="502920"/>
          </a:xfrm>
          <a:prstGeom prst="roundRect">
            <a:avLst>
              <a:gd name="adj" fmla="val 49091"/>
            </a:avLst>
          </a:prstGeom>
          <a:solidFill>
            <a:srgbClr val="007578"/>
          </a:solidFill>
          <a:ln w="12700">
            <a:solidFill>
              <a:srgbClr val="007578"/>
            </a:solidFill>
            <a:prstDash val="solid"/>
          </a:ln>
        </p:spPr>
      </p:sp>
      <p:sp>
        <p:nvSpPr>
          <p:cNvPr id="11" name="Text 8"/>
          <p:cNvSpPr txBox="1"/>
          <p:nvPr/>
        </p:nvSpPr>
        <p:spPr>
          <a:xfrm>
            <a:off x="502920" y="2990088"/>
            <a:ext cx="868680" cy="502920"/>
          </a:xfrm>
          <a:prstGeom prst="rect">
            <a:avLst/>
          </a:prstGeom>
          <a:noFill/>
          <a:ln/>
        </p:spPr>
        <p:txBody>
          <a:bodyPr wrap="square" lIns="0" tIns="0" rIns="0" bIns="0" rtlCol="0" anchor="ctr"/>
          <a:lstStyle/>
          <a:p>
            <a:pPr algn="ctr" indent="0" marL="0">
              <a:buNone/>
            </a:pPr>
            <a:r>
              <a:rPr lang="en-US" sz="1400" b="1" dirty="0">
                <a:solidFill>
                  <a:srgbClr val="FFFFFF"/>
                </a:solidFill>
              </a:rPr>
              <a:t>4.3</a:t>
            </a:r>
            <a:endParaRPr lang="en-US" sz="1400" dirty="0"/>
          </a:p>
        </p:txBody>
      </p:sp>
      <p:sp>
        <p:nvSpPr>
          <p:cNvPr id="12" name="Text 9"/>
          <p:cNvSpPr txBox="1"/>
          <p:nvPr/>
        </p:nvSpPr>
        <p:spPr>
          <a:xfrm>
            <a:off x="1463040" y="2880360"/>
            <a:ext cx="2697480" cy="731520"/>
          </a:xfrm>
          <a:prstGeom prst="rect">
            <a:avLst/>
          </a:prstGeom>
          <a:noFill/>
          <a:ln/>
        </p:spPr>
        <p:txBody>
          <a:bodyPr wrap="square" lIns="0" tIns="0" rIns="0" bIns="0" rtlCol="0" anchor="ctr"/>
          <a:lstStyle/>
          <a:p>
            <a:pPr indent="0" marL="0">
              <a:buNone/>
            </a:pPr>
            <a:r>
              <a:rPr lang="en-US" sz="1400" dirty="0">
                <a:solidFill>
                  <a:srgbClr val="1B2A33"/>
                </a:solidFill>
              </a:rPr>
              <a:t>Circuitos de posición, cruce y carretera</a:t>
            </a:r>
            <a:endParaRPr lang="en-US" sz="1400" dirty="0"/>
          </a:p>
        </p:txBody>
      </p:sp>
      <p:sp>
        <p:nvSpPr>
          <p:cNvPr id="13" name="Shape 10"/>
          <p:cNvSpPr/>
          <p:nvPr/>
        </p:nvSpPr>
        <p:spPr>
          <a:xfrm>
            <a:off x="502920" y="3813048"/>
            <a:ext cx="868680" cy="502920"/>
          </a:xfrm>
          <a:prstGeom prst="roundRect">
            <a:avLst>
              <a:gd name="adj" fmla="val 49091"/>
            </a:avLst>
          </a:prstGeom>
          <a:solidFill>
            <a:srgbClr val="007578"/>
          </a:solidFill>
          <a:ln w="12700">
            <a:solidFill>
              <a:srgbClr val="007578"/>
            </a:solidFill>
            <a:prstDash val="solid"/>
          </a:ln>
        </p:spPr>
      </p:sp>
      <p:sp>
        <p:nvSpPr>
          <p:cNvPr id="14" name="Text 11"/>
          <p:cNvSpPr txBox="1"/>
          <p:nvPr/>
        </p:nvSpPr>
        <p:spPr>
          <a:xfrm>
            <a:off x="502920" y="3813048"/>
            <a:ext cx="868680" cy="502920"/>
          </a:xfrm>
          <a:prstGeom prst="rect">
            <a:avLst/>
          </a:prstGeom>
          <a:noFill/>
          <a:ln/>
        </p:spPr>
        <p:txBody>
          <a:bodyPr wrap="square" lIns="0" tIns="0" rIns="0" bIns="0" rtlCol="0" anchor="ctr"/>
          <a:lstStyle/>
          <a:p>
            <a:pPr algn="ctr" indent="0" marL="0">
              <a:buNone/>
            </a:pPr>
            <a:r>
              <a:rPr lang="en-US" sz="1400" b="1" dirty="0">
                <a:solidFill>
                  <a:srgbClr val="FFFFFF"/>
                </a:solidFill>
              </a:rPr>
              <a:t>4.4</a:t>
            </a:r>
            <a:endParaRPr lang="en-US" sz="1400" dirty="0"/>
          </a:p>
        </p:txBody>
      </p:sp>
      <p:sp>
        <p:nvSpPr>
          <p:cNvPr id="15" name="Text 12"/>
          <p:cNvSpPr txBox="1"/>
          <p:nvPr/>
        </p:nvSpPr>
        <p:spPr>
          <a:xfrm>
            <a:off x="1463040" y="3703320"/>
            <a:ext cx="2697480" cy="731520"/>
          </a:xfrm>
          <a:prstGeom prst="rect">
            <a:avLst/>
          </a:prstGeom>
          <a:noFill/>
          <a:ln/>
        </p:spPr>
        <p:txBody>
          <a:bodyPr wrap="square" lIns="0" tIns="0" rIns="0" bIns="0" rtlCol="0" anchor="ctr"/>
          <a:lstStyle/>
          <a:p>
            <a:pPr indent="0" marL="0">
              <a:buNone/>
            </a:pPr>
            <a:r>
              <a:rPr lang="en-US" sz="1400" dirty="0">
                <a:solidFill>
                  <a:srgbClr val="1B2A33"/>
                </a:solidFill>
              </a:rPr>
              <a:t>Alumbrado antiniebla</a:t>
            </a:r>
            <a:endParaRPr lang="en-US" sz="1400" dirty="0"/>
          </a:p>
        </p:txBody>
      </p:sp>
      <p:sp>
        <p:nvSpPr>
          <p:cNvPr id="16" name="Shape 13"/>
          <p:cNvSpPr/>
          <p:nvPr/>
        </p:nvSpPr>
        <p:spPr>
          <a:xfrm>
            <a:off x="502920" y="4636008"/>
            <a:ext cx="868680" cy="502920"/>
          </a:xfrm>
          <a:prstGeom prst="roundRect">
            <a:avLst>
              <a:gd name="adj" fmla="val 49091"/>
            </a:avLst>
          </a:prstGeom>
          <a:solidFill>
            <a:srgbClr val="007578"/>
          </a:solidFill>
          <a:ln w="12700">
            <a:solidFill>
              <a:srgbClr val="007578"/>
            </a:solidFill>
            <a:prstDash val="solid"/>
          </a:ln>
        </p:spPr>
      </p:sp>
      <p:sp>
        <p:nvSpPr>
          <p:cNvPr id="17" name="Text 14"/>
          <p:cNvSpPr txBox="1"/>
          <p:nvPr/>
        </p:nvSpPr>
        <p:spPr>
          <a:xfrm>
            <a:off x="502920" y="4636008"/>
            <a:ext cx="868680" cy="502920"/>
          </a:xfrm>
          <a:prstGeom prst="rect">
            <a:avLst/>
          </a:prstGeom>
          <a:noFill/>
          <a:ln/>
        </p:spPr>
        <p:txBody>
          <a:bodyPr wrap="square" lIns="0" tIns="0" rIns="0" bIns="0" rtlCol="0" anchor="ctr"/>
          <a:lstStyle/>
          <a:p>
            <a:pPr algn="ctr" indent="0" marL="0">
              <a:buNone/>
            </a:pPr>
            <a:r>
              <a:rPr lang="en-US" sz="1400" b="1" dirty="0">
                <a:solidFill>
                  <a:srgbClr val="FFFFFF"/>
                </a:solidFill>
              </a:rPr>
              <a:t>4.5</a:t>
            </a:r>
            <a:endParaRPr lang="en-US" sz="1400" dirty="0"/>
          </a:p>
        </p:txBody>
      </p:sp>
      <p:sp>
        <p:nvSpPr>
          <p:cNvPr id="18" name="Text 15"/>
          <p:cNvSpPr txBox="1"/>
          <p:nvPr/>
        </p:nvSpPr>
        <p:spPr>
          <a:xfrm>
            <a:off x="1463040" y="4526280"/>
            <a:ext cx="2697480" cy="731520"/>
          </a:xfrm>
          <a:prstGeom prst="rect">
            <a:avLst/>
          </a:prstGeom>
          <a:noFill/>
          <a:ln/>
        </p:spPr>
        <p:txBody>
          <a:bodyPr wrap="square" lIns="0" tIns="0" rIns="0" bIns="0" rtlCol="0" anchor="ctr"/>
          <a:lstStyle/>
          <a:p>
            <a:pPr indent="0" marL="0">
              <a:buNone/>
            </a:pPr>
            <a:r>
              <a:rPr lang="en-US" sz="1400" dirty="0">
                <a:solidFill>
                  <a:srgbClr val="1B2A33"/>
                </a:solidFill>
              </a:rPr>
              <a:t>Circuitos antiniebla</a:t>
            </a:r>
            <a:endParaRPr lang="en-US" sz="1400" dirty="0"/>
          </a:p>
        </p:txBody>
      </p:sp>
      <p:sp>
        <p:nvSpPr>
          <p:cNvPr id="19" name="Shape 16"/>
          <p:cNvSpPr/>
          <p:nvPr/>
        </p:nvSpPr>
        <p:spPr>
          <a:xfrm>
            <a:off x="502920" y="5458968"/>
            <a:ext cx="868680" cy="502920"/>
          </a:xfrm>
          <a:prstGeom prst="roundRect">
            <a:avLst>
              <a:gd name="adj" fmla="val 49091"/>
            </a:avLst>
          </a:prstGeom>
          <a:solidFill>
            <a:srgbClr val="007578"/>
          </a:solidFill>
          <a:ln w="12700">
            <a:solidFill>
              <a:srgbClr val="007578"/>
            </a:solidFill>
            <a:prstDash val="solid"/>
          </a:ln>
        </p:spPr>
      </p:sp>
      <p:sp>
        <p:nvSpPr>
          <p:cNvPr id="20" name="Text 17"/>
          <p:cNvSpPr txBox="1"/>
          <p:nvPr/>
        </p:nvSpPr>
        <p:spPr>
          <a:xfrm>
            <a:off x="502920" y="5458968"/>
            <a:ext cx="868680" cy="502920"/>
          </a:xfrm>
          <a:prstGeom prst="rect">
            <a:avLst/>
          </a:prstGeom>
          <a:noFill/>
          <a:ln/>
        </p:spPr>
        <p:txBody>
          <a:bodyPr wrap="square" lIns="0" tIns="0" rIns="0" bIns="0" rtlCol="0" anchor="ctr"/>
          <a:lstStyle/>
          <a:p>
            <a:pPr algn="ctr" indent="0" marL="0">
              <a:buNone/>
            </a:pPr>
            <a:r>
              <a:rPr lang="en-US" sz="1400" b="1" dirty="0">
                <a:solidFill>
                  <a:srgbClr val="FFFFFF"/>
                </a:solidFill>
              </a:rPr>
              <a:t>4.6</a:t>
            </a:r>
            <a:endParaRPr lang="en-US" sz="1400" dirty="0"/>
          </a:p>
        </p:txBody>
      </p:sp>
      <p:sp>
        <p:nvSpPr>
          <p:cNvPr id="21" name="Text 18"/>
          <p:cNvSpPr txBox="1"/>
          <p:nvPr/>
        </p:nvSpPr>
        <p:spPr>
          <a:xfrm>
            <a:off x="1463040" y="5349240"/>
            <a:ext cx="2697480" cy="731520"/>
          </a:xfrm>
          <a:prstGeom prst="rect">
            <a:avLst/>
          </a:prstGeom>
          <a:noFill/>
          <a:ln/>
        </p:spPr>
        <p:txBody>
          <a:bodyPr wrap="square" lIns="0" tIns="0" rIns="0" bIns="0" rtlCol="0" anchor="ctr"/>
          <a:lstStyle/>
          <a:p>
            <a:pPr indent="0" marL="0">
              <a:buNone/>
            </a:pPr>
            <a:r>
              <a:rPr lang="en-US" sz="1400" dirty="0">
                <a:solidFill>
                  <a:srgbClr val="1B2A33"/>
                </a:solidFill>
              </a:rPr>
              <a:t>Intermitencia y emergencia</a:t>
            </a:r>
            <a:endParaRPr lang="en-US" sz="1400" dirty="0"/>
          </a:p>
        </p:txBody>
      </p:sp>
      <p:sp>
        <p:nvSpPr>
          <p:cNvPr id="22" name="Shape 19"/>
          <p:cNvSpPr/>
          <p:nvPr/>
        </p:nvSpPr>
        <p:spPr>
          <a:xfrm>
            <a:off x="4297680" y="1344168"/>
            <a:ext cx="868680" cy="502920"/>
          </a:xfrm>
          <a:prstGeom prst="roundRect">
            <a:avLst>
              <a:gd name="adj" fmla="val 49091"/>
            </a:avLst>
          </a:prstGeom>
          <a:solidFill>
            <a:srgbClr val="F2A516"/>
          </a:solidFill>
          <a:ln w="12700">
            <a:solidFill>
              <a:srgbClr val="F2A516"/>
            </a:solidFill>
            <a:prstDash val="solid"/>
          </a:ln>
        </p:spPr>
      </p:sp>
      <p:sp>
        <p:nvSpPr>
          <p:cNvPr id="23" name="Text 20"/>
          <p:cNvSpPr txBox="1"/>
          <p:nvPr/>
        </p:nvSpPr>
        <p:spPr>
          <a:xfrm>
            <a:off x="4297680" y="1344168"/>
            <a:ext cx="868680" cy="502920"/>
          </a:xfrm>
          <a:prstGeom prst="rect">
            <a:avLst/>
          </a:prstGeom>
          <a:noFill/>
          <a:ln/>
        </p:spPr>
        <p:txBody>
          <a:bodyPr wrap="square" lIns="0" tIns="0" rIns="0" bIns="0" rtlCol="0" anchor="ctr"/>
          <a:lstStyle/>
          <a:p>
            <a:pPr algn="ctr" indent="0" marL="0">
              <a:buNone/>
            </a:pPr>
            <a:r>
              <a:rPr lang="en-US" sz="1400" b="1" dirty="0">
                <a:solidFill>
                  <a:srgbClr val="1B2A33"/>
                </a:solidFill>
              </a:rPr>
              <a:t>4.7</a:t>
            </a:r>
            <a:endParaRPr lang="en-US" sz="1400" dirty="0"/>
          </a:p>
        </p:txBody>
      </p:sp>
      <p:sp>
        <p:nvSpPr>
          <p:cNvPr id="24" name="Text 21"/>
          <p:cNvSpPr txBox="1"/>
          <p:nvPr/>
        </p:nvSpPr>
        <p:spPr>
          <a:xfrm>
            <a:off x="5257800" y="1234440"/>
            <a:ext cx="2697480" cy="731520"/>
          </a:xfrm>
          <a:prstGeom prst="rect">
            <a:avLst/>
          </a:prstGeom>
          <a:noFill/>
          <a:ln/>
        </p:spPr>
        <p:txBody>
          <a:bodyPr wrap="square" lIns="0" tIns="0" rIns="0" bIns="0" rtlCol="0" anchor="ctr"/>
          <a:lstStyle/>
          <a:p>
            <a:pPr indent="0" marL="0">
              <a:buNone/>
            </a:pPr>
            <a:r>
              <a:rPr lang="en-US" sz="1400" dirty="0">
                <a:solidFill>
                  <a:srgbClr val="1B2A33"/>
                </a:solidFill>
              </a:rPr>
              <a:t>Luces de conducción diurna</a:t>
            </a:r>
            <a:endParaRPr lang="en-US" sz="1400" dirty="0"/>
          </a:p>
        </p:txBody>
      </p:sp>
      <p:sp>
        <p:nvSpPr>
          <p:cNvPr id="25" name="Shape 22"/>
          <p:cNvSpPr/>
          <p:nvPr/>
        </p:nvSpPr>
        <p:spPr>
          <a:xfrm>
            <a:off x="4297680" y="2167128"/>
            <a:ext cx="868680" cy="502920"/>
          </a:xfrm>
          <a:prstGeom prst="roundRect">
            <a:avLst>
              <a:gd name="adj" fmla="val 49091"/>
            </a:avLst>
          </a:prstGeom>
          <a:solidFill>
            <a:srgbClr val="F2A516"/>
          </a:solidFill>
          <a:ln w="12700">
            <a:solidFill>
              <a:srgbClr val="F2A516"/>
            </a:solidFill>
            <a:prstDash val="solid"/>
          </a:ln>
        </p:spPr>
      </p:sp>
      <p:sp>
        <p:nvSpPr>
          <p:cNvPr id="26" name="Text 23"/>
          <p:cNvSpPr txBox="1"/>
          <p:nvPr/>
        </p:nvSpPr>
        <p:spPr>
          <a:xfrm>
            <a:off x="4297680" y="2167128"/>
            <a:ext cx="868680" cy="502920"/>
          </a:xfrm>
          <a:prstGeom prst="rect">
            <a:avLst/>
          </a:prstGeom>
          <a:noFill/>
          <a:ln/>
        </p:spPr>
        <p:txBody>
          <a:bodyPr wrap="square" lIns="0" tIns="0" rIns="0" bIns="0" rtlCol="0" anchor="ctr"/>
          <a:lstStyle/>
          <a:p>
            <a:pPr algn="ctr" indent="0" marL="0">
              <a:buNone/>
            </a:pPr>
            <a:r>
              <a:rPr lang="en-US" sz="1400" b="1" dirty="0">
                <a:solidFill>
                  <a:srgbClr val="1B2A33"/>
                </a:solidFill>
              </a:rPr>
              <a:t>4.8</a:t>
            </a:r>
            <a:endParaRPr lang="en-US" sz="1400" dirty="0"/>
          </a:p>
        </p:txBody>
      </p:sp>
      <p:sp>
        <p:nvSpPr>
          <p:cNvPr id="27" name="Text 24"/>
          <p:cNvSpPr txBox="1"/>
          <p:nvPr/>
        </p:nvSpPr>
        <p:spPr>
          <a:xfrm>
            <a:off x="5257800" y="2057400"/>
            <a:ext cx="2697480" cy="731520"/>
          </a:xfrm>
          <a:prstGeom prst="rect">
            <a:avLst/>
          </a:prstGeom>
          <a:noFill/>
          <a:ln/>
        </p:spPr>
        <p:txBody>
          <a:bodyPr wrap="square" lIns="0" tIns="0" rIns="0" bIns="0" rtlCol="0" anchor="ctr"/>
          <a:lstStyle/>
          <a:p>
            <a:pPr indent="0" marL="0">
              <a:buNone/>
            </a:pPr>
            <a:r>
              <a:rPr lang="en-US" sz="1400" dirty="0">
                <a:solidFill>
                  <a:srgbClr val="1B2A33"/>
                </a:solidFill>
              </a:rPr>
              <a:t>Luces de freno</a:t>
            </a:r>
            <a:endParaRPr lang="en-US" sz="1400" dirty="0"/>
          </a:p>
        </p:txBody>
      </p:sp>
      <p:sp>
        <p:nvSpPr>
          <p:cNvPr id="28" name="Shape 25"/>
          <p:cNvSpPr/>
          <p:nvPr/>
        </p:nvSpPr>
        <p:spPr>
          <a:xfrm>
            <a:off x="4297680" y="2990088"/>
            <a:ext cx="868680" cy="502920"/>
          </a:xfrm>
          <a:prstGeom prst="roundRect">
            <a:avLst>
              <a:gd name="adj" fmla="val 49091"/>
            </a:avLst>
          </a:prstGeom>
          <a:solidFill>
            <a:srgbClr val="F2A516"/>
          </a:solidFill>
          <a:ln w="12700">
            <a:solidFill>
              <a:srgbClr val="F2A516"/>
            </a:solidFill>
            <a:prstDash val="solid"/>
          </a:ln>
        </p:spPr>
      </p:sp>
      <p:sp>
        <p:nvSpPr>
          <p:cNvPr id="29" name="Text 26"/>
          <p:cNvSpPr txBox="1"/>
          <p:nvPr/>
        </p:nvSpPr>
        <p:spPr>
          <a:xfrm>
            <a:off x="4297680" y="2990088"/>
            <a:ext cx="868680" cy="502920"/>
          </a:xfrm>
          <a:prstGeom prst="rect">
            <a:avLst/>
          </a:prstGeom>
          <a:noFill/>
          <a:ln/>
        </p:spPr>
        <p:txBody>
          <a:bodyPr wrap="square" lIns="0" tIns="0" rIns="0" bIns="0" rtlCol="0" anchor="ctr"/>
          <a:lstStyle/>
          <a:p>
            <a:pPr algn="ctr" indent="0" marL="0">
              <a:buNone/>
            </a:pPr>
            <a:r>
              <a:rPr lang="en-US" sz="1400" b="1" dirty="0">
                <a:solidFill>
                  <a:srgbClr val="1B2A33"/>
                </a:solidFill>
              </a:rPr>
              <a:t>4.9</a:t>
            </a:r>
            <a:endParaRPr lang="en-US" sz="1400" dirty="0"/>
          </a:p>
        </p:txBody>
      </p:sp>
      <p:sp>
        <p:nvSpPr>
          <p:cNvPr id="30" name="Text 27"/>
          <p:cNvSpPr txBox="1"/>
          <p:nvPr/>
        </p:nvSpPr>
        <p:spPr>
          <a:xfrm>
            <a:off x="5257800" y="2880360"/>
            <a:ext cx="2697480" cy="731520"/>
          </a:xfrm>
          <a:prstGeom prst="rect">
            <a:avLst/>
          </a:prstGeom>
          <a:noFill/>
          <a:ln/>
        </p:spPr>
        <p:txBody>
          <a:bodyPr wrap="square" lIns="0" tIns="0" rIns="0" bIns="0" rtlCol="0" anchor="ctr"/>
          <a:lstStyle/>
          <a:p>
            <a:pPr indent="0" marL="0">
              <a:buNone/>
            </a:pPr>
            <a:r>
              <a:rPr lang="en-US" sz="1400" dirty="0">
                <a:solidFill>
                  <a:srgbClr val="1B2A33"/>
                </a:solidFill>
              </a:rPr>
              <a:t>Luces de marcha atrás</a:t>
            </a:r>
            <a:endParaRPr lang="en-US" sz="1400" dirty="0"/>
          </a:p>
        </p:txBody>
      </p:sp>
      <p:sp>
        <p:nvSpPr>
          <p:cNvPr id="31" name="Shape 28"/>
          <p:cNvSpPr/>
          <p:nvPr/>
        </p:nvSpPr>
        <p:spPr>
          <a:xfrm>
            <a:off x="4297680" y="3813048"/>
            <a:ext cx="868680" cy="502920"/>
          </a:xfrm>
          <a:prstGeom prst="roundRect">
            <a:avLst>
              <a:gd name="adj" fmla="val 49091"/>
            </a:avLst>
          </a:prstGeom>
          <a:solidFill>
            <a:srgbClr val="F2A516"/>
          </a:solidFill>
          <a:ln w="12700">
            <a:solidFill>
              <a:srgbClr val="F2A516"/>
            </a:solidFill>
            <a:prstDash val="solid"/>
          </a:ln>
        </p:spPr>
      </p:sp>
      <p:sp>
        <p:nvSpPr>
          <p:cNvPr id="32" name="Text 29"/>
          <p:cNvSpPr txBox="1"/>
          <p:nvPr/>
        </p:nvSpPr>
        <p:spPr>
          <a:xfrm>
            <a:off x="4297680" y="3813048"/>
            <a:ext cx="868680" cy="502920"/>
          </a:xfrm>
          <a:prstGeom prst="rect">
            <a:avLst/>
          </a:prstGeom>
          <a:noFill/>
          <a:ln/>
        </p:spPr>
        <p:txBody>
          <a:bodyPr wrap="square" lIns="0" tIns="0" rIns="0" bIns="0" rtlCol="0" anchor="ctr"/>
          <a:lstStyle/>
          <a:p>
            <a:pPr algn="ctr" indent="0" marL="0">
              <a:buNone/>
            </a:pPr>
            <a:r>
              <a:rPr lang="en-US" sz="1400" b="1" dirty="0">
                <a:solidFill>
                  <a:srgbClr val="1B2A33"/>
                </a:solidFill>
              </a:rPr>
              <a:t>4.10</a:t>
            </a:r>
            <a:endParaRPr lang="en-US" sz="1400" dirty="0"/>
          </a:p>
        </p:txBody>
      </p:sp>
      <p:sp>
        <p:nvSpPr>
          <p:cNvPr id="33" name="Text 30"/>
          <p:cNvSpPr txBox="1"/>
          <p:nvPr/>
        </p:nvSpPr>
        <p:spPr>
          <a:xfrm>
            <a:off x="5257800" y="3703320"/>
            <a:ext cx="2697480" cy="731520"/>
          </a:xfrm>
          <a:prstGeom prst="rect">
            <a:avLst/>
          </a:prstGeom>
          <a:noFill/>
          <a:ln/>
        </p:spPr>
        <p:txBody>
          <a:bodyPr wrap="square" lIns="0" tIns="0" rIns="0" bIns="0" rtlCol="0" anchor="ctr"/>
          <a:lstStyle/>
          <a:p>
            <a:pPr indent="0" marL="0">
              <a:buNone/>
            </a:pPr>
            <a:r>
              <a:rPr lang="en-US" sz="1400" dirty="0">
                <a:solidFill>
                  <a:srgbClr val="1B2A33"/>
                </a:solidFill>
              </a:rPr>
              <a:t>Iluminación interior</a:t>
            </a:r>
            <a:endParaRPr lang="en-US" sz="1400" dirty="0"/>
          </a:p>
        </p:txBody>
      </p:sp>
      <p:sp>
        <p:nvSpPr>
          <p:cNvPr id="34" name="Shape 31"/>
          <p:cNvSpPr/>
          <p:nvPr/>
        </p:nvSpPr>
        <p:spPr>
          <a:xfrm>
            <a:off x="4297680" y="4636008"/>
            <a:ext cx="868680" cy="502920"/>
          </a:xfrm>
          <a:prstGeom prst="roundRect">
            <a:avLst>
              <a:gd name="adj" fmla="val 49091"/>
            </a:avLst>
          </a:prstGeom>
          <a:solidFill>
            <a:srgbClr val="F2A516"/>
          </a:solidFill>
          <a:ln w="12700">
            <a:solidFill>
              <a:srgbClr val="F2A516"/>
            </a:solidFill>
            <a:prstDash val="solid"/>
          </a:ln>
        </p:spPr>
      </p:sp>
      <p:sp>
        <p:nvSpPr>
          <p:cNvPr id="35" name="Text 32"/>
          <p:cNvSpPr txBox="1"/>
          <p:nvPr/>
        </p:nvSpPr>
        <p:spPr>
          <a:xfrm>
            <a:off x="4297680" y="4636008"/>
            <a:ext cx="868680" cy="502920"/>
          </a:xfrm>
          <a:prstGeom prst="rect">
            <a:avLst/>
          </a:prstGeom>
          <a:noFill/>
          <a:ln/>
        </p:spPr>
        <p:txBody>
          <a:bodyPr wrap="square" lIns="0" tIns="0" rIns="0" bIns="0" rtlCol="0" anchor="ctr"/>
          <a:lstStyle/>
          <a:p>
            <a:pPr algn="ctr" indent="0" marL="0">
              <a:buNone/>
            </a:pPr>
            <a:r>
              <a:rPr lang="en-US" sz="1400" b="1" dirty="0">
                <a:solidFill>
                  <a:srgbClr val="1B2A33"/>
                </a:solidFill>
              </a:rPr>
              <a:t>4.11</a:t>
            </a:r>
            <a:endParaRPr lang="en-US" sz="1400" dirty="0"/>
          </a:p>
        </p:txBody>
      </p:sp>
      <p:sp>
        <p:nvSpPr>
          <p:cNvPr id="36" name="Text 33"/>
          <p:cNvSpPr txBox="1"/>
          <p:nvPr/>
        </p:nvSpPr>
        <p:spPr>
          <a:xfrm>
            <a:off x="5257800" y="4526280"/>
            <a:ext cx="2697480" cy="731520"/>
          </a:xfrm>
          <a:prstGeom prst="rect">
            <a:avLst/>
          </a:prstGeom>
          <a:noFill/>
          <a:ln/>
        </p:spPr>
        <p:txBody>
          <a:bodyPr wrap="square" lIns="0" tIns="0" rIns="0" bIns="0" rtlCol="0" anchor="ctr"/>
          <a:lstStyle/>
          <a:p>
            <a:pPr indent="0" marL="0">
              <a:buNone/>
            </a:pPr>
            <a:r>
              <a:rPr lang="en-US" sz="1400" dirty="0">
                <a:solidFill>
                  <a:srgbClr val="1B2A33"/>
                </a:solidFill>
              </a:rPr>
              <a:t>Cálculo y dimensionado</a:t>
            </a:r>
            <a:endParaRPr lang="en-US" sz="1400" dirty="0"/>
          </a:p>
        </p:txBody>
      </p:sp>
      <p:sp>
        <p:nvSpPr>
          <p:cNvPr id="37" name="Shape 34"/>
          <p:cNvSpPr/>
          <p:nvPr/>
        </p:nvSpPr>
        <p:spPr>
          <a:xfrm>
            <a:off x="4297680" y="5458968"/>
            <a:ext cx="868680" cy="502920"/>
          </a:xfrm>
          <a:prstGeom prst="roundRect">
            <a:avLst>
              <a:gd name="adj" fmla="val 49091"/>
            </a:avLst>
          </a:prstGeom>
          <a:solidFill>
            <a:srgbClr val="F2A516"/>
          </a:solidFill>
          <a:ln w="12700">
            <a:solidFill>
              <a:srgbClr val="F2A516"/>
            </a:solidFill>
            <a:prstDash val="solid"/>
          </a:ln>
        </p:spPr>
      </p:sp>
      <p:sp>
        <p:nvSpPr>
          <p:cNvPr id="38" name="Text 35"/>
          <p:cNvSpPr txBox="1"/>
          <p:nvPr/>
        </p:nvSpPr>
        <p:spPr>
          <a:xfrm>
            <a:off x="4297680" y="5458968"/>
            <a:ext cx="868680" cy="502920"/>
          </a:xfrm>
          <a:prstGeom prst="rect">
            <a:avLst/>
          </a:prstGeom>
          <a:noFill/>
          <a:ln/>
        </p:spPr>
        <p:txBody>
          <a:bodyPr wrap="square" lIns="0" tIns="0" rIns="0" bIns="0" rtlCol="0" anchor="ctr"/>
          <a:lstStyle/>
          <a:p>
            <a:pPr algn="ctr" indent="0" marL="0">
              <a:buNone/>
            </a:pPr>
            <a:r>
              <a:rPr lang="en-US" sz="1400" b="1" dirty="0">
                <a:solidFill>
                  <a:srgbClr val="1B2A33"/>
                </a:solidFill>
              </a:rPr>
              <a:t>4.12</a:t>
            </a:r>
            <a:endParaRPr lang="en-US" sz="1400" dirty="0"/>
          </a:p>
        </p:txBody>
      </p:sp>
      <p:sp>
        <p:nvSpPr>
          <p:cNvPr id="39" name="Text 36"/>
          <p:cNvSpPr txBox="1"/>
          <p:nvPr/>
        </p:nvSpPr>
        <p:spPr>
          <a:xfrm>
            <a:off x="5257800" y="5349240"/>
            <a:ext cx="2697480" cy="731520"/>
          </a:xfrm>
          <a:prstGeom prst="rect">
            <a:avLst/>
          </a:prstGeom>
          <a:noFill/>
          <a:ln/>
        </p:spPr>
        <p:txBody>
          <a:bodyPr wrap="square" lIns="0" tIns="0" rIns="0" bIns="0" rtlCol="0" anchor="ctr"/>
          <a:lstStyle/>
          <a:p>
            <a:pPr indent="0" marL="0">
              <a:buNone/>
            </a:pPr>
            <a:r>
              <a:rPr lang="en-US" sz="1400" dirty="0">
                <a:solidFill>
                  <a:srgbClr val="1B2A33"/>
                </a:solidFill>
              </a:rPr>
              <a:t>Regulación de faros</a:t>
            </a:r>
            <a:endParaRPr lang="en-US" sz="1400" dirty="0"/>
          </a:p>
        </p:txBody>
      </p:sp>
      <p:sp>
        <p:nvSpPr>
          <p:cNvPr id="40" name="Shape 37"/>
          <p:cNvSpPr/>
          <p:nvPr/>
        </p:nvSpPr>
        <p:spPr>
          <a:xfrm>
            <a:off x="8092440" y="1344168"/>
            <a:ext cx="868680" cy="502920"/>
          </a:xfrm>
          <a:prstGeom prst="roundRect">
            <a:avLst>
              <a:gd name="adj" fmla="val 49091"/>
            </a:avLst>
          </a:prstGeom>
          <a:solidFill>
            <a:srgbClr val="00575A"/>
          </a:solidFill>
          <a:ln w="12700">
            <a:solidFill>
              <a:srgbClr val="00575A"/>
            </a:solidFill>
            <a:prstDash val="solid"/>
          </a:ln>
        </p:spPr>
      </p:sp>
      <p:sp>
        <p:nvSpPr>
          <p:cNvPr id="41" name="Text 38"/>
          <p:cNvSpPr txBox="1"/>
          <p:nvPr/>
        </p:nvSpPr>
        <p:spPr>
          <a:xfrm>
            <a:off x="8092440" y="1344168"/>
            <a:ext cx="868680" cy="502920"/>
          </a:xfrm>
          <a:prstGeom prst="rect">
            <a:avLst/>
          </a:prstGeom>
          <a:noFill/>
          <a:ln/>
        </p:spPr>
        <p:txBody>
          <a:bodyPr wrap="square" lIns="0" tIns="0" rIns="0" bIns="0" rtlCol="0" anchor="ctr"/>
          <a:lstStyle/>
          <a:p>
            <a:pPr algn="ctr" indent="0" marL="0">
              <a:buNone/>
            </a:pPr>
            <a:r>
              <a:rPr lang="en-US" sz="1400" b="1" dirty="0">
                <a:solidFill>
                  <a:srgbClr val="FFFFFF"/>
                </a:solidFill>
              </a:rPr>
              <a:t>4.13</a:t>
            </a:r>
            <a:endParaRPr lang="en-US" sz="1400" dirty="0"/>
          </a:p>
        </p:txBody>
      </p:sp>
      <p:sp>
        <p:nvSpPr>
          <p:cNvPr id="42" name="Text 39"/>
          <p:cNvSpPr txBox="1"/>
          <p:nvPr/>
        </p:nvSpPr>
        <p:spPr>
          <a:xfrm>
            <a:off x="9052560" y="1234440"/>
            <a:ext cx="2697480" cy="731520"/>
          </a:xfrm>
          <a:prstGeom prst="rect">
            <a:avLst/>
          </a:prstGeom>
          <a:noFill/>
          <a:ln/>
        </p:spPr>
        <p:txBody>
          <a:bodyPr wrap="square" lIns="0" tIns="0" rIns="0" bIns="0" rtlCol="0" anchor="ctr"/>
          <a:lstStyle/>
          <a:p>
            <a:pPr indent="0" marL="0">
              <a:buNone/>
            </a:pPr>
            <a:r>
              <a:rPr lang="en-US" sz="1400" dirty="0">
                <a:solidFill>
                  <a:srgbClr val="1B2A33"/>
                </a:solidFill>
              </a:rPr>
              <a:t>Práctica en taller: haz, intensidad y alcance</a:t>
            </a:r>
            <a:endParaRPr lang="en-US" sz="1400" dirty="0"/>
          </a:p>
        </p:txBody>
      </p:sp>
      <p:sp>
        <p:nvSpPr>
          <p:cNvPr id="43" name="Shape 40"/>
          <p:cNvSpPr/>
          <p:nvPr/>
        </p:nvSpPr>
        <p:spPr>
          <a:xfrm>
            <a:off x="8092440" y="2167128"/>
            <a:ext cx="868680" cy="502920"/>
          </a:xfrm>
          <a:prstGeom prst="roundRect">
            <a:avLst>
              <a:gd name="adj" fmla="val 49091"/>
            </a:avLst>
          </a:prstGeom>
          <a:solidFill>
            <a:srgbClr val="00575A"/>
          </a:solidFill>
          <a:ln w="12700">
            <a:solidFill>
              <a:srgbClr val="00575A"/>
            </a:solidFill>
            <a:prstDash val="solid"/>
          </a:ln>
        </p:spPr>
      </p:sp>
      <p:sp>
        <p:nvSpPr>
          <p:cNvPr id="44" name="Text 41"/>
          <p:cNvSpPr txBox="1"/>
          <p:nvPr/>
        </p:nvSpPr>
        <p:spPr>
          <a:xfrm>
            <a:off x="8092440" y="2167128"/>
            <a:ext cx="868680" cy="502920"/>
          </a:xfrm>
          <a:prstGeom prst="rect">
            <a:avLst/>
          </a:prstGeom>
          <a:noFill/>
          <a:ln/>
        </p:spPr>
        <p:txBody>
          <a:bodyPr wrap="square" lIns="0" tIns="0" rIns="0" bIns="0" rtlCol="0" anchor="ctr"/>
          <a:lstStyle/>
          <a:p>
            <a:pPr algn="ctr" indent="0" marL="0">
              <a:buNone/>
            </a:pPr>
            <a:r>
              <a:rPr lang="en-US" sz="1400" b="1" dirty="0">
                <a:solidFill>
                  <a:srgbClr val="FFFFFF"/>
                </a:solidFill>
              </a:rPr>
              <a:t>4.14</a:t>
            </a:r>
            <a:endParaRPr lang="en-US" sz="1400" dirty="0"/>
          </a:p>
        </p:txBody>
      </p:sp>
      <p:sp>
        <p:nvSpPr>
          <p:cNvPr id="45" name="Text 42"/>
          <p:cNvSpPr txBox="1"/>
          <p:nvPr/>
        </p:nvSpPr>
        <p:spPr>
          <a:xfrm>
            <a:off x="9052560" y="2057400"/>
            <a:ext cx="2697480" cy="731520"/>
          </a:xfrm>
          <a:prstGeom prst="rect">
            <a:avLst/>
          </a:prstGeom>
          <a:noFill/>
          <a:ln/>
        </p:spPr>
        <p:txBody>
          <a:bodyPr wrap="square" lIns="0" tIns="0" rIns="0" bIns="0" rtlCol="0" anchor="ctr"/>
          <a:lstStyle/>
          <a:p>
            <a:pPr indent="0" marL="0">
              <a:buNone/>
            </a:pPr>
            <a:r>
              <a:rPr lang="en-US" sz="1400" dirty="0">
                <a:solidFill>
                  <a:srgbClr val="1B2A33"/>
                </a:solidFill>
              </a:rPr>
              <a:t>Limpiaparabrisas y calefactor</a:t>
            </a:r>
            <a:endParaRPr lang="en-US" sz="1400" dirty="0"/>
          </a:p>
        </p:txBody>
      </p:sp>
      <p:sp>
        <p:nvSpPr>
          <p:cNvPr id="46" name="Shape 43"/>
          <p:cNvSpPr/>
          <p:nvPr/>
        </p:nvSpPr>
        <p:spPr>
          <a:xfrm>
            <a:off x="8092440" y="2990088"/>
            <a:ext cx="868680" cy="502920"/>
          </a:xfrm>
          <a:prstGeom prst="roundRect">
            <a:avLst>
              <a:gd name="adj" fmla="val 49091"/>
            </a:avLst>
          </a:prstGeom>
          <a:solidFill>
            <a:srgbClr val="00575A"/>
          </a:solidFill>
          <a:ln w="12700">
            <a:solidFill>
              <a:srgbClr val="00575A"/>
            </a:solidFill>
            <a:prstDash val="solid"/>
          </a:ln>
        </p:spPr>
      </p:sp>
      <p:sp>
        <p:nvSpPr>
          <p:cNvPr id="47" name="Text 44"/>
          <p:cNvSpPr txBox="1"/>
          <p:nvPr/>
        </p:nvSpPr>
        <p:spPr>
          <a:xfrm>
            <a:off x="8092440" y="2990088"/>
            <a:ext cx="868680" cy="502920"/>
          </a:xfrm>
          <a:prstGeom prst="rect">
            <a:avLst/>
          </a:prstGeom>
          <a:noFill/>
          <a:ln/>
        </p:spPr>
        <p:txBody>
          <a:bodyPr wrap="square" lIns="0" tIns="0" rIns="0" bIns="0" rtlCol="0" anchor="ctr"/>
          <a:lstStyle/>
          <a:p>
            <a:pPr algn="ctr" indent="0" marL="0">
              <a:buNone/>
            </a:pPr>
            <a:r>
              <a:rPr lang="en-US" sz="1400" b="1" dirty="0">
                <a:solidFill>
                  <a:srgbClr val="FFFFFF"/>
                </a:solidFill>
              </a:rPr>
              <a:t>4.15</a:t>
            </a:r>
            <a:endParaRPr lang="en-US" sz="1400" dirty="0"/>
          </a:p>
        </p:txBody>
      </p:sp>
      <p:sp>
        <p:nvSpPr>
          <p:cNvPr id="48" name="Text 45"/>
          <p:cNvSpPr txBox="1"/>
          <p:nvPr/>
        </p:nvSpPr>
        <p:spPr>
          <a:xfrm>
            <a:off x="9052560" y="2880360"/>
            <a:ext cx="2697480" cy="731520"/>
          </a:xfrm>
          <a:prstGeom prst="rect">
            <a:avLst/>
          </a:prstGeom>
          <a:noFill/>
          <a:ln/>
        </p:spPr>
        <p:txBody>
          <a:bodyPr wrap="square" lIns="0" tIns="0" rIns="0" bIns="0" rtlCol="0" anchor="ctr"/>
          <a:lstStyle/>
          <a:p>
            <a:pPr indent="0" marL="0">
              <a:buNone/>
            </a:pPr>
            <a:r>
              <a:rPr lang="en-US" sz="1400" dirty="0">
                <a:solidFill>
                  <a:srgbClr val="1B2A33"/>
                </a:solidFill>
              </a:rPr>
              <a:t>Cuadro de instrumentos e indicadores</a:t>
            </a:r>
            <a:endParaRPr lang="en-US" sz="1400" dirty="0"/>
          </a:p>
        </p:txBody>
      </p:sp>
      <p:sp>
        <p:nvSpPr>
          <p:cNvPr id="49" name="Shape 46"/>
          <p:cNvSpPr/>
          <p:nvPr/>
        </p:nvSpPr>
        <p:spPr>
          <a:xfrm>
            <a:off x="8092440" y="3813048"/>
            <a:ext cx="868680" cy="502920"/>
          </a:xfrm>
          <a:prstGeom prst="roundRect">
            <a:avLst>
              <a:gd name="adj" fmla="val 49091"/>
            </a:avLst>
          </a:prstGeom>
          <a:solidFill>
            <a:srgbClr val="00575A"/>
          </a:solidFill>
          <a:ln w="12700">
            <a:solidFill>
              <a:srgbClr val="00575A"/>
            </a:solidFill>
            <a:prstDash val="solid"/>
          </a:ln>
        </p:spPr>
      </p:sp>
      <p:sp>
        <p:nvSpPr>
          <p:cNvPr id="50" name="Text 47"/>
          <p:cNvSpPr txBox="1"/>
          <p:nvPr/>
        </p:nvSpPr>
        <p:spPr>
          <a:xfrm>
            <a:off x="8092440" y="3813048"/>
            <a:ext cx="868680" cy="502920"/>
          </a:xfrm>
          <a:prstGeom prst="rect">
            <a:avLst/>
          </a:prstGeom>
          <a:noFill/>
          <a:ln/>
        </p:spPr>
        <p:txBody>
          <a:bodyPr wrap="square" lIns="0" tIns="0" rIns="0" bIns="0" rtlCol="0" anchor="ctr"/>
          <a:lstStyle/>
          <a:p>
            <a:pPr algn="ctr" indent="0" marL="0">
              <a:buNone/>
            </a:pPr>
            <a:r>
              <a:rPr lang="en-US" sz="1400" b="1" dirty="0">
                <a:solidFill>
                  <a:srgbClr val="FFFFFF"/>
                </a:solidFill>
              </a:rPr>
              <a:t>4.16</a:t>
            </a:r>
            <a:endParaRPr lang="en-US" sz="1400" dirty="0"/>
          </a:p>
        </p:txBody>
      </p:sp>
      <p:sp>
        <p:nvSpPr>
          <p:cNvPr id="51" name="Text 48"/>
          <p:cNvSpPr txBox="1"/>
          <p:nvPr/>
        </p:nvSpPr>
        <p:spPr>
          <a:xfrm>
            <a:off x="9052560" y="3703320"/>
            <a:ext cx="2697480" cy="731520"/>
          </a:xfrm>
          <a:prstGeom prst="rect">
            <a:avLst/>
          </a:prstGeom>
          <a:noFill/>
          <a:ln/>
        </p:spPr>
        <p:txBody>
          <a:bodyPr wrap="square" lIns="0" tIns="0" rIns="0" bIns="0" rtlCol="0" anchor="ctr"/>
          <a:lstStyle/>
          <a:p>
            <a:pPr indent="0" marL="0">
              <a:buNone/>
            </a:pPr>
            <a:r>
              <a:rPr lang="en-US" sz="1400" dirty="0">
                <a:solidFill>
                  <a:srgbClr val="1B2A33"/>
                </a:solidFill>
              </a:rPr>
              <a:t>Otros mecanismos eléctricos</a:t>
            </a:r>
            <a:endParaRPr lang="en-US" sz="1400" dirty="0"/>
          </a:p>
        </p:txBody>
      </p:sp>
      <p:sp>
        <p:nvSpPr>
          <p:cNvPr id="52" name="Shape 49"/>
          <p:cNvSpPr/>
          <p:nvPr/>
        </p:nvSpPr>
        <p:spPr>
          <a:xfrm>
            <a:off x="8092440" y="4636008"/>
            <a:ext cx="868680" cy="502920"/>
          </a:xfrm>
          <a:prstGeom prst="roundRect">
            <a:avLst>
              <a:gd name="adj" fmla="val 49091"/>
            </a:avLst>
          </a:prstGeom>
          <a:solidFill>
            <a:srgbClr val="00575A"/>
          </a:solidFill>
          <a:ln w="12700">
            <a:solidFill>
              <a:srgbClr val="00575A"/>
            </a:solidFill>
            <a:prstDash val="solid"/>
          </a:ln>
        </p:spPr>
      </p:sp>
      <p:sp>
        <p:nvSpPr>
          <p:cNvPr id="53" name="Text 50"/>
          <p:cNvSpPr txBox="1"/>
          <p:nvPr/>
        </p:nvSpPr>
        <p:spPr>
          <a:xfrm>
            <a:off x="8092440" y="4636008"/>
            <a:ext cx="868680" cy="502920"/>
          </a:xfrm>
          <a:prstGeom prst="rect">
            <a:avLst/>
          </a:prstGeom>
          <a:noFill/>
          <a:ln/>
        </p:spPr>
        <p:txBody>
          <a:bodyPr wrap="square" lIns="0" tIns="0" rIns="0" bIns="0" rtlCol="0" anchor="ctr"/>
          <a:lstStyle/>
          <a:p>
            <a:pPr algn="ctr" indent="0" marL="0">
              <a:buNone/>
            </a:pPr>
            <a:r>
              <a:rPr lang="en-US" sz="1400" b="1" dirty="0">
                <a:solidFill>
                  <a:srgbClr val="FFFFFF"/>
                </a:solidFill>
              </a:rPr>
              <a:t>4.17</a:t>
            </a:r>
            <a:endParaRPr lang="en-US" sz="1400" dirty="0"/>
          </a:p>
        </p:txBody>
      </p:sp>
      <p:sp>
        <p:nvSpPr>
          <p:cNvPr id="54" name="Text 51"/>
          <p:cNvSpPr txBox="1"/>
          <p:nvPr/>
        </p:nvSpPr>
        <p:spPr>
          <a:xfrm>
            <a:off x="9052560" y="4526280"/>
            <a:ext cx="2697480" cy="731520"/>
          </a:xfrm>
          <a:prstGeom prst="rect">
            <a:avLst/>
          </a:prstGeom>
          <a:noFill/>
          <a:ln/>
        </p:spPr>
        <p:txBody>
          <a:bodyPr wrap="square" lIns="0" tIns="0" rIns="0" bIns="0" rtlCol="0" anchor="ctr"/>
          <a:lstStyle/>
          <a:p>
            <a:pPr indent="0" marL="0">
              <a:buNone/>
            </a:pPr>
            <a:r>
              <a:rPr lang="en-US" sz="1400" dirty="0">
                <a:solidFill>
                  <a:srgbClr val="1B2A33"/>
                </a:solidFill>
              </a:rPr>
              <a:t>Alarma de seguridad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¿Qué lograrás en esta unidad?</a:t>
            </a:r>
            <a:endParaRPr lang="en-US" sz="2800" dirty="0"/>
          </a:p>
        </p:txBody>
      </p:sp>
      <p:sp>
        <p:nvSpPr>
          <p:cNvPr id="4" name="Tarjeta Saber"/>
          <p:cNvSpPr/>
          <p:nvPr/>
        </p:nvSpPr>
        <p:spPr>
          <a:xfrm>
            <a:off x="502920" y="1280160"/>
            <a:ext cx="3611880" cy="4754880"/>
          </a:xfrm>
          <a:prstGeom prst="roundRect">
            <a:avLst>
              <a:gd name="adj" fmla="val 2025"/>
            </a:avLst>
          </a:prstGeom>
          <a:solidFill>
            <a:srgbClr val="E4F1F1"/>
          </a:solidFill>
          <a:ln w="12700">
            <a:solidFill>
              <a:srgbClr val="E4F1F1"/>
            </a:solidFill>
            <a:prstDash val="solid"/>
          </a:ln>
        </p:spPr>
      </p:sp>
      <p:sp>
        <p:nvSpPr>
          <p:cNvPr id="5" name="Text 2"/>
          <p:cNvSpPr txBox="1"/>
          <p:nvPr/>
        </p:nvSpPr>
        <p:spPr>
          <a:xfrm>
            <a:off x="667512" y="1389888"/>
            <a:ext cx="3282696" cy="411480"/>
          </a:xfrm>
          <a:prstGeom prst="rect">
            <a:avLst/>
          </a:prstGeom>
          <a:noFill/>
          <a:ln/>
        </p:spPr>
        <p:txBody>
          <a:bodyPr wrap="square" lIns="0" tIns="0" rIns="0" bIns="0" rtlCol="0" anchor="t"/>
          <a:lstStyle/>
          <a:p>
            <a:pPr indent="0" marL="0">
              <a:buNone/>
            </a:pPr>
            <a:r>
              <a:rPr lang="en-US" sz="1600" b="1" dirty="0">
                <a:solidFill>
                  <a:schemeClr val="accent1"/>
                </a:solidFill>
              </a:rPr>
              <a:t>Saber</a:t>
            </a:r>
            <a:endParaRPr lang="en-US" sz="1600" dirty="0"/>
          </a:p>
        </p:txBody>
      </p:sp>
      <p:sp>
        <p:nvSpPr>
          <p:cNvPr id="6" name="Text 3"/>
          <p:cNvSpPr txBox="1"/>
          <p:nvPr/>
        </p:nvSpPr>
        <p:spPr>
          <a:xfrm>
            <a:off x="667512" y="1828800"/>
            <a:ext cx="3282696" cy="41148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Constitución y funcionamiento de los circuitos de alumbrado, señalización, maniobra, confort e información.</a:t>
            </a:r>
            <a:endParaRPr lang="en-US" sz="1500" dirty="0"/>
          </a:p>
          <a:p>
            <a:pPr marL="203200" indent="-203200">
              <a:spcAft>
                <a:spcPts val="600"/>
              </a:spcAft>
              <a:buSzPct val="100000"/>
              <a:buChar char="•"/>
            </a:pPr>
            <a:r>
              <a:rPr lang="en-US" sz="1500" dirty="0">
                <a:solidFill>
                  <a:schemeClr val="tx1"/>
                </a:solidFill>
              </a:rPr>
              <a:t>Exigencias de la NTE INEN 1155 y del Reglamento CEPE n.º 48.</a:t>
            </a:r>
            <a:endParaRPr lang="en-US" sz="1500" dirty="0"/>
          </a:p>
          <a:p>
            <a:pPr marL="203200" indent="-203200">
              <a:spcAft>
                <a:spcPts val="600"/>
              </a:spcAft>
              <a:buSzPct val="100000"/>
              <a:buChar char="•"/>
            </a:pPr>
            <a:r>
              <a:rPr lang="en-US" sz="1500" dirty="0">
                <a:solidFill>
                  <a:schemeClr val="tx1"/>
                </a:solidFill>
              </a:rPr>
              <a:t>Bornes DIN 72552 de los circuitos auxiliares.</a:t>
            </a:r>
            <a:endParaRPr lang="en-US" sz="1500" dirty="0"/>
          </a:p>
        </p:txBody>
      </p:sp>
      <p:sp>
        <p:nvSpPr>
          <p:cNvPr id="7" name="Tarjeta Saber hacer"/>
          <p:cNvSpPr/>
          <p:nvPr/>
        </p:nvSpPr>
        <p:spPr>
          <a:xfrm>
            <a:off x="4297680" y="1280160"/>
            <a:ext cx="3611880" cy="4754880"/>
          </a:xfrm>
          <a:prstGeom prst="roundRect">
            <a:avLst>
              <a:gd name="adj" fmla="val 2025"/>
            </a:avLst>
          </a:prstGeom>
          <a:solidFill>
            <a:srgbClr val="FDF1D8"/>
          </a:solidFill>
          <a:ln w="12700">
            <a:solidFill>
              <a:srgbClr val="FDF1D8"/>
            </a:solidFill>
            <a:prstDash val="solid"/>
          </a:ln>
        </p:spPr>
      </p:sp>
      <p:sp>
        <p:nvSpPr>
          <p:cNvPr id="8" name="Text 5"/>
          <p:cNvSpPr txBox="1"/>
          <p:nvPr/>
        </p:nvSpPr>
        <p:spPr>
          <a:xfrm>
            <a:off x="4462272" y="1389888"/>
            <a:ext cx="3282696" cy="411480"/>
          </a:xfrm>
          <a:prstGeom prst="rect">
            <a:avLst/>
          </a:prstGeom>
          <a:noFill/>
          <a:ln/>
        </p:spPr>
        <p:txBody>
          <a:bodyPr wrap="square" lIns="0" tIns="0" rIns="0" bIns="0" rtlCol="0" anchor="t"/>
          <a:lstStyle/>
          <a:p>
            <a:pPr indent="0" marL="0">
              <a:buNone/>
            </a:pPr>
            <a:r>
              <a:rPr lang="en-US" sz="1600" b="1" dirty="0">
                <a:solidFill>
                  <a:schemeClr val="tx1"/>
                </a:solidFill>
              </a:rPr>
              <a:t>Saber hacer</a:t>
            </a:r>
            <a:endParaRPr lang="en-US" sz="1600" dirty="0"/>
          </a:p>
        </p:txBody>
      </p:sp>
      <p:sp>
        <p:nvSpPr>
          <p:cNvPr id="9" name="Text 6"/>
          <p:cNvSpPr txBox="1"/>
          <p:nvPr/>
        </p:nvSpPr>
        <p:spPr>
          <a:xfrm>
            <a:off x="4462272" y="1828800"/>
            <a:ext cx="3282696" cy="41148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Interpretar y dibujar esquemas con relés, centralitas y mandos.</a:t>
            </a:r>
            <a:endParaRPr lang="en-US" sz="1500" dirty="0"/>
          </a:p>
          <a:p>
            <a:pPr marL="203200" indent="-203200">
              <a:spcAft>
                <a:spcPts val="600"/>
              </a:spcAft>
              <a:buSzPct val="100000"/>
              <a:buChar char="•"/>
            </a:pPr>
            <a:r>
              <a:rPr lang="en-US" sz="1500" dirty="0">
                <a:solidFill>
                  <a:schemeClr val="tx1"/>
                </a:solidFill>
              </a:rPr>
              <a:t>Calcular consumo, sección de cable y fusible.</a:t>
            </a:r>
            <a:endParaRPr lang="en-US" sz="1500" dirty="0"/>
          </a:p>
          <a:p>
            <a:pPr marL="203200" indent="-203200">
              <a:spcAft>
                <a:spcPts val="600"/>
              </a:spcAft>
              <a:buSzPct val="100000"/>
              <a:buChar char="•"/>
            </a:pPr>
            <a:r>
              <a:rPr lang="en-US" sz="1500" dirty="0">
                <a:solidFill>
                  <a:schemeClr val="tx1"/>
                </a:solidFill>
              </a:rPr>
              <a:t>Regular faros con y sin regloscopio y diagnosticar averías.</a:t>
            </a:r>
            <a:endParaRPr lang="en-US" sz="1500" dirty="0"/>
          </a:p>
        </p:txBody>
      </p:sp>
      <p:sp>
        <p:nvSpPr>
          <p:cNvPr id="10" name="Tarjeta Ser"/>
          <p:cNvSpPr/>
          <p:nvPr/>
        </p:nvSpPr>
        <p:spPr>
          <a:xfrm>
            <a:off x="8092440" y="1280160"/>
            <a:ext cx="3611880" cy="4754880"/>
          </a:xfrm>
          <a:prstGeom prst="roundRect">
            <a:avLst>
              <a:gd name="adj" fmla="val 2025"/>
            </a:avLst>
          </a:prstGeom>
          <a:solidFill>
            <a:srgbClr val="E4F1F1"/>
          </a:solidFill>
          <a:ln w="12700">
            <a:solidFill>
              <a:srgbClr val="E4F1F1"/>
            </a:solidFill>
            <a:prstDash val="solid"/>
          </a:ln>
        </p:spPr>
      </p:sp>
      <p:sp>
        <p:nvSpPr>
          <p:cNvPr id="11" name="Text 8"/>
          <p:cNvSpPr txBox="1"/>
          <p:nvPr/>
        </p:nvSpPr>
        <p:spPr>
          <a:xfrm>
            <a:off x="8257032" y="1389888"/>
            <a:ext cx="3282696" cy="411480"/>
          </a:xfrm>
          <a:prstGeom prst="rect">
            <a:avLst/>
          </a:prstGeom>
          <a:noFill/>
          <a:ln/>
        </p:spPr>
        <p:txBody>
          <a:bodyPr wrap="square" lIns="0" tIns="0" rIns="0" bIns="0" rtlCol="0" anchor="t"/>
          <a:lstStyle/>
          <a:p>
            <a:pPr indent="0" marL="0">
              <a:buNone/>
            </a:pPr>
            <a:r>
              <a:rPr lang="en-US" sz="1600" b="1" dirty="0">
                <a:solidFill>
                  <a:schemeClr val="accent1"/>
                </a:solidFill>
              </a:rPr>
              <a:t>Ser</a:t>
            </a:r>
            <a:endParaRPr lang="en-US" sz="1600" dirty="0"/>
          </a:p>
        </p:txBody>
      </p:sp>
      <p:sp>
        <p:nvSpPr>
          <p:cNvPr id="12" name="Text 9"/>
          <p:cNvSpPr txBox="1"/>
          <p:nvPr/>
        </p:nvSpPr>
        <p:spPr>
          <a:xfrm>
            <a:off x="8257032" y="1828800"/>
            <a:ext cx="3282696" cy="41148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Trabajo seguro: batería desconectada, lámparas sin tocar con los dedos, xenón con precaución.</a:t>
            </a:r>
            <a:endParaRPr lang="en-US" sz="1500" dirty="0"/>
          </a:p>
          <a:p>
            <a:pPr marL="203200" indent="-203200">
              <a:spcAft>
                <a:spcPts val="600"/>
              </a:spcAft>
              <a:buSzPct val="100000"/>
              <a:buChar char="•"/>
            </a:pPr>
            <a:r>
              <a:rPr lang="en-US" sz="1500" dirty="0">
                <a:solidFill>
                  <a:schemeClr val="tx1"/>
                </a:solidFill>
              </a:rPr>
              <a:t>Confidencialidad técnica y orden en el taller.</a:t>
            </a:r>
            <a:endParaRPr lang="en-US" sz="1500" dirty="0"/>
          </a:p>
          <a:p>
            <a:pPr marL="203200" indent="-203200">
              <a:spcAft>
                <a:spcPts val="600"/>
              </a:spcAft>
              <a:buSzPct val="100000"/>
              <a:buChar char="•"/>
            </a:pPr>
            <a:r>
              <a:rPr lang="en-US" sz="1500" dirty="0">
                <a:solidFill>
                  <a:schemeClr val="tx1"/>
                </a:solidFill>
              </a:rPr>
              <a:t>Trabajo colaborativo en las prácticas 14 a 20.</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731520" y="1463040"/>
            <a:ext cx="4114800" cy="1463040"/>
          </a:xfrm>
          <a:prstGeom prst="rect">
            <a:avLst/>
          </a:prstGeom>
          <a:noFill/>
          <a:ln/>
        </p:spPr>
        <p:txBody>
          <a:bodyPr wrap="square" rtlCol="0" anchor="b"/>
          <a:lstStyle/>
          <a:p>
            <a:pPr algn="l" indent="0" marL="0">
              <a:buNone/>
            </a:pPr>
            <a:r>
              <a:rPr lang="en-US" sz="8000" b="1" dirty="0">
                <a:solidFill>
                  <a:schemeClr val="accent2"/>
                </a:solidFill>
              </a:rPr>
              <a:t>4.1</a:t>
            </a:r>
            <a:endParaRPr lang="en-US" sz="8000" dirty="0"/>
          </a:p>
        </p:txBody>
      </p:sp>
      <p:sp>
        <p:nvSpPr>
          <p:cNvPr id="3" name="Text 1"/>
          <p:cNvSpPr/>
          <p:nvPr>
            <p:ph idx="103" type="title" hasCustomPrompt="1"/>
          </p:nvPr>
        </p:nvSpPr>
        <p:spPr>
          <a:xfrm>
            <a:off x="731520" y="2971800"/>
            <a:ext cx="10515600" cy="1371600"/>
          </a:xfrm>
          <a:prstGeom prst="rect">
            <a:avLst/>
          </a:prstGeom>
          <a:noFill/>
          <a:ln/>
        </p:spPr>
        <p:txBody>
          <a:bodyPr wrap="square" rtlCol="0" anchor="t"/>
          <a:lstStyle/>
          <a:p>
            <a:pPr algn="l" indent="0" marL="0">
              <a:buNone/>
            </a:pPr>
            <a:r>
              <a:rPr lang="en-US" sz="4000" b="1" dirty="0">
                <a:solidFill>
                  <a:schemeClr val="bg1"/>
                </a:solidFill>
              </a:rPr>
              <a:t>Introducción</a:t>
            </a:r>
            <a:endParaRPr lang="en-US" sz="4000" dirty="0"/>
          </a:p>
        </p:txBody>
      </p:sp>
      <p:sp>
        <p:nvSpPr>
          <p:cNvPr id="4" name="Text 1"/>
          <p:cNvSpPr/>
          <p:nvPr>
            <p:ph idx="104" type="body" hasCustomPrompt="1"/>
          </p:nvPr>
        </p:nvSpPr>
        <p:spPr>
          <a:xfrm>
            <a:off x="731520" y="4434840"/>
            <a:ext cx="10058400" cy="1463040"/>
          </a:xfrm>
          <a:prstGeom prst="rect">
            <a:avLst/>
          </a:prstGeom>
          <a:noFill/>
          <a:ln/>
        </p:spPr>
        <p:txBody>
          <a:bodyPr wrap="square" rtlCol="0" anchor="t"/>
          <a:lstStyle/>
          <a:p>
            <a:pPr algn="l" indent="0" marL="0">
              <a:buNone/>
            </a:pPr>
            <a:r>
              <a:rPr lang="en-US" sz="1800" dirty="0">
                <a:solidFill>
                  <a:schemeClr val="bg2"/>
                </a:solidFill>
              </a:rPr>
              <a:t>Funciones del alumbrado, normativa, simbología, bornes, lámparas y faros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Ver y ser visto: clasificación de las luces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201400" cy="914400"/>
        </p:xfrm>
        <a:graphic>
          <a:graphicData uri="http://schemas.openxmlformats.org/drawingml/2006/table">
            <a:tbl>
              <a:tblPr/>
              <a:tblGrid>
                <a:gridCol w="2377440"/>
                <a:gridCol w="4937760"/>
                <a:gridCol w="3886200"/>
              </a:tblGrid>
              <a:tr h="566928">
                <a:tc>
                  <a:txBody>
                    <a:bodyPr/>
                    <a:lstStyle/>
                    <a:p>
                      <a:pPr indent="0" marL="0">
                        <a:buNone/>
                      </a:pPr>
                      <a:r>
                        <a:rPr lang="en-US" sz="1400" b="1" dirty="0">
                          <a:solidFill>
                            <a:srgbClr val="FFFFFF"/>
                          </a:solidFill>
                        </a:rPr>
                        <a:t>Grupo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400" b="1" dirty="0">
                          <a:solidFill>
                            <a:srgbClr val="FFFFFF"/>
                          </a:solidFill>
                        </a:rPr>
                        <a:t>Luces</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400" b="1" dirty="0">
                          <a:solidFill>
                            <a:srgbClr val="FFFFFF"/>
                          </a:solidFill>
                        </a:rPr>
                        <a:t>Función principal</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r>
              <a:tr h="566928">
                <a:tc>
                  <a:txBody>
                    <a:bodyPr/>
                    <a:lstStyle/>
                    <a:p>
                      <a:pPr indent="0" marL="0">
                        <a:buNone/>
                      </a:pPr>
                      <a:r>
                        <a:rPr lang="en-US" sz="1400" b="1" dirty="0">
                          <a:solidFill>
                            <a:srgbClr val="1B2A33"/>
                          </a:solidFill>
                        </a:rPr>
                        <a:t>Alumbrado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Cruce, carretera, antiniebla delantera, marcha atrás</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Iluminar la calzada para que el conductor vea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66928">
                <a:tc>
                  <a:txBody>
                    <a:bodyPr/>
                    <a:lstStyle/>
                    <a:p>
                      <a:pPr indent="0" marL="0">
                        <a:buNone/>
                      </a:pPr>
                      <a:r>
                        <a:rPr lang="en-US" sz="1400" b="1" dirty="0">
                          <a:solidFill>
                            <a:srgbClr val="1B2A33"/>
                          </a:solidFill>
                        </a:rPr>
                        <a:t>Señalización (ser visto)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Posición, estacionamiento, matrícula, gálibo, antiniebla trasera, conducción diurna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Indicar presencia y dimensiones del vehículo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B2A33"/>
                          </a:solidFill>
                        </a:rPr>
                        <a:t>Maniobra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Intermitentes, emergencia, freno, tercera luz de freno, marcha atrás</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Avisar de una intención o situación de peligro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66928">
                <a:tc>
                  <a:txBody>
                    <a:bodyPr/>
                    <a:lstStyle/>
                    <a:p>
                      <a:pPr indent="0" marL="0">
                        <a:buNone/>
                      </a:pPr>
                      <a:r>
                        <a:rPr lang="en-US" sz="1400" b="1" dirty="0">
                          <a:solidFill>
                            <a:srgbClr val="1B2A33"/>
                          </a:solidFill>
                        </a:rPr>
                        <a:t>Interior y de control</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Plafones, cortesía, guantera, iluminación del cuadro, testigos</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Confort e información al conductor</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bl>
          </a:graphicData>
        </a:graphic>
      </p:graphicFrame>
      <p:sp>
        <p:nvSpPr>
          <p:cNvPr id="5" name="Tarjeta Idea clave"/>
          <p:cNvSpPr/>
          <p:nvPr/>
        </p:nvSpPr>
        <p:spPr>
          <a:xfrm>
            <a:off x="502920" y="4572000"/>
            <a:ext cx="11201400" cy="1737360"/>
          </a:xfrm>
          <a:prstGeom prst="roundRect">
            <a:avLst>
              <a:gd name="adj" fmla="val 4211"/>
            </a:avLst>
          </a:prstGeom>
          <a:solidFill>
            <a:srgbClr val="E4F1F1"/>
          </a:solidFill>
          <a:ln w="12700">
            <a:solidFill>
              <a:srgbClr val="E4F1F1"/>
            </a:solidFill>
            <a:prstDash val="solid"/>
          </a:ln>
        </p:spPr>
      </p:sp>
      <p:sp>
        <p:nvSpPr>
          <p:cNvPr id="6" name="Text 2"/>
          <p:cNvSpPr txBox="1"/>
          <p:nvPr/>
        </p:nvSpPr>
        <p:spPr>
          <a:xfrm>
            <a:off x="667512" y="4681728"/>
            <a:ext cx="10872216" cy="411480"/>
          </a:xfrm>
          <a:prstGeom prst="rect">
            <a:avLst/>
          </a:prstGeom>
          <a:noFill/>
          <a:ln/>
        </p:spPr>
        <p:txBody>
          <a:bodyPr wrap="square" lIns="0" tIns="0" rIns="0" bIns="0" rtlCol="0" anchor="t"/>
          <a:lstStyle/>
          <a:p>
            <a:pPr indent="0" marL="0">
              <a:buNone/>
            </a:pPr>
            <a:r>
              <a:rPr lang="en-US" sz="1700" b="1" dirty="0">
                <a:solidFill>
                  <a:schemeClr val="accent1"/>
                </a:solidFill>
              </a:rPr>
              <a:t>Idea clave</a:t>
            </a:r>
            <a:endParaRPr lang="en-US" sz="1700" dirty="0"/>
          </a:p>
        </p:txBody>
      </p:sp>
      <p:sp>
        <p:nvSpPr>
          <p:cNvPr id="7" name="Text 3"/>
          <p:cNvSpPr txBox="1"/>
          <p:nvPr/>
        </p:nvSpPr>
        <p:spPr>
          <a:xfrm>
            <a:off x="667512" y="5120640"/>
            <a:ext cx="10872216" cy="10972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Cada circuito se estudia siempre igual: misión → exigencias de la norma (número, color, posición) → componentes → esquema → comprobación.</a:t>
            </a:r>
            <a:endParaRPr lang="en-US" sz="1600" dirty="0"/>
          </a:p>
          <a:p>
            <a:pPr indent="0" marL="0">
              <a:spcAft>
                <a:spcPts val="600"/>
              </a:spcAft>
              <a:buNone/>
            </a:pPr>
            <a:r>
              <a:rPr lang="en-US" sz="1600" dirty="0">
                <a:solidFill>
                  <a:schemeClr val="tx1"/>
                </a:solidFill>
              </a:rPr>
              <a:t>La Ley de tránsito de cada país remite a una norma técnica: en Ecuador, la NTE INEN 1155:2009; en Europa, el Reglamento CEPE n.º 48.</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Normativa: NTE INEN 1155:2009</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8138160" cy="914400"/>
        </p:xfrm>
        <a:graphic>
          <a:graphicData uri="http://schemas.openxmlformats.org/drawingml/2006/table">
            <a:tbl>
              <a:tblPr/>
              <a:tblGrid>
                <a:gridCol w="2103120"/>
                <a:gridCol w="1737360"/>
                <a:gridCol w="2651760"/>
                <a:gridCol w="1645920"/>
              </a:tblGrid>
              <a:tr h="621792">
                <a:tc>
                  <a:txBody>
                    <a:bodyPr/>
                    <a:lstStyle/>
                    <a:p>
                      <a:pPr indent="0" marL="0">
                        <a:buNone/>
                      </a:pPr>
                      <a:r>
                        <a:rPr lang="en-US" sz="1200" b="1" dirty="0">
                          <a:solidFill>
                            <a:srgbClr val="FFFFFF"/>
                          </a:solidFill>
                        </a:rPr>
                        <a:t>Luz</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200" b="1" dirty="0">
                          <a:solidFill>
                            <a:srgbClr val="FFFFFF"/>
                          </a:solidFill>
                        </a:rPr>
                        <a:t>Cantidad mínima</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200" b="1" dirty="0">
                          <a:solidFill>
                            <a:srgbClr val="FFFFFF"/>
                          </a:solidFill>
                        </a:rPr>
                        <a:t>Ubicación</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200" b="1" dirty="0">
                          <a:solidFill>
                            <a:srgbClr val="FFFFFF"/>
                          </a:solidFill>
                        </a:rPr>
                        <a:t>Color</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r>
              <a:tr h="621792">
                <a:tc>
                  <a:txBody>
                    <a:bodyPr/>
                    <a:lstStyle/>
                    <a:p>
                      <a:pPr indent="0" marL="0">
                        <a:buNone/>
                      </a:pPr>
                      <a:r>
                        <a:rPr lang="en-US" sz="1200" dirty="0">
                          <a:solidFill>
                            <a:srgbClr val="1B2A33"/>
                          </a:solidFill>
                        </a:rPr>
                        <a:t>Posición delantera / trasera</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200" dirty="0">
                          <a:solidFill>
                            <a:srgbClr val="1B2A33"/>
                          </a:solidFill>
                        </a:rPr>
                        <a:t>1 por lado</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200" dirty="0">
                          <a:solidFill>
                            <a:srgbClr val="1B2A33"/>
                          </a:solidFill>
                        </a:rPr>
                        <a:t>≤ 400 mm del extremo; 350–1 500 mm de altura</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200" dirty="0">
                          <a:solidFill>
                            <a:srgbClr val="1B2A33"/>
                          </a:solidFill>
                        </a:rPr>
                        <a:t>Blanco o ámbar / rojo</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621792">
                <a:tc>
                  <a:txBody>
                    <a:bodyPr/>
                    <a:lstStyle/>
                    <a:p>
                      <a:pPr indent="0" marL="0">
                        <a:buNone/>
                      </a:pPr>
                      <a:r>
                        <a:rPr lang="en-US" sz="1200" dirty="0">
                          <a:solidFill>
                            <a:srgbClr val="1B2A33"/>
                          </a:solidFill>
                        </a:rPr>
                        <a:t>Direccionales y emergencia</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200" dirty="0">
                          <a:solidFill>
                            <a:srgbClr val="1B2A33"/>
                          </a:solidFill>
                        </a:rPr>
                        <a:t>1 por lado</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200" dirty="0">
                          <a:solidFill>
                            <a:srgbClr val="1B2A33"/>
                          </a:solidFill>
                        </a:rPr>
                        <a:t>≤ 400 mm del extremo; 350–1 500 mm</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200" dirty="0">
                          <a:solidFill>
                            <a:srgbClr val="1B2A33"/>
                          </a:solidFill>
                        </a:rPr>
                        <a:t>Ámbar (atrás ámbar o rojo)</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621792">
                <a:tc>
                  <a:txBody>
                    <a:bodyPr/>
                    <a:lstStyle/>
                    <a:p>
                      <a:pPr indent="0" marL="0">
                        <a:buNone/>
                      </a:pPr>
                      <a:r>
                        <a:rPr lang="en-US" sz="1200" dirty="0">
                          <a:solidFill>
                            <a:srgbClr val="1B2A33"/>
                          </a:solidFill>
                        </a:rPr>
                        <a:t>Freno</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200" dirty="0">
                          <a:solidFill>
                            <a:srgbClr val="1B2A33"/>
                          </a:solidFill>
                        </a:rPr>
                        <a:t>1 por lado + central</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200" dirty="0">
                          <a:solidFill>
                            <a:srgbClr val="1B2A33"/>
                          </a:solidFill>
                        </a:rPr>
                        <a:t>350–1 500 mm; central en la parte posterior</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200" dirty="0">
                          <a:solidFill>
                            <a:srgbClr val="1B2A33"/>
                          </a:solidFill>
                        </a:rPr>
                        <a:t>Rojo</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621792">
                <a:tc>
                  <a:txBody>
                    <a:bodyPr/>
                    <a:lstStyle/>
                    <a:p>
                      <a:pPr indent="0" marL="0">
                        <a:buNone/>
                      </a:pPr>
                      <a:r>
                        <a:rPr lang="en-US" sz="1200" dirty="0">
                          <a:solidFill>
                            <a:srgbClr val="1B2A33"/>
                          </a:solidFill>
                        </a:rPr>
                        <a:t>Reversa</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200" dirty="0">
                          <a:solidFill>
                            <a:srgbClr val="1B2A33"/>
                          </a:solidFill>
                        </a:rPr>
                        <a:t>1 (2 si L &gt; 6 m)</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200" dirty="0">
                          <a:solidFill>
                            <a:srgbClr val="1B2A33"/>
                          </a:solidFill>
                        </a:rPr>
                        <a:t>Altura máxima 1 200 mm</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200" dirty="0">
                          <a:solidFill>
                            <a:srgbClr val="1B2A33"/>
                          </a:solidFill>
                        </a:rPr>
                        <a:t>Blanco</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621792">
                <a:tc>
                  <a:txBody>
                    <a:bodyPr/>
                    <a:lstStyle/>
                    <a:p>
                      <a:pPr indent="0" marL="0">
                        <a:buNone/>
                      </a:pPr>
                      <a:r>
                        <a:rPr lang="en-US" sz="1200" dirty="0">
                          <a:solidFill>
                            <a:srgbClr val="1B2A33"/>
                          </a:solidFill>
                        </a:rPr>
                        <a:t>Placa (matrícula)</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200" dirty="0">
                          <a:solidFill>
                            <a:srgbClr val="1B2A33"/>
                          </a:solidFill>
                        </a:rPr>
                        <a:t>1</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200" dirty="0">
                          <a:solidFill>
                            <a:srgbClr val="1B2A33"/>
                          </a:solidFill>
                        </a:rPr>
                        <a:t>La necesaria para iluminar la placa</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200" dirty="0">
                          <a:solidFill>
                            <a:srgbClr val="1B2A33"/>
                          </a:solidFill>
                        </a:rPr>
                        <a:t>Blanco</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621792">
                <a:tc>
                  <a:txBody>
                    <a:bodyPr/>
                    <a:lstStyle/>
                    <a:p>
                      <a:pPr indent="0" marL="0">
                        <a:buNone/>
                      </a:pPr>
                      <a:r>
                        <a:rPr lang="en-US" sz="1200" dirty="0">
                          <a:solidFill>
                            <a:srgbClr val="1B2A33"/>
                          </a:solidFill>
                        </a:rPr>
                        <a:t>Antiniebla (opcional)</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200" dirty="0">
                          <a:solidFill>
                            <a:srgbClr val="1B2A33"/>
                          </a:solidFill>
                        </a:rPr>
                        <a:t>Máx. 2 delanteras; 1–2 traseras</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200" dirty="0">
                          <a:solidFill>
                            <a:srgbClr val="1B2A33"/>
                          </a:solidFill>
                        </a:rPr>
                        <a:t>Del. ≥ 250 mm y no más alta que los faros; tras. 250–1 000 mm</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200" dirty="0">
                          <a:solidFill>
                            <a:srgbClr val="1B2A33"/>
                          </a:solidFill>
                        </a:rPr>
                        <a:t>Blanco o amarillo selectivo / rojo</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bl>
          </a:graphicData>
        </a:graphic>
      </p:graphicFrame>
      <p:pic>
        <p:nvPicPr>
          <p:cNvPr id="5" name="Figura inen_portada.png" descr="inen_portada.png">    </p:cNvPr>
          <p:cNvPicPr>
            <a:picLocks noChangeAspect="1"/>
          </p:cNvPicPr>
          <p:nvPr/>
        </p:nvPicPr>
        <p:blipFill>
          <a:blip r:embed="rId1"/>
          <a:stretch>
            <a:fillRect/>
          </a:stretch>
        </p:blipFill>
        <p:spPr>
          <a:xfrm>
            <a:off x="8869680" y="1736090"/>
            <a:ext cx="2834640" cy="1739900"/>
          </a:xfrm>
          <a:prstGeom prst="rect">
            <a:avLst/>
          </a:prstGeom>
        </p:spPr>
      </p:pic>
      <p:sp>
        <p:nvSpPr>
          <p:cNvPr id="6" name="Text 1"/>
          <p:cNvSpPr txBox="1"/>
          <p:nvPr/>
        </p:nvSpPr>
        <p:spPr>
          <a:xfrm>
            <a:off x="8869680" y="3530854"/>
            <a:ext cx="28346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INEN (2009).</a:t>
            </a:r>
            <a:endParaRPr lang="en-US" sz="1000" dirty="0"/>
          </a:p>
        </p:txBody>
      </p:sp>
      <p:sp>
        <p:nvSpPr>
          <p:cNvPr id="7" name="Ecuación"/>
          <p:cNvSpPr/>
          <p:nvPr/>
        </p:nvSpPr>
        <p:spPr>
          <a:xfrm>
            <a:off x="8869680" y="4846320"/>
            <a:ext cx="2834640" cy="822960"/>
          </a:xfrm>
          <a:prstGeom prst="roundRect">
            <a:avLst>
              <a:gd name="adj" fmla="val 8889"/>
            </a:avLst>
          </a:prstGeom>
          <a:solidFill>
            <a:srgbClr val="FDF1D8"/>
          </a:solidFill>
          <a:ln w="15875">
            <a:solidFill>
              <a:srgbClr val="F2A516"/>
            </a:solidFill>
            <a:prstDash val="solid"/>
          </a:ln>
        </p:spPr>
      </p:sp>
      <p:sp>
        <p:nvSpPr>
          <p:cNvPr id="8" name="Text 3"/>
          <p:cNvSpPr txBox="1"/>
          <p:nvPr/>
        </p:nvSpPr>
        <p:spPr>
          <a:xfrm>
            <a:off x="8869680" y="4846320"/>
            <a:ext cx="2834640" cy="822960"/>
          </a:xfrm>
          <a:prstGeom prst="rect">
            <a:avLst/>
          </a:prstGeom>
          <a:noFill/>
          <a:ln/>
        </p:spPr>
        <p:txBody>
          <a:bodyPr wrap="square" lIns="50800" tIns="50800" rIns="50800" bIns="5080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Destellos: 90 ± 30 por minuto</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Simbología de testigos y colores</a:t>
            </a:r>
            <a:endParaRPr lang="en-US" sz="2800" dirty="0"/>
          </a:p>
        </p:txBody>
      </p:sp>
      <p:pic>
        <p:nvPicPr>
          <p:cNvPr id="4" name="Figura ll_simbolos.jpg" descr="ll_simbolos.jpg">    </p:cNvPr>
          <p:cNvPicPr>
            <a:picLocks noChangeAspect="1"/>
          </p:cNvPicPr>
          <p:nvPr/>
        </p:nvPicPr>
        <p:blipFill>
          <a:blip r:embed="rId1"/>
          <a:stretch>
            <a:fillRect/>
          </a:stretch>
        </p:blipFill>
        <p:spPr>
          <a:xfrm>
            <a:off x="502920" y="1340691"/>
            <a:ext cx="6766560" cy="1524859"/>
          </a:xfrm>
          <a:prstGeom prst="rect">
            <a:avLst/>
          </a:prstGeom>
        </p:spPr>
      </p:pic>
      <p:sp>
        <p:nvSpPr>
          <p:cNvPr id="5" name="Text 1"/>
          <p:cNvSpPr txBox="1"/>
          <p:nvPr/>
        </p:nvSpPr>
        <p:spPr>
          <a:xfrm>
            <a:off x="502920" y="2920413"/>
            <a:ext cx="67665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3794760"/>
          <a:ext cx="6766560" cy="914400"/>
        </p:xfrm>
        <a:graphic>
          <a:graphicData uri="http://schemas.openxmlformats.org/drawingml/2006/table">
            <a:tbl>
              <a:tblPr/>
              <a:tblGrid>
                <a:gridCol w="1645920"/>
                <a:gridCol w="2468880"/>
                <a:gridCol w="2651760"/>
              </a:tblGrid>
              <a:tr h="457200">
                <a:tc>
                  <a:txBody>
                    <a:bodyPr/>
                    <a:lstStyle/>
                    <a:p>
                      <a:pPr indent="0" marL="0">
                        <a:buNone/>
                      </a:pPr>
                      <a:r>
                        <a:rPr lang="en-US" sz="1400" b="1" dirty="0">
                          <a:solidFill>
                            <a:srgbClr val="FFFFFF"/>
                          </a:solidFill>
                        </a:rPr>
                        <a:t>Color del testigo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400" b="1" dirty="0">
                          <a:solidFill>
                            <a:srgbClr val="FFFFFF"/>
                          </a:solidFill>
                        </a:rPr>
                        <a:t>Significado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400" b="1" dirty="0">
                          <a:solidFill>
                            <a:srgbClr val="FFFFFF"/>
                          </a:solidFill>
                        </a:rPr>
                        <a:t>Ejemplo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r>
              <a:tr h="457200">
                <a:tc>
                  <a:txBody>
                    <a:bodyPr/>
                    <a:lstStyle/>
                    <a:p>
                      <a:pPr indent="0" marL="0">
                        <a:buNone/>
                      </a:pPr>
                      <a:r>
                        <a:rPr lang="en-US" sz="1400" b="1" dirty="0">
                          <a:solidFill>
                            <a:srgbClr val="1B2A33"/>
                          </a:solidFill>
                        </a:rPr>
                        <a:t>Rojo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8E1DE"/>
                    </a:solidFill>
                  </a:tcPr>
                </a:tc>
                <a:tc>
                  <a:txBody>
                    <a:bodyPr/>
                    <a:lstStyle/>
                    <a:p>
                      <a:pPr indent="0" marL="0">
                        <a:buNone/>
                      </a:pPr>
                      <a:r>
                        <a:rPr lang="en-US" sz="1400" dirty="0">
                          <a:solidFill>
                            <a:srgbClr val="1B2A33"/>
                          </a:solidFill>
                        </a:rPr>
                        <a:t>Peligro: detener el vehículo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Presión de aceite, freno, temperatura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457200">
                <a:tc>
                  <a:txBody>
                    <a:bodyPr/>
                    <a:lstStyle/>
                    <a:p>
                      <a:pPr indent="0" marL="0">
                        <a:buNone/>
                      </a:pPr>
                      <a:r>
                        <a:rPr lang="en-US" sz="1400" b="1" dirty="0">
                          <a:solidFill>
                            <a:srgbClr val="1B2A33"/>
                          </a:solidFill>
                        </a:rPr>
                        <a:t>Ámbar</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DF1D8"/>
                    </a:solidFill>
                  </a:tcPr>
                </a:tc>
                <a:tc>
                  <a:txBody>
                    <a:bodyPr/>
                    <a:lstStyle/>
                    <a:p>
                      <a:pPr indent="0" marL="0">
                        <a:buNone/>
                      </a:pPr>
                      <a:r>
                        <a:rPr lang="en-US" sz="1400" dirty="0">
                          <a:solidFill>
                            <a:srgbClr val="1B2A33"/>
                          </a:solidFill>
                        </a:rPr>
                        <a:t>Advertencia o aviso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Antiniebla trasera, MIL, ABS</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B2A33"/>
                          </a:solidFill>
                        </a:rPr>
                        <a:t>Verde</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DFF1E3"/>
                    </a:solidFill>
                  </a:tcPr>
                </a:tc>
                <a:tc>
                  <a:txBody>
                    <a:bodyPr/>
                    <a:lstStyle/>
                    <a:p>
                      <a:pPr indent="0" marL="0">
                        <a:buNone/>
                      </a:pPr>
                      <a:r>
                        <a:rPr lang="en-US" sz="1400" dirty="0">
                          <a:solidFill>
                            <a:srgbClr val="1B2A33"/>
                          </a:solidFill>
                        </a:rPr>
                        <a:t>Función conectada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Posición, cruce, intermitentes</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457200">
                <a:tc>
                  <a:txBody>
                    <a:bodyPr/>
                    <a:lstStyle/>
                    <a:p>
                      <a:pPr indent="0" marL="0">
                        <a:buNone/>
                      </a:pPr>
                      <a:r>
                        <a:rPr lang="en-US" sz="1400" b="1" dirty="0">
                          <a:solidFill>
                            <a:srgbClr val="1B2A33"/>
                          </a:solidFill>
                        </a:rPr>
                        <a:t>Azul</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DCE8F7"/>
                    </a:solidFill>
                  </a:tcPr>
                </a:tc>
                <a:tc>
                  <a:txBody>
                    <a:bodyPr/>
                    <a:lstStyle/>
                    <a:p>
                      <a:pPr indent="0" marL="0">
                        <a:buNone/>
                      </a:pPr>
                      <a:r>
                        <a:rPr lang="en-US" sz="1400" dirty="0">
                          <a:solidFill>
                            <a:srgbClr val="1B2A33"/>
                          </a:solidFill>
                        </a:rPr>
                        <a:t>Luz de carretera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Largas conectadas</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bl>
          </a:graphicData>
        </a:graphic>
      </p:graphicFrame>
      <p:sp>
        <p:nvSpPr>
          <p:cNvPr id="7" name="Tarjeta Recuerda"/>
          <p:cNvSpPr/>
          <p:nvPr/>
        </p:nvSpPr>
        <p:spPr>
          <a:xfrm>
            <a:off x="7589520" y="1280160"/>
            <a:ext cx="4114800" cy="4754880"/>
          </a:xfrm>
          <a:prstGeom prst="roundRect">
            <a:avLst>
              <a:gd name="adj" fmla="val 1778"/>
            </a:avLst>
          </a:prstGeom>
          <a:solidFill>
            <a:srgbClr val="E4F1F1"/>
          </a:solidFill>
          <a:ln w="12700">
            <a:solidFill>
              <a:srgbClr val="E4F1F1"/>
            </a:solidFill>
            <a:prstDash val="solid"/>
          </a:ln>
        </p:spPr>
      </p:sp>
      <p:sp>
        <p:nvSpPr>
          <p:cNvPr id="8" name="Text 3"/>
          <p:cNvSpPr txBox="1"/>
          <p:nvPr/>
        </p:nvSpPr>
        <p:spPr>
          <a:xfrm>
            <a:off x="7754112" y="1389888"/>
            <a:ext cx="3785616" cy="411480"/>
          </a:xfrm>
          <a:prstGeom prst="rect">
            <a:avLst/>
          </a:prstGeom>
          <a:noFill/>
          <a:ln/>
        </p:spPr>
        <p:txBody>
          <a:bodyPr wrap="square" lIns="0" tIns="0" rIns="0" bIns="0" rtlCol="0" anchor="t"/>
          <a:lstStyle/>
          <a:p>
            <a:pPr indent="0" marL="0">
              <a:buNone/>
            </a:pPr>
            <a:r>
              <a:rPr lang="en-US" sz="1700" b="1" dirty="0">
                <a:solidFill>
                  <a:schemeClr val="accent1"/>
                </a:solidFill>
              </a:rPr>
              <a:t>Recuerda</a:t>
            </a:r>
            <a:endParaRPr lang="en-US" sz="1700" dirty="0"/>
          </a:p>
        </p:txBody>
      </p:sp>
      <p:sp>
        <p:nvSpPr>
          <p:cNvPr id="9" name="Text 4"/>
          <p:cNvSpPr txBox="1"/>
          <p:nvPr/>
        </p:nvSpPr>
        <p:spPr>
          <a:xfrm>
            <a:off x="7754112" y="1828800"/>
            <a:ext cx="3785616" cy="411480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El testigo se ilumina con la misma alimentación del circuito que vigila (en paralelo con las lámparas) o lo enciende la centralita del cuadro.</a:t>
            </a:r>
            <a:endParaRPr lang="en-US" sz="1500" dirty="0"/>
          </a:p>
          <a:p>
            <a:pPr indent="0" marL="0">
              <a:spcAft>
                <a:spcPts val="600"/>
              </a:spcAft>
              <a:buNone/>
            </a:pPr>
            <a:r>
              <a:rPr lang="en-US" sz="1500" dirty="0">
                <a:solidFill>
                  <a:schemeClr val="tx1"/>
                </a:solidFill>
              </a:rPr>
              <a:t>Antiniebla trasera: testigo ámbar obligatorio; carretera: testigo azul.</a:t>
            </a:r>
            <a:endParaRPr lang="en-US" sz="1500" dirty="0"/>
          </a:p>
          <a:p>
            <a:pPr indent="0" marL="0">
              <a:spcAft>
                <a:spcPts val="600"/>
              </a:spcAft>
              <a:buNone/>
            </a:pPr>
            <a:r>
              <a:rPr lang="en-US" sz="1500" dirty="0">
                <a:solidFill>
                  <a:schemeClr val="tx1"/>
                </a:solidFill>
              </a:rPr>
              <a:t>Un testigo apagado no garantiza que la lámpara funcione: siempre se verifica en el vehículo.</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Bornes DIN 72552 en los circuitos auxiliares</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201400" cy="914400"/>
        </p:xfrm>
        <a:graphic>
          <a:graphicData uri="http://schemas.openxmlformats.org/drawingml/2006/table">
            <a:tbl>
              <a:tblPr/>
              <a:tblGrid>
                <a:gridCol w="1463040"/>
                <a:gridCol w="4114800"/>
                <a:gridCol w="1645920"/>
                <a:gridCol w="3977640"/>
              </a:tblGrid>
              <a:tr h="548640">
                <a:tc>
                  <a:txBody>
                    <a:bodyPr/>
                    <a:lstStyle/>
                    <a:p>
                      <a:pPr indent="0" marL="0">
                        <a:buNone/>
                      </a:pPr>
                      <a:r>
                        <a:rPr lang="en-US" sz="1400" b="1" dirty="0">
                          <a:solidFill>
                            <a:srgbClr val="FFFFFF"/>
                          </a:solidFill>
                        </a:rPr>
                        <a:t>Borne</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400" b="1" dirty="0">
                          <a:solidFill>
                            <a:srgbClr val="FFFFFF"/>
                          </a:solidFill>
                        </a:rPr>
                        <a:t>Significado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400" b="1" dirty="0">
                          <a:solidFill>
                            <a:srgbClr val="FFFFFF"/>
                          </a:solidFill>
                        </a:rPr>
                        <a:t>Borne</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400" b="1" dirty="0">
                          <a:solidFill>
                            <a:srgbClr val="FFFFFF"/>
                          </a:solidFill>
                        </a:rPr>
                        <a:t>Significado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r>
              <a:tr h="548640">
                <a:tc>
                  <a:txBody>
                    <a:bodyPr/>
                    <a:lstStyle/>
                    <a:p>
                      <a:pPr indent="0" marL="0">
                        <a:buNone/>
                      </a:pPr>
                      <a:r>
                        <a:rPr lang="en-US" sz="1400" b="1" dirty="0">
                          <a:solidFill>
                            <a:srgbClr val="1B2A33"/>
                          </a:solidFill>
                        </a:rPr>
                        <a:t>30</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Positivo directo de batería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b="1" dirty="0">
                          <a:solidFill>
                            <a:srgbClr val="1B2A33"/>
                          </a:solidFill>
                        </a:rPr>
                        <a:t>49 / 49a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Entrada / salida del relé de intermitencia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48640">
                <a:tc>
                  <a:txBody>
                    <a:bodyPr/>
                    <a:lstStyle/>
                    <a:p>
                      <a:pPr indent="0" marL="0">
                        <a:buNone/>
                      </a:pPr>
                      <a:r>
                        <a:rPr lang="en-US" sz="1400" b="1" dirty="0">
                          <a:solidFill>
                            <a:srgbClr val="1B2A33"/>
                          </a:solidFill>
                        </a:rPr>
                        <a:t>15</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Positivo tras contacto (llave)</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1B2A33"/>
                          </a:solidFill>
                        </a:rPr>
                        <a:t>C</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Testigo de intermitencia (relé)</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B2A33"/>
                          </a:solidFill>
                        </a:rPr>
                        <a:t>31</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Masa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b="1" dirty="0">
                          <a:solidFill>
                            <a:srgbClr val="1B2A33"/>
                          </a:solidFill>
                        </a:rPr>
                        <a:t>L / R</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Intermitentes izquierdos / derechos</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48640">
                <a:tc>
                  <a:txBody>
                    <a:bodyPr/>
                    <a:lstStyle/>
                    <a:p>
                      <a:pPr indent="0" marL="0">
                        <a:buNone/>
                      </a:pPr>
                      <a:r>
                        <a:rPr lang="en-US" sz="1400" b="1" dirty="0">
                          <a:solidFill>
                            <a:srgbClr val="1B2A33"/>
                          </a:solidFill>
                        </a:rPr>
                        <a:t>56</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Alumbrado de faros (entrada al conmutador)</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1B2A33"/>
                          </a:solidFill>
                        </a:rPr>
                        <a:t>54</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Luces de freno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B2A33"/>
                          </a:solidFill>
                        </a:rPr>
                        <a:t>56a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Luz de carretera y testigo azul</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b="1" dirty="0">
                          <a:solidFill>
                            <a:srgbClr val="1B2A33"/>
                          </a:solidFill>
                        </a:rPr>
                        <a:t>53 / 53b</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Limpiaparabrisas: 1.ª / 2.ª velocidad</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48640">
                <a:tc>
                  <a:txBody>
                    <a:bodyPr/>
                    <a:lstStyle/>
                    <a:p>
                      <a:pPr indent="0" marL="0">
                        <a:buNone/>
                      </a:pPr>
                      <a:r>
                        <a:rPr lang="en-US" sz="1400" b="1" dirty="0">
                          <a:solidFill>
                            <a:srgbClr val="1B2A33"/>
                          </a:solidFill>
                        </a:rPr>
                        <a:t>56b</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Luz de cruce</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1B2A33"/>
                          </a:solidFill>
                        </a:rPr>
                        <a:t>53a / 31b</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Limpia: parada automática / masa por mando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B2A33"/>
                          </a:solidFill>
                        </a:rPr>
                        <a:t>56d</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Ráfagas (destellos)</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b="1" dirty="0">
                          <a:solidFill>
                            <a:srgbClr val="1B2A33"/>
                          </a:solidFill>
                        </a:rPr>
                        <a:t>85 / 86</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Bobina del relé</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48640">
                <a:tc>
                  <a:txBody>
                    <a:bodyPr/>
                    <a:lstStyle/>
                    <a:p>
                      <a:pPr indent="0" marL="0">
                        <a:buNone/>
                      </a:pPr>
                      <a:r>
                        <a:rPr lang="en-US" sz="1400" b="1" dirty="0">
                          <a:solidFill>
                            <a:srgbClr val="1B2A33"/>
                          </a:solidFill>
                        </a:rPr>
                        <a:t>58 / 58L / 58R</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Posición, matrícula, iluminación de mandos / lado izq. / der.</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b="1" dirty="0">
                          <a:solidFill>
                            <a:srgbClr val="1B2A33"/>
                          </a:solidFill>
                        </a:rPr>
                        <a:t>30 / 87 / 87a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Contactos del relé (común / NA / NC)</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Lámparas: de la incandescencia al LED</a:t>
            </a:r>
            <a:endParaRPr lang="en-US" sz="2800" dirty="0"/>
          </a:p>
        </p:txBody>
      </p:sp>
      <p:pic>
        <p:nvPicPr>
          <p:cNvPr id="4" name="Figura M_p073_0.png" descr="M_p073_0.png">    </p:cNvPr>
          <p:cNvPicPr>
            <a:picLocks noChangeAspect="1"/>
          </p:cNvPicPr>
          <p:nvPr/>
        </p:nvPicPr>
        <p:blipFill>
          <a:blip r:embed="rId1"/>
          <a:stretch>
            <a:fillRect/>
          </a:stretch>
        </p:blipFill>
        <p:spPr>
          <a:xfrm>
            <a:off x="598123" y="1280160"/>
            <a:ext cx="2552794" cy="2926080"/>
          </a:xfrm>
          <a:prstGeom prst="rect">
            <a:avLst/>
          </a:prstGeom>
        </p:spPr>
      </p:pic>
      <p:sp>
        <p:nvSpPr>
          <p:cNvPr id="5" name="Text 1"/>
          <p:cNvSpPr txBox="1"/>
          <p:nvPr/>
        </p:nvSpPr>
        <p:spPr>
          <a:xfrm>
            <a:off x="548640" y="4261104"/>
            <a:ext cx="27432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pic>
        <p:nvPicPr>
          <p:cNvPr id="6" name="Figura M_p074_1.png" descr="M_p074_1.png">    </p:cNvPr>
          <p:cNvPicPr>
            <a:picLocks noChangeAspect="1"/>
          </p:cNvPicPr>
          <p:nvPr/>
        </p:nvPicPr>
        <p:blipFill>
          <a:blip r:embed="rId2"/>
          <a:stretch>
            <a:fillRect/>
          </a:stretch>
        </p:blipFill>
        <p:spPr>
          <a:xfrm>
            <a:off x="3470717" y="1280160"/>
            <a:ext cx="3025526" cy="1828800"/>
          </a:xfrm>
          <a:prstGeom prst="rect">
            <a:avLst/>
          </a:prstGeom>
        </p:spPr>
      </p:pic>
      <p:sp>
        <p:nvSpPr>
          <p:cNvPr id="7" name="Text 2"/>
          <p:cNvSpPr txBox="1"/>
          <p:nvPr/>
        </p:nvSpPr>
        <p:spPr>
          <a:xfrm>
            <a:off x="3470717" y="3163824"/>
            <a:ext cx="31089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pic>
        <p:nvPicPr>
          <p:cNvPr id="8" name="Figura M_p078_0.png" descr="M_p078_0.png">    </p:cNvPr>
          <p:cNvPicPr>
            <a:picLocks noChangeAspect="1"/>
          </p:cNvPicPr>
          <p:nvPr/>
        </p:nvPicPr>
        <p:blipFill>
          <a:blip r:embed="rId3"/>
          <a:stretch>
            <a:fillRect/>
          </a:stretch>
        </p:blipFill>
        <p:spPr>
          <a:xfrm>
            <a:off x="6913892" y="1280160"/>
            <a:ext cx="4643095" cy="2011680"/>
          </a:xfrm>
          <a:prstGeom prst="rect">
            <a:avLst/>
          </a:prstGeom>
        </p:spPr>
      </p:pic>
      <p:sp>
        <p:nvSpPr>
          <p:cNvPr id="9" name="Text 3"/>
          <p:cNvSpPr txBox="1"/>
          <p:nvPr/>
        </p:nvSpPr>
        <p:spPr>
          <a:xfrm>
            <a:off x="6812280" y="3346704"/>
            <a:ext cx="4643095"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10" name="Tarjeta Incandescencia"/>
          <p:cNvSpPr/>
          <p:nvPr/>
        </p:nvSpPr>
        <p:spPr>
          <a:xfrm>
            <a:off x="502920" y="4800600"/>
            <a:ext cx="2663190" cy="1325880"/>
          </a:xfrm>
          <a:prstGeom prst="roundRect">
            <a:avLst>
              <a:gd name="adj" fmla="val 5517"/>
            </a:avLst>
          </a:prstGeom>
          <a:solidFill>
            <a:srgbClr val="E4F1F1"/>
          </a:solidFill>
          <a:ln w="12700">
            <a:solidFill>
              <a:srgbClr val="E4F1F1"/>
            </a:solidFill>
            <a:prstDash val="solid"/>
          </a:ln>
        </p:spPr>
      </p:sp>
      <p:sp>
        <p:nvSpPr>
          <p:cNvPr id="11" name="Text 5"/>
          <p:cNvSpPr txBox="1"/>
          <p:nvPr/>
        </p:nvSpPr>
        <p:spPr>
          <a:xfrm>
            <a:off x="667512" y="4910328"/>
            <a:ext cx="2334006" cy="411480"/>
          </a:xfrm>
          <a:prstGeom prst="rect">
            <a:avLst/>
          </a:prstGeom>
          <a:noFill/>
          <a:ln/>
        </p:spPr>
        <p:txBody>
          <a:bodyPr wrap="square" lIns="0" tIns="0" rIns="0" bIns="0" rtlCol="0" anchor="t"/>
          <a:lstStyle/>
          <a:p>
            <a:pPr indent="0" marL="0">
              <a:buNone/>
            </a:pPr>
            <a:r>
              <a:rPr lang="en-US" sz="1400" b="1" dirty="0">
                <a:solidFill>
                  <a:schemeClr val="accent1"/>
                </a:solidFill>
              </a:rPr>
              <a:t>Incandescencia</a:t>
            </a:r>
            <a:endParaRPr lang="en-US" sz="1400" dirty="0"/>
          </a:p>
        </p:txBody>
      </p:sp>
      <p:sp>
        <p:nvSpPr>
          <p:cNvPr id="12" name="Text 6"/>
          <p:cNvSpPr txBox="1"/>
          <p:nvPr/>
        </p:nvSpPr>
        <p:spPr>
          <a:xfrm>
            <a:off x="667512" y="5349240"/>
            <a:ext cx="2334006" cy="685800"/>
          </a:xfrm>
          <a:prstGeom prst="rect">
            <a:avLst/>
          </a:prstGeom>
          <a:noFill/>
          <a:ln/>
        </p:spPr>
        <p:txBody>
          <a:bodyPr wrap="square" lIns="0" tIns="0" rIns="0" bIns="0" rtlCol="0" anchor="t"/>
          <a:lstStyle/>
          <a:p>
            <a:pPr indent="0" marL="0">
              <a:spcAft>
                <a:spcPts val="600"/>
              </a:spcAft>
              <a:buNone/>
            </a:pPr>
            <a:r>
              <a:rPr lang="en-US" sz="1200" dirty="0">
                <a:solidFill>
                  <a:schemeClr val="tx1"/>
                </a:solidFill>
              </a:rPr>
              <a:t>Filamento de wolframio en vacío o gas inerte. Rendimiento bajo (~15 lm/W).</a:t>
            </a:r>
            <a:endParaRPr lang="en-US" sz="1200" dirty="0"/>
          </a:p>
        </p:txBody>
      </p:sp>
      <p:sp>
        <p:nvSpPr>
          <p:cNvPr id="13" name="Tarjeta Halógena (H1, H4, H7…)"/>
          <p:cNvSpPr/>
          <p:nvPr/>
        </p:nvSpPr>
        <p:spPr>
          <a:xfrm>
            <a:off x="3348990" y="4800600"/>
            <a:ext cx="2663190" cy="1325880"/>
          </a:xfrm>
          <a:prstGeom prst="roundRect">
            <a:avLst>
              <a:gd name="adj" fmla="val 5517"/>
            </a:avLst>
          </a:prstGeom>
          <a:solidFill>
            <a:srgbClr val="FDF1D8"/>
          </a:solidFill>
          <a:ln w="12700">
            <a:solidFill>
              <a:srgbClr val="FDF1D8"/>
            </a:solidFill>
            <a:prstDash val="solid"/>
          </a:ln>
        </p:spPr>
      </p:sp>
      <p:sp>
        <p:nvSpPr>
          <p:cNvPr id="14" name="Text 8"/>
          <p:cNvSpPr txBox="1"/>
          <p:nvPr/>
        </p:nvSpPr>
        <p:spPr>
          <a:xfrm>
            <a:off x="3513582" y="4910328"/>
            <a:ext cx="2334006" cy="411480"/>
          </a:xfrm>
          <a:prstGeom prst="rect">
            <a:avLst/>
          </a:prstGeom>
          <a:noFill/>
          <a:ln/>
        </p:spPr>
        <p:txBody>
          <a:bodyPr wrap="square" lIns="0" tIns="0" rIns="0" bIns="0" rtlCol="0" anchor="t"/>
          <a:lstStyle/>
          <a:p>
            <a:pPr indent="0" marL="0">
              <a:buNone/>
            </a:pPr>
            <a:r>
              <a:rPr lang="en-US" sz="1400" b="1" dirty="0">
                <a:solidFill>
                  <a:schemeClr val="tx1"/>
                </a:solidFill>
              </a:rPr>
              <a:t>Halógena (H1, H4, H7…)</a:t>
            </a:r>
            <a:endParaRPr lang="en-US" sz="1400" dirty="0"/>
          </a:p>
        </p:txBody>
      </p:sp>
      <p:sp>
        <p:nvSpPr>
          <p:cNvPr id="15" name="Text 9"/>
          <p:cNvSpPr txBox="1"/>
          <p:nvPr/>
        </p:nvSpPr>
        <p:spPr>
          <a:xfrm>
            <a:off x="3513582" y="5349240"/>
            <a:ext cx="2334006" cy="685800"/>
          </a:xfrm>
          <a:prstGeom prst="rect">
            <a:avLst/>
          </a:prstGeom>
          <a:noFill/>
          <a:ln/>
        </p:spPr>
        <p:txBody>
          <a:bodyPr wrap="square" lIns="0" tIns="0" rIns="0" bIns="0" rtlCol="0" anchor="t"/>
          <a:lstStyle/>
          <a:p>
            <a:pPr indent="0" marL="0">
              <a:spcAft>
                <a:spcPts val="600"/>
              </a:spcAft>
              <a:buNone/>
            </a:pPr>
            <a:r>
              <a:rPr lang="en-US" sz="1200" dirty="0">
                <a:solidFill>
                  <a:schemeClr val="tx1"/>
                </a:solidFill>
              </a:rPr>
              <a:t>Gas halógeno y ampolla de cuarzo. Más flujo y vida; no tocar el cristal.</a:t>
            </a:r>
            <a:endParaRPr lang="en-US" sz="1200" dirty="0"/>
          </a:p>
        </p:txBody>
      </p:sp>
      <p:sp>
        <p:nvSpPr>
          <p:cNvPr id="16" name="Tarjeta Xenón (D1S, D2S, D2R…)"/>
          <p:cNvSpPr/>
          <p:nvPr/>
        </p:nvSpPr>
        <p:spPr>
          <a:xfrm>
            <a:off x="6195060" y="4800600"/>
            <a:ext cx="2663190" cy="1325880"/>
          </a:xfrm>
          <a:prstGeom prst="roundRect">
            <a:avLst>
              <a:gd name="adj" fmla="val 5517"/>
            </a:avLst>
          </a:prstGeom>
          <a:solidFill>
            <a:srgbClr val="E4F1F1"/>
          </a:solidFill>
          <a:ln w="12700">
            <a:solidFill>
              <a:srgbClr val="E4F1F1"/>
            </a:solidFill>
            <a:prstDash val="solid"/>
          </a:ln>
        </p:spPr>
      </p:sp>
      <p:sp>
        <p:nvSpPr>
          <p:cNvPr id="17" name="Text 11"/>
          <p:cNvSpPr txBox="1"/>
          <p:nvPr/>
        </p:nvSpPr>
        <p:spPr>
          <a:xfrm>
            <a:off x="6359652" y="4910328"/>
            <a:ext cx="2334006" cy="411480"/>
          </a:xfrm>
          <a:prstGeom prst="rect">
            <a:avLst/>
          </a:prstGeom>
          <a:noFill/>
          <a:ln/>
        </p:spPr>
        <p:txBody>
          <a:bodyPr wrap="square" lIns="0" tIns="0" rIns="0" bIns="0" rtlCol="0" anchor="t"/>
          <a:lstStyle/>
          <a:p>
            <a:pPr indent="0" marL="0">
              <a:buNone/>
            </a:pPr>
            <a:r>
              <a:rPr lang="en-US" sz="1400" b="1" dirty="0">
                <a:solidFill>
                  <a:schemeClr val="accent1"/>
                </a:solidFill>
              </a:rPr>
              <a:t>Xenón (D1S, D2S, D2R…)</a:t>
            </a:r>
            <a:endParaRPr lang="en-US" sz="1400" dirty="0"/>
          </a:p>
        </p:txBody>
      </p:sp>
      <p:sp>
        <p:nvSpPr>
          <p:cNvPr id="18" name="Text 12"/>
          <p:cNvSpPr txBox="1"/>
          <p:nvPr/>
        </p:nvSpPr>
        <p:spPr>
          <a:xfrm>
            <a:off x="6359652" y="5349240"/>
            <a:ext cx="2334006" cy="685800"/>
          </a:xfrm>
          <a:prstGeom prst="rect">
            <a:avLst/>
          </a:prstGeom>
          <a:noFill/>
          <a:ln/>
        </p:spPr>
        <p:txBody>
          <a:bodyPr wrap="square" lIns="0" tIns="0" rIns="0" bIns="0" rtlCol="0" anchor="t"/>
          <a:lstStyle/>
          <a:p>
            <a:pPr indent="0" marL="0">
              <a:spcAft>
                <a:spcPts val="600"/>
              </a:spcAft>
              <a:buNone/>
            </a:pPr>
            <a:r>
              <a:rPr lang="en-US" sz="1200" dirty="0">
                <a:solidFill>
                  <a:schemeClr val="tx1"/>
                </a:solidFill>
              </a:rPr>
              <a:t>Arco eléctrico en gas: ~23 kV para encender, ~85 V y 35 W en régimen. Requiere balasto.</a:t>
            </a:r>
            <a:endParaRPr lang="en-US" sz="1200" dirty="0"/>
          </a:p>
        </p:txBody>
      </p:sp>
      <p:sp>
        <p:nvSpPr>
          <p:cNvPr id="19" name="Tarjeta LED"/>
          <p:cNvSpPr/>
          <p:nvPr/>
        </p:nvSpPr>
        <p:spPr>
          <a:xfrm>
            <a:off x="9041130" y="4800600"/>
            <a:ext cx="2663190" cy="1325880"/>
          </a:xfrm>
          <a:prstGeom prst="roundRect">
            <a:avLst>
              <a:gd name="adj" fmla="val 5517"/>
            </a:avLst>
          </a:prstGeom>
          <a:solidFill>
            <a:srgbClr val="FDF1D8"/>
          </a:solidFill>
          <a:ln w="12700">
            <a:solidFill>
              <a:srgbClr val="FDF1D8"/>
            </a:solidFill>
            <a:prstDash val="solid"/>
          </a:ln>
        </p:spPr>
      </p:sp>
      <p:sp>
        <p:nvSpPr>
          <p:cNvPr id="20" name="Text 14"/>
          <p:cNvSpPr txBox="1"/>
          <p:nvPr/>
        </p:nvSpPr>
        <p:spPr>
          <a:xfrm>
            <a:off x="9205722" y="4910328"/>
            <a:ext cx="2334006" cy="411480"/>
          </a:xfrm>
          <a:prstGeom prst="rect">
            <a:avLst/>
          </a:prstGeom>
          <a:noFill/>
          <a:ln/>
        </p:spPr>
        <p:txBody>
          <a:bodyPr wrap="square" lIns="0" tIns="0" rIns="0" bIns="0" rtlCol="0" anchor="t"/>
          <a:lstStyle/>
          <a:p>
            <a:pPr indent="0" marL="0">
              <a:buNone/>
            </a:pPr>
            <a:r>
              <a:rPr lang="en-US" sz="1400" b="1" dirty="0">
                <a:solidFill>
                  <a:schemeClr val="tx1"/>
                </a:solidFill>
              </a:rPr>
              <a:t>LED</a:t>
            </a:r>
            <a:endParaRPr lang="en-US" sz="1400" dirty="0"/>
          </a:p>
        </p:txBody>
      </p:sp>
      <p:sp>
        <p:nvSpPr>
          <p:cNvPr id="21" name="Text 15"/>
          <p:cNvSpPr txBox="1"/>
          <p:nvPr/>
        </p:nvSpPr>
        <p:spPr>
          <a:xfrm>
            <a:off x="9205722" y="5349240"/>
            <a:ext cx="2334006" cy="685800"/>
          </a:xfrm>
          <a:prstGeom prst="rect">
            <a:avLst/>
          </a:prstGeom>
          <a:noFill/>
          <a:ln/>
        </p:spPr>
        <p:txBody>
          <a:bodyPr wrap="square" lIns="0" tIns="0" rIns="0" bIns="0" rtlCol="0" anchor="t"/>
          <a:lstStyle/>
          <a:p>
            <a:pPr indent="0" marL="0">
              <a:spcAft>
                <a:spcPts val="600"/>
              </a:spcAft>
              <a:buNone/>
            </a:pPr>
            <a:r>
              <a:rPr lang="en-US" sz="1200" dirty="0">
                <a:solidFill>
                  <a:schemeClr val="tx1"/>
                </a:solidFill>
              </a:rPr>
              <a:t>Diodo semiconductor: encendido instantáneo, bajo consumo y larga vida; necesita gestión térmica.</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Lámparas normalizadas más usadas</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7863840" cy="914400"/>
        </p:xfrm>
        <a:graphic>
          <a:graphicData uri="http://schemas.openxmlformats.org/drawingml/2006/table">
            <a:tbl>
              <a:tblPr/>
              <a:tblGrid>
                <a:gridCol w="2011680"/>
                <a:gridCol w="1463040"/>
                <a:gridCol w="2743200"/>
                <a:gridCol w="1645920"/>
              </a:tblGrid>
              <a:tr h="548640">
                <a:tc>
                  <a:txBody>
                    <a:bodyPr/>
                    <a:lstStyle/>
                    <a:p>
                      <a:pPr indent="0" marL="0">
                        <a:buNone/>
                      </a:pPr>
                      <a:r>
                        <a:rPr lang="en-US" sz="1300" b="1" dirty="0">
                          <a:solidFill>
                            <a:srgbClr val="FFFFFF"/>
                          </a:solidFill>
                        </a:rPr>
                        <a:t>Designación</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300" b="1" dirty="0">
                          <a:solidFill>
                            <a:srgbClr val="FFFFFF"/>
                          </a:solidFill>
                        </a:rPr>
                        <a:t>Potencia (12 V)</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300" b="1" dirty="0">
                          <a:solidFill>
                            <a:srgbClr val="FFFFFF"/>
                          </a:solidFill>
                        </a:rPr>
                        <a:t>Aplicación típica</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300" b="1" dirty="0">
                          <a:solidFill>
                            <a:srgbClr val="FFFFFF"/>
                          </a:solidFill>
                        </a:rPr>
                        <a:t>Intensidad aprox.</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r>
              <a:tr h="548640">
                <a:tc>
                  <a:txBody>
                    <a:bodyPr/>
                    <a:lstStyle/>
                    <a:p>
                      <a:pPr indent="0" marL="0">
                        <a:buNone/>
                      </a:pPr>
                      <a:r>
                        <a:rPr lang="en-US" sz="1300" dirty="0">
                          <a:solidFill>
                            <a:srgbClr val="1B2A33"/>
                          </a:solidFill>
                        </a:rPr>
                        <a:t>H4 (dos filamentos)</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60 / 55 W</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Carretera / cruce en un mismo faro</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5,0 / 4,6 A</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48640">
                <a:tc>
                  <a:txBody>
                    <a:bodyPr/>
                    <a:lstStyle/>
                    <a:p>
                      <a:pPr indent="0" marL="0">
                        <a:buNone/>
                      </a:pPr>
                      <a:r>
                        <a:rPr lang="en-US" sz="1300" dirty="0">
                          <a:solidFill>
                            <a:srgbClr val="1B2A33"/>
                          </a:solidFill>
                        </a:rPr>
                        <a:t>H1, H7</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rPr>
                        <a:t>55 W</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rPr>
                        <a:t>Cruce o carretera en faros de 4 lámparas</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rPr>
                        <a:t>4,6 A</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B2A33"/>
                          </a:solidFill>
                        </a:rPr>
                        <a:t>H8 / H11</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35 / 55 W</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Antiniebla delantera</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2,9 / 4,6 A</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48640">
                <a:tc>
                  <a:txBody>
                    <a:bodyPr/>
                    <a:lstStyle/>
                    <a:p>
                      <a:pPr indent="0" marL="0">
                        <a:buNone/>
                      </a:pPr>
                      <a:r>
                        <a:rPr lang="en-US" sz="1300" dirty="0">
                          <a:solidFill>
                            <a:srgbClr val="1B2A33"/>
                          </a:solidFill>
                        </a:rPr>
                        <a:t>D2S / D2R (xenón)</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rPr>
                        <a:t>35 W</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rPr>
                        <a:t>Faros de proyección / reflexión</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rPr>
                        <a:t>≈ 3 A en régimen (pico al encender)</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B2A33"/>
                          </a:solidFill>
                        </a:rPr>
                        <a:t>P21W / PY21W</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21 W</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Freno, marcha atrás / intermitente ámbar</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1,75 A</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48640">
                <a:tc>
                  <a:txBody>
                    <a:bodyPr/>
                    <a:lstStyle/>
                    <a:p>
                      <a:pPr indent="0" marL="0">
                        <a:buNone/>
                      </a:pPr>
                      <a:r>
                        <a:rPr lang="en-US" sz="1300" dirty="0">
                          <a:solidFill>
                            <a:srgbClr val="1B2A33"/>
                          </a:solidFill>
                        </a:rPr>
                        <a:t>P21/5W</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rPr>
                        <a:t>21 / 5 W</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rPr>
                        <a:t>Freno + posición trasera</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rPr>
                        <a:t>1,75 / 0,42 A</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B2A33"/>
                          </a:solidFill>
                        </a:rPr>
                        <a:t>R5W, W5W, C5W</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5 W</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Posición, matrícula, plafón, laterales</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0,42 A</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48640">
                <a:tc>
                  <a:txBody>
                    <a:bodyPr/>
                    <a:lstStyle/>
                    <a:p>
                      <a:pPr indent="0" marL="0">
                        <a:buNone/>
                      </a:pPr>
                      <a:r>
                        <a:rPr lang="en-US" sz="1300" dirty="0">
                          <a:solidFill>
                            <a:srgbClr val="1B2A33"/>
                          </a:solidFill>
                        </a:rPr>
                        <a:t>W1,2W – W3W</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rPr>
                        <a:t>1,2 – 3 W</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rPr>
                        <a:t>Cuadro de instrumentos y testigos</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rPr>
                        <a:t>0,1 – 0,25 A</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bl>
          </a:graphicData>
        </a:graphic>
      </p:graphicFrame>
      <p:pic>
        <p:nvPicPr>
          <p:cNvPr id="5" name="Figura M_p083_0.png" descr="M_p083_0.png">    </p:cNvPr>
          <p:cNvPicPr>
            <a:picLocks noChangeAspect="1"/>
          </p:cNvPicPr>
          <p:nvPr/>
        </p:nvPicPr>
        <p:blipFill>
          <a:blip r:embed="rId1"/>
          <a:stretch>
            <a:fillRect/>
          </a:stretch>
        </p:blipFill>
        <p:spPr>
          <a:xfrm>
            <a:off x="8788106" y="1234440"/>
            <a:ext cx="2769188" cy="3200400"/>
          </a:xfrm>
          <a:prstGeom prst="rect">
            <a:avLst/>
          </a:prstGeom>
        </p:spPr>
      </p:pic>
      <p:sp>
        <p:nvSpPr>
          <p:cNvPr id="6" name="Text 1"/>
          <p:cNvSpPr txBox="1"/>
          <p:nvPr/>
        </p:nvSpPr>
        <p:spPr>
          <a:xfrm>
            <a:off x="8686800" y="4489704"/>
            <a:ext cx="30632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7" name="Ecuación"/>
          <p:cNvSpPr/>
          <p:nvPr/>
        </p:nvSpPr>
        <p:spPr>
          <a:xfrm>
            <a:off x="8641080" y="5029200"/>
            <a:ext cx="3063240" cy="822960"/>
          </a:xfrm>
          <a:prstGeom prst="roundRect">
            <a:avLst>
              <a:gd name="adj" fmla="val 8889"/>
            </a:avLst>
          </a:prstGeom>
          <a:solidFill>
            <a:srgbClr val="FDF1D8"/>
          </a:solidFill>
          <a:ln w="15875">
            <a:solidFill>
              <a:srgbClr val="F2A516"/>
            </a:solidFill>
            <a:prstDash val="solid"/>
          </a:ln>
        </p:spPr>
      </p:sp>
      <p:sp>
        <p:nvSpPr>
          <p:cNvPr id="8" name="Text 3"/>
          <p:cNvSpPr txBox="1"/>
          <p:nvPr/>
        </p:nvSpPr>
        <p:spPr>
          <a:xfrm>
            <a:off x="8641080" y="5029200"/>
            <a:ext cx="3063240" cy="822960"/>
          </a:xfrm>
          <a:prstGeom prst="rect">
            <a:avLst/>
          </a:prstGeom>
          <a:noFill/>
          <a:ln/>
        </p:spPr>
        <p:txBody>
          <a:bodyPr wrap="square" lIns="50800" tIns="50800" rIns="50800" bIns="50800" rtlCol="0" anchor="ctr"/>
          <a:lstStyle/>
          <a:p>
            <a:pPr algn="ctr" indent="0" marL="0">
              <a:buNone/>
            </a:pPr>
            <a:r>
              <a:rPr lang="en-US" sz="2400" b="1" dirty="0">
                <a:solidFill>
                  <a:schemeClr val="tx1"/>
                </a:solidFill>
                <a:latin typeface="Cambria" pitchFamily="34" charset="0"/>
                <a:ea typeface="Cambria" pitchFamily="34" charset="-122"/>
                <a:cs typeface="Cambria" pitchFamily="34" charset="-120"/>
              </a:rPr>
              <a:t>I = P / U</a:t>
            </a:r>
            <a:endParaRPr lang="en-US" sz="2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Faros: reflector, proyector y haz asimétrico</a:t>
            </a:r>
            <a:endParaRPr lang="en-US" sz="2800" dirty="0"/>
          </a:p>
        </p:txBody>
      </p:sp>
      <p:pic>
        <p:nvPicPr>
          <p:cNvPr id="4" name="Figura M_p067_1.png" descr="M_p067_1.png">    </p:cNvPr>
          <p:cNvPicPr>
            <a:picLocks noChangeAspect="1"/>
          </p:cNvPicPr>
          <p:nvPr/>
        </p:nvPicPr>
        <p:blipFill>
          <a:blip r:embed="rId1"/>
          <a:stretch>
            <a:fillRect/>
          </a:stretch>
        </p:blipFill>
        <p:spPr>
          <a:xfrm>
            <a:off x="675640" y="1234440"/>
            <a:ext cx="3403600" cy="3200400"/>
          </a:xfrm>
          <a:prstGeom prst="rect">
            <a:avLst/>
          </a:prstGeom>
        </p:spPr>
      </p:pic>
      <p:sp>
        <p:nvSpPr>
          <p:cNvPr id="5" name="Text 1"/>
          <p:cNvSpPr txBox="1"/>
          <p:nvPr/>
        </p:nvSpPr>
        <p:spPr>
          <a:xfrm>
            <a:off x="548640" y="4489704"/>
            <a:ext cx="37490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pic>
        <p:nvPicPr>
          <p:cNvPr id="6" name="Figura M_p071_1.png" descr="M_p071_1.png">    </p:cNvPr>
          <p:cNvPicPr>
            <a:picLocks noChangeAspect="1"/>
          </p:cNvPicPr>
          <p:nvPr/>
        </p:nvPicPr>
        <p:blipFill>
          <a:blip r:embed="rId2"/>
          <a:stretch>
            <a:fillRect/>
          </a:stretch>
        </p:blipFill>
        <p:spPr>
          <a:xfrm>
            <a:off x="4565811" y="1234440"/>
            <a:ext cx="3669978" cy="2377440"/>
          </a:xfrm>
          <a:prstGeom prst="rect">
            <a:avLst/>
          </a:prstGeom>
        </p:spPr>
      </p:pic>
      <p:sp>
        <p:nvSpPr>
          <p:cNvPr id="7" name="Text 2"/>
          <p:cNvSpPr txBox="1"/>
          <p:nvPr/>
        </p:nvSpPr>
        <p:spPr>
          <a:xfrm>
            <a:off x="4480560" y="3666744"/>
            <a:ext cx="393192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pic>
        <p:nvPicPr>
          <p:cNvPr id="8" name="Figura M_p065_0.png" descr="M_p065_0.png">    </p:cNvPr>
          <p:cNvPicPr>
            <a:picLocks noChangeAspect="1"/>
          </p:cNvPicPr>
          <p:nvPr/>
        </p:nvPicPr>
        <p:blipFill>
          <a:blip r:embed="rId3"/>
          <a:stretch>
            <a:fillRect/>
          </a:stretch>
        </p:blipFill>
        <p:spPr>
          <a:xfrm>
            <a:off x="8640548" y="1234440"/>
            <a:ext cx="2972863" cy="2011680"/>
          </a:xfrm>
          <a:prstGeom prst="rect">
            <a:avLst/>
          </a:prstGeom>
        </p:spPr>
      </p:pic>
      <p:sp>
        <p:nvSpPr>
          <p:cNvPr id="9" name="Text 3"/>
          <p:cNvSpPr txBox="1"/>
          <p:nvPr/>
        </p:nvSpPr>
        <p:spPr>
          <a:xfrm>
            <a:off x="8595360" y="3300984"/>
            <a:ext cx="315468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10" name="Text 4"/>
          <p:cNvSpPr txBox="1"/>
          <p:nvPr/>
        </p:nvSpPr>
        <p:spPr>
          <a:xfrm>
            <a:off x="4434840" y="4206240"/>
            <a:ext cx="7269480" cy="2011680"/>
          </a:xfrm>
          <a:prstGeom prst="rect">
            <a:avLst/>
          </a:prstGeom>
          <a:noFill/>
          <a:ln/>
        </p:spPr>
        <p:txBody>
          <a:bodyPr wrap="square" lIns="25400" tIns="25400" rIns="50800" bIns="25400" rtlCol="0" anchor="t"/>
          <a:lstStyle/>
          <a:p>
            <a:pPr marL="203200" indent="-203200">
              <a:spcAft>
                <a:spcPts val="600"/>
              </a:spcAft>
              <a:buSzPct val="100000"/>
              <a:buChar char="•"/>
            </a:pPr>
            <a:r>
              <a:rPr lang="en-US" sz="1500" b="1" dirty="0">
                <a:solidFill>
                  <a:schemeClr val="tx1"/>
                </a:solidFill>
              </a:rPr>
              <a:t>Reflector: </a:t>
            </a:r>
            <a:pPr indent="0" marL="0">
              <a:buNone/>
            </a:pPr>
            <a:r>
              <a:rPr lang="en-US" sz="1500" dirty="0">
                <a:solidFill>
                  <a:schemeClr val="tx1"/>
                </a:solidFill>
              </a:rPr>
              <a:t>concentra y dirige el flujo; la posición del filamento define el haz.</a:t>
            </a:r>
            <a:endParaRPr lang="en-US" sz="1500" dirty="0"/>
          </a:p>
          <a:p>
            <a:pPr marL="203200" indent="-203200">
              <a:spcAft>
                <a:spcPts val="600"/>
              </a:spcAft>
              <a:buSzPct val="100000"/>
              <a:buChar char="•"/>
            </a:pPr>
            <a:r>
              <a:rPr lang="en-US" sz="1500" b="1" dirty="0">
                <a:solidFill>
                  <a:schemeClr val="tx1"/>
                </a:solidFill>
              </a:rPr>
              <a:t>Difusor (cristal): </a:t>
            </a:r>
            <a:pPr indent="0" marL="0">
              <a:buNone/>
            </a:pPr>
            <a:r>
              <a:rPr lang="en-US" sz="1500" dirty="0">
                <a:solidFill>
                  <a:schemeClr val="tx1"/>
                </a:solidFill>
              </a:rPr>
              <a:t>distribuye la luz; en los faros modernos el reflector de superficie compleja hace este trabajo.</a:t>
            </a:r>
            <a:endParaRPr lang="en-US" sz="1500" dirty="0"/>
          </a:p>
          <a:p>
            <a:pPr marL="203200" indent="-203200">
              <a:spcAft>
                <a:spcPts val="600"/>
              </a:spcAft>
              <a:buSzPct val="100000"/>
              <a:buChar char="•"/>
            </a:pPr>
            <a:r>
              <a:rPr lang="en-US" sz="1500" b="1" dirty="0">
                <a:solidFill>
                  <a:schemeClr val="tx1"/>
                </a:solidFill>
              </a:rPr>
              <a:t>Haz de cruce asimétrico: </a:t>
            </a:r>
            <a:pPr indent="0" marL="0">
              <a:buNone/>
            </a:pPr>
            <a:r>
              <a:rPr lang="en-US" sz="1500" dirty="0">
                <a:solidFill>
                  <a:schemeClr val="tx1"/>
                </a:solidFill>
              </a:rPr>
              <a:t>ilumina más el arcén derecho y no deslumbra al que viene de frente.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731520" y="1463040"/>
            <a:ext cx="4114800" cy="1463040"/>
          </a:xfrm>
          <a:prstGeom prst="rect">
            <a:avLst/>
          </a:prstGeom>
          <a:noFill/>
          <a:ln/>
        </p:spPr>
        <p:txBody>
          <a:bodyPr wrap="square" rtlCol="0" anchor="b"/>
          <a:lstStyle/>
          <a:p>
            <a:pPr algn="l" indent="0" marL="0">
              <a:buNone/>
            </a:pPr>
            <a:r>
              <a:rPr lang="en-US" sz="8000" b="1" dirty="0">
                <a:solidFill>
                  <a:schemeClr val="accent2"/>
                </a:solidFill>
              </a:rPr>
              <a:t>4.2</a:t>
            </a:r>
            <a:endParaRPr lang="en-US" sz="8000" dirty="0"/>
          </a:p>
        </p:txBody>
      </p:sp>
      <p:sp>
        <p:nvSpPr>
          <p:cNvPr id="3" name="Text 1"/>
          <p:cNvSpPr/>
          <p:nvPr>
            <p:ph idx="103" type="title" hasCustomPrompt="1"/>
          </p:nvPr>
        </p:nvSpPr>
        <p:spPr>
          <a:xfrm>
            <a:off x="731520" y="2971800"/>
            <a:ext cx="10515600" cy="1371600"/>
          </a:xfrm>
          <a:prstGeom prst="rect">
            <a:avLst/>
          </a:prstGeom>
          <a:noFill/>
          <a:ln/>
        </p:spPr>
        <p:txBody>
          <a:bodyPr wrap="square" rtlCol="0" anchor="t"/>
          <a:lstStyle/>
          <a:p>
            <a:pPr algn="l" indent="0" marL="0">
              <a:buNone/>
            </a:pPr>
            <a:r>
              <a:rPr lang="en-US" sz="4000" b="1" dirty="0">
                <a:solidFill>
                  <a:schemeClr val="bg1"/>
                </a:solidFill>
              </a:rPr>
              <a:t>Circuito de posición, cruce y carretera</a:t>
            </a:r>
            <a:endParaRPr lang="en-US" sz="4000" dirty="0"/>
          </a:p>
        </p:txBody>
      </p:sp>
      <p:sp>
        <p:nvSpPr>
          <p:cNvPr id="4" name="Text 1"/>
          <p:cNvSpPr/>
          <p:nvPr>
            <p:ph idx="104" type="body" hasCustomPrompt="1"/>
          </p:nvPr>
        </p:nvSpPr>
        <p:spPr>
          <a:xfrm>
            <a:off x="731520" y="4434840"/>
            <a:ext cx="10058400" cy="1463040"/>
          </a:xfrm>
          <a:prstGeom prst="rect">
            <a:avLst/>
          </a:prstGeom>
          <a:noFill/>
          <a:ln/>
        </p:spPr>
        <p:txBody>
          <a:bodyPr wrap="square" rtlCol="0" anchor="t"/>
          <a:lstStyle/>
          <a:p>
            <a:pPr algn="l" indent="0" marL="0">
              <a:buNone/>
            </a:pPr>
            <a:r>
              <a:rPr lang="en-US" sz="1800" dirty="0">
                <a:solidFill>
                  <a:schemeClr val="bg2"/>
                </a:solidFill>
              </a:rPr>
              <a:t>4.2.1 Posición · 4.2.2 Estacionamiento · 4.2.3 Matrícula · 4.2.4 Cruce · 4.2.5 Carretera · 4.2.6 Mando</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4.2.1 Alumbrado de posición</a:t>
            </a:r>
            <a:endParaRPr lang="en-US" sz="2800" dirty="0"/>
          </a:p>
        </p:txBody>
      </p:sp>
      <p:sp>
        <p:nvSpPr>
          <p:cNvPr id="4" name="Text 1"/>
          <p:cNvSpPr txBox="1"/>
          <p:nvPr/>
        </p:nvSpPr>
        <p:spPr>
          <a:xfrm>
            <a:off x="502920" y="1188720"/>
            <a:ext cx="6035040" cy="5029200"/>
          </a:xfrm>
          <a:prstGeom prst="rect">
            <a:avLst/>
          </a:prstGeom>
          <a:noFill/>
          <a:ln/>
        </p:spPr>
        <p:txBody>
          <a:bodyPr wrap="square" lIns="25400" tIns="25400" rIns="50800" bIns="25400" rtlCol="0" anchor="t"/>
          <a:lstStyle/>
          <a:p>
            <a:pPr marL="203200" indent="-203200">
              <a:spcAft>
                <a:spcPts val="600"/>
              </a:spcAft>
              <a:buSzPct val="100000"/>
              <a:buChar char="•"/>
            </a:pPr>
            <a:r>
              <a:rPr lang="en-US" sz="1600" b="1" dirty="0">
                <a:solidFill>
                  <a:schemeClr val="tx1"/>
                </a:solidFill>
              </a:rPr>
              <a:t>Misión: </a:t>
            </a:r>
            <a:pPr indent="0" marL="0">
              <a:buNone/>
            </a:pPr>
            <a:r>
              <a:rPr lang="en-US" sz="1600" dirty="0">
                <a:solidFill>
                  <a:schemeClr val="tx1"/>
                </a:solidFill>
              </a:rPr>
              <a:t>que el vehículo sea visto e indicar su anchura.</a:t>
            </a:r>
            <a:endParaRPr lang="en-US" sz="1600" dirty="0"/>
          </a:p>
          <a:p>
            <a:pPr marL="203200" indent="-203200">
              <a:spcAft>
                <a:spcPts val="600"/>
              </a:spcAft>
              <a:buSzPct val="100000"/>
              <a:buChar char="•"/>
            </a:pPr>
            <a:r>
              <a:rPr lang="en-US" sz="1600" b="1" dirty="0">
                <a:solidFill>
                  <a:schemeClr val="tx1"/>
                </a:solidFill>
              </a:rPr>
              <a:t>Exigencia: </a:t>
            </a:r>
            <a:pPr indent="0" marL="0">
              <a:buNone/>
            </a:pPr>
            <a:r>
              <a:rPr lang="en-US" sz="1600" dirty="0">
                <a:solidFill>
                  <a:schemeClr val="tx1"/>
                </a:solidFill>
              </a:rPr>
              <a:t>dos delante (blanco o ámbar en INEN) y dos detrás (rojo).</a:t>
            </a:r>
            <a:endParaRPr lang="en-US" sz="1600" dirty="0"/>
          </a:p>
          <a:p>
            <a:pPr marL="203200" indent="-203200">
              <a:spcAft>
                <a:spcPts val="600"/>
              </a:spcAft>
              <a:buSzPct val="100000"/>
              <a:buChar char="•"/>
            </a:pPr>
            <a:r>
              <a:rPr lang="en-US" sz="1600" b="1" dirty="0">
                <a:solidFill>
                  <a:schemeClr val="tx1"/>
                </a:solidFill>
              </a:rPr>
              <a:t>Ubicación: </a:t>
            </a:r>
            <a:pPr indent="0" marL="0">
              <a:buNone/>
            </a:pPr>
            <a:r>
              <a:rPr lang="en-US" sz="1600" dirty="0">
                <a:solidFill>
                  <a:schemeClr val="tx1"/>
                </a:solidFill>
              </a:rPr>
              <a:t>≤ 400 mm del extremo lateral y entre 350 y 1 500 mm de altura.</a:t>
            </a:r>
            <a:endParaRPr lang="en-US" sz="1600" dirty="0"/>
          </a:p>
          <a:p>
            <a:pPr marL="203200" indent="-203200">
              <a:spcAft>
                <a:spcPts val="600"/>
              </a:spcAft>
              <a:buSzPct val="100000"/>
              <a:buChar char="•"/>
            </a:pPr>
            <a:r>
              <a:rPr lang="en-US" sz="1600" b="1" dirty="0">
                <a:solidFill>
                  <a:schemeClr val="tx1"/>
                </a:solidFill>
              </a:rPr>
              <a:t>Encendido: </a:t>
            </a:r>
            <a:pPr indent="0" marL="0">
              <a:buNone/>
            </a:pPr>
            <a:r>
              <a:rPr lang="en-US" sz="1600" dirty="0">
                <a:solidFill>
                  <a:schemeClr val="tx1"/>
                </a:solidFill>
              </a:rPr>
              <a:t>cualquier circuito de alumbrado (cruce, carretera, antiniebla) se enciende acompañado de la posición.</a:t>
            </a:r>
            <a:endParaRPr lang="en-US" sz="1600" dirty="0"/>
          </a:p>
          <a:p>
            <a:pPr marL="203200" indent="-203200">
              <a:spcAft>
                <a:spcPts val="600"/>
              </a:spcAft>
              <a:buSzPct val="100000"/>
              <a:buChar char="•"/>
            </a:pPr>
            <a:r>
              <a:rPr lang="en-US" sz="1600" b="1" dirty="0">
                <a:solidFill>
                  <a:schemeClr val="tx1"/>
                </a:solidFill>
              </a:rPr>
              <a:t>Lámparas: </a:t>
            </a:r>
            <a:pPr indent="0" marL="0">
              <a:buNone/>
            </a:pPr>
            <a:r>
              <a:rPr lang="en-US" sz="1600" dirty="0">
                <a:solidFill>
                  <a:schemeClr val="tx1"/>
                </a:solidFill>
              </a:rPr>
              <a:t>5 W (W5W, T4W, R5W) o LED.</a:t>
            </a:r>
            <a:endParaRPr lang="en-US" sz="1600" dirty="0"/>
          </a:p>
          <a:p>
            <a:pPr marL="203200" indent="-203200">
              <a:spcAft>
                <a:spcPts val="600"/>
              </a:spcAft>
              <a:buSzPct val="100000"/>
              <a:buChar char="•"/>
            </a:pPr>
            <a:r>
              <a:rPr lang="en-US" sz="1600" b="1" dirty="0">
                <a:solidFill>
                  <a:schemeClr val="tx1"/>
                </a:solidFill>
              </a:rPr>
              <a:t>Borne: </a:t>
            </a:r>
            <a:pPr indent="0" marL="0">
              <a:buNone/>
            </a:pPr>
            <a:r>
              <a:rPr lang="en-US" sz="1600" dirty="0">
                <a:solidFill>
                  <a:schemeClr val="tx1"/>
                </a:solidFill>
              </a:rPr>
              <a:t>58 (58L / 58R por lado).</a:t>
            </a:r>
            <a:endParaRPr lang="en-US" sz="1600" dirty="0"/>
          </a:p>
        </p:txBody>
      </p:sp>
      <p:pic>
        <p:nvPicPr>
          <p:cNvPr id="5" name="Figura M_p069_0.png" descr="M_p069_0.png">    </p:cNvPr>
          <p:cNvPicPr>
            <a:picLocks noChangeAspect="1"/>
          </p:cNvPicPr>
          <p:nvPr/>
        </p:nvPicPr>
        <p:blipFill>
          <a:blip r:embed="rId1"/>
          <a:stretch>
            <a:fillRect/>
          </a:stretch>
        </p:blipFill>
        <p:spPr>
          <a:xfrm>
            <a:off x="6918960" y="1234440"/>
            <a:ext cx="4632960" cy="3474720"/>
          </a:xfrm>
          <a:prstGeom prst="rect">
            <a:avLst/>
          </a:prstGeom>
        </p:spPr>
      </p:pic>
      <p:sp>
        <p:nvSpPr>
          <p:cNvPr id="6" name="Text 2"/>
          <p:cNvSpPr txBox="1"/>
          <p:nvPr/>
        </p:nvSpPr>
        <p:spPr>
          <a:xfrm>
            <a:off x="6812280" y="4764024"/>
            <a:ext cx="46329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4.2.2 Estacionamiento y 4.2.3 luz de matrícula</a:t>
            </a:r>
            <a:endParaRPr lang="en-US" sz="2800" dirty="0"/>
          </a:p>
        </p:txBody>
      </p:sp>
      <p:sp>
        <p:nvSpPr>
          <p:cNvPr id="4" name="Tarjeta Estacionamiento"/>
          <p:cNvSpPr/>
          <p:nvPr/>
        </p:nvSpPr>
        <p:spPr>
          <a:xfrm>
            <a:off x="502920" y="1280160"/>
            <a:ext cx="5486400" cy="2377440"/>
          </a:xfrm>
          <a:prstGeom prst="roundRect">
            <a:avLst>
              <a:gd name="adj" fmla="val 3077"/>
            </a:avLst>
          </a:prstGeom>
          <a:solidFill>
            <a:srgbClr val="E4F1F1"/>
          </a:solidFill>
          <a:ln w="12700">
            <a:solidFill>
              <a:srgbClr val="E4F1F1"/>
            </a:solidFill>
            <a:prstDash val="solid"/>
          </a:ln>
        </p:spPr>
      </p:sp>
      <p:sp>
        <p:nvSpPr>
          <p:cNvPr id="5" name="Text 2"/>
          <p:cNvSpPr txBox="1"/>
          <p:nvPr/>
        </p:nvSpPr>
        <p:spPr>
          <a:xfrm>
            <a:off x="667512" y="1389888"/>
            <a:ext cx="5157216" cy="411480"/>
          </a:xfrm>
          <a:prstGeom prst="rect">
            <a:avLst/>
          </a:prstGeom>
          <a:noFill/>
          <a:ln/>
        </p:spPr>
        <p:txBody>
          <a:bodyPr wrap="square" lIns="0" tIns="0" rIns="0" bIns="0" rtlCol="0" anchor="t"/>
          <a:lstStyle/>
          <a:p>
            <a:pPr indent="0" marL="0">
              <a:buNone/>
            </a:pPr>
            <a:r>
              <a:rPr lang="en-US" sz="1700" b="1" dirty="0">
                <a:solidFill>
                  <a:schemeClr val="accent1"/>
                </a:solidFill>
              </a:rPr>
              <a:t>Estacionamiento</a:t>
            </a:r>
            <a:endParaRPr lang="en-US" sz="1700" dirty="0"/>
          </a:p>
        </p:txBody>
      </p:sp>
      <p:sp>
        <p:nvSpPr>
          <p:cNvPr id="6" name="Text 3"/>
          <p:cNvSpPr txBox="1"/>
          <p:nvPr/>
        </p:nvSpPr>
        <p:spPr>
          <a:xfrm>
            <a:off x="667512" y="1828800"/>
            <a:ext cx="5157216" cy="17373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Con el contacto quitado, el mando de intermitencia elige el lado (izquierdo o derecho).</a:t>
            </a:r>
            <a:endParaRPr lang="en-US" sz="1500" dirty="0"/>
          </a:p>
          <a:p>
            <a:pPr marL="203200" indent="-203200">
              <a:spcAft>
                <a:spcPts val="600"/>
              </a:spcAft>
              <a:buSzPct val="100000"/>
              <a:buChar char="•"/>
            </a:pPr>
            <a:r>
              <a:rPr lang="en-US" sz="1500" dirty="0">
                <a:solidFill>
                  <a:schemeClr val="tx1"/>
                </a:solidFill>
              </a:rPr>
              <a:t>Se alimenta del 30 (sin llave): consume batería ⇒ uso breve.</a:t>
            </a:r>
            <a:endParaRPr lang="en-US" sz="1500" dirty="0"/>
          </a:p>
          <a:p>
            <a:pPr marL="203200" indent="-203200">
              <a:spcAft>
                <a:spcPts val="600"/>
              </a:spcAft>
              <a:buSzPct val="100000"/>
              <a:buChar char="•"/>
            </a:pPr>
            <a:r>
              <a:rPr lang="en-US" sz="1500" dirty="0">
                <a:solidFill>
                  <a:schemeClr val="tx1"/>
                </a:solidFill>
              </a:rPr>
              <a:t>Señaliza el vehículo aparcado hacia el lado de la calzada.</a:t>
            </a:r>
            <a:endParaRPr lang="en-US" sz="1500" dirty="0"/>
          </a:p>
        </p:txBody>
      </p:sp>
      <p:sp>
        <p:nvSpPr>
          <p:cNvPr id="7" name="Tarjeta Matrícula"/>
          <p:cNvSpPr/>
          <p:nvPr/>
        </p:nvSpPr>
        <p:spPr>
          <a:xfrm>
            <a:off x="502920" y="3840480"/>
            <a:ext cx="5486400" cy="2286000"/>
          </a:xfrm>
          <a:prstGeom prst="roundRect">
            <a:avLst>
              <a:gd name="adj" fmla="val 3200"/>
            </a:avLst>
          </a:prstGeom>
          <a:solidFill>
            <a:srgbClr val="FDF1D8"/>
          </a:solidFill>
          <a:ln w="12700">
            <a:solidFill>
              <a:srgbClr val="FDF1D8"/>
            </a:solidFill>
            <a:prstDash val="solid"/>
          </a:ln>
        </p:spPr>
      </p:sp>
      <p:sp>
        <p:nvSpPr>
          <p:cNvPr id="8" name="Text 5"/>
          <p:cNvSpPr txBox="1"/>
          <p:nvPr/>
        </p:nvSpPr>
        <p:spPr>
          <a:xfrm>
            <a:off x="667512" y="3950208"/>
            <a:ext cx="5157216" cy="411480"/>
          </a:xfrm>
          <a:prstGeom prst="rect">
            <a:avLst/>
          </a:prstGeom>
          <a:noFill/>
          <a:ln/>
        </p:spPr>
        <p:txBody>
          <a:bodyPr wrap="square" lIns="0" tIns="0" rIns="0" bIns="0" rtlCol="0" anchor="t"/>
          <a:lstStyle/>
          <a:p>
            <a:pPr indent="0" marL="0">
              <a:buNone/>
            </a:pPr>
            <a:r>
              <a:rPr lang="en-US" sz="1700" b="1" dirty="0">
                <a:solidFill>
                  <a:schemeClr val="tx1"/>
                </a:solidFill>
              </a:rPr>
              <a:t>Matrícula</a:t>
            </a:r>
            <a:endParaRPr lang="en-US" sz="1700" dirty="0"/>
          </a:p>
        </p:txBody>
      </p:sp>
      <p:sp>
        <p:nvSpPr>
          <p:cNvPr id="9" name="Text 6"/>
          <p:cNvSpPr txBox="1"/>
          <p:nvPr/>
        </p:nvSpPr>
        <p:spPr>
          <a:xfrm>
            <a:off x="667512" y="4389120"/>
            <a:ext cx="5157216" cy="16459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Ilumina solo la placa trasera; color blanco; se activa con la posición (58).</a:t>
            </a:r>
            <a:endParaRPr lang="en-US" sz="1500" dirty="0"/>
          </a:p>
          <a:p>
            <a:pPr marL="203200" indent="-203200">
              <a:spcAft>
                <a:spcPts val="600"/>
              </a:spcAft>
              <a:buSzPct val="100000"/>
              <a:buChar char="•"/>
            </a:pPr>
            <a:r>
              <a:rPr lang="en-US" sz="1500" dirty="0">
                <a:solidFill>
                  <a:schemeClr val="tx1"/>
                </a:solidFill>
              </a:rPr>
              <a:t>1 o 2 lámparas C5W/W5W o LED; debe verse a distancia (INEN).</a:t>
            </a:r>
            <a:endParaRPr lang="en-US" sz="1500" dirty="0"/>
          </a:p>
          <a:p>
            <a:pPr marL="203200" indent="-203200">
              <a:spcAft>
                <a:spcPts val="600"/>
              </a:spcAft>
              <a:buSzPct val="100000"/>
              <a:buChar char="•"/>
            </a:pPr>
            <a:r>
              <a:rPr lang="en-US" sz="1500" dirty="0">
                <a:solidFill>
                  <a:schemeClr val="tx1"/>
                </a:solidFill>
              </a:rPr>
              <a:t>Avería típica: humedad en el portalámparas.</a:t>
            </a:r>
            <a:endParaRPr lang="en-US" sz="1500" dirty="0"/>
          </a:p>
        </p:txBody>
      </p:sp>
      <p:pic>
        <p:nvPicPr>
          <p:cNvPr id="10" name="Figura M_p135_0.png" descr="M_p135_0.png">    </p:cNvPr>
          <p:cNvPicPr>
            <a:picLocks noChangeAspect="1"/>
          </p:cNvPicPr>
          <p:nvPr/>
        </p:nvPicPr>
        <p:blipFill>
          <a:blip r:embed="rId1"/>
          <a:stretch>
            <a:fillRect/>
          </a:stretch>
        </p:blipFill>
        <p:spPr>
          <a:xfrm>
            <a:off x="6263640" y="1427607"/>
            <a:ext cx="5440680" cy="4002786"/>
          </a:xfrm>
          <a:prstGeom prst="rect">
            <a:avLst/>
          </a:prstGeom>
        </p:spPr>
      </p:pic>
      <p:sp>
        <p:nvSpPr>
          <p:cNvPr id="11" name="Text 7"/>
          <p:cNvSpPr txBox="1"/>
          <p:nvPr/>
        </p:nvSpPr>
        <p:spPr>
          <a:xfrm>
            <a:off x="6263640" y="5485257"/>
            <a:ext cx="544068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4.2.4 Alumbrado de cruce</a:t>
            </a:r>
            <a:endParaRPr lang="en-US" sz="2800" dirty="0"/>
          </a:p>
        </p:txBody>
      </p:sp>
      <p:sp>
        <p:nvSpPr>
          <p:cNvPr id="4" name="Text 1"/>
          <p:cNvSpPr txBox="1"/>
          <p:nvPr/>
        </p:nvSpPr>
        <p:spPr>
          <a:xfrm>
            <a:off x="502920" y="1188720"/>
            <a:ext cx="5669280" cy="5029200"/>
          </a:xfrm>
          <a:prstGeom prst="rect">
            <a:avLst/>
          </a:prstGeom>
          <a:noFill/>
          <a:ln/>
        </p:spPr>
        <p:txBody>
          <a:bodyPr wrap="square" lIns="25400" tIns="25400" rIns="50800" bIns="25400" rtlCol="0" anchor="t"/>
          <a:lstStyle/>
          <a:p>
            <a:pPr marL="203200" indent="-203200">
              <a:spcAft>
                <a:spcPts val="600"/>
              </a:spcAft>
              <a:buSzPct val="100000"/>
              <a:buChar char="•"/>
            </a:pPr>
            <a:r>
              <a:rPr lang="en-US" sz="1600" b="1" dirty="0">
                <a:solidFill>
                  <a:schemeClr val="tx1"/>
                </a:solidFill>
              </a:rPr>
              <a:t>Misión: </a:t>
            </a:r>
            <a:pPr indent="0" marL="0">
              <a:buNone/>
            </a:pPr>
            <a:r>
              <a:rPr lang="en-US" sz="1600" dirty="0">
                <a:solidFill>
                  <a:schemeClr val="tx1"/>
                </a:solidFill>
              </a:rPr>
              <a:t>iluminar la calzada sin deslumbrar ni molestar a quien viene de frente.</a:t>
            </a:r>
            <a:endParaRPr lang="en-US" sz="1600" dirty="0"/>
          </a:p>
          <a:p>
            <a:pPr marL="203200" indent="-203200">
              <a:spcAft>
                <a:spcPts val="600"/>
              </a:spcAft>
              <a:buSzPct val="100000"/>
              <a:buChar char="•"/>
            </a:pPr>
            <a:r>
              <a:rPr lang="en-US" sz="1600" b="1" dirty="0">
                <a:solidFill>
                  <a:schemeClr val="tx1"/>
                </a:solidFill>
              </a:rPr>
              <a:t>Haz: </a:t>
            </a:r>
            <a:pPr indent="0" marL="0">
              <a:buNone/>
            </a:pPr>
            <a:r>
              <a:rPr lang="en-US" sz="1600" dirty="0">
                <a:solidFill>
                  <a:schemeClr val="tx1"/>
                </a:solidFill>
              </a:rPr>
              <a:t>asimétrico, con línea de corte horizontal y ascenso de 15° hacia el lado derecho.</a:t>
            </a:r>
            <a:endParaRPr lang="en-US" sz="1600" dirty="0"/>
          </a:p>
          <a:p>
            <a:pPr marL="203200" indent="-203200">
              <a:spcAft>
                <a:spcPts val="600"/>
              </a:spcAft>
              <a:buSzPct val="100000"/>
              <a:buChar char="•"/>
            </a:pPr>
            <a:r>
              <a:rPr lang="en-US" sz="1600" b="1" dirty="0">
                <a:solidFill>
                  <a:schemeClr val="tx1"/>
                </a:solidFill>
              </a:rPr>
              <a:t>Parámetros: </a:t>
            </a:r>
            <a:pPr indent="0" marL="0">
              <a:buNone/>
            </a:pPr>
            <a:r>
              <a:rPr lang="en-US" sz="1600" dirty="0">
                <a:solidFill>
                  <a:schemeClr val="tx1"/>
                </a:solidFill>
              </a:rPr>
              <a:t>profundidad, anchura y confort; el deslumbramiento crece si el faro está alto.</a:t>
            </a:r>
            <a:endParaRPr lang="en-US" sz="1600" dirty="0"/>
          </a:p>
          <a:p>
            <a:pPr marL="203200" indent="-203200">
              <a:spcAft>
                <a:spcPts val="600"/>
              </a:spcAft>
              <a:buSzPct val="100000"/>
              <a:buChar char="•"/>
            </a:pPr>
            <a:r>
              <a:rPr lang="en-US" sz="1600" b="1" dirty="0">
                <a:solidFill>
                  <a:schemeClr val="tx1"/>
                </a:solidFill>
              </a:rPr>
              <a:t>Bornes: </a:t>
            </a:r>
            <a:pPr indent="0" marL="0">
              <a:buNone/>
            </a:pPr>
            <a:r>
              <a:rPr lang="en-US" sz="1600" dirty="0">
                <a:solidFill>
                  <a:schemeClr val="tx1"/>
                </a:solidFill>
              </a:rPr>
              <a:t>56b (cruce). Dos lámparas, una por faro.</a:t>
            </a:r>
            <a:endParaRPr lang="en-US" sz="1600" dirty="0"/>
          </a:p>
          <a:p>
            <a:pPr marL="203200" indent="-203200">
              <a:spcAft>
                <a:spcPts val="600"/>
              </a:spcAft>
              <a:buSzPct val="100000"/>
              <a:buChar char="•"/>
            </a:pPr>
            <a:r>
              <a:rPr lang="en-US" sz="1600" b="1" dirty="0">
                <a:solidFill>
                  <a:schemeClr val="tx1"/>
                </a:solidFill>
              </a:rPr>
              <a:t>Precaución: </a:t>
            </a:r>
            <a:pPr indent="0" marL="0">
              <a:buNone/>
            </a:pPr>
            <a:r>
              <a:rPr lang="en-US" sz="1600" dirty="0">
                <a:solidFill>
                  <a:schemeClr val="tx1"/>
                </a:solidFill>
              </a:rPr>
              <a:t>si se cambia la carga del vehículo, corregir la altura (tema 4.12).</a:t>
            </a:r>
            <a:endParaRPr lang="en-US" sz="1600" dirty="0"/>
          </a:p>
        </p:txBody>
      </p:sp>
      <p:pic>
        <p:nvPicPr>
          <p:cNvPr id="5" name="Figura M_p066_0.png" descr="M_p066_0.png">    </p:cNvPr>
          <p:cNvPicPr>
            <a:picLocks noChangeAspect="1"/>
          </p:cNvPicPr>
          <p:nvPr/>
        </p:nvPicPr>
        <p:blipFill>
          <a:blip r:embed="rId1"/>
          <a:stretch>
            <a:fillRect/>
          </a:stretch>
        </p:blipFill>
        <p:spPr>
          <a:xfrm>
            <a:off x="6657335" y="1234440"/>
            <a:ext cx="4790451" cy="2560320"/>
          </a:xfrm>
          <a:prstGeom prst="rect">
            <a:avLst/>
          </a:prstGeom>
        </p:spPr>
      </p:pic>
      <p:sp>
        <p:nvSpPr>
          <p:cNvPr id="6" name="Text 2"/>
          <p:cNvSpPr txBox="1"/>
          <p:nvPr/>
        </p:nvSpPr>
        <p:spPr>
          <a:xfrm>
            <a:off x="6446520" y="3849624"/>
            <a:ext cx="4790451"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pic>
        <p:nvPicPr>
          <p:cNvPr id="7" name="Figura M_p065_0.png" descr="M_p065_0.png">    </p:cNvPr>
          <p:cNvPicPr>
            <a:picLocks noChangeAspect="1"/>
          </p:cNvPicPr>
          <p:nvPr/>
        </p:nvPicPr>
        <p:blipFill>
          <a:blip r:embed="rId2"/>
          <a:stretch>
            <a:fillRect/>
          </a:stretch>
        </p:blipFill>
        <p:spPr>
          <a:xfrm>
            <a:off x="7903954" y="4251960"/>
            <a:ext cx="2297213" cy="1554480"/>
          </a:xfrm>
          <a:prstGeom prst="rect">
            <a:avLst/>
          </a:prstGeom>
        </p:spPr>
      </p:pic>
      <p:sp>
        <p:nvSpPr>
          <p:cNvPr id="8" name="Text 3"/>
          <p:cNvSpPr txBox="1"/>
          <p:nvPr/>
        </p:nvSpPr>
        <p:spPr>
          <a:xfrm>
            <a:off x="6446520" y="5861304"/>
            <a:ext cx="41148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4.2.5 Alumbrado de carretera</a:t>
            </a:r>
            <a:endParaRPr lang="en-US" sz="2800" dirty="0"/>
          </a:p>
        </p:txBody>
      </p:sp>
      <p:sp>
        <p:nvSpPr>
          <p:cNvPr id="4" name="Text 1"/>
          <p:cNvSpPr txBox="1"/>
          <p:nvPr/>
        </p:nvSpPr>
        <p:spPr>
          <a:xfrm>
            <a:off x="502920" y="1188720"/>
            <a:ext cx="6035040" cy="5029200"/>
          </a:xfrm>
          <a:prstGeom prst="rect">
            <a:avLst/>
          </a:prstGeom>
          <a:noFill/>
          <a:ln/>
        </p:spPr>
        <p:txBody>
          <a:bodyPr wrap="square" lIns="25400" tIns="25400" rIns="50800" bIns="25400" rtlCol="0" anchor="t"/>
          <a:lstStyle/>
          <a:p>
            <a:pPr marL="203200" indent="-203200">
              <a:spcAft>
                <a:spcPts val="600"/>
              </a:spcAft>
              <a:buSzPct val="100000"/>
              <a:buChar char="•"/>
            </a:pPr>
            <a:r>
              <a:rPr lang="en-US" sz="1600" b="1" dirty="0">
                <a:solidFill>
                  <a:schemeClr val="tx1"/>
                </a:solidFill>
              </a:rPr>
              <a:t>Misión: </a:t>
            </a:r>
            <a:pPr indent="0" marL="0">
              <a:buNone/>
            </a:pPr>
            <a:r>
              <a:rPr lang="en-US" sz="1600" dirty="0">
                <a:solidFill>
                  <a:schemeClr val="tx1"/>
                </a:solidFill>
              </a:rPr>
              <a:t>iluminar a gran distancia (≥ 100 m) cuando no hay vehículos de frente.</a:t>
            </a:r>
            <a:endParaRPr lang="en-US" sz="1600" dirty="0"/>
          </a:p>
          <a:p>
            <a:pPr marL="203200" indent="-203200">
              <a:spcAft>
                <a:spcPts val="600"/>
              </a:spcAft>
              <a:buSzPct val="100000"/>
              <a:buChar char="•"/>
            </a:pPr>
            <a:r>
              <a:rPr lang="en-US" sz="1600" b="1" dirty="0">
                <a:solidFill>
                  <a:schemeClr val="tx1"/>
                </a:solidFill>
              </a:rPr>
              <a:t>Encendido: </a:t>
            </a:r>
            <a:pPr indent="0" marL="0">
              <a:buNone/>
            </a:pPr>
            <a:r>
              <a:rPr lang="en-US" sz="1600" dirty="0">
                <a:solidFill>
                  <a:schemeClr val="tx1"/>
                </a:solidFill>
              </a:rPr>
              <a:t>en el mando; testigo azul obligatorio.</a:t>
            </a:r>
            <a:endParaRPr lang="en-US" sz="1600" dirty="0"/>
          </a:p>
          <a:p>
            <a:pPr marL="203200" indent="-203200">
              <a:spcAft>
                <a:spcPts val="600"/>
              </a:spcAft>
              <a:buSzPct val="100000"/>
              <a:buChar char="•"/>
            </a:pPr>
            <a:r>
              <a:rPr lang="en-US" sz="1600" b="1" dirty="0">
                <a:solidFill>
                  <a:schemeClr val="tx1"/>
                </a:solidFill>
              </a:rPr>
              <a:t>Conmutación: </a:t>
            </a:r>
            <a:pPr indent="0" marL="0">
              <a:buNone/>
            </a:pPr>
            <a:r>
              <a:rPr lang="en-US" sz="1600" dirty="0">
                <a:solidFill>
                  <a:schemeClr val="tx1"/>
                </a:solidFill>
              </a:rPr>
              <a:t>en algunos vehículos el cruce se mantiene encendido con la carretera (cruce + carretera simultáneos).</a:t>
            </a:r>
            <a:endParaRPr lang="en-US" sz="1600" dirty="0"/>
          </a:p>
          <a:p>
            <a:pPr marL="203200" indent="-203200">
              <a:spcAft>
                <a:spcPts val="600"/>
              </a:spcAft>
              <a:buSzPct val="100000"/>
              <a:buChar char="•"/>
            </a:pPr>
            <a:r>
              <a:rPr lang="en-US" sz="1600" b="1" dirty="0">
                <a:solidFill>
                  <a:schemeClr val="tx1"/>
                </a:solidFill>
              </a:rPr>
              <a:t>Ráfagas: </a:t>
            </a:r>
            <a:pPr indent="0" marL="0">
              <a:buNone/>
            </a:pPr>
            <a:r>
              <a:rPr lang="en-US" sz="1600" dirty="0">
                <a:solidFill>
                  <a:schemeClr val="tx1"/>
                </a:solidFill>
              </a:rPr>
              <a:t>pulsador que alimenta la carretera de forma momentánea desde +30.</a:t>
            </a:r>
            <a:endParaRPr lang="en-US" sz="1600" dirty="0"/>
          </a:p>
          <a:p>
            <a:pPr marL="203200" indent="-203200">
              <a:spcAft>
                <a:spcPts val="600"/>
              </a:spcAft>
              <a:buSzPct val="100000"/>
              <a:buChar char="•"/>
            </a:pPr>
            <a:r>
              <a:rPr lang="en-US" sz="1600" b="1" dirty="0">
                <a:solidFill>
                  <a:schemeClr val="tx1"/>
                </a:solidFill>
              </a:rPr>
              <a:t>Límite: </a:t>
            </a:r>
            <a:pPr indent="0" marL="0">
              <a:buNone/>
            </a:pPr>
            <a:r>
              <a:rPr lang="en-US" sz="1600" dirty="0">
                <a:solidFill>
                  <a:schemeClr val="tx1"/>
                </a:solidFill>
              </a:rPr>
              <a:t>suma de intensidades ≤ 430 000 cd (CEPE n.º 48).</a:t>
            </a:r>
            <a:endParaRPr lang="en-US" sz="1600" dirty="0"/>
          </a:p>
          <a:p>
            <a:pPr marL="203200" indent="-203200">
              <a:spcAft>
                <a:spcPts val="600"/>
              </a:spcAft>
              <a:buSzPct val="100000"/>
              <a:buChar char="•"/>
            </a:pPr>
            <a:r>
              <a:rPr lang="en-US" sz="1600" b="1" dirty="0">
                <a:solidFill>
                  <a:schemeClr val="tx1"/>
                </a:solidFill>
              </a:rPr>
              <a:t>Bornes: </a:t>
            </a:r>
            <a:pPr indent="0" marL="0">
              <a:buNone/>
            </a:pPr>
            <a:r>
              <a:rPr lang="en-US" sz="1600" dirty="0">
                <a:solidFill>
                  <a:schemeClr val="tx1"/>
                </a:solidFill>
              </a:rPr>
              <a:t>56a (carretera y testigo), 56d (ráfagas).</a:t>
            </a:r>
            <a:endParaRPr lang="en-US" sz="1600" dirty="0"/>
          </a:p>
        </p:txBody>
      </p:sp>
      <p:pic>
        <p:nvPicPr>
          <p:cNvPr id="5" name="Figura M_p078_3.png" descr="M_p078_3.png">    </p:cNvPr>
          <p:cNvPicPr>
            <a:picLocks noChangeAspect="1"/>
          </p:cNvPicPr>
          <p:nvPr/>
        </p:nvPicPr>
        <p:blipFill>
          <a:blip r:embed="rId1"/>
          <a:stretch>
            <a:fillRect/>
          </a:stretch>
        </p:blipFill>
        <p:spPr>
          <a:xfrm>
            <a:off x="8063519" y="1234440"/>
            <a:ext cx="2526722" cy="4480560"/>
          </a:xfrm>
          <a:prstGeom prst="rect">
            <a:avLst/>
          </a:prstGeom>
        </p:spPr>
      </p:pic>
      <p:sp>
        <p:nvSpPr>
          <p:cNvPr id="6" name="Text 2"/>
          <p:cNvSpPr txBox="1"/>
          <p:nvPr/>
        </p:nvSpPr>
        <p:spPr>
          <a:xfrm>
            <a:off x="6995160" y="5769864"/>
            <a:ext cx="41148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4.2.6 Mando de alumbrado</a:t>
            </a:r>
            <a:endParaRPr lang="en-US" sz="2800" dirty="0"/>
          </a:p>
        </p:txBody>
      </p:sp>
      <p:pic>
        <p:nvPicPr>
          <p:cNvPr id="4" name="Figura ll_mando_multi.jpg" descr="ll_mando_multi.jpg">    </p:cNvPr>
          <p:cNvPicPr>
            <a:picLocks noChangeAspect="1"/>
          </p:cNvPicPr>
          <p:nvPr/>
        </p:nvPicPr>
        <p:blipFill>
          <a:blip r:embed="rId1"/>
          <a:stretch>
            <a:fillRect/>
          </a:stretch>
        </p:blipFill>
        <p:spPr>
          <a:xfrm>
            <a:off x="669204" y="1234440"/>
            <a:ext cx="3873672" cy="2926080"/>
          </a:xfrm>
          <a:prstGeom prst="rect">
            <a:avLst/>
          </a:prstGeom>
        </p:spPr>
      </p:pic>
      <p:sp>
        <p:nvSpPr>
          <p:cNvPr id="5" name="Text 1"/>
          <p:cNvSpPr txBox="1"/>
          <p:nvPr/>
        </p:nvSpPr>
        <p:spPr>
          <a:xfrm>
            <a:off x="548640" y="4215384"/>
            <a:ext cx="41148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6" name="Figura ll_mando_rot.jpg" descr="ll_mando_rot.jpg">    </p:cNvPr>
          <p:cNvPicPr>
            <a:picLocks noChangeAspect="1"/>
          </p:cNvPicPr>
          <p:nvPr/>
        </p:nvPicPr>
        <p:blipFill>
          <a:blip r:embed="rId2"/>
          <a:stretch>
            <a:fillRect/>
          </a:stretch>
        </p:blipFill>
        <p:spPr>
          <a:xfrm>
            <a:off x="4892040" y="1264822"/>
            <a:ext cx="3291840" cy="1768037"/>
          </a:xfrm>
          <a:prstGeom prst="rect">
            <a:avLst/>
          </a:prstGeom>
        </p:spPr>
      </p:pic>
      <p:sp>
        <p:nvSpPr>
          <p:cNvPr id="7" name="Text 2"/>
          <p:cNvSpPr txBox="1"/>
          <p:nvPr/>
        </p:nvSpPr>
        <p:spPr>
          <a:xfrm>
            <a:off x="4892040" y="3087722"/>
            <a:ext cx="32918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8" name="Figura M_p103_0.png" descr="M_p103_0.png">    </p:cNvPr>
          <p:cNvPicPr>
            <a:picLocks noChangeAspect="1"/>
          </p:cNvPicPr>
          <p:nvPr/>
        </p:nvPicPr>
        <p:blipFill>
          <a:blip r:embed="rId3"/>
          <a:stretch>
            <a:fillRect/>
          </a:stretch>
        </p:blipFill>
        <p:spPr>
          <a:xfrm>
            <a:off x="8537975" y="1234440"/>
            <a:ext cx="3040849" cy="2468880"/>
          </a:xfrm>
          <a:prstGeom prst="rect">
            <a:avLst/>
          </a:prstGeom>
        </p:spPr>
      </p:pic>
      <p:sp>
        <p:nvSpPr>
          <p:cNvPr id="9" name="Text 3"/>
          <p:cNvSpPr txBox="1"/>
          <p:nvPr/>
        </p:nvSpPr>
        <p:spPr>
          <a:xfrm>
            <a:off x="8458200" y="3758184"/>
            <a:ext cx="32918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10" name="Text 4"/>
          <p:cNvSpPr txBox="1"/>
          <p:nvPr/>
        </p:nvSpPr>
        <p:spPr>
          <a:xfrm>
            <a:off x="502920" y="4754880"/>
            <a:ext cx="11201400" cy="1463040"/>
          </a:xfrm>
          <a:prstGeom prst="rect">
            <a:avLst/>
          </a:prstGeom>
          <a:noFill/>
          <a:ln/>
        </p:spPr>
        <p:txBody>
          <a:bodyPr wrap="square" lIns="25400" tIns="25400" rIns="50800" bIns="25400" rtlCol="0" anchor="t"/>
          <a:lstStyle/>
          <a:p>
            <a:pPr marL="203200" indent="-203200">
              <a:spcAft>
                <a:spcPts val="600"/>
              </a:spcAft>
              <a:buSzPct val="100000"/>
              <a:buChar char="•"/>
            </a:pPr>
            <a:r>
              <a:rPr lang="en-US" sz="1500" dirty="0">
                <a:solidFill>
                  <a:schemeClr val="tx1"/>
                </a:solidFill>
              </a:rPr>
              <a:t>Posiciones típicas: 0 – posición (58) – cruce (56b) – carretera (56a) – ráfagas (56d) – AUTO.</a:t>
            </a:r>
            <a:endParaRPr lang="en-US" sz="1500" dirty="0"/>
          </a:p>
          <a:p>
            <a:pPr marL="203200" indent="-203200">
              <a:spcAft>
                <a:spcPts val="600"/>
              </a:spcAft>
              <a:buSzPct val="100000"/>
              <a:buChar char="•"/>
            </a:pPr>
            <a:r>
              <a:rPr lang="en-US" sz="1500" dirty="0">
                <a:solidFill>
                  <a:schemeClr val="tx1"/>
                </a:solidFill>
              </a:rPr>
              <a:t>Antes de conectar un mando desconocido se identifican sus terminales por continuidad en cada posición (práctica 14).</a:t>
            </a:r>
            <a:endParaRPr lang="en-US" sz="1500" dirty="0"/>
          </a:p>
          <a:p>
            <a:pPr marL="203200" indent="-203200">
              <a:spcAft>
                <a:spcPts val="600"/>
              </a:spcAft>
              <a:buSzPct val="100000"/>
              <a:buChar char="•"/>
            </a:pPr>
            <a:r>
              <a:rPr lang="en-US" sz="1500" dirty="0">
                <a:solidFill>
                  <a:schemeClr val="tx1"/>
                </a:solidFill>
              </a:rPr>
              <a:t>Los mandos modernos solo envían señales a una centralita (red CAN/LIN); no conducen la corriente de las lámparas.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body" hasCustomPrompt="1"/>
          </p:nvPr>
        </p:nvSpPr>
        <p:spPr>
          <a:xfrm>
            <a:off x="731520" y="1463040"/>
            <a:ext cx="4114800" cy="1463040"/>
          </a:xfrm>
          <a:prstGeom prst="rect">
            <a:avLst/>
          </a:prstGeom>
          <a:noFill/>
          <a:ln/>
        </p:spPr>
        <p:txBody>
          <a:bodyPr wrap="square" rtlCol="0" anchor="b"/>
          <a:lstStyle/>
          <a:p>
            <a:pPr algn="l" indent="0" marL="0">
              <a:buNone/>
            </a:pPr>
            <a:r>
              <a:rPr lang="en-US" sz="8000" b="1" dirty="0">
                <a:solidFill>
                  <a:schemeClr val="accent2"/>
                </a:solidFill>
              </a:rPr>
              <a:t>4.3</a:t>
            </a:r>
            <a:endParaRPr lang="en-US" sz="8000" dirty="0"/>
          </a:p>
        </p:txBody>
      </p:sp>
      <p:sp>
        <p:nvSpPr>
          <p:cNvPr id="3" name="Text 1"/>
          <p:cNvSpPr/>
          <p:nvPr>
            <p:ph idx="103" type="title" hasCustomPrompt="1"/>
          </p:nvPr>
        </p:nvSpPr>
        <p:spPr>
          <a:xfrm>
            <a:off x="731520" y="2971800"/>
            <a:ext cx="10515600" cy="1371600"/>
          </a:xfrm>
          <a:prstGeom prst="rect">
            <a:avLst/>
          </a:prstGeom>
          <a:noFill/>
          <a:ln/>
        </p:spPr>
        <p:txBody>
          <a:bodyPr wrap="square" rtlCol="0" anchor="t"/>
          <a:lstStyle/>
          <a:p>
            <a:pPr algn="l" indent="0" marL="0">
              <a:buNone/>
            </a:pPr>
            <a:r>
              <a:rPr lang="en-US" sz="4000" b="1" dirty="0">
                <a:solidFill>
                  <a:schemeClr val="bg1"/>
                </a:solidFill>
              </a:rPr>
              <a:t>Circuitos de posición, cruce y carretera</a:t>
            </a:r>
            <a:endParaRPr lang="en-US" sz="4000" dirty="0"/>
          </a:p>
        </p:txBody>
      </p:sp>
      <p:sp>
        <p:nvSpPr>
          <p:cNvPr id="4" name="Text 1"/>
          <p:cNvSpPr/>
          <p:nvPr>
            <p:ph idx="104" type="body" hasCustomPrompt="1"/>
          </p:nvPr>
        </p:nvSpPr>
        <p:spPr>
          <a:xfrm>
            <a:off x="731520" y="4434840"/>
            <a:ext cx="10058400" cy="1463040"/>
          </a:xfrm>
          <a:prstGeom prst="rect">
            <a:avLst/>
          </a:prstGeom>
          <a:noFill/>
          <a:ln/>
        </p:spPr>
        <p:txBody>
          <a:bodyPr wrap="square" rtlCol="0" anchor="t"/>
          <a:lstStyle/>
          <a:p>
            <a:pPr algn="l" indent="0" marL="0">
              <a:buNone/>
            </a:pPr>
            <a:r>
              <a:rPr lang="en-US" sz="1800" dirty="0">
                <a:solidFill>
                  <a:schemeClr val="bg2"/>
                </a:solidFill>
              </a:rPr>
              <a:t>Del interruptor simple al mando multifunción con relés y centralita</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Circuito con conmutadores diferenciados y relés</a:t>
            </a:r>
            <a:endParaRPr lang="en-US" sz="2800" dirty="0"/>
          </a:p>
        </p:txBody>
      </p:sp>
      <p:pic>
        <p:nvPicPr>
          <p:cNvPr id="4" name="Figura ll_esq61.jpg" descr="ll_esq61.jpg">    </p:cNvPr>
          <p:cNvPicPr>
            <a:picLocks noChangeAspect="1"/>
          </p:cNvPicPr>
          <p:nvPr/>
        </p:nvPicPr>
        <p:blipFill>
          <a:blip r:embed="rId1"/>
          <a:stretch>
            <a:fillRect/>
          </a:stretch>
        </p:blipFill>
        <p:spPr>
          <a:xfrm>
            <a:off x="502920" y="1297021"/>
            <a:ext cx="6949440" cy="3166677"/>
          </a:xfrm>
          <a:prstGeom prst="rect">
            <a:avLst/>
          </a:prstGeom>
        </p:spPr>
      </p:pic>
      <p:sp>
        <p:nvSpPr>
          <p:cNvPr id="5" name="Text 1"/>
          <p:cNvSpPr txBox="1"/>
          <p:nvPr/>
        </p:nvSpPr>
        <p:spPr>
          <a:xfrm>
            <a:off x="502920" y="4518563"/>
            <a:ext cx="69494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sp>
        <p:nvSpPr>
          <p:cNvPr id="6" name="Text 2"/>
          <p:cNvSpPr txBox="1"/>
          <p:nvPr/>
        </p:nvSpPr>
        <p:spPr>
          <a:xfrm>
            <a:off x="7680960" y="1188720"/>
            <a:ext cx="4023360" cy="3657600"/>
          </a:xfrm>
          <a:prstGeom prst="rect">
            <a:avLst/>
          </a:prstGeom>
          <a:noFill/>
          <a:ln/>
        </p:spPr>
        <p:txBody>
          <a:bodyPr wrap="square" lIns="25400" tIns="25400" rIns="50800" bIns="25400" rtlCol="0" anchor="t"/>
          <a:lstStyle/>
          <a:p>
            <a:pPr marL="203200" indent="-203200">
              <a:spcAft>
                <a:spcPts val="600"/>
              </a:spcAft>
              <a:buSzPct val="100000"/>
              <a:buChar char="•"/>
            </a:pPr>
            <a:r>
              <a:rPr lang="en-US" sz="1500" b="1" dirty="0">
                <a:solidFill>
                  <a:schemeClr val="tx1"/>
                </a:solidFill>
              </a:rPr>
              <a:t>RL1: </a:t>
            </a:r>
            <a:pPr indent="0" marL="0">
              <a:buNone/>
            </a:pPr>
            <a:r>
              <a:rPr lang="en-US" sz="1500" dirty="0">
                <a:solidFill>
                  <a:schemeClr val="tx1"/>
                </a:solidFill>
              </a:rPr>
              <a:t>posición; RL2: cruce; RL3: carretera.</a:t>
            </a:r>
            <a:endParaRPr lang="en-US" sz="1500" dirty="0"/>
          </a:p>
          <a:p>
            <a:pPr marL="203200" indent="-203200">
              <a:spcAft>
                <a:spcPts val="600"/>
              </a:spcAft>
              <a:buSzPct val="100000"/>
              <a:buChar char="•"/>
            </a:pPr>
            <a:r>
              <a:rPr lang="en-US" sz="1500" b="1" dirty="0">
                <a:solidFill>
                  <a:schemeClr val="tx1"/>
                </a:solidFill>
              </a:rPr>
              <a:t>Fusible por lámpara: </a:t>
            </a:r>
            <a:pPr indent="0" marL="0">
              <a:buNone/>
            </a:pPr>
            <a:r>
              <a:rPr lang="en-US" sz="1500" dirty="0">
                <a:solidFill>
                  <a:schemeClr val="tx1"/>
                </a:solidFill>
              </a:rPr>
              <a:t>una avería no deja el vehículo a oscuras.</a:t>
            </a:r>
            <a:endParaRPr lang="en-US" sz="1500" dirty="0"/>
          </a:p>
          <a:p>
            <a:pPr marL="203200" indent="-203200">
              <a:spcAft>
                <a:spcPts val="600"/>
              </a:spcAft>
              <a:buSzPct val="100000"/>
              <a:buChar char="•"/>
            </a:pPr>
            <a:r>
              <a:rPr lang="en-US" sz="1500" b="1" dirty="0">
                <a:solidFill>
                  <a:schemeClr val="tx1"/>
                </a:solidFill>
              </a:rPr>
              <a:t>+30 en ráfagas: </a:t>
            </a:r>
            <a:pPr indent="0" marL="0">
              <a:buNone/>
            </a:pPr>
            <a:r>
              <a:rPr lang="en-US" sz="1500" dirty="0">
                <a:solidFill>
                  <a:schemeClr val="tx1"/>
                </a:solidFill>
              </a:rPr>
              <a:t>funcionan con el vehículo parado.</a:t>
            </a:r>
            <a:endParaRPr lang="en-US" sz="1500" dirty="0"/>
          </a:p>
        </p:txBody>
      </p:sp>
      <p:sp>
        <p:nvSpPr>
          <p:cNvPr id="7" name="Tarjeta ¿Por qué relés?"/>
          <p:cNvSpPr/>
          <p:nvPr/>
        </p:nvSpPr>
        <p:spPr>
          <a:xfrm>
            <a:off x="502920" y="5074920"/>
            <a:ext cx="11201400" cy="1051560"/>
          </a:xfrm>
          <a:prstGeom prst="roundRect">
            <a:avLst>
              <a:gd name="adj" fmla="val 6957"/>
            </a:avLst>
          </a:prstGeom>
          <a:solidFill>
            <a:srgbClr val="E4F1F1"/>
          </a:solidFill>
          <a:ln w="12700">
            <a:solidFill>
              <a:srgbClr val="E4F1F1"/>
            </a:solidFill>
            <a:prstDash val="solid"/>
          </a:ln>
        </p:spPr>
      </p:sp>
      <p:sp>
        <p:nvSpPr>
          <p:cNvPr id="8" name="Text 4"/>
          <p:cNvSpPr txBox="1"/>
          <p:nvPr/>
        </p:nvSpPr>
        <p:spPr>
          <a:xfrm>
            <a:off x="667512" y="5184648"/>
            <a:ext cx="10872216" cy="411480"/>
          </a:xfrm>
          <a:prstGeom prst="rect">
            <a:avLst/>
          </a:prstGeom>
          <a:noFill/>
          <a:ln/>
        </p:spPr>
        <p:txBody>
          <a:bodyPr wrap="square" lIns="0" tIns="0" rIns="0" bIns="0" rtlCol="0" anchor="t"/>
          <a:lstStyle/>
          <a:p>
            <a:pPr indent="0" marL="0">
              <a:buNone/>
            </a:pPr>
            <a:r>
              <a:rPr lang="en-US" sz="1700" b="1" dirty="0">
                <a:solidFill>
                  <a:schemeClr val="accent1"/>
                </a:solidFill>
              </a:rPr>
              <a:t>¿Por qué relés?</a:t>
            </a:r>
            <a:endParaRPr lang="en-US" sz="1700" dirty="0"/>
          </a:p>
        </p:txBody>
      </p:sp>
      <p:sp>
        <p:nvSpPr>
          <p:cNvPr id="9" name="Text 5"/>
          <p:cNvSpPr txBox="1"/>
          <p:nvPr/>
        </p:nvSpPr>
        <p:spPr>
          <a:xfrm>
            <a:off x="667512" y="5623560"/>
            <a:ext cx="10872216" cy="41148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Para que la corriente de las lámparas (≈ 9 A en cruce) no atraviese el mando, que es caro y difícil de cambiar; el mando solo excita la bobina del relé (≈ 0,15 A).</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Circuito con mando multifunción</a:t>
            </a:r>
            <a:endParaRPr lang="en-US" sz="2800" dirty="0"/>
          </a:p>
        </p:txBody>
      </p:sp>
      <p:pic>
        <p:nvPicPr>
          <p:cNvPr id="4" name="Figura ll_esq62.jpg" descr="ll_esq62.jpg">    </p:cNvPr>
          <p:cNvPicPr>
            <a:picLocks noChangeAspect="1"/>
          </p:cNvPicPr>
          <p:nvPr/>
        </p:nvPicPr>
        <p:blipFill>
          <a:blip r:embed="rId1"/>
          <a:stretch>
            <a:fillRect/>
          </a:stretch>
        </p:blipFill>
        <p:spPr>
          <a:xfrm>
            <a:off x="502920" y="1297816"/>
            <a:ext cx="6766560" cy="3256529"/>
          </a:xfrm>
          <a:prstGeom prst="rect">
            <a:avLst/>
          </a:prstGeom>
        </p:spPr>
      </p:pic>
      <p:sp>
        <p:nvSpPr>
          <p:cNvPr id="5" name="Text 1"/>
          <p:cNvSpPr txBox="1"/>
          <p:nvPr/>
        </p:nvSpPr>
        <p:spPr>
          <a:xfrm>
            <a:off x="502920" y="4609208"/>
            <a:ext cx="67665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6" name="Figura M_p098_0.png" descr="M_p098_0.png">    </p:cNvPr>
          <p:cNvPicPr>
            <a:picLocks noChangeAspect="1"/>
          </p:cNvPicPr>
          <p:nvPr/>
        </p:nvPicPr>
        <p:blipFill>
          <a:blip r:embed="rId2"/>
          <a:stretch>
            <a:fillRect/>
          </a:stretch>
        </p:blipFill>
        <p:spPr>
          <a:xfrm>
            <a:off x="7498080" y="1780232"/>
            <a:ext cx="4206240" cy="3388977"/>
          </a:xfrm>
          <a:prstGeom prst="rect">
            <a:avLst/>
          </a:prstGeom>
        </p:spPr>
      </p:pic>
      <p:sp>
        <p:nvSpPr>
          <p:cNvPr id="7" name="Text 2"/>
          <p:cNvSpPr txBox="1"/>
          <p:nvPr/>
        </p:nvSpPr>
        <p:spPr>
          <a:xfrm>
            <a:off x="7498080" y="5224072"/>
            <a:ext cx="42062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8" name="Text 3"/>
          <p:cNvSpPr txBox="1"/>
          <p:nvPr/>
        </p:nvSpPr>
        <p:spPr>
          <a:xfrm>
            <a:off x="502920" y="5212080"/>
            <a:ext cx="6766560" cy="914400"/>
          </a:xfrm>
          <a:prstGeom prst="rect">
            <a:avLst/>
          </a:prstGeom>
          <a:noFill/>
          <a:ln/>
        </p:spPr>
        <p:txBody>
          <a:bodyPr wrap="square" lIns="25400" tIns="25400" rIns="50800" bIns="25400" rtlCol="0" anchor="t"/>
          <a:lstStyle/>
          <a:p>
            <a:pPr marL="203200" indent="-203200">
              <a:spcAft>
                <a:spcPts val="600"/>
              </a:spcAft>
              <a:buSzPct val="100000"/>
              <a:buChar char="•"/>
            </a:pPr>
            <a:r>
              <a:rPr lang="en-US" sz="1400" dirty="0">
                <a:solidFill>
                  <a:schemeClr val="tx1"/>
                </a:solidFill>
              </a:rPr>
              <a:t>Esquema real (derecha): K1/K2 testigos, J1/J2 relés de carretera y cruce, fusibles F12–F15 por lámpara.</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Ejemplo resuelto: ¿cuánto protege el relé al mando?</a:t>
            </a:r>
            <a:endParaRPr lang="en-US" sz="2800" dirty="0"/>
          </a:p>
        </p:txBody>
      </p:sp>
      <p:sp>
        <p:nvSpPr>
          <p:cNvPr id="4" name="Shape 1"/>
          <p:cNvSpPr/>
          <p:nvPr/>
        </p:nvSpPr>
        <p:spPr>
          <a:xfrm>
            <a:off x="502920" y="1234440"/>
            <a:ext cx="2103120" cy="365760"/>
          </a:xfrm>
          <a:prstGeom prst="roundRect">
            <a:avLst>
              <a:gd name="adj" fmla="val 50000"/>
            </a:avLst>
          </a:prstGeom>
          <a:solidFill>
            <a:srgbClr val="F2A516"/>
          </a:solidFill>
          <a:ln w="12700">
            <a:solidFill>
              <a:srgbClr val="F2A516"/>
            </a:solidFill>
            <a:prstDash val="solid"/>
          </a:ln>
        </p:spPr>
      </p:sp>
      <p:sp>
        <p:nvSpPr>
          <p:cNvPr id="5" name="Text 2"/>
          <p:cNvSpPr txBox="1"/>
          <p:nvPr/>
        </p:nvSpPr>
        <p:spPr>
          <a:xfrm>
            <a:off x="502920" y="1234440"/>
            <a:ext cx="2103120" cy="365760"/>
          </a:xfrm>
          <a:prstGeom prst="rect">
            <a:avLst/>
          </a:prstGeom>
          <a:noFill/>
          <a:ln/>
        </p:spPr>
        <p:txBody>
          <a:bodyPr wrap="square" lIns="0" tIns="0" rIns="0" bIns="0" rtlCol="0" anchor="ctr"/>
          <a:lstStyle/>
          <a:p>
            <a:pPr algn="ctr" indent="0" marL="0">
              <a:buNone/>
            </a:pPr>
            <a:r>
              <a:rPr lang="en-US" sz="1300" b="1" dirty="0">
                <a:solidFill>
                  <a:srgbClr val="1B2A33"/>
                </a:solidFill>
              </a:rPr>
              <a:t>Ejemplo resuelto</a:t>
            </a:r>
            <a:endParaRPr lang="en-US" sz="1300" dirty="0"/>
          </a:p>
        </p:txBody>
      </p:sp>
      <p:sp>
        <p:nvSpPr>
          <p:cNvPr id="6" name="Text 3"/>
          <p:cNvSpPr txBox="1"/>
          <p:nvPr/>
        </p:nvSpPr>
        <p:spPr>
          <a:xfrm>
            <a:off x="502920" y="1737360"/>
            <a:ext cx="5760720" cy="4480560"/>
          </a:xfrm>
          <a:prstGeom prst="rect">
            <a:avLst/>
          </a:prstGeom>
          <a:noFill/>
          <a:ln/>
        </p:spPr>
        <p:txBody>
          <a:bodyPr wrap="square" lIns="25400" tIns="25400" rIns="50800" bIns="25400" rtlCol="0" anchor="t"/>
          <a:lstStyle/>
          <a:p>
            <a:pPr indent="0" marL="0">
              <a:spcAft>
                <a:spcPts val="400"/>
              </a:spcAft>
              <a:buNone/>
            </a:pPr>
            <a:r>
              <a:rPr lang="en-US" sz="1700" b="1" dirty="0">
                <a:solidFill>
                  <a:schemeClr val="accent1"/>
                </a:solidFill>
              </a:rPr>
              <a:t>Datos</a:t>
            </a:r>
            <a:endParaRPr lang="en-US" sz="1700" dirty="0"/>
          </a:p>
          <a:p>
            <a:pPr marL="203200" indent="-203200">
              <a:spcAft>
                <a:spcPts val="600"/>
              </a:spcAft>
              <a:buSzPct val="100000"/>
              <a:buChar char="•"/>
            </a:pPr>
            <a:r>
              <a:rPr lang="en-US" sz="1600" dirty="0">
                <a:solidFill>
                  <a:schemeClr val="tx1"/>
                </a:solidFill>
              </a:rPr>
              <a:t>Cruce: 2 lámparas H7 de 55 W a 12 V. Bobina del relé: 80 Ω.</a:t>
            </a:r>
            <a:endParaRPr lang="en-US" sz="1700" dirty="0"/>
          </a:p>
          <a:p>
            <a:pPr indent="0" marL="0">
              <a:spcAft>
                <a:spcPts val="400"/>
              </a:spcAft>
              <a:buNone/>
            </a:pPr>
            <a:r>
              <a:rPr lang="en-US" sz="1700" b="1" dirty="0">
                <a:solidFill>
                  <a:schemeClr val="accent1"/>
                </a:solidFill>
              </a:rPr>
              <a:t>Corriente por las lámparas (contacto 30–87)</a:t>
            </a:r>
            <a:endParaRPr lang="en-US" sz="1700" dirty="0"/>
          </a:p>
          <a:p>
            <a:pPr marL="203200" indent="-203200">
              <a:spcAft>
                <a:spcPts val="600"/>
              </a:spcAft>
              <a:buSzPct val="100000"/>
              <a:buChar char="•"/>
            </a:pPr>
            <a:r>
              <a:rPr lang="en-US" sz="1600" dirty="0">
                <a:solidFill>
                  <a:schemeClr val="tx1"/>
                </a:solidFill>
              </a:rPr>
              <a:t>I = P / U = (2 × 55) / 12 = 9,17 A</a:t>
            </a:r>
            <a:endParaRPr lang="en-US" sz="1700" dirty="0"/>
          </a:p>
          <a:p>
            <a:pPr indent="0" marL="0">
              <a:spcAft>
                <a:spcPts val="400"/>
              </a:spcAft>
              <a:buNone/>
            </a:pPr>
            <a:r>
              <a:rPr lang="en-US" sz="1700" b="1" dirty="0">
                <a:solidFill>
                  <a:schemeClr val="accent1"/>
                </a:solidFill>
              </a:rPr>
              <a:t>Corriente por el mando (bobina 86–85)</a:t>
            </a:r>
            <a:endParaRPr lang="en-US" sz="1700" dirty="0"/>
          </a:p>
          <a:p>
            <a:pPr marL="203200" indent="-203200">
              <a:spcAft>
                <a:spcPts val="600"/>
              </a:spcAft>
              <a:buSzPct val="100000"/>
              <a:buChar char="•"/>
            </a:pPr>
            <a:r>
              <a:rPr lang="en-US" sz="1600" dirty="0">
                <a:solidFill>
                  <a:schemeClr val="tx1"/>
                </a:solidFill>
              </a:rPr>
              <a:t>I = U / R = 12 / 80 = 0,15 A</a:t>
            </a:r>
            <a:endParaRPr lang="en-US" sz="1700" dirty="0"/>
          </a:p>
          <a:p>
            <a:pPr indent="0" marL="0">
              <a:spcAft>
                <a:spcPts val="400"/>
              </a:spcAft>
              <a:buNone/>
            </a:pPr>
            <a:r>
              <a:rPr lang="en-US" sz="1700" b="1" dirty="0">
                <a:solidFill>
                  <a:schemeClr val="accent1"/>
                </a:solidFill>
              </a:rPr>
              <a:t>Conclusión</a:t>
            </a:r>
            <a:endParaRPr lang="en-US" sz="1700" dirty="0"/>
          </a:p>
          <a:p>
            <a:pPr marL="203200" indent="-203200">
              <a:spcAft>
                <a:spcPts val="600"/>
              </a:spcAft>
              <a:buSzPct val="100000"/>
              <a:buChar char="•"/>
            </a:pPr>
            <a:r>
              <a:rPr lang="en-US" sz="1600" dirty="0">
                <a:solidFill>
                  <a:schemeClr val="tx1"/>
                </a:solidFill>
              </a:rPr>
              <a:t>El mando conmuta 0,15 A en lugar de 9,17 A (≈ 60 veces menos).</a:t>
            </a:r>
            <a:endParaRPr lang="en-US" sz="1700" dirty="0"/>
          </a:p>
        </p:txBody>
      </p:sp>
      <p:sp>
        <p:nvSpPr>
          <p:cNvPr id="7" name="Shape 4"/>
          <p:cNvSpPr/>
          <p:nvPr/>
        </p:nvSpPr>
        <p:spPr>
          <a:xfrm>
            <a:off x="6492240" y="1554480"/>
            <a:ext cx="4206240" cy="0"/>
          </a:xfrm>
          <a:prstGeom prst="line">
            <a:avLst/>
          </a:prstGeom>
          <a:noFill/>
          <a:ln w="28575">
            <a:solidFill>
              <a:srgbClr val="C0392B"/>
            </a:solidFill>
            <a:prstDash val="solid"/>
          </a:ln>
        </p:spPr>
      </p:sp>
      <p:sp>
        <p:nvSpPr>
          <p:cNvPr id="8" name="Text 5"/>
          <p:cNvSpPr txBox="1"/>
          <p:nvPr/>
        </p:nvSpPr>
        <p:spPr>
          <a:xfrm>
            <a:off x="10744200" y="1417320"/>
            <a:ext cx="1188720" cy="274320"/>
          </a:xfrm>
          <a:prstGeom prst="rect">
            <a:avLst/>
          </a:prstGeom>
          <a:noFill/>
          <a:ln/>
        </p:spPr>
        <p:txBody>
          <a:bodyPr wrap="square" lIns="0" tIns="0" rIns="0" bIns="0" rtlCol="0" anchor="ctr"/>
          <a:lstStyle/>
          <a:p>
            <a:pPr algn="l" indent="0" marL="0">
              <a:buNone/>
            </a:pPr>
            <a:r>
              <a:rPr lang="en-US" sz="1100" b="1" dirty="0">
                <a:solidFill>
                  <a:srgbClr val="C0392B"/>
                </a:solidFill>
              </a:rPr>
              <a:t>30 (+ batería)</a:t>
            </a:r>
            <a:endParaRPr lang="en-US" sz="1100" dirty="0"/>
          </a:p>
        </p:txBody>
      </p:sp>
      <p:sp>
        <p:nvSpPr>
          <p:cNvPr id="9" name="Shape 6"/>
          <p:cNvSpPr/>
          <p:nvPr/>
        </p:nvSpPr>
        <p:spPr>
          <a:xfrm>
            <a:off x="6492240" y="1920240"/>
            <a:ext cx="4206240" cy="0"/>
          </a:xfrm>
          <a:prstGeom prst="line">
            <a:avLst/>
          </a:prstGeom>
          <a:noFill/>
          <a:ln w="15875">
            <a:solidFill>
              <a:srgbClr val="C0392B"/>
            </a:solidFill>
            <a:prstDash val="solid"/>
          </a:ln>
        </p:spPr>
      </p:sp>
      <p:sp>
        <p:nvSpPr>
          <p:cNvPr id="10" name="Text 7"/>
          <p:cNvSpPr txBox="1"/>
          <p:nvPr/>
        </p:nvSpPr>
        <p:spPr>
          <a:xfrm>
            <a:off x="10744200" y="1783080"/>
            <a:ext cx="1188720" cy="274320"/>
          </a:xfrm>
          <a:prstGeom prst="rect">
            <a:avLst/>
          </a:prstGeom>
          <a:noFill/>
          <a:ln/>
        </p:spPr>
        <p:txBody>
          <a:bodyPr wrap="square" lIns="0" tIns="0" rIns="0" bIns="0" rtlCol="0" anchor="ctr"/>
          <a:lstStyle/>
          <a:p>
            <a:pPr algn="l" indent="0" marL="0">
              <a:buNone/>
            </a:pPr>
            <a:r>
              <a:rPr lang="en-US" sz="1100" b="1" dirty="0">
                <a:solidFill>
                  <a:srgbClr val="C0392B"/>
                </a:solidFill>
              </a:rPr>
              <a:t>15 (+ contacto)</a:t>
            </a:r>
            <a:endParaRPr lang="en-US" sz="1100" dirty="0"/>
          </a:p>
        </p:txBody>
      </p:sp>
      <p:sp>
        <p:nvSpPr>
          <p:cNvPr id="11" name="Shape 8"/>
          <p:cNvSpPr/>
          <p:nvPr/>
        </p:nvSpPr>
        <p:spPr>
          <a:xfrm>
            <a:off x="6492240" y="5486400"/>
            <a:ext cx="4206240" cy="0"/>
          </a:xfrm>
          <a:prstGeom prst="line">
            <a:avLst/>
          </a:prstGeom>
          <a:noFill/>
          <a:ln w="28575">
            <a:solidFill>
              <a:srgbClr val="2E6DA4"/>
            </a:solidFill>
            <a:prstDash val="solid"/>
          </a:ln>
        </p:spPr>
      </p:sp>
      <p:sp>
        <p:nvSpPr>
          <p:cNvPr id="12" name="Text 9"/>
          <p:cNvSpPr txBox="1"/>
          <p:nvPr/>
        </p:nvSpPr>
        <p:spPr>
          <a:xfrm>
            <a:off x="10744200" y="5349240"/>
            <a:ext cx="1097280" cy="274320"/>
          </a:xfrm>
          <a:prstGeom prst="rect">
            <a:avLst/>
          </a:prstGeom>
          <a:noFill/>
          <a:ln/>
        </p:spPr>
        <p:txBody>
          <a:bodyPr wrap="square" lIns="0" tIns="0" rIns="0" bIns="0" rtlCol="0" anchor="ctr"/>
          <a:lstStyle/>
          <a:p>
            <a:pPr algn="l" indent="0" marL="0">
              <a:buNone/>
            </a:pPr>
            <a:r>
              <a:rPr lang="en-US" sz="1100" b="1" dirty="0">
                <a:solidFill>
                  <a:srgbClr val="2E6DA4"/>
                </a:solidFill>
              </a:rPr>
              <a:t>31 (masa)</a:t>
            </a:r>
            <a:endParaRPr lang="en-US" sz="1100" dirty="0"/>
          </a:p>
        </p:txBody>
      </p:sp>
      <p:sp>
        <p:nvSpPr>
          <p:cNvPr id="13" name="Shape 10"/>
          <p:cNvSpPr/>
          <p:nvPr/>
        </p:nvSpPr>
        <p:spPr>
          <a:xfrm>
            <a:off x="7315200" y="1920240"/>
            <a:ext cx="0" cy="1234440"/>
          </a:xfrm>
          <a:prstGeom prst="line">
            <a:avLst/>
          </a:prstGeom>
          <a:noFill/>
          <a:ln w="19050">
            <a:solidFill>
              <a:srgbClr val="1B2A33"/>
            </a:solidFill>
            <a:prstDash val="solid"/>
          </a:ln>
        </p:spPr>
      </p:sp>
      <p:sp>
        <p:nvSpPr>
          <p:cNvPr id="14" name="Shape 11"/>
          <p:cNvSpPr/>
          <p:nvPr/>
        </p:nvSpPr>
        <p:spPr>
          <a:xfrm>
            <a:off x="6858000" y="2880360"/>
            <a:ext cx="2743200" cy="1280160"/>
          </a:xfrm>
          <a:prstGeom prst="rect">
            <a:avLst/>
          </a:prstGeom>
          <a:solidFill>
            <a:srgbClr val="FFFFFF"/>
          </a:solidFill>
          <a:ln w="12700">
            <a:solidFill>
              <a:srgbClr val="5B6770"/>
            </a:solidFill>
            <a:prstDash val="dash"/>
          </a:ln>
        </p:spPr>
      </p:sp>
      <p:sp>
        <p:nvSpPr>
          <p:cNvPr id="15" name="Text 12"/>
          <p:cNvSpPr txBox="1"/>
          <p:nvPr/>
        </p:nvSpPr>
        <p:spPr>
          <a:xfrm>
            <a:off x="7955280" y="2898648"/>
            <a:ext cx="731520" cy="228600"/>
          </a:xfrm>
          <a:prstGeom prst="rect">
            <a:avLst/>
          </a:prstGeom>
          <a:noFill/>
          <a:ln/>
        </p:spPr>
        <p:txBody>
          <a:bodyPr wrap="square" lIns="0" tIns="0" rIns="0" bIns="0" rtlCol="0" anchor="ctr"/>
          <a:lstStyle/>
          <a:p>
            <a:pPr algn="ctr" indent="0" marL="0">
              <a:buNone/>
            </a:pPr>
            <a:r>
              <a:rPr lang="en-US" sz="1000" b="1" dirty="0">
                <a:solidFill>
                  <a:srgbClr val="5B6770"/>
                </a:solidFill>
              </a:rPr>
              <a:t>Relé</a:t>
            </a:r>
            <a:endParaRPr lang="en-US" sz="1000" dirty="0"/>
          </a:p>
        </p:txBody>
      </p:sp>
      <p:sp>
        <p:nvSpPr>
          <p:cNvPr id="16" name="Shape 13"/>
          <p:cNvSpPr/>
          <p:nvPr/>
        </p:nvSpPr>
        <p:spPr>
          <a:xfrm>
            <a:off x="7132320" y="3154680"/>
            <a:ext cx="365760" cy="731520"/>
          </a:xfrm>
          <a:prstGeom prst="rect">
            <a:avLst/>
          </a:prstGeom>
          <a:solidFill>
            <a:srgbClr val="E4F1F1"/>
          </a:solidFill>
          <a:ln w="19050">
            <a:solidFill>
              <a:srgbClr val="007578"/>
            </a:solidFill>
            <a:prstDash val="solid"/>
          </a:ln>
        </p:spPr>
      </p:sp>
      <p:sp>
        <p:nvSpPr>
          <p:cNvPr id="17" name="Text 14"/>
          <p:cNvSpPr txBox="1"/>
          <p:nvPr/>
        </p:nvSpPr>
        <p:spPr>
          <a:xfrm>
            <a:off x="6748272" y="3017520"/>
            <a:ext cx="365760" cy="228600"/>
          </a:xfrm>
          <a:prstGeom prst="rect">
            <a:avLst/>
          </a:prstGeom>
          <a:noFill/>
          <a:ln/>
        </p:spPr>
        <p:txBody>
          <a:bodyPr wrap="square" lIns="0" tIns="0" rIns="0" bIns="0" rtlCol="0" anchor="ctr"/>
          <a:lstStyle/>
          <a:p>
            <a:pPr algn="r" indent="0" marL="0">
              <a:buNone/>
            </a:pPr>
            <a:r>
              <a:rPr lang="en-US" sz="1000" dirty="0">
                <a:solidFill>
                  <a:srgbClr val="1B2A33"/>
                </a:solidFill>
              </a:rPr>
              <a:t>86</a:t>
            </a:r>
            <a:endParaRPr lang="en-US" sz="1000" dirty="0"/>
          </a:p>
        </p:txBody>
      </p:sp>
      <p:sp>
        <p:nvSpPr>
          <p:cNvPr id="18" name="Text 15"/>
          <p:cNvSpPr txBox="1"/>
          <p:nvPr/>
        </p:nvSpPr>
        <p:spPr>
          <a:xfrm>
            <a:off x="6748272" y="3886200"/>
            <a:ext cx="365760" cy="228600"/>
          </a:xfrm>
          <a:prstGeom prst="rect">
            <a:avLst/>
          </a:prstGeom>
          <a:noFill/>
          <a:ln/>
        </p:spPr>
        <p:txBody>
          <a:bodyPr wrap="square" lIns="0" tIns="0" rIns="0" bIns="0" rtlCol="0" anchor="ctr"/>
          <a:lstStyle/>
          <a:p>
            <a:pPr algn="r" indent="0" marL="0">
              <a:buNone/>
            </a:pPr>
            <a:r>
              <a:rPr lang="en-US" sz="1000" dirty="0">
                <a:solidFill>
                  <a:srgbClr val="1B2A33"/>
                </a:solidFill>
              </a:rPr>
              <a:t>85</a:t>
            </a:r>
            <a:endParaRPr lang="en-US" sz="1000" dirty="0"/>
          </a:p>
        </p:txBody>
      </p:sp>
      <p:sp>
        <p:nvSpPr>
          <p:cNvPr id="19" name="Shape 16"/>
          <p:cNvSpPr/>
          <p:nvPr/>
        </p:nvSpPr>
        <p:spPr>
          <a:xfrm>
            <a:off x="7315200" y="3886200"/>
            <a:ext cx="0" cy="502920"/>
          </a:xfrm>
          <a:prstGeom prst="line">
            <a:avLst/>
          </a:prstGeom>
          <a:noFill/>
          <a:ln w="19050">
            <a:solidFill>
              <a:srgbClr val="1B2A33"/>
            </a:solidFill>
            <a:prstDash val="solid"/>
          </a:ln>
        </p:spPr>
      </p:sp>
      <p:sp>
        <p:nvSpPr>
          <p:cNvPr id="20" name="Shape 17"/>
          <p:cNvSpPr/>
          <p:nvPr/>
        </p:nvSpPr>
        <p:spPr>
          <a:xfrm>
            <a:off x="6583680" y="4389120"/>
            <a:ext cx="1463040" cy="594360"/>
          </a:xfrm>
          <a:prstGeom prst="roundRect">
            <a:avLst>
              <a:gd name="adj" fmla="val 9231"/>
            </a:avLst>
          </a:prstGeom>
          <a:solidFill>
            <a:srgbClr val="FDF1D8"/>
          </a:solidFill>
          <a:ln w="15875">
            <a:solidFill>
              <a:srgbClr val="F2A516"/>
            </a:solidFill>
            <a:prstDash val="solid"/>
          </a:ln>
        </p:spPr>
      </p:sp>
      <p:sp>
        <p:nvSpPr>
          <p:cNvPr id="21" name="Text 18"/>
          <p:cNvSpPr txBox="1"/>
          <p:nvPr/>
        </p:nvSpPr>
        <p:spPr>
          <a:xfrm>
            <a:off x="6583680" y="4389120"/>
            <a:ext cx="1463040" cy="594360"/>
          </a:xfrm>
          <a:prstGeom prst="rect">
            <a:avLst/>
          </a:prstGeom>
          <a:noFill/>
          <a:ln/>
        </p:spPr>
        <p:txBody>
          <a:bodyPr wrap="square" lIns="0" tIns="0" rIns="0" bIns="0" rtlCol="0" anchor="ctr"/>
          <a:lstStyle/>
          <a:p>
            <a:pPr algn="ctr" indent="0" marL="0">
              <a:buNone/>
            </a:pPr>
            <a:r>
              <a:rPr lang="en-US" sz="1100" b="1" dirty="0">
                <a:solidFill>
                  <a:srgbClr val="1B2A33"/>
                </a:solidFill>
              </a:rPr>
              <a:t>Mando de cruce</a:t>
            </a:r>
            <a:endParaRPr lang="en-US" sz="1100" dirty="0"/>
          </a:p>
        </p:txBody>
      </p:sp>
      <p:sp>
        <p:nvSpPr>
          <p:cNvPr id="22" name="Shape 19"/>
          <p:cNvSpPr/>
          <p:nvPr/>
        </p:nvSpPr>
        <p:spPr>
          <a:xfrm>
            <a:off x="7315200" y="4983480"/>
            <a:ext cx="0" cy="502920"/>
          </a:xfrm>
          <a:prstGeom prst="line">
            <a:avLst/>
          </a:prstGeom>
          <a:noFill/>
          <a:ln w="19050">
            <a:solidFill>
              <a:srgbClr val="1B2A33"/>
            </a:solidFill>
            <a:prstDash val="solid"/>
          </a:ln>
        </p:spPr>
      </p:sp>
      <p:sp>
        <p:nvSpPr>
          <p:cNvPr id="23" name="Shape 20"/>
          <p:cNvSpPr/>
          <p:nvPr/>
        </p:nvSpPr>
        <p:spPr>
          <a:xfrm>
            <a:off x="9144000" y="1554480"/>
            <a:ext cx="0" cy="457200"/>
          </a:xfrm>
          <a:prstGeom prst="line">
            <a:avLst/>
          </a:prstGeom>
          <a:noFill/>
          <a:ln w="19050">
            <a:solidFill>
              <a:srgbClr val="1B2A33"/>
            </a:solidFill>
            <a:prstDash val="solid"/>
          </a:ln>
        </p:spPr>
      </p:sp>
      <p:sp>
        <p:nvSpPr>
          <p:cNvPr id="24" name="Shape 21"/>
          <p:cNvSpPr/>
          <p:nvPr/>
        </p:nvSpPr>
        <p:spPr>
          <a:xfrm>
            <a:off x="9034272" y="2011680"/>
            <a:ext cx="219456" cy="502920"/>
          </a:xfrm>
          <a:prstGeom prst="rect">
            <a:avLst/>
          </a:prstGeom>
          <a:solidFill>
            <a:srgbClr val="FFFFFF"/>
          </a:solidFill>
          <a:ln w="15875">
            <a:solidFill>
              <a:srgbClr val="1B2A33"/>
            </a:solidFill>
            <a:prstDash val="solid"/>
          </a:ln>
        </p:spPr>
      </p:sp>
      <p:sp>
        <p:nvSpPr>
          <p:cNvPr id="25" name="Text 22"/>
          <p:cNvSpPr txBox="1"/>
          <p:nvPr/>
        </p:nvSpPr>
        <p:spPr>
          <a:xfrm>
            <a:off x="9326880" y="2121408"/>
            <a:ext cx="1097280" cy="274320"/>
          </a:xfrm>
          <a:prstGeom prst="rect">
            <a:avLst/>
          </a:prstGeom>
          <a:noFill/>
          <a:ln/>
        </p:spPr>
        <p:txBody>
          <a:bodyPr wrap="square" lIns="0" tIns="0" rIns="0" bIns="0" rtlCol="0" anchor="ctr"/>
          <a:lstStyle/>
          <a:p>
            <a:pPr algn="l" indent="0" marL="0">
              <a:buNone/>
            </a:pPr>
            <a:r>
              <a:rPr lang="en-US" sz="1000" dirty="0">
                <a:solidFill>
                  <a:srgbClr val="1B2A33"/>
                </a:solidFill>
              </a:rPr>
              <a:t>15 A</a:t>
            </a:r>
            <a:endParaRPr lang="en-US" sz="1000" dirty="0"/>
          </a:p>
        </p:txBody>
      </p:sp>
      <p:sp>
        <p:nvSpPr>
          <p:cNvPr id="26" name="Shape 23"/>
          <p:cNvSpPr/>
          <p:nvPr/>
        </p:nvSpPr>
        <p:spPr>
          <a:xfrm>
            <a:off x="9144000" y="2514600"/>
            <a:ext cx="0" cy="685800"/>
          </a:xfrm>
          <a:prstGeom prst="line">
            <a:avLst/>
          </a:prstGeom>
          <a:noFill/>
          <a:ln w="19050">
            <a:solidFill>
              <a:srgbClr val="1B2A33"/>
            </a:solidFill>
            <a:prstDash val="solid"/>
          </a:ln>
        </p:spPr>
      </p:sp>
      <p:sp>
        <p:nvSpPr>
          <p:cNvPr id="27" name="Text 24"/>
          <p:cNvSpPr txBox="1"/>
          <p:nvPr/>
        </p:nvSpPr>
        <p:spPr>
          <a:xfrm>
            <a:off x="9217152" y="2971800"/>
            <a:ext cx="365760" cy="228600"/>
          </a:xfrm>
          <a:prstGeom prst="rect">
            <a:avLst/>
          </a:prstGeom>
          <a:noFill/>
          <a:ln/>
        </p:spPr>
        <p:txBody>
          <a:bodyPr wrap="square" lIns="0" tIns="0" rIns="0" bIns="0" rtlCol="0" anchor="ctr"/>
          <a:lstStyle/>
          <a:p>
            <a:pPr algn="l" indent="0" marL="0">
              <a:buNone/>
            </a:pPr>
            <a:r>
              <a:rPr lang="en-US" sz="1000" dirty="0">
                <a:solidFill>
                  <a:srgbClr val="1B2A33"/>
                </a:solidFill>
              </a:rPr>
              <a:t>30</a:t>
            </a:r>
            <a:endParaRPr lang="en-US" sz="1000" dirty="0"/>
          </a:p>
        </p:txBody>
      </p:sp>
      <p:sp>
        <p:nvSpPr>
          <p:cNvPr id="28" name="Shape 25"/>
          <p:cNvSpPr/>
          <p:nvPr/>
        </p:nvSpPr>
        <p:spPr>
          <a:xfrm>
            <a:off x="9144000" y="3200400"/>
            <a:ext cx="292608" cy="411480"/>
          </a:xfrm>
          <a:prstGeom prst="line">
            <a:avLst/>
          </a:prstGeom>
          <a:noFill/>
          <a:ln w="28575">
            <a:solidFill>
              <a:srgbClr val="1B2A33"/>
            </a:solidFill>
            <a:prstDash val="solid"/>
          </a:ln>
        </p:spPr>
      </p:sp>
      <p:sp>
        <p:nvSpPr>
          <p:cNvPr id="29" name="Shape 26"/>
          <p:cNvSpPr/>
          <p:nvPr/>
        </p:nvSpPr>
        <p:spPr>
          <a:xfrm>
            <a:off x="9144000" y="3675888"/>
            <a:ext cx="0" cy="667512"/>
          </a:xfrm>
          <a:prstGeom prst="line">
            <a:avLst/>
          </a:prstGeom>
          <a:noFill/>
          <a:ln w="19050">
            <a:solidFill>
              <a:srgbClr val="1B2A33"/>
            </a:solidFill>
            <a:prstDash val="solid"/>
          </a:ln>
        </p:spPr>
      </p:sp>
      <p:sp>
        <p:nvSpPr>
          <p:cNvPr id="30" name="Text 27"/>
          <p:cNvSpPr txBox="1"/>
          <p:nvPr/>
        </p:nvSpPr>
        <p:spPr>
          <a:xfrm>
            <a:off x="9217152" y="3886200"/>
            <a:ext cx="365760" cy="228600"/>
          </a:xfrm>
          <a:prstGeom prst="rect">
            <a:avLst/>
          </a:prstGeom>
          <a:noFill/>
          <a:ln/>
        </p:spPr>
        <p:txBody>
          <a:bodyPr wrap="square" lIns="0" tIns="0" rIns="0" bIns="0" rtlCol="0" anchor="ctr"/>
          <a:lstStyle/>
          <a:p>
            <a:pPr algn="l" indent="0" marL="0">
              <a:buNone/>
            </a:pPr>
            <a:r>
              <a:rPr lang="en-US" sz="1000" dirty="0">
                <a:solidFill>
                  <a:srgbClr val="1B2A33"/>
                </a:solidFill>
              </a:rPr>
              <a:t>87</a:t>
            </a:r>
            <a:endParaRPr lang="en-US" sz="1000" dirty="0"/>
          </a:p>
        </p:txBody>
      </p:sp>
      <p:sp>
        <p:nvSpPr>
          <p:cNvPr id="31" name="Shape 28"/>
          <p:cNvSpPr/>
          <p:nvPr/>
        </p:nvSpPr>
        <p:spPr>
          <a:xfrm>
            <a:off x="7498080" y="3520440"/>
            <a:ext cx="1755648" cy="0"/>
          </a:xfrm>
          <a:prstGeom prst="line">
            <a:avLst/>
          </a:prstGeom>
          <a:noFill/>
          <a:ln w="12700">
            <a:solidFill>
              <a:srgbClr val="5B6770"/>
            </a:solidFill>
            <a:prstDash val="dash"/>
          </a:ln>
        </p:spPr>
      </p:sp>
      <p:sp>
        <p:nvSpPr>
          <p:cNvPr id="32" name="Shape 29"/>
          <p:cNvSpPr/>
          <p:nvPr/>
        </p:nvSpPr>
        <p:spPr>
          <a:xfrm>
            <a:off x="8842248" y="4343400"/>
            <a:ext cx="603504" cy="603504"/>
          </a:xfrm>
          <a:prstGeom prst="ellipse">
            <a:avLst/>
          </a:prstGeom>
          <a:solidFill>
            <a:srgbClr val="FFFFFF"/>
          </a:solidFill>
          <a:ln w="19050">
            <a:solidFill>
              <a:srgbClr val="1B2A33"/>
            </a:solidFill>
            <a:prstDash val="solid"/>
          </a:ln>
        </p:spPr>
      </p:sp>
      <p:sp>
        <p:nvSpPr>
          <p:cNvPr id="33" name="Text 30"/>
          <p:cNvSpPr txBox="1"/>
          <p:nvPr/>
        </p:nvSpPr>
        <p:spPr>
          <a:xfrm>
            <a:off x="8842248" y="4343400"/>
            <a:ext cx="603504" cy="603504"/>
          </a:xfrm>
          <a:prstGeom prst="rect">
            <a:avLst/>
          </a:prstGeom>
          <a:noFill/>
          <a:ln/>
        </p:spPr>
        <p:txBody>
          <a:bodyPr wrap="square" lIns="0" tIns="0" rIns="0" bIns="0" rtlCol="0" anchor="ctr"/>
          <a:lstStyle/>
          <a:p>
            <a:pPr algn="ctr" indent="0" marL="0">
              <a:buNone/>
            </a:pPr>
            <a:r>
              <a:rPr lang="en-US" sz="1800" b="1" dirty="0">
                <a:solidFill>
                  <a:srgbClr val="1B2A33"/>
                </a:solidFill>
              </a:rPr>
              <a:t>✕</a:t>
            </a:r>
            <a:endParaRPr lang="en-US" sz="1800" dirty="0"/>
          </a:p>
        </p:txBody>
      </p:sp>
      <p:sp>
        <p:nvSpPr>
          <p:cNvPr id="34" name="Shape 31"/>
          <p:cNvSpPr/>
          <p:nvPr/>
        </p:nvSpPr>
        <p:spPr>
          <a:xfrm>
            <a:off x="9144000" y="4946904"/>
            <a:ext cx="0" cy="539496"/>
          </a:xfrm>
          <a:prstGeom prst="line">
            <a:avLst/>
          </a:prstGeom>
          <a:noFill/>
          <a:ln w="19050">
            <a:solidFill>
              <a:srgbClr val="1B2A33"/>
            </a:solidFill>
            <a:prstDash val="solid"/>
          </a:ln>
        </p:spPr>
      </p:sp>
      <p:sp>
        <p:nvSpPr>
          <p:cNvPr id="35" name="Text 32"/>
          <p:cNvSpPr txBox="1"/>
          <p:nvPr/>
        </p:nvSpPr>
        <p:spPr>
          <a:xfrm>
            <a:off x="9555480" y="4297680"/>
            <a:ext cx="1737360" cy="685800"/>
          </a:xfrm>
          <a:prstGeom prst="rect">
            <a:avLst/>
          </a:prstGeom>
          <a:noFill/>
          <a:ln/>
        </p:spPr>
        <p:txBody>
          <a:bodyPr wrap="square" lIns="0" tIns="0" rIns="0" bIns="0" rtlCol="0" anchor="ctr"/>
          <a:lstStyle/>
          <a:p>
            <a:pPr algn="l" indent="0" marL="0">
              <a:buNone/>
            </a:pPr>
            <a:r>
              <a:rPr lang="en-US" sz="1100" b="1" dirty="0">
                <a:solidFill>
                  <a:srgbClr val="00575A"/>
                </a:solidFill>
              </a:rPr>
              <a:t>2 × H7</a:t>
            </a:r>
            <a:endParaRPr lang="en-US" sz="1100" dirty="0"/>
          </a:p>
          <a:p>
            <a:pPr algn="l" indent="0" marL="0">
              <a:buNone/>
            </a:pPr>
            <a:r>
              <a:rPr lang="en-US" sz="1100" b="1" dirty="0">
                <a:solidFill>
                  <a:srgbClr val="00575A"/>
                </a:solidFill>
              </a:rPr>
              <a:t>55 W</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Encendido automático de luces (sensor LDR)</a:t>
            </a:r>
            <a:endParaRPr lang="en-US" sz="2800" dirty="0"/>
          </a:p>
        </p:txBody>
      </p:sp>
      <p:pic>
        <p:nvPicPr>
          <p:cNvPr id="4" name="Figura ll_esq66.jpg" descr="ll_esq66.jpg">    </p:cNvPr>
          <p:cNvPicPr>
            <a:picLocks noChangeAspect="1"/>
          </p:cNvPicPr>
          <p:nvPr/>
        </p:nvPicPr>
        <p:blipFill>
          <a:blip r:embed="rId1"/>
          <a:stretch>
            <a:fillRect/>
          </a:stretch>
        </p:blipFill>
        <p:spPr>
          <a:xfrm>
            <a:off x="502920" y="1250466"/>
            <a:ext cx="5486400" cy="2894029"/>
          </a:xfrm>
          <a:prstGeom prst="rect">
            <a:avLst/>
          </a:prstGeom>
        </p:spPr>
      </p:pic>
      <p:sp>
        <p:nvSpPr>
          <p:cNvPr id="5" name="Text 1"/>
          <p:cNvSpPr txBox="1"/>
          <p:nvPr/>
        </p:nvSpPr>
        <p:spPr>
          <a:xfrm>
            <a:off x="502920" y="4199358"/>
            <a:ext cx="54864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sp>
        <p:nvSpPr>
          <p:cNvPr id="6" name="Text 2"/>
          <p:cNvSpPr txBox="1"/>
          <p:nvPr/>
        </p:nvSpPr>
        <p:spPr>
          <a:xfrm>
            <a:off x="6263640" y="1188720"/>
            <a:ext cx="5440680" cy="5029200"/>
          </a:xfrm>
          <a:prstGeom prst="rect">
            <a:avLst/>
          </a:prstGeom>
          <a:noFill/>
          <a:ln/>
        </p:spPr>
        <p:txBody>
          <a:bodyPr wrap="square" lIns="25400" tIns="25400" rIns="50800" bIns="25400" rtlCol="0" anchor="t"/>
          <a:lstStyle/>
          <a:p>
            <a:pPr marL="203200" indent="-203200">
              <a:spcAft>
                <a:spcPts val="600"/>
              </a:spcAft>
              <a:buSzPct val="100000"/>
              <a:buChar char="•"/>
            </a:pPr>
            <a:r>
              <a:rPr lang="en-US" sz="1500" b="1" dirty="0">
                <a:solidFill>
                  <a:schemeClr val="tx1"/>
                </a:solidFill>
              </a:rPr>
              <a:t>LDR: </a:t>
            </a:r>
            <a:pPr indent="0" marL="0">
              <a:buNone/>
            </a:pPr>
            <a:r>
              <a:rPr lang="en-US" sz="1500" dirty="0">
                <a:solidFill>
                  <a:schemeClr val="tx1"/>
                </a:solidFill>
              </a:rPr>
              <a:t>resistencia que disminuye cuando aumenta la luz.</a:t>
            </a:r>
            <a:endParaRPr lang="en-US" sz="1500" dirty="0"/>
          </a:p>
          <a:p>
            <a:pPr marL="203200" indent="-203200">
              <a:spcAft>
                <a:spcPts val="600"/>
              </a:spcAft>
              <a:buSzPct val="100000"/>
              <a:buChar char="•"/>
            </a:pPr>
            <a:r>
              <a:rPr lang="en-US" sz="1500" b="1" dirty="0">
                <a:solidFill>
                  <a:schemeClr val="tx1"/>
                </a:solidFill>
              </a:rPr>
              <a:t>Divisor LDR–potenciómetro: </a:t>
            </a:r>
            <a:pPr indent="0" marL="0">
              <a:buNone/>
            </a:pPr>
            <a:r>
              <a:rPr lang="en-US" sz="1500" dirty="0">
                <a:solidFill>
                  <a:schemeClr val="tx1"/>
                </a:solidFill>
              </a:rPr>
              <a:t>fija la tensión de base del transistor NPN.</a:t>
            </a:r>
            <a:endParaRPr lang="en-US" sz="1500" dirty="0"/>
          </a:p>
          <a:p>
            <a:pPr marL="203200" indent="-203200">
              <a:spcAft>
                <a:spcPts val="600"/>
              </a:spcAft>
              <a:buSzPct val="100000"/>
              <a:buChar char="•"/>
            </a:pPr>
            <a:r>
              <a:rPr lang="en-US" sz="1500" b="1" dirty="0">
                <a:solidFill>
                  <a:schemeClr val="tx1"/>
                </a:solidFill>
              </a:rPr>
              <a:t>Oscuro: </a:t>
            </a:r>
            <a:pPr indent="0" marL="0">
              <a:buNone/>
            </a:pPr>
            <a:r>
              <a:rPr lang="en-US" sz="1500" dirty="0">
                <a:solidFill>
                  <a:schemeClr val="tx1"/>
                </a:solidFill>
              </a:rPr>
              <a:t>R(LDR) alta → conduce el transistor → relé → luces.</a:t>
            </a:r>
            <a:endParaRPr lang="en-US" sz="1500" dirty="0"/>
          </a:p>
          <a:p>
            <a:pPr marL="203200" indent="-203200">
              <a:spcAft>
                <a:spcPts val="600"/>
              </a:spcAft>
              <a:buSzPct val="100000"/>
              <a:buChar char="•"/>
            </a:pPr>
            <a:r>
              <a:rPr lang="en-US" sz="1500" b="1" dirty="0">
                <a:solidFill>
                  <a:schemeClr val="tx1"/>
                </a:solidFill>
              </a:rPr>
              <a:t>Diodo: </a:t>
            </a:r>
            <a:pPr indent="0" marL="0">
              <a:buNone/>
            </a:pPr>
            <a:r>
              <a:rPr lang="en-US" sz="1500" dirty="0">
                <a:solidFill>
                  <a:schemeClr val="tx1"/>
                </a:solidFill>
              </a:rPr>
              <a:t>en paralelo con la bobina; absorbe el pico al abrir.</a:t>
            </a:r>
            <a:endParaRPr lang="en-US" sz="1500" dirty="0"/>
          </a:p>
          <a:p>
            <a:pPr marL="203200" indent="-203200">
              <a:spcAft>
                <a:spcPts val="600"/>
              </a:spcAft>
              <a:buSzPct val="100000"/>
              <a:buChar char="•"/>
            </a:pPr>
            <a:r>
              <a:rPr lang="en-US" sz="1500" b="1" dirty="0">
                <a:solidFill>
                  <a:schemeClr val="tx1"/>
                </a:solidFill>
              </a:rPr>
              <a:t>Hoy: </a:t>
            </a:r>
            <a:pPr indent="0" marL="0">
              <a:buNone/>
            </a:pPr>
            <a:r>
              <a:rPr lang="en-US" sz="1500" dirty="0">
                <a:solidFill>
                  <a:schemeClr val="tx1"/>
                </a:solidFill>
              </a:rPr>
              <a:t>sensor de luz y lluvia en el parabrisas que informa a la centralita por LIN.</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body" hasCustomPrompt="1"/>
          </p:nvPr>
        </p:nvSpPr>
        <p:spPr>
          <a:xfrm>
            <a:off x="731520" y="1463040"/>
            <a:ext cx="4114800" cy="1463040"/>
          </a:xfrm>
          <a:prstGeom prst="rect">
            <a:avLst/>
          </a:prstGeom>
          <a:noFill/>
          <a:ln/>
        </p:spPr>
        <p:txBody>
          <a:bodyPr wrap="square" rtlCol="0" anchor="b"/>
          <a:lstStyle/>
          <a:p>
            <a:pPr algn="l" indent="0" marL="0">
              <a:buNone/>
            </a:pPr>
            <a:r>
              <a:rPr lang="en-US" sz="8000" b="1" dirty="0">
                <a:solidFill>
                  <a:schemeClr val="accent2"/>
                </a:solidFill>
              </a:rPr>
              <a:t>4.4</a:t>
            </a:r>
            <a:endParaRPr lang="en-US" sz="8000" dirty="0"/>
          </a:p>
        </p:txBody>
      </p:sp>
      <p:sp>
        <p:nvSpPr>
          <p:cNvPr id="3" name="Text 1"/>
          <p:cNvSpPr/>
          <p:nvPr>
            <p:ph idx="103" type="title" hasCustomPrompt="1"/>
          </p:nvPr>
        </p:nvSpPr>
        <p:spPr>
          <a:xfrm>
            <a:off x="731520" y="2971800"/>
            <a:ext cx="10515600" cy="1371600"/>
          </a:xfrm>
          <a:prstGeom prst="rect">
            <a:avLst/>
          </a:prstGeom>
          <a:noFill/>
          <a:ln/>
        </p:spPr>
        <p:txBody>
          <a:bodyPr wrap="square" rtlCol="0" anchor="t"/>
          <a:lstStyle/>
          <a:p>
            <a:pPr algn="l" indent="0" marL="0">
              <a:buNone/>
            </a:pPr>
            <a:r>
              <a:rPr lang="en-US" sz="4000" b="1" dirty="0">
                <a:solidFill>
                  <a:schemeClr val="bg1"/>
                </a:solidFill>
              </a:rPr>
              <a:t>Alumbrado antiniebla</a:t>
            </a:r>
            <a:endParaRPr lang="en-US" sz="4000" dirty="0"/>
          </a:p>
        </p:txBody>
      </p:sp>
      <p:sp>
        <p:nvSpPr>
          <p:cNvPr id="4" name="Text 1"/>
          <p:cNvSpPr/>
          <p:nvPr>
            <p:ph idx="104" type="body" hasCustomPrompt="1"/>
          </p:nvPr>
        </p:nvSpPr>
        <p:spPr>
          <a:xfrm>
            <a:off x="731520" y="4434840"/>
            <a:ext cx="10058400" cy="1463040"/>
          </a:xfrm>
          <a:prstGeom prst="rect">
            <a:avLst/>
          </a:prstGeom>
          <a:noFill/>
          <a:ln/>
        </p:spPr>
        <p:txBody>
          <a:bodyPr wrap="square" rtlCol="0" anchor="t"/>
          <a:lstStyle/>
          <a:p>
            <a:pPr algn="l" indent="0" marL="0">
              <a:buNone/>
            </a:pPr>
            <a:r>
              <a:rPr lang="en-US" sz="1800" dirty="0">
                <a:solidFill>
                  <a:schemeClr val="bg2"/>
                </a:solidFill>
              </a:rPr>
              <a:t>Delanteras y traseras: misión, exigencias y conexión</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Luces antiniebla: misión y exigencias</a:t>
            </a:r>
            <a:endParaRPr lang="en-US" sz="2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7589520" cy="914400"/>
        </p:xfrm>
        <a:graphic>
          <a:graphicData uri="http://schemas.openxmlformats.org/drawingml/2006/table">
            <a:tbl>
              <a:tblPr/>
              <a:tblGrid>
                <a:gridCol w="1920240"/>
                <a:gridCol w="2834640"/>
                <a:gridCol w="2834640"/>
              </a:tblGrid>
              <a:tr h="603504">
                <a:tc>
                  <a:txBody>
                    <a:bodyPr/>
                    <a:lstStyle/>
                    <a:p>
                      <a:pPr indent="0" marL="0">
                        <a:buNone/>
                      </a:pP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300" b="1" dirty="0">
                          <a:solidFill>
                            <a:srgbClr val="FFFFFF"/>
                          </a:solidFill>
                        </a:rPr>
                        <a:t>Delantera</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300" b="1" dirty="0">
                          <a:solidFill>
                            <a:srgbClr val="FFFFFF"/>
                          </a:solidFill>
                        </a:rPr>
                        <a:t>Trasera</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r>
              <a:tr h="603504">
                <a:tc>
                  <a:txBody>
                    <a:bodyPr/>
                    <a:lstStyle/>
                    <a:p>
                      <a:pPr indent="0" marL="0">
                        <a:buNone/>
                      </a:pPr>
                      <a:r>
                        <a:rPr lang="en-US" sz="1300" b="1" dirty="0">
                          <a:solidFill>
                            <a:srgbClr val="1B2A33"/>
                          </a:solidFill>
                        </a:rPr>
                        <a:t>Misión</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Iluminar la calzada con niebla, lluvia o polvo sin reflejo</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Hacer visible el vehículo por detrás</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603504">
                <a:tc>
                  <a:txBody>
                    <a:bodyPr/>
                    <a:lstStyle/>
                    <a:p>
                      <a:pPr indent="0" marL="0">
                        <a:buNone/>
                      </a:pPr>
                      <a:r>
                        <a:rPr lang="en-US" sz="1300" b="1" dirty="0">
                          <a:solidFill>
                            <a:srgbClr val="1B2A33"/>
                          </a:solidFill>
                        </a:rPr>
                        <a:t>Número (INEN)</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rPr>
                        <a:t>Máximo 2 (opcional)</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rPr>
                        <a:t>1 o 2 (opcional en INEN; obligatoria en CEPE 48)</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1B2A33"/>
                          </a:solidFill>
                        </a:rPr>
                        <a:t>Color</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Blanco o amarillo selectivo</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Rojo</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603504">
                <a:tc>
                  <a:txBody>
                    <a:bodyPr/>
                    <a:lstStyle/>
                    <a:p>
                      <a:pPr indent="0" marL="0">
                        <a:buNone/>
                      </a:pPr>
                      <a:r>
                        <a:rPr lang="en-US" sz="1300" b="1" dirty="0">
                          <a:solidFill>
                            <a:srgbClr val="1B2A33"/>
                          </a:solidFill>
                        </a:rPr>
                        <a:t>Altura</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rPr>
                        <a:t>≥ 250 mm y no más alta que los faros</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rPr>
                        <a:t>250 – 1 000 mm (1 200 mm todoterreno)</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1B2A33"/>
                          </a:solidFill>
                        </a:rPr>
                        <a:t>Visibilidad (CEPE 48)</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α = ±5°; β = 45° exterior, 10° interior</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α = ±5°; β = ±25°</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603504">
                <a:tc>
                  <a:txBody>
                    <a:bodyPr/>
                    <a:lstStyle/>
                    <a:p>
                      <a:pPr indent="0" marL="0">
                        <a:buNone/>
                      </a:pPr>
                      <a:r>
                        <a:rPr lang="en-US" sz="1300" b="1" dirty="0">
                          <a:solidFill>
                            <a:srgbClr val="1B2A33"/>
                          </a:solidFill>
                        </a:rPr>
                        <a:t>Conexión</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rPr>
                        <a:t>Independiente de cruce y carretera</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rPr>
                        <a:t>Solo con cruce, carretera o antiniebla delantera</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1B2A33"/>
                          </a:solidFill>
                        </a:rPr>
                        <a:t>Testigo</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Verde (no intermitente)</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Ámbar obligatorio</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bl>
          </a:graphicData>
        </a:graphic>
      </p:graphicFrame>
      <p:pic>
        <p:nvPicPr>
          <p:cNvPr id="5" name="Figura M_p116_0.png" descr="M_p116_0.png">    </p:cNvPr>
          <p:cNvPicPr>
            <a:picLocks noChangeAspect="1"/>
          </p:cNvPicPr>
          <p:nvPr/>
        </p:nvPicPr>
        <p:blipFill>
          <a:blip r:embed="rId1"/>
          <a:stretch>
            <a:fillRect/>
          </a:stretch>
        </p:blipFill>
        <p:spPr>
          <a:xfrm>
            <a:off x="8841332" y="1234440"/>
            <a:ext cx="2342697" cy="2377440"/>
          </a:xfrm>
          <a:prstGeom prst="rect">
            <a:avLst/>
          </a:prstGeom>
        </p:spPr>
      </p:pic>
      <p:sp>
        <p:nvSpPr>
          <p:cNvPr id="6" name="Text 1"/>
          <p:cNvSpPr txBox="1"/>
          <p:nvPr/>
        </p:nvSpPr>
        <p:spPr>
          <a:xfrm>
            <a:off x="8366760" y="3666744"/>
            <a:ext cx="338328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pic>
        <p:nvPicPr>
          <p:cNvPr id="7" name="Figura M_p117_1.png" descr="M_p117_1.png">    </p:cNvPr>
          <p:cNvPicPr>
            <a:picLocks noChangeAspect="1"/>
          </p:cNvPicPr>
          <p:nvPr/>
        </p:nvPicPr>
        <p:blipFill>
          <a:blip r:embed="rId2"/>
          <a:stretch>
            <a:fillRect/>
          </a:stretch>
        </p:blipFill>
        <p:spPr>
          <a:xfrm>
            <a:off x="8570047" y="4160520"/>
            <a:ext cx="2885267" cy="1645920"/>
          </a:xfrm>
          <a:prstGeom prst="rect">
            <a:avLst/>
          </a:prstGeom>
        </p:spPr>
      </p:pic>
      <p:sp>
        <p:nvSpPr>
          <p:cNvPr id="8" name="Text 2"/>
          <p:cNvSpPr txBox="1"/>
          <p:nvPr/>
        </p:nvSpPr>
        <p:spPr>
          <a:xfrm>
            <a:off x="8366760" y="5861304"/>
            <a:ext cx="338328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Orientación de la antiniebla delantera</a:t>
            </a:r>
            <a:endParaRPr lang="en-US" sz="2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949440" cy="914400"/>
        </p:xfrm>
        <a:graphic>
          <a:graphicData uri="http://schemas.openxmlformats.org/drawingml/2006/table">
            <a:tbl>
              <a:tblPr/>
              <a:tblGrid>
                <a:gridCol w="1828800"/>
                <a:gridCol w="1463040"/>
                <a:gridCol w="2011680"/>
                <a:gridCol w="1645920"/>
              </a:tblGrid>
              <a:tr h="548640">
                <a:tc>
                  <a:txBody>
                    <a:bodyPr/>
                    <a:lstStyle/>
                    <a:p>
                      <a:pPr indent="0" marL="0">
                        <a:buNone/>
                      </a:pPr>
                      <a:r>
                        <a:rPr lang="en-US" sz="1500" b="1" dirty="0">
                          <a:solidFill>
                            <a:srgbClr val="FFFFFF"/>
                          </a:solidFill>
                        </a:rPr>
                        <a:t>Clase de antiniebla</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500" b="1" dirty="0">
                          <a:solidFill>
                            <a:srgbClr val="FFFFFF"/>
                          </a:solidFill>
                        </a:rPr>
                        <a:t>Altura h</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500" b="1" dirty="0">
                          <a:solidFill>
                            <a:srgbClr val="FFFFFF"/>
                          </a:solidFill>
                        </a:rPr>
                        <a:t>Límites de inclinación</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500" b="1" dirty="0">
                          <a:solidFill>
                            <a:srgbClr val="FFFFFF"/>
                          </a:solidFill>
                        </a:rPr>
                        <a:t>Reglaje inicial</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r>
              <a:tr h="548640">
                <a:tc>
                  <a:txBody>
                    <a:bodyPr/>
                    <a:lstStyle/>
                    <a:p>
                      <a:pPr indent="0" marL="0">
                        <a:buNone/>
                      </a:pPr>
                      <a:r>
                        <a:rPr lang="en-US" sz="1500" dirty="0">
                          <a:solidFill>
                            <a:srgbClr val="1B2A33"/>
                          </a:solidFill>
                        </a:rPr>
                        <a:t>B</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−1,5 % o inferior</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48640">
                <a:tc>
                  <a:txBody>
                    <a:bodyPr/>
                    <a:lstStyle/>
                    <a:p>
                      <a:pPr indent="0" marL="0">
                        <a:buNone/>
                      </a:pPr>
                      <a:r>
                        <a:rPr lang="en-US" sz="1500" dirty="0">
                          <a:solidFill>
                            <a:srgbClr val="1B2A33"/>
                          </a:solidFill>
                        </a:rPr>
                        <a:t>F3</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500" dirty="0">
                          <a:solidFill>
                            <a:srgbClr val="1B2A33"/>
                          </a:solidFill>
                        </a:rPr>
                        <a:t>h ≤ 0,8 m</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500" dirty="0">
                          <a:solidFill>
                            <a:srgbClr val="1B2A33"/>
                          </a:solidFill>
                        </a:rPr>
                        <a:t>−1,0 % a −3,0 %</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500" dirty="0">
                          <a:solidFill>
                            <a:srgbClr val="1B2A33"/>
                          </a:solidFill>
                        </a:rPr>
                        <a:t>−1,5 % a −2,0 %</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A33"/>
                          </a:solidFill>
                        </a:rPr>
                        <a:t>F3</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h &gt; 0,8 m</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−1,5 % a −3,5 %</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−2,0 % a −2,5 %</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bl>
          </a:graphicData>
        </a:graphic>
      </p:graphicFrame>
      <p:sp>
        <p:nvSpPr>
          <p:cNvPr id="5" name="Shape 1"/>
          <p:cNvSpPr/>
          <p:nvPr/>
        </p:nvSpPr>
        <p:spPr>
          <a:xfrm>
            <a:off x="502920" y="3703320"/>
            <a:ext cx="2103120" cy="365760"/>
          </a:xfrm>
          <a:prstGeom prst="roundRect">
            <a:avLst>
              <a:gd name="adj" fmla="val 50000"/>
            </a:avLst>
          </a:prstGeom>
          <a:solidFill>
            <a:srgbClr val="F2A516"/>
          </a:solidFill>
          <a:ln w="12700">
            <a:solidFill>
              <a:srgbClr val="F2A516"/>
            </a:solidFill>
            <a:prstDash val="solid"/>
          </a:ln>
        </p:spPr>
      </p:sp>
      <p:sp>
        <p:nvSpPr>
          <p:cNvPr id="6" name="Text 2"/>
          <p:cNvSpPr txBox="1"/>
          <p:nvPr/>
        </p:nvSpPr>
        <p:spPr>
          <a:xfrm>
            <a:off x="502920" y="3703320"/>
            <a:ext cx="2103120" cy="365760"/>
          </a:xfrm>
          <a:prstGeom prst="rect">
            <a:avLst/>
          </a:prstGeom>
          <a:noFill/>
          <a:ln/>
        </p:spPr>
        <p:txBody>
          <a:bodyPr wrap="square" lIns="0" tIns="0" rIns="0" bIns="0" rtlCol="0" anchor="ctr"/>
          <a:lstStyle/>
          <a:p>
            <a:pPr algn="ctr" indent="0" marL="0">
              <a:buNone/>
            </a:pPr>
            <a:r>
              <a:rPr lang="en-US" sz="1300" b="1" dirty="0">
                <a:solidFill>
                  <a:srgbClr val="1B2A33"/>
                </a:solidFill>
              </a:rPr>
              <a:t>Ejemplo resuelto</a:t>
            </a:r>
            <a:endParaRPr lang="en-US" sz="1300" dirty="0"/>
          </a:p>
        </p:txBody>
      </p:sp>
      <p:sp>
        <p:nvSpPr>
          <p:cNvPr id="7" name="Text 3"/>
          <p:cNvSpPr txBox="1"/>
          <p:nvPr/>
        </p:nvSpPr>
        <p:spPr>
          <a:xfrm>
            <a:off x="502920" y="4160520"/>
            <a:ext cx="6949440" cy="2011680"/>
          </a:xfrm>
          <a:prstGeom prst="rect">
            <a:avLst/>
          </a:prstGeom>
          <a:noFill/>
          <a:ln/>
        </p:spPr>
        <p:txBody>
          <a:bodyPr wrap="square" lIns="25400" tIns="25400" rIns="50800" bIns="25400" rtlCol="0" anchor="t"/>
          <a:lstStyle/>
          <a:p>
            <a:pPr marL="203200" indent="-203200">
              <a:spcAft>
                <a:spcPts val="600"/>
              </a:spcAft>
              <a:buSzPct val="100000"/>
              <a:buChar char="•"/>
            </a:pPr>
            <a:r>
              <a:rPr lang="en-US" sz="1600" dirty="0">
                <a:solidFill>
                  <a:schemeClr val="tx1"/>
                </a:solidFill>
              </a:rPr>
              <a:t>Pantalla a 10 m; antiniebla F3 a 0,5 m de altura; reglaje −2 %.</a:t>
            </a:r>
            <a:endParaRPr lang="en-US" sz="1600" dirty="0"/>
          </a:p>
          <a:p>
            <a:pPr marL="203200" indent="-203200">
              <a:spcAft>
                <a:spcPts val="600"/>
              </a:spcAft>
              <a:buSzPct val="100000"/>
              <a:buChar char="•"/>
            </a:pPr>
            <a:r>
              <a:rPr lang="en-US" sz="1600" dirty="0">
                <a:solidFill>
                  <a:schemeClr val="tx1"/>
                </a:solidFill>
              </a:rPr>
              <a:t>Descenso = 10 000 mm × 0,02 = 200 mm ⇒ la línea de corte debe quedar a 500 − 200 = 300 mm del suelo.</a:t>
            </a:r>
            <a:endParaRPr lang="en-US" sz="1600" dirty="0"/>
          </a:p>
        </p:txBody>
      </p:sp>
      <p:pic>
        <p:nvPicPr>
          <p:cNvPr id="8" name="Figura M_p116_0.png" descr="M_p116_0.png">    </p:cNvPr>
          <p:cNvPicPr>
            <a:picLocks noChangeAspect="1"/>
          </p:cNvPicPr>
          <p:nvPr/>
        </p:nvPicPr>
        <p:blipFill>
          <a:blip r:embed="rId1"/>
          <a:stretch>
            <a:fillRect/>
          </a:stretch>
        </p:blipFill>
        <p:spPr>
          <a:xfrm>
            <a:off x="8250981" y="1280160"/>
            <a:ext cx="2883319" cy="2926080"/>
          </a:xfrm>
          <a:prstGeom prst="rect">
            <a:avLst/>
          </a:prstGeom>
        </p:spPr>
      </p:pic>
      <p:sp>
        <p:nvSpPr>
          <p:cNvPr id="9" name="Text 4"/>
          <p:cNvSpPr txBox="1"/>
          <p:nvPr/>
        </p:nvSpPr>
        <p:spPr>
          <a:xfrm>
            <a:off x="7726680" y="4261104"/>
            <a:ext cx="40233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2" type="body" hasCustomPrompt="1"/>
          </p:nvPr>
        </p:nvSpPr>
        <p:spPr>
          <a:xfrm>
            <a:off x="731520" y="1463040"/>
            <a:ext cx="4114800" cy="1463040"/>
          </a:xfrm>
          <a:prstGeom prst="rect">
            <a:avLst/>
          </a:prstGeom>
          <a:noFill/>
          <a:ln/>
        </p:spPr>
        <p:txBody>
          <a:bodyPr wrap="square" rtlCol="0" anchor="b"/>
          <a:lstStyle/>
          <a:p>
            <a:pPr algn="l" indent="0" marL="0">
              <a:buNone/>
            </a:pPr>
            <a:r>
              <a:rPr lang="en-US" sz="8000" b="1" dirty="0">
                <a:solidFill>
                  <a:schemeClr val="accent2"/>
                </a:solidFill>
              </a:rPr>
              <a:t>4.5</a:t>
            </a:r>
            <a:endParaRPr lang="en-US" sz="8000" dirty="0"/>
          </a:p>
        </p:txBody>
      </p:sp>
      <p:sp>
        <p:nvSpPr>
          <p:cNvPr id="3" name="Text 1"/>
          <p:cNvSpPr/>
          <p:nvPr>
            <p:ph idx="103" type="title" hasCustomPrompt="1"/>
          </p:nvPr>
        </p:nvSpPr>
        <p:spPr>
          <a:xfrm>
            <a:off x="731520" y="2971800"/>
            <a:ext cx="10515600" cy="1371600"/>
          </a:xfrm>
          <a:prstGeom prst="rect">
            <a:avLst/>
          </a:prstGeom>
          <a:noFill/>
          <a:ln/>
        </p:spPr>
        <p:txBody>
          <a:bodyPr wrap="square" rtlCol="0" anchor="t"/>
          <a:lstStyle/>
          <a:p>
            <a:pPr algn="l" indent="0" marL="0">
              <a:buNone/>
            </a:pPr>
            <a:r>
              <a:rPr lang="en-US" sz="4000" b="1" dirty="0">
                <a:solidFill>
                  <a:schemeClr val="bg1"/>
                </a:solidFill>
              </a:rPr>
              <a:t>Circuitos de iluminación antiniebla</a:t>
            </a:r>
            <a:endParaRPr lang="en-US" sz="4000" dirty="0"/>
          </a:p>
        </p:txBody>
      </p:sp>
      <p:sp>
        <p:nvSpPr>
          <p:cNvPr id="4" name="Text 1"/>
          <p:cNvSpPr/>
          <p:nvPr>
            <p:ph idx="104" type="body" hasCustomPrompt="1"/>
          </p:nvPr>
        </p:nvSpPr>
        <p:spPr>
          <a:xfrm>
            <a:off x="731520" y="4434840"/>
            <a:ext cx="10058400" cy="1463040"/>
          </a:xfrm>
          <a:prstGeom prst="rect">
            <a:avLst/>
          </a:prstGeom>
          <a:noFill/>
          <a:ln/>
        </p:spPr>
        <p:txBody>
          <a:bodyPr wrap="square" rtlCol="0" anchor="t"/>
          <a:lstStyle/>
          <a:p>
            <a:pPr algn="l" indent="0" marL="0">
              <a:buNone/>
            </a:pPr>
            <a:r>
              <a:rPr lang="en-US" sz="1800" dirty="0">
                <a:solidFill>
                  <a:schemeClr val="bg2"/>
                </a:solidFill>
              </a:rPr>
              <a:t>Mandos independientes, relés y centralita</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Circuito antiniebla con mandos independientes</a:t>
            </a:r>
            <a:endParaRPr lang="en-US" sz="2800" dirty="0"/>
          </a:p>
        </p:txBody>
      </p:sp>
      <p:pic>
        <p:nvPicPr>
          <p:cNvPr id="4" name="Figura ll_esq611.jpg" descr="ll_esq611.jpg">    </p:cNvPr>
          <p:cNvPicPr>
            <a:picLocks noChangeAspect="1"/>
          </p:cNvPicPr>
          <p:nvPr/>
        </p:nvPicPr>
        <p:blipFill>
          <a:blip r:embed="rId1"/>
          <a:stretch>
            <a:fillRect/>
          </a:stretch>
        </p:blipFill>
        <p:spPr>
          <a:xfrm>
            <a:off x="502920" y="1265786"/>
            <a:ext cx="7132320" cy="2863388"/>
          </a:xfrm>
          <a:prstGeom prst="rect">
            <a:avLst/>
          </a:prstGeom>
        </p:spPr>
      </p:pic>
      <p:sp>
        <p:nvSpPr>
          <p:cNvPr id="5" name="Text 1"/>
          <p:cNvSpPr txBox="1"/>
          <p:nvPr/>
        </p:nvSpPr>
        <p:spPr>
          <a:xfrm>
            <a:off x="502920" y="4184038"/>
            <a:ext cx="713232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sp>
        <p:nvSpPr>
          <p:cNvPr id="6" name="Text 2"/>
          <p:cNvSpPr txBox="1"/>
          <p:nvPr/>
        </p:nvSpPr>
        <p:spPr>
          <a:xfrm>
            <a:off x="7863840" y="1188720"/>
            <a:ext cx="3840480" cy="3383280"/>
          </a:xfrm>
          <a:prstGeom prst="rect">
            <a:avLst/>
          </a:prstGeom>
          <a:noFill/>
          <a:ln/>
        </p:spPr>
        <p:txBody>
          <a:bodyPr wrap="square" lIns="25400" tIns="25400" rIns="50800" bIns="25400" rtlCol="0" anchor="t"/>
          <a:lstStyle/>
          <a:p>
            <a:pPr marL="203200" indent="-203200">
              <a:spcAft>
                <a:spcPts val="600"/>
              </a:spcAft>
              <a:buSzPct val="100000"/>
              <a:buChar char="•"/>
            </a:pPr>
            <a:r>
              <a:rPr lang="en-US" sz="1500" b="1" dirty="0">
                <a:solidFill>
                  <a:schemeClr val="tx1"/>
                </a:solidFill>
              </a:rPr>
              <a:t>Delantera: </a:t>
            </a:r>
            <a:pPr indent="0" marL="0">
              <a:buNone/>
            </a:pPr>
            <a:r>
              <a:rPr lang="en-US" sz="1500" dirty="0">
                <a:solidFill>
                  <a:schemeClr val="tx1"/>
                </a:solidFill>
              </a:rPr>
              <a:t>relé propio; mando independiente.</a:t>
            </a:r>
            <a:endParaRPr lang="en-US" sz="1500" dirty="0"/>
          </a:p>
          <a:p>
            <a:pPr marL="203200" indent="-203200">
              <a:spcAft>
                <a:spcPts val="600"/>
              </a:spcAft>
              <a:buSzPct val="100000"/>
              <a:buChar char="•"/>
            </a:pPr>
            <a:r>
              <a:rPr lang="en-US" sz="1500" b="1" dirty="0">
                <a:solidFill>
                  <a:schemeClr val="tx1"/>
                </a:solidFill>
              </a:rPr>
              <a:t>Trasera: </a:t>
            </a:r>
            <a:pPr indent="0" marL="0">
              <a:buNone/>
            </a:pPr>
            <a:r>
              <a:rPr lang="en-US" sz="1500" dirty="0">
                <a:solidFill>
                  <a:schemeClr val="tx1"/>
                </a:solidFill>
              </a:rPr>
              <a:t>su relé toma positivo de la salida de cruce.</a:t>
            </a:r>
            <a:endParaRPr lang="en-US" sz="1500" dirty="0"/>
          </a:p>
          <a:p>
            <a:pPr marL="203200" indent="-203200">
              <a:spcAft>
                <a:spcPts val="600"/>
              </a:spcAft>
              <a:buSzPct val="100000"/>
              <a:buChar char="•"/>
            </a:pPr>
            <a:r>
              <a:rPr lang="en-US" sz="1500" b="1" dirty="0">
                <a:solidFill>
                  <a:schemeClr val="tx1"/>
                </a:solidFill>
              </a:rPr>
              <a:t>Comprobación: </a:t>
            </a:r>
            <a:pPr indent="0" marL="0">
              <a:buNone/>
            </a:pPr>
            <a:r>
              <a:rPr lang="en-US" sz="1500" dirty="0">
                <a:solidFill>
                  <a:schemeClr val="tx1"/>
                </a:solidFill>
              </a:rPr>
              <a:t>con cruce apagado la trasera no debe encender.</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Circuito antiniebla con módulo de control</a:t>
            </a:r>
            <a:endParaRPr lang="en-US" sz="2800" dirty="0"/>
          </a:p>
        </p:txBody>
      </p:sp>
      <p:pic>
        <p:nvPicPr>
          <p:cNvPr id="4" name="Figura ll_esq612.jpg" descr="ll_esq612.jpg">    </p:cNvPr>
          <p:cNvPicPr>
            <a:picLocks noChangeAspect="1"/>
          </p:cNvPicPr>
          <p:nvPr/>
        </p:nvPicPr>
        <p:blipFill>
          <a:blip r:embed="rId1"/>
          <a:stretch>
            <a:fillRect/>
          </a:stretch>
        </p:blipFill>
        <p:spPr>
          <a:xfrm>
            <a:off x="502920" y="1631434"/>
            <a:ext cx="5120640" cy="3686571"/>
          </a:xfrm>
          <a:prstGeom prst="rect">
            <a:avLst/>
          </a:prstGeom>
        </p:spPr>
      </p:pic>
      <p:sp>
        <p:nvSpPr>
          <p:cNvPr id="5" name="Text 1"/>
          <p:cNvSpPr txBox="1"/>
          <p:nvPr/>
        </p:nvSpPr>
        <p:spPr>
          <a:xfrm>
            <a:off x="502920" y="5372870"/>
            <a:ext cx="51206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sp>
        <p:nvSpPr>
          <p:cNvPr id="6" name="Text 2"/>
          <p:cNvSpPr txBox="1"/>
          <p:nvPr/>
        </p:nvSpPr>
        <p:spPr>
          <a:xfrm>
            <a:off x="5897880" y="1188720"/>
            <a:ext cx="5806440" cy="5029200"/>
          </a:xfrm>
          <a:prstGeom prst="rect">
            <a:avLst/>
          </a:prstGeom>
          <a:noFill/>
          <a:ln/>
        </p:spPr>
        <p:txBody>
          <a:bodyPr wrap="square" lIns="25400" tIns="25400" rIns="50800" bIns="25400" rtlCol="0" anchor="t"/>
          <a:lstStyle/>
          <a:p>
            <a:pPr marL="203200" indent="-203200">
              <a:spcAft>
                <a:spcPts val="600"/>
              </a:spcAft>
              <a:buSzPct val="100000"/>
              <a:buChar char="•"/>
            </a:pPr>
            <a:r>
              <a:rPr lang="en-US" sz="1600" b="1" dirty="0">
                <a:solidFill>
                  <a:schemeClr val="tx1"/>
                </a:solidFill>
              </a:rPr>
              <a:t>Entradas: </a:t>
            </a:r>
            <a:pPr indent="0" marL="0">
              <a:buNone/>
            </a:pPr>
            <a:r>
              <a:rPr lang="en-US" sz="1600" dirty="0">
                <a:solidFill>
                  <a:schemeClr val="tx1"/>
                </a:solidFill>
              </a:rPr>
              <a:t>pulsador antiniebla, señal 56b, alimentación 58.</a:t>
            </a:r>
            <a:endParaRPr lang="en-US" sz="1600" dirty="0"/>
          </a:p>
          <a:p>
            <a:pPr marL="203200" indent="-203200">
              <a:spcAft>
                <a:spcPts val="600"/>
              </a:spcAft>
              <a:buSzPct val="100000"/>
              <a:buChar char="•"/>
            </a:pPr>
            <a:r>
              <a:rPr lang="en-US" sz="1600" b="1" dirty="0">
                <a:solidFill>
                  <a:schemeClr val="tx1"/>
                </a:solidFill>
              </a:rPr>
              <a:t>Salidas: </a:t>
            </a:r>
            <a:pPr indent="0" marL="0">
              <a:buNone/>
            </a:pPr>
            <a:r>
              <a:rPr lang="en-US" sz="1600" dirty="0">
                <a:solidFill>
                  <a:schemeClr val="tx1"/>
                </a:solidFill>
              </a:rPr>
              <a:t>bobinas de RL1 y RL2 y testigos del cuadro.</a:t>
            </a:r>
            <a:endParaRPr lang="en-US" sz="1600" dirty="0"/>
          </a:p>
          <a:p>
            <a:pPr marL="203200" indent="-203200">
              <a:spcAft>
                <a:spcPts val="600"/>
              </a:spcAft>
              <a:buSzPct val="100000"/>
              <a:buChar char="•"/>
            </a:pPr>
            <a:r>
              <a:rPr lang="en-US" sz="1600" b="1" dirty="0">
                <a:solidFill>
                  <a:schemeClr val="tx1"/>
                </a:solidFill>
              </a:rPr>
              <a:t>Ventaja: </a:t>
            </a:r>
            <a:pPr indent="0" marL="0">
              <a:buNone/>
            </a:pPr>
            <a:r>
              <a:rPr lang="en-US" sz="1600" dirty="0">
                <a:solidFill>
                  <a:schemeClr val="tx1"/>
                </a:solidFill>
              </a:rPr>
              <a:t>la lógica (orden de encendido, bloqueo sin cruce) está en el software.</a:t>
            </a:r>
            <a:endParaRPr lang="en-US" sz="1600" dirty="0"/>
          </a:p>
          <a:p>
            <a:pPr marL="203200" indent="-203200">
              <a:spcAft>
                <a:spcPts val="600"/>
              </a:spcAft>
              <a:buSzPct val="100000"/>
              <a:buChar char="•"/>
            </a:pPr>
            <a:r>
              <a:rPr lang="en-US" sz="1600" b="1" dirty="0">
                <a:solidFill>
                  <a:schemeClr val="tx1"/>
                </a:solidFill>
              </a:rPr>
              <a:t>Diagnóstico: </a:t>
            </a:r>
            <a:pPr indent="0" marL="0">
              <a:buNone/>
            </a:pPr>
            <a:r>
              <a:rPr lang="en-US" sz="1600" dirty="0">
                <a:solidFill>
                  <a:schemeClr val="tx1"/>
                </a:solidFill>
              </a:rPr>
              <a:t>si los relés y lámparas están bien, comprobar las entradas a la centralita antes de sustituirla.</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2" type="body" hasCustomPrompt="1"/>
          </p:nvPr>
        </p:nvSpPr>
        <p:spPr>
          <a:xfrm>
            <a:off x="731520" y="1463040"/>
            <a:ext cx="4114800" cy="1463040"/>
          </a:xfrm>
          <a:prstGeom prst="rect">
            <a:avLst/>
          </a:prstGeom>
          <a:noFill/>
          <a:ln/>
        </p:spPr>
        <p:txBody>
          <a:bodyPr wrap="square" rtlCol="0" anchor="b"/>
          <a:lstStyle/>
          <a:p>
            <a:pPr algn="l" indent="0" marL="0">
              <a:buNone/>
            </a:pPr>
            <a:r>
              <a:rPr lang="en-US" sz="8000" b="1" dirty="0">
                <a:solidFill>
                  <a:schemeClr val="accent2"/>
                </a:solidFill>
              </a:rPr>
              <a:t>4.6</a:t>
            </a:r>
            <a:endParaRPr lang="en-US" sz="8000" dirty="0"/>
          </a:p>
        </p:txBody>
      </p:sp>
      <p:sp>
        <p:nvSpPr>
          <p:cNvPr id="3" name="Text 1"/>
          <p:cNvSpPr/>
          <p:nvPr>
            <p:ph idx="103" type="title" hasCustomPrompt="1"/>
          </p:nvPr>
        </p:nvSpPr>
        <p:spPr>
          <a:xfrm>
            <a:off x="731520" y="2971800"/>
            <a:ext cx="10515600" cy="1371600"/>
          </a:xfrm>
          <a:prstGeom prst="rect">
            <a:avLst/>
          </a:prstGeom>
          <a:noFill/>
          <a:ln/>
        </p:spPr>
        <p:txBody>
          <a:bodyPr wrap="square" rtlCol="0" anchor="t"/>
          <a:lstStyle/>
          <a:p>
            <a:pPr algn="l" indent="0" marL="0">
              <a:buNone/>
            </a:pPr>
            <a:r>
              <a:rPr lang="en-US" sz="4000" b="1" dirty="0">
                <a:solidFill>
                  <a:schemeClr val="bg1"/>
                </a:solidFill>
              </a:rPr>
              <a:t>Intermitencia y emergencia</a:t>
            </a:r>
            <a:endParaRPr lang="en-US" sz="4000" dirty="0"/>
          </a:p>
        </p:txBody>
      </p:sp>
      <p:sp>
        <p:nvSpPr>
          <p:cNvPr id="4" name="Text 1"/>
          <p:cNvSpPr/>
          <p:nvPr>
            <p:ph idx="104" type="body" hasCustomPrompt="1"/>
          </p:nvPr>
        </p:nvSpPr>
        <p:spPr>
          <a:xfrm>
            <a:off x="731520" y="4434840"/>
            <a:ext cx="10058400" cy="1463040"/>
          </a:xfrm>
          <a:prstGeom prst="rect">
            <a:avLst/>
          </a:prstGeom>
          <a:noFill/>
          <a:ln/>
        </p:spPr>
        <p:txBody>
          <a:bodyPr wrap="square" rtlCol="0" anchor="t"/>
          <a:lstStyle/>
          <a:p>
            <a:pPr algn="l" indent="0" marL="0">
              <a:buNone/>
            </a:pPr>
            <a:r>
              <a:rPr lang="en-US" sz="1800" dirty="0">
                <a:solidFill>
                  <a:schemeClr val="bg2"/>
                </a:solidFill>
              </a:rPr>
              <a:t>4.6.1 Relé · 4.6.2 Mando de intermitencia · 4.6.3 Conmutadores · 4.6.4 Mando de emergencia</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Intermitencia: exigencias</a:t>
            </a:r>
            <a:endParaRPr lang="en-US" sz="2800" dirty="0"/>
          </a:p>
        </p:txBody>
      </p:sp>
      <p:sp>
        <p:nvSpPr>
          <p:cNvPr id="4" name="Text 1"/>
          <p:cNvSpPr txBox="1"/>
          <p:nvPr/>
        </p:nvSpPr>
        <p:spPr>
          <a:xfrm>
            <a:off x="502920" y="1188720"/>
            <a:ext cx="6035040" cy="5029200"/>
          </a:xfrm>
          <a:prstGeom prst="rect">
            <a:avLst/>
          </a:prstGeom>
          <a:noFill/>
          <a:ln/>
        </p:spPr>
        <p:txBody>
          <a:bodyPr wrap="square" lIns="25400" tIns="25400" rIns="50800" bIns="25400" rtlCol="0" anchor="t"/>
          <a:lstStyle/>
          <a:p>
            <a:pPr marL="203200" indent="-203200">
              <a:spcAft>
                <a:spcPts val="600"/>
              </a:spcAft>
              <a:buSzPct val="100000"/>
              <a:buChar char="•"/>
            </a:pPr>
            <a:r>
              <a:rPr lang="en-US" sz="1600" b="1" dirty="0">
                <a:solidFill>
                  <a:schemeClr val="tx1"/>
                </a:solidFill>
              </a:rPr>
              <a:t>Misión: </a:t>
            </a:r>
            <a:pPr indent="0" marL="0">
              <a:buNone/>
            </a:pPr>
            <a:r>
              <a:rPr lang="en-US" sz="1600" dirty="0">
                <a:solidFill>
                  <a:schemeClr val="tx1"/>
                </a:solidFill>
              </a:rPr>
              <a:t>indicar un cambio de dirección o de carril; en emergencia, todas a la vez.</a:t>
            </a:r>
            <a:endParaRPr lang="en-US" sz="1600" dirty="0"/>
          </a:p>
          <a:p>
            <a:pPr marL="203200" indent="-203200">
              <a:spcAft>
                <a:spcPts val="600"/>
              </a:spcAft>
              <a:buSzPct val="100000"/>
              <a:buChar char="•"/>
            </a:pPr>
            <a:r>
              <a:rPr lang="en-US" sz="1600" b="1" dirty="0">
                <a:solidFill>
                  <a:schemeClr val="tx1"/>
                </a:solidFill>
              </a:rPr>
              <a:t>Número: </a:t>
            </a:r>
            <a:pPr indent="0" marL="0">
              <a:buNone/>
            </a:pPr>
            <a:r>
              <a:rPr lang="en-US" sz="1600" dirty="0">
                <a:solidFill>
                  <a:schemeClr val="tx1"/>
                </a:solidFill>
              </a:rPr>
              <a:t>2 delanteras, 2 laterales y 2 traseras (4 en algunos vehículos).</a:t>
            </a:r>
            <a:endParaRPr lang="en-US" sz="1600" dirty="0"/>
          </a:p>
          <a:p>
            <a:pPr marL="203200" indent="-203200">
              <a:spcAft>
                <a:spcPts val="600"/>
              </a:spcAft>
              <a:buSzPct val="100000"/>
              <a:buChar char="•"/>
            </a:pPr>
            <a:r>
              <a:rPr lang="en-US" sz="1600" b="1" dirty="0">
                <a:solidFill>
                  <a:schemeClr val="tx1"/>
                </a:solidFill>
              </a:rPr>
              <a:t>Color: </a:t>
            </a:r>
            <a:pPr indent="0" marL="0">
              <a:buNone/>
            </a:pPr>
            <a:r>
              <a:rPr lang="en-US" sz="1600" dirty="0">
                <a:solidFill>
                  <a:schemeClr val="tx1"/>
                </a:solidFill>
              </a:rPr>
              <a:t>ámbar (atrás puede ser rojo según INEN).</a:t>
            </a:r>
            <a:endParaRPr lang="en-US" sz="1600" dirty="0"/>
          </a:p>
          <a:p>
            <a:pPr marL="203200" indent="-203200">
              <a:spcAft>
                <a:spcPts val="600"/>
              </a:spcAft>
              <a:buSzPct val="100000"/>
              <a:buChar char="•"/>
            </a:pPr>
            <a:r>
              <a:rPr lang="en-US" sz="1600" b="1" dirty="0">
                <a:solidFill>
                  <a:schemeClr val="tx1"/>
                </a:solidFill>
              </a:rPr>
              <a:t>Frecuencia: </a:t>
            </a:r>
            <a:pPr indent="0" marL="0">
              <a:buNone/>
            </a:pPr>
            <a:r>
              <a:rPr lang="en-US" sz="1600" dirty="0">
                <a:solidFill>
                  <a:schemeClr val="tx1"/>
                </a:solidFill>
              </a:rPr>
              <a:t>90 ± 30 destellos por minuto (1–2 Hz).</a:t>
            </a:r>
            <a:endParaRPr lang="en-US" sz="1600" dirty="0"/>
          </a:p>
          <a:p>
            <a:pPr marL="203200" indent="-203200">
              <a:spcAft>
                <a:spcPts val="600"/>
              </a:spcAft>
              <a:buSzPct val="100000"/>
              <a:buChar char="•"/>
            </a:pPr>
            <a:r>
              <a:rPr lang="en-US" sz="1600" b="1" dirty="0">
                <a:solidFill>
                  <a:schemeClr val="tx1"/>
                </a:solidFill>
              </a:rPr>
              <a:t>Lámparas: </a:t>
            </a:r>
            <a:pPr indent="0" marL="0">
              <a:buNone/>
            </a:pPr>
            <a:r>
              <a:rPr lang="en-US" sz="1600" dirty="0">
                <a:solidFill>
                  <a:schemeClr val="tx1"/>
                </a:solidFill>
              </a:rPr>
              <a:t>PY21W (21 W) del./tras.; W5W laterales; LED.</a:t>
            </a:r>
            <a:endParaRPr lang="en-US" sz="1600" dirty="0"/>
          </a:p>
          <a:p>
            <a:pPr marL="203200" indent="-203200">
              <a:spcAft>
                <a:spcPts val="600"/>
              </a:spcAft>
              <a:buSzPct val="100000"/>
              <a:buChar char="•"/>
            </a:pPr>
            <a:r>
              <a:rPr lang="en-US" sz="1600" b="1" dirty="0">
                <a:solidFill>
                  <a:schemeClr val="tx1"/>
                </a:solidFill>
              </a:rPr>
              <a:t>Elementos: </a:t>
            </a:r>
            <a:pPr indent="0" marL="0">
              <a:buNone/>
            </a:pPr>
            <a:r>
              <a:rPr lang="en-US" sz="1600" dirty="0">
                <a:solidFill>
                  <a:schemeClr val="tx1"/>
                </a:solidFill>
              </a:rPr>
              <a:t>relé, mando de intermitencia, mando de emergencia, fusibles, lámparas y testigo.</a:t>
            </a:r>
            <a:endParaRPr lang="en-US" sz="1600" dirty="0"/>
          </a:p>
        </p:txBody>
      </p:sp>
      <p:pic>
        <p:nvPicPr>
          <p:cNvPr id="5" name="Figura inen_direccional.png" descr="inen_direccional.png">    </p:cNvPr>
          <p:cNvPicPr>
            <a:picLocks noChangeAspect="1"/>
          </p:cNvPicPr>
          <p:nvPr/>
        </p:nvPicPr>
        <p:blipFill>
          <a:blip r:embed="rId1"/>
          <a:stretch>
            <a:fillRect/>
          </a:stretch>
        </p:blipFill>
        <p:spPr>
          <a:xfrm>
            <a:off x="6766560" y="1499616"/>
            <a:ext cx="4937760" cy="1481328"/>
          </a:xfrm>
          <a:prstGeom prst="rect">
            <a:avLst/>
          </a:prstGeom>
        </p:spPr>
      </p:pic>
      <p:sp>
        <p:nvSpPr>
          <p:cNvPr id="6" name="Text 2"/>
          <p:cNvSpPr txBox="1"/>
          <p:nvPr/>
        </p:nvSpPr>
        <p:spPr>
          <a:xfrm>
            <a:off x="6766560" y="3035808"/>
            <a:ext cx="49377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INEN (2009).</a:t>
            </a:r>
            <a:endParaRPr lang="en-US" sz="1000" dirty="0"/>
          </a:p>
        </p:txBody>
      </p:sp>
      <p:pic>
        <p:nvPicPr>
          <p:cNvPr id="7" name="Figura M_p131_0.png" descr="M_p131_0.png">    </p:cNvPr>
          <p:cNvPicPr>
            <a:picLocks noChangeAspect="1"/>
          </p:cNvPicPr>
          <p:nvPr/>
        </p:nvPicPr>
        <p:blipFill>
          <a:blip r:embed="rId2"/>
          <a:stretch>
            <a:fillRect/>
          </a:stretch>
        </p:blipFill>
        <p:spPr>
          <a:xfrm>
            <a:off x="8123170" y="3840480"/>
            <a:ext cx="2224540" cy="1920240"/>
          </a:xfrm>
          <a:prstGeom prst="rect">
            <a:avLst/>
          </a:prstGeom>
        </p:spPr>
      </p:pic>
      <p:sp>
        <p:nvSpPr>
          <p:cNvPr id="8" name="Text 3"/>
          <p:cNvSpPr txBox="1"/>
          <p:nvPr/>
        </p:nvSpPr>
        <p:spPr>
          <a:xfrm>
            <a:off x="6812280" y="5815584"/>
            <a:ext cx="41148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4.6.1 Tipos de relé y vigilancia de lámpara fundida</a:t>
            </a:r>
            <a:endParaRPr lang="en-US" sz="2800" dirty="0"/>
          </a:p>
        </p:txBody>
      </p:sp>
      <p:pic>
        <p:nvPicPr>
          <p:cNvPr id="4" name="Figura ll_tab62.jpg" descr="ll_tab62.jpg">    </p:cNvPr>
          <p:cNvPicPr>
            <a:picLocks noChangeAspect="1"/>
          </p:cNvPicPr>
          <p:nvPr/>
        </p:nvPicPr>
        <p:blipFill>
          <a:blip r:embed="rId1"/>
          <a:stretch>
            <a:fillRect/>
          </a:stretch>
        </p:blipFill>
        <p:spPr>
          <a:xfrm>
            <a:off x="666170" y="1234440"/>
            <a:ext cx="2691020" cy="3474720"/>
          </a:xfrm>
          <a:prstGeom prst="rect">
            <a:avLst/>
          </a:prstGeom>
        </p:spPr>
      </p:pic>
      <p:sp>
        <p:nvSpPr>
          <p:cNvPr id="5" name="Text 1"/>
          <p:cNvSpPr txBox="1"/>
          <p:nvPr/>
        </p:nvSpPr>
        <p:spPr>
          <a:xfrm>
            <a:off x="548640" y="4764024"/>
            <a:ext cx="301752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sp>
        <p:nvSpPr>
          <p:cNvPr id="6" name="Tarjeta Térmico (hilo dilatable)"/>
          <p:cNvSpPr/>
          <p:nvPr/>
        </p:nvSpPr>
        <p:spPr>
          <a:xfrm>
            <a:off x="3749040" y="1234440"/>
            <a:ext cx="3886200" cy="1783080"/>
          </a:xfrm>
          <a:prstGeom prst="roundRect">
            <a:avLst>
              <a:gd name="adj" fmla="val 4103"/>
            </a:avLst>
          </a:prstGeom>
          <a:solidFill>
            <a:srgbClr val="E4F1F1"/>
          </a:solidFill>
          <a:ln w="12700">
            <a:solidFill>
              <a:srgbClr val="E4F1F1"/>
            </a:solidFill>
            <a:prstDash val="solid"/>
          </a:ln>
        </p:spPr>
      </p:sp>
      <p:sp>
        <p:nvSpPr>
          <p:cNvPr id="7" name="Text 3"/>
          <p:cNvSpPr txBox="1"/>
          <p:nvPr/>
        </p:nvSpPr>
        <p:spPr>
          <a:xfrm>
            <a:off x="3913632" y="1344168"/>
            <a:ext cx="3557016" cy="411480"/>
          </a:xfrm>
          <a:prstGeom prst="rect">
            <a:avLst/>
          </a:prstGeom>
          <a:noFill/>
          <a:ln/>
        </p:spPr>
        <p:txBody>
          <a:bodyPr wrap="square" lIns="0" tIns="0" rIns="0" bIns="0" rtlCol="0" anchor="t"/>
          <a:lstStyle/>
          <a:p>
            <a:pPr indent="0" marL="0">
              <a:buNone/>
            </a:pPr>
            <a:r>
              <a:rPr lang="en-US" sz="1700" b="1" dirty="0">
                <a:solidFill>
                  <a:schemeClr val="accent1"/>
                </a:solidFill>
              </a:rPr>
              <a:t>Térmico (hilo dilatable)</a:t>
            </a:r>
            <a:endParaRPr lang="en-US" sz="1700" dirty="0"/>
          </a:p>
        </p:txBody>
      </p:sp>
      <p:sp>
        <p:nvSpPr>
          <p:cNvPr id="8" name="Text 4"/>
          <p:cNvSpPr txBox="1"/>
          <p:nvPr/>
        </p:nvSpPr>
        <p:spPr>
          <a:xfrm>
            <a:off x="3913632" y="1783080"/>
            <a:ext cx="3557016" cy="114300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El calor del hilo abre y cierra los contactos; la frecuencia depende de la carga.</a:t>
            </a:r>
            <a:endParaRPr lang="en-US" sz="1400" dirty="0"/>
          </a:p>
        </p:txBody>
      </p:sp>
      <p:sp>
        <p:nvSpPr>
          <p:cNvPr id="9" name="Tarjeta Electromagnético-bimetálico"/>
          <p:cNvSpPr/>
          <p:nvPr/>
        </p:nvSpPr>
        <p:spPr>
          <a:xfrm>
            <a:off x="7772400" y="1234440"/>
            <a:ext cx="3886200" cy="1783080"/>
          </a:xfrm>
          <a:prstGeom prst="roundRect">
            <a:avLst>
              <a:gd name="adj" fmla="val 4103"/>
            </a:avLst>
          </a:prstGeom>
          <a:solidFill>
            <a:srgbClr val="FDF1D8"/>
          </a:solidFill>
          <a:ln w="12700">
            <a:solidFill>
              <a:srgbClr val="FDF1D8"/>
            </a:solidFill>
            <a:prstDash val="solid"/>
          </a:ln>
        </p:spPr>
      </p:sp>
      <p:sp>
        <p:nvSpPr>
          <p:cNvPr id="10" name="Text 6"/>
          <p:cNvSpPr txBox="1"/>
          <p:nvPr/>
        </p:nvSpPr>
        <p:spPr>
          <a:xfrm>
            <a:off x="7936992" y="1344168"/>
            <a:ext cx="3557016" cy="411480"/>
          </a:xfrm>
          <a:prstGeom prst="rect">
            <a:avLst/>
          </a:prstGeom>
          <a:noFill/>
          <a:ln/>
        </p:spPr>
        <p:txBody>
          <a:bodyPr wrap="square" lIns="0" tIns="0" rIns="0" bIns="0" rtlCol="0" anchor="t"/>
          <a:lstStyle/>
          <a:p>
            <a:pPr indent="0" marL="0">
              <a:buNone/>
            </a:pPr>
            <a:r>
              <a:rPr lang="en-US" sz="1700" b="1" dirty="0">
                <a:solidFill>
                  <a:schemeClr val="tx1"/>
                </a:solidFill>
              </a:rPr>
              <a:t>Electromagnético-bimetálico</a:t>
            </a:r>
            <a:endParaRPr lang="en-US" sz="1700" dirty="0"/>
          </a:p>
        </p:txBody>
      </p:sp>
      <p:sp>
        <p:nvSpPr>
          <p:cNvPr id="11" name="Text 7"/>
          <p:cNvSpPr txBox="1"/>
          <p:nvPr/>
        </p:nvSpPr>
        <p:spPr>
          <a:xfrm>
            <a:off x="7936992" y="1783080"/>
            <a:ext cx="3557016" cy="114300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Bobina + lámina bimetálica; más estable, aún mecánico.</a:t>
            </a:r>
            <a:endParaRPr lang="en-US" sz="1400" dirty="0"/>
          </a:p>
        </p:txBody>
      </p:sp>
      <p:sp>
        <p:nvSpPr>
          <p:cNvPr id="12" name="Tarjeta Electrónico"/>
          <p:cNvSpPr/>
          <p:nvPr/>
        </p:nvSpPr>
        <p:spPr>
          <a:xfrm>
            <a:off x="3749040" y="3154680"/>
            <a:ext cx="3886200" cy="1783080"/>
          </a:xfrm>
          <a:prstGeom prst="roundRect">
            <a:avLst>
              <a:gd name="adj" fmla="val 4103"/>
            </a:avLst>
          </a:prstGeom>
          <a:solidFill>
            <a:srgbClr val="E4F1F1"/>
          </a:solidFill>
          <a:ln w="12700">
            <a:solidFill>
              <a:srgbClr val="E4F1F1"/>
            </a:solidFill>
            <a:prstDash val="solid"/>
          </a:ln>
        </p:spPr>
      </p:sp>
      <p:sp>
        <p:nvSpPr>
          <p:cNvPr id="13" name="Text 9"/>
          <p:cNvSpPr txBox="1"/>
          <p:nvPr/>
        </p:nvSpPr>
        <p:spPr>
          <a:xfrm>
            <a:off x="3913632" y="3264408"/>
            <a:ext cx="3557016" cy="411480"/>
          </a:xfrm>
          <a:prstGeom prst="rect">
            <a:avLst/>
          </a:prstGeom>
          <a:noFill/>
          <a:ln/>
        </p:spPr>
        <p:txBody>
          <a:bodyPr wrap="square" lIns="0" tIns="0" rIns="0" bIns="0" rtlCol="0" anchor="t"/>
          <a:lstStyle/>
          <a:p>
            <a:pPr indent="0" marL="0">
              <a:buNone/>
            </a:pPr>
            <a:r>
              <a:rPr lang="en-US" sz="1700" b="1" dirty="0">
                <a:solidFill>
                  <a:schemeClr val="accent1"/>
                </a:solidFill>
              </a:rPr>
              <a:t>Electrónico</a:t>
            </a:r>
            <a:endParaRPr lang="en-US" sz="1700" dirty="0"/>
          </a:p>
        </p:txBody>
      </p:sp>
      <p:sp>
        <p:nvSpPr>
          <p:cNvPr id="14" name="Text 10"/>
          <p:cNvSpPr txBox="1"/>
          <p:nvPr/>
        </p:nvSpPr>
        <p:spPr>
          <a:xfrm>
            <a:off x="3913632" y="3703320"/>
            <a:ext cx="3557016" cy="114300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Oscilador integrado que gobierna un relé o un transistor; frecuencia fija.</a:t>
            </a:r>
            <a:endParaRPr lang="en-US" sz="1400" dirty="0"/>
          </a:p>
        </p:txBody>
      </p:sp>
      <p:sp>
        <p:nvSpPr>
          <p:cNvPr id="15" name="Tarjeta Con vigilancia de lámparas"/>
          <p:cNvSpPr/>
          <p:nvPr/>
        </p:nvSpPr>
        <p:spPr>
          <a:xfrm>
            <a:off x="7772400" y="3154680"/>
            <a:ext cx="3886200" cy="1783080"/>
          </a:xfrm>
          <a:prstGeom prst="roundRect">
            <a:avLst>
              <a:gd name="adj" fmla="val 4103"/>
            </a:avLst>
          </a:prstGeom>
          <a:solidFill>
            <a:srgbClr val="FDF1D8"/>
          </a:solidFill>
          <a:ln w="12700">
            <a:solidFill>
              <a:srgbClr val="FDF1D8"/>
            </a:solidFill>
            <a:prstDash val="solid"/>
          </a:ln>
        </p:spPr>
      </p:sp>
      <p:sp>
        <p:nvSpPr>
          <p:cNvPr id="16" name="Text 12"/>
          <p:cNvSpPr txBox="1"/>
          <p:nvPr/>
        </p:nvSpPr>
        <p:spPr>
          <a:xfrm>
            <a:off x="7936992" y="3264408"/>
            <a:ext cx="3557016" cy="411480"/>
          </a:xfrm>
          <a:prstGeom prst="rect">
            <a:avLst/>
          </a:prstGeom>
          <a:noFill/>
          <a:ln/>
        </p:spPr>
        <p:txBody>
          <a:bodyPr wrap="square" lIns="0" tIns="0" rIns="0" bIns="0" rtlCol="0" anchor="t"/>
          <a:lstStyle/>
          <a:p>
            <a:pPr indent="0" marL="0">
              <a:buNone/>
            </a:pPr>
            <a:r>
              <a:rPr lang="en-US" sz="1700" b="1" dirty="0">
                <a:solidFill>
                  <a:schemeClr val="tx1"/>
                </a:solidFill>
              </a:rPr>
              <a:t>Con vigilancia de lámparas</a:t>
            </a:r>
            <a:endParaRPr lang="en-US" sz="1700" dirty="0"/>
          </a:p>
        </p:txBody>
      </p:sp>
      <p:sp>
        <p:nvSpPr>
          <p:cNvPr id="17" name="Text 13"/>
          <p:cNvSpPr txBox="1"/>
          <p:nvPr/>
        </p:nvSpPr>
        <p:spPr>
          <a:xfrm>
            <a:off x="7936992" y="3703320"/>
            <a:ext cx="3557016" cy="114300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Mide la corriente: si cae (lámpara fundida) duplica la frecuencia.</a:t>
            </a:r>
            <a:endParaRPr lang="en-US" sz="1400" dirty="0"/>
          </a:p>
        </p:txBody>
      </p:sp>
      <p:sp>
        <p:nvSpPr>
          <p:cNvPr id="18" name="Tarjeta Placa del relé"/>
          <p:cNvSpPr/>
          <p:nvPr/>
        </p:nvSpPr>
        <p:spPr>
          <a:xfrm>
            <a:off x="502920" y="5212080"/>
            <a:ext cx="11201400" cy="914400"/>
          </a:xfrm>
          <a:prstGeom prst="roundRect">
            <a:avLst>
              <a:gd name="adj" fmla="val 8000"/>
            </a:avLst>
          </a:prstGeom>
          <a:solidFill>
            <a:srgbClr val="E4F1F1"/>
          </a:solidFill>
          <a:ln w="12700">
            <a:solidFill>
              <a:srgbClr val="E4F1F1"/>
            </a:solidFill>
            <a:prstDash val="solid"/>
          </a:ln>
        </p:spPr>
      </p:sp>
      <p:sp>
        <p:nvSpPr>
          <p:cNvPr id="19" name="Text 15"/>
          <p:cNvSpPr txBox="1"/>
          <p:nvPr/>
        </p:nvSpPr>
        <p:spPr>
          <a:xfrm>
            <a:off x="667512" y="5321808"/>
            <a:ext cx="10872216" cy="411480"/>
          </a:xfrm>
          <a:prstGeom prst="rect">
            <a:avLst/>
          </a:prstGeom>
          <a:noFill/>
          <a:ln/>
        </p:spPr>
        <p:txBody>
          <a:bodyPr wrap="square" lIns="0" tIns="0" rIns="0" bIns="0" rtlCol="0" anchor="t"/>
          <a:lstStyle/>
          <a:p>
            <a:pPr indent="0" marL="0">
              <a:buNone/>
            </a:pPr>
            <a:r>
              <a:rPr lang="en-US" sz="1700" b="1" dirty="0">
                <a:solidFill>
                  <a:schemeClr val="accent1"/>
                </a:solidFill>
              </a:rPr>
              <a:t>Placa del relé</a:t>
            </a:r>
            <a:endParaRPr lang="en-US" sz="1700" dirty="0"/>
          </a:p>
        </p:txBody>
      </p:sp>
      <p:sp>
        <p:nvSpPr>
          <p:cNvPr id="20" name="Text 16"/>
          <p:cNvSpPr txBox="1"/>
          <p:nvPr/>
        </p:nvSpPr>
        <p:spPr>
          <a:xfrm>
            <a:off x="667512" y="5760720"/>
            <a:ext cx="10872216" cy="27432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Ejemplo «12 V 2 × 21 W + 5 W»: diseñado para dos lámparas de 21 W y una lateral de 5 W por lado.</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Ejemplo resuelto: corriente y aviso de lámpara fundida</a:t>
            </a:r>
            <a:endParaRPr lang="en-US" sz="2800" dirty="0"/>
          </a:p>
        </p:txBody>
      </p:sp>
      <p:sp>
        <p:nvSpPr>
          <p:cNvPr id="4" name="Shape 1"/>
          <p:cNvSpPr/>
          <p:nvPr/>
        </p:nvSpPr>
        <p:spPr>
          <a:xfrm>
            <a:off x="502920" y="1234440"/>
            <a:ext cx="2103120" cy="365760"/>
          </a:xfrm>
          <a:prstGeom prst="roundRect">
            <a:avLst>
              <a:gd name="adj" fmla="val 50000"/>
            </a:avLst>
          </a:prstGeom>
          <a:solidFill>
            <a:srgbClr val="F2A516"/>
          </a:solidFill>
          <a:ln w="12700">
            <a:solidFill>
              <a:srgbClr val="F2A516"/>
            </a:solidFill>
            <a:prstDash val="solid"/>
          </a:ln>
        </p:spPr>
      </p:sp>
      <p:sp>
        <p:nvSpPr>
          <p:cNvPr id="5" name="Text 2"/>
          <p:cNvSpPr txBox="1"/>
          <p:nvPr/>
        </p:nvSpPr>
        <p:spPr>
          <a:xfrm>
            <a:off x="502920" y="1234440"/>
            <a:ext cx="2103120" cy="365760"/>
          </a:xfrm>
          <a:prstGeom prst="rect">
            <a:avLst/>
          </a:prstGeom>
          <a:noFill/>
          <a:ln/>
        </p:spPr>
        <p:txBody>
          <a:bodyPr wrap="square" lIns="0" tIns="0" rIns="0" bIns="0" rtlCol="0" anchor="ctr"/>
          <a:lstStyle/>
          <a:p>
            <a:pPr algn="ctr" indent="0" marL="0">
              <a:buNone/>
            </a:pPr>
            <a:r>
              <a:rPr lang="en-US" sz="1300" b="1" dirty="0">
                <a:solidFill>
                  <a:srgbClr val="1B2A33"/>
                </a:solidFill>
              </a:rPr>
              <a:t>Ejemplo resuelto</a:t>
            </a:r>
            <a:endParaRPr lang="en-US" sz="1300" dirty="0"/>
          </a:p>
        </p:txBody>
      </p:sp>
      <p:sp>
        <p:nvSpPr>
          <p:cNvPr id="6" name="Text 3"/>
          <p:cNvSpPr txBox="1"/>
          <p:nvPr/>
        </p:nvSpPr>
        <p:spPr>
          <a:xfrm>
            <a:off x="502920" y="1737360"/>
            <a:ext cx="6400800" cy="4480560"/>
          </a:xfrm>
          <a:prstGeom prst="rect">
            <a:avLst/>
          </a:prstGeom>
          <a:noFill/>
          <a:ln/>
        </p:spPr>
        <p:txBody>
          <a:bodyPr wrap="square" lIns="25400" tIns="25400" rIns="50800" bIns="25400" rtlCol="0" anchor="t"/>
          <a:lstStyle/>
          <a:p>
            <a:pPr indent="0" marL="0">
              <a:spcAft>
                <a:spcPts val="400"/>
              </a:spcAft>
              <a:buNone/>
            </a:pPr>
            <a:r>
              <a:rPr lang="en-US" sz="1700" b="1" dirty="0">
                <a:solidFill>
                  <a:schemeClr val="accent1"/>
                </a:solidFill>
              </a:rPr>
              <a:t>Datos (un lado)</a:t>
            </a:r>
            <a:endParaRPr lang="en-US" sz="1700" dirty="0"/>
          </a:p>
          <a:p>
            <a:pPr marL="203200" indent="-203200">
              <a:spcAft>
                <a:spcPts val="600"/>
              </a:spcAft>
              <a:buSzPct val="100000"/>
              <a:buChar char="•"/>
            </a:pPr>
            <a:r>
              <a:rPr lang="en-US" sz="1600" dirty="0">
                <a:solidFill>
                  <a:schemeClr val="tx1"/>
                </a:solidFill>
              </a:rPr>
              <a:t>Delantero PY21W + trasero PY21W + lateral W5W, a 12 V.</a:t>
            </a:r>
            <a:endParaRPr lang="en-US" sz="1700" dirty="0"/>
          </a:p>
          <a:p>
            <a:pPr indent="0" marL="0">
              <a:spcAft>
                <a:spcPts val="400"/>
              </a:spcAft>
              <a:buNone/>
            </a:pPr>
            <a:r>
              <a:rPr lang="en-US" sz="1700" b="1" dirty="0">
                <a:solidFill>
                  <a:schemeClr val="accent1"/>
                </a:solidFill>
              </a:rPr>
              <a:t>Corriente normal</a:t>
            </a:r>
            <a:endParaRPr lang="en-US" sz="1700" dirty="0"/>
          </a:p>
          <a:p>
            <a:pPr marL="203200" indent="-203200">
              <a:spcAft>
                <a:spcPts val="600"/>
              </a:spcAft>
              <a:buSzPct val="100000"/>
              <a:buChar char="•"/>
            </a:pPr>
            <a:r>
              <a:rPr lang="en-US" sz="1600" dirty="0">
                <a:solidFill>
                  <a:schemeClr val="tx1"/>
                </a:solidFill>
              </a:rPr>
              <a:t>P = 21 + 21 + 5 = 47 W → I = 47 / 12 = 3,92 A</a:t>
            </a:r>
            <a:endParaRPr lang="en-US" sz="1700" dirty="0"/>
          </a:p>
          <a:p>
            <a:pPr indent="0" marL="0">
              <a:spcAft>
                <a:spcPts val="400"/>
              </a:spcAft>
              <a:buNone/>
            </a:pPr>
            <a:r>
              <a:rPr lang="en-US" sz="1700" b="1" dirty="0">
                <a:solidFill>
                  <a:schemeClr val="accent1"/>
                </a:solidFill>
              </a:rPr>
              <a:t>Con el trasero fundido</a:t>
            </a:r>
            <a:endParaRPr lang="en-US" sz="1700" dirty="0"/>
          </a:p>
          <a:p>
            <a:pPr marL="203200" indent="-203200">
              <a:spcAft>
                <a:spcPts val="600"/>
              </a:spcAft>
              <a:buSzPct val="100000"/>
              <a:buChar char="•"/>
            </a:pPr>
            <a:r>
              <a:rPr lang="en-US" sz="1600" dirty="0">
                <a:solidFill>
                  <a:schemeClr val="tx1"/>
                </a:solidFill>
              </a:rPr>
              <a:t>P = 26 W → I = 26 / 12 = 2,17 A (−45 %)</a:t>
            </a:r>
            <a:endParaRPr lang="en-US" sz="1700" dirty="0"/>
          </a:p>
          <a:p>
            <a:pPr indent="0" marL="0">
              <a:spcAft>
                <a:spcPts val="400"/>
              </a:spcAft>
              <a:buNone/>
            </a:pPr>
            <a:r>
              <a:rPr lang="en-US" sz="1700" b="1" dirty="0">
                <a:solidFill>
                  <a:schemeClr val="accent1"/>
                </a:solidFill>
              </a:rPr>
              <a:t>Frecuencia</a:t>
            </a:r>
            <a:endParaRPr lang="en-US" sz="1700" dirty="0"/>
          </a:p>
          <a:p>
            <a:pPr marL="203200" indent="-203200">
              <a:spcAft>
                <a:spcPts val="600"/>
              </a:spcAft>
              <a:buSzPct val="100000"/>
              <a:buChar char="•"/>
            </a:pPr>
            <a:r>
              <a:rPr lang="en-US" sz="1600" dirty="0">
                <a:solidFill>
                  <a:schemeClr val="tx1"/>
                </a:solidFill>
              </a:rPr>
              <a:t>Normal 90 destellos/min ⇒ T = 60 / 90 = 0,67 s. Con avería ≈ 180/min.</a:t>
            </a:r>
            <a:endParaRPr lang="en-US" sz="1700" dirty="0"/>
          </a:p>
        </p:txBody>
      </p:sp>
      <p:pic>
        <p:nvPicPr>
          <p:cNvPr id="7" name="Figura M_p129_1.png" descr="M_p129_1.png">    </p:cNvPr>
          <p:cNvPicPr>
            <a:picLocks noChangeAspect="1"/>
          </p:cNvPicPr>
          <p:nvPr/>
        </p:nvPicPr>
        <p:blipFill>
          <a:blip r:embed="rId1"/>
          <a:stretch>
            <a:fillRect/>
          </a:stretch>
        </p:blipFill>
        <p:spPr>
          <a:xfrm>
            <a:off x="7651262" y="1280160"/>
            <a:ext cx="3534117" cy="1920240"/>
          </a:xfrm>
          <a:prstGeom prst="rect">
            <a:avLst/>
          </a:prstGeom>
        </p:spPr>
      </p:pic>
      <p:sp>
        <p:nvSpPr>
          <p:cNvPr id="8" name="Text 4"/>
          <p:cNvSpPr txBox="1"/>
          <p:nvPr/>
        </p:nvSpPr>
        <p:spPr>
          <a:xfrm>
            <a:off x="7178040" y="3255264"/>
            <a:ext cx="41148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9" name="Ecuación"/>
          <p:cNvSpPr/>
          <p:nvPr/>
        </p:nvSpPr>
        <p:spPr>
          <a:xfrm>
            <a:off x="7132320" y="4023360"/>
            <a:ext cx="4572000" cy="1828800"/>
          </a:xfrm>
          <a:prstGeom prst="roundRect">
            <a:avLst>
              <a:gd name="adj" fmla="val 4000"/>
            </a:avLst>
          </a:prstGeom>
          <a:solidFill>
            <a:srgbClr val="FDF1D8"/>
          </a:solidFill>
          <a:ln w="15875">
            <a:solidFill>
              <a:srgbClr val="F2A516"/>
            </a:solidFill>
            <a:prstDash val="solid"/>
          </a:ln>
        </p:spPr>
      </p:sp>
      <p:sp>
        <p:nvSpPr>
          <p:cNvPr id="10" name="Text 6"/>
          <p:cNvSpPr txBox="1"/>
          <p:nvPr/>
        </p:nvSpPr>
        <p:spPr>
          <a:xfrm>
            <a:off x="7132320" y="4023360"/>
            <a:ext cx="4572000" cy="1828800"/>
          </a:xfrm>
          <a:prstGeom prst="rect">
            <a:avLst/>
          </a:prstGeom>
          <a:noFill/>
          <a:ln/>
        </p:spPr>
        <p:txBody>
          <a:bodyPr wrap="square" lIns="50800" tIns="50800" rIns="50800" bIns="5080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Lámpara LED en lugar de PY21W ⇒ la corriente cae y el relé «cree» que está fundida: usar relé para LED o resistencia de carga.</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4.6.2 Mando de intermitencia y 4.6.3 conmutadores</a:t>
            </a:r>
            <a:endParaRPr lang="en-US" sz="2800" dirty="0"/>
          </a:p>
        </p:txBody>
      </p:sp>
      <p:pic>
        <p:nvPicPr>
          <p:cNvPr id="4" name="Figura ll_esq614.jpg" descr="ll_esq614.jpg">    </p:cNvPr>
          <p:cNvPicPr>
            <a:picLocks noChangeAspect="1"/>
          </p:cNvPicPr>
          <p:nvPr/>
        </p:nvPicPr>
        <p:blipFill>
          <a:blip r:embed="rId1"/>
          <a:stretch>
            <a:fillRect/>
          </a:stretch>
        </p:blipFill>
        <p:spPr>
          <a:xfrm>
            <a:off x="747917" y="1234440"/>
            <a:ext cx="7008087" cy="3200400"/>
          </a:xfrm>
          <a:prstGeom prst="rect">
            <a:avLst/>
          </a:prstGeom>
        </p:spPr>
      </p:pic>
      <p:sp>
        <p:nvSpPr>
          <p:cNvPr id="5" name="Text 1"/>
          <p:cNvSpPr txBox="1"/>
          <p:nvPr/>
        </p:nvSpPr>
        <p:spPr>
          <a:xfrm>
            <a:off x="548640" y="4489704"/>
            <a:ext cx="7008087"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sp>
        <p:nvSpPr>
          <p:cNvPr id="6" name="Text 2"/>
          <p:cNvSpPr txBox="1"/>
          <p:nvPr/>
        </p:nvSpPr>
        <p:spPr>
          <a:xfrm>
            <a:off x="8229600" y="1188720"/>
            <a:ext cx="3474720" cy="3657600"/>
          </a:xfrm>
          <a:prstGeom prst="rect">
            <a:avLst/>
          </a:prstGeom>
          <a:noFill/>
          <a:ln/>
        </p:spPr>
        <p:txBody>
          <a:bodyPr wrap="square" lIns="25400" tIns="25400" rIns="50800" bIns="25400" rtlCol="0" anchor="t"/>
          <a:lstStyle/>
          <a:p>
            <a:pPr marL="203200" indent="-203200">
              <a:spcAft>
                <a:spcPts val="600"/>
              </a:spcAft>
              <a:buSzPct val="100000"/>
              <a:buChar char="•"/>
            </a:pPr>
            <a:r>
              <a:rPr lang="en-US" sz="1500" b="1" dirty="0">
                <a:solidFill>
                  <a:schemeClr val="tx1"/>
                </a:solidFill>
              </a:rPr>
              <a:t>49: </a:t>
            </a:r>
            <a:pPr indent="0" marL="0">
              <a:buNone/>
            </a:pPr>
            <a:r>
              <a:rPr lang="en-US" sz="1500" dirty="0">
                <a:solidFill>
                  <a:schemeClr val="tx1"/>
                </a:solidFill>
              </a:rPr>
              <a:t>entrada (+15 por fusible).</a:t>
            </a:r>
            <a:endParaRPr lang="en-US" sz="1500" dirty="0"/>
          </a:p>
          <a:p>
            <a:pPr marL="203200" indent="-203200">
              <a:spcAft>
                <a:spcPts val="600"/>
              </a:spcAft>
              <a:buSzPct val="100000"/>
              <a:buChar char="•"/>
            </a:pPr>
            <a:r>
              <a:rPr lang="en-US" sz="1500" b="1" dirty="0">
                <a:solidFill>
                  <a:schemeClr val="tx1"/>
                </a:solidFill>
              </a:rPr>
              <a:t>49a / C: </a:t>
            </a:r>
            <a:pPr indent="0" marL="0">
              <a:buNone/>
            </a:pPr>
            <a:r>
              <a:rPr lang="en-US" sz="1500" dirty="0">
                <a:solidFill>
                  <a:schemeClr val="tx1"/>
                </a:solidFill>
              </a:rPr>
              <a:t>salida intermitente al conmutador.</a:t>
            </a:r>
            <a:endParaRPr lang="en-US" sz="1500" dirty="0"/>
          </a:p>
          <a:p>
            <a:pPr marL="203200" indent="-203200">
              <a:spcAft>
                <a:spcPts val="600"/>
              </a:spcAft>
              <a:buSzPct val="100000"/>
              <a:buChar char="•"/>
            </a:pPr>
            <a:r>
              <a:rPr lang="en-US" sz="1500" b="1" dirty="0">
                <a:solidFill>
                  <a:schemeClr val="tx1"/>
                </a:solidFill>
              </a:rPr>
              <a:t>L / R: </a:t>
            </a:r>
            <a:pPr indent="0" marL="0">
              <a:buNone/>
            </a:pPr>
            <a:r>
              <a:rPr lang="en-US" sz="1500" dirty="0">
                <a:solidFill>
                  <a:schemeClr val="tx1"/>
                </a:solidFill>
              </a:rPr>
              <a:t>lados izquierdo y derecho.</a:t>
            </a:r>
            <a:endParaRPr lang="en-US" sz="1500" dirty="0"/>
          </a:p>
          <a:p>
            <a:pPr marL="203200" indent="-203200">
              <a:spcAft>
                <a:spcPts val="600"/>
              </a:spcAft>
              <a:buSzPct val="100000"/>
              <a:buChar char="•"/>
            </a:pPr>
            <a:r>
              <a:rPr lang="en-US" sz="1500" b="1" dirty="0">
                <a:solidFill>
                  <a:schemeClr val="tx1"/>
                </a:solidFill>
              </a:rPr>
              <a:t>31: </a:t>
            </a:r>
            <a:pPr indent="0" marL="0">
              <a:buNone/>
            </a:pPr>
            <a:r>
              <a:rPr lang="en-US" sz="1500" dirty="0">
                <a:solidFill>
                  <a:schemeClr val="tx1"/>
                </a:solidFill>
              </a:rPr>
              <a:t>masa del relé electrónico.</a:t>
            </a:r>
            <a:endParaRPr lang="en-US" sz="1500" dirty="0"/>
          </a:p>
          <a:p>
            <a:pPr marL="203200" indent="-203200">
              <a:spcAft>
                <a:spcPts val="600"/>
              </a:spcAft>
              <a:buSzPct val="100000"/>
              <a:buChar char="•"/>
            </a:pPr>
            <a:r>
              <a:rPr lang="en-US" sz="1500" b="1" dirty="0">
                <a:solidFill>
                  <a:schemeClr val="tx1"/>
                </a:solidFill>
              </a:rPr>
              <a:t>Retorno: </a:t>
            </a:r>
            <a:pPr indent="0" marL="0">
              <a:buNone/>
            </a:pPr>
            <a:r>
              <a:rPr lang="en-US" sz="1500" dirty="0">
                <a:solidFill>
                  <a:schemeClr val="tx1"/>
                </a:solidFill>
              </a:rPr>
              <a:t>leva en la columna de dirección.</a:t>
            </a:r>
            <a:endParaRPr lang="en-US" sz="1500" dirty="0"/>
          </a:p>
        </p:txBody>
      </p:sp>
      <p:sp>
        <p:nvSpPr>
          <p:cNvPr id="7" name="Tarjeta Conmutadores de columna"/>
          <p:cNvSpPr/>
          <p:nvPr/>
        </p:nvSpPr>
        <p:spPr>
          <a:xfrm>
            <a:off x="502920" y="5029200"/>
            <a:ext cx="11201400" cy="1097280"/>
          </a:xfrm>
          <a:prstGeom prst="roundRect">
            <a:avLst>
              <a:gd name="adj" fmla="val 6667"/>
            </a:avLst>
          </a:prstGeom>
          <a:solidFill>
            <a:srgbClr val="E4F1F1"/>
          </a:solidFill>
          <a:ln w="12700">
            <a:solidFill>
              <a:srgbClr val="E4F1F1"/>
            </a:solidFill>
            <a:prstDash val="solid"/>
          </a:ln>
        </p:spPr>
      </p:sp>
      <p:sp>
        <p:nvSpPr>
          <p:cNvPr id="8" name="Text 4"/>
          <p:cNvSpPr txBox="1"/>
          <p:nvPr/>
        </p:nvSpPr>
        <p:spPr>
          <a:xfrm>
            <a:off x="667512" y="5138928"/>
            <a:ext cx="10872216" cy="411480"/>
          </a:xfrm>
          <a:prstGeom prst="rect">
            <a:avLst/>
          </a:prstGeom>
          <a:noFill/>
          <a:ln/>
        </p:spPr>
        <p:txBody>
          <a:bodyPr wrap="square" lIns="0" tIns="0" rIns="0" bIns="0" rtlCol="0" anchor="t"/>
          <a:lstStyle/>
          <a:p>
            <a:pPr indent="0" marL="0">
              <a:buNone/>
            </a:pPr>
            <a:r>
              <a:rPr lang="en-US" sz="1700" b="1" dirty="0">
                <a:solidFill>
                  <a:schemeClr val="accent1"/>
                </a:solidFill>
              </a:rPr>
              <a:t>Conmutadores de columna</a:t>
            </a:r>
            <a:endParaRPr lang="en-US" sz="1700" dirty="0"/>
          </a:p>
        </p:txBody>
      </p:sp>
      <p:sp>
        <p:nvSpPr>
          <p:cNvPr id="9" name="Text 5"/>
          <p:cNvSpPr txBox="1"/>
          <p:nvPr/>
        </p:nvSpPr>
        <p:spPr>
          <a:xfrm>
            <a:off x="667512" y="5577840"/>
            <a:ext cx="10872216" cy="45720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Hoy el mando de intermitencia forma parte del conjunto multifunción (alumbrado + intermitencia + limpia) y a menudo solo envía señales a una centralita de columna o de habitáculo.</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4.6.4 Mando de emergencia (warning)</a:t>
            </a:r>
            <a:endParaRPr lang="en-US" sz="2800" dirty="0"/>
          </a:p>
        </p:txBody>
      </p:sp>
      <p:pic>
        <p:nvPicPr>
          <p:cNvPr id="4" name="Figura ll_esq617.jpg" descr="ll_esq617.jpg">    </p:cNvPr>
          <p:cNvPicPr>
            <a:picLocks noChangeAspect="1"/>
          </p:cNvPicPr>
          <p:nvPr/>
        </p:nvPicPr>
        <p:blipFill>
          <a:blip r:embed="rId1"/>
          <a:stretch>
            <a:fillRect/>
          </a:stretch>
        </p:blipFill>
        <p:spPr>
          <a:xfrm>
            <a:off x="502920" y="1257155"/>
            <a:ext cx="5852160" cy="2514890"/>
          </a:xfrm>
          <a:prstGeom prst="rect">
            <a:avLst/>
          </a:prstGeom>
        </p:spPr>
      </p:pic>
      <p:sp>
        <p:nvSpPr>
          <p:cNvPr id="5" name="Text 1"/>
          <p:cNvSpPr txBox="1"/>
          <p:nvPr/>
        </p:nvSpPr>
        <p:spPr>
          <a:xfrm>
            <a:off x="502920" y="3826909"/>
            <a:ext cx="58521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6" name="Figura ll_esq618.jpg" descr="ll_esq618.jpg">    </p:cNvPr>
          <p:cNvPicPr>
            <a:picLocks noChangeAspect="1"/>
          </p:cNvPicPr>
          <p:nvPr/>
        </p:nvPicPr>
        <p:blipFill>
          <a:blip r:embed="rId2"/>
          <a:stretch>
            <a:fillRect/>
          </a:stretch>
        </p:blipFill>
        <p:spPr>
          <a:xfrm>
            <a:off x="6707822" y="1234440"/>
            <a:ext cx="4872356" cy="2926080"/>
          </a:xfrm>
          <a:prstGeom prst="rect">
            <a:avLst/>
          </a:prstGeom>
        </p:spPr>
      </p:pic>
      <p:sp>
        <p:nvSpPr>
          <p:cNvPr id="7" name="Text 2"/>
          <p:cNvSpPr txBox="1"/>
          <p:nvPr/>
        </p:nvSpPr>
        <p:spPr>
          <a:xfrm>
            <a:off x="6629400" y="4215384"/>
            <a:ext cx="4872356"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8" name="Figura ll_mando_emerg.jpg" descr="ll_mando_emerg.jpg">    </p:cNvPr>
          <p:cNvPicPr>
            <a:picLocks noChangeAspect="1"/>
          </p:cNvPicPr>
          <p:nvPr/>
        </p:nvPicPr>
        <p:blipFill>
          <a:blip r:embed="rId3"/>
          <a:stretch>
            <a:fillRect/>
          </a:stretch>
        </p:blipFill>
        <p:spPr>
          <a:xfrm>
            <a:off x="725175" y="4389120"/>
            <a:ext cx="1932931" cy="1371600"/>
          </a:xfrm>
          <a:prstGeom prst="rect">
            <a:avLst/>
          </a:prstGeom>
        </p:spPr>
      </p:pic>
      <p:sp>
        <p:nvSpPr>
          <p:cNvPr id="9" name="Text 3"/>
          <p:cNvSpPr txBox="1"/>
          <p:nvPr/>
        </p:nvSpPr>
        <p:spPr>
          <a:xfrm>
            <a:off x="548640" y="5815584"/>
            <a:ext cx="23774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sp>
        <p:nvSpPr>
          <p:cNvPr id="10" name="Text 4"/>
          <p:cNvSpPr txBox="1"/>
          <p:nvPr/>
        </p:nvSpPr>
        <p:spPr>
          <a:xfrm>
            <a:off x="3108960" y="4754880"/>
            <a:ext cx="8595360" cy="1371600"/>
          </a:xfrm>
          <a:prstGeom prst="rect">
            <a:avLst/>
          </a:prstGeom>
          <a:noFill/>
          <a:ln/>
        </p:spPr>
        <p:txBody>
          <a:bodyPr wrap="square" lIns="25400" tIns="25400" rIns="50800" bIns="25400" rtlCol="0" anchor="t"/>
          <a:lstStyle/>
          <a:p>
            <a:pPr marL="203200" indent="-203200">
              <a:spcAft>
                <a:spcPts val="600"/>
              </a:spcAft>
              <a:buSzPct val="100000"/>
              <a:buChar char="•"/>
            </a:pPr>
            <a:r>
              <a:rPr lang="en-US" sz="1500" dirty="0">
                <a:solidFill>
                  <a:schemeClr val="tx1"/>
                </a:solidFill>
              </a:rPr>
              <a:t>Pulsado: el relé pasa a alimentarse desde +30 y la salida C alimenta los dos lados a la vez.</a:t>
            </a:r>
            <a:endParaRPr lang="en-US" sz="1500" dirty="0"/>
          </a:p>
          <a:p>
            <a:pPr marL="203200" indent="-203200">
              <a:spcAft>
                <a:spcPts val="600"/>
              </a:spcAft>
              <a:buSzPct val="100000"/>
              <a:buChar char="•"/>
            </a:pPr>
            <a:r>
              <a:rPr lang="en-US" sz="1500" dirty="0">
                <a:solidFill>
                  <a:schemeClr val="tx1"/>
                </a:solidFill>
              </a:rPr>
              <a:t>Con centralita (derecha): el pulsador solo envía una señal; la centralita gestiona los relés RL1 y RL2.</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2" type="body" hasCustomPrompt="1"/>
          </p:nvPr>
        </p:nvSpPr>
        <p:spPr>
          <a:xfrm>
            <a:off x="731520" y="1463040"/>
            <a:ext cx="4114800" cy="1463040"/>
          </a:xfrm>
          <a:prstGeom prst="rect">
            <a:avLst/>
          </a:prstGeom>
          <a:noFill/>
          <a:ln/>
        </p:spPr>
        <p:txBody>
          <a:bodyPr wrap="square" rtlCol="0" anchor="b"/>
          <a:lstStyle/>
          <a:p>
            <a:pPr algn="l" indent="0" marL="0">
              <a:buNone/>
            </a:pPr>
            <a:r>
              <a:rPr lang="en-US" sz="8000" b="1" dirty="0">
                <a:solidFill>
                  <a:schemeClr val="accent2"/>
                </a:solidFill>
              </a:rPr>
              <a:t>4.7</a:t>
            </a:r>
            <a:endParaRPr lang="en-US" sz="8000" dirty="0"/>
          </a:p>
        </p:txBody>
      </p:sp>
      <p:sp>
        <p:nvSpPr>
          <p:cNvPr id="3" name="Text 1"/>
          <p:cNvSpPr/>
          <p:nvPr>
            <p:ph idx="103" type="title" hasCustomPrompt="1"/>
          </p:nvPr>
        </p:nvSpPr>
        <p:spPr>
          <a:xfrm>
            <a:off x="731520" y="2971800"/>
            <a:ext cx="10515600" cy="1371600"/>
          </a:xfrm>
          <a:prstGeom prst="rect">
            <a:avLst/>
          </a:prstGeom>
          <a:noFill/>
          <a:ln/>
        </p:spPr>
        <p:txBody>
          <a:bodyPr wrap="square" rtlCol="0" anchor="t"/>
          <a:lstStyle/>
          <a:p>
            <a:pPr algn="l" indent="0" marL="0">
              <a:buNone/>
            </a:pPr>
            <a:r>
              <a:rPr lang="en-US" sz="4000" b="1" dirty="0">
                <a:solidFill>
                  <a:schemeClr val="bg1"/>
                </a:solidFill>
              </a:rPr>
              <a:t>Luces de conducción diurna</a:t>
            </a:r>
            <a:endParaRPr lang="en-US" sz="4000" dirty="0"/>
          </a:p>
        </p:txBody>
      </p:sp>
      <p:sp>
        <p:nvSpPr>
          <p:cNvPr id="4" name="Text 1"/>
          <p:cNvSpPr/>
          <p:nvPr>
            <p:ph idx="104" type="body" hasCustomPrompt="1"/>
          </p:nvPr>
        </p:nvSpPr>
        <p:spPr>
          <a:xfrm>
            <a:off x="731520" y="4434840"/>
            <a:ext cx="10058400" cy="1463040"/>
          </a:xfrm>
          <a:prstGeom prst="rect">
            <a:avLst/>
          </a:prstGeom>
          <a:noFill/>
          <a:ln/>
        </p:spPr>
        <p:txBody>
          <a:bodyPr wrap="square" rtlCol="0" anchor="t"/>
          <a:lstStyle/>
          <a:p>
            <a:pPr algn="l" indent="0" marL="0">
              <a:buNone/>
            </a:pPr>
            <a:r>
              <a:rPr lang="en-US" sz="1800" dirty="0">
                <a:solidFill>
                  <a:schemeClr val="bg2"/>
                </a:solidFill>
              </a:rPr>
              <a:t>Daytime Running Lights (DRL)</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Luces de conducción diurna (DRL)</a:t>
            </a:r>
            <a:endParaRPr lang="en-US" sz="2800" dirty="0"/>
          </a:p>
        </p:txBody>
      </p:sp>
      <p:sp>
        <p:nvSpPr>
          <p:cNvPr id="4" name="Text 1"/>
          <p:cNvSpPr txBox="1"/>
          <p:nvPr/>
        </p:nvSpPr>
        <p:spPr>
          <a:xfrm>
            <a:off x="502920" y="1188720"/>
            <a:ext cx="5669280" cy="5029200"/>
          </a:xfrm>
          <a:prstGeom prst="rect">
            <a:avLst/>
          </a:prstGeom>
          <a:noFill/>
          <a:ln/>
        </p:spPr>
        <p:txBody>
          <a:bodyPr wrap="square" lIns="25400" tIns="25400" rIns="50800" bIns="25400" rtlCol="0" anchor="t"/>
          <a:lstStyle/>
          <a:p>
            <a:pPr marL="203200" indent="-203200">
              <a:spcAft>
                <a:spcPts val="600"/>
              </a:spcAft>
              <a:buSzPct val="100000"/>
              <a:buChar char="•"/>
            </a:pPr>
            <a:r>
              <a:rPr lang="en-US" sz="1600" b="1" dirty="0">
                <a:solidFill>
                  <a:schemeClr val="tx1"/>
                </a:solidFill>
              </a:rPr>
              <a:t>Misión: </a:t>
            </a:r>
            <a:pPr indent="0" marL="0">
              <a:buNone/>
            </a:pPr>
            <a:r>
              <a:rPr lang="en-US" sz="1600" dirty="0">
                <a:solidFill>
                  <a:schemeClr val="tx1"/>
                </a:solidFill>
              </a:rPr>
              <a:t>hacer el vehículo más visible de día, no iluminar.</a:t>
            </a:r>
            <a:endParaRPr lang="en-US" sz="1600" dirty="0"/>
          </a:p>
          <a:p>
            <a:pPr marL="203200" indent="-203200">
              <a:spcAft>
                <a:spcPts val="600"/>
              </a:spcAft>
              <a:buSzPct val="100000"/>
              <a:buChar char="•"/>
            </a:pPr>
            <a:r>
              <a:rPr lang="en-US" sz="1600" b="1" dirty="0">
                <a:solidFill>
                  <a:schemeClr val="tx1"/>
                </a:solidFill>
              </a:rPr>
              <a:t>Encendido: </a:t>
            </a:r>
            <a:pPr indent="0" marL="0">
              <a:buNone/>
            </a:pPr>
            <a:r>
              <a:rPr lang="en-US" sz="1600" dirty="0">
                <a:solidFill>
                  <a:schemeClr val="tx1"/>
                </a:solidFill>
              </a:rPr>
              <a:t>automático al arrancar; no se pueden apagar con el motor en marcha.</a:t>
            </a:r>
            <a:endParaRPr lang="en-US" sz="1600" dirty="0"/>
          </a:p>
          <a:p>
            <a:pPr marL="203200" indent="-203200">
              <a:spcAft>
                <a:spcPts val="600"/>
              </a:spcAft>
              <a:buSzPct val="100000"/>
              <a:buChar char="•"/>
            </a:pPr>
            <a:r>
              <a:rPr lang="en-US" sz="1600" b="1" dirty="0">
                <a:solidFill>
                  <a:schemeClr val="tx1"/>
                </a:solidFill>
              </a:rPr>
              <a:t>Apagado: </a:t>
            </a:r>
            <a:pPr indent="0" marL="0">
              <a:buNone/>
            </a:pPr>
            <a:r>
              <a:rPr lang="en-US" sz="1600" dirty="0">
                <a:solidFill>
                  <a:schemeClr val="tx1"/>
                </a:solidFill>
              </a:rPr>
              <a:t>al encender cruce o carretera (o se atenúan a función de posición).</a:t>
            </a:r>
            <a:endParaRPr lang="en-US" sz="1600" dirty="0"/>
          </a:p>
          <a:p>
            <a:pPr marL="203200" indent="-203200">
              <a:spcAft>
                <a:spcPts val="600"/>
              </a:spcAft>
              <a:buSzPct val="100000"/>
              <a:buChar char="•"/>
            </a:pPr>
            <a:r>
              <a:rPr lang="en-US" sz="1600" b="1" dirty="0">
                <a:solidFill>
                  <a:schemeClr val="tx1"/>
                </a:solidFill>
              </a:rPr>
              <a:t>Tecnología: </a:t>
            </a:r>
            <a:pPr indent="0" marL="0">
              <a:buNone/>
            </a:pPr>
            <a:r>
              <a:rPr lang="en-US" sz="1600" dirty="0">
                <a:solidFill>
                  <a:schemeClr val="tx1"/>
                </a:solidFill>
              </a:rPr>
              <a:t>LED o fibra óptica, bajo consumo (≈ 5–15 W por lado).</a:t>
            </a:r>
            <a:endParaRPr lang="en-US" sz="1600" dirty="0"/>
          </a:p>
          <a:p>
            <a:pPr marL="203200" indent="-203200">
              <a:spcAft>
                <a:spcPts val="600"/>
              </a:spcAft>
              <a:buSzPct val="100000"/>
              <a:buChar char="•"/>
            </a:pPr>
            <a:r>
              <a:rPr lang="en-US" sz="1600" b="1" dirty="0">
                <a:solidFill>
                  <a:schemeClr val="tx1"/>
                </a:solidFill>
              </a:rPr>
              <a:t>Norma: </a:t>
            </a:r>
            <a:pPr indent="0" marL="0">
              <a:buNone/>
            </a:pPr>
            <a:r>
              <a:rPr lang="en-US" sz="1600" dirty="0">
                <a:solidFill>
                  <a:schemeClr val="tx1"/>
                </a:solidFill>
              </a:rPr>
              <a:t>obligatorias en la UE desde 2011 (turismos); en Ecuador no figuran en INEN 1155:2009.</a:t>
            </a:r>
            <a:endParaRPr lang="en-US" sz="1600" dirty="0"/>
          </a:p>
        </p:txBody>
      </p:sp>
      <p:pic>
        <p:nvPicPr>
          <p:cNvPr id="5" name="Figura ll_drl.jpg" descr="ll_drl.jpg">    </p:cNvPr>
          <p:cNvPicPr>
            <a:picLocks noChangeAspect="1"/>
          </p:cNvPicPr>
          <p:nvPr/>
        </p:nvPicPr>
        <p:blipFill>
          <a:blip r:embed="rId1"/>
          <a:stretch>
            <a:fillRect/>
          </a:stretch>
        </p:blipFill>
        <p:spPr>
          <a:xfrm>
            <a:off x="7320885" y="1234440"/>
            <a:ext cx="3463349" cy="2743200"/>
          </a:xfrm>
          <a:prstGeom prst="rect">
            <a:avLst/>
          </a:prstGeom>
        </p:spPr>
      </p:pic>
      <p:sp>
        <p:nvSpPr>
          <p:cNvPr id="6" name="Text 2"/>
          <p:cNvSpPr txBox="1"/>
          <p:nvPr/>
        </p:nvSpPr>
        <p:spPr>
          <a:xfrm>
            <a:off x="6446520" y="4032504"/>
            <a:ext cx="41148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7" name="Figura M_p133_1.png" descr="M_p133_1.png">    </p:cNvPr>
          <p:cNvPicPr>
            <a:picLocks noChangeAspect="1"/>
          </p:cNvPicPr>
          <p:nvPr/>
        </p:nvPicPr>
        <p:blipFill>
          <a:blip r:embed="rId2"/>
          <a:stretch>
            <a:fillRect/>
          </a:stretch>
        </p:blipFill>
        <p:spPr>
          <a:xfrm>
            <a:off x="7116541" y="4572000"/>
            <a:ext cx="1586039" cy="1280160"/>
          </a:xfrm>
          <a:prstGeom prst="rect">
            <a:avLst/>
          </a:prstGeom>
        </p:spPr>
      </p:pic>
      <p:sp>
        <p:nvSpPr>
          <p:cNvPr id="8" name="Text 3"/>
          <p:cNvSpPr txBox="1"/>
          <p:nvPr/>
        </p:nvSpPr>
        <p:spPr>
          <a:xfrm>
            <a:off x="6446520" y="5907024"/>
            <a:ext cx="301752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2" type="body" hasCustomPrompt="1"/>
          </p:nvPr>
        </p:nvSpPr>
        <p:spPr>
          <a:xfrm>
            <a:off x="731520" y="1463040"/>
            <a:ext cx="4114800" cy="1463040"/>
          </a:xfrm>
          <a:prstGeom prst="rect">
            <a:avLst/>
          </a:prstGeom>
          <a:noFill/>
          <a:ln/>
        </p:spPr>
        <p:txBody>
          <a:bodyPr wrap="square" rtlCol="0" anchor="b"/>
          <a:lstStyle/>
          <a:p>
            <a:pPr algn="l" indent="0" marL="0">
              <a:buNone/>
            </a:pPr>
            <a:r>
              <a:rPr lang="en-US" sz="8000" b="1" dirty="0">
                <a:solidFill>
                  <a:schemeClr val="accent2"/>
                </a:solidFill>
              </a:rPr>
              <a:t>4.8 – 4.10</a:t>
            </a:r>
            <a:endParaRPr lang="en-US" sz="8000" dirty="0"/>
          </a:p>
        </p:txBody>
      </p:sp>
      <p:sp>
        <p:nvSpPr>
          <p:cNvPr id="3" name="Text 1"/>
          <p:cNvSpPr/>
          <p:nvPr>
            <p:ph idx="103" type="title" hasCustomPrompt="1"/>
          </p:nvPr>
        </p:nvSpPr>
        <p:spPr>
          <a:xfrm>
            <a:off x="731520" y="2971800"/>
            <a:ext cx="10515600" cy="1371600"/>
          </a:xfrm>
          <a:prstGeom prst="rect">
            <a:avLst/>
          </a:prstGeom>
          <a:noFill/>
          <a:ln/>
        </p:spPr>
        <p:txBody>
          <a:bodyPr wrap="square" rtlCol="0" anchor="t"/>
          <a:lstStyle/>
          <a:p>
            <a:pPr algn="l" indent="0" marL="0">
              <a:buNone/>
            </a:pPr>
            <a:r>
              <a:rPr lang="en-US" sz="4000" b="1" dirty="0">
                <a:solidFill>
                  <a:schemeClr val="bg1"/>
                </a:solidFill>
              </a:rPr>
              <a:t>Freno, marcha atrás e iluminación interior</a:t>
            </a:r>
            <a:endParaRPr lang="en-US" sz="4000" dirty="0"/>
          </a:p>
        </p:txBody>
      </p:sp>
      <p:sp>
        <p:nvSpPr>
          <p:cNvPr id="4" name="Text 1"/>
          <p:cNvSpPr/>
          <p:nvPr>
            <p:ph idx="104" type="body" hasCustomPrompt="1"/>
          </p:nvPr>
        </p:nvSpPr>
        <p:spPr>
          <a:xfrm>
            <a:off x="731520" y="4434840"/>
            <a:ext cx="10058400" cy="1463040"/>
          </a:xfrm>
          <a:prstGeom prst="rect">
            <a:avLst/>
          </a:prstGeom>
          <a:noFill/>
          <a:ln/>
        </p:spPr>
        <p:txBody>
          <a:bodyPr wrap="square" rtlCol="0" anchor="t"/>
          <a:lstStyle/>
          <a:p>
            <a:pPr algn="l" indent="0" marL="0">
              <a:buNone/>
            </a:pPr>
            <a:r>
              <a:rPr lang="en-US" sz="1800" dirty="0">
                <a:solidFill>
                  <a:schemeClr val="bg2"/>
                </a:solidFill>
              </a:rPr>
              <a:t>Circuitos sencillos pero obligatorios en la revisión técnica</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4.8 Luces de freno</a:t>
            </a:r>
            <a:endParaRPr lang="en-US" sz="2800" dirty="0"/>
          </a:p>
        </p:txBody>
      </p:sp>
      <p:pic>
        <p:nvPicPr>
          <p:cNvPr id="4" name="Figura ll_esq624.jpg" descr="ll_esq624.jpg">    </p:cNvPr>
          <p:cNvPicPr>
            <a:picLocks noChangeAspect="1"/>
          </p:cNvPicPr>
          <p:nvPr/>
        </p:nvPicPr>
        <p:blipFill>
          <a:blip r:embed="rId1"/>
          <a:stretch>
            <a:fillRect/>
          </a:stretch>
        </p:blipFill>
        <p:spPr>
          <a:xfrm>
            <a:off x="619535" y="1234440"/>
            <a:ext cx="2144210" cy="2377440"/>
          </a:xfrm>
          <a:prstGeom prst="rect">
            <a:avLst/>
          </a:prstGeom>
        </p:spPr>
      </p:pic>
      <p:sp>
        <p:nvSpPr>
          <p:cNvPr id="5" name="Text 1"/>
          <p:cNvSpPr txBox="1"/>
          <p:nvPr/>
        </p:nvSpPr>
        <p:spPr>
          <a:xfrm>
            <a:off x="548640" y="3666744"/>
            <a:ext cx="23774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6" name="Figura ll_esq625.jpg" descr="ll_esq625.jpg">    </p:cNvPr>
          <p:cNvPicPr>
            <a:picLocks noChangeAspect="1"/>
          </p:cNvPicPr>
          <p:nvPr/>
        </p:nvPicPr>
        <p:blipFill>
          <a:blip r:embed="rId2"/>
          <a:stretch>
            <a:fillRect/>
          </a:stretch>
        </p:blipFill>
        <p:spPr>
          <a:xfrm>
            <a:off x="3176093" y="1234440"/>
            <a:ext cx="2151734" cy="2377440"/>
          </a:xfrm>
          <a:prstGeom prst="rect">
            <a:avLst/>
          </a:prstGeom>
        </p:spPr>
      </p:pic>
      <p:sp>
        <p:nvSpPr>
          <p:cNvPr id="7" name="Text 2"/>
          <p:cNvSpPr txBox="1"/>
          <p:nvPr/>
        </p:nvSpPr>
        <p:spPr>
          <a:xfrm>
            <a:off x="3108960" y="3666744"/>
            <a:ext cx="23774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8" name="Figura ll_freno_foto.jpg" descr="ll_freno_foto.jpg">    </p:cNvPr>
          <p:cNvPicPr>
            <a:picLocks noChangeAspect="1"/>
          </p:cNvPicPr>
          <p:nvPr/>
        </p:nvPicPr>
        <p:blipFill>
          <a:blip r:embed="rId3"/>
          <a:stretch>
            <a:fillRect/>
          </a:stretch>
        </p:blipFill>
        <p:spPr>
          <a:xfrm>
            <a:off x="5941646" y="1234440"/>
            <a:ext cx="5490308" cy="2286000"/>
          </a:xfrm>
          <a:prstGeom prst="rect">
            <a:avLst/>
          </a:prstGeom>
        </p:spPr>
      </p:pic>
      <p:sp>
        <p:nvSpPr>
          <p:cNvPr id="9" name="Text 3"/>
          <p:cNvSpPr txBox="1"/>
          <p:nvPr/>
        </p:nvSpPr>
        <p:spPr>
          <a:xfrm>
            <a:off x="5715000" y="3575304"/>
            <a:ext cx="5490308"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sp>
        <p:nvSpPr>
          <p:cNvPr id="10" name="Text 4"/>
          <p:cNvSpPr txBox="1"/>
          <p:nvPr/>
        </p:nvSpPr>
        <p:spPr>
          <a:xfrm>
            <a:off x="502920" y="4251960"/>
            <a:ext cx="11201400" cy="1920240"/>
          </a:xfrm>
          <a:prstGeom prst="rect">
            <a:avLst/>
          </a:prstGeom>
          <a:noFill/>
          <a:ln/>
        </p:spPr>
        <p:txBody>
          <a:bodyPr wrap="square" lIns="25400" tIns="25400" rIns="50800" bIns="25400" rtlCol="0" anchor="t"/>
          <a:lstStyle/>
          <a:p>
            <a:pPr marL="203200" indent="-203200">
              <a:spcAft>
                <a:spcPts val="600"/>
              </a:spcAft>
              <a:buSzPct val="100000"/>
              <a:buChar char="•"/>
            </a:pPr>
            <a:r>
              <a:rPr lang="en-US" sz="1500" b="1" dirty="0">
                <a:solidFill>
                  <a:schemeClr val="tx1"/>
                </a:solidFill>
              </a:rPr>
              <a:t>Borne 54; </a:t>
            </a:r>
            <a:pPr indent="0" marL="0">
              <a:buNone/>
            </a:pPr>
            <a:r>
              <a:rPr lang="en-US" sz="1500" dirty="0">
                <a:solidFill>
                  <a:schemeClr val="tx1"/>
                </a:solidFill>
              </a:rPr>
              <a:t>alimentación desde +15: solo con contacto.</a:t>
            </a:r>
            <a:endParaRPr lang="en-US" sz="1500" dirty="0"/>
          </a:p>
          <a:p>
            <a:pPr marL="203200" indent="-203200">
              <a:spcAft>
                <a:spcPts val="600"/>
              </a:spcAft>
              <a:buSzPct val="100000"/>
              <a:buChar char="•"/>
            </a:pPr>
            <a:r>
              <a:rPr lang="en-US" sz="1500" b="1" dirty="0">
                <a:solidFill>
                  <a:schemeClr val="tx1"/>
                </a:solidFill>
              </a:rPr>
              <a:t>Intensidad: </a:t>
            </a:r>
            <a:pPr indent="0" marL="0">
              <a:buNone/>
            </a:pPr>
            <a:r>
              <a:rPr lang="en-US" sz="1500" dirty="0">
                <a:solidFill>
                  <a:schemeClr val="tx1"/>
                </a:solidFill>
              </a:rPr>
              <a:t>mayor que la de posición (P21/5W: 21 W freno, 5 W posición).</a:t>
            </a:r>
            <a:endParaRPr lang="en-US" sz="1500" dirty="0"/>
          </a:p>
          <a:p>
            <a:pPr marL="203200" indent="-203200">
              <a:spcAft>
                <a:spcPts val="600"/>
              </a:spcAft>
              <a:buSzPct val="100000"/>
              <a:buChar char="•"/>
            </a:pPr>
            <a:r>
              <a:rPr lang="en-US" sz="1500" b="1" dirty="0">
                <a:solidFill>
                  <a:schemeClr val="tx1"/>
                </a:solidFill>
              </a:rPr>
              <a:t>Interruptor del pedal: </a:t>
            </a:r>
            <a:pPr indent="0" marL="0">
              <a:buNone/>
            </a:pPr>
            <a:r>
              <a:rPr lang="en-US" sz="1500" dirty="0">
                <a:solidFill>
                  <a:schemeClr val="tx1"/>
                </a:solidFill>
              </a:rPr>
              <a:t>normalmente abierto; doble (NA + NC) en vehículos con ESP o regulador de velocidad.</a:t>
            </a:r>
            <a:endParaRPr lang="en-US" sz="1500" dirty="0"/>
          </a:p>
          <a:p>
            <a:pPr marL="203200" indent="-203200">
              <a:spcAft>
                <a:spcPts val="600"/>
              </a:spcAft>
              <a:buSzPct val="100000"/>
              <a:buChar char="•"/>
            </a:pPr>
            <a:r>
              <a:rPr lang="en-US" sz="1500" b="1" dirty="0">
                <a:solidFill>
                  <a:schemeClr val="tx1"/>
                </a:solidFill>
              </a:rPr>
              <a:t>Frenada de emergencia: </a:t>
            </a:r>
            <a:pPr indent="0" marL="0">
              <a:buNone/>
            </a:pPr>
            <a:r>
              <a:rPr lang="en-US" sz="1500" dirty="0">
                <a:solidFill>
                  <a:schemeClr val="tx1"/>
                </a:solidFill>
              </a:rPr>
              <a:t>algunos vehículos hacen parpadear las luces de freno o activan la emergencia.</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4.9 Luces de marcha atrás</a:t>
            </a:r>
            <a:endParaRPr lang="en-US" sz="2800" dirty="0"/>
          </a:p>
        </p:txBody>
      </p:sp>
      <p:pic>
        <p:nvPicPr>
          <p:cNvPr id="4" name="Figura ll_esq626.jpg" descr="ll_esq626.jpg">    </p:cNvPr>
          <p:cNvPicPr>
            <a:picLocks noChangeAspect="1"/>
          </p:cNvPicPr>
          <p:nvPr/>
        </p:nvPicPr>
        <p:blipFill>
          <a:blip r:embed="rId1"/>
          <a:stretch>
            <a:fillRect/>
          </a:stretch>
        </p:blipFill>
        <p:spPr>
          <a:xfrm>
            <a:off x="646446" y="1234440"/>
            <a:ext cx="2639028" cy="2926080"/>
          </a:xfrm>
          <a:prstGeom prst="rect">
            <a:avLst/>
          </a:prstGeom>
        </p:spPr>
      </p:pic>
      <p:sp>
        <p:nvSpPr>
          <p:cNvPr id="5" name="Text 1"/>
          <p:cNvSpPr txBox="1"/>
          <p:nvPr/>
        </p:nvSpPr>
        <p:spPr>
          <a:xfrm>
            <a:off x="548640" y="4215384"/>
            <a:ext cx="292608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6" name="Figura ll_piloto_ma.jpg" descr="ll_piloto_ma.jpg">    </p:cNvPr>
          <p:cNvPicPr>
            <a:picLocks noChangeAspect="1"/>
          </p:cNvPicPr>
          <p:nvPr/>
        </p:nvPicPr>
        <p:blipFill>
          <a:blip r:embed="rId2"/>
          <a:stretch>
            <a:fillRect/>
          </a:stretch>
        </p:blipFill>
        <p:spPr>
          <a:xfrm>
            <a:off x="3657600" y="1261274"/>
            <a:ext cx="4206240" cy="2872411"/>
          </a:xfrm>
          <a:prstGeom prst="rect">
            <a:avLst/>
          </a:prstGeom>
        </p:spPr>
      </p:pic>
      <p:sp>
        <p:nvSpPr>
          <p:cNvPr id="7" name="Text 2"/>
          <p:cNvSpPr txBox="1"/>
          <p:nvPr/>
        </p:nvSpPr>
        <p:spPr>
          <a:xfrm>
            <a:off x="3657600" y="4188550"/>
            <a:ext cx="42062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sp>
        <p:nvSpPr>
          <p:cNvPr id="8" name="Text 3"/>
          <p:cNvSpPr txBox="1"/>
          <p:nvPr/>
        </p:nvSpPr>
        <p:spPr>
          <a:xfrm>
            <a:off x="8092440" y="1188720"/>
            <a:ext cx="3611880" cy="5029200"/>
          </a:xfrm>
          <a:prstGeom prst="rect">
            <a:avLst/>
          </a:prstGeom>
          <a:noFill/>
          <a:ln/>
        </p:spPr>
        <p:txBody>
          <a:bodyPr wrap="square" lIns="25400" tIns="25400" rIns="50800" bIns="25400" rtlCol="0" anchor="t"/>
          <a:lstStyle/>
          <a:p>
            <a:pPr marL="203200" indent="-203200">
              <a:spcAft>
                <a:spcPts val="600"/>
              </a:spcAft>
              <a:buSzPct val="100000"/>
              <a:buChar char="•"/>
            </a:pPr>
            <a:r>
              <a:rPr lang="en-US" sz="1500" b="1" dirty="0">
                <a:solidFill>
                  <a:schemeClr val="tx1"/>
                </a:solidFill>
              </a:rPr>
              <a:t>Misión: </a:t>
            </a:r>
            <a:pPr indent="0" marL="0">
              <a:buNone/>
            </a:pPr>
            <a:r>
              <a:rPr lang="en-US" sz="1500" dirty="0">
                <a:solidFill>
                  <a:schemeClr val="tx1"/>
                </a:solidFill>
              </a:rPr>
              <a:t>iluminar detrás y avisar de la maniobra.</a:t>
            </a:r>
            <a:endParaRPr lang="en-US" sz="1500" dirty="0"/>
          </a:p>
          <a:p>
            <a:pPr marL="203200" indent="-203200">
              <a:spcAft>
                <a:spcPts val="600"/>
              </a:spcAft>
              <a:buSzPct val="100000"/>
              <a:buChar char="•"/>
            </a:pPr>
            <a:r>
              <a:rPr lang="en-US" sz="1500" b="1" dirty="0">
                <a:solidFill>
                  <a:schemeClr val="tx1"/>
                </a:solidFill>
              </a:rPr>
              <a:t>Alimentación: </a:t>
            </a:r>
            <a:pPr indent="0" marL="0">
              <a:buNone/>
            </a:pPr>
            <a:r>
              <a:rPr lang="en-US" sz="1500" dirty="0">
                <a:solidFill>
                  <a:schemeClr val="tx1"/>
                </a:solidFill>
              </a:rPr>
              <a:t>+15 → interruptor (NA) → lámparas → masa.</a:t>
            </a:r>
            <a:endParaRPr lang="en-US" sz="1500" dirty="0"/>
          </a:p>
          <a:p>
            <a:pPr marL="203200" indent="-203200">
              <a:spcAft>
                <a:spcPts val="600"/>
              </a:spcAft>
              <a:buSzPct val="100000"/>
              <a:buChar char="•"/>
            </a:pPr>
            <a:r>
              <a:rPr lang="en-US" sz="1500" b="1" dirty="0">
                <a:solidFill>
                  <a:schemeClr val="tx1"/>
                </a:solidFill>
              </a:rPr>
              <a:t>Lámpara: </a:t>
            </a:r>
            <a:pPr indent="0" marL="0">
              <a:buNone/>
            </a:pPr>
            <a:r>
              <a:rPr lang="en-US" sz="1500" dirty="0">
                <a:solidFill>
                  <a:schemeClr val="tx1"/>
                </a:solidFill>
              </a:rPr>
              <a:t>P21W blanca o LED.</a:t>
            </a:r>
            <a:endParaRPr lang="en-US" sz="1500" dirty="0"/>
          </a:p>
          <a:p>
            <a:pPr marL="203200" indent="-203200">
              <a:spcAft>
                <a:spcPts val="600"/>
              </a:spcAft>
              <a:buSzPct val="100000"/>
              <a:buChar char="•"/>
            </a:pPr>
            <a:r>
              <a:rPr lang="en-US" sz="1500" b="1" dirty="0">
                <a:solidFill>
                  <a:schemeClr val="tx1"/>
                </a:solidFill>
              </a:rPr>
              <a:t>Extras: </a:t>
            </a:r>
            <a:pPr indent="0" marL="0">
              <a:buNone/>
            </a:pPr>
            <a:r>
              <a:rPr lang="en-US" sz="1500" dirty="0">
                <a:solidFill>
                  <a:schemeClr val="tx1"/>
                </a:solidFill>
              </a:rPr>
              <a:t>la misma señal activa la cámara y los sensores de aparcamiento.</a:t>
            </a:r>
            <a:endParaRPr lang="en-US" sz="1500" dirty="0"/>
          </a:p>
        </p:txBody>
      </p:sp>
      <p:sp>
        <p:nvSpPr>
          <p:cNvPr id="9" name="Tarjeta Comprobación"/>
          <p:cNvSpPr/>
          <p:nvPr/>
        </p:nvSpPr>
        <p:spPr>
          <a:xfrm>
            <a:off x="502920" y="4846320"/>
            <a:ext cx="7360920" cy="1280160"/>
          </a:xfrm>
          <a:prstGeom prst="roundRect">
            <a:avLst>
              <a:gd name="adj" fmla="val 5714"/>
            </a:avLst>
          </a:prstGeom>
          <a:solidFill>
            <a:srgbClr val="E4F1F1"/>
          </a:solidFill>
          <a:ln w="12700">
            <a:solidFill>
              <a:srgbClr val="E4F1F1"/>
            </a:solidFill>
            <a:prstDash val="solid"/>
          </a:ln>
        </p:spPr>
      </p:sp>
      <p:sp>
        <p:nvSpPr>
          <p:cNvPr id="10" name="Text 5"/>
          <p:cNvSpPr txBox="1"/>
          <p:nvPr/>
        </p:nvSpPr>
        <p:spPr>
          <a:xfrm>
            <a:off x="667512" y="4956048"/>
            <a:ext cx="7031736" cy="411480"/>
          </a:xfrm>
          <a:prstGeom prst="rect">
            <a:avLst/>
          </a:prstGeom>
          <a:noFill/>
          <a:ln/>
        </p:spPr>
        <p:txBody>
          <a:bodyPr wrap="square" lIns="0" tIns="0" rIns="0" bIns="0" rtlCol="0" anchor="t"/>
          <a:lstStyle/>
          <a:p>
            <a:pPr indent="0" marL="0">
              <a:buNone/>
            </a:pPr>
            <a:r>
              <a:rPr lang="en-US" sz="1700" b="1" dirty="0">
                <a:solidFill>
                  <a:schemeClr val="accent1"/>
                </a:solidFill>
              </a:rPr>
              <a:t>Comprobación</a:t>
            </a:r>
            <a:endParaRPr lang="en-US" sz="1700" dirty="0"/>
          </a:p>
        </p:txBody>
      </p:sp>
      <p:sp>
        <p:nvSpPr>
          <p:cNvPr id="11" name="Text 6"/>
          <p:cNvSpPr txBox="1"/>
          <p:nvPr/>
        </p:nvSpPr>
        <p:spPr>
          <a:xfrm>
            <a:off x="667512" y="5394960"/>
            <a:ext cx="7031736" cy="64008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Con la marcha atrás engranada y contacto puesto: 12 V en el conector del piloto. Si no llega, puentear el interruptor de la caja.</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4.10 Iluminación interior del vehículo</a:t>
            </a:r>
            <a:endParaRPr lang="en-US" sz="2800" dirty="0"/>
          </a:p>
        </p:txBody>
      </p:sp>
      <p:pic>
        <p:nvPicPr>
          <p:cNvPr id="4" name="Figura ll_esq627.jpg" descr="ll_esq627.jpg">    </p:cNvPr>
          <p:cNvPicPr>
            <a:picLocks noChangeAspect="1"/>
          </p:cNvPicPr>
          <p:nvPr/>
        </p:nvPicPr>
        <p:blipFill>
          <a:blip r:embed="rId1"/>
          <a:stretch>
            <a:fillRect/>
          </a:stretch>
        </p:blipFill>
        <p:spPr>
          <a:xfrm>
            <a:off x="642068" y="1234440"/>
            <a:ext cx="3745064" cy="2926080"/>
          </a:xfrm>
          <a:prstGeom prst="rect">
            <a:avLst/>
          </a:prstGeom>
        </p:spPr>
      </p:pic>
      <p:sp>
        <p:nvSpPr>
          <p:cNvPr id="5" name="Text 1"/>
          <p:cNvSpPr txBox="1"/>
          <p:nvPr/>
        </p:nvSpPr>
        <p:spPr>
          <a:xfrm>
            <a:off x="548640" y="4215384"/>
            <a:ext cx="40233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sp>
        <p:nvSpPr>
          <p:cNvPr id="6" name="Text 2"/>
          <p:cNvSpPr txBox="1"/>
          <p:nvPr/>
        </p:nvSpPr>
        <p:spPr>
          <a:xfrm>
            <a:off x="4754880" y="1188720"/>
            <a:ext cx="6949440" cy="3108960"/>
          </a:xfrm>
          <a:prstGeom prst="rect">
            <a:avLst/>
          </a:prstGeom>
          <a:noFill/>
          <a:ln/>
        </p:spPr>
        <p:txBody>
          <a:bodyPr wrap="square" lIns="25400" tIns="25400" rIns="50800" bIns="25400" rtlCol="0" anchor="t"/>
          <a:lstStyle/>
          <a:p>
            <a:pPr marL="203200" indent="-203200">
              <a:spcAft>
                <a:spcPts val="600"/>
              </a:spcAft>
              <a:buSzPct val="100000"/>
              <a:buChar char="•"/>
            </a:pPr>
            <a:r>
              <a:rPr lang="en-US" sz="1600" b="1" dirty="0">
                <a:solidFill>
                  <a:schemeClr val="tx1"/>
                </a:solidFill>
              </a:rPr>
              <a:t>Activación: </a:t>
            </a:r>
            <a:pPr indent="0" marL="0">
              <a:buNone/>
            </a:pPr>
            <a:r>
              <a:rPr lang="en-US" sz="1600" dirty="0">
                <a:solidFill>
                  <a:schemeClr val="tx1"/>
                </a:solidFill>
              </a:rPr>
              <a:t>mando del plafón, apertura de puertas, contacto.</a:t>
            </a:r>
            <a:endParaRPr lang="en-US" sz="1600" dirty="0"/>
          </a:p>
          <a:p>
            <a:pPr marL="203200" indent="-203200">
              <a:spcAft>
                <a:spcPts val="600"/>
              </a:spcAft>
              <a:buSzPct val="100000"/>
              <a:buChar char="•"/>
            </a:pPr>
            <a:r>
              <a:rPr lang="en-US" sz="1600" b="1" dirty="0">
                <a:solidFill>
                  <a:schemeClr val="tx1"/>
                </a:solidFill>
              </a:rPr>
              <a:t>Pulsadores de puerta: </a:t>
            </a:r>
            <a:pPr indent="0" marL="0">
              <a:buNone/>
            </a:pPr>
            <a:r>
              <a:rPr lang="en-US" sz="1600" dirty="0">
                <a:solidFill>
                  <a:schemeClr val="tx1"/>
                </a:solidFill>
              </a:rPr>
              <a:t>cierran a masa (negativo).</a:t>
            </a:r>
            <a:endParaRPr lang="en-US" sz="1600" dirty="0"/>
          </a:p>
          <a:p>
            <a:pPr marL="203200" indent="-203200">
              <a:spcAft>
                <a:spcPts val="600"/>
              </a:spcAft>
              <a:buSzPct val="100000"/>
              <a:buChar char="•"/>
            </a:pPr>
            <a:r>
              <a:rPr lang="en-US" sz="1600" b="1" dirty="0">
                <a:solidFill>
                  <a:schemeClr val="tx1"/>
                </a:solidFill>
              </a:rPr>
              <a:t>Retardo: </a:t>
            </a:r>
            <a:pPr indent="0" marL="0">
              <a:buNone/>
            </a:pPr>
            <a:r>
              <a:rPr lang="en-US" sz="1600" dirty="0">
                <a:solidFill>
                  <a:schemeClr val="tx1"/>
                </a:solidFill>
              </a:rPr>
              <a:t>temporizador RC + transistor, o centralita de confort.</a:t>
            </a:r>
            <a:endParaRPr lang="en-US" sz="1600" dirty="0"/>
          </a:p>
          <a:p>
            <a:pPr marL="203200" indent="-203200">
              <a:spcAft>
                <a:spcPts val="600"/>
              </a:spcAft>
              <a:buSzPct val="100000"/>
              <a:buChar char="•"/>
            </a:pPr>
            <a:r>
              <a:rPr lang="en-US" sz="1600" b="1" dirty="0">
                <a:solidFill>
                  <a:schemeClr val="tx1"/>
                </a:solidFill>
              </a:rPr>
              <a:t>Ahorro: </a:t>
            </a:r>
            <a:pPr indent="0" marL="0">
              <a:buNone/>
            </a:pPr>
            <a:r>
              <a:rPr lang="en-US" sz="1600" dirty="0">
                <a:solidFill>
                  <a:schemeClr val="tx1"/>
                </a:solidFill>
              </a:rPr>
              <a:t>apagado automático a los pocos minutos para no descargar la batería.</a:t>
            </a:r>
            <a:endParaRPr lang="en-US" sz="1600" dirty="0"/>
          </a:p>
        </p:txBody>
      </p:sp>
      <p:sp>
        <p:nvSpPr>
          <p:cNvPr id="7" name="Shape 3"/>
          <p:cNvSpPr/>
          <p:nvPr/>
        </p:nvSpPr>
        <p:spPr>
          <a:xfrm>
            <a:off x="4754880" y="4343400"/>
            <a:ext cx="2103120" cy="365760"/>
          </a:xfrm>
          <a:prstGeom prst="roundRect">
            <a:avLst>
              <a:gd name="adj" fmla="val 50000"/>
            </a:avLst>
          </a:prstGeom>
          <a:solidFill>
            <a:srgbClr val="F2A516"/>
          </a:solidFill>
          <a:ln w="12700">
            <a:solidFill>
              <a:srgbClr val="F2A516"/>
            </a:solidFill>
            <a:prstDash val="solid"/>
          </a:ln>
        </p:spPr>
      </p:sp>
      <p:sp>
        <p:nvSpPr>
          <p:cNvPr id="8" name="Text 4"/>
          <p:cNvSpPr txBox="1"/>
          <p:nvPr/>
        </p:nvSpPr>
        <p:spPr>
          <a:xfrm>
            <a:off x="4754880" y="4343400"/>
            <a:ext cx="2103120" cy="365760"/>
          </a:xfrm>
          <a:prstGeom prst="rect">
            <a:avLst/>
          </a:prstGeom>
          <a:noFill/>
          <a:ln/>
        </p:spPr>
        <p:txBody>
          <a:bodyPr wrap="square" lIns="0" tIns="0" rIns="0" bIns="0" rtlCol="0" anchor="ctr"/>
          <a:lstStyle/>
          <a:p>
            <a:pPr algn="ctr" indent="0" marL="0">
              <a:buNone/>
            </a:pPr>
            <a:r>
              <a:rPr lang="en-US" sz="1300" b="1" dirty="0">
                <a:solidFill>
                  <a:srgbClr val="1B2A33"/>
                </a:solidFill>
              </a:rPr>
              <a:t>Ejemplo resuelto</a:t>
            </a:r>
            <a:endParaRPr lang="en-US" sz="1300" dirty="0"/>
          </a:p>
        </p:txBody>
      </p:sp>
      <p:sp>
        <p:nvSpPr>
          <p:cNvPr id="9" name="Text 5"/>
          <p:cNvSpPr txBox="1"/>
          <p:nvPr/>
        </p:nvSpPr>
        <p:spPr>
          <a:xfrm>
            <a:off x="4754880" y="4800600"/>
            <a:ext cx="6949440" cy="1371600"/>
          </a:xfrm>
          <a:prstGeom prst="rect">
            <a:avLst/>
          </a:prstGeom>
          <a:noFill/>
          <a:ln/>
        </p:spPr>
        <p:txBody>
          <a:bodyPr wrap="square" lIns="25400" tIns="25400" rIns="50800" bIns="25400" rtlCol="0" anchor="t"/>
          <a:lstStyle/>
          <a:p>
            <a:pPr marL="203200" indent="-203200">
              <a:spcAft>
                <a:spcPts val="600"/>
              </a:spcAft>
              <a:buSzPct val="100000"/>
              <a:buChar char="•"/>
            </a:pPr>
            <a:r>
              <a:rPr lang="en-US" sz="1500" dirty="0">
                <a:solidFill>
                  <a:schemeClr val="tx1"/>
                </a:solidFill>
              </a:rPr>
              <a:t>Temporizador con R = 100 kΩ y C = 220 µF: τ = R·C = 100 000 × 0,000 220 = 22 s.</a:t>
            </a:r>
            <a:endParaRPr lang="en-US" sz="1500" dirty="0"/>
          </a:p>
          <a:p>
            <a:pPr marL="203200" indent="-203200">
              <a:spcAft>
                <a:spcPts val="600"/>
              </a:spcAft>
              <a:buSzPct val="100000"/>
              <a:buChar char="•"/>
            </a:pPr>
            <a:r>
              <a:rPr lang="en-US" sz="1500" dirty="0">
                <a:solidFill>
                  <a:schemeClr val="tx1"/>
                </a:solidFill>
              </a:rPr>
              <a:t>La luz se apaga tras ≈ 1–3 τ, según el umbral del transistor ⇒ entre 22 y 66 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2" type="body" hasCustomPrompt="1"/>
          </p:nvPr>
        </p:nvSpPr>
        <p:spPr>
          <a:xfrm>
            <a:off x="731520" y="1463040"/>
            <a:ext cx="4114800" cy="1463040"/>
          </a:xfrm>
          <a:prstGeom prst="rect">
            <a:avLst/>
          </a:prstGeom>
          <a:noFill/>
          <a:ln/>
        </p:spPr>
        <p:txBody>
          <a:bodyPr wrap="square" rtlCol="0" anchor="b"/>
          <a:lstStyle/>
          <a:p>
            <a:pPr algn="l" indent="0" marL="0">
              <a:buNone/>
            </a:pPr>
            <a:r>
              <a:rPr lang="en-US" sz="8000" b="1" dirty="0">
                <a:solidFill>
                  <a:schemeClr val="accent2"/>
                </a:solidFill>
              </a:rPr>
              <a:t>4.11</a:t>
            </a:r>
            <a:endParaRPr lang="en-US" sz="8000" dirty="0"/>
          </a:p>
        </p:txBody>
      </p:sp>
      <p:sp>
        <p:nvSpPr>
          <p:cNvPr id="3" name="Text 1"/>
          <p:cNvSpPr/>
          <p:nvPr>
            <p:ph idx="103" type="title" hasCustomPrompt="1"/>
          </p:nvPr>
        </p:nvSpPr>
        <p:spPr>
          <a:xfrm>
            <a:off x="731520" y="2971800"/>
            <a:ext cx="10515600" cy="1371600"/>
          </a:xfrm>
          <a:prstGeom prst="rect">
            <a:avLst/>
          </a:prstGeom>
          <a:noFill/>
          <a:ln/>
        </p:spPr>
        <p:txBody>
          <a:bodyPr wrap="square" rtlCol="0" anchor="t"/>
          <a:lstStyle/>
          <a:p>
            <a:pPr algn="l" indent="0" marL="0">
              <a:buNone/>
            </a:pPr>
            <a:r>
              <a:rPr lang="en-US" sz="4000" b="1" dirty="0">
                <a:solidFill>
                  <a:schemeClr val="bg1"/>
                </a:solidFill>
              </a:rPr>
              <a:t>Cálculo y dimensionado de circuitos de iluminación</a:t>
            </a:r>
            <a:endParaRPr lang="en-US" sz="4000" dirty="0"/>
          </a:p>
        </p:txBody>
      </p:sp>
      <p:sp>
        <p:nvSpPr>
          <p:cNvPr id="4" name="Text 1"/>
          <p:cNvSpPr/>
          <p:nvPr>
            <p:ph idx="104" type="body" hasCustomPrompt="1"/>
          </p:nvPr>
        </p:nvSpPr>
        <p:spPr>
          <a:xfrm>
            <a:off x="731520" y="4434840"/>
            <a:ext cx="10058400" cy="1463040"/>
          </a:xfrm>
          <a:prstGeom prst="rect">
            <a:avLst/>
          </a:prstGeom>
          <a:noFill/>
          <a:ln/>
        </p:spPr>
        <p:txBody>
          <a:bodyPr wrap="square" rtlCol="0" anchor="t"/>
          <a:lstStyle/>
          <a:p>
            <a:pPr algn="l" indent="0" marL="0">
              <a:buNone/>
            </a:pPr>
            <a:r>
              <a:rPr lang="en-US" sz="1800" dirty="0">
                <a:solidFill>
                  <a:schemeClr val="bg2"/>
                </a:solidFill>
              </a:rPr>
              <a:t>Consumo, sección de cable, caída de tensión y fusible</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Fórmulas para dimensionar un circuito</a:t>
            </a:r>
            <a:endParaRPr lang="en-US" sz="2800" dirty="0"/>
          </a:p>
        </p:txBody>
      </p:sp>
      <p:sp>
        <p:nvSpPr>
          <p:cNvPr id="4" name="Ecuación"/>
          <p:cNvSpPr/>
          <p:nvPr/>
        </p:nvSpPr>
        <p:spPr>
          <a:xfrm>
            <a:off x="502920" y="1325880"/>
            <a:ext cx="3474720" cy="822960"/>
          </a:xfrm>
          <a:prstGeom prst="roundRect">
            <a:avLst>
              <a:gd name="adj" fmla="val 8889"/>
            </a:avLst>
          </a:prstGeom>
          <a:solidFill>
            <a:srgbClr val="FDF1D8"/>
          </a:solidFill>
          <a:ln w="15875">
            <a:solidFill>
              <a:srgbClr val="F2A516"/>
            </a:solidFill>
            <a:prstDash val="solid"/>
          </a:ln>
        </p:spPr>
      </p:sp>
      <p:sp>
        <p:nvSpPr>
          <p:cNvPr id="5" name="Text 2"/>
          <p:cNvSpPr txBox="1"/>
          <p:nvPr/>
        </p:nvSpPr>
        <p:spPr>
          <a:xfrm>
            <a:off x="502920" y="1325880"/>
            <a:ext cx="3474720" cy="822960"/>
          </a:xfrm>
          <a:prstGeom prst="rect">
            <a:avLst/>
          </a:prstGeom>
          <a:noFill/>
          <a:ln/>
        </p:spPr>
        <p:txBody>
          <a:bodyPr wrap="square" lIns="50800" tIns="50800" rIns="50800" bIns="50800" rtlCol="0" anchor="ctr"/>
          <a:lstStyle/>
          <a:p>
            <a:pPr algn="ctr" indent="0" marL="0">
              <a:buNone/>
            </a:pPr>
            <a:r>
              <a:rPr lang="en-US" sz="2400" b="1" dirty="0">
                <a:solidFill>
                  <a:schemeClr val="tx1"/>
                </a:solidFill>
                <a:latin typeface="Cambria" pitchFamily="34" charset="0"/>
                <a:ea typeface="Cambria" pitchFamily="34" charset="-122"/>
                <a:cs typeface="Cambria" pitchFamily="34" charset="-120"/>
              </a:rPr>
              <a:t>I = P / U</a:t>
            </a:r>
            <a:endParaRPr lang="en-US" sz="2400" dirty="0"/>
          </a:p>
        </p:txBody>
      </p:sp>
      <p:sp>
        <p:nvSpPr>
          <p:cNvPr id="6" name="Ecuación"/>
          <p:cNvSpPr/>
          <p:nvPr/>
        </p:nvSpPr>
        <p:spPr>
          <a:xfrm>
            <a:off x="4343400" y="1325880"/>
            <a:ext cx="3474720" cy="822960"/>
          </a:xfrm>
          <a:prstGeom prst="roundRect">
            <a:avLst>
              <a:gd name="adj" fmla="val 8889"/>
            </a:avLst>
          </a:prstGeom>
          <a:solidFill>
            <a:srgbClr val="FDF1D8"/>
          </a:solidFill>
          <a:ln w="15875">
            <a:solidFill>
              <a:srgbClr val="F2A516"/>
            </a:solidFill>
            <a:prstDash val="solid"/>
          </a:ln>
        </p:spPr>
      </p:sp>
      <p:sp>
        <p:nvSpPr>
          <p:cNvPr id="7" name="Text 4"/>
          <p:cNvSpPr txBox="1"/>
          <p:nvPr/>
        </p:nvSpPr>
        <p:spPr>
          <a:xfrm>
            <a:off x="4343400" y="1325880"/>
            <a:ext cx="3474720" cy="822960"/>
          </a:xfrm>
          <a:prstGeom prst="rect">
            <a:avLst/>
          </a:prstGeom>
          <a:noFill/>
          <a:ln/>
        </p:spPr>
        <p:txBody>
          <a:bodyPr wrap="square" lIns="50800" tIns="50800" rIns="50800" bIns="50800" rtlCol="0" anchor="ctr"/>
          <a:lstStyle/>
          <a:p>
            <a:pPr algn="ctr" indent="0" marL="0">
              <a:buNone/>
            </a:pPr>
            <a:r>
              <a:rPr lang="en-US" sz="2400" b="1" dirty="0">
                <a:solidFill>
                  <a:schemeClr val="tx1"/>
                </a:solidFill>
                <a:latin typeface="Cambria" pitchFamily="34" charset="0"/>
                <a:ea typeface="Cambria" pitchFamily="34" charset="-122"/>
                <a:cs typeface="Cambria" pitchFamily="34" charset="-120"/>
              </a:rPr>
              <a:t>S = ρ · L · I / ΔU</a:t>
            </a:r>
            <a:endParaRPr lang="en-US" sz="2400" dirty="0"/>
          </a:p>
        </p:txBody>
      </p:sp>
      <p:sp>
        <p:nvSpPr>
          <p:cNvPr id="8" name="Ecuación"/>
          <p:cNvSpPr/>
          <p:nvPr/>
        </p:nvSpPr>
        <p:spPr>
          <a:xfrm>
            <a:off x="8183880" y="1325880"/>
            <a:ext cx="3520440" cy="822960"/>
          </a:xfrm>
          <a:prstGeom prst="roundRect">
            <a:avLst>
              <a:gd name="adj" fmla="val 8889"/>
            </a:avLst>
          </a:prstGeom>
          <a:solidFill>
            <a:srgbClr val="FDF1D8"/>
          </a:solidFill>
          <a:ln w="15875">
            <a:solidFill>
              <a:srgbClr val="F2A516"/>
            </a:solidFill>
            <a:prstDash val="solid"/>
          </a:ln>
        </p:spPr>
      </p:sp>
      <p:sp>
        <p:nvSpPr>
          <p:cNvPr id="9" name="Text 6"/>
          <p:cNvSpPr txBox="1"/>
          <p:nvPr/>
        </p:nvSpPr>
        <p:spPr>
          <a:xfrm>
            <a:off x="8183880" y="1325880"/>
            <a:ext cx="3520440" cy="822960"/>
          </a:xfrm>
          <a:prstGeom prst="rect">
            <a:avLst/>
          </a:prstGeom>
          <a:noFill/>
          <a:ln/>
        </p:spPr>
        <p:txBody>
          <a:bodyPr wrap="square" lIns="50800" tIns="50800" rIns="50800" bIns="50800" rtlCol="0" anchor="ctr"/>
          <a:lstStyle/>
          <a:p>
            <a:pPr algn="ctr" indent="0" marL="0">
              <a:buNone/>
            </a:pPr>
            <a:r>
              <a:rPr lang="en-US" sz="2400" b="1" dirty="0">
                <a:solidFill>
                  <a:schemeClr val="tx1"/>
                </a:solidFill>
                <a:latin typeface="Cambria" pitchFamily="34" charset="0"/>
                <a:ea typeface="Cambria" pitchFamily="34" charset="-122"/>
                <a:cs typeface="Cambria" pitchFamily="34" charset="-120"/>
              </a:rPr>
              <a:t>ΔU = I · ρ · L / S</a:t>
            </a:r>
            <a:endParaRPr lang="en-US" sz="2400" dirty="0"/>
          </a:p>
        </p:txBody>
      </p:sp>
      <p:sp>
        <p:nvSpPr>
          <p:cNvPr id="10" name="Ecuación"/>
          <p:cNvSpPr/>
          <p:nvPr/>
        </p:nvSpPr>
        <p:spPr>
          <a:xfrm>
            <a:off x="502920" y="2377440"/>
            <a:ext cx="3474720" cy="822960"/>
          </a:xfrm>
          <a:prstGeom prst="roundRect">
            <a:avLst>
              <a:gd name="adj" fmla="val 8889"/>
            </a:avLst>
          </a:prstGeom>
          <a:solidFill>
            <a:srgbClr val="FDF1D8"/>
          </a:solidFill>
          <a:ln w="15875">
            <a:solidFill>
              <a:srgbClr val="F2A516"/>
            </a:solidFill>
            <a:prstDash val="solid"/>
          </a:ln>
        </p:spPr>
      </p:sp>
      <p:sp>
        <p:nvSpPr>
          <p:cNvPr id="11" name="Text 8"/>
          <p:cNvSpPr txBox="1"/>
          <p:nvPr/>
        </p:nvSpPr>
        <p:spPr>
          <a:xfrm>
            <a:off x="502920" y="2377440"/>
            <a:ext cx="3474720" cy="822960"/>
          </a:xfrm>
          <a:prstGeom prst="rect">
            <a:avLst/>
          </a:prstGeom>
          <a:noFill/>
          <a:ln/>
        </p:spPr>
        <p:txBody>
          <a:bodyPr wrap="square" lIns="50800" tIns="50800" rIns="50800" bIns="50800" rtlCol="0" anchor="ctr"/>
          <a:lstStyle/>
          <a:p>
            <a:pPr algn="ctr" indent="0" marL="0">
              <a:buNone/>
            </a:pPr>
            <a:r>
              <a:rPr lang="en-US" sz="2400" b="1" dirty="0">
                <a:solidFill>
                  <a:schemeClr val="tx1"/>
                </a:solidFill>
                <a:latin typeface="Cambria" pitchFamily="34" charset="0"/>
                <a:ea typeface="Cambria" pitchFamily="34" charset="-122"/>
                <a:cs typeface="Cambria" pitchFamily="34" charset="-120"/>
              </a:rPr>
              <a:t>t = C / I</a:t>
            </a:r>
            <a:endParaRPr lang="en-US" sz="2400" dirty="0"/>
          </a:p>
        </p:txBody>
      </p:sp>
      <p:sp>
        <p:nvSpPr>
          <p:cNvPr id="12" name="Ecuación"/>
          <p:cNvSpPr/>
          <p:nvPr/>
        </p:nvSpPr>
        <p:spPr>
          <a:xfrm>
            <a:off x="4343400" y="2377440"/>
            <a:ext cx="3474720" cy="822960"/>
          </a:xfrm>
          <a:prstGeom prst="roundRect">
            <a:avLst>
              <a:gd name="adj" fmla="val 8889"/>
            </a:avLst>
          </a:prstGeom>
          <a:solidFill>
            <a:srgbClr val="FDF1D8"/>
          </a:solidFill>
          <a:ln w="15875">
            <a:solidFill>
              <a:srgbClr val="F2A516"/>
            </a:solidFill>
            <a:prstDash val="solid"/>
          </a:ln>
        </p:spPr>
      </p:sp>
      <p:sp>
        <p:nvSpPr>
          <p:cNvPr id="13" name="Text 10"/>
          <p:cNvSpPr txBox="1"/>
          <p:nvPr/>
        </p:nvSpPr>
        <p:spPr>
          <a:xfrm>
            <a:off x="4343400" y="2377440"/>
            <a:ext cx="3474720" cy="822960"/>
          </a:xfrm>
          <a:prstGeom prst="rect">
            <a:avLst/>
          </a:prstGeom>
          <a:noFill/>
          <a:ln/>
        </p:spPr>
        <p:txBody>
          <a:bodyPr wrap="square" lIns="50800" tIns="50800" rIns="50800" bIns="50800" rtlCol="0" anchor="ctr"/>
          <a:lstStyle/>
          <a:p>
            <a:pPr algn="ctr" indent="0" marL="0">
              <a:buNone/>
            </a:pPr>
            <a:r>
              <a:rPr lang="en-US" sz="2400" b="1" dirty="0">
                <a:solidFill>
                  <a:schemeClr val="tx1"/>
                </a:solidFill>
                <a:latin typeface="Cambria" pitchFamily="34" charset="0"/>
                <a:ea typeface="Cambria" pitchFamily="34" charset="-122"/>
                <a:cs typeface="Cambria" pitchFamily="34" charset="-120"/>
              </a:rPr>
              <a:t>Q = 0,24 · I² · R · t</a:t>
            </a:r>
            <a:endParaRPr lang="en-US" sz="2400" dirty="0"/>
          </a:p>
        </p:txBody>
      </p:sp>
      <p:sp>
        <p:nvSpPr>
          <p:cNvPr id="14" name="Ecuación"/>
          <p:cNvSpPr/>
          <p:nvPr/>
        </p:nvSpPr>
        <p:spPr>
          <a:xfrm>
            <a:off x="8183880" y="2377440"/>
            <a:ext cx="3520440" cy="822960"/>
          </a:xfrm>
          <a:prstGeom prst="roundRect">
            <a:avLst>
              <a:gd name="adj" fmla="val 8889"/>
            </a:avLst>
          </a:prstGeom>
          <a:solidFill>
            <a:srgbClr val="FDF1D8"/>
          </a:solidFill>
          <a:ln w="15875">
            <a:solidFill>
              <a:srgbClr val="F2A516"/>
            </a:solidFill>
            <a:prstDash val="solid"/>
          </a:ln>
        </p:spPr>
      </p:sp>
      <p:sp>
        <p:nvSpPr>
          <p:cNvPr id="15" name="Text 12"/>
          <p:cNvSpPr txBox="1"/>
          <p:nvPr/>
        </p:nvSpPr>
        <p:spPr>
          <a:xfrm>
            <a:off x="8183880" y="2377440"/>
            <a:ext cx="3520440" cy="822960"/>
          </a:xfrm>
          <a:prstGeom prst="rect">
            <a:avLst/>
          </a:prstGeom>
          <a:noFill/>
          <a:ln/>
        </p:spPr>
        <p:txBody>
          <a:bodyPr wrap="square" lIns="50800" tIns="50800" rIns="50800" bIns="50800" rtlCol="0" anchor="ctr"/>
          <a:lstStyle/>
          <a:p>
            <a:pPr algn="ctr" indent="0" marL="0">
              <a:buNone/>
            </a:pPr>
            <a:r>
              <a:rPr lang="en-US" sz="2400" b="1" dirty="0">
                <a:solidFill>
                  <a:schemeClr val="tx1"/>
                </a:solidFill>
                <a:latin typeface="Cambria" pitchFamily="34" charset="0"/>
                <a:ea typeface="Cambria" pitchFamily="34" charset="-122"/>
                <a:cs typeface="Cambria" pitchFamily="34" charset="-120"/>
              </a:rPr>
              <a:t>J = I / S  (A/mm²)</a:t>
            </a:r>
            <a:endParaRPr lang="en-US" sz="24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02920" y="3474720"/>
          <a:ext cx="11201400" cy="914400"/>
        </p:xfrm>
        <a:graphic>
          <a:graphicData uri="http://schemas.openxmlformats.org/drawingml/2006/table">
            <a:tbl>
              <a:tblPr/>
              <a:tblGrid>
                <a:gridCol w="1463040"/>
                <a:gridCol w="8092440"/>
                <a:gridCol w="1645920"/>
              </a:tblGrid>
              <a:tr h="475488">
                <a:tc>
                  <a:txBody>
                    <a:bodyPr/>
                    <a:lstStyle/>
                    <a:p>
                      <a:pPr indent="0" marL="0">
                        <a:buNone/>
                      </a:pPr>
                      <a:r>
                        <a:rPr lang="en-US" sz="1400" b="1" dirty="0">
                          <a:solidFill>
                            <a:srgbClr val="FFFFFF"/>
                          </a:solidFill>
                        </a:rPr>
                        <a:t>Símbolo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400" b="1" dirty="0">
                          <a:solidFill>
                            <a:srgbClr val="FFFFFF"/>
                          </a:solidFill>
                        </a:rPr>
                        <a:t>Significado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400" b="1" dirty="0">
                          <a:solidFill>
                            <a:srgbClr val="FFFFFF"/>
                          </a:solidFill>
                        </a:rPr>
                        <a:t>Unidad</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r>
              <a:tr h="475488">
                <a:tc>
                  <a:txBody>
                    <a:bodyPr/>
                    <a:lstStyle/>
                    <a:p>
                      <a:pPr indent="0" marL="0">
                        <a:buNone/>
                      </a:pPr>
                      <a:r>
                        <a:rPr lang="en-US" sz="1400" dirty="0">
                          <a:solidFill>
                            <a:srgbClr val="1B2A33"/>
                          </a:solidFill>
                        </a:rPr>
                        <a:t>ΔU</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Caída de tensión admisible (≈ 2–3 % de 12 V en alumbrado)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V</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475488">
                <a:tc>
                  <a:txBody>
                    <a:bodyPr/>
                    <a:lstStyle/>
                    <a:p>
                      <a:pPr indent="0" marL="0">
                        <a:buNone/>
                      </a:pPr>
                      <a:r>
                        <a:rPr lang="en-US" sz="1400" dirty="0">
                          <a:solidFill>
                            <a:srgbClr val="1B2A33"/>
                          </a:solidFill>
                        </a:rPr>
                        <a:t>L / S</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Longitud y sección del conductor</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m / mm²</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B2A33"/>
                          </a:solidFill>
                        </a:rPr>
                        <a:t>C</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Capacidad útil de la batería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Ah</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475488">
                <a:tc>
                  <a:txBody>
                    <a:bodyPr/>
                    <a:lstStyle/>
                    <a:p>
                      <a:pPr indent="0" marL="0">
                        <a:buNone/>
                      </a:pPr>
                      <a:r>
                        <a:rPr lang="en-US" sz="1400" dirty="0">
                          <a:solidFill>
                            <a:srgbClr val="1B2A33"/>
                          </a:solidFill>
                        </a:rPr>
                        <a:t>Q</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Calor (ley de Joule, en calorías)</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cal</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B2A33"/>
                          </a:solidFill>
                        </a:rPr>
                        <a:t>J</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Densidad de corriente (≤ 5–10 A/mm² en cables del automóvil)</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A/mm²</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Ejemplo resuelto: sección y fusible del circuito de cruce</a:t>
            </a:r>
            <a:endParaRPr lang="en-US" sz="2800" dirty="0"/>
          </a:p>
        </p:txBody>
      </p:sp>
      <p:sp>
        <p:nvSpPr>
          <p:cNvPr id="4" name="Shape 1"/>
          <p:cNvSpPr/>
          <p:nvPr/>
        </p:nvSpPr>
        <p:spPr>
          <a:xfrm>
            <a:off x="502920" y="1234440"/>
            <a:ext cx="2103120" cy="365760"/>
          </a:xfrm>
          <a:prstGeom prst="roundRect">
            <a:avLst>
              <a:gd name="adj" fmla="val 50000"/>
            </a:avLst>
          </a:prstGeom>
          <a:solidFill>
            <a:srgbClr val="F2A516"/>
          </a:solidFill>
          <a:ln w="12700">
            <a:solidFill>
              <a:srgbClr val="F2A516"/>
            </a:solidFill>
            <a:prstDash val="solid"/>
          </a:ln>
        </p:spPr>
      </p:sp>
      <p:sp>
        <p:nvSpPr>
          <p:cNvPr id="5" name="Text 2"/>
          <p:cNvSpPr txBox="1"/>
          <p:nvPr/>
        </p:nvSpPr>
        <p:spPr>
          <a:xfrm>
            <a:off x="502920" y="1234440"/>
            <a:ext cx="2103120" cy="365760"/>
          </a:xfrm>
          <a:prstGeom prst="rect">
            <a:avLst/>
          </a:prstGeom>
          <a:noFill/>
          <a:ln/>
        </p:spPr>
        <p:txBody>
          <a:bodyPr wrap="square" lIns="0" tIns="0" rIns="0" bIns="0" rtlCol="0" anchor="ctr"/>
          <a:lstStyle/>
          <a:p>
            <a:pPr algn="ctr" indent="0" marL="0">
              <a:buNone/>
            </a:pPr>
            <a:r>
              <a:rPr lang="en-US" sz="1300" b="1" dirty="0">
                <a:solidFill>
                  <a:srgbClr val="1B2A33"/>
                </a:solidFill>
              </a:rPr>
              <a:t>Ejemplo resuelto</a:t>
            </a:r>
            <a:endParaRPr lang="en-US" sz="1300" dirty="0"/>
          </a:p>
        </p:txBody>
      </p:sp>
      <p:sp>
        <p:nvSpPr>
          <p:cNvPr id="6" name="Text 3"/>
          <p:cNvSpPr txBox="1"/>
          <p:nvPr/>
        </p:nvSpPr>
        <p:spPr>
          <a:xfrm>
            <a:off x="502920" y="1737360"/>
            <a:ext cx="11201400" cy="4480560"/>
          </a:xfrm>
          <a:prstGeom prst="rect">
            <a:avLst/>
          </a:prstGeom>
          <a:noFill/>
          <a:ln/>
        </p:spPr>
        <p:txBody>
          <a:bodyPr wrap="square" lIns="25400" tIns="25400" rIns="50800" bIns="25400" rtlCol="0" anchor="t"/>
          <a:lstStyle/>
          <a:p>
            <a:pPr indent="0" marL="0">
              <a:spcAft>
                <a:spcPts val="400"/>
              </a:spcAft>
              <a:buNone/>
            </a:pPr>
            <a:r>
              <a:rPr lang="en-US" sz="1700" b="1" dirty="0">
                <a:solidFill>
                  <a:schemeClr val="accent1"/>
                </a:solidFill>
              </a:rPr>
              <a:t>Datos</a:t>
            </a:r>
            <a:endParaRPr lang="en-US" sz="1700" dirty="0"/>
          </a:p>
          <a:p>
            <a:pPr marL="203200" indent="-203200">
              <a:spcAft>
                <a:spcPts val="600"/>
              </a:spcAft>
              <a:buSzPct val="100000"/>
              <a:buChar char="•"/>
            </a:pPr>
            <a:r>
              <a:rPr lang="en-US" sz="1600" dirty="0">
                <a:solidFill>
                  <a:schemeClr val="tx1"/>
                </a:solidFill>
              </a:rPr>
              <a:t>2 lámparas de cruce de 55 W; 12 V; cable de 3 m (retorno por carrocería); ΔU = 3 %.</a:t>
            </a:r>
            <a:endParaRPr lang="en-US" sz="1700" dirty="0"/>
          </a:p>
          <a:p>
            <a:pPr indent="0" marL="0">
              <a:spcAft>
                <a:spcPts val="400"/>
              </a:spcAft>
              <a:buNone/>
            </a:pPr>
            <a:r>
              <a:rPr lang="en-US" sz="1700" b="1" dirty="0">
                <a:solidFill>
                  <a:schemeClr val="accent1"/>
                </a:solidFill>
              </a:rPr>
              <a:t>1. Corriente</a:t>
            </a:r>
            <a:endParaRPr lang="en-US" sz="1700" dirty="0"/>
          </a:p>
          <a:p>
            <a:pPr marL="203200" indent="-203200">
              <a:spcAft>
                <a:spcPts val="600"/>
              </a:spcAft>
              <a:buSzPct val="100000"/>
              <a:buChar char="•"/>
            </a:pPr>
            <a:r>
              <a:rPr lang="en-US" sz="1600" dirty="0">
                <a:solidFill>
                  <a:schemeClr val="tx1"/>
                </a:solidFill>
              </a:rPr>
              <a:t>I = 110 / 12 = 9,17 A</a:t>
            </a:r>
            <a:endParaRPr lang="en-US" sz="1700" dirty="0"/>
          </a:p>
          <a:p>
            <a:pPr indent="0" marL="0">
              <a:spcAft>
                <a:spcPts val="400"/>
              </a:spcAft>
              <a:buNone/>
            </a:pPr>
            <a:r>
              <a:rPr lang="en-US" sz="1700" b="1" dirty="0">
                <a:solidFill>
                  <a:schemeClr val="accent1"/>
                </a:solidFill>
              </a:rPr>
              <a:t>2. Sección</a:t>
            </a:r>
            <a:endParaRPr lang="en-US" sz="1700" dirty="0"/>
          </a:p>
          <a:p>
            <a:pPr marL="203200" indent="-203200">
              <a:spcAft>
                <a:spcPts val="600"/>
              </a:spcAft>
              <a:buSzPct val="100000"/>
              <a:buChar char="•"/>
            </a:pPr>
            <a:r>
              <a:rPr lang="en-US" sz="1600" dirty="0">
                <a:solidFill>
                  <a:schemeClr val="tx1"/>
                </a:solidFill>
              </a:rPr>
              <a:t>ΔU = 0,03 × 12 = 0,36 V → S = 0,017 × 3 × 9,17 / 0,36 = 1,30 mm² ⇒ 1,5 mm²</a:t>
            </a:r>
            <a:endParaRPr lang="en-US" sz="1700" dirty="0"/>
          </a:p>
          <a:p>
            <a:pPr indent="0" marL="0">
              <a:spcAft>
                <a:spcPts val="400"/>
              </a:spcAft>
              <a:buNone/>
            </a:pPr>
            <a:r>
              <a:rPr lang="en-US" sz="1700" b="1" dirty="0">
                <a:solidFill>
                  <a:schemeClr val="accent1"/>
                </a:solidFill>
              </a:rPr>
              <a:t>3. Comprobación</a:t>
            </a:r>
            <a:endParaRPr lang="en-US" sz="1700" dirty="0"/>
          </a:p>
          <a:p>
            <a:pPr marL="203200" indent="-203200">
              <a:spcAft>
                <a:spcPts val="600"/>
              </a:spcAft>
              <a:buSzPct val="100000"/>
              <a:buChar char="•"/>
            </a:pPr>
            <a:r>
              <a:rPr lang="en-US" sz="1600" dirty="0">
                <a:solidFill>
                  <a:schemeClr val="tx1"/>
                </a:solidFill>
              </a:rPr>
              <a:t>J = 9,17 / 1,5 = 6,1 A/mm² ✓;  ΔU real = 9,17 × 0,017 × 3 / 1,5 = 0,31 V (2,6 %) ✓</a:t>
            </a:r>
            <a:endParaRPr lang="en-US" sz="1700" dirty="0"/>
          </a:p>
          <a:p>
            <a:pPr indent="0" marL="0">
              <a:spcAft>
                <a:spcPts val="400"/>
              </a:spcAft>
              <a:buNone/>
            </a:pPr>
            <a:r>
              <a:rPr lang="en-US" sz="1700" b="1" dirty="0">
                <a:solidFill>
                  <a:schemeClr val="accent1"/>
                </a:solidFill>
              </a:rPr>
              <a:t>4. Fusible</a:t>
            </a:r>
            <a:endParaRPr lang="en-US" sz="1700" dirty="0"/>
          </a:p>
          <a:p>
            <a:pPr marL="203200" indent="-203200">
              <a:spcAft>
                <a:spcPts val="600"/>
              </a:spcAft>
              <a:buSzPct val="100000"/>
              <a:buChar char="•"/>
            </a:pPr>
            <a:r>
              <a:rPr lang="en-US" sz="1600" dirty="0">
                <a:solidFill>
                  <a:schemeClr val="tx1"/>
                </a:solidFill>
              </a:rPr>
              <a:t>1,25 × 9,17 = 11,5 A ⇒ fusible de 15 A</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Ejemplo resuelto: luces olvidadas y calor en un faro</a:t>
            </a:r>
            <a:endParaRPr lang="en-US" sz="2800" dirty="0"/>
          </a:p>
        </p:txBody>
      </p:sp>
      <p:sp>
        <p:nvSpPr>
          <p:cNvPr id="4" name="Shape 1"/>
          <p:cNvSpPr/>
          <p:nvPr/>
        </p:nvSpPr>
        <p:spPr>
          <a:xfrm>
            <a:off x="502920" y="1234440"/>
            <a:ext cx="2103120" cy="365760"/>
          </a:xfrm>
          <a:prstGeom prst="roundRect">
            <a:avLst>
              <a:gd name="adj" fmla="val 50000"/>
            </a:avLst>
          </a:prstGeom>
          <a:solidFill>
            <a:srgbClr val="F2A516"/>
          </a:solidFill>
          <a:ln w="12700">
            <a:solidFill>
              <a:srgbClr val="F2A516"/>
            </a:solidFill>
            <a:prstDash val="solid"/>
          </a:ln>
        </p:spPr>
      </p:sp>
      <p:sp>
        <p:nvSpPr>
          <p:cNvPr id="5" name="Text 2"/>
          <p:cNvSpPr txBox="1"/>
          <p:nvPr/>
        </p:nvSpPr>
        <p:spPr>
          <a:xfrm>
            <a:off x="502920" y="1234440"/>
            <a:ext cx="2103120" cy="365760"/>
          </a:xfrm>
          <a:prstGeom prst="rect">
            <a:avLst/>
          </a:prstGeom>
          <a:noFill/>
          <a:ln/>
        </p:spPr>
        <p:txBody>
          <a:bodyPr wrap="square" lIns="0" tIns="0" rIns="0" bIns="0" rtlCol="0" anchor="ctr"/>
          <a:lstStyle/>
          <a:p>
            <a:pPr algn="ctr" indent="0" marL="0">
              <a:buNone/>
            </a:pPr>
            <a:r>
              <a:rPr lang="en-US" sz="1300" b="1" dirty="0">
                <a:solidFill>
                  <a:srgbClr val="1B2A33"/>
                </a:solidFill>
              </a:rPr>
              <a:t>Ejemplo resuelto</a:t>
            </a:r>
            <a:endParaRPr lang="en-US" sz="1300" dirty="0"/>
          </a:p>
        </p:txBody>
      </p:sp>
      <p:sp>
        <p:nvSpPr>
          <p:cNvPr id="6" name="Text 3"/>
          <p:cNvSpPr txBox="1"/>
          <p:nvPr/>
        </p:nvSpPr>
        <p:spPr>
          <a:xfrm>
            <a:off x="502920" y="1737360"/>
            <a:ext cx="6949440" cy="4480560"/>
          </a:xfrm>
          <a:prstGeom prst="rect">
            <a:avLst/>
          </a:prstGeom>
          <a:noFill/>
          <a:ln/>
        </p:spPr>
        <p:txBody>
          <a:bodyPr wrap="square" lIns="25400" tIns="25400" rIns="50800" bIns="25400" rtlCol="0" anchor="t"/>
          <a:lstStyle/>
          <a:p>
            <a:pPr indent="0" marL="0">
              <a:spcAft>
                <a:spcPts val="400"/>
              </a:spcAft>
              <a:buNone/>
            </a:pPr>
            <a:r>
              <a:rPr lang="en-US" sz="1700" b="1" dirty="0">
                <a:solidFill>
                  <a:schemeClr val="accent1"/>
                </a:solidFill>
              </a:rPr>
              <a:t>a) Cruce olvidado (2 × 55 W), batería 45 Ah</a:t>
            </a:r>
            <a:endParaRPr lang="en-US" sz="1700" dirty="0"/>
          </a:p>
          <a:p>
            <a:pPr marL="203200" indent="-203200">
              <a:spcAft>
                <a:spcPts val="600"/>
              </a:spcAft>
              <a:buSzPct val="100000"/>
              <a:buChar char="•"/>
            </a:pPr>
            <a:r>
              <a:rPr lang="en-US" sz="1600" dirty="0">
                <a:solidFill>
                  <a:schemeClr val="tx1"/>
                </a:solidFill>
              </a:rPr>
              <a:t>Se admite usar el 75 % de la carga: C = 45 × 0,75 = 33,75 Ah</a:t>
            </a:r>
            <a:endParaRPr lang="en-US" sz="1700" dirty="0"/>
          </a:p>
          <a:p>
            <a:pPr marL="203200" indent="-203200">
              <a:spcAft>
                <a:spcPts val="600"/>
              </a:spcAft>
              <a:buSzPct val="100000"/>
              <a:buChar char="•"/>
            </a:pPr>
            <a:r>
              <a:rPr lang="en-US" sz="1600" dirty="0">
                <a:solidFill>
                  <a:schemeClr val="tx1"/>
                </a:solidFill>
              </a:rPr>
              <a:t>I = 110 / 12 = 9,17 A → t = 33,75 / 9,17 = 3,68 h ≈ 3 h 41 min</a:t>
            </a:r>
            <a:endParaRPr lang="en-US" sz="1700" dirty="0"/>
          </a:p>
          <a:p>
            <a:pPr indent="0" marL="0">
              <a:spcAft>
                <a:spcPts val="400"/>
              </a:spcAft>
              <a:buNone/>
            </a:pPr>
            <a:r>
              <a:rPr lang="en-US" sz="1700" b="1" dirty="0">
                <a:solidFill>
                  <a:schemeClr val="accent1"/>
                </a:solidFill>
              </a:rPr>
              <a:t>b) Calor de una lámpara de carretera de 60 W en 1 h</a:t>
            </a:r>
            <a:endParaRPr lang="en-US" sz="1700" dirty="0"/>
          </a:p>
          <a:p>
            <a:pPr marL="203200" indent="-203200">
              <a:spcAft>
                <a:spcPts val="600"/>
              </a:spcAft>
              <a:buSzPct val="100000"/>
              <a:buChar char="•"/>
            </a:pPr>
            <a:r>
              <a:rPr lang="en-US" sz="1600" dirty="0">
                <a:solidFill>
                  <a:schemeClr val="tx1"/>
                </a:solidFill>
              </a:rPr>
              <a:t>I = 60 / 12 = 5 A;  R = 12 / 5 = 2,4 Ω</a:t>
            </a:r>
            <a:endParaRPr lang="en-US" sz="1700" dirty="0"/>
          </a:p>
          <a:p>
            <a:pPr marL="203200" indent="-203200">
              <a:spcAft>
                <a:spcPts val="600"/>
              </a:spcAft>
              <a:buSzPct val="100000"/>
              <a:buChar char="•"/>
            </a:pPr>
            <a:r>
              <a:rPr lang="en-US" sz="1600" dirty="0">
                <a:solidFill>
                  <a:schemeClr val="tx1"/>
                </a:solidFill>
              </a:rPr>
              <a:t>Q = 0,24 × 5² × 2,4 × 3 600 = 51 840 cal (≈ 217 kJ = 60 W × 3 600 s)</a:t>
            </a:r>
            <a:endParaRPr lang="en-US" sz="1700" dirty="0"/>
          </a:p>
        </p:txBody>
      </p:sp>
      <p:pic>
        <p:nvPicPr>
          <p:cNvPr id="7" name="Figura M_p075_4.png" descr="M_p075_4.png">    </p:cNvPr>
          <p:cNvPicPr>
            <a:picLocks noChangeAspect="1"/>
          </p:cNvPicPr>
          <p:nvPr/>
        </p:nvPicPr>
        <p:blipFill>
          <a:blip r:embed="rId1"/>
          <a:stretch>
            <a:fillRect/>
          </a:stretch>
        </p:blipFill>
        <p:spPr>
          <a:xfrm>
            <a:off x="8046014" y="1280160"/>
            <a:ext cx="3293252" cy="4023360"/>
          </a:xfrm>
          <a:prstGeom prst="rect">
            <a:avLst/>
          </a:prstGeom>
        </p:spPr>
      </p:pic>
      <p:sp>
        <p:nvSpPr>
          <p:cNvPr id="8" name="Text 4"/>
          <p:cNvSpPr txBox="1"/>
          <p:nvPr/>
        </p:nvSpPr>
        <p:spPr>
          <a:xfrm>
            <a:off x="7726680" y="5358384"/>
            <a:ext cx="40233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Ejemplo resuelto: hilo de fusible y caída en posición</a:t>
            </a:r>
            <a:endParaRPr lang="en-US" sz="2800" dirty="0"/>
          </a:p>
        </p:txBody>
      </p:sp>
      <p:sp>
        <p:nvSpPr>
          <p:cNvPr id="4" name="Shape 1"/>
          <p:cNvSpPr/>
          <p:nvPr/>
        </p:nvSpPr>
        <p:spPr>
          <a:xfrm>
            <a:off x="502920" y="1234440"/>
            <a:ext cx="2103120" cy="365760"/>
          </a:xfrm>
          <a:prstGeom prst="roundRect">
            <a:avLst>
              <a:gd name="adj" fmla="val 50000"/>
            </a:avLst>
          </a:prstGeom>
          <a:solidFill>
            <a:srgbClr val="F2A516"/>
          </a:solidFill>
          <a:ln w="12700">
            <a:solidFill>
              <a:srgbClr val="F2A516"/>
            </a:solidFill>
            <a:prstDash val="solid"/>
          </a:ln>
        </p:spPr>
      </p:sp>
      <p:sp>
        <p:nvSpPr>
          <p:cNvPr id="5" name="Text 2"/>
          <p:cNvSpPr txBox="1"/>
          <p:nvPr/>
        </p:nvSpPr>
        <p:spPr>
          <a:xfrm>
            <a:off x="502920" y="1234440"/>
            <a:ext cx="2103120" cy="365760"/>
          </a:xfrm>
          <a:prstGeom prst="rect">
            <a:avLst/>
          </a:prstGeom>
          <a:noFill/>
          <a:ln/>
        </p:spPr>
        <p:txBody>
          <a:bodyPr wrap="square" lIns="0" tIns="0" rIns="0" bIns="0" rtlCol="0" anchor="ctr"/>
          <a:lstStyle/>
          <a:p>
            <a:pPr algn="ctr" indent="0" marL="0">
              <a:buNone/>
            </a:pPr>
            <a:r>
              <a:rPr lang="en-US" sz="1300" b="1" dirty="0">
                <a:solidFill>
                  <a:srgbClr val="1B2A33"/>
                </a:solidFill>
              </a:rPr>
              <a:t>Ejemplo resuelto</a:t>
            </a:r>
            <a:endParaRPr lang="en-US" sz="1300" dirty="0"/>
          </a:p>
        </p:txBody>
      </p:sp>
      <p:sp>
        <p:nvSpPr>
          <p:cNvPr id="6" name="Text 3"/>
          <p:cNvSpPr txBox="1"/>
          <p:nvPr/>
        </p:nvSpPr>
        <p:spPr>
          <a:xfrm>
            <a:off x="502920" y="1737360"/>
            <a:ext cx="11201400" cy="4480560"/>
          </a:xfrm>
          <a:prstGeom prst="rect">
            <a:avLst/>
          </a:prstGeom>
          <a:noFill/>
          <a:ln/>
        </p:spPr>
        <p:txBody>
          <a:bodyPr wrap="square" lIns="25400" tIns="25400" rIns="50800" bIns="25400" rtlCol="0" anchor="t"/>
          <a:lstStyle/>
          <a:p>
            <a:pPr indent="0" marL="0">
              <a:spcAft>
                <a:spcPts val="400"/>
              </a:spcAft>
              <a:buNone/>
            </a:pPr>
            <a:r>
              <a:rPr lang="en-US" sz="1700" b="1" dirty="0">
                <a:solidFill>
                  <a:schemeClr val="accent1"/>
                </a:solidFill>
              </a:rPr>
              <a:t>a) Diámetro del hilo de un fusible</a:t>
            </a:r>
            <a:endParaRPr lang="en-US" sz="1700" dirty="0"/>
          </a:p>
          <a:p>
            <a:pPr marL="203200" indent="-203200">
              <a:spcAft>
                <a:spcPts val="600"/>
              </a:spcAft>
              <a:buSzPct val="100000"/>
              <a:buChar char="•"/>
            </a:pPr>
            <a:r>
              <a:rPr lang="en-US" sz="1600" dirty="0">
                <a:solidFill>
                  <a:schemeClr val="tx1"/>
                </a:solidFill>
              </a:rPr>
              <a:t>I = 10 A con coeficiente de seguridad 48 % ⇒ I' = 14,8 A</a:t>
            </a:r>
            <a:endParaRPr lang="en-US" sz="1700" dirty="0"/>
          </a:p>
          <a:p>
            <a:pPr marL="203200" indent="-203200">
              <a:spcAft>
                <a:spcPts val="600"/>
              </a:spcAft>
              <a:buSzPct val="100000"/>
              <a:buChar char="•"/>
            </a:pPr>
            <a:r>
              <a:rPr lang="en-US" sz="1600" dirty="0">
                <a:solidFill>
                  <a:schemeClr val="tx1"/>
                </a:solidFill>
              </a:rPr>
              <a:t>∛(14,8²) = ∛219 = 6,03</a:t>
            </a:r>
            <a:endParaRPr lang="en-US" sz="1700" dirty="0"/>
          </a:p>
          <a:p>
            <a:pPr marL="203200" indent="-203200">
              <a:spcAft>
                <a:spcPts val="600"/>
              </a:spcAft>
              <a:buSzPct val="100000"/>
              <a:buChar char="•"/>
            </a:pPr>
            <a:r>
              <a:rPr lang="en-US" sz="1600" dirty="0">
                <a:solidFill>
                  <a:schemeClr val="tx1"/>
                </a:solidFill>
              </a:rPr>
              <a:t>Cobre: D = 0,06 × 6,03 = 0,36 mm;  plomo: D = 0,25 × 6,03 = 1,5 mm</a:t>
            </a:r>
            <a:endParaRPr lang="en-US" sz="1700" dirty="0"/>
          </a:p>
          <a:p>
            <a:pPr indent="0" marL="0">
              <a:spcAft>
                <a:spcPts val="400"/>
              </a:spcAft>
              <a:buNone/>
            </a:pPr>
            <a:r>
              <a:rPr lang="en-US" sz="1700" b="1" dirty="0">
                <a:solidFill>
                  <a:schemeClr val="accent1"/>
                </a:solidFill>
              </a:rPr>
              <a:t>b) Circuito de posición y matrícula</a:t>
            </a:r>
            <a:endParaRPr lang="en-US" sz="1700" dirty="0"/>
          </a:p>
          <a:p>
            <a:pPr marL="203200" indent="-203200">
              <a:spcAft>
                <a:spcPts val="600"/>
              </a:spcAft>
              <a:buSzPct val="100000"/>
              <a:buChar char="•"/>
            </a:pPr>
            <a:r>
              <a:rPr lang="en-US" sz="1600" dirty="0">
                <a:solidFill>
                  <a:schemeClr val="tx1"/>
                </a:solidFill>
              </a:rPr>
              <a:t>4 × 5 W (posición) + 2 × 5 W (matrícula) = 30 W → I = 2,5 A</a:t>
            </a:r>
            <a:endParaRPr lang="en-US" sz="1700" dirty="0"/>
          </a:p>
          <a:p>
            <a:pPr marL="203200" indent="-203200">
              <a:spcAft>
                <a:spcPts val="600"/>
              </a:spcAft>
              <a:buSzPct val="100000"/>
              <a:buChar char="•"/>
            </a:pPr>
            <a:r>
              <a:rPr lang="en-US" sz="1600" dirty="0">
                <a:solidFill>
                  <a:schemeClr val="tx1"/>
                </a:solidFill>
              </a:rPr>
              <a:t>Cable 0,75 mm² de 5 m: R = 0,017 × 5 / 0,75 = 0,113 Ω</a:t>
            </a:r>
            <a:endParaRPr lang="en-US" sz="1700" dirty="0"/>
          </a:p>
          <a:p>
            <a:pPr marL="203200" indent="-203200">
              <a:spcAft>
                <a:spcPts val="600"/>
              </a:spcAft>
              <a:buSzPct val="100000"/>
              <a:buChar char="•"/>
            </a:pPr>
            <a:r>
              <a:rPr lang="en-US" sz="1600" dirty="0">
                <a:solidFill>
                  <a:schemeClr val="tx1"/>
                </a:solidFill>
              </a:rPr>
              <a:t>ΔU = 2,5 × 0,113 = 0,28 V (2,4 %) ✓ — fusible 5 A</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2" type="body" hasCustomPrompt="1"/>
          </p:nvPr>
        </p:nvSpPr>
        <p:spPr>
          <a:xfrm>
            <a:off x="731520" y="1463040"/>
            <a:ext cx="4114800" cy="1463040"/>
          </a:xfrm>
          <a:prstGeom prst="rect">
            <a:avLst/>
          </a:prstGeom>
          <a:noFill/>
          <a:ln/>
        </p:spPr>
        <p:txBody>
          <a:bodyPr wrap="square" rtlCol="0" anchor="b"/>
          <a:lstStyle/>
          <a:p>
            <a:pPr algn="l" indent="0" marL="0">
              <a:buNone/>
            </a:pPr>
            <a:r>
              <a:rPr lang="en-US" sz="8000" b="1" dirty="0">
                <a:solidFill>
                  <a:schemeClr val="accent2"/>
                </a:solidFill>
              </a:rPr>
              <a:t>4.12</a:t>
            </a:r>
            <a:endParaRPr lang="en-US" sz="8000" dirty="0"/>
          </a:p>
        </p:txBody>
      </p:sp>
      <p:sp>
        <p:nvSpPr>
          <p:cNvPr id="3" name="Text 1"/>
          <p:cNvSpPr/>
          <p:nvPr>
            <p:ph idx="103" type="title" hasCustomPrompt="1"/>
          </p:nvPr>
        </p:nvSpPr>
        <p:spPr>
          <a:xfrm>
            <a:off x="731520" y="2971800"/>
            <a:ext cx="10515600" cy="1371600"/>
          </a:xfrm>
          <a:prstGeom prst="rect">
            <a:avLst/>
          </a:prstGeom>
          <a:noFill/>
          <a:ln/>
        </p:spPr>
        <p:txBody>
          <a:bodyPr wrap="square" rtlCol="0" anchor="t"/>
          <a:lstStyle/>
          <a:p>
            <a:pPr algn="l" indent="0" marL="0">
              <a:buNone/>
            </a:pPr>
            <a:r>
              <a:rPr lang="en-US" sz="4000" b="1" dirty="0">
                <a:solidFill>
                  <a:schemeClr val="bg1"/>
                </a:solidFill>
              </a:rPr>
              <a:t>Regulación de faros</a:t>
            </a:r>
            <a:endParaRPr lang="en-US" sz="4000" dirty="0"/>
          </a:p>
        </p:txBody>
      </p:sp>
      <p:sp>
        <p:nvSpPr>
          <p:cNvPr id="4" name="Text 1"/>
          <p:cNvSpPr/>
          <p:nvPr>
            <p:ph idx="104" type="body" hasCustomPrompt="1"/>
          </p:nvPr>
        </p:nvSpPr>
        <p:spPr>
          <a:xfrm>
            <a:off x="731520" y="4434840"/>
            <a:ext cx="10058400" cy="1463040"/>
          </a:xfrm>
          <a:prstGeom prst="rect">
            <a:avLst/>
          </a:prstGeom>
          <a:noFill/>
          <a:ln/>
        </p:spPr>
        <p:txBody>
          <a:bodyPr wrap="square" rtlCol="0" anchor="t"/>
          <a:lstStyle/>
          <a:p>
            <a:pPr algn="l" indent="0" marL="0">
              <a:buNone/>
            </a:pPr>
            <a:r>
              <a:rPr lang="en-US" sz="1800" dirty="0">
                <a:solidFill>
                  <a:schemeClr val="bg2"/>
                </a:solidFill>
              </a:rPr>
              <a:t>Por qué se regula, normativa y correctores de alcance</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¿Por qué se regulan los faros?</a:t>
            </a:r>
            <a:endParaRPr lang="en-US" sz="2800" dirty="0"/>
          </a:p>
        </p:txBody>
      </p:sp>
      <p:pic>
        <p:nvPicPr>
          <p:cNvPr id="4" name="Figura M_p099_0.png" descr="M_p099_0.png">    </p:cNvPr>
          <p:cNvPicPr>
            <a:picLocks noChangeAspect="1"/>
          </p:cNvPicPr>
          <p:nvPr/>
        </p:nvPicPr>
        <p:blipFill>
          <a:blip r:embed="rId1"/>
          <a:stretch>
            <a:fillRect/>
          </a:stretch>
        </p:blipFill>
        <p:spPr>
          <a:xfrm>
            <a:off x="502920" y="1246574"/>
            <a:ext cx="3108960" cy="3816212"/>
          </a:xfrm>
          <a:prstGeom prst="rect">
            <a:avLst/>
          </a:prstGeom>
        </p:spPr>
      </p:pic>
      <p:sp>
        <p:nvSpPr>
          <p:cNvPr id="5" name="Text 1"/>
          <p:cNvSpPr txBox="1"/>
          <p:nvPr/>
        </p:nvSpPr>
        <p:spPr>
          <a:xfrm>
            <a:off x="502920" y="5117650"/>
            <a:ext cx="31089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pic>
        <p:nvPicPr>
          <p:cNvPr id="6" name="Figura M_p105_3.png" descr="M_p105_3.png">    </p:cNvPr>
          <p:cNvPicPr>
            <a:picLocks noChangeAspect="1"/>
          </p:cNvPicPr>
          <p:nvPr/>
        </p:nvPicPr>
        <p:blipFill>
          <a:blip r:embed="rId2"/>
          <a:stretch>
            <a:fillRect/>
          </a:stretch>
        </p:blipFill>
        <p:spPr>
          <a:xfrm>
            <a:off x="3959391" y="1234440"/>
            <a:ext cx="3602658" cy="1554480"/>
          </a:xfrm>
          <a:prstGeom prst="rect">
            <a:avLst/>
          </a:prstGeom>
        </p:spPr>
      </p:pic>
      <p:sp>
        <p:nvSpPr>
          <p:cNvPr id="7" name="Text 2"/>
          <p:cNvSpPr txBox="1"/>
          <p:nvPr/>
        </p:nvSpPr>
        <p:spPr>
          <a:xfrm>
            <a:off x="3886200" y="2843784"/>
            <a:ext cx="384048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pic>
        <p:nvPicPr>
          <p:cNvPr id="8" name="Figura M_p105_4.png" descr="M_p105_4.png">    </p:cNvPr>
          <p:cNvPicPr>
            <a:picLocks noChangeAspect="1"/>
          </p:cNvPicPr>
          <p:nvPr/>
        </p:nvPicPr>
        <p:blipFill>
          <a:blip r:embed="rId3"/>
          <a:stretch>
            <a:fillRect/>
          </a:stretch>
        </p:blipFill>
        <p:spPr>
          <a:xfrm>
            <a:off x="7890242" y="1234440"/>
            <a:ext cx="3787677" cy="1554480"/>
          </a:xfrm>
          <a:prstGeom prst="rect">
            <a:avLst/>
          </a:prstGeom>
        </p:spPr>
      </p:pic>
      <p:sp>
        <p:nvSpPr>
          <p:cNvPr id="9" name="Text 3"/>
          <p:cNvSpPr txBox="1"/>
          <p:nvPr/>
        </p:nvSpPr>
        <p:spPr>
          <a:xfrm>
            <a:off x="7890242" y="2843784"/>
            <a:ext cx="384048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pic>
        <p:nvPicPr>
          <p:cNvPr id="10" name="Figura ll_alcance.jpg" descr="ll_alcance.jpg">    </p:cNvPr>
          <p:cNvPicPr>
            <a:picLocks noChangeAspect="1"/>
          </p:cNvPicPr>
          <p:nvPr/>
        </p:nvPicPr>
        <p:blipFill>
          <a:blip r:embed="rId4"/>
          <a:stretch>
            <a:fillRect/>
          </a:stretch>
        </p:blipFill>
        <p:spPr>
          <a:xfrm>
            <a:off x="4086290" y="3429000"/>
            <a:ext cx="7372220" cy="1737360"/>
          </a:xfrm>
          <a:prstGeom prst="rect">
            <a:avLst/>
          </a:prstGeom>
        </p:spPr>
      </p:pic>
      <p:sp>
        <p:nvSpPr>
          <p:cNvPr id="11" name="Text 4"/>
          <p:cNvSpPr txBox="1"/>
          <p:nvPr/>
        </p:nvSpPr>
        <p:spPr>
          <a:xfrm>
            <a:off x="3886200" y="5221224"/>
            <a:ext cx="737222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sp>
        <p:nvSpPr>
          <p:cNvPr id="12" name="Text 5"/>
          <p:cNvSpPr txBox="1"/>
          <p:nvPr/>
        </p:nvSpPr>
        <p:spPr>
          <a:xfrm>
            <a:off x="502920" y="5715000"/>
            <a:ext cx="11201400" cy="457200"/>
          </a:xfrm>
          <a:prstGeom prst="rect">
            <a:avLst/>
          </a:prstGeom>
          <a:noFill/>
          <a:ln/>
        </p:spPr>
        <p:txBody>
          <a:bodyPr wrap="square" lIns="25400" tIns="25400" rIns="50800" bIns="25400" rtlCol="0" anchor="t"/>
          <a:lstStyle/>
          <a:p>
            <a:pPr marL="203200" indent="-203200">
              <a:spcAft>
                <a:spcPts val="600"/>
              </a:spcAft>
              <a:buSzPct val="100000"/>
              <a:buChar char="•"/>
            </a:pPr>
            <a:r>
              <a:rPr lang="en-US" sz="1500" dirty="0">
                <a:solidFill>
                  <a:schemeClr val="tx1"/>
                </a:solidFill>
              </a:rPr>
              <a:t>La regulación en el eje vertical controla la altura; en el horizontal, la convergencia.</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Inclinación del haz de cruce: qué dice la norma</a:t>
            </a:r>
            <a:endParaRPr lang="en-US" sz="28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201400" cy="914400"/>
        </p:xfrm>
        <a:graphic>
          <a:graphicData uri="http://schemas.openxmlformats.org/drawingml/2006/table">
            <a:tbl>
              <a:tblPr/>
              <a:tblGrid>
                <a:gridCol w="2560320"/>
                <a:gridCol w="3749040"/>
                <a:gridCol w="2377440"/>
                <a:gridCol w="2514600"/>
              </a:tblGrid>
              <a:tr h="566928">
                <a:tc>
                  <a:txBody>
                    <a:bodyPr/>
                    <a:lstStyle/>
                    <a:p>
                      <a:pPr indent="0" marL="0">
                        <a:buNone/>
                      </a:pPr>
                      <a:r>
                        <a:rPr lang="en-US" sz="1400" b="1" dirty="0">
                          <a:solidFill>
                            <a:srgbClr val="FFFFFF"/>
                          </a:solidFill>
                        </a:rPr>
                        <a:t>Referencia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400" b="1" dirty="0">
                          <a:solidFill>
                            <a:srgbClr val="FFFFFF"/>
                          </a:solidFill>
                        </a:rPr>
                        <a:t>Vertical</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400" b="1" dirty="0">
                          <a:solidFill>
                            <a:srgbClr val="FFFFFF"/>
                          </a:solidFill>
                        </a:rPr>
                        <a:t>Horizontal</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400" b="1" dirty="0">
                          <a:solidFill>
                            <a:srgbClr val="FFFFFF"/>
                          </a:solidFill>
                        </a:rPr>
                        <a:t>Observación</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r>
              <a:tr h="566928">
                <a:tc>
                  <a:txBody>
                    <a:bodyPr/>
                    <a:lstStyle/>
                    <a:p>
                      <a:pPr indent="0" marL="0">
                        <a:buNone/>
                      </a:pPr>
                      <a:r>
                        <a:rPr lang="en-US" sz="1400" dirty="0">
                          <a:solidFill>
                            <a:srgbClr val="1B2A33"/>
                          </a:solidFill>
                        </a:rPr>
                        <a:t>NTE INEN 1155:2009</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 2,5 % por debajo de la horizontal</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 2 % hacia el centro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Exigencia legal en Ecuador</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66928">
                <a:tc>
                  <a:txBody>
                    <a:bodyPr/>
                    <a:lstStyle/>
                    <a:p>
                      <a:pPr indent="0" marL="0">
                        <a:buNone/>
                      </a:pPr>
                      <a:r>
                        <a:rPr lang="en-US" sz="1400" dirty="0">
                          <a:solidFill>
                            <a:srgbClr val="1B2A33"/>
                          </a:solidFill>
                        </a:rPr>
                        <a:t>CEPE n.º 48 (h &lt; 0,8 m)</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−1,0 % a −1,5 % (límites −0,5 a −2,5 %)</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Valor de fábrica en placa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A33"/>
                          </a:solidFill>
                        </a:rPr>
                        <a:t>CEPE n.º 48 (h &gt; 1 m)</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−1,5 % a −2,0 % (límites −1,0 a −3,0 %)</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Vehículos altos</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66928">
                <a:tc>
                  <a:txBody>
                    <a:bodyPr/>
                    <a:lstStyle/>
                    <a:p>
                      <a:pPr indent="0" marL="0">
                        <a:buNone/>
                      </a:pPr>
                      <a:r>
                        <a:rPr lang="en-US" sz="1400" dirty="0">
                          <a:solidFill>
                            <a:srgbClr val="1B2A33"/>
                          </a:solidFill>
                        </a:rPr>
                        <a:t>Llanos López (2022)</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Línea de −1 % en la pantalla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Cruce de líneas en el centro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Ejemplo didáctico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bl>
          </a:graphicData>
        </a:graphic>
      </p:graphicFrame>
      <p:sp>
        <p:nvSpPr>
          <p:cNvPr id="5" name="Shape 1"/>
          <p:cNvSpPr/>
          <p:nvPr/>
        </p:nvSpPr>
        <p:spPr>
          <a:xfrm>
            <a:off x="502920" y="4297680"/>
            <a:ext cx="2103120" cy="365760"/>
          </a:xfrm>
          <a:prstGeom prst="roundRect">
            <a:avLst>
              <a:gd name="adj" fmla="val 50000"/>
            </a:avLst>
          </a:prstGeom>
          <a:solidFill>
            <a:srgbClr val="F2A516"/>
          </a:solidFill>
          <a:ln w="12700">
            <a:solidFill>
              <a:srgbClr val="F2A516"/>
            </a:solidFill>
            <a:prstDash val="solid"/>
          </a:ln>
        </p:spPr>
      </p:sp>
      <p:sp>
        <p:nvSpPr>
          <p:cNvPr id="6" name="Text 2"/>
          <p:cNvSpPr txBox="1"/>
          <p:nvPr/>
        </p:nvSpPr>
        <p:spPr>
          <a:xfrm>
            <a:off x="502920" y="4297680"/>
            <a:ext cx="2103120" cy="365760"/>
          </a:xfrm>
          <a:prstGeom prst="rect">
            <a:avLst/>
          </a:prstGeom>
          <a:noFill/>
          <a:ln/>
        </p:spPr>
        <p:txBody>
          <a:bodyPr wrap="square" lIns="0" tIns="0" rIns="0" bIns="0" rtlCol="0" anchor="ctr"/>
          <a:lstStyle/>
          <a:p>
            <a:pPr algn="ctr" indent="0" marL="0">
              <a:buNone/>
            </a:pPr>
            <a:r>
              <a:rPr lang="en-US" sz="1300" b="1" dirty="0">
                <a:solidFill>
                  <a:srgbClr val="1B2A33"/>
                </a:solidFill>
              </a:rPr>
              <a:t>Ejemplo resuelto</a:t>
            </a:r>
            <a:endParaRPr lang="en-US" sz="1300" dirty="0"/>
          </a:p>
        </p:txBody>
      </p:sp>
      <p:sp>
        <p:nvSpPr>
          <p:cNvPr id="7" name="Text 3"/>
          <p:cNvSpPr txBox="1"/>
          <p:nvPr/>
        </p:nvSpPr>
        <p:spPr>
          <a:xfrm>
            <a:off x="502920" y="4754880"/>
            <a:ext cx="11201400" cy="1463040"/>
          </a:xfrm>
          <a:prstGeom prst="rect">
            <a:avLst/>
          </a:prstGeom>
          <a:noFill/>
          <a:ln/>
        </p:spPr>
        <p:txBody>
          <a:bodyPr wrap="square" lIns="25400" tIns="25400" rIns="50800" bIns="25400" rtlCol="0" anchor="t"/>
          <a:lstStyle/>
          <a:p>
            <a:pPr marL="203200" indent="-203200">
              <a:spcAft>
                <a:spcPts val="600"/>
              </a:spcAft>
              <a:buSzPct val="100000"/>
              <a:buChar char="•"/>
            </a:pPr>
            <a:r>
              <a:rPr lang="en-US" sz="1500" dirty="0">
                <a:solidFill>
                  <a:schemeClr val="tx1"/>
                </a:solidFill>
              </a:rPr>
              <a:t>Faro a 700 mm de altura, pantalla a 10 m, inclinación −1,5 %: descenso = 10 000 × 0,015 = 150 mm ⇒ corte a 550 mm.</a:t>
            </a:r>
            <a:endParaRPr lang="en-US" sz="1500" dirty="0"/>
          </a:p>
          <a:p>
            <a:pPr marL="203200" indent="-203200">
              <a:spcAft>
                <a:spcPts val="600"/>
              </a:spcAft>
              <a:buSzPct val="100000"/>
              <a:buChar char="•"/>
            </a:pPr>
            <a:r>
              <a:rPr lang="en-US" sz="1500" dirty="0">
                <a:solidFill>
                  <a:schemeClr val="tx1"/>
                </a:solidFill>
              </a:rPr>
              <a:t>Con −2,5 % (INEN): descenso = 250 mm ⇒ corte a 450 mm. Regloscopio: la pantalla equivale a 25 m ⇒ se lee directamente el %.</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Regulación manual y automática del alcance</a:t>
            </a:r>
            <a:endParaRPr lang="en-US" sz="2800" dirty="0"/>
          </a:p>
        </p:txBody>
      </p:sp>
      <p:pic>
        <p:nvPicPr>
          <p:cNvPr id="4" name="Figura ll_esq632.jpg" descr="ll_esq632.jpg">    </p:cNvPr>
          <p:cNvPicPr>
            <a:picLocks noChangeAspect="1"/>
          </p:cNvPicPr>
          <p:nvPr/>
        </p:nvPicPr>
        <p:blipFill>
          <a:blip r:embed="rId1"/>
          <a:stretch>
            <a:fillRect/>
          </a:stretch>
        </p:blipFill>
        <p:spPr>
          <a:xfrm>
            <a:off x="573701" y="1234440"/>
            <a:ext cx="4979079" cy="2377440"/>
          </a:xfrm>
          <a:prstGeom prst="rect">
            <a:avLst/>
          </a:prstGeom>
        </p:spPr>
      </p:pic>
      <p:sp>
        <p:nvSpPr>
          <p:cNvPr id="5" name="Text 1"/>
          <p:cNvSpPr txBox="1"/>
          <p:nvPr/>
        </p:nvSpPr>
        <p:spPr>
          <a:xfrm>
            <a:off x="548640" y="3666744"/>
            <a:ext cx="4979079"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6" name="Figura ll_corrector.jpg" descr="ll_corrector.jpg">    </p:cNvPr>
          <p:cNvPicPr>
            <a:picLocks noChangeAspect="1"/>
          </p:cNvPicPr>
          <p:nvPr/>
        </p:nvPicPr>
        <p:blipFill>
          <a:blip r:embed="rId2"/>
          <a:stretch>
            <a:fillRect/>
          </a:stretch>
        </p:blipFill>
        <p:spPr>
          <a:xfrm>
            <a:off x="742747" y="4206240"/>
            <a:ext cx="1714907" cy="1554480"/>
          </a:xfrm>
          <a:prstGeom prst="rect">
            <a:avLst/>
          </a:prstGeom>
        </p:spPr>
      </p:pic>
      <p:sp>
        <p:nvSpPr>
          <p:cNvPr id="7" name="Text 2"/>
          <p:cNvSpPr txBox="1"/>
          <p:nvPr/>
        </p:nvSpPr>
        <p:spPr>
          <a:xfrm>
            <a:off x="548640" y="5815584"/>
            <a:ext cx="21945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8" name="Figura M_p107_2.png" descr="M_p107_2.png">    </p:cNvPr>
          <p:cNvPicPr>
            <a:picLocks noChangeAspect="1"/>
          </p:cNvPicPr>
          <p:nvPr/>
        </p:nvPicPr>
        <p:blipFill>
          <a:blip r:embed="rId3"/>
          <a:stretch>
            <a:fillRect/>
          </a:stretch>
        </p:blipFill>
        <p:spPr>
          <a:xfrm>
            <a:off x="6455898" y="1234440"/>
            <a:ext cx="4644683" cy="2560320"/>
          </a:xfrm>
          <a:prstGeom prst="rect">
            <a:avLst/>
          </a:prstGeom>
        </p:spPr>
      </p:pic>
      <p:sp>
        <p:nvSpPr>
          <p:cNvPr id="9" name="Text 3"/>
          <p:cNvSpPr txBox="1"/>
          <p:nvPr/>
        </p:nvSpPr>
        <p:spPr>
          <a:xfrm>
            <a:off x="5897880" y="3849624"/>
            <a:ext cx="4644683"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10" name="Text 4"/>
          <p:cNvSpPr txBox="1"/>
          <p:nvPr/>
        </p:nvSpPr>
        <p:spPr>
          <a:xfrm>
            <a:off x="2926080" y="4434840"/>
            <a:ext cx="8778240" cy="1737360"/>
          </a:xfrm>
          <a:prstGeom prst="rect">
            <a:avLst/>
          </a:prstGeom>
          <a:noFill/>
          <a:ln/>
        </p:spPr>
        <p:txBody>
          <a:bodyPr wrap="square" lIns="25400" tIns="25400" rIns="50800" bIns="25400" rtlCol="0" anchor="t"/>
          <a:lstStyle/>
          <a:p>
            <a:pPr marL="203200" indent="-203200">
              <a:spcAft>
                <a:spcPts val="600"/>
              </a:spcAft>
              <a:buSzPct val="100000"/>
              <a:buChar char="•"/>
            </a:pPr>
            <a:r>
              <a:rPr lang="en-US" sz="1500" b="1" dirty="0">
                <a:solidFill>
                  <a:schemeClr val="tx1"/>
                </a:solidFill>
              </a:rPr>
              <a:t>Manual: </a:t>
            </a:r>
            <a:pPr indent="0" marL="0">
              <a:buNone/>
            </a:pPr>
            <a:r>
              <a:rPr lang="en-US" sz="1500" dirty="0">
                <a:solidFill>
                  <a:schemeClr val="tx1"/>
                </a:solidFill>
              </a:rPr>
              <a:t>rueda 0–3; motor y potenciómetro en cada faro.</a:t>
            </a:r>
            <a:endParaRPr lang="en-US" sz="1500" dirty="0"/>
          </a:p>
          <a:p>
            <a:pPr marL="203200" indent="-203200">
              <a:spcAft>
                <a:spcPts val="600"/>
              </a:spcAft>
              <a:buSzPct val="100000"/>
              <a:buChar char="•"/>
            </a:pPr>
            <a:r>
              <a:rPr lang="en-US" sz="1500" b="1" dirty="0">
                <a:solidFill>
                  <a:schemeClr val="tx1"/>
                </a:solidFill>
              </a:rPr>
              <a:t>Automática: </a:t>
            </a:r>
            <a:pPr indent="0" marL="0">
              <a:buNone/>
            </a:pPr>
            <a:r>
              <a:rPr lang="en-US" sz="1500" dirty="0">
                <a:solidFill>
                  <a:schemeClr val="tx1"/>
                </a:solidFill>
              </a:rPr>
              <a:t>sensores de eje + centralita + motores.</a:t>
            </a:r>
            <a:endParaRPr lang="en-US" sz="1500" dirty="0"/>
          </a:p>
          <a:p>
            <a:pPr marL="203200" indent="-203200">
              <a:spcAft>
                <a:spcPts val="600"/>
              </a:spcAft>
              <a:buSzPct val="100000"/>
              <a:buChar char="•"/>
            </a:pPr>
            <a:r>
              <a:rPr lang="en-US" sz="1500" b="1" dirty="0">
                <a:solidFill>
                  <a:schemeClr val="tx1"/>
                </a:solidFill>
              </a:rPr>
              <a:t>Dinámica: </a:t>
            </a:r>
            <a:pPr indent="0" marL="0">
              <a:buNone/>
            </a:pPr>
            <a:r>
              <a:rPr lang="en-US" sz="1500" dirty="0">
                <a:solidFill>
                  <a:schemeClr val="tx1"/>
                </a:solidFill>
              </a:rPr>
              <a:t>corrige también al acelerar y frenar.</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Faros adaptativos (AFS) y luz de curva</a:t>
            </a:r>
            <a:endParaRPr lang="en-US" sz="2800" dirty="0"/>
          </a:p>
        </p:txBody>
      </p:sp>
      <p:pic>
        <p:nvPicPr>
          <p:cNvPr id="4" name="Figura M_p111_0.png" descr="M_p111_0.png">    </p:cNvPr>
          <p:cNvPicPr>
            <a:picLocks noChangeAspect="1"/>
          </p:cNvPicPr>
          <p:nvPr/>
        </p:nvPicPr>
        <p:blipFill>
          <a:blip r:embed="rId1"/>
          <a:stretch>
            <a:fillRect/>
          </a:stretch>
        </p:blipFill>
        <p:spPr>
          <a:xfrm>
            <a:off x="502920" y="2286440"/>
            <a:ext cx="4206240" cy="1736480"/>
          </a:xfrm>
          <a:prstGeom prst="rect">
            <a:avLst/>
          </a:prstGeom>
        </p:spPr>
      </p:pic>
      <p:sp>
        <p:nvSpPr>
          <p:cNvPr id="5" name="Text 1"/>
          <p:cNvSpPr txBox="1"/>
          <p:nvPr/>
        </p:nvSpPr>
        <p:spPr>
          <a:xfrm>
            <a:off x="502920" y="4077784"/>
            <a:ext cx="42062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pic>
        <p:nvPicPr>
          <p:cNvPr id="6" name="Figura M_p114_0.png" descr="M_p114_0.png">    </p:cNvPr>
          <p:cNvPicPr>
            <a:picLocks noChangeAspect="1"/>
          </p:cNvPicPr>
          <p:nvPr/>
        </p:nvPicPr>
        <p:blipFill>
          <a:blip r:embed="rId2"/>
          <a:stretch>
            <a:fillRect/>
          </a:stretch>
        </p:blipFill>
        <p:spPr>
          <a:xfrm>
            <a:off x="5929798" y="1234440"/>
            <a:ext cx="4782485" cy="3840480"/>
          </a:xfrm>
          <a:prstGeom prst="rect">
            <a:avLst/>
          </a:prstGeom>
        </p:spPr>
      </p:pic>
      <p:sp>
        <p:nvSpPr>
          <p:cNvPr id="7" name="Text 2"/>
          <p:cNvSpPr txBox="1"/>
          <p:nvPr/>
        </p:nvSpPr>
        <p:spPr>
          <a:xfrm>
            <a:off x="4983480" y="5129784"/>
            <a:ext cx="4782485"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8" name="Text 3"/>
          <p:cNvSpPr txBox="1"/>
          <p:nvPr/>
        </p:nvSpPr>
        <p:spPr>
          <a:xfrm>
            <a:off x="502920" y="5669280"/>
            <a:ext cx="11201400" cy="548640"/>
          </a:xfrm>
          <a:prstGeom prst="rect">
            <a:avLst/>
          </a:prstGeom>
          <a:noFill/>
          <a:ln/>
        </p:spPr>
        <p:txBody>
          <a:bodyPr wrap="square" lIns="25400" tIns="25400" rIns="50800" bIns="25400" rtlCol="0" anchor="t"/>
          <a:lstStyle/>
          <a:p>
            <a:pPr marL="203200" indent="-203200">
              <a:spcAft>
                <a:spcPts val="600"/>
              </a:spcAft>
              <a:buSzPct val="100000"/>
              <a:buChar char="•"/>
            </a:pPr>
            <a:r>
              <a:rPr lang="en-US" sz="1500" dirty="0">
                <a:solidFill>
                  <a:schemeClr val="tx1"/>
                </a:solidFill>
              </a:rPr>
              <a:t>Tras cambiar un faro o un sensor de altura, la regulación automática se calibra con el equipo de diagnosis.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2" type="body" hasCustomPrompt="1"/>
          </p:nvPr>
        </p:nvSpPr>
        <p:spPr>
          <a:xfrm>
            <a:off x="731520" y="1463040"/>
            <a:ext cx="4114800" cy="1463040"/>
          </a:xfrm>
          <a:prstGeom prst="rect">
            <a:avLst/>
          </a:prstGeom>
          <a:noFill/>
          <a:ln/>
        </p:spPr>
        <p:txBody>
          <a:bodyPr wrap="square" rtlCol="0" anchor="b"/>
          <a:lstStyle/>
          <a:p>
            <a:pPr algn="l" indent="0" marL="0">
              <a:buNone/>
            </a:pPr>
            <a:r>
              <a:rPr lang="en-US" sz="8000" b="1" dirty="0">
                <a:solidFill>
                  <a:schemeClr val="accent2"/>
                </a:solidFill>
              </a:rPr>
              <a:t>4.13</a:t>
            </a:r>
            <a:endParaRPr lang="en-US" sz="8000" dirty="0"/>
          </a:p>
        </p:txBody>
      </p:sp>
      <p:sp>
        <p:nvSpPr>
          <p:cNvPr id="3" name="Text 1"/>
          <p:cNvSpPr/>
          <p:nvPr>
            <p:ph idx="103" type="title" hasCustomPrompt="1"/>
          </p:nvPr>
        </p:nvSpPr>
        <p:spPr>
          <a:xfrm>
            <a:off x="731520" y="2971800"/>
            <a:ext cx="10515600" cy="1371600"/>
          </a:xfrm>
          <a:prstGeom prst="rect">
            <a:avLst/>
          </a:prstGeom>
          <a:noFill/>
          <a:ln/>
        </p:spPr>
        <p:txBody>
          <a:bodyPr wrap="square" rtlCol="0" anchor="t"/>
          <a:lstStyle/>
          <a:p>
            <a:pPr algn="l" indent="0" marL="0">
              <a:buNone/>
            </a:pPr>
            <a:r>
              <a:rPr lang="en-US" sz="4000" b="1" dirty="0">
                <a:solidFill>
                  <a:schemeClr val="bg1"/>
                </a:solidFill>
              </a:rPr>
              <a:t>Práctica en taller</a:t>
            </a:r>
            <a:endParaRPr lang="en-US" sz="4000" dirty="0"/>
          </a:p>
        </p:txBody>
      </p:sp>
      <p:sp>
        <p:nvSpPr>
          <p:cNvPr id="4" name="Text 1"/>
          <p:cNvSpPr/>
          <p:nvPr>
            <p:ph idx="104" type="body" hasCustomPrompt="1"/>
          </p:nvPr>
        </p:nvSpPr>
        <p:spPr>
          <a:xfrm>
            <a:off x="731520" y="4434840"/>
            <a:ext cx="10058400" cy="1463040"/>
          </a:xfrm>
          <a:prstGeom prst="rect">
            <a:avLst/>
          </a:prstGeom>
          <a:noFill/>
          <a:ln/>
        </p:spPr>
        <p:txBody>
          <a:bodyPr wrap="square" rtlCol="0" anchor="t"/>
          <a:lstStyle/>
          <a:p>
            <a:pPr algn="l" indent="0" marL="0">
              <a:buNone/>
            </a:pPr>
            <a:r>
              <a:rPr lang="en-US" sz="1800" dirty="0">
                <a:solidFill>
                  <a:schemeClr val="bg2"/>
                </a:solidFill>
              </a:rPr>
              <a:t>4.12.1 Regulación del haz · 4.12.2 Intensidad de luz · 4.12.3 Regulación manual y automática del alcance</a:t>
            </a:r>
            <a:endParaRPr lang="en-US" sz="1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Preparación del vehículo</a:t>
            </a:r>
            <a:endParaRPr lang="en-US" sz="2800" dirty="0"/>
          </a:p>
        </p:txBody>
      </p:sp>
      <p:sp>
        <p:nvSpPr>
          <p:cNvPr id="4" name="Shape 1"/>
          <p:cNvSpPr/>
          <p:nvPr/>
        </p:nvSpPr>
        <p:spPr>
          <a:xfrm>
            <a:off x="1239012" y="1463040"/>
            <a:ext cx="777240" cy="777240"/>
          </a:xfrm>
          <a:prstGeom prst="ellipse">
            <a:avLst/>
          </a:prstGeom>
          <a:solidFill>
            <a:srgbClr val="007578"/>
          </a:solidFill>
          <a:ln w="12700">
            <a:solidFill>
              <a:srgbClr val="007578"/>
            </a:solidFill>
            <a:prstDash val="solid"/>
          </a:ln>
        </p:spPr>
      </p:sp>
      <p:sp>
        <p:nvSpPr>
          <p:cNvPr id="5" name="Text 2"/>
          <p:cNvSpPr txBox="1"/>
          <p:nvPr/>
        </p:nvSpPr>
        <p:spPr>
          <a:xfrm>
            <a:off x="1239012" y="146304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6" name="Shape 3"/>
          <p:cNvSpPr/>
          <p:nvPr/>
        </p:nvSpPr>
        <p:spPr>
          <a:xfrm>
            <a:off x="2080260" y="1847088"/>
            <a:ext cx="1325880" cy="0"/>
          </a:xfrm>
          <a:prstGeom prst="line">
            <a:avLst/>
          </a:prstGeom>
          <a:noFill/>
          <a:ln w="19050">
            <a:solidFill>
              <a:srgbClr val="5B6770"/>
            </a:solidFill>
            <a:prstDash val="solid"/>
            <a:tailEnd type="triangle"/>
          </a:ln>
        </p:spPr>
      </p:sp>
      <p:sp>
        <p:nvSpPr>
          <p:cNvPr id="7" name="Text 4"/>
          <p:cNvSpPr txBox="1"/>
          <p:nvPr/>
        </p:nvSpPr>
        <p:spPr>
          <a:xfrm>
            <a:off x="548640" y="2377440"/>
            <a:ext cx="2148840" cy="685800"/>
          </a:xfrm>
          <a:prstGeom prst="rect">
            <a:avLst/>
          </a:prstGeom>
          <a:noFill/>
          <a:ln/>
        </p:spPr>
        <p:txBody>
          <a:bodyPr wrap="square" lIns="0" tIns="0" rIns="0" bIns="0" rtlCol="0" anchor="t"/>
          <a:lstStyle/>
          <a:p>
            <a:pPr algn="ctr" indent="0" marL="0">
              <a:buNone/>
            </a:pPr>
            <a:r>
              <a:rPr lang="en-US" sz="1600" b="1" dirty="0">
                <a:solidFill>
                  <a:srgbClr val="00575A"/>
                </a:solidFill>
              </a:rPr>
              <a:t>Neumáticos</a:t>
            </a:r>
            <a:endParaRPr lang="en-US" sz="1600" dirty="0"/>
          </a:p>
        </p:txBody>
      </p:sp>
      <p:sp>
        <p:nvSpPr>
          <p:cNvPr id="8" name="Text 5"/>
          <p:cNvSpPr txBox="1"/>
          <p:nvPr/>
        </p:nvSpPr>
        <p:spPr>
          <a:xfrm>
            <a:off x="548640" y="3063240"/>
            <a:ext cx="2148840" cy="1737360"/>
          </a:xfrm>
          <a:prstGeom prst="rect">
            <a:avLst/>
          </a:prstGeom>
          <a:noFill/>
          <a:ln/>
        </p:spPr>
        <p:txBody>
          <a:bodyPr wrap="square" lIns="0" tIns="0" rIns="0" bIns="0" rtlCol="0" anchor="t"/>
          <a:lstStyle/>
          <a:p>
            <a:pPr algn="ctr" indent="0" marL="0">
              <a:buNone/>
            </a:pPr>
            <a:r>
              <a:rPr lang="en-US" sz="1400" dirty="0">
                <a:solidFill>
                  <a:srgbClr val="1B2A33"/>
                </a:solidFill>
              </a:rPr>
              <a:t>Presión especificada por el fabricante.</a:t>
            </a:r>
            <a:endParaRPr lang="en-US" sz="1400" dirty="0"/>
          </a:p>
        </p:txBody>
      </p:sp>
      <p:sp>
        <p:nvSpPr>
          <p:cNvPr id="9" name="Shape 6"/>
          <p:cNvSpPr/>
          <p:nvPr/>
        </p:nvSpPr>
        <p:spPr>
          <a:xfrm>
            <a:off x="3479292" y="1463040"/>
            <a:ext cx="777240" cy="777240"/>
          </a:xfrm>
          <a:prstGeom prst="ellipse">
            <a:avLst/>
          </a:prstGeom>
          <a:solidFill>
            <a:srgbClr val="007578"/>
          </a:solidFill>
          <a:ln w="12700">
            <a:solidFill>
              <a:srgbClr val="007578"/>
            </a:solidFill>
            <a:prstDash val="solid"/>
          </a:ln>
        </p:spPr>
      </p:sp>
      <p:sp>
        <p:nvSpPr>
          <p:cNvPr id="10" name="Text 7"/>
          <p:cNvSpPr txBox="1"/>
          <p:nvPr/>
        </p:nvSpPr>
        <p:spPr>
          <a:xfrm>
            <a:off x="3479292" y="146304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1" name="Shape 8"/>
          <p:cNvSpPr/>
          <p:nvPr/>
        </p:nvSpPr>
        <p:spPr>
          <a:xfrm>
            <a:off x="4320540" y="1847088"/>
            <a:ext cx="1325880" cy="0"/>
          </a:xfrm>
          <a:prstGeom prst="line">
            <a:avLst/>
          </a:prstGeom>
          <a:noFill/>
          <a:ln w="19050">
            <a:solidFill>
              <a:srgbClr val="5B6770"/>
            </a:solidFill>
            <a:prstDash val="solid"/>
            <a:tailEnd type="triangle"/>
          </a:ln>
        </p:spPr>
      </p:sp>
      <p:sp>
        <p:nvSpPr>
          <p:cNvPr id="12" name="Text 9"/>
          <p:cNvSpPr txBox="1"/>
          <p:nvPr/>
        </p:nvSpPr>
        <p:spPr>
          <a:xfrm>
            <a:off x="2788920" y="2377440"/>
            <a:ext cx="2148840" cy="685800"/>
          </a:xfrm>
          <a:prstGeom prst="rect">
            <a:avLst/>
          </a:prstGeom>
          <a:noFill/>
          <a:ln/>
        </p:spPr>
        <p:txBody>
          <a:bodyPr wrap="square" lIns="0" tIns="0" rIns="0" bIns="0" rtlCol="0" anchor="t"/>
          <a:lstStyle/>
          <a:p>
            <a:pPr algn="ctr" indent="0" marL="0">
              <a:buNone/>
            </a:pPr>
            <a:r>
              <a:rPr lang="en-US" sz="1600" b="1" dirty="0">
                <a:solidFill>
                  <a:srgbClr val="00575A"/>
                </a:solidFill>
              </a:rPr>
              <a:t>Carga</a:t>
            </a:r>
            <a:endParaRPr lang="en-US" sz="1600" dirty="0"/>
          </a:p>
        </p:txBody>
      </p:sp>
      <p:sp>
        <p:nvSpPr>
          <p:cNvPr id="13" name="Text 10"/>
          <p:cNvSpPr txBox="1"/>
          <p:nvPr/>
        </p:nvSpPr>
        <p:spPr>
          <a:xfrm>
            <a:off x="2788920" y="3063240"/>
            <a:ext cx="2148840" cy="1737360"/>
          </a:xfrm>
          <a:prstGeom prst="rect">
            <a:avLst/>
          </a:prstGeom>
          <a:noFill/>
          <a:ln/>
        </p:spPr>
        <p:txBody>
          <a:bodyPr wrap="square" lIns="0" tIns="0" rIns="0" bIns="0" rtlCol="0" anchor="t"/>
          <a:lstStyle/>
          <a:p>
            <a:pPr algn="ctr" indent="0" marL="0">
              <a:buNone/>
            </a:pPr>
            <a:r>
              <a:rPr lang="en-US" sz="1400" dirty="0">
                <a:solidFill>
                  <a:srgbClr val="1B2A33"/>
                </a:solidFill>
              </a:rPr>
              <a:t>Depósito lleno; conductor o carga equivalente en su asiento.</a:t>
            </a:r>
            <a:endParaRPr lang="en-US" sz="1400" dirty="0"/>
          </a:p>
        </p:txBody>
      </p:sp>
      <p:sp>
        <p:nvSpPr>
          <p:cNvPr id="14" name="Shape 11"/>
          <p:cNvSpPr/>
          <p:nvPr/>
        </p:nvSpPr>
        <p:spPr>
          <a:xfrm>
            <a:off x="5719572" y="1463040"/>
            <a:ext cx="777240" cy="777240"/>
          </a:xfrm>
          <a:prstGeom prst="ellipse">
            <a:avLst/>
          </a:prstGeom>
          <a:solidFill>
            <a:srgbClr val="007578"/>
          </a:solidFill>
          <a:ln w="12700">
            <a:solidFill>
              <a:srgbClr val="007578"/>
            </a:solidFill>
            <a:prstDash val="solid"/>
          </a:ln>
        </p:spPr>
      </p:sp>
      <p:sp>
        <p:nvSpPr>
          <p:cNvPr id="15" name="Text 12"/>
          <p:cNvSpPr txBox="1"/>
          <p:nvPr/>
        </p:nvSpPr>
        <p:spPr>
          <a:xfrm>
            <a:off x="5719572" y="146304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16" name="Shape 13"/>
          <p:cNvSpPr/>
          <p:nvPr/>
        </p:nvSpPr>
        <p:spPr>
          <a:xfrm>
            <a:off x="6560820" y="1847088"/>
            <a:ext cx="1325880" cy="0"/>
          </a:xfrm>
          <a:prstGeom prst="line">
            <a:avLst/>
          </a:prstGeom>
          <a:noFill/>
          <a:ln w="19050">
            <a:solidFill>
              <a:srgbClr val="5B6770"/>
            </a:solidFill>
            <a:prstDash val="solid"/>
            <a:tailEnd type="triangle"/>
          </a:ln>
        </p:spPr>
      </p:sp>
      <p:sp>
        <p:nvSpPr>
          <p:cNvPr id="17" name="Text 14"/>
          <p:cNvSpPr txBox="1"/>
          <p:nvPr/>
        </p:nvSpPr>
        <p:spPr>
          <a:xfrm>
            <a:off x="5029200" y="2377440"/>
            <a:ext cx="2148840" cy="685800"/>
          </a:xfrm>
          <a:prstGeom prst="rect">
            <a:avLst/>
          </a:prstGeom>
          <a:noFill/>
          <a:ln/>
        </p:spPr>
        <p:txBody>
          <a:bodyPr wrap="square" lIns="0" tIns="0" rIns="0" bIns="0" rtlCol="0" anchor="t"/>
          <a:lstStyle/>
          <a:p>
            <a:pPr algn="ctr" indent="0" marL="0">
              <a:buNone/>
            </a:pPr>
            <a:r>
              <a:rPr lang="en-US" sz="1600" b="1" dirty="0">
                <a:solidFill>
                  <a:srgbClr val="00575A"/>
                </a:solidFill>
              </a:rPr>
              <a:t>Corrector</a:t>
            </a:r>
            <a:endParaRPr lang="en-US" sz="1600" dirty="0"/>
          </a:p>
        </p:txBody>
      </p:sp>
      <p:sp>
        <p:nvSpPr>
          <p:cNvPr id="18" name="Text 15"/>
          <p:cNvSpPr txBox="1"/>
          <p:nvPr/>
        </p:nvSpPr>
        <p:spPr>
          <a:xfrm>
            <a:off x="5029200" y="3063240"/>
            <a:ext cx="2148840" cy="1737360"/>
          </a:xfrm>
          <a:prstGeom prst="rect">
            <a:avLst/>
          </a:prstGeom>
          <a:noFill/>
          <a:ln/>
        </p:spPr>
        <p:txBody>
          <a:bodyPr wrap="square" lIns="0" tIns="0" rIns="0" bIns="0" rtlCol="0" anchor="t"/>
          <a:lstStyle/>
          <a:p>
            <a:pPr algn="ctr" indent="0" marL="0">
              <a:buNone/>
            </a:pPr>
            <a:r>
              <a:rPr lang="en-US" sz="1400" dirty="0">
                <a:solidFill>
                  <a:srgbClr val="1B2A33"/>
                </a:solidFill>
              </a:rPr>
              <a:t>Mando de altura en «0».</a:t>
            </a:r>
            <a:endParaRPr lang="en-US" sz="1400" dirty="0"/>
          </a:p>
        </p:txBody>
      </p:sp>
      <p:sp>
        <p:nvSpPr>
          <p:cNvPr id="19" name="Shape 16"/>
          <p:cNvSpPr/>
          <p:nvPr/>
        </p:nvSpPr>
        <p:spPr>
          <a:xfrm>
            <a:off x="7959852" y="1463040"/>
            <a:ext cx="777240" cy="777240"/>
          </a:xfrm>
          <a:prstGeom prst="ellipse">
            <a:avLst/>
          </a:prstGeom>
          <a:solidFill>
            <a:srgbClr val="007578"/>
          </a:solidFill>
          <a:ln w="12700">
            <a:solidFill>
              <a:srgbClr val="007578"/>
            </a:solidFill>
            <a:prstDash val="solid"/>
          </a:ln>
        </p:spPr>
      </p:sp>
      <p:sp>
        <p:nvSpPr>
          <p:cNvPr id="20" name="Text 17"/>
          <p:cNvSpPr txBox="1"/>
          <p:nvPr/>
        </p:nvSpPr>
        <p:spPr>
          <a:xfrm>
            <a:off x="7959852" y="146304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rPr>
              <a:t>4</a:t>
            </a:r>
            <a:endParaRPr lang="en-US" sz="2200" dirty="0"/>
          </a:p>
        </p:txBody>
      </p:sp>
      <p:sp>
        <p:nvSpPr>
          <p:cNvPr id="21" name="Shape 18"/>
          <p:cNvSpPr/>
          <p:nvPr/>
        </p:nvSpPr>
        <p:spPr>
          <a:xfrm>
            <a:off x="8801100" y="1847088"/>
            <a:ext cx="1325880" cy="0"/>
          </a:xfrm>
          <a:prstGeom prst="line">
            <a:avLst/>
          </a:prstGeom>
          <a:noFill/>
          <a:ln w="19050">
            <a:solidFill>
              <a:srgbClr val="5B6770"/>
            </a:solidFill>
            <a:prstDash val="solid"/>
            <a:tailEnd type="triangle"/>
          </a:ln>
        </p:spPr>
      </p:sp>
      <p:sp>
        <p:nvSpPr>
          <p:cNvPr id="22" name="Text 19"/>
          <p:cNvSpPr txBox="1"/>
          <p:nvPr/>
        </p:nvSpPr>
        <p:spPr>
          <a:xfrm>
            <a:off x="7269480" y="2377440"/>
            <a:ext cx="2148840" cy="685800"/>
          </a:xfrm>
          <a:prstGeom prst="rect">
            <a:avLst/>
          </a:prstGeom>
          <a:noFill/>
          <a:ln/>
        </p:spPr>
        <p:txBody>
          <a:bodyPr wrap="square" lIns="0" tIns="0" rIns="0" bIns="0" rtlCol="0" anchor="t"/>
          <a:lstStyle/>
          <a:p>
            <a:pPr algn="ctr" indent="0" marL="0">
              <a:buNone/>
            </a:pPr>
            <a:r>
              <a:rPr lang="en-US" sz="1600" b="1" dirty="0">
                <a:solidFill>
                  <a:srgbClr val="00575A"/>
                </a:solidFill>
              </a:rPr>
              <a:t>Faros</a:t>
            </a:r>
            <a:endParaRPr lang="en-US" sz="1600" dirty="0"/>
          </a:p>
        </p:txBody>
      </p:sp>
      <p:sp>
        <p:nvSpPr>
          <p:cNvPr id="23" name="Text 20"/>
          <p:cNvSpPr txBox="1"/>
          <p:nvPr/>
        </p:nvSpPr>
        <p:spPr>
          <a:xfrm>
            <a:off x="7269480" y="3063240"/>
            <a:ext cx="2148840" cy="1737360"/>
          </a:xfrm>
          <a:prstGeom prst="rect">
            <a:avLst/>
          </a:prstGeom>
          <a:noFill/>
          <a:ln/>
        </p:spPr>
        <p:txBody>
          <a:bodyPr wrap="square" lIns="0" tIns="0" rIns="0" bIns="0" rtlCol="0" anchor="t"/>
          <a:lstStyle/>
          <a:p>
            <a:pPr algn="ctr" indent="0" marL="0">
              <a:buNone/>
            </a:pPr>
            <a:r>
              <a:rPr lang="en-US" sz="1400" dirty="0">
                <a:solidFill>
                  <a:srgbClr val="1B2A33"/>
                </a:solidFill>
              </a:rPr>
              <a:t>Limpios; lámparas correctas y bien asentadas.</a:t>
            </a:r>
            <a:endParaRPr lang="en-US" sz="1400" dirty="0"/>
          </a:p>
        </p:txBody>
      </p:sp>
      <p:sp>
        <p:nvSpPr>
          <p:cNvPr id="24" name="Shape 21"/>
          <p:cNvSpPr/>
          <p:nvPr/>
        </p:nvSpPr>
        <p:spPr>
          <a:xfrm>
            <a:off x="10200132" y="1463040"/>
            <a:ext cx="777240" cy="777240"/>
          </a:xfrm>
          <a:prstGeom prst="ellipse">
            <a:avLst/>
          </a:prstGeom>
          <a:solidFill>
            <a:srgbClr val="F2A516"/>
          </a:solidFill>
          <a:ln w="12700">
            <a:solidFill>
              <a:srgbClr val="F2A516"/>
            </a:solidFill>
            <a:prstDash val="solid"/>
          </a:ln>
        </p:spPr>
      </p:sp>
      <p:sp>
        <p:nvSpPr>
          <p:cNvPr id="25" name="Text 22"/>
          <p:cNvSpPr txBox="1"/>
          <p:nvPr/>
        </p:nvSpPr>
        <p:spPr>
          <a:xfrm>
            <a:off x="10200132" y="1463040"/>
            <a:ext cx="777240" cy="777240"/>
          </a:xfrm>
          <a:prstGeom prst="rect">
            <a:avLst/>
          </a:prstGeom>
          <a:noFill/>
          <a:ln/>
        </p:spPr>
        <p:txBody>
          <a:bodyPr wrap="square" lIns="0" tIns="0" rIns="0" bIns="0" rtlCol="0" anchor="ctr"/>
          <a:lstStyle/>
          <a:p>
            <a:pPr algn="ctr" indent="0" marL="0">
              <a:buNone/>
            </a:pPr>
            <a:r>
              <a:rPr lang="en-US" sz="2200" b="1" dirty="0">
                <a:solidFill>
                  <a:srgbClr val="1B2A33"/>
                </a:solidFill>
              </a:rPr>
              <a:t>5</a:t>
            </a:r>
            <a:endParaRPr lang="en-US" sz="2200" dirty="0"/>
          </a:p>
        </p:txBody>
      </p:sp>
      <p:sp>
        <p:nvSpPr>
          <p:cNvPr id="26" name="Text 23"/>
          <p:cNvSpPr txBox="1"/>
          <p:nvPr/>
        </p:nvSpPr>
        <p:spPr>
          <a:xfrm>
            <a:off x="9509760" y="2377440"/>
            <a:ext cx="2148840" cy="685800"/>
          </a:xfrm>
          <a:prstGeom prst="rect">
            <a:avLst/>
          </a:prstGeom>
          <a:noFill/>
          <a:ln/>
        </p:spPr>
        <p:txBody>
          <a:bodyPr wrap="square" lIns="0" tIns="0" rIns="0" bIns="0" rtlCol="0" anchor="t"/>
          <a:lstStyle/>
          <a:p>
            <a:pPr algn="ctr" indent="0" marL="0">
              <a:buNone/>
            </a:pPr>
            <a:r>
              <a:rPr lang="en-US" sz="1600" b="1" dirty="0">
                <a:solidFill>
                  <a:srgbClr val="00575A"/>
                </a:solidFill>
              </a:rPr>
              <a:t>Superficie</a:t>
            </a:r>
            <a:endParaRPr lang="en-US" sz="1600" dirty="0"/>
          </a:p>
        </p:txBody>
      </p:sp>
      <p:sp>
        <p:nvSpPr>
          <p:cNvPr id="27" name="Text 24"/>
          <p:cNvSpPr txBox="1"/>
          <p:nvPr/>
        </p:nvSpPr>
        <p:spPr>
          <a:xfrm>
            <a:off x="9509760" y="3063240"/>
            <a:ext cx="2148840" cy="1737360"/>
          </a:xfrm>
          <a:prstGeom prst="rect">
            <a:avLst/>
          </a:prstGeom>
          <a:noFill/>
          <a:ln/>
        </p:spPr>
        <p:txBody>
          <a:bodyPr wrap="square" lIns="0" tIns="0" rIns="0" bIns="0" rtlCol="0" anchor="t"/>
          <a:lstStyle/>
          <a:p>
            <a:pPr algn="ctr" indent="0" marL="0">
              <a:buNone/>
            </a:pPr>
            <a:r>
              <a:rPr lang="en-US" sz="1400" dirty="0">
                <a:solidFill>
                  <a:srgbClr val="1B2A33"/>
                </a:solidFill>
              </a:rPr>
              <a:t>Plana y nivelada; vehículo alineado con la pantalla o el regloscopio.</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4.12.1 Regulación sin regloscopio (pantalla a 10 m)</a:t>
            </a:r>
            <a:endParaRPr lang="en-US" sz="2800" dirty="0"/>
          </a:p>
        </p:txBody>
      </p:sp>
      <p:pic>
        <p:nvPicPr>
          <p:cNvPr id="4" name="Figura ll_lineas.jpg" descr="ll_lineas.jpg">    </p:cNvPr>
          <p:cNvPicPr>
            <a:picLocks noChangeAspect="1"/>
          </p:cNvPicPr>
          <p:nvPr/>
        </p:nvPicPr>
        <p:blipFill>
          <a:blip r:embed="rId1"/>
          <a:stretch>
            <a:fillRect/>
          </a:stretch>
        </p:blipFill>
        <p:spPr>
          <a:xfrm>
            <a:off x="729641" y="1234440"/>
            <a:ext cx="3569918" cy="2743200"/>
          </a:xfrm>
          <a:prstGeom prst="rect">
            <a:avLst/>
          </a:prstGeom>
        </p:spPr>
      </p:pic>
      <p:sp>
        <p:nvSpPr>
          <p:cNvPr id="5" name="Text 1"/>
          <p:cNvSpPr txBox="1"/>
          <p:nvPr/>
        </p:nvSpPr>
        <p:spPr>
          <a:xfrm>
            <a:off x="548640" y="4032504"/>
            <a:ext cx="40233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6" name="Figura ll_sinreglo.jpg" descr="ll_sinreglo.jpg">    </p:cNvPr>
          <p:cNvPicPr>
            <a:picLocks noChangeAspect="1"/>
          </p:cNvPicPr>
          <p:nvPr/>
        </p:nvPicPr>
        <p:blipFill>
          <a:blip r:embed="rId2"/>
          <a:stretch>
            <a:fillRect/>
          </a:stretch>
        </p:blipFill>
        <p:spPr>
          <a:xfrm>
            <a:off x="4871949" y="1234440"/>
            <a:ext cx="3789221" cy="2011680"/>
          </a:xfrm>
          <a:prstGeom prst="rect">
            <a:avLst/>
          </a:prstGeom>
        </p:spPr>
      </p:pic>
      <p:sp>
        <p:nvSpPr>
          <p:cNvPr id="7" name="Text 2"/>
          <p:cNvSpPr txBox="1"/>
          <p:nvPr/>
        </p:nvSpPr>
        <p:spPr>
          <a:xfrm>
            <a:off x="4800600" y="3300984"/>
            <a:ext cx="40233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8" name="Figura M_p101_1.png" descr="M_p101_1.png">    </p:cNvPr>
          <p:cNvPicPr>
            <a:picLocks noChangeAspect="1"/>
          </p:cNvPicPr>
          <p:nvPr/>
        </p:nvPicPr>
        <p:blipFill>
          <a:blip r:embed="rId3"/>
          <a:stretch>
            <a:fillRect/>
          </a:stretch>
        </p:blipFill>
        <p:spPr>
          <a:xfrm>
            <a:off x="9226071" y="1234440"/>
            <a:ext cx="2259018" cy="2011680"/>
          </a:xfrm>
          <a:prstGeom prst="rect">
            <a:avLst/>
          </a:prstGeom>
        </p:spPr>
      </p:pic>
      <p:sp>
        <p:nvSpPr>
          <p:cNvPr id="9" name="Text 3"/>
          <p:cNvSpPr txBox="1"/>
          <p:nvPr/>
        </p:nvSpPr>
        <p:spPr>
          <a:xfrm>
            <a:off x="9052560" y="3300984"/>
            <a:ext cx="269748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10" name="Text 4"/>
          <p:cNvSpPr txBox="1"/>
          <p:nvPr/>
        </p:nvSpPr>
        <p:spPr>
          <a:xfrm>
            <a:off x="4754880" y="3886200"/>
            <a:ext cx="6949440" cy="2286000"/>
          </a:xfrm>
          <a:prstGeom prst="rect">
            <a:avLst/>
          </a:prstGeom>
          <a:noFill/>
          <a:ln/>
        </p:spPr>
        <p:txBody>
          <a:bodyPr wrap="square" lIns="25400" tIns="25400" rIns="50800" bIns="25400" rtlCol="0" anchor="t"/>
          <a:lstStyle/>
          <a:p>
            <a:pPr marL="203200" indent="-203200">
              <a:spcAft>
                <a:spcPts val="600"/>
              </a:spcAft>
              <a:buSzPct val="100000"/>
              <a:buChar char="•"/>
            </a:pPr>
            <a:r>
              <a:rPr lang="en-US" sz="1500" dirty="0">
                <a:solidFill>
                  <a:schemeClr val="tx1"/>
                </a:solidFill>
              </a:rPr>
              <a:t>Faros a 10 m de una superficie opaca y lisa; dibujar a, b, c y d.</a:t>
            </a:r>
            <a:endParaRPr lang="en-US" sz="1500" dirty="0"/>
          </a:p>
          <a:p>
            <a:pPr marL="203200" indent="-203200">
              <a:spcAft>
                <a:spcPts val="600"/>
              </a:spcAft>
              <a:buSzPct val="100000"/>
              <a:buChar char="•"/>
            </a:pPr>
            <a:r>
              <a:rPr lang="en-US" sz="1500" dirty="0">
                <a:solidFill>
                  <a:schemeClr val="tx1"/>
                </a:solidFill>
              </a:rPr>
              <a:t>Encender el cruce: la línea de claro-oscuro debe coincidir con d.</a:t>
            </a:r>
            <a:endParaRPr lang="en-US" sz="1500" dirty="0"/>
          </a:p>
          <a:p>
            <a:pPr marL="203200" indent="-203200">
              <a:spcAft>
                <a:spcPts val="600"/>
              </a:spcAft>
              <a:buSzPct val="100000"/>
              <a:buChar char="•"/>
            </a:pPr>
            <a:r>
              <a:rPr lang="en-US" sz="1500" dirty="0">
                <a:solidFill>
                  <a:schemeClr val="tx1"/>
                </a:solidFill>
              </a:rPr>
              <a:t>El punto de quiebre (inicio del ascenso de 15°) debe caer sobre b.</a:t>
            </a:r>
            <a:endParaRPr lang="en-US" sz="1500" dirty="0"/>
          </a:p>
          <a:p>
            <a:pPr marL="203200" indent="-203200">
              <a:spcAft>
                <a:spcPts val="600"/>
              </a:spcAft>
              <a:buSzPct val="100000"/>
              <a:buChar char="•"/>
            </a:pPr>
            <a:r>
              <a:rPr lang="en-US" sz="1500" dirty="0">
                <a:solidFill>
                  <a:schemeClr val="tx1"/>
                </a:solidFill>
              </a:rPr>
              <a:t>Actuar sobre los tornillos de reglaje vertical y horizontal (1 y 2).</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4.12.1 Regulación con regloscopio</a:t>
            </a:r>
            <a:endParaRPr lang="en-US" sz="2800" dirty="0"/>
          </a:p>
        </p:txBody>
      </p:sp>
      <p:pic>
        <p:nvPicPr>
          <p:cNvPr id="4" name="Figura M_p100_0.png" descr="M_p100_0.png">    </p:cNvPr>
          <p:cNvPicPr>
            <a:picLocks noChangeAspect="1"/>
          </p:cNvPicPr>
          <p:nvPr/>
        </p:nvPicPr>
        <p:blipFill>
          <a:blip r:embed="rId1"/>
          <a:stretch>
            <a:fillRect/>
          </a:stretch>
        </p:blipFill>
        <p:spPr>
          <a:xfrm>
            <a:off x="622521" y="1234440"/>
            <a:ext cx="2503997" cy="3291840"/>
          </a:xfrm>
          <a:prstGeom prst="rect">
            <a:avLst/>
          </a:prstGeom>
        </p:spPr>
      </p:pic>
      <p:sp>
        <p:nvSpPr>
          <p:cNvPr id="5" name="Text 1"/>
          <p:cNvSpPr txBox="1"/>
          <p:nvPr/>
        </p:nvSpPr>
        <p:spPr>
          <a:xfrm>
            <a:off x="548640" y="4581144"/>
            <a:ext cx="27432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pic>
        <p:nvPicPr>
          <p:cNvPr id="6" name="Figura ll_regloscope.jpg" descr="ll_regloscope.jpg">    </p:cNvPr>
          <p:cNvPicPr>
            <a:picLocks noChangeAspect="1"/>
          </p:cNvPicPr>
          <p:nvPr/>
        </p:nvPicPr>
        <p:blipFill>
          <a:blip r:embed="rId2"/>
          <a:stretch>
            <a:fillRect/>
          </a:stretch>
        </p:blipFill>
        <p:spPr>
          <a:xfrm>
            <a:off x="3735791" y="1234440"/>
            <a:ext cx="3501218" cy="1828800"/>
          </a:xfrm>
          <a:prstGeom prst="rect">
            <a:avLst/>
          </a:prstGeom>
        </p:spPr>
      </p:pic>
      <p:sp>
        <p:nvSpPr>
          <p:cNvPr id="7" name="Text 2"/>
          <p:cNvSpPr txBox="1"/>
          <p:nvPr/>
        </p:nvSpPr>
        <p:spPr>
          <a:xfrm>
            <a:off x="3520440" y="3118104"/>
            <a:ext cx="40233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8" name="Figura ll_pantalla.jpg" descr="ll_pantalla.jpg">    </p:cNvPr>
          <p:cNvPicPr>
            <a:picLocks noChangeAspect="1"/>
          </p:cNvPicPr>
          <p:nvPr/>
        </p:nvPicPr>
        <p:blipFill>
          <a:blip r:embed="rId3"/>
          <a:stretch>
            <a:fillRect/>
          </a:stretch>
        </p:blipFill>
        <p:spPr>
          <a:xfrm>
            <a:off x="7726680" y="1356322"/>
            <a:ext cx="3977640" cy="1585037"/>
          </a:xfrm>
          <a:prstGeom prst="rect">
            <a:avLst/>
          </a:prstGeom>
        </p:spPr>
      </p:pic>
      <p:sp>
        <p:nvSpPr>
          <p:cNvPr id="9" name="Text 3"/>
          <p:cNvSpPr txBox="1"/>
          <p:nvPr/>
        </p:nvSpPr>
        <p:spPr>
          <a:xfrm>
            <a:off x="7726680" y="2996222"/>
            <a:ext cx="39776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sp>
        <p:nvSpPr>
          <p:cNvPr id="10" name="Text 4"/>
          <p:cNvSpPr txBox="1"/>
          <p:nvPr/>
        </p:nvSpPr>
        <p:spPr>
          <a:xfrm>
            <a:off x="3474720" y="3749040"/>
            <a:ext cx="8229600" cy="2468880"/>
          </a:xfrm>
          <a:prstGeom prst="rect">
            <a:avLst/>
          </a:prstGeom>
          <a:noFill/>
          <a:ln/>
        </p:spPr>
        <p:txBody>
          <a:bodyPr wrap="square" lIns="25400" tIns="25400" rIns="50800" bIns="25400" rtlCol="0" anchor="t"/>
          <a:lstStyle/>
          <a:p>
            <a:pPr marL="203200" indent="-203200">
              <a:spcAft>
                <a:spcPts val="600"/>
              </a:spcAft>
              <a:buSzPct val="100000"/>
              <a:buChar char="•"/>
            </a:pPr>
            <a:r>
              <a:rPr lang="en-US" sz="1500" dirty="0">
                <a:solidFill>
                  <a:schemeClr val="tx1"/>
                </a:solidFill>
              </a:rPr>
              <a:t>Centrar el regloscopio con el visor y ajustar su altura al centro del faro; lente a ≈ 30 cm del faro.</a:t>
            </a:r>
            <a:endParaRPr lang="en-US" sz="1500" dirty="0"/>
          </a:p>
          <a:p>
            <a:pPr marL="203200" indent="-203200">
              <a:spcAft>
                <a:spcPts val="600"/>
              </a:spcAft>
              <a:buSzPct val="100000"/>
              <a:buChar char="•"/>
            </a:pPr>
            <a:r>
              <a:rPr lang="en-US" sz="1500" dirty="0">
                <a:solidFill>
                  <a:schemeClr val="tx1"/>
                </a:solidFill>
              </a:rPr>
              <a:t>Encender el cruce y leer la línea de corte en la pantalla.</a:t>
            </a:r>
            <a:endParaRPr lang="en-US" sz="1500" dirty="0"/>
          </a:p>
          <a:p>
            <a:pPr marL="203200" indent="-203200">
              <a:spcAft>
                <a:spcPts val="600"/>
              </a:spcAft>
              <a:buSzPct val="100000"/>
              <a:buChar char="•"/>
            </a:pPr>
            <a:r>
              <a:rPr lang="en-US" sz="1500" dirty="0">
                <a:solidFill>
                  <a:schemeClr val="tx1"/>
                </a:solidFill>
              </a:rPr>
              <a:t>Si no coincide con el valor del fabricante (o −1 %), girar los tornillos de reglaje.</a:t>
            </a:r>
            <a:endParaRPr lang="en-US" sz="1500" dirty="0"/>
          </a:p>
          <a:p>
            <a:pPr marL="203200" indent="-203200">
              <a:spcAft>
                <a:spcPts val="600"/>
              </a:spcAft>
              <a:buSzPct val="100000"/>
              <a:buChar char="•"/>
            </a:pPr>
            <a:r>
              <a:rPr lang="en-US" sz="1500" dirty="0">
                <a:solidFill>
                  <a:schemeClr val="tx1"/>
                </a:solidFill>
              </a:rPr>
              <a:t>Comprobar después la carretera y las antiniebla.</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Defectos detectados con el regloscopio</a:t>
            </a:r>
            <a:endParaRPr lang="en-US" sz="2800" dirty="0"/>
          </a:p>
        </p:txBody>
      </p:sp>
      <p:pic>
        <p:nvPicPr>
          <p:cNvPr id="4" name="Figura ll_defecto.jpg" descr="ll_defecto.jpg">    </p:cNvPr>
          <p:cNvPicPr>
            <a:picLocks noChangeAspect="1"/>
          </p:cNvPicPr>
          <p:nvPr/>
        </p:nvPicPr>
        <p:blipFill>
          <a:blip r:embed="rId1"/>
          <a:stretch>
            <a:fillRect/>
          </a:stretch>
        </p:blipFill>
        <p:spPr>
          <a:xfrm>
            <a:off x="552015" y="1234440"/>
            <a:ext cx="5022449" cy="2011680"/>
          </a:xfrm>
          <a:prstGeom prst="rect">
            <a:avLst/>
          </a:prstGeom>
        </p:spPr>
      </p:pic>
      <p:sp>
        <p:nvSpPr>
          <p:cNvPr id="5" name="Text 1"/>
          <p:cNvSpPr txBox="1"/>
          <p:nvPr/>
        </p:nvSpPr>
        <p:spPr>
          <a:xfrm>
            <a:off x="548640" y="3300984"/>
            <a:ext cx="5022449"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852160" y="1234440"/>
          <a:ext cx="5852160" cy="914400"/>
        </p:xfrm>
        <a:graphic>
          <a:graphicData uri="http://schemas.openxmlformats.org/drawingml/2006/table">
            <a:tbl>
              <a:tblPr/>
              <a:tblGrid>
                <a:gridCol w="2834640"/>
                <a:gridCol w="3017520"/>
              </a:tblGrid>
              <a:tr h="548640">
                <a:tc>
                  <a:txBody>
                    <a:bodyPr/>
                    <a:lstStyle/>
                    <a:p>
                      <a:pPr indent="0" marL="0">
                        <a:buNone/>
                      </a:pPr>
                      <a:r>
                        <a:rPr lang="en-US" sz="1400" b="1" dirty="0">
                          <a:solidFill>
                            <a:srgbClr val="FFFFFF"/>
                          </a:solidFill>
                        </a:rPr>
                        <a:t>Imagen en pantalla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400" b="1" dirty="0">
                          <a:solidFill>
                            <a:srgbClr val="FFFFFF"/>
                          </a:solidFill>
                        </a:rPr>
                        <a:t>Causa probable</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r>
              <a:tr h="548640">
                <a:tc>
                  <a:txBody>
                    <a:bodyPr/>
                    <a:lstStyle/>
                    <a:p>
                      <a:pPr indent="0" marL="0">
                        <a:buNone/>
                      </a:pPr>
                      <a:r>
                        <a:rPr lang="en-US" sz="1400" dirty="0">
                          <a:solidFill>
                            <a:srgbClr val="1B2A33"/>
                          </a:solidFill>
                        </a:rPr>
                        <a:t>Corte en la posición correcta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Faro regulado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48640">
                <a:tc>
                  <a:txBody>
                    <a:bodyPr/>
                    <a:lstStyle/>
                    <a:p>
                      <a:pPr indent="0" marL="0">
                        <a:buNone/>
                      </a:pPr>
                      <a:r>
                        <a:rPr lang="en-US" sz="1400" dirty="0">
                          <a:solidFill>
                            <a:srgbClr val="1B2A33"/>
                          </a:solidFill>
                        </a:rPr>
                        <a:t>Corte desplazado en bloque</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Tornillos de reglaje o carga del vehículo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A33"/>
                          </a:solidFill>
                        </a:rPr>
                        <a:t>Corte deformado / doble</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Lámpara mal colocada en el portalámparas</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48640">
                <a:tc>
                  <a:txBody>
                    <a:bodyPr/>
                    <a:lstStyle/>
                    <a:p>
                      <a:pPr indent="0" marL="0">
                        <a:buNone/>
                      </a:pPr>
                      <a:r>
                        <a:rPr lang="en-US" sz="1400" dirty="0">
                          <a:solidFill>
                            <a:srgbClr val="1B2A33"/>
                          </a:solidFill>
                        </a:rPr>
                        <a:t>Mancha difusa, poca intensidad</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Lámpara envejecida o reflector opaco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A33"/>
                          </a:solidFill>
                        </a:rPr>
                        <a:t>Corte irregular tras un golpe</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Reflector desplazado o soporte roto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bl>
          </a:graphicData>
        </a:graphic>
      </p:graphicFrame>
      <p:sp>
        <p:nvSpPr>
          <p:cNvPr id="7" name="Tarjeta Recuerda"/>
          <p:cNvSpPr/>
          <p:nvPr/>
        </p:nvSpPr>
        <p:spPr>
          <a:xfrm>
            <a:off x="502920" y="4023360"/>
            <a:ext cx="5120640" cy="2103120"/>
          </a:xfrm>
          <a:prstGeom prst="roundRect">
            <a:avLst>
              <a:gd name="adj" fmla="val 3478"/>
            </a:avLst>
          </a:prstGeom>
          <a:solidFill>
            <a:srgbClr val="E4F1F1"/>
          </a:solidFill>
          <a:ln w="12700">
            <a:solidFill>
              <a:srgbClr val="E4F1F1"/>
            </a:solidFill>
            <a:prstDash val="solid"/>
          </a:ln>
        </p:spPr>
      </p:sp>
      <p:sp>
        <p:nvSpPr>
          <p:cNvPr id="8" name="Text 3"/>
          <p:cNvSpPr txBox="1"/>
          <p:nvPr/>
        </p:nvSpPr>
        <p:spPr>
          <a:xfrm>
            <a:off x="667512" y="4133088"/>
            <a:ext cx="4791456" cy="411480"/>
          </a:xfrm>
          <a:prstGeom prst="rect">
            <a:avLst/>
          </a:prstGeom>
          <a:noFill/>
          <a:ln/>
        </p:spPr>
        <p:txBody>
          <a:bodyPr wrap="square" lIns="0" tIns="0" rIns="0" bIns="0" rtlCol="0" anchor="t"/>
          <a:lstStyle/>
          <a:p>
            <a:pPr indent="0" marL="0">
              <a:buNone/>
            </a:pPr>
            <a:r>
              <a:rPr lang="en-US" sz="1700" b="1" dirty="0">
                <a:solidFill>
                  <a:schemeClr val="accent1"/>
                </a:solidFill>
              </a:rPr>
              <a:t>Recuerda</a:t>
            </a:r>
            <a:endParaRPr lang="en-US" sz="1700" dirty="0"/>
          </a:p>
        </p:txBody>
      </p:sp>
      <p:sp>
        <p:nvSpPr>
          <p:cNvPr id="9" name="Text 4"/>
          <p:cNvSpPr txBox="1"/>
          <p:nvPr/>
        </p:nvSpPr>
        <p:spPr>
          <a:xfrm>
            <a:off x="667512" y="4572000"/>
            <a:ext cx="4791456" cy="14630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Ante una imagen deformada, revisar primero la lámpara y su asiento antes de tocar los tornillos de reglaje.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4.12.2 Comprobación de la intensidad de luz</a:t>
            </a:r>
            <a:endParaRPr lang="en-US" sz="2800" dirty="0"/>
          </a:p>
        </p:txBody>
      </p:sp>
      <p:sp>
        <p:nvSpPr>
          <p:cNvPr id="4" name="Ecuación"/>
          <p:cNvSpPr/>
          <p:nvPr/>
        </p:nvSpPr>
        <p:spPr>
          <a:xfrm>
            <a:off x="502920" y="1325880"/>
            <a:ext cx="5486400" cy="914400"/>
          </a:xfrm>
          <a:prstGeom prst="roundRect">
            <a:avLst>
              <a:gd name="adj" fmla="val 8000"/>
            </a:avLst>
          </a:prstGeom>
          <a:solidFill>
            <a:srgbClr val="FDF1D8"/>
          </a:solidFill>
          <a:ln w="15875">
            <a:solidFill>
              <a:srgbClr val="F2A516"/>
            </a:solidFill>
            <a:prstDash val="solid"/>
          </a:ln>
        </p:spPr>
      </p:sp>
      <p:sp>
        <p:nvSpPr>
          <p:cNvPr id="5" name="Text 2"/>
          <p:cNvSpPr txBox="1"/>
          <p:nvPr/>
        </p:nvSpPr>
        <p:spPr>
          <a:xfrm>
            <a:off x="502920" y="1325880"/>
            <a:ext cx="5486400" cy="914400"/>
          </a:xfrm>
          <a:prstGeom prst="rect">
            <a:avLst/>
          </a:prstGeom>
          <a:noFill/>
          <a:ln/>
        </p:spPr>
        <p:txBody>
          <a:bodyPr wrap="square" lIns="50800" tIns="50800" rIns="50800" bIns="5080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E = I / d²   (lx = cd / m²)</a:t>
            </a:r>
            <a:endParaRPr lang="en-US" sz="2600" dirty="0"/>
          </a:p>
        </p:txBody>
      </p:sp>
      <p:sp>
        <p:nvSpPr>
          <p:cNvPr id="6" name="Shape 3"/>
          <p:cNvSpPr/>
          <p:nvPr/>
        </p:nvSpPr>
        <p:spPr>
          <a:xfrm>
            <a:off x="502920" y="2560320"/>
            <a:ext cx="2103120" cy="365760"/>
          </a:xfrm>
          <a:prstGeom prst="roundRect">
            <a:avLst>
              <a:gd name="adj" fmla="val 50000"/>
            </a:avLst>
          </a:prstGeom>
          <a:solidFill>
            <a:srgbClr val="F2A516"/>
          </a:solidFill>
          <a:ln w="12700">
            <a:solidFill>
              <a:srgbClr val="F2A516"/>
            </a:solidFill>
            <a:prstDash val="solid"/>
          </a:ln>
        </p:spPr>
      </p:sp>
      <p:sp>
        <p:nvSpPr>
          <p:cNvPr id="7" name="Text 4"/>
          <p:cNvSpPr txBox="1"/>
          <p:nvPr/>
        </p:nvSpPr>
        <p:spPr>
          <a:xfrm>
            <a:off x="502920" y="2560320"/>
            <a:ext cx="2103120" cy="365760"/>
          </a:xfrm>
          <a:prstGeom prst="rect">
            <a:avLst/>
          </a:prstGeom>
          <a:noFill/>
          <a:ln/>
        </p:spPr>
        <p:txBody>
          <a:bodyPr wrap="square" lIns="0" tIns="0" rIns="0" bIns="0" rtlCol="0" anchor="ctr"/>
          <a:lstStyle/>
          <a:p>
            <a:pPr algn="ctr" indent="0" marL="0">
              <a:buNone/>
            </a:pPr>
            <a:r>
              <a:rPr lang="en-US" sz="1300" b="1" dirty="0">
                <a:solidFill>
                  <a:srgbClr val="1B2A33"/>
                </a:solidFill>
              </a:rPr>
              <a:t>Ejemplo resuelto</a:t>
            </a:r>
            <a:endParaRPr lang="en-US" sz="1300" dirty="0"/>
          </a:p>
        </p:txBody>
      </p:sp>
      <p:sp>
        <p:nvSpPr>
          <p:cNvPr id="8" name="Text 5"/>
          <p:cNvSpPr txBox="1"/>
          <p:nvPr/>
        </p:nvSpPr>
        <p:spPr>
          <a:xfrm>
            <a:off x="502920" y="3017520"/>
            <a:ext cx="5486400" cy="1828800"/>
          </a:xfrm>
          <a:prstGeom prst="rect">
            <a:avLst/>
          </a:prstGeom>
          <a:noFill/>
          <a:ln/>
        </p:spPr>
        <p:txBody>
          <a:bodyPr wrap="square" lIns="25400" tIns="25400" rIns="50800" bIns="25400" rtlCol="0" anchor="t"/>
          <a:lstStyle/>
          <a:p>
            <a:pPr marL="203200" indent="-203200">
              <a:spcAft>
                <a:spcPts val="600"/>
              </a:spcAft>
              <a:buSzPct val="100000"/>
              <a:buChar char="•"/>
            </a:pPr>
            <a:r>
              <a:rPr lang="en-US" sz="1600" dirty="0">
                <a:solidFill>
                  <a:schemeClr val="tx1"/>
                </a:solidFill>
              </a:rPr>
              <a:t>Faro de carretera con I = 40 000 cd. ¿Iluminancia a 25 m?</a:t>
            </a:r>
            <a:endParaRPr lang="en-US" sz="1600" dirty="0"/>
          </a:p>
          <a:p>
            <a:pPr marL="203200" indent="-203200">
              <a:spcAft>
                <a:spcPts val="600"/>
              </a:spcAft>
              <a:buSzPct val="100000"/>
              <a:buChar char="•"/>
            </a:pPr>
            <a:r>
              <a:rPr lang="en-US" sz="1600" dirty="0">
                <a:solidFill>
                  <a:schemeClr val="tx1"/>
                </a:solidFill>
              </a:rPr>
              <a:t>E = 40 000 / 25² = 64 lx</a:t>
            </a:r>
            <a:endParaRPr lang="en-US" sz="1600" dirty="0"/>
          </a:p>
          <a:p>
            <a:pPr marL="203200" indent="-203200">
              <a:spcAft>
                <a:spcPts val="600"/>
              </a:spcAft>
              <a:buSzPct val="100000"/>
              <a:buChar char="•"/>
            </a:pPr>
            <a:r>
              <a:rPr lang="en-US" sz="1600" dirty="0">
                <a:solidFill>
                  <a:schemeClr val="tx1"/>
                </a:solidFill>
              </a:rPr>
              <a:t>¿A qué distancia E = 1 lx (luz útil)? d = √40 000 = 200 m</a:t>
            </a:r>
            <a:endParaRPr lang="en-US" sz="1600" dirty="0"/>
          </a:p>
        </p:txBody>
      </p:sp>
      <p:sp>
        <p:nvSpPr>
          <p:cNvPr id="9" name="Tarjeta Si la intensidad es baja"/>
          <p:cNvSpPr/>
          <p:nvPr/>
        </p:nvSpPr>
        <p:spPr>
          <a:xfrm>
            <a:off x="502920" y="4983480"/>
            <a:ext cx="5486400" cy="1143000"/>
          </a:xfrm>
          <a:prstGeom prst="roundRect">
            <a:avLst>
              <a:gd name="adj" fmla="val 6400"/>
            </a:avLst>
          </a:prstGeom>
          <a:solidFill>
            <a:srgbClr val="E4F1F1"/>
          </a:solidFill>
          <a:ln w="12700">
            <a:solidFill>
              <a:srgbClr val="E4F1F1"/>
            </a:solidFill>
            <a:prstDash val="solid"/>
          </a:ln>
        </p:spPr>
      </p:sp>
      <p:sp>
        <p:nvSpPr>
          <p:cNvPr id="10" name="Text 7"/>
          <p:cNvSpPr txBox="1"/>
          <p:nvPr/>
        </p:nvSpPr>
        <p:spPr>
          <a:xfrm>
            <a:off x="667512" y="5093208"/>
            <a:ext cx="5157216" cy="411480"/>
          </a:xfrm>
          <a:prstGeom prst="rect">
            <a:avLst/>
          </a:prstGeom>
          <a:noFill/>
          <a:ln/>
        </p:spPr>
        <p:txBody>
          <a:bodyPr wrap="square" lIns="0" tIns="0" rIns="0" bIns="0" rtlCol="0" anchor="t"/>
          <a:lstStyle/>
          <a:p>
            <a:pPr indent="0" marL="0">
              <a:buNone/>
            </a:pPr>
            <a:r>
              <a:rPr lang="en-US" sz="1700" b="1" dirty="0">
                <a:solidFill>
                  <a:schemeClr val="accent1"/>
                </a:solidFill>
              </a:rPr>
              <a:t>Si la intensidad es baja</a:t>
            </a:r>
            <a:endParaRPr lang="en-US" sz="1700" dirty="0"/>
          </a:p>
        </p:txBody>
      </p:sp>
      <p:sp>
        <p:nvSpPr>
          <p:cNvPr id="11" name="Text 8"/>
          <p:cNvSpPr txBox="1"/>
          <p:nvPr/>
        </p:nvSpPr>
        <p:spPr>
          <a:xfrm>
            <a:off x="667512" y="5532120"/>
            <a:ext cx="5157216" cy="50292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Revisar difusor, reflector, lámpara y tensión en el conector (caída de tensión).</a:t>
            </a:r>
            <a:endParaRPr lang="en-US" sz="1400" dirty="0"/>
          </a:p>
        </p:txBody>
      </p:sp>
      <p:pic>
        <p:nvPicPr>
          <p:cNvPr id="12" name="Figura M_p100_0.png" descr="M_p100_0.png">    </p:cNvPr>
          <p:cNvPicPr>
            <a:picLocks noChangeAspect="1"/>
          </p:cNvPicPr>
          <p:nvPr/>
        </p:nvPicPr>
        <p:blipFill>
          <a:blip r:embed="rId1"/>
          <a:stretch>
            <a:fillRect/>
          </a:stretch>
        </p:blipFill>
        <p:spPr>
          <a:xfrm>
            <a:off x="7302731" y="1234440"/>
            <a:ext cx="3408218" cy="4480560"/>
          </a:xfrm>
          <a:prstGeom prst="rect">
            <a:avLst/>
          </a:prstGeom>
        </p:spPr>
      </p:pic>
      <p:sp>
        <p:nvSpPr>
          <p:cNvPr id="13" name="Text 9"/>
          <p:cNvSpPr txBox="1"/>
          <p:nvPr/>
        </p:nvSpPr>
        <p:spPr>
          <a:xfrm>
            <a:off x="6355080" y="5769864"/>
            <a:ext cx="41148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4.12.3 Verificación de la regulación del alcance</a:t>
            </a:r>
            <a:endParaRPr lang="en-US" sz="2800" dirty="0"/>
          </a:p>
        </p:txBody>
      </p:sp>
      <p:sp>
        <p:nvSpPr>
          <p:cNvPr id="4" name="Tarjeta Manual"/>
          <p:cNvSpPr/>
          <p:nvPr/>
        </p:nvSpPr>
        <p:spPr>
          <a:xfrm>
            <a:off x="502920" y="1280160"/>
            <a:ext cx="3611880" cy="4846320"/>
          </a:xfrm>
          <a:prstGeom prst="roundRect">
            <a:avLst>
              <a:gd name="adj" fmla="val 2025"/>
            </a:avLst>
          </a:prstGeom>
          <a:solidFill>
            <a:srgbClr val="E4F1F1"/>
          </a:solidFill>
          <a:ln w="12700">
            <a:solidFill>
              <a:srgbClr val="E4F1F1"/>
            </a:solidFill>
            <a:prstDash val="solid"/>
          </a:ln>
        </p:spPr>
      </p:sp>
      <p:sp>
        <p:nvSpPr>
          <p:cNvPr id="5" name="Text 2"/>
          <p:cNvSpPr txBox="1"/>
          <p:nvPr/>
        </p:nvSpPr>
        <p:spPr>
          <a:xfrm>
            <a:off x="667512" y="1389888"/>
            <a:ext cx="3282696" cy="411480"/>
          </a:xfrm>
          <a:prstGeom prst="rect">
            <a:avLst/>
          </a:prstGeom>
          <a:noFill/>
          <a:ln/>
        </p:spPr>
        <p:txBody>
          <a:bodyPr wrap="square" lIns="0" tIns="0" rIns="0" bIns="0" rtlCol="0" anchor="t"/>
          <a:lstStyle/>
          <a:p>
            <a:pPr indent="0" marL="0">
              <a:buNone/>
            </a:pPr>
            <a:r>
              <a:rPr lang="en-US" sz="1600" b="1" dirty="0">
                <a:solidFill>
                  <a:schemeClr val="accent1"/>
                </a:solidFill>
              </a:rPr>
              <a:t>Manual</a:t>
            </a:r>
            <a:endParaRPr lang="en-US" sz="1600" dirty="0"/>
          </a:p>
        </p:txBody>
      </p:sp>
      <p:sp>
        <p:nvSpPr>
          <p:cNvPr id="6" name="Text 3"/>
          <p:cNvSpPr txBox="1"/>
          <p:nvPr/>
        </p:nvSpPr>
        <p:spPr>
          <a:xfrm>
            <a:off x="667512" y="1828800"/>
            <a:ext cx="3282696" cy="42062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Girar el mando de 0 a 3: ambos haces deben bajar por igual.</a:t>
            </a:r>
            <a:endParaRPr lang="en-US" sz="1500" dirty="0"/>
          </a:p>
          <a:p>
            <a:pPr marL="203200" indent="-203200">
              <a:spcAft>
                <a:spcPts val="600"/>
              </a:spcAft>
              <a:buSzPct val="100000"/>
              <a:buChar char="•"/>
            </a:pPr>
            <a:r>
              <a:rPr lang="en-US" sz="1500" dirty="0">
                <a:solidFill>
                  <a:schemeClr val="tx1"/>
                </a:solidFill>
              </a:rPr>
              <a:t>Medir alimentación y señal del mando (potenciómetro) en los motores.</a:t>
            </a:r>
            <a:endParaRPr lang="en-US" sz="1500" dirty="0"/>
          </a:p>
          <a:p>
            <a:pPr marL="203200" indent="-203200">
              <a:spcAft>
                <a:spcPts val="600"/>
              </a:spcAft>
              <a:buSzPct val="100000"/>
              <a:buChar char="•"/>
            </a:pPr>
            <a:r>
              <a:rPr lang="en-US" sz="1500" dirty="0">
                <a:solidFill>
                  <a:schemeClr val="tx1"/>
                </a:solidFill>
              </a:rPr>
              <a:t>Si un faro no se mueve: motor, conector o rótula del reflector.</a:t>
            </a:r>
            <a:endParaRPr lang="en-US" sz="1500" dirty="0"/>
          </a:p>
        </p:txBody>
      </p:sp>
      <p:sp>
        <p:nvSpPr>
          <p:cNvPr id="7" name="Tarjeta Automática"/>
          <p:cNvSpPr/>
          <p:nvPr/>
        </p:nvSpPr>
        <p:spPr>
          <a:xfrm>
            <a:off x="4297680" y="1280160"/>
            <a:ext cx="3611880" cy="4846320"/>
          </a:xfrm>
          <a:prstGeom prst="roundRect">
            <a:avLst>
              <a:gd name="adj" fmla="val 2025"/>
            </a:avLst>
          </a:prstGeom>
          <a:solidFill>
            <a:srgbClr val="FDF1D8"/>
          </a:solidFill>
          <a:ln w="12700">
            <a:solidFill>
              <a:srgbClr val="FDF1D8"/>
            </a:solidFill>
            <a:prstDash val="solid"/>
          </a:ln>
        </p:spPr>
      </p:sp>
      <p:sp>
        <p:nvSpPr>
          <p:cNvPr id="8" name="Text 5"/>
          <p:cNvSpPr txBox="1"/>
          <p:nvPr/>
        </p:nvSpPr>
        <p:spPr>
          <a:xfrm>
            <a:off x="4462272" y="1389888"/>
            <a:ext cx="3282696" cy="411480"/>
          </a:xfrm>
          <a:prstGeom prst="rect">
            <a:avLst/>
          </a:prstGeom>
          <a:noFill/>
          <a:ln/>
        </p:spPr>
        <p:txBody>
          <a:bodyPr wrap="square" lIns="0" tIns="0" rIns="0" bIns="0" rtlCol="0" anchor="t"/>
          <a:lstStyle/>
          <a:p>
            <a:pPr indent="0" marL="0">
              <a:buNone/>
            </a:pPr>
            <a:r>
              <a:rPr lang="en-US" sz="1600" b="1" dirty="0">
                <a:solidFill>
                  <a:schemeClr val="tx1"/>
                </a:solidFill>
              </a:rPr>
              <a:t>Automática</a:t>
            </a:r>
            <a:endParaRPr lang="en-US" sz="1600" dirty="0"/>
          </a:p>
        </p:txBody>
      </p:sp>
      <p:sp>
        <p:nvSpPr>
          <p:cNvPr id="9" name="Text 6"/>
          <p:cNvSpPr txBox="1"/>
          <p:nvPr/>
        </p:nvSpPr>
        <p:spPr>
          <a:xfrm>
            <a:off x="4462272" y="1828800"/>
            <a:ext cx="3282696" cy="42062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Leer códigos de avería y valores de los sensores de eje.</a:t>
            </a:r>
            <a:endParaRPr lang="en-US" sz="1500" dirty="0"/>
          </a:p>
          <a:p>
            <a:pPr marL="203200" indent="-203200">
              <a:spcAft>
                <a:spcPts val="600"/>
              </a:spcAft>
              <a:buSzPct val="100000"/>
              <a:buChar char="•"/>
            </a:pPr>
            <a:r>
              <a:rPr lang="en-US" sz="1500" dirty="0">
                <a:solidFill>
                  <a:schemeClr val="tx1"/>
                </a:solidFill>
              </a:rPr>
              <a:t>Cargar el maletero: el haz debe mantenerse.</a:t>
            </a:r>
            <a:endParaRPr lang="en-US" sz="1500" dirty="0"/>
          </a:p>
          <a:p>
            <a:pPr marL="203200" indent="-203200">
              <a:spcAft>
                <a:spcPts val="600"/>
              </a:spcAft>
              <a:buSzPct val="100000"/>
              <a:buChar char="•"/>
            </a:pPr>
            <a:r>
              <a:rPr lang="en-US" sz="1500" dirty="0">
                <a:solidFill>
                  <a:schemeClr val="tx1"/>
                </a:solidFill>
              </a:rPr>
              <a:t>Calibración básica con el equipo de diagnosis.</a:t>
            </a:r>
            <a:endParaRPr lang="en-US" sz="1500" dirty="0"/>
          </a:p>
        </p:txBody>
      </p:sp>
      <p:sp>
        <p:nvSpPr>
          <p:cNvPr id="10" name="Tarjeta Resultado"/>
          <p:cNvSpPr/>
          <p:nvPr/>
        </p:nvSpPr>
        <p:spPr>
          <a:xfrm>
            <a:off x="8092440" y="1280160"/>
            <a:ext cx="3611880" cy="4846320"/>
          </a:xfrm>
          <a:prstGeom prst="roundRect">
            <a:avLst>
              <a:gd name="adj" fmla="val 2025"/>
            </a:avLst>
          </a:prstGeom>
          <a:solidFill>
            <a:srgbClr val="E4F1F1"/>
          </a:solidFill>
          <a:ln w="12700">
            <a:solidFill>
              <a:srgbClr val="E4F1F1"/>
            </a:solidFill>
            <a:prstDash val="solid"/>
          </a:ln>
        </p:spPr>
      </p:sp>
      <p:sp>
        <p:nvSpPr>
          <p:cNvPr id="11" name="Text 8"/>
          <p:cNvSpPr txBox="1"/>
          <p:nvPr/>
        </p:nvSpPr>
        <p:spPr>
          <a:xfrm>
            <a:off x="8257032" y="1389888"/>
            <a:ext cx="3282696" cy="411480"/>
          </a:xfrm>
          <a:prstGeom prst="rect">
            <a:avLst/>
          </a:prstGeom>
          <a:noFill/>
          <a:ln/>
        </p:spPr>
        <p:txBody>
          <a:bodyPr wrap="square" lIns="0" tIns="0" rIns="0" bIns="0" rtlCol="0" anchor="t"/>
          <a:lstStyle/>
          <a:p>
            <a:pPr indent="0" marL="0">
              <a:buNone/>
            </a:pPr>
            <a:r>
              <a:rPr lang="en-US" sz="1600" b="1" dirty="0">
                <a:solidFill>
                  <a:schemeClr val="accent1"/>
                </a:solidFill>
              </a:rPr>
              <a:t>Resultado</a:t>
            </a:r>
            <a:endParaRPr lang="en-US" sz="1600" dirty="0"/>
          </a:p>
        </p:txBody>
      </p:sp>
      <p:sp>
        <p:nvSpPr>
          <p:cNvPr id="12" name="Text 9"/>
          <p:cNvSpPr txBox="1"/>
          <p:nvPr/>
        </p:nvSpPr>
        <p:spPr>
          <a:xfrm>
            <a:off x="8257032" y="1828800"/>
            <a:ext cx="3282696" cy="42062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Anotar inclinación antes y después en la hoja de la práctica 14.</a:t>
            </a:r>
            <a:endParaRPr lang="en-US" sz="1500" dirty="0"/>
          </a:p>
          <a:p>
            <a:pPr marL="203200" indent="-203200">
              <a:spcAft>
                <a:spcPts val="600"/>
              </a:spcAft>
              <a:buSzPct val="100000"/>
              <a:buChar char="•"/>
            </a:pPr>
            <a:r>
              <a:rPr lang="en-US" sz="1500" dirty="0">
                <a:solidFill>
                  <a:schemeClr val="tx1"/>
                </a:solidFill>
              </a:rPr>
              <a:t>Comparar con el valor de la placa y con INEN 1155.</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Diagnóstico de circuitos de iluminación</a:t>
            </a:r>
            <a:endParaRPr lang="en-US" sz="28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201400" cy="914400"/>
        </p:xfrm>
        <a:graphic>
          <a:graphicData uri="http://schemas.openxmlformats.org/drawingml/2006/table">
            <a:tbl>
              <a:tblPr/>
              <a:tblGrid>
                <a:gridCol w="4206240"/>
                <a:gridCol w="6995160"/>
              </a:tblGrid>
              <a:tr h="457200">
                <a:tc>
                  <a:txBody>
                    <a:bodyPr/>
                    <a:lstStyle/>
                    <a:p>
                      <a:pPr indent="0" marL="0">
                        <a:buNone/>
                      </a:pPr>
                      <a:r>
                        <a:rPr lang="en-US" sz="1300" b="1" dirty="0">
                          <a:solidFill>
                            <a:srgbClr val="FFFFFF"/>
                          </a:solidFill>
                        </a:rPr>
                        <a:t>Síntoma</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300" b="1" dirty="0">
                          <a:solidFill>
                            <a:srgbClr val="FFFFFF"/>
                          </a:solidFill>
                        </a:rPr>
                        <a:t>Comprobación prioritaria</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r>
              <a:tr h="457200">
                <a:tc>
                  <a:txBody>
                    <a:bodyPr/>
                    <a:lstStyle/>
                    <a:p>
                      <a:pPr indent="0" marL="0">
                        <a:buNone/>
                      </a:pPr>
                      <a:r>
                        <a:rPr lang="en-US" sz="1300" dirty="0">
                          <a:solidFill>
                            <a:srgbClr val="1B2A33"/>
                          </a:solidFill>
                        </a:rPr>
                        <a:t>Una lámpara no enciende</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Lámpara → fusible → tensión y masa en su conector</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457200">
                <a:tc>
                  <a:txBody>
                    <a:bodyPr/>
                    <a:lstStyle/>
                    <a:p>
                      <a:pPr indent="0" marL="0">
                        <a:buNone/>
                      </a:pPr>
                      <a:r>
                        <a:rPr lang="en-US" sz="1300" dirty="0">
                          <a:solidFill>
                            <a:srgbClr val="1B2A33"/>
                          </a:solidFill>
                        </a:rPr>
                        <a:t>Todas las lámparas de un circuito no encienden</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rPr>
                        <a:t>Fusible común → relé → mando</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A33"/>
                          </a:solidFill>
                        </a:rPr>
                        <a:t>Las lámparas se funden con frecuencia</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Tensión de carga del alternador (&gt; 14,8 V) y vibraciones</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457200">
                <a:tc>
                  <a:txBody>
                    <a:bodyPr/>
                    <a:lstStyle/>
                    <a:p>
                      <a:pPr indent="0" marL="0">
                        <a:buNone/>
                      </a:pPr>
                      <a:r>
                        <a:rPr lang="en-US" sz="1300" dirty="0">
                          <a:solidFill>
                            <a:srgbClr val="1B2A33"/>
                          </a:solidFill>
                        </a:rPr>
                        <a:t>Iluminación débil</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rPr>
                        <a:t>Caída de tensión en masa o en conectores; reflector</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A33"/>
                          </a:solidFill>
                        </a:rPr>
                        <a:t>Intermitente parpadea rápido</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Lámpara fundida o LED sin relé adecuado</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457200">
                <a:tc>
                  <a:txBody>
                    <a:bodyPr/>
                    <a:lstStyle/>
                    <a:p>
                      <a:pPr indent="0" marL="0">
                        <a:buNone/>
                      </a:pPr>
                      <a:r>
                        <a:rPr lang="en-US" sz="1300" dirty="0">
                          <a:solidFill>
                            <a:srgbClr val="1B2A33"/>
                          </a:solidFill>
                        </a:rPr>
                        <a:t>Intermitentes no parpadean</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300" dirty="0">
                          <a:solidFill>
                            <a:srgbClr val="1B2A33"/>
                          </a:solidFill>
                        </a:rPr>
                        <a:t>Relé de intermitencia, fusible, mando de emergencia</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A33"/>
                          </a:solidFill>
                        </a:rPr>
                        <a:t>Al frenar se encienden otras luces</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300" dirty="0">
                          <a:solidFill>
                            <a:srgbClr val="1B2A33"/>
                          </a:solidFill>
                        </a:rPr>
                        <a:t>Masa compartida defectuosa en el piloto (P21/5W)</a:t>
                      </a:r>
                      <a:endParaRPr lang="en-US" sz="13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bl>
          </a:graphicData>
        </a:graphic>
      </p:graphicFrame>
      <p:sp>
        <p:nvSpPr>
          <p:cNvPr id="5" name="Tarjeta Seguridad"/>
          <p:cNvSpPr/>
          <p:nvPr/>
        </p:nvSpPr>
        <p:spPr>
          <a:xfrm>
            <a:off x="502920" y="5349240"/>
            <a:ext cx="11201400" cy="822960"/>
          </a:xfrm>
          <a:prstGeom prst="roundRect">
            <a:avLst>
              <a:gd name="adj" fmla="val 8889"/>
            </a:avLst>
          </a:prstGeom>
          <a:solidFill>
            <a:srgbClr val="E4F1F1"/>
          </a:solidFill>
          <a:ln w="12700">
            <a:solidFill>
              <a:srgbClr val="E4F1F1"/>
            </a:solidFill>
            <a:prstDash val="solid"/>
          </a:ln>
        </p:spPr>
      </p:sp>
      <p:sp>
        <p:nvSpPr>
          <p:cNvPr id="6" name="Text 2"/>
          <p:cNvSpPr txBox="1"/>
          <p:nvPr/>
        </p:nvSpPr>
        <p:spPr>
          <a:xfrm>
            <a:off x="667512" y="5458968"/>
            <a:ext cx="10872216" cy="411480"/>
          </a:xfrm>
          <a:prstGeom prst="rect">
            <a:avLst/>
          </a:prstGeom>
          <a:noFill/>
          <a:ln/>
        </p:spPr>
        <p:txBody>
          <a:bodyPr wrap="square" lIns="0" tIns="0" rIns="0" bIns="0" rtlCol="0" anchor="t"/>
          <a:lstStyle/>
          <a:p>
            <a:pPr indent="0" marL="0">
              <a:buNone/>
            </a:pPr>
            <a:r>
              <a:rPr lang="en-US" sz="1700" b="1" dirty="0">
                <a:solidFill>
                  <a:schemeClr val="accent1"/>
                </a:solidFill>
              </a:rPr>
              <a:t>Seguridad</a:t>
            </a:r>
            <a:endParaRPr lang="en-US" sz="1700" dirty="0"/>
          </a:p>
        </p:txBody>
      </p:sp>
      <p:sp>
        <p:nvSpPr>
          <p:cNvPr id="7" name="Text 3"/>
          <p:cNvSpPr txBox="1"/>
          <p:nvPr/>
        </p:nvSpPr>
        <p:spPr>
          <a:xfrm>
            <a:off x="667512" y="5897880"/>
            <a:ext cx="10872216" cy="18288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No medir resistencias con el circuito alimentado; desconectar el negativo de la batería antes de manipular faros de xenón.</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1"/>
          <p:cNvSpPr/>
          <p:nvPr>
            <p:ph idx="102" type="body" hasCustomPrompt="1"/>
          </p:nvPr>
        </p:nvSpPr>
        <p:spPr>
          <a:xfrm>
            <a:off x="731520" y="1463040"/>
            <a:ext cx="4114800" cy="1463040"/>
          </a:xfrm>
          <a:prstGeom prst="rect">
            <a:avLst/>
          </a:prstGeom>
          <a:noFill/>
          <a:ln/>
        </p:spPr>
        <p:txBody>
          <a:bodyPr wrap="square" rtlCol="0" anchor="b"/>
          <a:lstStyle/>
          <a:p>
            <a:pPr algn="l" indent="0" marL="0">
              <a:buNone/>
            </a:pPr>
            <a:r>
              <a:rPr lang="en-US" sz="8000" b="1" dirty="0">
                <a:solidFill>
                  <a:schemeClr val="accent2"/>
                </a:solidFill>
              </a:rPr>
              <a:t>4.14</a:t>
            </a:r>
            <a:endParaRPr lang="en-US" sz="8000" dirty="0"/>
          </a:p>
        </p:txBody>
      </p:sp>
      <p:sp>
        <p:nvSpPr>
          <p:cNvPr id="3" name="Text 1"/>
          <p:cNvSpPr/>
          <p:nvPr>
            <p:ph idx="103" type="title" hasCustomPrompt="1"/>
          </p:nvPr>
        </p:nvSpPr>
        <p:spPr>
          <a:xfrm>
            <a:off x="731520" y="2971800"/>
            <a:ext cx="10515600" cy="1371600"/>
          </a:xfrm>
          <a:prstGeom prst="rect">
            <a:avLst/>
          </a:prstGeom>
          <a:noFill/>
          <a:ln/>
        </p:spPr>
        <p:txBody>
          <a:bodyPr wrap="square" rtlCol="0" anchor="t"/>
          <a:lstStyle/>
          <a:p>
            <a:pPr algn="l" indent="0" marL="0">
              <a:buNone/>
            </a:pPr>
            <a:r>
              <a:rPr lang="en-US" sz="4000" b="1" dirty="0">
                <a:solidFill>
                  <a:schemeClr val="bg1"/>
                </a:solidFill>
              </a:rPr>
              <a:t>Circuito de limpiaparabrisas y calefactor</a:t>
            </a:r>
            <a:endParaRPr lang="en-US" sz="4000" dirty="0"/>
          </a:p>
        </p:txBody>
      </p:sp>
      <p:sp>
        <p:nvSpPr>
          <p:cNvPr id="4" name="Text 1"/>
          <p:cNvSpPr/>
          <p:nvPr>
            <p:ph idx="104" type="body" hasCustomPrompt="1"/>
          </p:nvPr>
        </p:nvSpPr>
        <p:spPr>
          <a:xfrm>
            <a:off x="731520" y="4434840"/>
            <a:ext cx="10058400" cy="1463040"/>
          </a:xfrm>
          <a:prstGeom prst="rect">
            <a:avLst/>
          </a:prstGeom>
          <a:noFill/>
          <a:ln/>
        </p:spPr>
        <p:txBody>
          <a:bodyPr wrap="square" rtlCol="0" anchor="t"/>
          <a:lstStyle/>
          <a:p>
            <a:pPr algn="l" indent="0" marL="0">
              <a:buNone/>
            </a:pPr>
            <a:r>
              <a:rPr lang="en-US" sz="1800" dirty="0">
                <a:solidFill>
                  <a:schemeClr val="bg2"/>
                </a:solidFill>
              </a:rPr>
              <a:t>4.14.1 Limpiaparabrisas · 4.14.2 Calefactor · 4.14.3 Regulación electrónica · 4.14.4 Verificación</a:t>
            </a:r>
            <a:endParaRPr lang="en-US" sz="1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4.14.1 Limpiaparabrisas: componentes</a:t>
            </a:r>
            <a:endParaRPr lang="en-US" sz="2800" dirty="0"/>
          </a:p>
        </p:txBody>
      </p:sp>
      <p:pic>
        <p:nvPicPr>
          <p:cNvPr id="4" name="Figura ll_motorlimpia.jpg" descr="ll_motorlimpia.jpg">    </p:cNvPr>
          <p:cNvPicPr>
            <a:picLocks noChangeAspect="1"/>
          </p:cNvPicPr>
          <p:nvPr/>
        </p:nvPicPr>
        <p:blipFill>
          <a:blip r:embed="rId1"/>
          <a:stretch>
            <a:fillRect/>
          </a:stretch>
        </p:blipFill>
        <p:spPr>
          <a:xfrm>
            <a:off x="598951" y="1234440"/>
            <a:ext cx="3099779" cy="3291840"/>
          </a:xfrm>
          <a:prstGeom prst="rect">
            <a:avLst/>
          </a:prstGeom>
        </p:spPr>
      </p:pic>
      <p:sp>
        <p:nvSpPr>
          <p:cNvPr id="5" name="Text 1"/>
          <p:cNvSpPr txBox="1"/>
          <p:nvPr/>
        </p:nvSpPr>
        <p:spPr>
          <a:xfrm>
            <a:off x="548640" y="4581144"/>
            <a:ext cx="32918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6" name="Figura M_p201_0.png" descr="M_p201_0.png">    </p:cNvPr>
          <p:cNvPicPr>
            <a:picLocks noChangeAspect="1"/>
          </p:cNvPicPr>
          <p:nvPr/>
        </p:nvPicPr>
        <p:blipFill>
          <a:blip r:embed="rId2"/>
          <a:stretch>
            <a:fillRect/>
          </a:stretch>
        </p:blipFill>
        <p:spPr>
          <a:xfrm>
            <a:off x="4142062" y="1234440"/>
            <a:ext cx="3785957" cy="2011680"/>
          </a:xfrm>
          <a:prstGeom prst="rect">
            <a:avLst/>
          </a:prstGeom>
        </p:spPr>
      </p:pic>
      <p:sp>
        <p:nvSpPr>
          <p:cNvPr id="7" name="Text 2"/>
          <p:cNvSpPr txBox="1"/>
          <p:nvPr/>
        </p:nvSpPr>
        <p:spPr>
          <a:xfrm>
            <a:off x="4069080" y="3300984"/>
            <a:ext cx="40233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pic>
        <p:nvPicPr>
          <p:cNvPr id="8" name="Figura M_p198_0.png" descr="M_p198_0.png">    </p:cNvPr>
          <p:cNvPicPr>
            <a:picLocks noChangeAspect="1"/>
          </p:cNvPicPr>
          <p:nvPr/>
        </p:nvPicPr>
        <p:blipFill>
          <a:blip r:embed="rId3"/>
          <a:stretch>
            <a:fillRect/>
          </a:stretch>
        </p:blipFill>
        <p:spPr>
          <a:xfrm>
            <a:off x="8589247" y="1234440"/>
            <a:ext cx="2801146" cy="2926080"/>
          </a:xfrm>
          <a:prstGeom prst="rect">
            <a:avLst/>
          </a:prstGeom>
        </p:spPr>
      </p:pic>
      <p:sp>
        <p:nvSpPr>
          <p:cNvPr id="9" name="Text 3"/>
          <p:cNvSpPr txBox="1"/>
          <p:nvPr/>
        </p:nvSpPr>
        <p:spPr>
          <a:xfrm>
            <a:off x="8321040" y="4215384"/>
            <a:ext cx="34290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10" name="Text 4"/>
          <p:cNvSpPr txBox="1"/>
          <p:nvPr/>
        </p:nvSpPr>
        <p:spPr>
          <a:xfrm>
            <a:off x="4023360" y="3840480"/>
            <a:ext cx="4023360" cy="2377440"/>
          </a:xfrm>
          <a:prstGeom prst="rect">
            <a:avLst/>
          </a:prstGeom>
          <a:noFill/>
          <a:ln/>
        </p:spPr>
        <p:txBody>
          <a:bodyPr wrap="square" lIns="25400" tIns="25400" rIns="50800" bIns="25400" rtlCol="0" anchor="t"/>
          <a:lstStyle/>
          <a:p>
            <a:pPr marL="203200" indent="-203200">
              <a:spcAft>
                <a:spcPts val="600"/>
              </a:spcAft>
              <a:buSzPct val="100000"/>
              <a:buChar char="•"/>
            </a:pPr>
            <a:r>
              <a:rPr lang="en-US" sz="1400" b="1" dirty="0">
                <a:solidFill>
                  <a:schemeClr val="tx1"/>
                </a:solidFill>
              </a:rPr>
              <a:t>Motor + reductor: </a:t>
            </a:r>
            <a:pPr indent="0" marL="0">
              <a:buNone/>
            </a:pPr>
            <a:r>
              <a:rPr lang="en-US" sz="1400" dirty="0">
                <a:solidFill>
                  <a:schemeClr val="tx1"/>
                </a:solidFill>
              </a:rPr>
              <a:t>par alto y baja velocidad.</a:t>
            </a:r>
            <a:endParaRPr lang="en-US" sz="1400" dirty="0"/>
          </a:p>
          <a:p>
            <a:pPr marL="203200" indent="-203200">
              <a:spcAft>
                <a:spcPts val="600"/>
              </a:spcAft>
              <a:buSzPct val="100000"/>
              <a:buChar char="•"/>
            </a:pPr>
            <a:r>
              <a:rPr lang="en-US" sz="1400" b="1" dirty="0">
                <a:solidFill>
                  <a:schemeClr val="tx1"/>
                </a:solidFill>
              </a:rPr>
              <a:t>Timonería: </a:t>
            </a:r>
            <a:pPr indent="0" marL="0">
              <a:buNone/>
            </a:pPr>
            <a:r>
              <a:rPr lang="en-US" sz="1400" dirty="0">
                <a:solidFill>
                  <a:schemeClr val="tx1"/>
                </a:solidFill>
              </a:rPr>
              <a:t>bielas que transforman el giro en vaivén.</a:t>
            </a:r>
            <a:endParaRPr lang="en-US" sz="1400" dirty="0"/>
          </a:p>
          <a:p>
            <a:pPr marL="203200" indent="-203200">
              <a:spcAft>
                <a:spcPts val="600"/>
              </a:spcAft>
              <a:buSzPct val="100000"/>
              <a:buChar char="•"/>
            </a:pPr>
            <a:r>
              <a:rPr lang="en-US" sz="1400" b="1" dirty="0">
                <a:solidFill>
                  <a:schemeClr val="tx1"/>
                </a:solidFill>
              </a:rPr>
              <a:t>Escobillas: </a:t>
            </a:r>
            <a:pPr indent="0" marL="0">
              <a:buNone/>
            </a:pPr>
            <a:r>
              <a:rPr lang="en-US" sz="1400" dirty="0">
                <a:solidFill>
                  <a:schemeClr val="tx1"/>
                </a:solidFill>
              </a:rPr>
              <a:t>presión uniforme; ángulo de barrido de 80–90°.</a:t>
            </a:r>
            <a:endParaRPr lang="en-US" sz="1400" dirty="0"/>
          </a:p>
          <a:p>
            <a:pPr marL="203200" indent="-203200">
              <a:spcAft>
                <a:spcPts val="600"/>
              </a:spcAft>
              <a:buSzPct val="100000"/>
              <a:buChar char="•"/>
            </a:pPr>
            <a:r>
              <a:rPr lang="en-US" sz="1400" b="1" dirty="0">
                <a:solidFill>
                  <a:schemeClr val="tx1"/>
                </a:solidFill>
              </a:rPr>
              <a:t>Lavaparabrisas: </a:t>
            </a:r>
            <a:pPr indent="0" marL="0">
              <a:buNone/>
            </a:pPr>
            <a:r>
              <a:rPr lang="en-US" sz="1400" dirty="0">
                <a:solidFill>
                  <a:schemeClr val="tx1"/>
                </a:solidFill>
              </a:rPr>
              <a:t>bomba eléctrica + depósito + eyectores.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Velocidades y parada automática</a:t>
            </a:r>
            <a:endParaRPr lang="en-US" sz="2800" dirty="0"/>
          </a:p>
        </p:txBody>
      </p:sp>
      <p:pic>
        <p:nvPicPr>
          <p:cNvPr id="4" name="Figura ll_leva.jpg" descr="ll_leva.jpg">    </p:cNvPr>
          <p:cNvPicPr>
            <a:picLocks noChangeAspect="1"/>
          </p:cNvPicPr>
          <p:nvPr/>
        </p:nvPicPr>
        <p:blipFill>
          <a:blip r:embed="rId1"/>
          <a:stretch>
            <a:fillRect/>
          </a:stretch>
        </p:blipFill>
        <p:spPr>
          <a:xfrm>
            <a:off x="622529" y="1234440"/>
            <a:ext cx="2686863" cy="1828800"/>
          </a:xfrm>
          <a:prstGeom prst="rect">
            <a:avLst/>
          </a:prstGeom>
        </p:spPr>
      </p:pic>
      <p:sp>
        <p:nvSpPr>
          <p:cNvPr id="5" name="Text 1"/>
          <p:cNvSpPr txBox="1"/>
          <p:nvPr/>
        </p:nvSpPr>
        <p:spPr>
          <a:xfrm>
            <a:off x="548640" y="3118104"/>
            <a:ext cx="292608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6" name="Figura ll_motor_leva.jpg" descr="ll_motor_leva.jpg">    </p:cNvPr>
          <p:cNvPicPr>
            <a:picLocks noChangeAspect="1"/>
          </p:cNvPicPr>
          <p:nvPr/>
        </p:nvPicPr>
        <p:blipFill>
          <a:blip r:embed="rId2"/>
          <a:stretch>
            <a:fillRect/>
          </a:stretch>
        </p:blipFill>
        <p:spPr>
          <a:xfrm>
            <a:off x="3945897" y="1234440"/>
            <a:ext cx="3446767" cy="2286000"/>
          </a:xfrm>
          <a:prstGeom prst="rect">
            <a:avLst/>
          </a:prstGeom>
        </p:spPr>
      </p:pic>
      <p:sp>
        <p:nvSpPr>
          <p:cNvPr id="7" name="Text 2"/>
          <p:cNvSpPr txBox="1"/>
          <p:nvPr/>
        </p:nvSpPr>
        <p:spPr>
          <a:xfrm>
            <a:off x="3703320" y="3575304"/>
            <a:ext cx="40233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8" name="Figura ll_anillos.jpg" descr="ll_anillos.jpg">    </p:cNvPr>
          <p:cNvPicPr>
            <a:picLocks noChangeAspect="1"/>
          </p:cNvPicPr>
          <p:nvPr/>
        </p:nvPicPr>
        <p:blipFill>
          <a:blip r:embed="rId3"/>
          <a:stretch>
            <a:fillRect/>
          </a:stretch>
        </p:blipFill>
        <p:spPr>
          <a:xfrm>
            <a:off x="8098576" y="1234440"/>
            <a:ext cx="3416727" cy="3474720"/>
          </a:xfrm>
          <a:prstGeom prst="rect">
            <a:avLst/>
          </a:prstGeom>
        </p:spPr>
      </p:pic>
      <p:sp>
        <p:nvSpPr>
          <p:cNvPr id="9" name="Text 3"/>
          <p:cNvSpPr txBox="1"/>
          <p:nvPr/>
        </p:nvSpPr>
        <p:spPr>
          <a:xfrm>
            <a:off x="7955280" y="4764024"/>
            <a:ext cx="37947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02920" y="4023360"/>
          <a:ext cx="7178040" cy="914400"/>
        </p:xfrm>
        <a:graphic>
          <a:graphicData uri="http://schemas.openxmlformats.org/drawingml/2006/table">
            <a:tbl>
              <a:tblPr/>
              <a:tblGrid>
                <a:gridCol w="1463040"/>
                <a:gridCol w="5715000"/>
              </a:tblGrid>
              <a:tr h="365760">
                <a:tc>
                  <a:txBody>
                    <a:bodyPr/>
                    <a:lstStyle/>
                    <a:p>
                      <a:pPr indent="0" marL="0">
                        <a:buNone/>
                      </a:pPr>
                      <a:r>
                        <a:rPr lang="en-US" sz="1200" b="1" dirty="0">
                          <a:solidFill>
                            <a:srgbClr val="FFFFFF"/>
                          </a:solidFill>
                        </a:rPr>
                        <a:t>Borne</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200" b="1" dirty="0">
                          <a:solidFill>
                            <a:srgbClr val="FFFFFF"/>
                          </a:solidFill>
                        </a:rPr>
                        <a:t>Función</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r>
              <a:tr h="365760">
                <a:tc>
                  <a:txBody>
                    <a:bodyPr/>
                    <a:lstStyle/>
                    <a:p>
                      <a:pPr indent="0" marL="0">
                        <a:buNone/>
                      </a:pPr>
                      <a:r>
                        <a:rPr lang="en-US" sz="1200" dirty="0">
                          <a:solidFill>
                            <a:srgbClr val="1B2A33"/>
                          </a:solidFill>
                        </a:rPr>
                        <a:t>53</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200" dirty="0">
                          <a:solidFill>
                            <a:srgbClr val="1B2A33"/>
                          </a:solidFill>
                        </a:rPr>
                        <a:t>Velocidad lenta (1.ª escobilla)</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365760">
                <a:tc>
                  <a:txBody>
                    <a:bodyPr/>
                    <a:lstStyle/>
                    <a:p>
                      <a:pPr indent="0" marL="0">
                        <a:buNone/>
                      </a:pPr>
                      <a:r>
                        <a:rPr lang="en-US" sz="1200" dirty="0">
                          <a:solidFill>
                            <a:srgbClr val="1B2A33"/>
                          </a:solidFill>
                        </a:rPr>
                        <a:t>53b</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200" dirty="0">
                          <a:solidFill>
                            <a:srgbClr val="1B2A33"/>
                          </a:solidFill>
                        </a:rPr>
                        <a:t>Velocidad rápida (2.ª escobilla)</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2A33"/>
                          </a:solidFill>
                        </a:rPr>
                        <a:t>53a</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200" dirty="0">
                          <a:solidFill>
                            <a:srgbClr val="1B2A33"/>
                          </a:solidFill>
                        </a:rPr>
                        <a:t>Alimentación de parada automática (leva)</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365760">
                <a:tc>
                  <a:txBody>
                    <a:bodyPr/>
                    <a:lstStyle/>
                    <a:p>
                      <a:pPr indent="0" marL="0">
                        <a:buNone/>
                      </a:pPr>
                      <a:r>
                        <a:rPr lang="en-US" sz="1200" dirty="0">
                          <a:solidFill>
                            <a:srgbClr val="1B2A33"/>
                          </a:solidFill>
                        </a:rPr>
                        <a:t>31b</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200" dirty="0">
                          <a:solidFill>
                            <a:srgbClr val="1B2A33"/>
                          </a:solidFill>
                        </a:rPr>
                        <a:t>Masa del motor a través del mando</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2A33"/>
                          </a:solidFill>
                        </a:rPr>
                        <a:t>J / I</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200" dirty="0">
                          <a:solidFill>
                            <a:srgbClr val="1B2A33"/>
                          </a:solidFill>
                        </a:rPr>
                        <a:t>Intermitencia (relé temporizador)</a:t>
                      </a:r>
                      <a:endParaRPr lang="en-US" sz="12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Esquemas de limpiaparabrisas</a:t>
            </a:r>
            <a:endParaRPr lang="en-US" sz="2800" dirty="0"/>
          </a:p>
        </p:txBody>
      </p:sp>
      <p:pic>
        <p:nvPicPr>
          <p:cNvPr id="4" name="Figura ll_esq71.jpg" descr="ll_esq71.jpg">    </p:cNvPr>
          <p:cNvPicPr>
            <a:picLocks noChangeAspect="1"/>
          </p:cNvPicPr>
          <p:nvPr/>
        </p:nvPicPr>
        <p:blipFill>
          <a:blip r:embed="rId1"/>
          <a:stretch>
            <a:fillRect/>
          </a:stretch>
        </p:blipFill>
        <p:spPr>
          <a:xfrm>
            <a:off x="615680" y="1234440"/>
            <a:ext cx="5260880" cy="2926080"/>
          </a:xfrm>
          <a:prstGeom prst="rect">
            <a:avLst/>
          </a:prstGeom>
        </p:spPr>
      </p:pic>
      <p:sp>
        <p:nvSpPr>
          <p:cNvPr id="5" name="Text 1"/>
          <p:cNvSpPr txBox="1"/>
          <p:nvPr/>
        </p:nvSpPr>
        <p:spPr>
          <a:xfrm>
            <a:off x="548640" y="4215384"/>
            <a:ext cx="526088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6" name="Figura ll_esq75.jpg" descr="ll_esq75.jpg">    </p:cNvPr>
          <p:cNvPicPr>
            <a:picLocks noChangeAspect="1"/>
          </p:cNvPicPr>
          <p:nvPr/>
        </p:nvPicPr>
        <p:blipFill>
          <a:blip r:embed="rId2"/>
          <a:stretch>
            <a:fillRect/>
          </a:stretch>
        </p:blipFill>
        <p:spPr>
          <a:xfrm>
            <a:off x="6217920" y="1244704"/>
            <a:ext cx="5486400" cy="2356913"/>
          </a:xfrm>
          <a:prstGeom prst="rect">
            <a:avLst/>
          </a:prstGeom>
        </p:spPr>
      </p:pic>
      <p:sp>
        <p:nvSpPr>
          <p:cNvPr id="7" name="Text 2"/>
          <p:cNvSpPr txBox="1"/>
          <p:nvPr/>
        </p:nvSpPr>
        <p:spPr>
          <a:xfrm>
            <a:off x="6217920" y="3656480"/>
            <a:ext cx="54864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sp>
        <p:nvSpPr>
          <p:cNvPr id="8" name="Text 3"/>
          <p:cNvSpPr txBox="1"/>
          <p:nvPr/>
        </p:nvSpPr>
        <p:spPr>
          <a:xfrm>
            <a:off x="502920" y="4754880"/>
            <a:ext cx="11201400" cy="1463040"/>
          </a:xfrm>
          <a:prstGeom prst="rect">
            <a:avLst/>
          </a:prstGeom>
          <a:noFill/>
          <a:ln/>
        </p:spPr>
        <p:txBody>
          <a:bodyPr wrap="square" lIns="25400" tIns="25400" rIns="50800" bIns="25400" rtlCol="0" anchor="t"/>
          <a:lstStyle/>
          <a:p>
            <a:pPr marL="203200" indent="-203200">
              <a:spcAft>
                <a:spcPts val="600"/>
              </a:spcAft>
              <a:buSzPct val="100000"/>
              <a:buChar char="•"/>
            </a:pPr>
            <a:r>
              <a:rPr lang="en-US" sz="1400" b="1" dirty="0">
                <a:solidFill>
                  <a:schemeClr val="tx1"/>
                </a:solidFill>
              </a:rPr>
              <a:t>Posición 0: </a:t>
            </a:r>
            <a:pPr indent="0" marL="0">
              <a:buNone/>
            </a:pPr>
            <a:r>
              <a:rPr lang="en-US" sz="1400" dirty="0">
                <a:solidFill>
                  <a:schemeClr val="tx1"/>
                </a:solidFill>
              </a:rPr>
              <a:t>el motor no recibe positivo salvo por la leva (53a).</a:t>
            </a:r>
            <a:endParaRPr lang="en-US" sz="1400" dirty="0"/>
          </a:p>
          <a:p>
            <a:pPr marL="203200" indent="-203200">
              <a:spcAft>
                <a:spcPts val="600"/>
              </a:spcAft>
              <a:buSzPct val="100000"/>
              <a:buChar char="•"/>
            </a:pPr>
            <a:r>
              <a:rPr lang="en-US" sz="1400" b="1" dirty="0">
                <a:solidFill>
                  <a:schemeClr val="tx1"/>
                </a:solidFill>
              </a:rPr>
              <a:t>Posición 1 / 2: </a:t>
            </a:r>
            <a:pPr indent="0" marL="0">
              <a:buNone/>
            </a:pPr>
            <a:r>
              <a:rPr lang="en-US" sz="1400" dirty="0">
                <a:solidFill>
                  <a:schemeClr val="tx1"/>
                </a:solidFill>
              </a:rPr>
              <a:t>alimentación por la escobilla lenta / rápida.</a:t>
            </a:r>
            <a:endParaRPr lang="en-US" sz="1400" dirty="0"/>
          </a:p>
          <a:p>
            <a:pPr marL="203200" indent="-203200">
              <a:spcAft>
                <a:spcPts val="600"/>
              </a:spcAft>
              <a:buSzPct val="100000"/>
              <a:buChar char="•"/>
            </a:pPr>
            <a:r>
              <a:rPr lang="en-US" sz="1400" b="1" dirty="0">
                <a:solidFill>
                  <a:schemeClr val="tx1"/>
                </a:solidFill>
              </a:rPr>
              <a:t>Intermitente: </a:t>
            </a:r>
            <a:pPr indent="0" marL="0">
              <a:buNone/>
            </a:pPr>
            <a:r>
              <a:rPr lang="en-US" sz="1400" dirty="0">
                <a:solidFill>
                  <a:schemeClr val="tx1"/>
                </a:solidFill>
              </a:rPr>
              <a:t>el relé electrónico alimenta el motor cada pocos segundos; la leva completa la vuelta.</a:t>
            </a:r>
            <a:endParaRPr lang="en-US" sz="1400" dirty="0"/>
          </a:p>
          <a:p>
            <a:pPr marL="203200" indent="-203200">
              <a:spcAft>
                <a:spcPts val="600"/>
              </a:spcAft>
              <a:buSzPct val="100000"/>
              <a:buChar char="•"/>
            </a:pPr>
            <a:r>
              <a:rPr lang="en-US" sz="1400" b="1" dirty="0">
                <a:solidFill>
                  <a:schemeClr val="tx1"/>
                </a:solidFill>
              </a:rPr>
              <a:t>Lavado: </a:t>
            </a:r>
            <a:pPr indent="0" marL="0">
              <a:buNone/>
            </a:pPr>
            <a:r>
              <a:rPr lang="en-US" sz="1400" dirty="0">
                <a:solidFill>
                  <a:schemeClr val="tx1"/>
                </a:solidFill>
              </a:rPr>
              <a:t>la bomba funciona y el relé da unos barridos adicionales.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Electrónica: sensor de lluvia y red LIN</a:t>
            </a:r>
            <a:endParaRPr lang="en-US" sz="2800" dirty="0"/>
          </a:p>
        </p:txBody>
      </p:sp>
      <p:pic>
        <p:nvPicPr>
          <p:cNvPr id="4" name="Figura ll_lluvia.jpg" descr="ll_lluvia.jpg">    </p:cNvPr>
          <p:cNvPicPr>
            <a:picLocks noChangeAspect="1"/>
          </p:cNvPicPr>
          <p:nvPr/>
        </p:nvPicPr>
        <p:blipFill>
          <a:blip r:embed="rId1"/>
          <a:stretch>
            <a:fillRect/>
          </a:stretch>
        </p:blipFill>
        <p:spPr>
          <a:xfrm>
            <a:off x="582971" y="1234440"/>
            <a:ext cx="5326299" cy="2011680"/>
          </a:xfrm>
          <a:prstGeom prst="rect">
            <a:avLst/>
          </a:prstGeom>
        </p:spPr>
      </p:pic>
      <p:sp>
        <p:nvSpPr>
          <p:cNvPr id="5" name="Text 1"/>
          <p:cNvSpPr txBox="1"/>
          <p:nvPr/>
        </p:nvSpPr>
        <p:spPr>
          <a:xfrm>
            <a:off x="548640" y="3300984"/>
            <a:ext cx="5326299"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6" name="Figura M_p209_3.png" descr="M_p209_3.png">    </p:cNvPr>
          <p:cNvPicPr>
            <a:picLocks noChangeAspect="1"/>
          </p:cNvPicPr>
          <p:nvPr/>
        </p:nvPicPr>
        <p:blipFill>
          <a:blip r:embed="rId2"/>
          <a:stretch>
            <a:fillRect/>
          </a:stretch>
        </p:blipFill>
        <p:spPr>
          <a:xfrm>
            <a:off x="1195588" y="3840480"/>
            <a:ext cx="4101064" cy="2011680"/>
          </a:xfrm>
          <a:prstGeom prst="rect">
            <a:avLst/>
          </a:prstGeom>
        </p:spPr>
      </p:pic>
      <p:sp>
        <p:nvSpPr>
          <p:cNvPr id="7" name="Text 2"/>
          <p:cNvSpPr txBox="1"/>
          <p:nvPr/>
        </p:nvSpPr>
        <p:spPr>
          <a:xfrm>
            <a:off x="548640" y="5907024"/>
            <a:ext cx="41148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pic>
        <p:nvPicPr>
          <p:cNvPr id="8" name="Figura lp_s07_1.jpg" descr="lp_s07_1.jpg">    </p:cNvPr>
          <p:cNvPicPr>
            <a:picLocks noChangeAspect="1"/>
          </p:cNvPicPr>
          <p:nvPr/>
        </p:nvPicPr>
        <p:blipFill>
          <a:blip r:embed="rId3"/>
          <a:stretch>
            <a:fillRect/>
          </a:stretch>
        </p:blipFill>
        <p:spPr>
          <a:xfrm>
            <a:off x="6320333" y="1234440"/>
            <a:ext cx="5281574" cy="3474720"/>
          </a:xfrm>
          <a:prstGeom prst="rect">
            <a:avLst/>
          </a:prstGeom>
        </p:spPr>
      </p:pic>
      <p:sp>
        <p:nvSpPr>
          <p:cNvPr id="9" name="Text 3"/>
          <p:cNvSpPr txBox="1"/>
          <p:nvPr/>
        </p:nvSpPr>
        <p:spPr>
          <a:xfrm>
            <a:off x="6263640" y="4764024"/>
            <a:ext cx="5281574"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material de clase SEEA, Módulo 5 (s. f.).</a:t>
            </a:r>
            <a:endParaRPr lang="en-US" sz="1000" dirty="0"/>
          </a:p>
        </p:txBody>
      </p:sp>
      <p:sp>
        <p:nvSpPr>
          <p:cNvPr id="10" name="Text 4"/>
          <p:cNvSpPr txBox="1"/>
          <p:nvPr/>
        </p:nvSpPr>
        <p:spPr>
          <a:xfrm>
            <a:off x="6217920" y="5349240"/>
            <a:ext cx="5486400" cy="868680"/>
          </a:xfrm>
          <a:prstGeom prst="rect">
            <a:avLst/>
          </a:prstGeom>
          <a:noFill/>
          <a:ln/>
        </p:spPr>
        <p:txBody>
          <a:bodyPr wrap="square" lIns="25400" tIns="25400" rIns="50800" bIns="25400" rtlCol="0" anchor="t"/>
          <a:lstStyle/>
          <a:p>
            <a:pPr marL="203200" indent="-203200">
              <a:spcAft>
                <a:spcPts val="600"/>
              </a:spcAft>
              <a:buSzPct val="100000"/>
              <a:buChar char="•"/>
            </a:pPr>
            <a:r>
              <a:rPr lang="en-US" sz="1400" dirty="0">
                <a:solidFill>
                  <a:schemeClr val="tx1"/>
                </a:solidFill>
              </a:rPr>
              <a:t>El motor, el sensor y el mando se comunican con la centralita de confort por LIN; esta, con el resto por CAN.</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Ejemplo resuelto: fusible del limpiaparabrisas</a:t>
            </a:r>
            <a:endParaRPr lang="en-US" sz="2800" dirty="0"/>
          </a:p>
        </p:txBody>
      </p:sp>
      <p:sp>
        <p:nvSpPr>
          <p:cNvPr id="4" name="Shape 1"/>
          <p:cNvSpPr/>
          <p:nvPr/>
        </p:nvSpPr>
        <p:spPr>
          <a:xfrm>
            <a:off x="502920" y="1234440"/>
            <a:ext cx="2103120" cy="365760"/>
          </a:xfrm>
          <a:prstGeom prst="roundRect">
            <a:avLst>
              <a:gd name="adj" fmla="val 50000"/>
            </a:avLst>
          </a:prstGeom>
          <a:solidFill>
            <a:srgbClr val="F2A516"/>
          </a:solidFill>
          <a:ln w="12700">
            <a:solidFill>
              <a:srgbClr val="F2A516"/>
            </a:solidFill>
            <a:prstDash val="solid"/>
          </a:ln>
        </p:spPr>
      </p:sp>
      <p:sp>
        <p:nvSpPr>
          <p:cNvPr id="5" name="Text 2"/>
          <p:cNvSpPr txBox="1"/>
          <p:nvPr/>
        </p:nvSpPr>
        <p:spPr>
          <a:xfrm>
            <a:off x="502920" y="1234440"/>
            <a:ext cx="2103120" cy="365760"/>
          </a:xfrm>
          <a:prstGeom prst="rect">
            <a:avLst/>
          </a:prstGeom>
          <a:noFill/>
          <a:ln/>
        </p:spPr>
        <p:txBody>
          <a:bodyPr wrap="square" lIns="0" tIns="0" rIns="0" bIns="0" rtlCol="0" anchor="ctr"/>
          <a:lstStyle/>
          <a:p>
            <a:pPr algn="ctr" indent="0" marL="0">
              <a:buNone/>
            </a:pPr>
            <a:r>
              <a:rPr lang="en-US" sz="1300" b="1" dirty="0">
                <a:solidFill>
                  <a:srgbClr val="1B2A33"/>
                </a:solidFill>
              </a:rPr>
              <a:t>Ejemplo resuelto</a:t>
            </a:r>
            <a:endParaRPr lang="en-US" sz="1300" dirty="0"/>
          </a:p>
        </p:txBody>
      </p:sp>
      <p:sp>
        <p:nvSpPr>
          <p:cNvPr id="6" name="Text 3"/>
          <p:cNvSpPr txBox="1"/>
          <p:nvPr/>
        </p:nvSpPr>
        <p:spPr>
          <a:xfrm>
            <a:off x="502920" y="1737360"/>
            <a:ext cx="6766560" cy="4480560"/>
          </a:xfrm>
          <a:prstGeom prst="rect">
            <a:avLst/>
          </a:prstGeom>
          <a:noFill/>
          <a:ln/>
        </p:spPr>
        <p:txBody>
          <a:bodyPr wrap="square" lIns="25400" tIns="25400" rIns="50800" bIns="25400" rtlCol="0" anchor="t"/>
          <a:lstStyle/>
          <a:p>
            <a:pPr indent="0" marL="0">
              <a:spcAft>
                <a:spcPts val="400"/>
              </a:spcAft>
              <a:buNone/>
            </a:pPr>
            <a:r>
              <a:rPr lang="en-US" sz="1700" b="1" dirty="0">
                <a:solidFill>
                  <a:schemeClr val="accent1"/>
                </a:solidFill>
              </a:rPr>
              <a:t>Datos</a:t>
            </a:r>
            <a:endParaRPr lang="en-US" sz="1700" dirty="0"/>
          </a:p>
          <a:p>
            <a:pPr marL="203200" indent="-203200">
              <a:spcAft>
                <a:spcPts val="600"/>
              </a:spcAft>
              <a:buSzPct val="100000"/>
              <a:buChar char="•"/>
            </a:pPr>
            <a:r>
              <a:rPr lang="en-US" sz="1600" dirty="0">
                <a:solidFill>
                  <a:schemeClr val="tx1"/>
                </a:solidFill>
              </a:rPr>
              <a:t>Motor de 90 W a 13,5 V (motor en marcha). Pico de arranque ≈ 3 × I nominal.</a:t>
            </a:r>
            <a:endParaRPr lang="en-US" sz="1700" dirty="0"/>
          </a:p>
          <a:p>
            <a:pPr indent="0" marL="0">
              <a:spcAft>
                <a:spcPts val="400"/>
              </a:spcAft>
              <a:buNone/>
            </a:pPr>
            <a:r>
              <a:rPr lang="en-US" sz="1700" b="1" dirty="0">
                <a:solidFill>
                  <a:schemeClr val="accent1"/>
                </a:solidFill>
              </a:rPr>
              <a:t>Cálculo</a:t>
            </a:r>
            <a:endParaRPr lang="en-US" sz="1700" dirty="0"/>
          </a:p>
          <a:p>
            <a:pPr marL="203200" indent="-203200">
              <a:spcAft>
                <a:spcPts val="600"/>
              </a:spcAft>
              <a:buSzPct val="100000"/>
              <a:buChar char="•"/>
            </a:pPr>
            <a:r>
              <a:rPr lang="en-US" sz="1600" dirty="0">
                <a:solidFill>
                  <a:schemeClr val="tx1"/>
                </a:solidFill>
              </a:rPr>
              <a:t>I nominal = 90 / 13,5 = 6,7 A</a:t>
            </a:r>
            <a:endParaRPr lang="en-US" sz="1700" dirty="0"/>
          </a:p>
          <a:p>
            <a:pPr marL="203200" indent="-203200">
              <a:spcAft>
                <a:spcPts val="600"/>
              </a:spcAft>
              <a:buSzPct val="100000"/>
              <a:buChar char="•"/>
            </a:pPr>
            <a:r>
              <a:rPr lang="en-US" sz="1600" dirty="0">
                <a:solidFill>
                  <a:schemeClr val="tx1"/>
                </a:solidFill>
              </a:rPr>
              <a:t>Pico = 3 × 6,7 = 20 A durante décimas de segundo</a:t>
            </a:r>
            <a:endParaRPr lang="en-US" sz="1700" dirty="0"/>
          </a:p>
          <a:p>
            <a:pPr marL="203200" indent="-203200">
              <a:spcAft>
                <a:spcPts val="600"/>
              </a:spcAft>
              <a:buSzPct val="100000"/>
              <a:buChar char="•"/>
            </a:pPr>
            <a:r>
              <a:rPr lang="en-US" sz="1600" dirty="0">
                <a:solidFill>
                  <a:schemeClr val="tx1"/>
                </a:solidFill>
              </a:rPr>
              <a:t>Fusible: 1,5 × 6,7 = 10 A → se elige 15 A (fusión lenta frente al pico)</a:t>
            </a:r>
            <a:endParaRPr lang="en-US" sz="1700" dirty="0"/>
          </a:p>
          <a:p>
            <a:pPr marL="203200" indent="-203200">
              <a:spcAft>
                <a:spcPts val="600"/>
              </a:spcAft>
              <a:buSzPct val="100000"/>
              <a:buChar char="•"/>
            </a:pPr>
            <a:r>
              <a:rPr lang="en-US" sz="1600" dirty="0">
                <a:solidFill>
                  <a:schemeClr val="tx1"/>
                </a:solidFill>
              </a:rPr>
              <a:t>Cable: S = 0,017 × 4 × 6,7 / 0,4 = 1,1 mm² ⇒ 1,5 mm² (4 m, ΔU ≈ 3 %)</a:t>
            </a:r>
            <a:endParaRPr lang="en-US" sz="1700" dirty="0"/>
          </a:p>
        </p:txBody>
      </p:sp>
      <p:pic>
        <p:nvPicPr>
          <p:cNvPr id="7" name="Figura M_p210_2.png" descr="M_p210_2.png">    </p:cNvPr>
          <p:cNvPicPr>
            <a:picLocks noChangeAspect="1"/>
          </p:cNvPicPr>
          <p:nvPr/>
        </p:nvPicPr>
        <p:blipFill>
          <a:blip r:embed="rId1"/>
          <a:stretch>
            <a:fillRect/>
          </a:stretch>
        </p:blipFill>
        <p:spPr>
          <a:xfrm>
            <a:off x="7498080" y="1358397"/>
            <a:ext cx="4206240" cy="2586725"/>
          </a:xfrm>
          <a:prstGeom prst="rect">
            <a:avLst/>
          </a:prstGeom>
        </p:spPr>
      </p:pic>
      <p:sp>
        <p:nvSpPr>
          <p:cNvPr id="8" name="Text 4"/>
          <p:cNvSpPr txBox="1"/>
          <p:nvPr/>
        </p:nvSpPr>
        <p:spPr>
          <a:xfrm>
            <a:off x="7498080" y="3999987"/>
            <a:ext cx="42062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4.14.2 Sistema calefactor del vehículo</a:t>
            </a:r>
            <a:endParaRPr lang="en-US" sz="2800" dirty="0"/>
          </a:p>
        </p:txBody>
      </p:sp>
      <p:pic>
        <p:nvPicPr>
          <p:cNvPr id="4" name="Figura v_aguacal.jpg" descr="v_aguacal.jpg">    </p:cNvPr>
          <p:cNvPicPr>
            <a:picLocks noChangeAspect="1"/>
          </p:cNvPicPr>
          <p:nvPr/>
        </p:nvPicPr>
        <p:blipFill>
          <a:blip r:embed="rId1"/>
          <a:stretch>
            <a:fillRect/>
          </a:stretch>
        </p:blipFill>
        <p:spPr>
          <a:xfrm>
            <a:off x="730476" y="1234440"/>
            <a:ext cx="3385369" cy="2651760"/>
          </a:xfrm>
          <a:prstGeom prst="rect">
            <a:avLst/>
          </a:prstGeom>
        </p:spPr>
      </p:pic>
      <p:sp>
        <p:nvSpPr>
          <p:cNvPr id="5" name="Text 1"/>
          <p:cNvSpPr txBox="1"/>
          <p:nvPr/>
        </p:nvSpPr>
        <p:spPr>
          <a:xfrm>
            <a:off x="548640" y="3941064"/>
            <a:ext cx="384048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Vidal Pastor et al. (2011).</a:t>
            </a:r>
            <a:endParaRPr lang="en-US" sz="1000" dirty="0"/>
          </a:p>
        </p:txBody>
      </p:sp>
      <p:pic>
        <p:nvPicPr>
          <p:cNvPr id="6" name="Figura V_p010_2.png" descr="V_p010_2.png">    </p:cNvPr>
          <p:cNvPicPr>
            <a:picLocks noChangeAspect="1"/>
          </p:cNvPicPr>
          <p:nvPr/>
        </p:nvPicPr>
        <p:blipFill>
          <a:blip r:embed="rId2"/>
          <a:stretch>
            <a:fillRect/>
          </a:stretch>
        </p:blipFill>
        <p:spPr>
          <a:xfrm>
            <a:off x="4543527" y="1234440"/>
            <a:ext cx="3257347" cy="2377440"/>
          </a:xfrm>
          <a:prstGeom prst="rect">
            <a:avLst/>
          </a:prstGeom>
        </p:spPr>
      </p:pic>
      <p:sp>
        <p:nvSpPr>
          <p:cNvPr id="7" name="Text 2"/>
          <p:cNvSpPr txBox="1"/>
          <p:nvPr/>
        </p:nvSpPr>
        <p:spPr>
          <a:xfrm>
            <a:off x="4543527" y="3666744"/>
            <a:ext cx="32918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Vidal Pastor et al. (2011).</a:t>
            </a:r>
            <a:endParaRPr lang="en-US" sz="1000" dirty="0"/>
          </a:p>
        </p:txBody>
      </p:sp>
      <p:pic>
        <p:nvPicPr>
          <p:cNvPr id="8" name="Figura v_trampillas.jpg" descr="v_trampillas.jpg">    </p:cNvPr>
          <p:cNvPicPr>
            <a:picLocks noChangeAspect="1"/>
          </p:cNvPicPr>
          <p:nvPr/>
        </p:nvPicPr>
        <p:blipFill>
          <a:blip r:embed="rId3"/>
          <a:stretch>
            <a:fillRect/>
          </a:stretch>
        </p:blipFill>
        <p:spPr>
          <a:xfrm>
            <a:off x="8001000" y="1595891"/>
            <a:ext cx="3703320" cy="2203178"/>
          </a:xfrm>
          <a:prstGeom prst="rect">
            <a:avLst/>
          </a:prstGeom>
        </p:spPr>
      </p:pic>
      <p:sp>
        <p:nvSpPr>
          <p:cNvPr id="9" name="Text 3"/>
          <p:cNvSpPr txBox="1"/>
          <p:nvPr/>
        </p:nvSpPr>
        <p:spPr>
          <a:xfrm>
            <a:off x="8001000" y="3853933"/>
            <a:ext cx="370332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Vidal Pastor et al. (2011).</a:t>
            </a:r>
            <a:endParaRPr lang="en-US" sz="1000" dirty="0"/>
          </a:p>
        </p:txBody>
      </p:sp>
      <p:sp>
        <p:nvSpPr>
          <p:cNvPr id="10" name="Text 4"/>
          <p:cNvSpPr txBox="1"/>
          <p:nvPr/>
        </p:nvSpPr>
        <p:spPr>
          <a:xfrm>
            <a:off x="502920" y="4572000"/>
            <a:ext cx="11201400" cy="1645920"/>
          </a:xfrm>
          <a:prstGeom prst="rect">
            <a:avLst/>
          </a:prstGeom>
          <a:noFill/>
          <a:ln/>
        </p:spPr>
        <p:txBody>
          <a:bodyPr wrap="square" lIns="25400" tIns="25400" rIns="50800" bIns="25400" rtlCol="0" anchor="t"/>
          <a:lstStyle/>
          <a:p>
            <a:pPr marL="203200" indent="-203200">
              <a:spcAft>
                <a:spcPts val="600"/>
              </a:spcAft>
              <a:buSzPct val="100000"/>
              <a:buChar char="•"/>
            </a:pPr>
            <a:r>
              <a:rPr lang="en-US" sz="1500" b="1" dirty="0">
                <a:solidFill>
                  <a:schemeClr val="tx1"/>
                </a:solidFill>
              </a:rPr>
              <a:t>Bloque climatizador: </a:t>
            </a:r>
            <a:pPr indent="0" marL="0">
              <a:buNone/>
            </a:pPr>
            <a:r>
              <a:rPr lang="en-US" sz="1500" dirty="0">
                <a:solidFill>
                  <a:schemeClr val="tx1"/>
                </a:solidFill>
              </a:rPr>
              <a:t>soplador, radiador, trampillas y conductos.</a:t>
            </a:r>
            <a:endParaRPr lang="en-US" sz="1500" dirty="0"/>
          </a:p>
          <a:p>
            <a:pPr marL="203200" indent="-203200">
              <a:spcAft>
                <a:spcPts val="600"/>
              </a:spcAft>
              <a:buSzPct val="100000"/>
              <a:buChar char="•"/>
            </a:pPr>
            <a:r>
              <a:rPr lang="en-US" sz="1500" b="1" dirty="0">
                <a:solidFill>
                  <a:schemeClr val="tx1"/>
                </a:solidFill>
              </a:rPr>
              <a:t>Soplador: </a:t>
            </a:r>
            <a:pPr indent="0" marL="0">
              <a:buNone/>
            </a:pPr>
            <a:r>
              <a:rPr lang="en-US" sz="1500" dirty="0">
                <a:solidFill>
                  <a:schemeClr val="tx1"/>
                </a:solidFill>
              </a:rPr>
              <a:t>motor de CC con turbina; varias velocidades.</a:t>
            </a:r>
            <a:endParaRPr lang="en-US" sz="1500" dirty="0"/>
          </a:p>
          <a:p>
            <a:pPr marL="203200" indent="-203200">
              <a:spcAft>
                <a:spcPts val="600"/>
              </a:spcAft>
              <a:buSzPct val="100000"/>
              <a:buChar char="•"/>
            </a:pPr>
            <a:r>
              <a:rPr lang="en-US" sz="1500" b="1" dirty="0">
                <a:solidFill>
                  <a:schemeClr val="tx1"/>
                </a:solidFill>
              </a:rPr>
              <a:t>Mandos: </a:t>
            </a:r>
            <a:pPr indent="0" marL="0">
              <a:buNone/>
            </a:pPr>
            <a:r>
              <a:rPr lang="en-US" sz="1500" dirty="0">
                <a:solidFill>
                  <a:schemeClr val="tx1"/>
                </a:solidFill>
              </a:rPr>
              <a:t>temperatura, distribución y velocidad.</a:t>
            </a:r>
            <a:endParaRPr lang="en-US" sz="1500" dirty="0"/>
          </a:p>
          <a:p>
            <a:pPr marL="203200" indent="-203200">
              <a:spcAft>
                <a:spcPts val="600"/>
              </a:spcAft>
              <a:buSzPct val="100000"/>
              <a:buChar char="•"/>
            </a:pPr>
            <a:r>
              <a:rPr lang="en-US" sz="1500" b="1" dirty="0">
                <a:solidFill>
                  <a:schemeClr val="tx1"/>
                </a:solidFill>
              </a:rPr>
              <a:t>Calefacción eléctrica: </a:t>
            </a:r>
            <a:pPr indent="0" marL="0">
              <a:buNone/>
            </a:pPr>
            <a:r>
              <a:rPr lang="en-US" sz="1500" dirty="0">
                <a:solidFill>
                  <a:schemeClr val="tx1"/>
                </a:solidFill>
              </a:rPr>
              <a:t>resistencias PTC que calientan mientras el motor está frío (&lt; 50 °C).</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Velocidades del soplador y calefactores eléctricos</a:t>
            </a:r>
            <a:endParaRPr lang="en-US" sz="2800" dirty="0"/>
          </a:p>
        </p:txBody>
      </p:sp>
      <p:pic>
        <p:nvPicPr>
          <p:cNvPr id="4" name="Figura v_ventilador.jpg" descr="v_ventilador.jpg">    </p:cNvPr>
          <p:cNvPicPr>
            <a:picLocks noChangeAspect="1"/>
          </p:cNvPicPr>
          <p:nvPr/>
        </p:nvPicPr>
        <p:blipFill>
          <a:blip r:embed="rId1"/>
          <a:stretch>
            <a:fillRect/>
          </a:stretch>
        </p:blipFill>
        <p:spPr>
          <a:xfrm>
            <a:off x="502920" y="1371205"/>
            <a:ext cx="4937760" cy="2012471"/>
          </a:xfrm>
          <a:prstGeom prst="rect">
            <a:avLst/>
          </a:prstGeom>
        </p:spPr>
      </p:pic>
      <p:sp>
        <p:nvSpPr>
          <p:cNvPr id="5" name="Text 1"/>
          <p:cNvSpPr txBox="1"/>
          <p:nvPr/>
        </p:nvSpPr>
        <p:spPr>
          <a:xfrm>
            <a:off x="502920" y="3438539"/>
            <a:ext cx="49377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Vidal Pastor et al. (2011).</a:t>
            </a:r>
            <a:endParaRPr lang="en-US" sz="1000" dirty="0"/>
          </a:p>
        </p:txBody>
      </p:sp>
      <p:pic>
        <p:nvPicPr>
          <p:cNvPr id="6" name="Figura v_radelec.jpg" descr="v_radelec.jpg">    </p:cNvPr>
          <p:cNvPicPr>
            <a:picLocks noChangeAspect="1"/>
          </p:cNvPicPr>
          <p:nvPr/>
        </p:nvPicPr>
        <p:blipFill>
          <a:blip r:embed="rId2"/>
          <a:stretch>
            <a:fillRect/>
          </a:stretch>
        </p:blipFill>
        <p:spPr>
          <a:xfrm>
            <a:off x="825628" y="4114800"/>
            <a:ext cx="1914903" cy="1645920"/>
          </a:xfrm>
          <a:prstGeom prst="rect">
            <a:avLst/>
          </a:prstGeom>
        </p:spPr>
      </p:pic>
      <p:sp>
        <p:nvSpPr>
          <p:cNvPr id="7" name="Text 2"/>
          <p:cNvSpPr txBox="1"/>
          <p:nvPr/>
        </p:nvSpPr>
        <p:spPr>
          <a:xfrm>
            <a:off x="548640" y="5815584"/>
            <a:ext cx="256032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Vidal Pastor et al. (2011).</a:t>
            </a:r>
            <a:endParaRPr lang="en-US" sz="1000" dirty="0"/>
          </a:p>
        </p:txBody>
      </p:sp>
      <p:pic>
        <p:nvPicPr>
          <p:cNvPr id="8" name="Figura ll_esq718.jpg" descr="ll_esq718.jpg">    </p:cNvPr>
          <p:cNvPicPr>
            <a:picLocks noChangeAspect="1"/>
          </p:cNvPicPr>
          <p:nvPr/>
        </p:nvPicPr>
        <p:blipFill>
          <a:blip r:embed="rId3"/>
          <a:stretch>
            <a:fillRect/>
          </a:stretch>
        </p:blipFill>
        <p:spPr>
          <a:xfrm>
            <a:off x="5669280" y="1510937"/>
            <a:ext cx="2926080" cy="2647406"/>
          </a:xfrm>
          <a:prstGeom prst="rect">
            <a:avLst/>
          </a:prstGeom>
        </p:spPr>
      </p:pic>
      <p:sp>
        <p:nvSpPr>
          <p:cNvPr id="9" name="Text 3"/>
          <p:cNvSpPr txBox="1"/>
          <p:nvPr/>
        </p:nvSpPr>
        <p:spPr>
          <a:xfrm>
            <a:off x="5669280" y="4213207"/>
            <a:ext cx="292608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sp>
        <p:nvSpPr>
          <p:cNvPr id="10" name="Text 4"/>
          <p:cNvSpPr txBox="1"/>
          <p:nvPr/>
        </p:nvSpPr>
        <p:spPr>
          <a:xfrm>
            <a:off x="8778240" y="1188720"/>
            <a:ext cx="2926080" cy="4937760"/>
          </a:xfrm>
          <a:prstGeom prst="rect">
            <a:avLst/>
          </a:prstGeom>
          <a:noFill/>
          <a:ln/>
        </p:spPr>
        <p:txBody>
          <a:bodyPr wrap="square" lIns="25400" tIns="25400" rIns="50800" bIns="25400" rtlCol="0" anchor="t"/>
          <a:lstStyle/>
          <a:p>
            <a:pPr marL="203200" indent="-203200">
              <a:spcAft>
                <a:spcPts val="600"/>
              </a:spcAft>
              <a:buSzPct val="100000"/>
              <a:buChar char="•"/>
            </a:pPr>
            <a:r>
              <a:rPr lang="en-US" sz="1400" b="1" dirty="0">
                <a:solidFill>
                  <a:schemeClr val="tx1"/>
                </a:solidFill>
              </a:rPr>
              <a:t>Luneta térmica: </a:t>
            </a:r>
            <a:pPr indent="0" marL="0">
              <a:buNone/>
            </a:pPr>
            <a:r>
              <a:rPr lang="en-US" sz="1400" dirty="0">
                <a:solidFill>
                  <a:schemeClr val="tx1"/>
                </a:solidFill>
              </a:rPr>
              <a:t>hilos resistivos en paralelo serigrafiados en el cristal.</a:t>
            </a:r>
            <a:endParaRPr lang="en-US" sz="1400" dirty="0"/>
          </a:p>
          <a:p>
            <a:pPr marL="203200" indent="-203200">
              <a:spcAft>
                <a:spcPts val="600"/>
              </a:spcAft>
              <a:buSzPct val="100000"/>
              <a:buChar char="•"/>
            </a:pPr>
            <a:r>
              <a:rPr lang="en-US" sz="1400" b="1" dirty="0">
                <a:solidFill>
                  <a:schemeClr val="tx1"/>
                </a:solidFill>
              </a:rPr>
              <a:t>Temporizador: </a:t>
            </a:r>
            <a:pPr indent="0" marL="0">
              <a:buNone/>
            </a:pPr>
            <a:r>
              <a:rPr lang="en-US" sz="1400" dirty="0">
                <a:solidFill>
                  <a:schemeClr val="tx1"/>
                </a:solidFill>
              </a:rPr>
              <a:t>corta a los pocos minutos por su alto consumo.</a:t>
            </a:r>
            <a:endParaRPr lang="en-US" sz="1400" dirty="0"/>
          </a:p>
          <a:p>
            <a:pPr marL="203200" indent="-203200">
              <a:spcAft>
                <a:spcPts val="600"/>
              </a:spcAft>
              <a:buSzPct val="100000"/>
              <a:buChar char="•"/>
            </a:pPr>
            <a:r>
              <a:rPr lang="en-US" sz="1400" b="1" dirty="0">
                <a:solidFill>
                  <a:schemeClr val="tx1"/>
                </a:solidFill>
              </a:rPr>
              <a:t>Espejos calefactados: </a:t>
            </a:r>
            <a:pPr indent="0" marL="0">
              <a:buNone/>
            </a:pPr>
            <a:r>
              <a:rPr lang="en-US" sz="1400" dirty="0">
                <a:solidFill>
                  <a:schemeClr val="tx1"/>
                </a:solidFill>
              </a:rPr>
              <a:t>en paralelo con la luneta.</a:t>
            </a:r>
            <a:endParaRPr lang="en-US" sz="1400" dirty="0"/>
          </a:p>
          <a:p>
            <a:pPr marL="203200" indent="-203200">
              <a:spcAft>
                <a:spcPts val="600"/>
              </a:spcAft>
              <a:buSzPct val="100000"/>
              <a:buChar char="•"/>
            </a:pPr>
            <a:r>
              <a:rPr lang="en-US" sz="1400" b="1" dirty="0">
                <a:solidFill>
                  <a:schemeClr val="tx1"/>
                </a:solidFill>
              </a:rPr>
              <a:t>PTC: </a:t>
            </a:r>
            <a:pPr indent="0" marL="0">
              <a:buNone/>
            </a:pPr>
            <a:r>
              <a:rPr lang="en-US" sz="1400" dirty="0">
                <a:solidFill>
                  <a:schemeClr val="tx1"/>
                </a:solidFill>
              </a:rPr>
              <a:t>su resistencia sube con la temperatura y se autolimita.</a:t>
            </a:r>
            <a:endParaRPr lang="en-US" sz="1400" dirty="0"/>
          </a:p>
        </p:txBody>
      </p:sp>
      <p:pic>
        <p:nvPicPr>
          <p:cNvPr id="11" name="Figura ll_luneta.jpg" descr="ll_luneta.jpg">    </p:cNvPr>
          <p:cNvPicPr>
            <a:picLocks noChangeAspect="1"/>
          </p:cNvPicPr>
          <p:nvPr/>
        </p:nvPicPr>
        <p:blipFill>
          <a:blip r:embed="rId4"/>
          <a:stretch>
            <a:fillRect/>
          </a:stretch>
        </p:blipFill>
        <p:spPr>
          <a:xfrm>
            <a:off x="3246120" y="4263759"/>
            <a:ext cx="2194560" cy="982243"/>
          </a:xfrm>
          <a:prstGeom prst="rect">
            <a:avLst/>
          </a:prstGeom>
        </p:spPr>
      </p:pic>
      <p:sp>
        <p:nvSpPr>
          <p:cNvPr id="12" name="Text 5"/>
          <p:cNvSpPr txBox="1"/>
          <p:nvPr/>
        </p:nvSpPr>
        <p:spPr>
          <a:xfrm>
            <a:off x="3246120" y="5300865"/>
            <a:ext cx="21945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Ejemplo resuelto: luneta térmica</a:t>
            </a:r>
            <a:endParaRPr lang="en-US" sz="2800" dirty="0"/>
          </a:p>
        </p:txBody>
      </p:sp>
      <p:sp>
        <p:nvSpPr>
          <p:cNvPr id="4" name="Shape 1"/>
          <p:cNvSpPr/>
          <p:nvPr/>
        </p:nvSpPr>
        <p:spPr>
          <a:xfrm>
            <a:off x="502920" y="1234440"/>
            <a:ext cx="2103120" cy="365760"/>
          </a:xfrm>
          <a:prstGeom prst="roundRect">
            <a:avLst>
              <a:gd name="adj" fmla="val 50000"/>
            </a:avLst>
          </a:prstGeom>
          <a:solidFill>
            <a:srgbClr val="F2A516"/>
          </a:solidFill>
          <a:ln w="12700">
            <a:solidFill>
              <a:srgbClr val="F2A516"/>
            </a:solidFill>
            <a:prstDash val="solid"/>
          </a:ln>
        </p:spPr>
      </p:sp>
      <p:sp>
        <p:nvSpPr>
          <p:cNvPr id="5" name="Text 2"/>
          <p:cNvSpPr txBox="1"/>
          <p:nvPr/>
        </p:nvSpPr>
        <p:spPr>
          <a:xfrm>
            <a:off x="502920" y="1234440"/>
            <a:ext cx="2103120" cy="365760"/>
          </a:xfrm>
          <a:prstGeom prst="rect">
            <a:avLst/>
          </a:prstGeom>
          <a:noFill/>
          <a:ln/>
        </p:spPr>
        <p:txBody>
          <a:bodyPr wrap="square" lIns="0" tIns="0" rIns="0" bIns="0" rtlCol="0" anchor="ctr"/>
          <a:lstStyle/>
          <a:p>
            <a:pPr algn="ctr" indent="0" marL="0">
              <a:buNone/>
            </a:pPr>
            <a:r>
              <a:rPr lang="en-US" sz="1300" b="1" dirty="0">
                <a:solidFill>
                  <a:srgbClr val="1B2A33"/>
                </a:solidFill>
              </a:rPr>
              <a:t>Ejemplo resuelto</a:t>
            </a:r>
            <a:endParaRPr lang="en-US" sz="1300" dirty="0"/>
          </a:p>
        </p:txBody>
      </p:sp>
      <p:sp>
        <p:nvSpPr>
          <p:cNvPr id="6" name="Text 3"/>
          <p:cNvSpPr txBox="1"/>
          <p:nvPr/>
        </p:nvSpPr>
        <p:spPr>
          <a:xfrm>
            <a:off x="502920" y="1737360"/>
            <a:ext cx="11201400" cy="4480560"/>
          </a:xfrm>
          <a:prstGeom prst="rect">
            <a:avLst/>
          </a:prstGeom>
          <a:noFill/>
          <a:ln/>
        </p:spPr>
        <p:txBody>
          <a:bodyPr wrap="square" lIns="25400" tIns="25400" rIns="50800" bIns="25400" rtlCol="0" anchor="t"/>
          <a:lstStyle/>
          <a:p>
            <a:pPr indent="0" marL="0">
              <a:spcAft>
                <a:spcPts val="400"/>
              </a:spcAft>
              <a:buNone/>
            </a:pPr>
            <a:r>
              <a:rPr lang="en-US" sz="1700" b="1" dirty="0">
                <a:solidFill>
                  <a:schemeClr val="accent1"/>
                </a:solidFill>
              </a:rPr>
              <a:t>Datos</a:t>
            </a:r>
            <a:endParaRPr lang="en-US" sz="1700" dirty="0"/>
          </a:p>
          <a:p>
            <a:pPr marL="203200" indent="-203200">
              <a:spcAft>
                <a:spcPts val="600"/>
              </a:spcAft>
              <a:buSzPct val="100000"/>
              <a:buChar char="•"/>
            </a:pPr>
            <a:r>
              <a:rPr lang="en-US" sz="1600" dirty="0">
                <a:solidFill>
                  <a:schemeClr val="tx1"/>
                </a:solidFill>
              </a:rPr>
              <a:t>Luneta de 150 W a 13,5 V con 12 hilos iguales en paralelo.</a:t>
            </a:r>
            <a:endParaRPr lang="en-US" sz="1700" dirty="0"/>
          </a:p>
          <a:p>
            <a:pPr indent="0" marL="0">
              <a:spcAft>
                <a:spcPts val="400"/>
              </a:spcAft>
              <a:buNone/>
            </a:pPr>
            <a:r>
              <a:rPr lang="en-US" sz="1700" b="1" dirty="0">
                <a:solidFill>
                  <a:schemeClr val="accent1"/>
                </a:solidFill>
              </a:rPr>
              <a:t>Cálculo</a:t>
            </a:r>
            <a:endParaRPr lang="en-US" sz="1700" dirty="0"/>
          </a:p>
          <a:p>
            <a:pPr marL="203200" indent="-203200">
              <a:spcAft>
                <a:spcPts val="600"/>
              </a:spcAft>
              <a:buSzPct val="100000"/>
              <a:buChar char="•"/>
            </a:pPr>
            <a:r>
              <a:rPr lang="en-US" sz="1600" dirty="0">
                <a:solidFill>
                  <a:schemeClr val="tx1"/>
                </a:solidFill>
              </a:rPr>
              <a:t>I = 150 / 13,5 = 11,1 A;  R total = 13,5 / 11,1 = 1,22 Ω</a:t>
            </a:r>
            <a:endParaRPr lang="en-US" sz="1700" dirty="0"/>
          </a:p>
          <a:p>
            <a:pPr marL="203200" indent="-203200">
              <a:spcAft>
                <a:spcPts val="600"/>
              </a:spcAft>
              <a:buSzPct val="100000"/>
              <a:buChar char="•"/>
            </a:pPr>
            <a:r>
              <a:rPr lang="en-US" sz="1600" dirty="0">
                <a:solidFill>
                  <a:schemeClr val="tx1"/>
                </a:solidFill>
              </a:rPr>
              <a:t>R de cada hilo = 12 × 1,22 = 14,6 Ω;  I por hilo = 0,93 A</a:t>
            </a:r>
            <a:endParaRPr lang="en-US" sz="1700" dirty="0"/>
          </a:p>
          <a:p>
            <a:pPr indent="0" marL="0">
              <a:spcAft>
                <a:spcPts val="400"/>
              </a:spcAft>
              <a:buNone/>
            </a:pPr>
            <a:r>
              <a:rPr lang="en-US" sz="1700" b="1" dirty="0">
                <a:solidFill>
                  <a:schemeClr val="accent1"/>
                </a:solidFill>
              </a:rPr>
              <a:t>Con un hilo cortado</a:t>
            </a:r>
            <a:endParaRPr lang="en-US" sz="1700" dirty="0"/>
          </a:p>
          <a:p>
            <a:pPr marL="203200" indent="-203200">
              <a:spcAft>
                <a:spcPts val="600"/>
              </a:spcAft>
              <a:buSzPct val="100000"/>
              <a:buChar char="•"/>
            </a:pPr>
            <a:r>
              <a:rPr lang="en-US" sz="1600" dirty="0">
                <a:solidFill>
                  <a:schemeClr val="tx1"/>
                </a:solidFill>
              </a:rPr>
              <a:t>Quedan 11 hilos: I = 11 × 0,93 = 10,2 A (P ≈ 138 W)</a:t>
            </a:r>
            <a:endParaRPr lang="en-US" sz="1700" dirty="0"/>
          </a:p>
          <a:p>
            <a:pPr marL="203200" indent="-203200">
              <a:spcAft>
                <a:spcPts val="600"/>
              </a:spcAft>
              <a:buSzPct val="100000"/>
              <a:buChar char="•"/>
            </a:pPr>
            <a:r>
              <a:rPr lang="en-US" sz="1600" dirty="0">
                <a:solidFill>
                  <a:schemeClr val="tx1"/>
                </a:solidFill>
              </a:rPr>
              <a:t>La pinza detecta un consumo un 8 % menor; en el hilo cortado se mide 13,5 V a un lado y 0 V al otro.</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4.14.3 Regulación electrónica de la calefacción</a:t>
            </a:r>
            <a:endParaRPr lang="en-US" sz="2800" dirty="0"/>
          </a:p>
        </p:txBody>
      </p:sp>
      <p:sp>
        <p:nvSpPr>
          <p:cNvPr id="4" name="Shape 1"/>
          <p:cNvSpPr/>
          <p:nvPr/>
        </p:nvSpPr>
        <p:spPr>
          <a:xfrm>
            <a:off x="1239012" y="1463040"/>
            <a:ext cx="777240" cy="777240"/>
          </a:xfrm>
          <a:prstGeom prst="ellipse">
            <a:avLst/>
          </a:prstGeom>
          <a:solidFill>
            <a:srgbClr val="007578"/>
          </a:solidFill>
          <a:ln w="12700">
            <a:solidFill>
              <a:srgbClr val="007578"/>
            </a:solidFill>
            <a:prstDash val="solid"/>
          </a:ln>
        </p:spPr>
      </p:sp>
      <p:sp>
        <p:nvSpPr>
          <p:cNvPr id="5" name="Text 2"/>
          <p:cNvSpPr txBox="1"/>
          <p:nvPr/>
        </p:nvSpPr>
        <p:spPr>
          <a:xfrm>
            <a:off x="1239012" y="146304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6" name="Shape 3"/>
          <p:cNvSpPr/>
          <p:nvPr/>
        </p:nvSpPr>
        <p:spPr>
          <a:xfrm>
            <a:off x="2080260" y="1847088"/>
            <a:ext cx="1325880" cy="0"/>
          </a:xfrm>
          <a:prstGeom prst="line">
            <a:avLst/>
          </a:prstGeom>
          <a:noFill/>
          <a:ln w="19050">
            <a:solidFill>
              <a:srgbClr val="5B6770"/>
            </a:solidFill>
            <a:prstDash val="solid"/>
            <a:tailEnd type="triangle"/>
          </a:ln>
        </p:spPr>
      </p:sp>
      <p:sp>
        <p:nvSpPr>
          <p:cNvPr id="7" name="Text 4"/>
          <p:cNvSpPr txBox="1"/>
          <p:nvPr/>
        </p:nvSpPr>
        <p:spPr>
          <a:xfrm>
            <a:off x="548640" y="2377440"/>
            <a:ext cx="2148840" cy="685800"/>
          </a:xfrm>
          <a:prstGeom prst="rect">
            <a:avLst/>
          </a:prstGeom>
          <a:noFill/>
          <a:ln/>
        </p:spPr>
        <p:txBody>
          <a:bodyPr wrap="square" lIns="0" tIns="0" rIns="0" bIns="0" rtlCol="0" anchor="t"/>
          <a:lstStyle/>
          <a:p>
            <a:pPr algn="ctr" indent="0" marL="0">
              <a:buNone/>
            </a:pPr>
            <a:r>
              <a:rPr lang="en-US" sz="1600" b="1" dirty="0">
                <a:solidFill>
                  <a:srgbClr val="00575A"/>
                </a:solidFill>
              </a:rPr>
              <a:t>Consigna</a:t>
            </a:r>
            <a:endParaRPr lang="en-US" sz="1600" dirty="0"/>
          </a:p>
        </p:txBody>
      </p:sp>
      <p:sp>
        <p:nvSpPr>
          <p:cNvPr id="8" name="Text 5"/>
          <p:cNvSpPr txBox="1"/>
          <p:nvPr/>
        </p:nvSpPr>
        <p:spPr>
          <a:xfrm>
            <a:off x="548640" y="3063240"/>
            <a:ext cx="2148840" cy="1737360"/>
          </a:xfrm>
          <a:prstGeom prst="rect">
            <a:avLst/>
          </a:prstGeom>
          <a:noFill/>
          <a:ln/>
        </p:spPr>
        <p:txBody>
          <a:bodyPr wrap="square" lIns="0" tIns="0" rIns="0" bIns="0" rtlCol="0" anchor="t"/>
          <a:lstStyle/>
          <a:p>
            <a:pPr algn="ctr" indent="0" marL="0">
              <a:buNone/>
            </a:pPr>
            <a:r>
              <a:rPr lang="en-US" sz="1400" dirty="0">
                <a:solidFill>
                  <a:srgbClr val="1B2A33"/>
                </a:solidFill>
              </a:rPr>
              <a:t>El conductor fija la temperatura (p. ej., 22 °C).</a:t>
            </a:r>
            <a:endParaRPr lang="en-US" sz="1400" dirty="0"/>
          </a:p>
        </p:txBody>
      </p:sp>
      <p:sp>
        <p:nvSpPr>
          <p:cNvPr id="9" name="Shape 6"/>
          <p:cNvSpPr/>
          <p:nvPr/>
        </p:nvSpPr>
        <p:spPr>
          <a:xfrm>
            <a:off x="3479292" y="1463040"/>
            <a:ext cx="777240" cy="777240"/>
          </a:xfrm>
          <a:prstGeom prst="ellipse">
            <a:avLst/>
          </a:prstGeom>
          <a:solidFill>
            <a:srgbClr val="007578"/>
          </a:solidFill>
          <a:ln w="12700">
            <a:solidFill>
              <a:srgbClr val="007578"/>
            </a:solidFill>
            <a:prstDash val="solid"/>
          </a:ln>
        </p:spPr>
      </p:sp>
      <p:sp>
        <p:nvSpPr>
          <p:cNvPr id="10" name="Text 7"/>
          <p:cNvSpPr txBox="1"/>
          <p:nvPr/>
        </p:nvSpPr>
        <p:spPr>
          <a:xfrm>
            <a:off x="3479292" y="146304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1" name="Shape 8"/>
          <p:cNvSpPr/>
          <p:nvPr/>
        </p:nvSpPr>
        <p:spPr>
          <a:xfrm>
            <a:off x="4320540" y="1847088"/>
            <a:ext cx="1325880" cy="0"/>
          </a:xfrm>
          <a:prstGeom prst="line">
            <a:avLst/>
          </a:prstGeom>
          <a:noFill/>
          <a:ln w="19050">
            <a:solidFill>
              <a:srgbClr val="5B6770"/>
            </a:solidFill>
            <a:prstDash val="solid"/>
            <a:tailEnd type="triangle"/>
          </a:ln>
        </p:spPr>
      </p:sp>
      <p:sp>
        <p:nvSpPr>
          <p:cNvPr id="12" name="Text 9"/>
          <p:cNvSpPr txBox="1"/>
          <p:nvPr/>
        </p:nvSpPr>
        <p:spPr>
          <a:xfrm>
            <a:off x="2788920" y="2377440"/>
            <a:ext cx="2148840" cy="685800"/>
          </a:xfrm>
          <a:prstGeom prst="rect">
            <a:avLst/>
          </a:prstGeom>
          <a:noFill/>
          <a:ln/>
        </p:spPr>
        <p:txBody>
          <a:bodyPr wrap="square" lIns="0" tIns="0" rIns="0" bIns="0" rtlCol="0" anchor="t"/>
          <a:lstStyle/>
          <a:p>
            <a:pPr algn="ctr" indent="0" marL="0">
              <a:buNone/>
            </a:pPr>
            <a:r>
              <a:rPr lang="en-US" sz="1600" b="1" dirty="0">
                <a:solidFill>
                  <a:srgbClr val="00575A"/>
                </a:solidFill>
              </a:rPr>
              <a:t>Sensores</a:t>
            </a:r>
            <a:endParaRPr lang="en-US" sz="1600" dirty="0"/>
          </a:p>
        </p:txBody>
      </p:sp>
      <p:sp>
        <p:nvSpPr>
          <p:cNvPr id="13" name="Text 10"/>
          <p:cNvSpPr txBox="1"/>
          <p:nvPr/>
        </p:nvSpPr>
        <p:spPr>
          <a:xfrm>
            <a:off x="2788920" y="3063240"/>
            <a:ext cx="2148840" cy="1737360"/>
          </a:xfrm>
          <a:prstGeom prst="rect">
            <a:avLst/>
          </a:prstGeom>
          <a:noFill/>
          <a:ln/>
        </p:spPr>
        <p:txBody>
          <a:bodyPr wrap="square" lIns="0" tIns="0" rIns="0" bIns="0" rtlCol="0" anchor="t"/>
          <a:lstStyle/>
          <a:p>
            <a:pPr algn="ctr" indent="0" marL="0">
              <a:buNone/>
            </a:pPr>
            <a:r>
              <a:rPr lang="en-US" sz="1400" dirty="0">
                <a:solidFill>
                  <a:srgbClr val="1B2A33"/>
                </a:solidFill>
              </a:rPr>
              <a:t>Temperatura interior (aspirada), exterior, radiación solar y de salida del aire.</a:t>
            </a:r>
            <a:endParaRPr lang="en-US" sz="1400" dirty="0"/>
          </a:p>
        </p:txBody>
      </p:sp>
      <p:sp>
        <p:nvSpPr>
          <p:cNvPr id="14" name="Shape 11"/>
          <p:cNvSpPr/>
          <p:nvPr/>
        </p:nvSpPr>
        <p:spPr>
          <a:xfrm>
            <a:off x="5719572" y="1463040"/>
            <a:ext cx="777240" cy="777240"/>
          </a:xfrm>
          <a:prstGeom prst="ellipse">
            <a:avLst/>
          </a:prstGeom>
          <a:solidFill>
            <a:srgbClr val="007578"/>
          </a:solidFill>
          <a:ln w="12700">
            <a:solidFill>
              <a:srgbClr val="007578"/>
            </a:solidFill>
            <a:prstDash val="solid"/>
          </a:ln>
        </p:spPr>
      </p:sp>
      <p:sp>
        <p:nvSpPr>
          <p:cNvPr id="15" name="Text 12"/>
          <p:cNvSpPr txBox="1"/>
          <p:nvPr/>
        </p:nvSpPr>
        <p:spPr>
          <a:xfrm>
            <a:off x="5719572" y="146304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16" name="Shape 13"/>
          <p:cNvSpPr/>
          <p:nvPr/>
        </p:nvSpPr>
        <p:spPr>
          <a:xfrm>
            <a:off x="6560820" y="1847088"/>
            <a:ext cx="1325880" cy="0"/>
          </a:xfrm>
          <a:prstGeom prst="line">
            <a:avLst/>
          </a:prstGeom>
          <a:noFill/>
          <a:ln w="19050">
            <a:solidFill>
              <a:srgbClr val="5B6770"/>
            </a:solidFill>
            <a:prstDash val="solid"/>
            <a:tailEnd type="triangle"/>
          </a:ln>
        </p:spPr>
      </p:sp>
      <p:sp>
        <p:nvSpPr>
          <p:cNvPr id="17" name="Text 14"/>
          <p:cNvSpPr txBox="1"/>
          <p:nvPr/>
        </p:nvSpPr>
        <p:spPr>
          <a:xfrm>
            <a:off x="5029200" y="2377440"/>
            <a:ext cx="2148840" cy="685800"/>
          </a:xfrm>
          <a:prstGeom prst="rect">
            <a:avLst/>
          </a:prstGeom>
          <a:noFill/>
          <a:ln/>
        </p:spPr>
        <p:txBody>
          <a:bodyPr wrap="square" lIns="0" tIns="0" rIns="0" bIns="0" rtlCol="0" anchor="t"/>
          <a:lstStyle/>
          <a:p>
            <a:pPr algn="ctr" indent="0" marL="0">
              <a:buNone/>
            </a:pPr>
            <a:r>
              <a:rPr lang="en-US" sz="1600" b="1" dirty="0">
                <a:solidFill>
                  <a:srgbClr val="00575A"/>
                </a:solidFill>
              </a:rPr>
              <a:t>Centralita</a:t>
            </a:r>
            <a:endParaRPr lang="en-US" sz="1600" dirty="0"/>
          </a:p>
        </p:txBody>
      </p:sp>
      <p:sp>
        <p:nvSpPr>
          <p:cNvPr id="18" name="Text 15"/>
          <p:cNvSpPr txBox="1"/>
          <p:nvPr/>
        </p:nvSpPr>
        <p:spPr>
          <a:xfrm>
            <a:off x="5029200" y="3063240"/>
            <a:ext cx="2148840" cy="1737360"/>
          </a:xfrm>
          <a:prstGeom prst="rect">
            <a:avLst/>
          </a:prstGeom>
          <a:noFill/>
          <a:ln/>
        </p:spPr>
        <p:txBody>
          <a:bodyPr wrap="square" lIns="0" tIns="0" rIns="0" bIns="0" rtlCol="0" anchor="t"/>
          <a:lstStyle/>
          <a:p>
            <a:pPr algn="ctr" indent="0" marL="0">
              <a:buNone/>
            </a:pPr>
            <a:r>
              <a:rPr lang="en-US" sz="1400" dirty="0">
                <a:solidFill>
                  <a:srgbClr val="1B2A33"/>
                </a:solidFill>
              </a:rPr>
              <a:t>Calcula la diferencia y decide la estrategia.</a:t>
            </a:r>
            <a:endParaRPr lang="en-US" sz="1400" dirty="0"/>
          </a:p>
        </p:txBody>
      </p:sp>
      <p:sp>
        <p:nvSpPr>
          <p:cNvPr id="19" name="Shape 16"/>
          <p:cNvSpPr/>
          <p:nvPr/>
        </p:nvSpPr>
        <p:spPr>
          <a:xfrm>
            <a:off x="7959852" y="1463040"/>
            <a:ext cx="777240" cy="777240"/>
          </a:xfrm>
          <a:prstGeom prst="ellipse">
            <a:avLst/>
          </a:prstGeom>
          <a:solidFill>
            <a:srgbClr val="007578"/>
          </a:solidFill>
          <a:ln w="12700">
            <a:solidFill>
              <a:srgbClr val="007578"/>
            </a:solidFill>
            <a:prstDash val="solid"/>
          </a:ln>
        </p:spPr>
      </p:sp>
      <p:sp>
        <p:nvSpPr>
          <p:cNvPr id="20" name="Text 17"/>
          <p:cNvSpPr txBox="1"/>
          <p:nvPr/>
        </p:nvSpPr>
        <p:spPr>
          <a:xfrm>
            <a:off x="7959852" y="146304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rPr>
              <a:t>4</a:t>
            </a:r>
            <a:endParaRPr lang="en-US" sz="2200" dirty="0"/>
          </a:p>
        </p:txBody>
      </p:sp>
      <p:sp>
        <p:nvSpPr>
          <p:cNvPr id="21" name="Shape 18"/>
          <p:cNvSpPr/>
          <p:nvPr/>
        </p:nvSpPr>
        <p:spPr>
          <a:xfrm>
            <a:off x="8801100" y="1847088"/>
            <a:ext cx="1325880" cy="0"/>
          </a:xfrm>
          <a:prstGeom prst="line">
            <a:avLst/>
          </a:prstGeom>
          <a:noFill/>
          <a:ln w="19050">
            <a:solidFill>
              <a:srgbClr val="5B6770"/>
            </a:solidFill>
            <a:prstDash val="solid"/>
            <a:tailEnd type="triangle"/>
          </a:ln>
        </p:spPr>
      </p:sp>
      <p:sp>
        <p:nvSpPr>
          <p:cNvPr id="22" name="Text 19"/>
          <p:cNvSpPr txBox="1"/>
          <p:nvPr/>
        </p:nvSpPr>
        <p:spPr>
          <a:xfrm>
            <a:off x="7269480" y="2377440"/>
            <a:ext cx="2148840" cy="685800"/>
          </a:xfrm>
          <a:prstGeom prst="rect">
            <a:avLst/>
          </a:prstGeom>
          <a:noFill/>
          <a:ln/>
        </p:spPr>
        <p:txBody>
          <a:bodyPr wrap="square" lIns="0" tIns="0" rIns="0" bIns="0" rtlCol="0" anchor="t"/>
          <a:lstStyle/>
          <a:p>
            <a:pPr algn="ctr" indent="0" marL="0">
              <a:buNone/>
            </a:pPr>
            <a:r>
              <a:rPr lang="en-US" sz="1600" b="1" dirty="0">
                <a:solidFill>
                  <a:srgbClr val="00575A"/>
                </a:solidFill>
              </a:rPr>
              <a:t>Actuadores</a:t>
            </a:r>
            <a:endParaRPr lang="en-US" sz="1600" dirty="0"/>
          </a:p>
        </p:txBody>
      </p:sp>
      <p:sp>
        <p:nvSpPr>
          <p:cNvPr id="23" name="Text 20"/>
          <p:cNvSpPr txBox="1"/>
          <p:nvPr/>
        </p:nvSpPr>
        <p:spPr>
          <a:xfrm>
            <a:off x="7269480" y="3063240"/>
            <a:ext cx="2148840" cy="1737360"/>
          </a:xfrm>
          <a:prstGeom prst="rect">
            <a:avLst/>
          </a:prstGeom>
          <a:noFill/>
          <a:ln/>
        </p:spPr>
        <p:txBody>
          <a:bodyPr wrap="square" lIns="0" tIns="0" rIns="0" bIns="0" rtlCol="0" anchor="t"/>
          <a:lstStyle/>
          <a:p>
            <a:pPr algn="ctr" indent="0" marL="0">
              <a:buNone/>
            </a:pPr>
            <a:r>
              <a:rPr lang="en-US" sz="1400" dirty="0">
                <a:solidFill>
                  <a:srgbClr val="1B2A33"/>
                </a:solidFill>
              </a:rPr>
              <a:t>Servomotores de trampillas con potenciómetro de posición; etapa de potencia (PWM) del soplador.</a:t>
            </a:r>
            <a:endParaRPr lang="en-US" sz="1400" dirty="0"/>
          </a:p>
        </p:txBody>
      </p:sp>
      <p:sp>
        <p:nvSpPr>
          <p:cNvPr id="24" name="Shape 21"/>
          <p:cNvSpPr/>
          <p:nvPr/>
        </p:nvSpPr>
        <p:spPr>
          <a:xfrm>
            <a:off x="10200132" y="1463040"/>
            <a:ext cx="777240" cy="777240"/>
          </a:xfrm>
          <a:prstGeom prst="ellipse">
            <a:avLst/>
          </a:prstGeom>
          <a:solidFill>
            <a:srgbClr val="F2A516"/>
          </a:solidFill>
          <a:ln w="12700">
            <a:solidFill>
              <a:srgbClr val="F2A516"/>
            </a:solidFill>
            <a:prstDash val="solid"/>
          </a:ln>
        </p:spPr>
      </p:sp>
      <p:sp>
        <p:nvSpPr>
          <p:cNvPr id="25" name="Text 22"/>
          <p:cNvSpPr txBox="1"/>
          <p:nvPr/>
        </p:nvSpPr>
        <p:spPr>
          <a:xfrm>
            <a:off x="10200132" y="1463040"/>
            <a:ext cx="777240" cy="777240"/>
          </a:xfrm>
          <a:prstGeom prst="rect">
            <a:avLst/>
          </a:prstGeom>
          <a:noFill/>
          <a:ln/>
        </p:spPr>
        <p:txBody>
          <a:bodyPr wrap="square" lIns="0" tIns="0" rIns="0" bIns="0" rtlCol="0" anchor="ctr"/>
          <a:lstStyle/>
          <a:p>
            <a:pPr algn="ctr" indent="0" marL="0">
              <a:buNone/>
            </a:pPr>
            <a:r>
              <a:rPr lang="en-US" sz="2200" b="1" dirty="0">
                <a:solidFill>
                  <a:srgbClr val="1B2A33"/>
                </a:solidFill>
              </a:rPr>
              <a:t>5</a:t>
            </a:r>
            <a:endParaRPr lang="en-US" sz="2200" dirty="0"/>
          </a:p>
        </p:txBody>
      </p:sp>
      <p:sp>
        <p:nvSpPr>
          <p:cNvPr id="26" name="Text 23"/>
          <p:cNvSpPr txBox="1"/>
          <p:nvPr/>
        </p:nvSpPr>
        <p:spPr>
          <a:xfrm>
            <a:off x="9509760" y="2377440"/>
            <a:ext cx="2148840" cy="685800"/>
          </a:xfrm>
          <a:prstGeom prst="rect">
            <a:avLst/>
          </a:prstGeom>
          <a:noFill/>
          <a:ln/>
        </p:spPr>
        <p:txBody>
          <a:bodyPr wrap="square" lIns="0" tIns="0" rIns="0" bIns="0" rtlCol="0" anchor="t"/>
          <a:lstStyle/>
          <a:p>
            <a:pPr algn="ctr" indent="0" marL="0">
              <a:buNone/>
            </a:pPr>
            <a:r>
              <a:rPr lang="en-US" sz="1600" b="1" dirty="0">
                <a:solidFill>
                  <a:srgbClr val="00575A"/>
                </a:solidFill>
              </a:rPr>
              <a:t>Resultado</a:t>
            </a:r>
            <a:endParaRPr lang="en-US" sz="1600" dirty="0"/>
          </a:p>
        </p:txBody>
      </p:sp>
      <p:sp>
        <p:nvSpPr>
          <p:cNvPr id="27" name="Text 24"/>
          <p:cNvSpPr txBox="1"/>
          <p:nvPr/>
        </p:nvSpPr>
        <p:spPr>
          <a:xfrm>
            <a:off x="9509760" y="3063240"/>
            <a:ext cx="2148840" cy="1737360"/>
          </a:xfrm>
          <a:prstGeom prst="rect">
            <a:avLst/>
          </a:prstGeom>
          <a:noFill/>
          <a:ln/>
        </p:spPr>
        <p:txBody>
          <a:bodyPr wrap="square" lIns="0" tIns="0" rIns="0" bIns="0" rtlCol="0" anchor="t"/>
          <a:lstStyle/>
          <a:p>
            <a:pPr algn="ctr" indent="0" marL="0">
              <a:buNone/>
            </a:pPr>
            <a:r>
              <a:rPr lang="en-US" sz="1400" dirty="0">
                <a:solidFill>
                  <a:srgbClr val="1B2A33"/>
                </a:solidFill>
              </a:rPr>
              <a:t>Temperatura estable sin intervención del conductor.</a:t>
            </a:r>
            <a:endParaRPr lang="en-US" sz="1400" dirty="0"/>
          </a:p>
        </p:txBody>
      </p:sp>
      <p:sp>
        <p:nvSpPr>
          <p:cNvPr id="28" name="Tarjeta Diferencia con el sistema manual"/>
          <p:cNvSpPr/>
          <p:nvPr/>
        </p:nvSpPr>
        <p:spPr>
          <a:xfrm>
            <a:off x="502920" y="4846320"/>
            <a:ext cx="11201400" cy="1280160"/>
          </a:xfrm>
          <a:prstGeom prst="roundRect">
            <a:avLst>
              <a:gd name="adj" fmla="val 5714"/>
            </a:avLst>
          </a:prstGeom>
          <a:solidFill>
            <a:srgbClr val="E4F1F1"/>
          </a:solidFill>
          <a:ln w="12700">
            <a:solidFill>
              <a:srgbClr val="E4F1F1"/>
            </a:solidFill>
            <a:prstDash val="solid"/>
          </a:ln>
        </p:spPr>
      </p:sp>
      <p:sp>
        <p:nvSpPr>
          <p:cNvPr id="29" name="Text 26"/>
          <p:cNvSpPr txBox="1"/>
          <p:nvPr/>
        </p:nvSpPr>
        <p:spPr>
          <a:xfrm>
            <a:off x="667512" y="4956048"/>
            <a:ext cx="10872216" cy="411480"/>
          </a:xfrm>
          <a:prstGeom prst="rect">
            <a:avLst/>
          </a:prstGeom>
          <a:noFill/>
          <a:ln/>
        </p:spPr>
        <p:txBody>
          <a:bodyPr wrap="square" lIns="0" tIns="0" rIns="0" bIns="0" rtlCol="0" anchor="t"/>
          <a:lstStyle/>
          <a:p>
            <a:pPr indent="0" marL="0">
              <a:buNone/>
            </a:pPr>
            <a:r>
              <a:rPr lang="en-US" sz="1700" b="1" dirty="0">
                <a:solidFill>
                  <a:schemeClr val="accent1"/>
                </a:solidFill>
              </a:rPr>
              <a:t>Diferencia con el sistema manual</a:t>
            </a:r>
            <a:endParaRPr lang="en-US" sz="1700" dirty="0"/>
          </a:p>
        </p:txBody>
      </p:sp>
      <p:sp>
        <p:nvSpPr>
          <p:cNvPr id="30" name="Text 27"/>
          <p:cNvSpPr txBox="1"/>
          <p:nvPr/>
        </p:nvSpPr>
        <p:spPr>
          <a:xfrm>
            <a:off x="667512" y="5394960"/>
            <a:ext cx="10872216" cy="64008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En el manual, cables o mandos eléctricos mueven trampillas y la caja de resistencias fija la velocidad; en el automático, sensores + centralita + servomotores, con autodiagnosis.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4.14.4 Verificación de limpiaparabrisas y calefactores</a:t>
            </a:r>
            <a:endParaRPr lang="en-US" sz="28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201400" cy="914400"/>
        </p:xfrm>
        <a:graphic>
          <a:graphicData uri="http://schemas.openxmlformats.org/drawingml/2006/table">
            <a:tbl>
              <a:tblPr/>
              <a:tblGrid>
                <a:gridCol w="4206240"/>
                <a:gridCol w="6995160"/>
              </a:tblGrid>
              <a:tr h="566928">
                <a:tc>
                  <a:txBody>
                    <a:bodyPr/>
                    <a:lstStyle/>
                    <a:p>
                      <a:pPr indent="0" marL="0">
                        <a:buNone/>
                      </a:pPr>
                      <a:r>
                        <a:rPr lang="en-US" sz="1400" b="1" dirty="0">
                          <a:solidFill>
                            <a:srgbClr val="FFFFFF"/>
                          </a:solidFill>
                        </a:rPr>
                        <a:t>Avería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400" b="1" dirty="0">
                          <a:solidFill>
                            <a:srgbClr val="FFFFFF"/>
                          </a:solidFill>
                        </a:rPr>
                        <a:t>Comprobación</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r>
              <a:tr h="566928">
                <a:tc>
                  <a:txBody>
                    <a:bodyPr/>
                    <a:lstStyle/>
                    <a:p>
                      <a:pPr indent="0" marL="0">
                        <a:buNone/>
                      </a:pPr>
                      <a:r>
                        <a:rPr lang="en-US" sz="1400" dirty="0">
                          <a:solidFill>
                            <a:srgbClr val="1B2A33"/>
                          </a:solidFill>
                        </a:rPr>
                        <a:t>Limpia no funciona en ninguna velocidad</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Fusible, masa 31b, alimentación en 53/53b, motor directo a batería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66928">
                <a:tc>
                  <a:txBody>
                    <a:bodyPr/>
                    <a:lstStyle/>
                    <a:p>
                      <a:pPr indent="0" marL="0">
                        <a:buNone/>
                      </a:pPr>
                      <a:r>
                        <a:rPr lang="en-US" sz="1400" dirty="0">
                          <a:solidFill>
                            <a:srgbClr val="1B2A33"/>
                          </a:solidFill>
                        </a:rPr>
                        <a:t>Funciona solo una velocidad</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Mando (continuidad por posición) o escobilla del motor</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A33"/>
                          </a:solidFill>
                        </a:rPr>
                        <a:t>No para en reposo / para en cualquier sitio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Leva o anillos de parada automática (53a)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66928">
                <a:tc>
                  <a:txBody>
                    <a:bodyPr/>
                    <a:lstStyle/>
                    <a:p>
                      <a:pPr indent="0" marL="0">
                        <a:buNone/>
                      </a:pPr>
                      <a:r>
                        <a:rPr lang="en-US" sz="1400" dirty="0">
                          <a:solidFill>
                            <a:srgbClr val="1B2A33"/>
                          </a:solidFill>
                        </a:rPr>
                        <a:t>Barrido lento con ruido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Timonería agarrotada, consumo elevado (pinza)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A33"/>
                          </a:solidFill>
                        </a:rPr>
                        <a:t>Soplador solo funciona en la máxima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Caja de resistencias (térmico abierto)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66928">
                <a:tc>
                  <a:txBody>
                    <a:bodyPr/>
                    <a:lstStyle/>
                    <a:p>
                      <a:pPr indent="0" marL="0">
                        <a:buNone/>
                      </a:pPr>
                      <a:r>
                        <a:rPr lang="en-US" sz="1400" dirty="0">
                          <a:solidFill>
                            <a:srgbClr val="1B2A33"/>
                          </a:solidFill>
                        </a:rPr>
                        <a:t>Calefacción insuficiente</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Termostato, grifo o trampilla de mezcla, purga del circuito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A33"/>
                          </a:solidFill>
                        </a:rPr>
                        <a:t>Luneta no desempaña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Relé temporizado, fusible, conectores, hilos cortados</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1"/>
          <p:cNvSpPr/>
          <p:nvPr>
            <p:ph idx="102" type="body" hasCustomPrompt="1"/>
          </p:nvPr>
        </p:nvSpPr>
        <p:spPr>
          <a:xfrm>
            <a:off x="731520" y="1463040"/>
            <a:ext cx="4114800" cy="1463040"/>
          </a:xfrm>
          <a:prstGeom prst="rect">
            <a:avLst/>
          </a:prstGeom>
          <a:noFill/>
          <a:ln/>
        </p:spPr>
        <p:txBody>
          <a:bodyPr wrap="square" rtlCol="0" anchor="b"/>
          <a:lstStyle/>
          <a:p>
            <a:pPr algn="l" indent="0" marL="0">
              <a:buNone/>
            </a:pPr>
            <a:r>
              <a:rPr lang="en-US" sz="8000" b="1" dirty="0">
                <a:solidFill>
                  <a:schemeClr val="accent2"/>
                </a:solidFill>
              </a:rPr>
              <a:t>4.15</a:t>
            </a:r>
            <a:endParaRPr lang="en-US" sz="8000" dirty="0"/>
          </a:p>
        </p:txBody>
      </p:sp>
      <p:sp>
        <p:nvSpPr>
          <p:cNvPr id="3" name="Text 1"/>
          <p:cNvSpPr/>
          <p:nvPr>
            <p:ph idx="103" type="title" hasCustomPrompt="1"/>
          </p:nvPr>
        </p:nvSpPr>
        <p:spPr>
          <a:xfrm>
            <a:off x="731520" y="2971800"/>
            <a:ext cx="10515600" cy="1371600"/>
          </a:xfrm>
          <a:prstGeom prst="rect">
            <a:avLst/>
          </a:prstGeom>
          <a:noFill/>
          <a:ln/>
        </p:spPr>
        <p:txBody>
          <a:bodyPr wrap="square" rtlCol="0" anchor="t"/>
          <a:lstStyle/>
          <a:p>
            <a:pPr algn="l" indent="0" marL="0">
              <a:buNone/>
            </a:pPr>
            <a:r>
              <a:rPr lang="en-US" sz="4000" b="1" dirty="0">
                <a:solidFill>
                  <a:schemeClr val="bg1"/>
                </a:solidFill>
              </a:rPr>
              <a:t>Cuadros de instrumentos e indicadores</a:t>
            </a:r>
            <a:endParaRPr lang="en-US" sz="4000" dirty="0"/>
          </a:p>
        </p:txBody>
      </p:sp>
      <p:sp>
        <p:nvSpPr>
          <p:cNvPr id="4" name="Text 1"/>
          <p:cNvSpPr/>
          <p:nvPr>
            <p:ph idx="104" type="body" hasCustomPrompt="1"/>
          </p:nvPr>
        </p:nvSpPr>
        <p:spPr>
          <a:xfrm>
            <a:off x="731520" y="4434840"/>
            <a:ext cx="10058400" cy="1463040"/>
          </a:xfrm>
          <a:prstGeom prst="rect">
            <a:avLst/>
          </a:prstGeom>
          <a:noFill/>
          <a:ln/>
        </p:spPr>
        <p:txBody>
          <a:bodyPr wrap="square" rtlCol="0" anchor="t"/>
          <a:lstStyle/>
          <a:p>
            <a:pPr algn="l" indent="0" marL="0">
              <a:buNone/>
            </a:pPr>
            <a:r>
              <a:rPr lang="en-US" sz="1800" dirty="0">
                <a:solidFill>
                  <a:schemeClr val="bg2"/>
                </a:solidFill>
              </a:rPr>
              <a:t>4.15.1 Testigos · 4.15.2 Combustible · 4.15.3 Aceite · 4.15.4 Temperatura del agua · 4.15.5 Velocímetro y cuentarrevoluciones · 4.15.6 Verificación</a:t>
            </a:r>
            <a:endParaRPr lang="en-US" sz="1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El cuadro de instrumentos y el reloj de bobinas cruzadas</a:t>
            </a:r>
            <a:endParaRPr lang="en-US" sz="2800" dirty="0"/>
          </a:p>
        </p:txBody>
      </p:sp>
      <p:pic>
        <p:nvPicPr>
          <p:cNvPr id="4" name="Figura ll_esq81.jpg" descr="ll_esq81.jpg">    </p:cNvPr>
          <p:cNvPicPr>
            <a:picLocks noChangeAspect="1"/>
          </p:cNvPicPr>
          <p:nvPr/>
        </p:nvPicPr>
        <p:blipFill>
          <a:blip r:embed="rId1"/>
          <a:stretch>
            <a:fillRect/>
          </a:stretch>
        </p:blipFill>
        <p:spPr>
          <a:xfrm>
            <a:off x="502920" y="1240633"/>
            <a:ext cx="4937760" cy="1999295"/>
          </a:xfrm>
          <a:prstGeom prst="rect">
            <a:avLst/>
          </a:prstGeom>
        </p:spPr>
      </p:pic>
      <p:sp>
        <p:nvSpPr>
          <p:cNvPr id="5" name="Text 1"/>
          <p:cNvSpPr txBox="1"/>
          <p:nvPr/>
        </p:nvSpPr>
        <p:spPr>
          <a:xfrm>
            <a:off x="502920" y="3294791"/>
            <a:ext cx="49377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6" name="Figura M_p166_0.png" descr="M_p166_0.png">    </p:cNvPr>
          <p:cNvPicPr>
            <a:picLocks noChangeAspect="1"/>
          </p:cNvPicPr>
          <p:nvPr/>
        </p:nvPicPr>
        <p:blipFill>
          <a:blip r:embed="rId2"/>
          <a:stretch>
            <a:fillRect/>
          </a:stretch>
        </p:blipFill>
        <p:spPr>
          <a:xfrm>
            <a:off x="1339478" y="3840480"/>
            <a:ext cx="3264644" cy="2011680"/>
          </a:xfrm>
          <a:prstGeom prst="rect">
            <a:avLst/>
          </a:prstGeom>
        </p:spPr>
      </p:pic>
      <p:sp>
        <p:nvSpPr>
          <p:cNvPr id="7" name="Text 2"/>
          <p:cNvSpPr txBox="1"/>
          <p:nvPr/>
        </p:nvSpPr>
        <p:spPr>
          <a:xfrm>
            <a:off x="548640" y="5907024"/>
            <a:ext cx="41148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pic>
        <p:nvPicPr>
          <p:cNvPr id="8" name="Figura M_p164_1.png" descr="M_p164_1.png">    </p:cNvPr>
          <p:cNvPicPr>
            <a:picLocks noChangeAspect="1"/>
          </p:cNvPicPr>
          <p:nvPr/>
        </p:nvPicPr>
        <p:blipFill>
          <a:blip r:embed="rId3"/>
          <a:stretch>
            <a:fillRect/>
          </a:stretch>
        </p:blipFill>
        <p:spPr>
          <a:xfrm>
            <a:off x="6893886" y="1234440"/>
            <a:ext cx="3585828" cy="2194560"/>
          </a:xfrm>
          <a:prstGeom prst="rect">
            <a:avLst/>
          </a:prstGeom>
        </p:spPr>
      </p:pic>
      <p:sp>
        <p:nvSpPr>
          <p:cNvPr id="9" name="Text 3"/>
          <p:cNvSpPr txBox="1"/>
          <p:nvPr/>
        </p:nvSpPr>
        <p:spPr>
          <a:xfrm>
            <a:off x="5715000" y="3483864"/>
            <a:ext cx="41148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10" name="Text 4"/>
          <p:cNvSpPr txBox="1"/>
          <p:nvPr/>
        </p:nvSpPr>
        <p:spPr>
          <a:xfrm>
            <a:off x="5669280" y="4023360"/>
            <a:ext cx="6035040" cy="2194560"/>
          </a:xfrm>
          <a:prstGeom prst="rect">
            <a:avLst/>
          </a:prstGeom>
          <a:noFill/>
          <a:ln/>
        </p:spPr>
        <p:txBody>
          <a:bodyPr wrap="square" lIns="25400" tIns="25400" rIns="50800" bIns="25400" rtlCol="0" anchor="t"/>
          <a:lstStyle/>
          <a:p>
            <a:pPr marL="203200" indent="-203200">
              <a:spcAft>
                <a:spcPts val="600"/>
              </a:spcAft>
              <a:buSzPct val="100000"/>
              <a:buChar char="•"/>
            </a:pPr>
            <a:r>
              <a:rPr lang="en-US" sz="1400" b="1" dirty="0">
                <a:solidFill>
                  <a:schemeClr val="tx1"/>
                </a:solidFill>
              </a:rPr>
              <a:t>Indicadores: </a:t>
            </a:r>
            <a:pPr indent="0" marL="0">
              <a:buNone/>
            </a:pPr>
            <a:r>
              <a:rPr lang="en-US" sz="1400" dirty="0">
                <a:solidFill>
                  <a:schemeClr val="tx1"/>
                </a:solidFill>
              </a:rPr>
              <a:t>luminosos (testigos), analógicos (reloj), digitales (display) y acústicos.</a:t>
            </a:r>
            <a:endParaRPr lang="en-US" sz="1400" dirty="0"/>
          </a:p>
          <a:p>
            <a:pPr marL="203200" indent="-203200">
              <a:spcAft>
                <a:spcPts val="600"/>
              </a:spcAft>
              <a:buSzPct val="100000"/>
              <a:buChar char="•"/>
            </a:pPr>
            <a:r>
              <a:rPr lang="en-US" sz="1400" b="1" dirty="0">
                <a:solidFill>
                  <a:schemeClr val="tx1"/>
                </a:solidFill>
              </a:rPr>
              <a:t>Cuadro moderno: </a:t>
            </a:r>
            <a:pPr indent="0" marL="0">
              <a:buNone/>
            </a:pPr>
            <a:r>
              <a:rPr lang="en-US" sz="1400" dirty="0">
                <a:solidFill>
                  <a:schemeClr val="tx1"/>
                </a:solidFill>
              </a:rPr>
              <a:t>una centralita recibe los datos por CAN y mueve las agujas con motores paso a paso.</a:t>
            </a:r>
            <a:endParaRPr lang="en-US" sz="1400" dirty="0"/>
          </a:p>
          <a:p>
            <a:pPr marL="203200" indent="-203200">
              <a:spcAft>
                <a:spcPts val="600"/>
              </a:spcAft>
              <a:buSzPct val="100000"/>
              <a:buChar char="•"/>
            </a:pPr>
            <a:r>
              <a:rPr lang="en-US" sz="1400" b="1" dirty="0">
                <a:solidFill>
                  <a:schemeClr val="tx1"/>
                </a:solidFill>
              </a:rPr>
              <a:t>Ventaja del reloj de bobinas: </a:t>
            </a:r>
            <a:pPr indent="0" marL="0">
              <a:buNone/>
            </a:pPr>
            <a:r>
              <a:rPr lang="en-US" sz="1400" dirty="0">
                <a:solidFill>
                  <a:schemeClr val="tx1"/>
                </a:solidFill>
              </a:rPr>
              <a:t>la medida no depende de la tensión de batería (es una relación entre corrientes).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4.15.1 Indicadores de control y lámpara fundida</a:t>
            </a:r>
            <a:endParaRPr lang="en-US" sz="2800" dirty="0"/>
          </a:p>
        </p:txBody>
      </p:sp>
      <p:pic>
        <p:nvPicPr>
          <p:cNvPr id="4" name="Figura M_p179_0.png" descr="M_p179_0.png">    </p:cNvPr>
          <p:cNvPicPr>
            <a:picLocks noChangeAspect="1"/>
          </p:cNvPicPr>
          <p:nvPr/>
        </p:nvPicPr>
        <p:blipFill>
          <a:blip r:embed="rId1"/>
          <a:stretch>
            <a:fillRect/>
          </a:stretch>
        </p:blipFill>
        <p:spPr>
          <a:xfrm>
            <a:off x="802354" y="1234440"/>
            <a:ext cx="4887532" cy="1828800"/>
          </a:xfrm>
          <a:prstGeom prst="rect">
            <a:avLst/>
          </a:prstGeom>
        </p:spPr>
      </p:pic>
      <p:sp>
        <p:nvSpPr>
          <p:cNvPr id="5" name="Text 1"/>
          <p:cNvSpPr txBox="1"/>
          <p:nvPr/>
        </p:nvSpPr>
        <p:spPr>
          <a:xfrm>
            <a:off x="548640" y="3118104"/>
            <a:ext cx="4887532"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pic>
        <p:nvPicPr>
          <p:cNvPr id="6" name="Figura ll_esq825.jpg" descr="ll_esq825.jpg">    </p:cNvPr>
          <p:cNvPicPr>
            <a:picLocks noChangeAspect="1"/>
          </p:cNvPicPr>
          <p:nvPr/>
        </p:nvPicPr>
        <p:blipFill>
          <a:blip r:embed="rId2"/>
          <a:stretch>
            <a:fillRect/>
          </a:stretch>
        </p:blipFill>
        <p:spPr>
          <a:xfrm>
            <a:off x="7178672" y="1234440"/>
            <a:ext cx="3564896" cy="2743200"/>
          </a:xfrm>
          <a:prstGeom prst="rect">
            <a:avLst/>
          </a:prstGeom>
        </p:spPr>
      </p:pic>
      <p:sp>
        <p:nvSpPr>
          <p:cNvPr id="7" name="Text 2"/>
          <p:cNvSpPr txBox="1"/>
          <p:nvPr/>
        </p:nvSpPr>
        <p:spPr>
          <a:xfrm>
            <a:off x="6263640" y="4032504"/>
            <a:ext cx="41148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sp>
        <p:nvSpPr>
          <p:cNvPr id="8" name="Shape 3"/>
          <p:cNvSpPr/>
          <p:nvPr/>
        </p:nvSpPr>
        <p:spPr>
          <a:xfrm>
            <a:off x="502920" y="3657600"/>
            <a:ext cx="2103120" cy="365760"/>
          </a:xfrm>
          <a:prstGeom prst="roundRect">
            <a:avLst>
              <a:gd name="adj" fmla="val 50000"/>
            </a:avLst>
          </a:prstGeom>
          <a:solidFill>
            <a:srgbClr val="F2A516"/>
          </a:solidFill>
          <a:ln w="12700">
            <a:solidFill>
              <a:srgbClr val="F2A516"/>
            </a:solidFill>
            <a:prstDash val="solid"/>
          </a:ln>
        </p:spPr>
      </p:sp>
      <p:sp>
        <p:nvSpPr>
          <p:cNvPr id="9" name="Text 4"/>
          <p:cNvSpPr txBox="1"/>
          <p:nvPr/>
        </p:nvSpPr>
        <p:spPr>
          <a:xfrm>
            <a:off x="502920" y="3657600"/>
            <a:ext cx="2103120" cy="365760"/>
          </a:xfrm>
          <a:prstGeom prst="rect">
            <a:avLst/>
          </a:prstGeom>
          <a:noFill/>
          <a:ln/>
        </p:spPr>
        <p:txBody>
          <a:bodyPr wrap="square" lIns="0" tIns="0" rIns="0" bIns="0" rtlCol="0" anchor="ctr"/>
          <a:lstStyle/>
          <a:p>
            <a:pPr algn="ctr" indent="0" marL="0">
              <a:buNone/>
            </a:pPr>
            <a:r>
              <a:rPr lang="en-US" sz="1300" b="1" dirty="0">
                <a:solidFill>
                  <a:srgbClr val="1B2A33"/>
                </a:solidFill>
              </a:rPr>
              <a:t>Ejemplo resuelto</a:t>
            </a:r>
            <a:endParaRPr lang="en-US" sz="1300" dirty="0"/>
          </a:p>
        </p:txBody>
      </p:sp>
      <p:sp>
        <p:nvSpPr>
          <p:cNvPr id="10" name="Text 5"/>
          <p:cNvSpPr txBox="1"/>
          <p:nvPr/>
        </p:nvSpPr>
        <p:spPr>
          <a:xfrm>
            <a:off x="502920" y="4114800"/>
            <a:ext cx="5486400" cy="2103120"/>
          </a:xfrm>
          <a:prstGeom prst="rect">
            <a:avLst/>
          </a:prstGeom>
          <a:noFill/>
          <a:ln/>
        </p:spPr>
        <p:txBody>
          <a:bodyPr wrap="square" lIns="25400" tIns="25400" rIns="50800" bIns="25400" rtlCol="0" anchor="t"/>
          <a:lstStyle/>
          <a:p>
            <a:pPr marL="203200" indent="-203200">
              <a:spcAft>
                <a:spcPts val="600"/>
              </a:spcAft>
              <a:buSzPct val="100000"/>
              <a:buChar char="•"/>
            </a:pPr>
            <a:r>
              <a:rPr lang="en-US" sz="1500" dirty="0">
                <a:solidFill>
                  <a:schemeClr val="tx1"/>
                </a:solidFill>
              </a:rPr>
              <a:t>Dos lámparas de 21 W en freno: I = 42 / 12 = 3,5 A → ΔU = 3,5 × 0,1 = 0,35 V.</a:t>
            </a:r>
            <a:endParaRPr lang="en-US" sz="1500" dirty="0"/>
          </a:p>
          <a:p>
            <a:pPr marL="203200" indent="-203200">
              <a:spcAft>
                <a:spcPts val="600"/>
              </a:spcAft>
              <a:buSzPct val="100000"/>
              <a:buChar char="•"/>
            </a:pPr>
            <a:r>
              <a:rPr lang="en-US" sz="1500" dirty="0">
                <a:solidFill>
                  <a:schemeClr val="tx1"/>
                </a:solidFill>
              </a:rPr>
              <a:t>Con una fundida: I = 1,75 A → ΔU = 0,175 V ⇒ el módulo enciende el testigo.</a:t>
            </a:r>
            <a:endParaRPr lang="en-US" sz="1500" dirty="0"/>
          </a:p>
        </p:txBody>
      </p:sp>
      <p:sp>
        <p:nvSpPr>
          <p:cNvPr id="11" name="Text 6"/>
          <p:cNvSpPr txBox="1"/>
          <p:nvPr/>
        </p:nvSpPr>
        <p:spPr>
          <a:xfrm>
            <a:off x="6217920" y="4572000"/>
            <a:ext cx="5486400" cy="1645920"/>
          </a:xfrm>
          <a:prstGeom prst="rect">
            <a:avLst/>
          </a:prstGeom>
          <a:noFill/>
          <a:ln/>
        </p:spPr>
        <p:txBody>
          <a:bodyPr wrap="square" lIns="25400" tIns="25400" rIns="50800" bIns="25400" rtlCol="0" anchor="t"/>
          <a:lstStyle/>
          <a:p>
            <a:pPr marL="203200" indent="-203200">
              <a:spcAft>
                <a:spcPts val="600"/>
              </a:spcAft>
              <a:buSzPct val="100000"/>
              <a:buChar char="•"/>
            </a:pPr>
            <a:r>
              <a:rPr lang="en-US" sz="1400" dirty="0">
                <a:solidFill>
                  <a:schemeClr val="tx1"/>
                </a:solidFill>
              </a:rPr>
              <a:t>Otros testigos: freno de mano / nivel de líquido de frenos, desgaste de pastillas, carga del alternador, MIL, cinturón, presión de neumáticos.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4.15.2 Indicador de nivel de combustible</a:t>
            </a:r>
            <a:endParaRPr lang="en-US" sz="2800" dirty="0"/>
          </a:p>
        </p:txBody>
      </p:sp>
      <p:pic>
        <p:nvPicPr>
          <p:cNvPr id="4" name="Figura ll_esq88.jpg" descr="ll_esq88.jpg">    </p:cNvPr>
          <p:cNvPicPr>
            <a:picLocks noChangeAspect="1"/>
          </p:cNvPicPr>
          <p:nvPr/>
        </p:nvPicPr>
        <p:blipFill>
          <a:blip r:embed="rId1"/>
          <a:stretch>
            <a:fillRect/>
          </a:stretch>
        </p:blipFill>
        <p:spPr>
          <a:xfrm>
            <a:off x="502920" y="1255138"/>
            <a:ext cx="5486400" cy="2061724"/>
          </a:xfrm>
          <a:prstGeom prst="rect">
            <a:avLst/>
          </a:prstGeom>
        </p:spPr>
      </p:pic>
      <p:sp>
        <p:nvSpPr>
          <p:cNvPr id="5" name="Text 1"/>
          <p:cNvSpPr txBox="1"/>
          <p:nvPr/>
        </p:nvSpPr>
        <p:spPr>
          <a:xfrm>
            <a:off x="502920" y="3371726"/>
            <a:ext cx="54864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6" name="Figura ll_aforador.jpg" descr="ll_aforador.jpg">    </p:cNvPr>
          <p:cNvPicPr>
            <a:picLocks noChangeAspect="1"/>
          </p:cNvPicPr>
          <p:nvPr/>
        </p:nvPicPr>
        <p:blipFill>
          <a:blip r:embed="rId2"/>
          <a:stretch>
            <a:fillRect/>
          </a:stretch>
        </p:blipFill>
        <p:spPr>
          <a:xfrm>
            <a:off x="502920" y="4139776"/>
            <a:ext cx="5486400" cy="1413087"/>
          </a:xfrm>
          <a:prstGeom prst="rect">
            <a:avLst/>
          </a:prstGeom>
        </p:spPr>
      </p:pic>
      <p:sp>
        <p:nvSpPr>
          <p:cNvPr id="7" name="Text 2"/>
          <p:cNvSpPr txBox="1"/>
          <p:nvPr/>
        </p:nvSpPr>
        <p:spPr>
          <a:xfrm>
            <a:off x="502920" y="5607728"/>
            <a:ext cx="54864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8" name="Figura M_p170_1.png" descr="M_p170_1.png">    </p:cNvPr>
          <p:cNvPicPr>
            <a:picLocks noChangeAspect="1"/>
          </p:cNvPicPr>
          <p:nvPr/>
        </p:nvPicPr>
        <p:blipFill>
          <a:blip r:embed="rId3"/>
          <a:stretch>
            <a:fillRect/>
          </a:stretch>
        </p:blipFill>
        <p:spPr>
          <a:xfrm>
            <a:off x="6459114" y="1234440"/>
            <a:ext cx="5004013" cy="2377440"/>
          </a:xfrm>
          <a:prstGeom prst="rect">
            <a:avLst/>
          </a:prstGeom>
        </p:spPr>
      </p:pic>
      <p:sp>
        <p:nvSpPr>
          <p:cNvPr id="9" name="Text 3"/>
          <p:cNvSpPr txBox="1"/>
          <p:nvPr/>
        </p:nvSpPr>
        <p:spPr>
          <a:xfrm>
            <a:off x="6263640" y="3666744"/>
            <a:ext cx="5004013"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10" name="Text 4"/>
          <p:cNvSpPr txBox="1"/>
          <p:nvPr/>
        </p:nvSpPr>
        <p:spPr>
          <a:xfrm>
            <a:off x="6217920" y="4206240"/>
            <a:ext cx="5486400" cy="2011680"/>
          </a:xfrm>
          <a:prstGeom prst="rect">
            <a:avLst/>
          </a:prstGeom>
          <a:noFill/>
          <a:ln/>
        </p:spPr>
        <p:txBody>
          <a:bodyPr wrap="square" lIns="25400" tIns="25400" rIns="50800" bIns="25400" rtlCol="0" anchor="t"/>
          <a:lstStyle/>
          <a:p>
            <a:pPr marL="203200" indent="-203200">
              <a:spcAft>
                <a:spcPts val="600"/>
              </a:spcAft>
              <a:buSzPct val="100000"/>
              <a:buChar char="•"/>
            </a:pPr>
            <a:r>
              <a:rPr lang="en-US" sz="1500" b="1" dirty="0">
                <a:solidFill>
                  <a:schemeClr val="tx1"/>
                </a:solidFill>
              </a:rPr>
              <a:t>Componentes: </a:t>
            </a:r>
            <a:pPr indent="0" marL="0">
              <a:buNone/>
            </a:pPr>
            <a:r>
              <a:rPr lang="en-US" sz="1500" dirty="0">
                <a:solidFill>
                  <a:schemeClr val="tx1"/>
                </a:solidFill>
              </a:rPr>
              <a:t>flotador, potenciómetro (aforador), reloj de dos bobinas y testigo de reserva.</a:t>
            </a:r>
            <a:endParaRPr lang="en-US" sz="1500" dirty="0"/>
          </a:p>
          <a:p>
            <a:pPr marL="203200" indent="-203200">
              <a:spcAft>
                <a:spcPts val="600"/>
              </a:spcAft>
              <a:buSzPct val="100000"/>
              <a:buChar char="•"/>
            </a:pPr>
            <a:r>
              <a:rPr lang="en-US" sz="1500" b="1" dirty="0">
                <a:solidFill>
                  <a:schemeClr val="tx1"/>
                </a:solidFill>
              </a:rPr>
              <a:t>Reserva: </a:t>
            </a:r>
            <a:pPr indent="0" marL="0">
              <a:buNone/>
            </a:pPr>
            <a:r>
              <a:rPr lang="en-US" sz="1500" dirty="0">
                <a:solidFill>
                  <a:schemeClr val="tx1"/>
                </a:solidFill>
              </a:rPr>
              <a:t>el cursor cierra a masa el testigo al llegar al mínimo.</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Ejemplo resuelto: corriente en el indicador de combustible</a:t>
            </a:r>
            <a:endParaRPr lang="en-US" sz="2800" dirty="0"/>
          </a:p>
        </p:txBody>
      </p:sp>
      <p:sp>
        <p:nvSpPr>
          <p:cNvPr id="4" name="Shape 1"/>
          <p:cNvSpPr/>
          <p:nvPr/>
        </p:nvSpPr>
        <p:spPr>
          <a:xfrm>
            <a:off x="502920" y="1234440"/>
            <a:ext cx="2103120" cy="365760"/>
          </a:xfrm>
          <a:prstGeom prst="roundRect">
            <a:avLst>
              <a:gd name="adj" fmla="val 50000"/>
            </a:avLst>
          </a:prstGeom>
          <a:solidFill>
            <a:srgbClr val="F2A516"/>
          </a:solidFill>
          <a:ln w="12700">
            <a:solidFill>
              <a:srgbClr val="F2A516"/>
            </a:solidFill>
            <a:prstDash val="solid"/>
          </a:ln>
        </p:spPr>
      </p:sp>
      <p:sp>
        <p:nvSpPr>
          <p:cNvPr id="5" name="Text 2"/>
          <p:cNvSpPr txBox="1"/>
          <p:nvPr/>
        </p:nvSpPr>
        <p:spPr>
          <a:xfrm>
            <a:off x="502920" y="1234440"/>
            <a:ext cx="2103120" cy="365760"/>
          </a:xfrm>
          <a:prstGeom prst="rect">
            <a:avLst/>
          </a:prstGeom>
          <a:noFill/>
          <a:ln/>
        </p:spPr>
        <p:txBody>
          <a:bodyPr wrap="square" lIns="0" tIns="0" rIns="0" bIns="0" rtlCol="0" anchor="ctr"/>
          <a:lstStyle/>
          <a:p>
            <a:pPr algn="ctr" indent="0" marL="0">
              <a:buNone/>
            </a:pPr>
            <a:r>
              <a:rPr lang="en-US" sz="1300" b="1" dirty="0">
                <a:solidFill>
                  <a:srgbClr val="1B2A33"/>
                </a:solidFill>
              </a:rPr>
              <a:t>Ejemplo resuelto</a:t>
            </a:r>
            <a:endParaRPr lang="en-US" sz="1300" dirty="0"/>
          </a:p>
        </p:txBody>
      </p:sp>
      <p:sp>
        <p:nvSpPr>
          <p:cNvPr id="6" name="Ecuación"/>
          <p:cNvSpPr/>
          <p:nvPr/>
        </p:nvSpPr>
        <p:spPr>
          <a:xfrm>
            <a:off x="502920" y="1737360"/>
            <a:ext cx="6766560" cy="777240"/>
          </a:xfrm>
          <a:prstGeom prst="roundRect">
            <a:avLst>
              <a:gd name="adj" fmla="val 9412"/>
            </a:avLst>
          </a:prstGeom>
          <a:solidFill>
            <a:srgbClr val="FDF1D8"/>
          </a:solidFill>
          <a:ln w="15875">
            <a:solidFill>
              <a:srgbClr val="F2A516"/>
            </a:solidFill>
            <a:prstDash val="solid"/>
          </a:ln>
        </p:spPr>
      </p:sp>
      <p:sp>
        <p:nvSpPr>
          <p:cNvPr id="7" name="Text 4"/>
          <p:cNvSpPr txBox="1"/>
          <p:nvPr/>
        </p:nvSpPr>
        <p:spPr>
          <a:xfrm>
            <a:off x="502920" y="1737360"/>
            <a:ext cx="6766560" cy="777240"/>
          </a:xfrm>
          <a:prstGeom prst="rect">
            <a:avLst/>
          </a:prstGeom>
          <a:noFill/>
          <a:ln/>
        </p:spPr>
        <p:txBody>
          <a:bodyPr wrap="square" lIns="50800" tIns="50800" rIns="50800" bIns="50800" rtlCol="0" anchor="ctr"/>
          <a:lstStyle/>
          <a:p>
            <a:pPr algn="ctr" indent="0" marL="0">
              <a:buNone/>
            </a:pPr>
            <a:r>
              <a:rPr lang="en-US" sz="2000" b="1" dirty="0">
                <a:solidFill>
                  <a:schemeClr val="tx1"/>
                </a:solidFill>
                <a:latin typeface="Cambria" pitchFamily="34" charset="0"/>
                <a:ea typeface="Cambria" pitchFamily="34" charset="-122"/>
                <a:cs typeface="Cambria" pitchFamily="34" charset="-120"/>
              </a:rPr>
              <a:t>R_eq = R_B1 · (R_B2 + R) / (R_B1 + R_B2 + R)</a:t>
            </a:r>
            <a:endParaRPr lang="en-US" sz="20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02920" y="2743200"/>
          <a:ext cx="6766560" cy="914400"/>
        </p:xfrm>
        <a:graphic>
          <a:graphicData uri="http://schemas.openxmlformats.org/drawingml/2006/table">
            <a:tbl>
              <a:tblPr/>
              <a:tblGrid>
                <a:gridCol w="1463040"/>
                <a:gridCol w="1463040"/>
                <a:gridCol w="2377440"/>
                <a:gridCol w="1463040"/>
              </a:tblGrid>
              <a:tr h="548640">
                <a:tc>
                  <a:txBody>
                    <a:bodyPr/>
                    <a:lstStyle/>
                    <a:p>
                      <a:pPr indent="0" marL="0">
                        <a:buNone/>
                      </a:pPr>
                      <a:r>
                        <a:rPr lang="en-US" sz="1500" b="1" dirty="0">
                          <a:solidFill>
                            <a:srgbClr val="FFFFFF"/>
                          </a:solidFill>
                        </a:rPr>
                        <a:t>Depósito</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500" b="1" dirty="0">
                          <a:solidFill>
                            <a:srgbClr val="FFFFFF"/>
                          </a:solidFill>
                        </a:rPr>
                        <a:t>R aforador</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500" b="1" dirty="0">
                          <a:solidFill>
                            <a:srgbClr val="FFFFFF"/>
                          </a:solidFill>
                        </a:rPr>
                        <a:t>R equivalente</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500" b="1" dirty="0">
                          <a:solidFill>
                            <a:srgbClr val="FFFFFF"/>
                          </a:solidFill>
                        </a:rPr>
                        <a:t>I total (12 V)</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r>
              <a:tr h="548640">
                <a:tc>
                  <a:txBody>
                    <a:bodyPr/>
                    <a:lstStyle/>
                    <a:p>
                      <a:pPr indent="0" marL="0">
                        <a:buNone/>
                      </a:pPr>
                      <a:r>
                        <a:rPr lang="en-US" sz="1500" dirty="0">
                          <a:solidFill>
                            <a:srgbClr val="1B2A33"/>
                          </a:solidFill>
                        </a:rPr>
                        <a:t>Vacío</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24 Ω</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6·36 / 42 = 5,14 Ω</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2,33 A</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48640">
                <a:tc>
                  <a:txBody>
                    <a:bodyPr/>
                    <a:lstStyle/>
                    <a:p>
                      <a:pPr indent="0" marL="0">
                        <a:buNone/>
                      </a:pPr>
                      <a:r>
                        <a:rPr lang="en-US" sz="1500" dirty="0">
                          <a:solidFill>
                            <a:srgbClr val="1B2A33"/>
                          </a:solidFill>
                        </a:rPr>
                        <a:t>Mitad</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500" dirty="0">
                          <a:solidFill>
                            <a:srgbClr val="1B2A33"/>
                          </a:solidFill>
                        </a:rPr>
                        <a:t>12 Ω</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500" dirty="0">
                          <a:solidFill>
                            <a:srgbClr val="1B2A33"/>
                          </a:solidFill>
                        </a:rPr>
                        <a:t>6·24 / 30 = 4,80 Ω</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500" dirty="0">
                          <a:solidFill>
                            <a:srgbClr val="1B2A33"/>
                          </a:solidFill>
                        </a:rPr>
                        <a:t>2,50 A</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A33"/>
                          </a:solidFill>
                        </a:rPr>
                        <a:t>Lleno</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0 Ω</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6·12 / 18 = 4,00 Ω</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3,00 A</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bl>
          </a:graphicData>
        </a:graphic>
      </p:graphicFrame>
      <p:sp>
        <p:nvSpPr>
          <p:cNvPr id="9" name="Text 5"/>
          <p:cNvSpPr txBox="1"/>
          <p:nvPr/>
        </p:nvSpPr>
        <p:spPr>
          <a:xfrm>
            <a:off x="502920" y="5120640"/>
            <a:ext cx="6766560" cy="1005840"/>
          </a:xfrm>
          <a:prstGeom prst="rect">
            <a:avLst/>
          </a:prstGeom>
          <a:noFill/>
          <a:ln/>
        </p:spPr>
        <p:txBody>
          <a:bodyPr wrap="square" lIns="25400" tIns="25400" rIns="50800" bIns="25400" rtlCol="0" anchor="t"/>
          <a:lstStyle/>
          <a:p>
            <a:pPr marL="203200" indent="-203200">
              <a:spcAft>
                <a:spcPts val="600"/>
              </a:spcAft>
              <a:buSzPct val="100000"/>
              <a:buChar char="•"/>
            </a:pPr>
            <a:r>
              <a:rPr lang="en-US" sz="1500" dirty="0">
                <a:solidFill>
                  <a:schemeClr val="tx1"/>
                </a:solidFill>
              </a:rPr>
              <a:t>Cuanto menor es R, más corriente circula por B2 y la aguja se desplaza hacia «lleno».</a:t>
            </a:r>
            <a:endParaRPr lang="en-US" sz="1500" dirty="0"/>
          </a:p>
        </p:txBody>
      </p:sp>
      <p:pic>
        <p:nvPicPr>
          <p:cNvPr id="10" name="Figura ll_esq89.jpg" descr="ll_esq89.jpg">    </p:cNvPr>
          <p:cNvPicPr>
            <a:picLocks noChangeAspect="1"/>
          </p:cNvPicPr>
          <p:nvPr/>
        </p:nvPicPr>
        <p:blipFill>
          <a:blip r:embed="rId1"/>
          <a:stretch>
            <a:fillRect/>
          </a:stretch>
        </p:blipFill>
        <p:spPr>
          <a:xfrm>
            <a:off x="7498080" y="1350778"/>
            <a:ext cx="4206240" cy="1687564"/>
          </a:xfrm>
          <a:prstGeom prst="rect">
            <a:avLst/>
          </a:prstGeom>
        </p:spPr>
      </p:pic>
      <p:sp>
        <p:nvSpPr>
          <p:cNvPr id="11" name="Text 6"/>
          <p:cNvSpPr txBox="1"/>
          <p:nvPr/>
        </p:nvSpPr>
        <p:spPr>
          <a:xfrm>
            <a:off x="7498080" y="3093206"/>
            <a:ext cx="42062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4.15.3 Presión y temperatura del aceite</a:t>
            </a:r>
            <a:endParaRPr lang="en-US" sz="2800" dirty="0"/>
          </a:p>
        </p:txBody>
      </p:sp>
      <p:pic>
        <p:nvPicPr>
          <p:cNvPr id="4" name="Figura ll_esq818.jpg" descr="ll_esq818.jpg">    </p:cNvPr>
          <p:cNvPicPr>
            <a:picLocks noChangeAspect="1"/>
          </p:cNvPicPr>
          <p:nvPr/>
        </p:nvPicPr>
        <p:blipFill>
          <a:blip r:embed="rId1"/>
          <a:stretch>
            <a:fillRect/>
          </a:stretch>
        </p:blipFill>
        <p:spPr>
          <a:xfrm>
            <a:off x="502920" y="1320308"/>
            <a:ext cx="5852160" cy="1657063"/>
          </a:xfrm>
          <a:prstGeom prst="rect">
            <a:avLst/>
          </a:prstGeom>
        </p:spPr>
      </p:pic>
      <p:sp>
        <p:nvSpPr>
          <p:cNvPr id="5" name="Text 1"/>
          <p:cNvSpPr txBox="1"/>
          <p:nvPr/>
        </p:nvSpPr>
        <p:spPr>
          <a:xfrm>
            <a:off x="502920" y="3032236"/>
            <a:ext cx="58521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6" name="Figura M_p174_0.png" descr="M_p174_0.png">    </p:cNvPr>
          <p:cNvPicPr>
            <a:picLocks noChangeAspect="1"/>
          </p:cNvPicPr>
          <p:nvPr/>
        </p:nvPicPr>
        <p:blipFill>
          <a:blip r:embed="rId2"/>
          <a:stretch>
            <a:fillRect/>
          </a:stretch>
        </p:blipFill>
        <p:spPr>
          <a:xfrm>
            <a:off x="593121" y="3657600"/>
            <a:ext cx="2654239" cy="2103120"/>
          </a:xfrm>
          <a:prstGeom prst="rect">
            <a:avLst/>
          </a:prstGeom>
        </p:spPr>
      </p:pic>
      <p:sp>
        <p:nvSpPr>
          <p:cNvPr id="7" name="Text 2"/>
          <p:cNvSpPr txBox="1"/>
          <p:nvPr/>
        </p:nvSpPr>
        <p:spPr>
          <a:xfrm>
            <a:off x="548640" y="5815584"/>
            <a:ext cx="28346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pic>
        <p:nvPicPr>
          <p:cNvPr id="8" name="Figura M_p174_1.png" descr="M_p174_1.png">    </p:cNvPr>
          <p:cNvPicPr>
            <a:picLocks noChangeAspect="1"/>
          </p:cNvPicPr>
          <p:nvPr/>
        </p:nvPicPr>
        <p:blipFill>
          <a:blip r:embed="rId3"/>
          <a:stretch>
            <a:fillRect/>
          </a:stretch>
        </p:blipFill>
        <p:spPr>
          <a:xfrm>
            <a:off x="3798251" y="3657600"/>
            <a:ext cx="2279017" cy="2103120"/>
          </a:xfrm>
          <a:prstGeom prst="rect">
            <a:avLst/>
          </a:prstGeom>
        </p:spPr>
      </p:pic>
      <p:sp>
        <p:nvSpPr>
          <p:cNvPr id="9" name="Text 3"/>
          <p:cNvSpPr txBox="1"/>
          <p:nvPr/>
        </p:nvSpPr>
        <p:spPr>
          <a:xfrm>
            <a:off x="3566160" y="5815584"/>
            <a:ext cx="28346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pic>
        <p:nvPicPr>
          <p:cNvPr id="10" name="Figura M_p174_3.png" descr="M_p174_3.png">    </p:cNvPr>
          <p:cNvPicPr>
            <a:picLocks noChangeAspect="1"/>
          </p:cNvPicPr>
          <p:nvPr/>
        </p:nvPicPr>
        <p:blipFill>
          <a:blip r:embed="rId4"/>
          <a:stretch>
            <a:fillRect/>
          </a:stretch>
        </p:blipFill>
        <p:spPr>
          <a:xfrm>
            <a:off x="6825160" y="1234440"/>
            <a:ext cx="4637679" cy="2926080"/>
          </a:xfrm>
          <a:prstGeom prst="rect">
            <a:avLst/>
          </a:prstGeom>
        </p:spPr>
      </p:pic>
      <p:sp>
        <p:nvSpPr>
          <p:cNvPr id="11" name="Text 4"/>
          <p:cNvSpPr txBox="1"/>
          <p:nvPr/>
        </p:nvSpPr>
        <p:spPr>
          <a:xfrm>
            <a:off x="6629400" y="4215384"/>
            <a:ext cx="4637679"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12" name="Text 5"/>
          <p:cNvSpPr txBox="1"/>
          <p:nvPr/>
        </p:nvSpPr>
        <p:spPr>
          <a:xfrm>
            <a:off x="6583680" y="4754880"/>
            <a:ext cx="5120640" cy="1463040"/>
          </a:xfrm>
          <a:prstGeom prst="rect">
            <a:avLst/>
          </a:prstGeom>
          <a:noFill/>
          <a:ln/>
        </p:spPr>
        <p:txBody>
          <a:bodyPr wrap="square" lIns="25400" tIns="25400" rIns="50800" bIns="25400" rtlCol="0" anchor="t"/>
          <a:lstStyle/>
          <a:p>
            <a:pPr marL="203200" indent="-203200">
              <a:spcAft>
                <a:spcPts val="600"/>
              </a:spcAft>
              <a:buSzPct val="100000"/>
              <a:buChar char="•"/>
            </a:pPr>
            <a:r>
              <a:rPr lang="en-US" sz="1500" b="1" dirty="0">
                <a:solidFill>
                  <a:schemeClr val="tx1"/>
                </a:solidFill>
              </a:rPr>
              <a:t>Más presión → </a:t>
            </a:r>
            <a:pPr indent="0" marL="0">
              <a:buNone/>
            </a:pPr>
            <a:r>
              <a:rPr lang="en-US" sz="1500" dirty="0">
                <a:solidFill>
                  <a:schemeClr val="tx1"/>
                </a:solidFill>
              </a:rPr>
              <a:t>menos resistencia → aguja hacia el máximo.</a:t>
            </a:r>
            <a:endParaRPr lang="en-US" sz="1500" dirty="0"/>
          </a:p>
          <a:p>
            <a:pPr marL="203200" indent="-203200">
              <a:spcAft>
                <a:spcPts val="600"/>
              </a:spcAft>
              <a:buSzPct val="100000"/>
              <a:buChar char="•"/>
            </a:pPr>
            <a:r>
              <a:rPr lang="en-US" sz="1500" b="1" dirty="0">
                <a:solidFill>
                  <a:schemeClr val="tx1"/>
                </a:solidFill>
              </a:rPr>
              <a:t>Temperatura del aceite: </a:t>
            </a:r>
            <a:pPr indent="0" marL="0">
              <a:buNone/>
            </a:pPr>
            <a:r>
              <a:rPr lang="en-US" sz="1500" dirty="0">
                <a:solidFill>
                  <a:schemeClr val="tx1"/>
                </a:solidFill>
              </a:rPr>
              <a:t>NTC en el cárter, igual que la del agua.</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Nivel de aceite: sensor térmico e indicador bifunción</a:t>
            </a:r>
            <a:endParaRPr lang="en-US" sz="2800" dirty="0"/>
          </a:p>
        </p:txBody>
      </p:sp>
      <p:pic>
        <p:nvPicPr>
          <p:cNvPr id="4" name="Figura M_p177_0.png" descr="M_p177_0.png">    </p:cNvPr>
          <p:cNvPicPr>
            <a:picLocks noChangeAspect="1"/>
          </p:cNvPicPr>
          <p:nvPr/>
        </p:nvPicPr>
        <p:blipFill>
          <a:blip r:embed="rId1"/>
          <a:stretch>
            <a:fillRect/>
          </a:stretch>
        </p:blipFill>
        <p:spPr>
          <a:xfrm>
            <a:off x="1158031" y="1234440"/>
            <a:ext cx="4724818" cy="2926080"/>
          </a:xfrm>
          <a:prstGeom prst="rect">
            <a:avLst/>
          </a:prstGeom>
        </p:spPr>
      </p:pic>
      <p:sp>
        <p:nvSpPr>
          <p:cNvPr id="5" name="Text 1"/>
          <p:cNvSpPr txBox="1"/>
          <p:nvPr/>
        </p:nvSpPr>
        <p:spPr>
          <a:xfrm>
            <a:off x="548640" y="4215384"/>
            <a:ext cx="4724818"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pic>
        <p:nvPicPr>
          <p:cNvPr id="6" name="Figura M_p177_1.png" descr="M_p177_1.png">    </p:cNvPr>
          <p:cNvPicPr>
            <a:picLocks noChangeAspect="1"/>
          </p:cNvPicPr>
          <p:nvPr/>
        </p:nvPicPr>
        <p:blipFill>
          <a:blip r:embed="rId2"/>
          <a:stretch>
            <a:fillRect/>
          </a:stretch>
        </p:blipFill>
        <p:spPr>
          <a:xfrm>
            <a:off x="7121616" y="1234440"/>
            <a:ext cx="4227647" cy="2926080"/>
          </a:xfrm>
          <a:prstGeom prst="rect">
            <a:avLst/>
          </a:prstGeom>
        </p:spPr>
      </p:pic>
      <p:sp>
        <p:nvSpPr>
          <p:cNvPr id="7" name="Text 2"/>
          <p:cNvSpPr txBox="1"/>
          <p:nvPr/>
        </p:nvSpPr>
        <p:spPr>
          <a:xfrm>
            <a:off x="6812280" y="4215384"/>
            <a:ext cx="4227647"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8" name="Text 3"/>
          <p:cNvSpPr txBox="1"/>
          <p:nvPr/>
        </p:nvSpPr>
        <p:spPr>
          <a:xfrm>
            <a:off x="502920" y="4754880"/>
            <a:ext cx="11201400" cy="1463040"/>
          </a:xfrm>
          <a:prstGeom prst="rect">
            <a:avLst/>
          </a:prstGeom>
          <a:noFill/>
          <a:ln/>
        </p:spPr>
        <p:txBody>
          <a:bodyPr wrap="square" lIns="25400" tIns="25400" rIns="50800" bIns="25400" rtlCol="0" anchor="t"/>
          <a:lstStyle/>
          <a:p>
            <a:pPr marL="203200" indent="-203200">
              <a:spcAft>
                <a:spcPts val="600"/>
              </a:spcAft>
              <a:buSzPct val="100000"/>
              <a:buChar char="•"/>
            </a:pPr>
            <a:r>
              <a:rPr lang="en-US" sz="1500" dirty="0">
                <a:solidFill>
                  <a:schemeClr val="tx1"/>
                </a:solidFill>
              </a:rPr>
              <a:t>Indicador bifunción: con el contacto puesto y el motor parado mide nivel; al arrancar y abrir el manocontacto, pasa a medir presión.</a:t>
            </a:r>
            <a:endParaRPr lang="en-US" sz="1500" dirty="0"/>
          </a:p>
          <a:p>
            <a:pPr marL="203200" indent="-203200">
              <a:spcAft>
                <a:spcPts val="600"/>
              </a:spcAft>
              <a:buSzPct val="100000"/>
              <a:buChar char="•"/>
            </a:pPr>
            <a:r>
              <a:rPr lang="en-US" sz="1500" dirty="0">
                <a:solidFill>
                  <a:schemeClr val="tx1"/>
                </a:solidFill>
              </a:rPr>
              <a:t>Si el testigo T2 parpadea al arrancar: falta de nivel o avería del circuito de control.</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4.15.4 Indicador de temperatura del agua</a:t>
            </a:r>
            <a:endParaRPr lang="en-US" sz="2800" dirty="0"/>
          </a:p>
        </p:txBody>
      </p:sp>
      <p:pic>
        <p:nvPicPr>
          <p:cNvPr id="4" name="Figura ll_esq814.jpg" descr="ll_esq814.jpg">    </p:cNvPr>
          <p:cNvPicPr>
            <a:picLocks noChangeAspect="1"/>
          </p:cNvPicPr>
          <p:nvPr/>
        </p:nvPicPr>
        <p:blipFill>
          <a:blip r:embed="rId1"/>
          <a:stretch>
            <a:fillRect/>
          </a:stretch>
        </p:blipFill>
        <p:spPr>
          <a:xfrm>
            <a:off x="502920" y="1333010"/>
            <a:ext cx="6583680" cy="1814541"/>
          </a:xfrm>
          <a:prstGeom prst="rect">
            <a:avLst/>
          </a:prstGeom>
        </p:spPr>
      </p:pic>
      <p:sp>
        <p:nvSpPr>
          <p:cNvPr id="5" name="Text 1"/>
          <p:cNvSpPr txBox="1"/>
          <p:nvPr/>
        </p:nvSpPr>
        <p:spPr>
          <a:xfrm>
            <a:off x="502920" y="3202414"/>
            <a:ext cx="658368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6" name="Figura M_p172_1.png" descr="M_p172_1.png">    </p:cNvPr>
          <p:cNvPicPr>
            <a:picLocks noChangeAspect="1"/>
          </p:cNvPicPr>
          <p:nvPr/>
        </p:nvPicPr>
        <p:blipFill>
          <a:blip r:embed="rId2"/>
          <a:stretch>
            <a:fillRect/>
          </a:stretch>
        </p:blipFill>
        <p:spPr>
          <a:xfrm>
            <a:off x="7664704" y="1234440"/>
            <a:ext cx="3690112" cy="2926080"/>
          </a:xfrm>
          <a:prstGeom prst="rect">
            <a:avLst/>
          </a:prstGeom>
        </p:spPr>
      </p:pic>
      <p:sp>
        <p:nvSpPr>
          <p:cNvPr id="7" name="Text 2"/>
          <p:cNvSpPr txBox="1"/>
          <p:nvPr/>
        </p:nvSpPr>
        <p:spPr>
          <a:xfrm>
            <a:off x="7360920" y="4215384"/>
            <a:ext cx="41148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8" name="Text 3"/>
          <p:cNvSpPr txBox="1"/>
          <p:nvPr/>
        </p:nvSpPr>
        <p:spPr>
          <a:xfrm>
            <a:off x="502920" y="3840480"/>
            <a:ext cx="6583680" cy="2377440"/>
          </a:xfrm>
          <a:prstGeom prst="rect">
            <a:avLst/>
          </a:prstGeom>
          <a:noFill/>
          <a:ln/>
        </p:spPr>
        <p:txBody>
          <a:bodyPr wrap="square" lIns="25400" tIns="25400" rIns="50800" bIns="25400" rtlCol="0" anchor="t"/>
          <a:lstStyle/>
          <a:p>
            <a:pPr marL="203200" indent="-203200">
              <a:spcAft>
                <a:spcPts val="600"/>
              </a:spcAft>
              <a:buSzPct val="100000"/>
              <a:buChar char="•"/>
            </a:pPr>
            <a:r>
              <a:rPr lang="en-US" sz="1500" b="1" dirty="0">
                <a:solidFill>
                  <a:schemeClr val="tx1"/>
                </a:solidFill>
              </a:rPr>
              <a:t>Frío: </a:t>
            </a:r>
            <a:pPr indent="0" marL="0">
              <a:buNone/>
            </a:pPr>
            <a:r>
              <a:rPr lang="en-US" sz="1500" dirty="0">
                <a:solidFill>
                  <a:schemeClr val="tx1"/>
                </a:solidFill>
              </a:rPr>
              <a:t>NTC con R alta → poca corriente en B2 → aguja en zona fría.</a:t>
            </a:r>
            <a:endParaRPr lang="en-US" sz="1500" dirty="0"/>
          </a:p>
          <a:p>
            <a:pPr marL="203200" indent="-203200">
              <a:spcAft>
                <a:spcPts val="600"/>
              </a:spcAft>
              <a:buSzPct val="100000"/>
              <a:buChar char="•"/>
            </a:pPr>
            <a:r>
              <a:rPr lang="en-US" sz="1500" b="1" dirty="0">
                <a:solidFill>
                  <a:schemeClr val="tx1"/>
                </a:solidFill>
              </a:rPr>
              <a:t>Caliente: </a:t>
            </a:r>
            <a:pPr indent="0" marL="0">
              <a:buNone/>
            </a:pPr>
            <a:r>
              <a:rPr lang="en-US" sz="1500" dirty="0">
                <a:solidFill>
                  <a:schemeClr val="tx1"/>
                </a:solidFill>
              </a:rPr>
              <a:t>R baja → B2 domina → aguja hacia el máximo.</a:t>
            </a:r>
            <a:endParaRPr lang="en-US" sz="1500" dirty="0"/>
          </a:p>
          <a:p>
            <a:pPr marL="203200" indent="-203200">
              <a:spcAft>
                <a:spcPts val="600"/>
              </a:spcAft>
              <a:buSzPct val="100000"/>
              <a:buChar char="•"/>
            </a:pPr>
            <a:r>
              <a:rPr lang="en-US" sz="1500" b="1" dirty="0">
                <a:solidFill>
                  <a:schemeClr val="tx1"/>
                </a:solidFill>
              </a:rPr>
              <a:t>Sobretemperatura: </a:t>
            </a:r>
            <a:pPr indent="0" marL="0">
              <a:buNone/>
            </a:pPr>
            <a:r>
              <a:rPr lang="en-US" sz="1500" dirty="0">
                <a:solidFill>
                  <a:schemeClr val="tx1"/>
                </a:solidFill>
              </a:rPr>
              <a:t>el termocontacto cierra y enciende el testigo rojo.</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Ejemplo resuelto: NTC en un divisor de tensión</a:t>
            </a:r>
            <a:endParaRPr lang="en-US" sz="2800" dirty="0"/>
          </a:p>
        </p:txBody>
      </p:sp>
      <p:sp>
        <p:nvSpPr>
          <p:cNvPr id="4" name="Shape 1"/>
          <p:cNvSpPr/>
          <p:nvPr/>
        </p:nvSpPr>
        <p:spPr>
          <a:xfrm>
            <a:off x="502920" y="1234440"/>
            <a:ext cx="2103120" cy="365760"/>
          </a:xfrm>
          <a:prstGeom prst="roundRect">
            <a:avLst>
              <a:gd name="adj" fmla="val 50000"/>
            </a:avLst>
          </a:prstGeom>
          <a:solidFill>
            <a:srgbClr val="F2A516"/>
          </a:solidFill>
          <a:ln w="12700">
            <a:solidFill>
              <a:srgbClr val="F2A516"/>
            </a:solidFill>
            <a:prstDash val="solid"/>
          </a:ln>
        </p:spPr>
      </p:sp>
      <p:sp>
        <p:nvSpPr>
          <p:cNvPr id="5" name="Text 2"/>
          <p:cNvSpPr txBox="1"/>
          <p:nvPr/>
        </p:nvSpPr>
        <p:spPr>
          <a:xfrm>
            <a:off x="502920" y="1234440"/>
            <a:ext cx="2103120" cy="365760"/>
          </a:xfrm>
          <a:prstGeom prst="rect">
            <a:avLst/>
          </a:prstGeom>
          <a:noFill/>
          <a:ln/>
        </p:spPr>
        <p:txBody>
          <a:bodyPr wrap="square" lIns="0" tIns="0" rIns="0" bIns="0" rtlCol="0" anchor="ctr"/>
          <a:lstStyle/>
          <a:p>
            <a:pPr algn="ctr" indent="0" marL="0">
              <a:buNone/>
            </a:pPr>
            <a:r>
              <a:rPr lang="en-US" sz="1300" b="1" dirty="0">
                <a:solidFill>
                  <a:srgbClr val="1B2A33"/>
                </a:solidFill>
              </a:rPr>
              <a:t>Ejemplo resuelto</a:t>
            </a:r>
            <a:endParaRPr lang="en-US" sz="1300" dirty="0"/>
          </a:p>
        </p:txBody>
      </p:sp>
      <p:sp>
        <p:nvSpPr>
          <p:cNvPr id="6" name="Ecuación"/>
          <p:cNvSpPr/>
          <p:nvPr/>
        </p:nvSpPr>
        <p:spPr>
          <a:xfrm>
            <a:off x="502920" y="1737360"/>
            <a:ext cx="6583680" cy="777240"/>
          </a:xfrm>
          <a:prstGeom prst="roundRect">
            <a:avLst>
              <a:gd name="adj" fmla="val 9412"/>
            </a:avLst>
          </a:prstGeom>
          <a:solidFill>
            <a:srgbClr val="FDF1D8"/>
          </a:solidFill>
          <a:ln w="15875">
            <a:solidFill>
              <a:srgbClr val="F2A516"/>
            </a:solidFill>
            <a:prstDash val="solid"/>
          </a:ln>
        </p:spPr>
      </p:sp>
      <p:sp>
        <p:nvSpPr>
          <p:cNvPr id="7" name="Text 4"/>
          <p:cNvSpPr txBox="1"/>
          <p:nvPr/>
        </p:nvSpPr>
        <p:spPr>
          <a:xfrm>
            <a:off x="502920" y="1737360"/>
            <a:ext cx="6583680" cy="777240"/>
          </a:xfrm>
          <a:prstGeom prst="rect">
            <a:avLst/>
          </a:prstGeom>
          <a:noFill/>
          <a:ln/>
        </p:spPr>
        <p:txBody>
          <a:bodyPr wrap="square" lIns="50800" tIns="50800" rIns="50800" bIns="50800" rtlCol="0" anchor="ctr"/>
          <a:lstStyle/>
          <a:p>
            <a:pPr algn="ctr" indent="0" marL="0">
              <a:buNone/>
            </a:pPr>
            <a:r>
              <a:rPr lang="en-US" sz="2000" b="1" dirty="0">
                <a:solidFill>
                  <a:schemeClr val="tx1"/>
                </a:solidFill>
                <a:latin typeface="Cambria" pitchFamily="34" charset="0"/>
                <a:ea typeface="Cambria" pitchFamily="34" charset="-122"/>
                <a:cs typeface="Cambria" pitchFamily="34" charset="-120"/>
              </a:rPr>
              <a:t>U_NTC = 5 V · R_NTC / (R_NTC + 1 kΩ)</a:t>
            </a:r>
            <a:endParaRPr lang="en-US" sz="200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502920" y="2743200"/>
          <a:ext cx="6583680" cy="914400"/>
        </p:xfrm>
        <a:graphic>
          <a:graphicData uri="http://schemas.openxmlformats.org/drawingml/2006/table">
            <a:tbl>
              <a:tblPr/>
              <a:tblGrid>
                <a:gridCol w="1828800"/>
                <a:gridCol w="1828800"/>
                <a:gridCol w="2926080"/>
              </a:tblGrid>
              <a:tr h="512064">
                <a:tc>
                  <a:txBody>
                    <a:bodyPr/>
                    <a:lstStyle/>
                    <a:p>
                      <a:pPr indent="0" marL="0">
                        <a:buNone/>
                      </a:pPr>
                      <a:r>
                        <a:rPr lang="en-US" sz="1400" b="1" dirty="0">
                          <a:solidFill>
                            <a:srgbClr val="FFFFFF"/>
                          </a:solidFill>
                        </a:rPr>
                        <a:t>Temperatura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400" b="1" dirty="0">
                          <a:solidFill>
                            <a:srgbClr val="FFFFFF"/>
                          </a:solidFill>
                        </a:rPr>
                        <a:t>R NTC (típica)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400" b="1" dirty="0">
                          <a:solidFill>
                            <a:srgbClr val="FFFFFF"/>
                          </a:solidFill>
                        </a:rPr>
                        <a:t>U en el sensor</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r>
              <a:tr h="512064">
                <a:tc>
                  <a:txBody>
                    <a:bodyPr/>
                    <a:lstStyle/>
                    <a:p>
                      <a:pPr indent="0" marL="0">
                        <a:buNone/>
                      </a:pPr>
                      <a:r>
                        <a:rPr lang="en-US" sz="1400" dirty="0">
                          <a:solidFill>
                            <a:srgbClr val="1B2A33"/>
                          </a:solidFill>
                        </a:rPr>
                        <a:t>20 °C</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2 500 Ω</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5 × 2 500 / 3 500 = 3,57 V</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12064">
                <a:tc>
                  <a:txBody>
                    <a:bodyPr/>
                    <a:lstStyle/>
                    <a:p>
                      <a:pPr indent="0" marL="0">
                        <a:buNone/>
                      </a:pPr>
                      <a:r>
                        <a:rPr lang="en-US" sz="1400" dirty="0">
                          <a:solidFill>
                            <a:srgbClr val="1B2A33"/>
                          </a:solidFill>
                        </a:rPr>
                        <a:t>60 °C</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600 Ω</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5 × 600 / 1 600 = 1,88 V</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B2A33"/>
                          </a:solidFill>
                        </a:rPr>
                        <a:t>90 °C</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240 Ω</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5 × 240 / 1 240 = 0,97 V</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12064">
                <a:tc>
                  <a:txBody>
                    <a:bodyPr/>
                    <a:lstStyle/>
                    <a:p>
                      <a:pPr indent="0" marL="0">
                        <a:buNone/>
                      </a:pPr>
                      <a:r>
                        <a:rPr lang="en-US" sz="1400" dirty="0">
                          <a:solidFill>
                            <a:srgbClr val="1B2A33"/>
                          </a:solidFill>
                        </a:rPr>
                        <a:t>Cable cortado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 5 V → código de avería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B2A33"/>
                          </a:solidFill>
                        </a:rPr>
                        <a:t>Cortocircuito a masa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0 Ω</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0 V → código de avería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bl>
          </a:graphicData>
        </a:graphic>
      </p:graphicFrame>
      <p:pic>
        <p:nvPicPr>
          <p:cNvPr id="9" name="Figura M_p172_1.png" descr="M_p172_1.png">    </p:cNvPr>
          <p:cNvPicPr>
            <a:picLocks noChangeAspect="1"/>
          </p:cNvPicPr>
          <p:nvPr/>
        </p:nvPicPr>
        <p:blipFill>
          <a:blip r:embed="rId1"/>
          <a:stretch>
            <a:fillRect/>
          </a:stretch>
        </p:blipFill>
        <p:spPr>
          <a:xfrm>
            <a:off x="7434072" y="1280160"/>
            <a:ext cx="4151376" cy="3291840"/>
          </a:xfrm>
          <a:prstGeom prst="rect">
            <a:avLst/>
          </a:prstGeom>
        </p:spPr>
      </p:pic>
      <p:sp>
        <p:nvSpPr>
          <p:cNvPr id="10" name="Text 5"/>
          <p:cNvSpPr txBox="1"/>
          <p:nvPr/>
        </p:nvSpPr>
        <p:spPr>
          <a:xfrm>
            <a:off x="7360920" y="4626864"/>
            <a:ext cx="4151376"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4.15.5 Velocímetro y cuentarrevoluciones</a:t>
            </a:r>
            <a:endParaRPr lang="en-US" sz="2800" dirty="0"/>
          </a:p>
        </p:txBody>
      </p:sp>
      <p:pic>
        <p:nvPicPr>
          <p:cNvPr id="4" name="Figura ll_inductivo.jpg" descr="ll_inductivo.jpg">    </p:cNvPr>
          <p:cNvPicPr>
            <a:picLocks noChangeAspect="1"/>
          </p:cNvPicPr>
          <p:nvPr/>
        </p:nvPicPr>
        <p:blipFill>
          <a:blip r:embed="rId1"/>
          <a:stretch>
            <a:fillRect/>
          </a:stretch>
        </p:blipFill>
        <p:spPr>
          <a:xfrm>
            <a:off x="688868" y="1234440"/>
            <a:ext cx="2371303" cy="2194560"/>
          </a:xfrm>
          <a:prstGeom prst="rect">
            <a:avLst/>
          </a:prstGeom>
        </p:spPr>
      </p:pic>
      <p:sp>
        <p:nvSpPr>
          <p:cNvPr id="5" name="Text 1"/>
          <p:cNvSpPr txBox="1"/>
          <p:nvPr/>
        </p:nvSpPr>
        <p:spPr>
          <a:xfrm>
            <a:off x="548640" y="3483864"/>
            <a:ext cx="27432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6" name="Figura ll_senal_ind.jpg" descr="ll_senal_ind.jpg">    </p:cNvPr>
          <p:cNvPicPr>
            <a:picLocks noChangeAspect="1"/>
          </p:cNvPicPr>
          <p:nvPr/>
        </p:nvPicPr>
        <p:blipFill>
          <a:blip r:embed="rId2"/>
          <a:stretch>
            <a:fillRect/>
          </a:stretch>
        </p:blipFill>
        <p:spPr>
          <a:xfrm>
            <a:off x="3474720" y="1250295"/>
            <a:ext cx="3840480" cy="882691"/>
          </a:xfrm>
          <a:prstGeom prst="rect">
            <a:avLst/>
          </a:prstGeom>
        </p:spPr>
      </p:pic>
      <p:sp>
        <p:nvSpPr>
          <p:cNvPr id="7" name="Text 2"/>
          <p:cNvSpPr txBox="1"/>
          <p:nvPr/>
        </p:nvSpPr>
        <p:spPr>
          <a:xfrm>
            <a:off x="3474720" y="2187849"/>
            <a:ext cx="384048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8" name="Figura M_p169_0.png" descr="M_p169_0.png">    </p:cNvPr>
          <p:cNvPicPr>
            <a:picLocks noChangeAspect="1"/>
          </p:cNvPicPr>
          <p:nvPr/>
        </p:nvPicPr>
        <p:blipFill>
          <a:blip r:embed="rId3"/>
          <a:stretch>
            <a:fillRect/>
          </a:stretch>
        </p:blipFill>
        <p:spPr>
          <a:xfrm>
            <a:off x="3636353" y="2743200"/>
            <a:ext cx="3517215" cy="2743200"/>
          </a:xfrm>
          <a:prstGeom prst="rect">
            <a:avLst/>
          </a:prstGeom>
        </p:spPr>
      </p:pic>
      <p:sp>
        <p:nvSpPr>
          <p:cNvPr id="9" name="Text 3"/>
          <p:cNvSpPr txBox="1"/>
          <p:nvPr/>
        </p:nvSpPr>
        <p:spPr>
          <a:xfrm>
            <a:off x="3520440" y="5541264"/>
            <a:ext cx="384048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pic>
        <p:nvPicPr>
          <p:cNvPr id="10" name="Figura M_p168_0.png" descr="M_p168_0.png">    </p:cNvPr>
          <p:cNvPicPr>
            <a:picLocks noChangeAspect="1"/>
          </p:cNvPicPr>
          <p:nvPr/>
        </p:nvPicPr>
        <p:blipFill>
          <a:blip r:embed="rId4"/>
          <a:stretch>
            <a:fillRect/>
          </a:stretch>
        </p:blipFill>
        <p:spPr>
          <a:xfrm>
            <a:off x="7705805" y="1234440"/>
            <a:ext cx="3836510" cy="2926080"/>
          </a:xfrm>
          <a:prstGeom prst="rect">
            <a:avLst/>
          </a:prstGeom>
        </p:spPr>
      </p:pic>
      <p:sp>
        <p:nvSpPr>
          <p:cNvPr id="11" name="Text 4"/>
          <p:cNvSpPr txBox="1"/>
          <p:nvPr/>
        </p:nvSpPr>
        <p:spPr>
          <a:xfrm>
            <a:off x="7589520" y="4215384"/>
            <a:ext cx="41148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Sánchez Fernández (2024).</a:t>
            </a:r>
            <a:endParaRPr lang="en-US" sz="1000" dirty="0"/>
          </a:p>
        </p:txBody>
      </p:sp>
      <p:sp>
        <p:nvSpPr>
          <p:cNvPr id="12" name="Text 5"/>
          <p:cNvSpPr txBox="1"/>
          <p:nvPr/>
        </p:nvSpPr>
        <p:spPr>
          <a:xfrm>
            <a:off x="7543800" y="4754880"/>
            <a:ext cx="4160520" cy="1463040"/>
          </a:xfrm>
          <a:prstGeom prst="rect">
            <a:avLst/>
          </a:prstGeom>
          <a:noFill/>
          <a:ln/>
        </p:spPr>
        <p:txBody>
          <a:bodyPr wrap="square" lIns="25400" tIns="25400" rIns="50800" bIns="25400" rtlCol="0" anchor="t"/>
          <a:lstStyle/>
          <a:p>
            <a:pPr marL="203200" indent="-203200">
              <a:spcAft>
                <a:spcPts val="600"/>
              </a:spcAft>
              <a:buSzPct val="100000"/>
              <a:buChar char="•"/>
            </a:pPr>
            <a:r>
              <a:rPr lang="en-US" sz="1300" b="1" dirty="0">
                <a:solidFill>
                  <a:schemeClr val="tx1"/>
                </a:solidFill>
              </a:rPr>
              <a:t>Inductivo: </a:t>
            </a:r>
            <a:pPr indent="0" marL="0">
              <a:buNone/>
            </a:pPr>
            <a:r>
              <a:rPr lang="en-US" sz="1300" dirty="0">
                <a:solidFill>
                  <a:schemeClr val="tx1"/>
                </a:solidFill>
              </a:rPr>
              <a:t>dos hilos, señal alterna cuya amplitud y frecuencia crecen con la velocidad.</a:t>
            </a:r>
            <a:endParaRPr lang="en-US" sz="1300" dirty="0"/>
          </a:p>
          <a:p>
            <a:pPr marL="203200" indent="-203200">
              <a:spcAft>
                <a:spcPts val="600"/>
              </a:spcAft>
              <a:buSzPct val="100000"/>
              <a:buChar char="•"/>
            </a:pPr>
            <a:r>
              <a:rPr lang="en-US" sz="1300" b="1" dirty="0">
                <a:solidFill>
                  <a:schemeClr val="tx1"/>
                </a:solidFill>
              </a:rPr>
              <a:t>Hall: </a:t>
            </a:r>
            <a:pPr indent="0" marL="0">
              <a:buNone/>
            </a:pPr>
            <a:r>
              <a:rPr lang="en-US" sz="1300" dirty="0">
                <a:solidFill>
                  <a:schemeClr val="tx1"/>
                </a:solidFill>
              </a:rPr>
              <a:t>tres hilos, señal cuadrada de amplitud constante; funciona desde 0 km/h.</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Ejemplo resuelto: frecuencia de los sensores</a:t>
            </a:r>
            <a:endParaRPr lang="en-US" sz="2800" dirty="0"/>
          </a:p>
        </p:txBody>
      </p:sp>
      <p:sp>
        <p:nvSpPr>
          <p:cNvPr id="4" name="Shape 1"/>
          <p:cNvSpPr/>
          <p:nvPr/>
        </p:nvSpPr>
        <p:spPr>
          <a:xfrm>
            <a:off x="502920" y="1234440"/>
            <a:ext cx="2103120" cy="365760"/>
          </a:xfrm>
          <a:prstGeom prst="roundRect">
            <a:avLst>
              <a:gd name="adj" fmla="val 50000"/>
            </a:avLst>
          </a:prstGeom>
          <a:solidFill>
            <a:srgbClr val="F2A516"/>
          </a:solidFill>
          <a:ln w="12700">
            <a:solidFill>
              <a:srgbClr val="F2A516"/>
            </a:solidFill>
            <a:prstDash val="solid"/>
          </a:ln>
        </p:spPr>
      </p:sp>
      <p:sp>
        <p:nvSpPr>
          <p:cNvPr id="5" name="Text 2"/>
          <p:cNvSpPr txBox="1"/>
          <p:nvPr/>
        </p:nvSpPr>
        <p:spPr>
          <a:xfrm>
            <a:off x="502920" y="1234440"/>
            <a:ext cx="2103120" cy="365760"/>
          </a:xfrm>
          <a:prstGeom prst="rect">
            <a:avLst/>
          </a:prstGeom>
          <a:noFill/>
          <a:ln/>
        </p:spPr>
        <p:txBody>
          <a:bodyPr wrap="square" lIns="0" tIns="0" rIns="0" bIns="0" rtlCol="0" anchor="ctr"/>
          <a:lstStyle/>
          <a:p>
            <a:pPr algn="ctr" indent="0" marL="0">
              <a:buNone/>
            </a:pPr>
            <a:r>
              <a:rPr lang="en-US" sz="1300" b="1" dirty="0">
                <a:solidFill>
                  <a:srgbClr val="1B2A33"/>
                </a:solidFill>
              </a:rPr>
              <a:t>Ejemplo resuelto</a:t>
            </a:r>
            <a:endParaRPr lang="en-US" sz="1300" dirty="0"/>
          </a:p>
        </p:txBody>
      </p:sp>
      <p:sp>
        <p:nvSpPr>
          <p:cNvPr id="6" name="Text 3"/>
          <p:cNvSpPr txBox="1"/>
          <p:nvPr/>
        </p:nvSpPr>
        <p:spPr>
          <a:xfrm>
            <a:off x="502920" y="1737360"/>
            <a:ext cx="11201400" cy="4480560"/>
          </a:xfrm>
          <a:prstGeom prst="rect">
            <a:avLst/>
          </a:prstGeom>
          <a:noFill/>
          <a:ln/>
        </p:spPr>
        <p:txBody>
          <a:bodyPr wrap="square" lIns="25400" tIns="25400" rIns="50800" bIns="25400" rtlCol="0" anchor="t"/>
          <a:lstStyle/>
          <a:p>
            <a:pPr indent="0" marL="0">
              <a:spcAft>
                <a:spcPts val="400"/>
              </a:spcAft>
              <a:buNone/>
            </a:pPr>
            <a:r>
              <a:rPr lang="en-US" sz="1700" b="1" dirty="0">
                <a:solidFill>
                  <a:schemeClr val="accent1"/>
                </a:solidFill>
              </a:rPr>
              <a:t>a) Sensor de rueda (ABS)</a:t>
            </a:r>
            <a:endParaRPr lang="en-US" sz="1700" dirty="0"/>
          </a:p>
          <a:p>
            <a:pPr marL="203200" indent="-203200">
              <a:spcAft>
                <a:spcPts val="600"/>
              </a:spcAft>
              <a:buSzPct val="100000"/>
              <a:buChar char="•"/>
            </a:pPr>
            <a:r>
              <a:rPr lang="en-US" sz="1600" dirty="0">
                <a:solidFill>
                  <a:schemeClr val="tx1"/>
                </a:solidFill>
              </a:rPr>
              <a:t>Corona de 48 dientes; perímetro de rueda 1,9 m; v = 90 km/h = 25 m/s</a:t>
            </a:r>
            <a:endParaRPr lang="en-US" sz="1700" dirty="0"/>
          </a:p>
          <a:p>
            <a:pPr marL="203200" indent="-203200">
              <a:spcAft>
                <a:spcPts val="600"/>
              </a:spcAft>
              <a:buSzPct val="100000"/>
              <a:buChar char="•"/>
            </a:pPr>
            <a:r>
              <a:rPr lang="en-US" sz="1600" dirty="0">
                <a:solidFill>
                  <a:schemeClr val="tx1"/>
                </a:solidFill>
              </a:rPr>
              <a:t>n = 25 / 1,9 = 13,2 rev/s → f = 13,2 × 48 = 632 Hz</a:t>
            </a:r>
            <a:endParaRPr lang="en-US" sz="1700" dirty="0"/>
          </a:p>
          <a:p>
            <a:pPr indent="0" marL="0">
              <a:spcAft>
                <a:spcPts val="400"/>
              </a:spcAft>
              <a:buNone/>
            </a:pPr>
            <a:r>
              <a:rPr lang="en-US" sz="1700" b="1" dirty="0">
                <a:solidFill>
                  <a:schemeClr val="accent1"/>
                </a:solidFill>
              </a:rPr>
              <a:t>b) Cuentarrevoluciones (4 cilindros, 4T)</a:t>
            </a:r>
            <a:endParaRPr lang="en-US" sz="1700" dirty="0"/>
          </a:p>
          <a:p>
            <a:pPr marL="203200" indent="-203200">
              <a:spcAft>
                <a:spcPts val="600"/>
              </a:spcAft>
              <a:buSzPct val="100000"/>
              <a:buChar char="•"/>
            </a:pPr>
            <a:r>
              <a:rPr lang="en-US" sz="1600" dirty="0">
                <a:solidFill>
                  <a:schemeClr val="tx1"/>
                </a:solidFill>
              </a:rPr>
              <a:t>Impulsos por vuelta = z / 2 = 2</a:t>
            </a:r>
            <a:endParaRPr lang="en-US" sz="1700" dirty="0"/>
          </a:p>
          <a:p>
            <a:pPr marL="203200" indent="-203200">
              <a:spcAft>
                <a:spcPts val="600"/>
              </a:spcAft>
              <a:buSzPct val="100000"/>
              <a:buChar char="•"/>
            </a:pPr>
            <a:r>
              <a:rPr lang="en-US" sz="1600" dirty="0">
                <a:solidFill>
                  <a:schemeClr val="tx1"/>
                </a:solidFill>
              </a:rPr>
              <a:t>n = 3 000 rpm = 50 rev/s → f = 50 × 2 = 100 Hz</a:t>
            </a:r>
            <a:endParaRPr lang="en-US" sz="1700" dirty="0"/>
          </a:p>
          <a:p>
            <a:pPr marL="203200" indent="-203200">
              <a:spcAft>
                <a:spcPts val="600"/>
              </a:spcAft>
              <a:buSzPct val="100000"/>
              <a:buChar char="•"/>
            </a:pPr>
            <a:r>
              <a:rPr lang="en-US" sz="1600" dirty="0">
                <a:solidFill>
                  <a:schemeClr val="tx1"/>
                </a:solidFill>
              </a:rPr>
              <a:t>Si el display marca 6 000 rpm a 3 000 rpm: el cuadro está configurado para otro número de cilindros.</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4.15.6 Verificación y control del cuadro de instrumentos</a:t>
            </a:r>
            <a:endParaRPr lang="en-US" sz="280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201400" cy="914400"/>
        </p:xfrm>
        <a:graphic>
          <a:graphicData uri="http://schemas.openxmlformats.org/drawingml/2006/table">
            <a:tbl>
              <a:tblPr/>
              <a:tblGrid>
                <a:gridCol w="1920240"/>
                <a:gridCol w="5669280"/>
                <a:gridCol w="3611880"/>
              </a:tblGrid>
              <a:tr h="640080">
                <a:tc>
                  <a:txBody>
                    <a:bodyPr/>
                    <a:lstStyle/>
                    <a:p>
                      <a:pPr indent="0" marL="0">
                        <a:buNone/>
                      </a:pPr>
                      <a:r>
                        <a:rPr lang="en-US" sz="1400" b="1" dirty="0">
                          <a:solidFill>
                            <a:srgbClr val="FFFFFF"/>
                          </a:solidFill>
                        </a:rPr>
                        <a:t>Paso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400" b="1" dirty="0">
                          <a:solidFill>
                            <a:srgbClr val="FFFFFF"/>
                          </a:solidFill>
                        </a:rPr>
                        <a:t>Qué se hace</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400" b="1" dirty="0">
                          <a:solidFill>
                            <a:srgbClr val="FFFFFF"/>
                          </a:solidFill>
                        </a:rPr>
                        <a:t>Resultado esperado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r>
              <a:tr h="640080">
                <a:tc>
                  <a:txBody>
                    <a:bodyPr/>
                    <a:lstStyle/>
                    <a:p>
                      <a:pPr indent="0" marL="0">
                        <a:buNone/>
                      </a:pPr>
                      <a:r>
                        <a:rPr lang="en-US" sz="1400" dirty="0">
                          <a:solidFill>
                            <a:srgbClr val="1B2A33"/>
                          </a:solidFill>
                        </a:rPr>
                        <a:t>1. Autodiagnosis</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Prueba de agujas y testigos al poner el contacto; leer códigos con el equipo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Barrido de agujas; sin códigos</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640080">
                <a:tc>
                  <a:txBody>
                    <a:bodyPr/>
                    <a:lstStyle/>
                    <a:p>
                      <a:pPr indent="0" marL="0">
                        <a:buNone/>
                      </a:pPr>
                      <a:r>
                        <a:rPr lang="en-US" sz="1400" dirty="0">
                          <a:solidFill>
                            <a:srgbClr val="1B2A33"/>
                          </a:solidFill>
                        </a:rPr>
                        <a:t>2. Alimentación</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Medir +30, +15, +58 y masas en el conector del cuadro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 batería; masa &lt; 0,1 V</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1B2A33"/>
                          </a:solidFill>
                        </a:rPr>
                        <a:t>3. Sensor</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Medir R del aforador / NTC / manorresistencia y comparar con la tabla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Dentro de especificación</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640080">
                <a:tc>
                  <a:txBody>
                    <a:bodyPr/>
                    <a:lstStyle/>
                    <a:p>
                      <a:pPr indent="0" marL="0">
                        <a:buNone/>
                      </a:pPr>
                      <a:r>
                        <a:rPr lang="en-US" sz="1400" dirty="0">
                          <a:solidFill>
                            <a:srgbClr val="1B2A33"/>
                          </a:solidFill>
                        </a:rPr>
                        <a:t>4. Simulación</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Sustituir el sensor por una resistencia conocida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La aguja se mueve al valor previsto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1B2A33"/>
                          </a:solidFill>
                        </a:rPr>
                        <a:t>5. Cableado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Continuidad sensor–cuadro con la batería desconectada</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400" dirty="0">
                          <a:solidFill>
                            <a:srgbClr val="1B2A33"/>
                          </a:solidFill>
                        </a:rPr>
                        <a:t>&lt; 1 Ω</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640080">
                <a:tc>
                  <a:txBody>
                    <a:bodyPr/>
                    <a:lstStyle/>
                    <a:p>
                      <a:pPr indent="0" marL="0">
                        <a:buNone/>
                      </a:pPr>
                      <a:r>
                        <a:rPr lang="en-US" sz="1400" dirty="0">
                          <a:solidFill>
                            <a:srgbClr val="1B2A33"/>
                          </a:solidFill>
                        </a:rPr>
                        <a:t>6. Testigos</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Puentear a masa el cable del manocontacto / termocontacto</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El testigo se enciende</a:t>
                      </a:r>
                      <a:endParaRPr lang="en-US" sz="14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1"/>
          <p:cNvSpPr/>
          <p:nvPr>
            <p:ph idx="102" type="body" hasCustomPrompt="1"/>
          </p:nvPr>
        </p:nvSpPr>
        <p:spPr>
          <a:xfrm>
            <a:off x="731520" y="1463040"/>
            <a:ext cx="4114800" cy="1463040"/>
          </a:xfrm>
          <a:prstGeom prst="rect">
            <a:avLst/>
          </a:prstGeom>
          <a:noFill/>
          <a:ln/>
        </p:spPr>
        <p:txBody>
          <a:bodyPr wrap="square" rtlCol="0" anchor="b"/>
          <a:lstStyle/>
          <a:p>
            <a:pPr algn="l" indent="0" marL="0">
              <a:buNone/>
            </a:pPr>
            <a:r>
              <a:rPr lang="en-US" sz="8000" b="1" dirty="0">
                <a:solidFill>
                  <a:schemeClr val="accent2"/>
                </a:solidFill>
              </a:rPr>
              <a:t>4.16</a:t>
            </a:r>
            <a:endParaRPr lang="en-US" sz="8000" dirty="0"/>
          </a:p>
        </p:txBody>
      </p:sp>
      <p:sp>
        <p:nvSpPr>
          <p:cNvPr id="3" name="Text 1"/>
          <p:cNvSpPr/>
          <p:nvPr>
            <p:ph idx="103" type="title" hasCustomPrompt="1"/>
          </p:nvPr>
        </p:nvSpPr>
        <p:spPr>
          <a:xfrm>
            <a:off x="731520" y="2971800"/>
            <a:ext cx="10515600" cy="1371600"/>
          </a:xfrm>
          <a:prstGeom prst="rect">
            <a:avLst/>
          </a:prstGeom>
          <a:noFill/>
          <a:ln/>
        </p:spPr>
        <p:txBody>
          <a:bodyPr wrap="square" rtlCol="0" anchor="t"/>
          <a:lstStyle/>
          <a:p>
            <a:pPr algn="l" indent="0" marL="0">
              <a:buNone/>
            </a:pPr>
            <a:r>
              <a:rPr lang="en-US" sz="4000" b="1" dirty="0">
                <a:solidFill>
                  <a:schemeClr val="bg1"/>
                </a:solidFill>
              </a:rPr>
              <a:t>Otros mecanismos eléctricos</a:t>
            </a:r>
            <a:endParaRPr lang="en-US" sz="4000" dirty="0"/>
          </a:p>
        </p:txBody>
      </p:sp>
      <p:sp>
        <p:nvSpPr>
          <p:cNvPr id="4" name="Text 1"/>
          <p:cNvSpPr/>
          <p:nvPr>
            <p:ph idx="104" type="body" hasCustomPrompt="1"/>
          </p:nvPr>
        </p:nvSpPr>
        <p:spPr>
          <a:xfrm>
            <a:off x="731520" y="4434840"/>
            <a:ext cx="10058400" cy="1463040"/>
          </a:xfrm>
          <a:prstGeom prst="rect">
            <a:avLst/>
          </a:prstGeom>
          <a:noFill/>
          <a:ln/>
        </p:spPr>
        <p:txBody>
          <a:bodyPr wrap="square" rtlCol="0" anchor="t"/>
          <a:lstStyle/>
          <a:p>
            <a:pPr algn="l" indent="0" marL="0">
              <a:buNone/>
            </a:pPr>
            <a:r>
              <a:rPr lang="en-US" sz="1800" dirty="0">
                <a:solidFill>
                  <a:schemeClr val="bg2"/>
                </a:solidFill>
              </a:rPr>
              <a:t>Cierre · Elevalunas · Bomba de gasolina · Motoventilador · Encendedor y reloj · Alarma de cinturón</a:t>
            </a:r>
            <a:endParaRPr lang="en-US" sz="1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4.16.1 Cerraduras electromagnéticas y cierre centralizado</a:t>
            </a:r>
            <a:endParaRPr lang="en-US" sz="2800" dirty="0"/>
          </a:p>
        </p:txBody>
      </p:sp>
      <p:pic>
        <p:nvPicPr>
          <p:cNvPr id="4" name="Figura ll_esq720.jpg" descr="ll_esq720.jpg">    </p:cNvPr>
          <p:cNvPicPr>
            <a:picLocks noChangeAspect="1"/>
          </p:cNvPicPr>
          <p:nvPr/>
        </p:nvPicPr>
        <p:blipFill>
          <a:blip r:embed="rId1"/>
          <a:stretch>
            <a:fillRect/>
          </a:stretch>
        </p:blipFill>
        <p:spPr>
          <a:xfrm>
            <a:off x="1169228" y="1234440"/>
            <a:ext cx="4702423" cy="2926080"/>
          </a:xfrm>
          <a:prstGeom prst="rect">
            <a:avLst/>
          </a:prstGeom>
        </p:spPr>
      </p:pic>
      <p:sp>
        <p:nvSpPr>
          <p:cNvPr id="5" name="Text 1"/>
          <p:cNvSpPr txBox="1"/>
          <p:nvPr/>
        </p:nvSpPr>
        <p:spPr>
          <a:xfrm>
            <a:off x="548640" y="4215384"/>
            <a:ext cx="4702423"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6" name="Figura ll_actuadores.jpg" descr="ll_actuadores.jpg">    </p:cNvPr>
          <p:cNvPicPr>
            <a:picLocks noChangeAspect="1"/>
          </p:cNvPicPr>
          <p:nvPr/>
        </p:nvPicPr>
        <p:blipFill>
          <a:blip r:embed="rId2"/>
          <a:stretch>
            <a:fillRect/>
          </a:stretch>
        </p:blipFill>
        <p:spPr>
          <a:xfrm>
            <a:off x="6766560" y="1389943"/>
            <a:ext cx="2377440" cy="2249314"/>
          </a:xfrm>
          <a:prstGeom prst="rect">
            <a:avLst/>
          </a:prstGeom>
        </p:spPr>
      </p:pic>
      <p:sp>
        <p:nvSpPr>
          <p:cNvPr id="7" name="Text 2"/>
          <p:cNvSpPr txBox="1"/>
          <p:nvPr/>
        </p:nvSpPr>
        <p:spPr>
          <a:xfrm>
            <a:off x="6766560" y="3694121"/>
            <a:ext cx="23774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sp>
        <p:nvSpPr>
          <p:cNvPr id="8" name="Text 3"/>
          <p:cNvSpPr txBox="1"/>
          <p:nvPr/>
        </p:nvSpPr>
        <p:spPr>
          <a:xfrm>
            <a:off x="502920" y="4663440"/>
            <a:ext cx="11201400" cy="1554480"/>
          </a:xfrm>
          <a:prstGeom prst="rect">
            <a:avLst/>
          </a:prstGeom>
          <a:noFill/>
          <a:ln/>
        </p:spPr>
        <p:txBody>
          <a:bodyPr wrap="square" lIns="25400" tIns="25400" rIns="50800" bIns="25400" rtlCol="0" anchor="t"/>
          <a:lstStyle/>
          <a:p>
            <a:pPr marL="203200" indent="-203200">
              <a:spcAft>
                <a:spcPts val="600"/>
              </a:spcAft>
              <a:buSzPct val="100000"/>
              <a:buChar char="•"/>
            </a:pPr>
            <a:r>
              <a:rPr lang="en-US" sz="1400" b="1" dirty="0">
                <a:solidFill>
                  <a:schemeClr val="tx1"/>
                </a:solidFill>
              </a:rPr>
              <a:t>Mando: </a:t>
            </a:r>
            <a:pPr indent="0" marL="0">
              <a:buNone/>
            </a:pPr>
            <a:r>
              <a:rPr lang="en-US" sz="1400" dirty="0">
                <a:solidFill>
                  <a:schemeClr val="tx1"/>
                </a:solidFill>
              </a:rPr>
              <a:t>bombín de la puerta, tirador interior, conmutador de cierre, mando a distancia (RF; 433 MHz en Europa).</a:t>
            </a:r>
            <a:endParaRPr lang="en-US" sz="1400" dirty="0"/>
          </a:p>
          <a:p>
            <a:pPr marL="203200" indent="-203200">
              <a:spcAft>
                <a:spcPts val="600"/>
              </a:spcAft>
              <a:buSzPct val="100000"/>
              <a:buChar char="•"/>
            </a:pPr>
            <a:r>
              <a:rPr lang="en-US" sz="1400" b="1" dirty="0">
                <a:solidFill>
                  <a:schemeClr val="tx1"/>
                </a:solidFill>
              </a:rPr>
              <a:t>Superbloqueo: </a:t>
            </a:r>
            <a:pPr indent="0" marL="0">
              <a:buNone/>
            </a:pPr>
            <a:r>
              <a:rPr lang="en-US" sz="1400" dirty="0">
                <a:solidFill>
                  <a:schemeClr val="tx1"/>
                </a:solidFill>
              </a:rPr>
              <a:t>un segundo motor inutiliza el tirador interior al cerrar desde fuera.</a:t>
            </a:r>
            <a:endParaRPr lang="en-US" sz="1400" dirty="0"/>
          </a:p>
          <a:p>
            <a:pPr marL="203200" indent="-203200">
              <a:spcAft>
                <a:spcPts val="600"/>
              </a:spcAft>
              <a:buSzPct val="100000"/>
              <a:buChar char="•"/>
            </a:pPr>
            <a:r>
              <a:rPr lang="en-US" sz="1400" b="1" dirty="0">
                <a:solidFill>
                  <a:schemeClr val="tx1"/>
                </a:solidFill>
              </a:rPr>
              <a:t>Confirmación: </a:t>
            </a:r>
            <a:pPr indent="0" marL="0">
              <a:buNone/>
            </a:pPr>
            <a:r>
              <a:rPr lang="en-US" sz="1400" dirty="0">
                <a:solidFill>
                  <a:schemeClr val="tx1"/>
                </a:solidFill>
              </a:rPr>
              <a:t>destellos de los intermitentes (distinto patrón al cerrar y abrir).</a:t>
            </a:r>
            <a:endParaRPr lang="en-US" sz="1400" dirty="0"/>
          </a:p>
          <a:p>
            <a:pPr marL="203200" indent="-203200">
              <a:spcAft>
                <a:spcPts val="600"/>
              </a:spcAft>
              <a:buSzPct val="100000"/>
              <a:buChar char="•"/>
            </a:pPr>
            <a:r>
              <a:rPr lang="en-US" sz="1400" b="1" dirty="0">
                <a:solidFill>
                  <a:schemeClr val="tx1"/>
                </a:solidFill>
              </a:rPr>
              <a:t>Seguridad: </a:t>
            </a:r>
            <a:pPr indent="0" marL="0">
              <a:buNone/>
            </a:pPr>
            <a:r>
              <a:rPr lang="en-US" sz="1400" dirty="0">
                <a:solidFill>
                  <a:schemeClr val="tx1"/>
                </a:solidFill>
              </a:rPr>
              <a:t>desbloqueo automático tras un choque (señal del airbag).</a:t>
            </a:r>
            <a:endParaRPr lang="en-US" sz="1400" dirty="0"/>
          </a:p>
        </p:txBody>
      </p:sp>
      <p:pic>
        <p:nvPicPr>
          <p:cNvPr id="9" name="Figura V_p203_4.png" descr="V_p203_4.png">    </p:cNvPr>
          <p:cNvPicPr>
            <a:picLocks noChangeAspect="1"/>
          </p:cNvPicPr>
          <p:nvPr/>
        </p:nvPicPr>
        <p:blipFill>
          <a:blip r:embed="rId3"/>
          <a:stretch>
            <a:fillRect/>
          </a:stretch>
        </p:blipFill>
        <p:spPr>
          <a:xfrm>
            <a:off x="9326880" y="1653803"/>
            <a:ext cx="2377440" cy="1721594"/>
          </a:xfrm>
          <a:prstGeom prst="rect">
            <a:avLst/>
          </a:prstGeom>
        </p:spPr>
      </p:pic>
      <p:sp>
        <p:nvSpPr>
          <p:cNvPr id="10" name="Text 4"/>
          <p:cNvSpPr txBox="1"/>
          <p:nvPr/>
        </p:nvSpPr>
        <p:spPr>
          <a:xfrm>
            <a:off x="9326880" y="3430261"/>
            <a:ext cx="23774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Vidal Pastor et al. (2011).</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Inversión de polaridad: cómo un motor abre y cierra</a:t>
            </a:r>
            <a:endParaRPr lang="en-US" sz="28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583680" cy="914400"/>
        </p:xfrm>
        <a:graphic>
          <a:graphicData uri="http://schemas.openxmlformats.org/drawingml/2006/table">
            <a:tbl>
              <a:tblPr/>
              <a:tblGrid>
                <a:gridCol w="1463040"/>
                <a:gridCol w="2651760"/>
                <a:gridCol w="2468880"/>
              </a:tblGrid>
              <a:tr h="548640">
                <a:tc>
                  <a:txBody>
                    <a:bodyPr/>
                    <a:lstStyle/>
                    <a:p>
                      <a:pPr indent="0" marL="0">
                        <a:buNone/>
                      </a:pPr>
                      <a:r>
                        <a:rPr lang="en-US" sz="1500" b="1" dirty="0">
                          <a:solidFill>
                            <a:srgbClr val="FFFFFF"/>
                          </a:solidFill>
                        </a:rPr>
                        <a:t>Orden</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500" b="1" dirty="0">
                          <a:solidFill>
                            <a:srgbClr val="FFFFFF"/>
                          </a:solidFill>
                        </a:rPr>
                        <a:t>Bornes del motor</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500" b="1" dirty="0">
                          <a:solidFill>
                            <a:srgbClr val="FFFFFF"/>
                          </a:solidFill>
                        </a:rPr>
                        <a:t>Resultado</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r>
              <a:tr h="548640">
                <a:tc>
                  <a:txBody>
                    <a:bodyPr/>
                    <a:lstStyle/>
                    <a:p>
                      <a:pPr indent="0" marL="0">
                        <a:buNone/>
                      </a:pPr>
                      <a:r>
                        <a:rPr lang="en-US" sz="1500" dirty="0">
                          <a:solidFill>
                            <a:srgbClr val="1B2A33"/>
                          </a:solidFill>
                        </a:rPr>
                        <a:t>Reposo</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A = masa, B = masa</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Motor parado y frenado</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48640">
                <a:tc>
                  <a:txBody>
                    <a:bodyPr/>
                    <a:lstStyle/>
                    <a:p>
                      <a:pPr indent="0" marL="0">
                        <a:buNone/>
                      </a:pPr>
                      <a:r>
                        <a:rPr lang="en-US" sz="1500" dirty="0">
                          <a:solidFill>
                            <a:srgbClr val="1B2A33"/>
                          </a:solidFill>
                        </a:rPr>
                        <a:t>Cerrar</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500" dirty="0">
                          <a:solidFill>
                            <a:srgbClr val="1B2A33"/>
                          </a:solidFill>
                        </a:rPr>
                        <a:t>A = +12 V, B = masa</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500" dirty="0">
                          <a:solidFill>
                            <a:srgbClr val="1B2A33"/>
                          </a:solidFill>
                        </a:rPr>
                        <a:t>Gira en sentido horario</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A33"/>
                          </a:solidFill>
                        </a:rPr>
                        <a:t>Abrir</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A = masa, B = +12 V</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Gira en sentido contrario</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bl>
          </a:graphicData>
        </a:graphic>
      </p:graphicFrame>
      <p:sp>
        <p:nvSpPr>
          <p:cNvPr id="5" name="Shape 1"/>
          <p:cNvSpPr/>
          <p:nvPr/>
        </p:nvSpPr>
        <p:spPr>
          <a:xfrm>
            <a:off x="502920" y="3657600"/>
            <a:ext cx="2103120" cy="365760"/>
          </a:xfrm>
          <a:prstGeom prst="roundRect">
            <a:avLst>
              <a:gd name="adj" fmla="val 50000"/>
            </a:avLst>
          </a:prstGeom>
          <a:solidFill>
            <a:srgbClr val="F2A516"/>
          </a:solidFill>
          <a:ln w="12700">
            <a:solidFill>
              <a:srgbClr val="F2A516"/>
            </a:solidFill>
            <a:prstDash val="solid"/>
          </a:ln>
        </p:spPr>
      </p:sp>
      <p:sp>
        <p:nvSpPr>
          <p:cNvPr id="6" name="Text 2"/>
          <p:cNvSpPr txBox="1"/>
          <p:nvPr/>
        </p:nvSpPr>
        <p:spPr>
          <a:xfrm>
            <a:off x="502920" y="3657600"/>
            <a:ext cx="2103120" cy="365760"/>
          </a:xfrm>
          <a:prstGeom prst="rect">
            <a:avLst/>
          </a:prstGeom>
          <a:noFill/>
          <a:ln/>
        </p:spPr>
        <p:txBody>
          <a:bodyPr wrap="square" lIns="0" tIns="0" rIns="0" bIns="0" rtlCol="0" anchor="ctr"/>
          <a:lstStyle/>
          <a:p>
            <a:pPr algn="ctr" indent="0" marL="0">
              <a:buNone/>
            </a:pPr>
            <a:r>
              <a:rPr lang="en-US" sz="1300" b="1" dirty="0">
                <a:solidFill>
                  <a:srgbClr val="1B2A33"/>
                </a:solidFill>
              </a:rPr>
              <a:t>Ejemplo resuelto</a:t>
            </a:r>
            <a:endParaRPr lang="en-US" sz="1300" dirty="0"/>
          </a:p>
        </p:txBody>
      </p:sp>
      <p:sp>
        <p:nvSpPr>
          <p:cNvPr id="7" name="Text 3"/>
          <p:cNvSpPr txBox="1"/>
          <p:nvPr/>
        </p:nvSpPr>
        <p:spPr>
          <a:xfrm>
            <a:off x="502920" y="4114800"/>
            <a:ext cx="6583680" cy="2103120"/>
          </a:xfrm>
          <a:prstGeom prst="rect">
            <a:avLst/>
          </a:prstGeom>
          <a:noFill/>
          <a:ln/>
        </p:spPr>
        <p:txBody>
          <a:bodyPr wrap="square" lIns="25400" tIns="25400" rIns="50800" bIns="25400" rtlCol="0" anchor="t"/>
          <a:lstStyle/>
          <a:p>
            <a:pPr marL="203200" indent="-203200">
              <a:spcAft>
                <a:spcPts val="600"/>
              </a:spcAft>
              <a:buSzPct val="100000"/>
              <a:buChar char="•"/>
            </a:pPr>
            <a:r>
              <a:rPr lang="en-US" sz="1500" dirty="0">
                <a:solidFill>
                  <a:schemeClr val="tx1"/>
                </a:solidFill>
              </a:rPr>
              <a:t>4 actuadores de 5 A durante 0,3 s al cerrar: I pico = 20 A.</a:t>
            </a:r>
            <a:endParaRPr lang="en-US" sz="1500" dirty="0"/>
          </a:p>
          <a:p>
            <a:pPr marL="203200" indent="-203200">
              <a:spcAft>
                <a:spcPts val="600"/>
              </a:spcAft>
              <a:buSzPct val="100000"/>
              <a:buChar char="•"/>
            </a:pPr>
            <a:r>
              <a:rPr lang="en-US" sz="1500" dirty="0">
                <a:solidFill>
                  <a:schemeClr val="tx1"/>
                </a:solidFill>
              </a:rPr>
              <a:t>Carga consumida = 20 A × 0,3 s = 6 C = 0,0017 Ah: despreciable para la batería, pero el fusible y los relés deben soportar 20 A.</a:t>
            </a:r>
            <a:endParaRPr lang="en-US" sz="1500" dirty="0"/>
          </a:p>
        </p:txBody>
      </p:sp>
      <p:pic>
        <p:nvPicPr>
          <p:cNvPr id="8" name="Figura ll_esq77.jpg" descr="ll_esq77.jpg">    </p:cNvPr>
          <p:cNvPicPr>
            <a:picLocks noChangeAspect="1"/>
          </p:cNvPicPr>
          <p:nvPr/>
        </p:nvPicPr>
        <p:blipFill>
          <a:blip r:embed="rId1"/>
          <a:stretch>
            <a:fillRect/>
          </a:stretch>
        </p:blipFill>
        <p:spPr>
          <a:xfrm>
            <a:off x="7315200" y="2100583"/>
            <a:ext cx="4389120" cy="2748273"/>
          </a:xfrm>
          <a:prstGeom prst="rect">
            <a:avLst/>
          </a:prstGeom>
        </p:spPr>
      </p:pic>
      <p:sp>
        <p:nvSpPr>
          <p:cNvPr id="9" name="Text 4"/>
          <p:cNvSpPr txBox="1"/>
          <p:nvPr/>
        </p:nvSpPr>
        <p:spPr>
          <a:xfrm>
            <a:off x="7315200" y="4903721"/>
            <a:ext cx="438912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4.16.2 Sistema eléctrico de elevalunas</a:t>
            </a:r>
            <a:endParaRPr lang="en-US" sz="2800" dirty="0"/>
          </a:p>
        </p:txBody>
      </p:sp>
      <p:pic>
        <p:nvPicPr>
          <p:cNvPr id="4" name="Figura ll_motor_elev.jpg" descr="ll_motor_elev.jpg">    </p:cNvPr>
          <p:cNvPicPr>
            <a:picLocks noChangeAspect="1"/>
          </p:cNvPicPr>
          <p:nvPr/>
        </p:nvPicPr>
        <p:blipFill>
          <a:blip r:embed="rId1"/>
          <a:stretch>
            <a:fillRect/>
          </a:stretch>
        </p:blipFill>
        <p:spPr>
          <a:xfrm>
            <a:off x="729525" y="1234440"/>
            <a:ext cx="4118791" cy="2011680"/>
          </a:xfrm>
          <a:prstGeom prst="rect">
            <a:avLst/>
          </a:prstGeom>
        </p:spPr>
      </p:pic>
      <p:sp>
        <p:nvSpPr>
          <p:cNvPr id="5" name="Text 1"/>
          <p:cNvSpPr txBox="1"/>
          <p:nvPr/>
        </p:nvSpPr>
        <p:spPr>
          <a:xfrm>
            <a:off x="548640" y="3300984"/>
            <a:ext cx="4118791"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6" name="Figura v_puerta.jpg" descr="v_puerta.jpg">    </p:cNvPr>
          <p:cNvPicPr>
            <a:picLocks noChangeAspect="1"/>
          </p:cNvPicPr>
          <p:nvPr/>
        </p:nvPicPr>
        <p:blipFill>
          <a:blip r:embed="rId2"/>
          <a:stretch>
            <a:fillRect/>
          </a:stretch>
        </p:blipFill>
        <p:spPr>
          <a:xfrm>
            <a:off x="1471856" y="3840480"/>
            <a:ext cx="2634128" cy="2011680"/>
          </a:xfrm>
          <a:prstGeom prst="rect">
            <a:avLst/>
          </a:prstGeom>
        </p:spPr>
      </p:pic>
      <p:sp>
        <p:nvSpPr>
          <p:cNvPr id="7" name="Text 2"/>
          <p:cNvSpPr txBox="1"/>
          <p:nvPr/>
        </p:nvSpPr>
        <p:spPr>
          <a:xfrm>
            <a:off x="548640" y="5907024"/>
            <a:ext cx="41148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Vidal Pastor et al. (2011).</a:t>
            </a:r>
            <a:endParaRPr lang="en-US" sz="1000" dirty="0"/>
          </a:p>
        </p:txBody>
      </p:sp>
      <p:sp>
        <p:nvSpPr>
          <p:cNvPr id="8" name="Text 3"/>
          <p:cNvSpPr txBox="1"/>
          <p:nvPr/>
        </p:nvSpPr>
        <p:spPr>
          <a:xfrm>
            <a:off x="5303520" y="1188720"/>
            <a:ext cx="6400800" cy="5029200"/>
          </a:xfrm>
          <a:prstGeom prst="rect">
            <a:avLst/>
          </a:prstGeom>
          <a:noFill/>
          <a:ln/>
        </p:spPr>
        <p:txBody>
          <a:bodyPr wrap="square" lIns="25400" tIns="25400" rIns="50800" bIns="25400" rtlCol="0" anchor="t"/>
          <a:lstStyle/>
          <a:p>
            <a:pPr marL="203200" indent="-203200">
              <a:spcAft>
                <a:spcPts val="600"/>
              </a:spcAft>
              <a:buSzPct val="100000"/>
              <a:buChar char="•"/>
            </a:pPr>
            <a:r>
              <a:rPr lang="en-US" sz="1500" b="1" dirty="0">
                <a:solidFill>
                  <a:schemeClr val="tx1"/>
                </a:solidFill>
              </a:rPr>
              <a:t>Motor: </a:t>
            </a:r>
            <a:pPr indent="0" marL="0">
              <a:buNone/>
            </a:pPr>
            <a:r>
              <a:rPr lang="en-US" sz="1500" dirty="0">
                <a:solidFill>
                  <a:schemeClr val="tx1"/>
                </a:solidFill>
              </a:rPr>
              <a:t>CC de imanes permanentes, reductora de tornillo sinfín (irreversible: la luna no baja empujándola).</a:t>
            </a:r>
            <a:endParaRPr lang="en-US" sz="1500" dirty="0"/>
          </a:p>
          <a:p>
            <a:pPr marL="203200" indent="-203200">
              <a:spcAft>
                <a:spcPts val="600"/>
              </a:spcAft>
              <a:buSzPct val="100000"/>
              <a:buChar char="•"/>
            </a:pPr>
            <a:r>
              <a:rPr lang="en-US" sz="1500" b="1" dirty="0">
                <a:solidFill>
                  <a:schemeClr val="tx1"/>
                </a:solidFill>
              </a:rPr>
              <a:t>Mecanismos: </a:t>
            </a:r>
            <a:pPr indent="0" marL="0">
              <a:buNone/>
            </a:pPr>
            <a:r>
              <a:rPr lang="en-US" sz="1500" dirty="0">
                <a:solidFill>
                  <a:schemeClr val="tx1"/>
                </a:solidFill>
              </a:rPr>
              <a:t>de cable y poleas, de cable y envolvente, o articulado (tijera).</a:t>
            </a:r>
            <a:endParaRPr lang="en-US" sz="1500" dirty="0"/>
          </a:p>
          <a:p>
            <a:pPr marL="203200" indent="-203200">
              <a:spcAft>
                <a:spcPts val="600"/>
              </a:spcAft>
              <a:buSzPct val="100000"/>
              <a:buChar char="•"/>
            </a:pPr>
            <a:r>
              <a:rPr lang="en-US" sz="1500" b="1" dirty="0">
                <a:solidFill>
                  <a:schemeClr val="tx1"/>
                </a:solidFill>
              </a:rPr>
              <a:t>Mando: </a:t>
            </a:r>
            <a:pPr indent="0" marL="0">
              <a:buNone/>
            </a:pPr>
            <a:r>
              <a:rPr lang="en-US" sz="1500" dirty="0">
                <a:solidFill>
                  <a:schemeClr val="tx1"/>
                </a:solidFill>
              </a:rPr>
              <a:t>pulsador del conductor y de cada puerta; función de un solo toque.</a:t>
            </a:r>
            <a:endParaRPr lang="en-US" sz="1500" dirty="0"/>
          </a:p>
          <a:p>
            <a:pPr marL="203200" indent="-203200">
              <a:spcAft>
                <a:spcPts val="600"/>
              </a:spcAft>
              <a:buSzPct val="100000"/>
              <a:buChar char="•"/>
            </a:pPr>
            <a:r>
              <a:rPr lang="en-US" sz="1500" b="1" dirty="0">
                <a:solidFill>
                  <a:schemeClr val="tx1"/>
                </a:solidFill>
              </a:rPr>
              <a:t>Antiatrapamiento: </a:t>
            </a:r>
            <a:pPr indent="0" marL="0">
              <a:buNone/>
            </a:pPr>
            <a:r>
              <a:rPr lang="en-US" sz="1500" dirty="0">
                <a:solidFill>
                  <a:schemeClr val="tx1"/>
                </a:solidFill>
              </a:rPr>
              <a:t>sensores Hall de posición; necesita «aprender» los topes tras desconectar la batería.</a:t>
            </a:r>
            <a:endParaRPr lang="en-US" sz="1500" dirty="0"/>
          </a:p>
          <a:p>
            <a:pPr marL="203200" indent="-203200">
              <a:spcAft>
                <a:spcPts val="600"/>
              </a:spcAft>
              <a:buSzPct val="100000"/>
              <a:buChar char="•"/>
            </a:pPr>
            <a:r>
              <a:rPr lang="en-US" sz="1500" b="1" dirty="0">
                <a:solidFill>
                  <a:schemeClr val="tx1"/>
                </a:solidFill>
              </a:rPr>
              <a:t>Red: </a:t>
            </a:r>
            <a:pPr indent="0" marL="0">
              <a:buNone/>
            </a:pPr>
            <a:r>
              <a:rPr lang="en-US" sz="1500" dirty="0">
                <a:solidFill>
                  <a:schemeClr val="tx1"/>
                </a:solidFill>
              </a:rPr>
              <a:t>centralitas de puerta conectadas por CAN/LIN.</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Espejos retrovisores eléctricos</a:t>
            </a:r>
            <a:endParaRPr lang="en-US" sz="2800" dirty="0"/>
          </a:p>
        </p:txBody>
      </p:sp>
      <p:pic>
        <p:nvPicPr>
          <p:cNvPr id="4" name="Figura ll_esq712.jpg" descr="ll_esq712.jpg">    </p:cNvPr>
          <p:cNvPicPr>
            <a:picLocks noChangeAspect="1"/>
          </p:cNvPicPr>
          <p:nvPr/>
        </p:nvPicPr>
        <p:blipFill>
          <a:blip r:embed="rId1"/>
          <a:stretch>
            <a:fillRect/>
          </a:stretch>
        </p:blipFill>
        <p:spPr>
          <a:xfrm>
            <a:off x="808036" y="1234440"/>
            <a:ext cx="4510408" cy="2926080"/>
          </a:xfrm>
          <a:prstGeom prst="rect">
            <a:avLst/>
          </a:prstGeom>
        </p:spPr>
      </p:pic>
      <p:sp>
        <p:nvSpPr>
          <p:cNvPr id="5" name="Text 1"/>
          <p:cNvSpPr txBox="1"/>
          <p:nvPr/>
        </p:nvSpPr>
        <p:spPr>
          <a:xfrm>
            <a:off x="548640" y="4215384"/>
            <a:ext cx="4510408"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6" name="Figura V_p228_4.png" descr="V_p228_4.png">    </p:cNvPr>
          <p:cNvPicPr>
            <a:picLocks noChangeAspect="1"/>
          </p:cNvPicPr>
          <p:nvPr/>
        </p:nvPicPr>
        <p:blipFill>
          <a:blip r:embed="rId2"/>
          <a:stretch>
            <a:fillRect/>
          </a:stretch>
        </p:blipFill>
        <p:spPr>
          <a:xfrm>
            <a:off x="5852160" y="1412227"/>
            <a:ext cx="2743200" cy="2204747"/>
          </a:xfrm>
          <a:prstGeom prst="rect">
            <a:avLst/>
          </a:prstGeom>
        </p:spPr>
      </p:pic>
      <p:sp>
        <p:nvSpPr>
          <p:cNvPr id="7" name="Text 2"/>
          <p:cNvSpPr txBox="1"/>
          <p:nvPr/>
        </p:nvSpPr>
        <p:spPr>
          <a:xfrm>
            <a:off x="5852160" y="3671837"/>
            <a:ext cx="27432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Vidal Pastor et al. (2011).</a:t>
            </a:r>
            <a:endParaRPr lang="en-US" sz="1000" dirty="0"/>
          </a:p>
        </p:txBody>
      </p:sp>
      <p:sp>
        <p:nvSpPr>
          <p:cNvPr id="8" name="Text 3"/>
          <p:cNvSpPr txBox="1"/>
          <p:nvPr/>
        </p:nvSpPr>
        <p:spPr>
          <a:xfrm>
            <a:off x="502920" y="4754880"/>
            <a:ext cx="11201400" cy="1463040"/>
          </a:xfrm>
          <a:prstGeom prst="rect">
            <a:avLst/>
          </a:prstGeom>
          <a:noFill/>
          <a:ln/>
        </p:spPr>
        <p:txBody>
          <a:bodyPr wrap="square" lIns="25400" tIns="25400" rIns="50800" bIns="25400" rtlCol="0" anchor="t"/>
          <a:lstStyle/>
          <a:p>
            <a:pPr marL="203200" indent="-203200">
              <a:spcAft>
                <a:spcPts val="600"/>
              </a:spcAft>
              <a:buSzPct val="100000"/>
              <a:buChar char="•"/>
            </a:pPr>
            <a:r>
              <a:rPr lang="en-US" sz="1400" dirty="0">
                <a:solidFill>
                  <a:schemeClr val="tx1"/>
                </a:solidFill>
              </a:rPr>
              <a:t>Comprobación: tabla de continuidad del mando en cada posición (práctica de Llanos López, 2022).</a:t>
            </a:r>
            <a:endParaRPr lang="en-US" sz="1400" dirty="0"/>
          </a:p>
          <a:p>
            <a:pPr marL="203200" indent="-203200">
              <a:spcAft>
                <a:spcPts val="600"/>
              </a:spcAft>
              <a:buSzPct val="100000"/>
              <a:buChar char="•"/>
            </a:pPr>
            <a:r>
              <a:rPr lang="en-US" sz="1400" dirty="0">
                <a:solidFill>
                  <a:schemeClr val="tx1"/>
                </a:solidFill>
              </a:rPr>
              <a:t>Abatimiento eléctrico y calefacción (en paralelo con la luneta).</a:t>
            </a:r>
            <a:endParaRPr lang="en-US" sz="1400" dirty="0"/>
          </a:p>
          <a:p>
            <a:pPr marL="203200" indent="-203200">
              <a:spcAft>
                <a:spcPts val="600"/>
              </a:spcAft>
              <a:buSzPct val="100000"/>
              <a:buChar char="•"/>
            </a:pPr>
            <a:r>
              <a:rPr lang="en-US" sz="1400" dirty="0">
                <a:solidFill>
                  <a:schemeClr val="tx1"/>
                </a:solidFill>
              </a:rPr>
              <a:t>Memoria de posición vinculada al asiento y a la marcha atrás.</a:t>
            </a:r>
            <a:endParaRPr lang="en-US" sz="1400" dirty="0"/>
          </a:p>
        </p:txBody>
      </p:sp>
      <p:sp>
        <p:nvSpPr>
          <p:cNvPr id="9" name="Tarjeta Corrección"/>
          <p:cNvSpPr/>
          <p:nvPr/>
        </p:nvSpPr>
        <p:spPr>
          <a:xfrm>
            <a:off x="8823960" y="1234440"/>
            <a:ext cx="2880360" cy="3291840"/>
          </a:xfrm>
          <a:prstGeom prst="roundRect">
            <a:avLst>
              <a:gd name="adj" fmla="val 2540"/>
            </a:avLst>
          </a:prstGeom>
          <a:solidFill>
            <a:srgbClr val="F8E1DE"/>
          </a:solidFill>
          <a:ln w="12700">
            <a:solidFill>
              <a:srgbClr val="F8E1DE"/>
            </a:solidFill>
            <a:prstDash val="solid"/>
          </a:ln>
        </p:spPr>
      </p:sp>
      <p:sp>
        <p:nvSpPr>
          <p:cNvPr id="10" name="Text 5"/>
          <p:cNvSpPr txBox="1"/>
          <p:nvPr/>
        </p:nvSpPr>
        <p:spPr>
          <a:xfrm>
            <a:off x="8988552" y="1344168"/>
            <a:ext cx="2551176" cy="411480"/>
          </a:xfrm>
          <a:prstGeom prst="rect">
            <a:avLst/>
          </a:prstGeom>
          <a:noFill/>
          <a:ln/>
        </p:spPr>
        <p:txBody>
          <a:bodyPr wrap="square" lIns="0" tIns="0" rIns="0" bIns="0" rtlCol="0" anchor="t"/>
          <a:lstStyle/>
          <a:p>
            <a:pPr indent="0" marL="0">
              <a:buNone/>
            </a:pPr>
            <a:r>
              <a:rPr lang="en-US" sz="1700" b="1" dirty="0">
                <a:solidFill>
                  <a:srgbClr val="C0392B"/>
                </a:solidFill>
              </a:rPr>
              <a:t>Corrección</a:t>
            </a:r>
            <a:endParaRPr lang="en-US" sz="1700" dirty="0"/>
          </a:p>
        </p:txBody>
      </p:sp>
      <p:sp>
        <p:nvSpPr>
          <p:cNvPr id="11" name="Text 6"/>
          <p:cNvSpPr txBox="1"/>
          <p:nvPr/>
        </p:nvSpPr>
        <p:spPr>
          <a:xfrm>
            <a:off x="8988552" y="1783080"/>
            <a:ext cx="2551176" cy="265176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El material anterior daba campos de visión del reglamento español (10 m / 2,5 m); en Ecuador rige INEN 1155. Para campos de visión, ver Reglamento CEPE n.º 46.</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4.16.3 Bomba eléctrica de gasolina</a:t>
            </a:r>
            <a:endParaRPr lang="en-US" sz="2800" dirty="0"/>
          </a:p>
        </p:txBody>
      </p:sp>
      <p:sp>
        <p:nvSpPr>
          <p:cNvPr id="4" name="Shape 1"/>
          <p:cNvSpPr/>
          <p:nvPr/>
        </p:nvSpPr>
        <p:spPr>
          <a:xfrm>
            <a:off x="640080" y="1417320"/>
            <a:ext cx="4206240" cy="0"/>
          </a:xfrm>
          <a:prstGeom prst="line">
            <a:avLst/>
          </a:prstGeom>
          <a:noFill/>
          <a:ln w="28575">
            <a:solidFill>
              <a:srgbClr val="C0392B"/>
            </a:solidFill>
            <a:prstDash val="solid"/>
          </a:ln>
        </p:spPr>
      </p:sp>
      <p:sp>
        <p:nvSpPr>
          <p:cNvPr id="5" name="Text 2"/>
          <p:cNvSpPr txBox="1"/>
          <p:nvPr/>
        </p:nvSpPr>
        <p:spPr>
          <a:xfrm>
            <a:off x="4892040" y="1280160"/>
            <a:ext cx="1188720" cy="274320"/>
          </a:xfrm>
          <a:prstGeom prst="rect">
            <a:avLst/>
          </a:prstGeom>
          <a:noFill/>
          <a:ln/>
        </p:spPr>
        <p:txBody>
          <a:bodyPr wrap="square" lIns="0" tIns="0" rIns="0" bIns="0" rtlCol="0" anchor="ctr"/>
          <a:lstStyle/>
          <a:p>
            <a:pPr algn="l" indent="0" marL="0">
              <a:buNone/>
            </a:pPr>
            <a:r>
              <a:rPr lang="en-US" sz="1100" b="1" dirty="0">
                <a:solidFill>
                  <a:srgbClr val="C0392B"/>
                </a:solidFill>
              </a:rPr>
              <a:t>30 (+ batería)</a:t>
            </a:r>
            <a:endParaRPr lang="en-US" sz="1100" dirty="0"/>
          </a:p>
        </p:txBody>
      </p:sp>
      <p:sp>
        <p:nvSpPr>
          <p:cNvPr id="6" name="Shape 3"/>
          <p:cNvSpPr/>
          <p:nvPr/>
        </p:nvSpPr>
        <p:spPr>
          <a:xfrm>
            <a:off x="640080" y="1783080"/>
            <a:ext cx="4206240" cy="0"/>
          </a:xfrm>
          <a:prstGeom prst="line">
            <a:avLst/>
          </a:prstGeom>
          <a:noFill/>
          <a:ln w="15875">
            <a:solidFill>
              <a:srgbClr val="C0392B"/>
            </a:solidFill>
            <a:prstDash val="solid"/>
          </a:ln>
        </p:spPr>
      </p:sp>
      <p:sp>
        <p:nvSpPr>
          <p:cNvPr id="7" name="Text 4"/>
          <p:cNvSpPr txBox="1"/>
          <p:nvPr/>
        </p:nvSpPr>
        <p:spPr>
          <a:xfrm>
            <a:off x="4892040" y="1645920"/>
            <a:ext cx="1188720" cy="274320"/>
          </a:xfrm>
          <a:prstGeom prst="rect">
            <a:avLst/>
          </a:prstGeom>
          <a:noFill/>
          <a:ln/>
        </p:spPr>
        <p:txBody>
          <a:bodyPr wrap="square" lIns="0" tIns="0" rIns="0" bIns="0" rtlCol="0" anchor="ctr"/>
          <a:lstStyle/>
          <a:p>
            <a:pPr algn="l" indent="0" marL="0">
              <a:buNone/>
            </a:pPr>
            <a:r>
              <a:rPr lang="en-US" sz="1100" b="1" dirty="0">
                <a:solidFill>
                  <a:srgbClr val="C0392B"/>
                </a:solidFill>
              </a:rPr>
              <a:t>15 (+ contacto)</a:t>
            </a:r>
            <a:endParaRPr lang="en-US" sz="1100" dirty="0"/>
          </a:p>
        </p:txBody>
      </p:sp>
      <p:sp>
        <p:nvSpPr>
          <p:cNvPr id="8" name="Shape 5"/>
          <p:cNvSpPr/>
          <p:nvPr/>
        </p:nvSpPr>
        <p:spPr>
          <a:xfrm>
            <a:off x="640080" y="5349240"/>
            <a:ext cx="4206240" cy="0"/>
          </a:xfrm>
          <a:prstGeom prst="line">
            <a:avLst/>
          </a:prstGeom>
          <a:noFill/>
          <a:ln w="28575">
            <a:solidFill>
              <a:srgbClr val="2E6DA4"/>
            </a:solidFill>
            <a:prstDash val="solid"/>
          </a:ln>
        </p:spPr>
      </p:sp>
      <p:sp>
        <p:nvSpPr>
          <p:cNvPr id="9" name="Text 6"/>
          <p:cNvSpPr txBox="1"/>
          <p:nvPr/>
        </p:nvSpPr>
        <p:spPr>
          <a:xfrm>
            <a:off x="4892040" y="5212080"/>
            <a:ext cx="1097280" cy="274320"/>
          </a:xfrm>
          <a:prstGeom prst="rect">
            <a:avLst/>
          </a:prstGeom>
          <a:noFill/>
          <a:ln/>
        </p:spPr>
        <p:txBody>
          <a:bodyPr wrap="square" lIns="0" tIns="0" rIns="0" bIns="0" rtlCol="0" anchor="ctr"/>
          <a:lstStyle/>
          <a:p>
            <a:pPr algn="l" indent="0" marL="0">
              <a:buNone/>
            </a:pPr>
            <a:r>
              <a:rPr lang="en-US" sz="1100" b="1" dirty="0">
                <a:solidFill>
                  <a:srgbClr val="2E6DA4"/>
                </a:solidFill>
              </a:rPr>
              <a:t>31 (masa)</a:t>
            </a:r>
            <a:endParaRPr lang="en-US" sz="1100" dirty="0"/>
          </a:p>
        </p:txBody>
      </p:sp>
      <p:sp>
        <p:nvSpPr>
          <p:cNvPr id="10" name="Shape 7"/>
          <p:cNvSpPr/>
          <p:nvPr/>
        </p:nvSpPr>
        <p:spPr>
          <a:xfrm>
            <a:off x="1463040" y="1783080"/>
            <a:ext cx="0" cy="1234440"/>
          </a:xfrm>
          <a:prstGeom prst="line">
            <a:avLst/>
          </a:prstGeom>
          <a:noFill/>
          <a:ln w="19050">
            <a:solidFill>
              <a:srgbClr val="1B2A33"/>
            </a:solidFill>
            <a:prstDash val="solid"/>
          </a:ln>
        </p:spPr>
      </p:sp>
      <p:sp>
        <p:nvSpPr>
          <p:cNvPr id="11" name="Shape 8"/>
          <p:cNvSpPr/>
          <p:nvPr/>
        </p:nvSpPr>
        <p:spPr>
          <a:xfrm>
            <a:off x="1005840" y="2743200"/>
            <a:ext cx="2743200" cy="1280160"/>
          </a:xfrm>
          <a:prstGeom prst="rect">
            <a:avLst/>
          </a:prstGeom>
          <a:solidFill>
            <a:srgbClr val="FFFFFF"/>
          </a:solidFill>
          <a:ln w="12700">
            <a:solidFill>
              <a:srgbClr val="5B6770"/>
            </a:solidFill>
            <a:prstDash val="dash"/>
          </a:ln>
        </p:spPr>
      </p:sp>
      <p:sp>
        <p:nvSpPr>
          <p:cNvPr id="12" name="Text 9"/>
          <p:cNvSpPr txBox="1"/>
          <p:nvPr/>
        </p:nvSpPr>
        <p:spPr>
          <a:xfrm>
            <a:off x="2103120" y="2761488"/>
            <a:ext cx="731520" cy="228600"/>
          </a:xfrm>
          <a:prstGeom prst="rect">
            <a:avLst/>
          </a:prstGeom>
          <a:noFill/>
          <a:ln/>
        </p:spPr>
        <p:txBody>
          <a:bodyPr wrap="square" lIns="0" tIns="0" rIns="0" bIns="0" rtlCol="0" anchor="ctr"/>
          <a:lstStyle/>
          <a:p>
            <a:pPr algn="ctr" indent="0" marL="0">
              <a:buNone/>
            </a:pPr>
            <a:r>
              <a:rPr lang="en-US" sz="1000" b="1" dirty="0">
                <a:solidFill>
                  <a:srgbClr val="5B6770"/>
                </a:solidFill>
              </a:rPr>
              <a:t>Relé</a:t>
            </a:r>
            <a:endParaRPr lang="en-US" sz="1000" dirty="0"/>
          </a:p>
        </p:txBody>
      </p:sp>
      <p:sp>
        <p:nvSpPr>
          <p:cNvPr id="13" name="Shape 10"/>
          <p:cNvSpPr/>
          <p:nvPr/>
        </p:nvSpPr>
        <p:spPr>
          <a:xfrm>
            <a:off x="1280160" y="3017520"/>
            <a:ext cx="365760" cy="731520"/>
          </a:xfrm>
          <a:prstGeom prst="rect">
            <a:avLst/>
          </a:prstGeom>
          <a:solidFill>
            <a:srgbClr val="E4F1F1"/>
          </a:solidFill>
          <a:ln w="19050">
            <a:solidFill>
              <a:srgbClr val="007578"/>
            </a:solidFill>
            <a:prstDash val="solid"/>
          </a:ln>
        </p:spPr>
      </p:sp>
      <p:sp>
        <p:nvSpPr>
          <p:cNvPr id="14" name="Text 11"/>
          <p:cNvSpPr txBox="1"/>
          <p:nvPr/>
        </p:nvSpPr>
        <p:spPr>
          <a:xfrm>
            <a:off x="896112" y="2880360"/>
            <a:ext cx="365760" cy="228600"/>
          </a:xfrm>
          <a:prstGeom prst="rect">
            <a:avLst/>
          </a:prstGeom>
          <a:noFill/>
          <a:ln/>
        </p:spPr>
        <p:txBody>
          <a:bodyPr wrap="square" lIns="0" tIns="0" rIns="0" bIns="0" rtlCol="0" anchor="ctr"/>
          <a:lstStyle/>
          <a:p>
            <a:pPr algn="r" indent="0" marL="0">
              <a:buNone/>
            </a:pPr>
            <a:r>
              <a:rPr lang="en-US" sz="1000" dirty="0">
                <a:solidFill>
                  <a:srgbClr val="1B2A33"/>
                </a:solidFill>
              </a:rPr>
              <a:t>86</a:t>
            </a:r>
            <a:endParaRPr lang="en-US" sz="1000" dirty="0"/>
          </a:p>
        </p:txBody>
      </p:sp>
      <p:sp>
        <p:nvSpPr>
          <p:cNvPr id="15" name="Text 12"/>
          <p:cNvSpPr txBox="1"/>
          <p:nvPr/>
        </p:nvSpPr>
        <p:spPr>
          <a:xfrm>
            <a:off x="896112" y="3749040"/>
            <a:ext cx="365760" cy="228600"/>
          </a:xfrm>
          <a:prstGeom prst="rect">
            <a:avLst/>
          </a:prstGeom>
          <a:noFill/>
          <a:ln/>
        </p:spPr>
        <p:txBody>
          <a:bodyPr wrap="square" lIns="0" tIns="0" rIns="0" bIns="0" rtlCol="0" anchor="ctr"/>
          <a:lstStyle/>
          <a:p>
            <a:pPr algn="r" indent="0" marL="0">
              <a:buNone/>
            </a:pPr>
            <a:r>
              <a:rPr lang="en-US" sz="1000" dirty="0">
                <a:solidFill>
                  <a:srgbClr val="1B2A33"/>
                </a:solidFill>
              </a:rPr>
              <a:t>85</a:t>
            </a:r>
            <a:endParaRPr lang="en-US" sz="1000" dirty="0"/>
          </a:p>
        </p:txBody>
      </p:sp>
      <p:sp>
        <p:nvSpPr>
          <p:cNvPr id="16" name="Shape 13"/>
          <p:cNvSpPr/>
          <p:nvPr/>
        </p:nvSpPr>
        <p:spPr>
          <a:xfrm>
            <a:off x="1463040" y="3749040"/>
            <a:ext cx="0" cy="502920"/>
          </a:xfrm>
          <a:prstGeom prst="line">
            <a:avLst/>
          </a:prstGeom>
          <a:noFill/>
          <a:ln w="19050">
            <a:solidFill>
              <a:srgbClr val="1B2A33"/>
            </a:solidFill>
            <a:prstDash val="solid"/>
          </a:ln>
        </p:spPr>
      </p:sp>
      <p:sp>
        <p:nvSpPr>
          <p:cNvPr id="17" name="Shape 14"/>
          <p:cNvSpPr/>
          <p:nvPr/>
        </p:nvSpPr>
        <p:spPr>
          <a:xfrm>
            <a:off x="731520" y="4251960"/>
            <a:ext cx="1463040" cy="594360"/>
          </a:xfrm>
          <a:prstGeom prst="roundRect">
            <a:avLst>
              <a:gd name="adj" fmla="val 9231"/>
            </a:avLst>
          </a:prstGeom>
          <a:solidFill>
            <a:srgbClr val="FDF1D8"/>
          </a:solidFill>
          <a:ln w="15875">
            <a:solidFill>
              <a:srgbClr val="F2A516"/>
            </a:solidFill>
            <a:prstDash val="solid"/>
          </a:ln>
        </p:spPr>
      </p:sp>
      <p:sp>
        <p:nvSpPr>
          <p:cNvPr id="18" name="Text 15"/>
          <p:cNvSpPr txBox="1"/>
          <p:nvPr/>
        </p:nvSpPr>
        <p:spPr>
          <a:xfrm>
            <a:off x="731520" y="4251960"/>
            <a:ext cx="1463040" cy="594360"/>
          </a:xfrm>
          <a:prstGeom prst="rect">
            <a:avLst/>
          </a:prstGeom>
          <a:noFill/>
          <a:ln/>
        </p:spPr>
        <p:txBody>
          <a:bodyPr wrap="square" lIns="0" tIns="0" rIns="0" bIns="0" rtlCol="0" anchor="ctr"/>
          <a:lstStyle/>
          <a:p>
            <a:pPr algn="ctr" indent="0" marL="0">
              <a:buNone/>
            </a:pPr>
            <a:r>
              <a:rPr lang="en-US" sz="1100" b="1" dirty="0">
                <a:solidFill>
                  <a:srgbClr val="1B2A33"/>
                </a:solidFill>
              </a:rPr>
              <a:t>ECU motor</a:t>
            </a:r>
            <a:endParaRPr lang="en-US" sz="1100" dirty="0"/>
          </a:p>
          <a:p>
            <a:pPr algn="ctr" indent="0" marL="0">
              <a:buNone/>
            </a:pPr>
            <a:r>
              <a:rPr lang="en-US" sz="1100" b="1" dirty="0">
                <a:solidFill>
                  <a:srgbClr val="1B2A33"/>
                </a:solidFill>
              </a:rPr>
              <a:t>(masa a 85)</a:t>
            </a:r>
            <a:endParaRPr lang="en-US" sz="1100" dirty="0"/>
          </a:p>
        </p:txBody>
      </p:sp>
      <p:sp>
        <p:nvSpPr>
          <p:cNvPr id="19" name="Shape 16"/>
          <p:cNvSpPr/>
          <p:nvPr/>
        </p:nvSpPr>
        <p:spPr>
          <a:xfrm>
            <a:off x="1463040" y="4846320"/>
            <a:ext cx="0" cy="502920"/>
          </a:xfrm>
          <a:prstGeom prst="line">
            <a:avLst/>
          </a:prstGeom>
          <a:noFill/>
          <a:ln w="19050">
            <a:solidFill>
              <a:srgbClr val="1B2A33"/>
            </a:solidFill>
            <a:prstDash val="solid"/>
          </a:ln>
        </p:spPr>
      </p:sp>
      <p:sp>
        <p:nvSpPr>
          <p:cNvPr id="20" name="Shape 17"/>
          <p:cNvSpPr/>
          <p:nvPr/>
        </p:nvSpPr>
        <p:spPr>
          <a:xfrm>
            <a:off x="3291840" y="1417320"/>
            <a:ext cx="0" cy="457200"/>
          </a:xfrm>
          <a:prstGeom prst="line">
            <a:avLst/>
          </a:prstGeom>
          <a:noFill/>
          <a:ln w="19050">
            <a:solidFill>
              <a:srgbClr val="1B2A33"/>
            </a:solidFill>
            <a:prstDash val="solid"/>
          </a:ln>
        </p:spPr>
      </p:sp>
      <p:sp>
        <p:nvSpPr>
          <p:cNvPr id="21" name="Shape 18"/>
          <p:cNvSpPr/>
          <p:nvPr/>
        </p:nvSpPr>
        <p:spPr>
          <a:xfrm>
            <a:off x="3182112" y="1874520"/>
            <a:ext cx="219456" cy="502920"/>
          </a:xfrm>
          <a:prstGeom prst="rect">
            <a:avLst/>
          </a:prstGeom>
          <a:solidFill>
            <a:srgbClr val="FFFFFF"/>
          </a:solidFill>
          <a:ln w="15875">
            <a:solidFill>
              <a:srgbClr val="1B2A33"/>
            </a:solidFill>
            <a:prstDash val="solid"/>
          </a:ln>
        </p:spPr>
      </p:sp>
      <p:sp>
        <p:nvSpPr>
          <p:cNvPr id="22" name="Text 19"/>
          <p:cNvSpPr txBox="1"/>
          <p:nvPr/>
        </p:nvSpPr>
        <p:spPr>
          <a:xfrm>
            <a:off x="3474720" y="1984248"/>
            <a:ext cx="1097280" cy="274320"/>
          </a:xfrm>
          <a:prstGeom prst="rect">
            <a:avLst/>
          </a:prstGeom>
          <a:noFill/>
          <a:ln/>
        </p:spPr>
        <p:txBody>
          <a:bodyPr wrap="square" lIns="0" tIns="0" rIns="0" bIns="0" rtlCol="0" anchor="ctr"/>
          <a:lstStyle/>
          <a:p>
            <a:pPr algn="l" indent="0" marL="0">
              <a:buNone/>
            </a:pPr>
            <a:r>
              <a:rPr lang="en-US" sz="1000" dirty="0">
                <a:solidFill>
                  <a:srgbClr val="1B2A33"/>
                </a:solidFill>
              </a:rPr>
              <a:t>15–20 A</a:t>
            </a:r>
            <a:endParaRPr lang="en-US" sz="1000" dirty="0"/>
          </a:p>
        </p:txBody>
      </p:sp>
      <p:sp>
        <p:nvSpPr>
          <p:cNvPr id="23" name="Shape 20"/>
          <p:cNvSpPr/>
          <p:nvPr/>
        </p:nvSpPr>
        <p:spPr>
          <a:xfrm>
            <a:off x="3291840" y="2377440"/>
            <a:ext cx="0" cy="685800"/>
          </a:xfrm>
          <a:prstGeom prst="line">
            <a:avLst/>
          </a:prstGeom>
          <a:noFill/>
          <a:ln w="19050">
            <a:solidFill>
              <a:srgbClr val="1B2A33"/>
            </a:solidFill>
            <a:prstDash val="solid"/>
          </a:ln>
        </p:spPr>
      </p:sp>
      <p:sp>
        <p:nvSpPr>
          <p:cNvPr id="24" name="Text 21"/>
          <p:cNvSpPr txBox="1"/>
          <p:nvPr/>
        </p:nvSpPr>
        <p:spPr>
          <a:xfrm>
            <a:off x="3364992" y="2834640"/>
            <a:ext cx="365760" cy="228600"/>
          </a:xfrm>
          <a:prstGeom prst="rect">
            <a:avLst/>
          </a:prstGeom>
          <a:noFill/>
          <a:ln/>
        </p:spPr>
        <p:txBody>
          <a:bodyPr wrap="square" lIns="0" tIns="0" rIns="0" bIns="0" rtlCol="0" anchor="ctr"/>
          <a:lstStyle/>
          <a:p>
            <a:pPr algn="l" indent="0" marL="0">
              <a:buNone/>
            </a:pPr>
            <a:r>
              <a:rPr lang="en-US" sz="1000" dirty="0">
                <a:solidFill>
                  <a:srgbClr val="1B2A33"/>
                </a:solidFill>
              </a:rPr>
              <a:t>30</a:t>
            </a:r>
            <a:endParaRPr lang="en-US" sz="1000" dirty="0"/>
          </a:p>
        </p:txBody>
      </p:sp>
      <p:sp>
        <p:nvSpPr>
          <p:cNvPr id="25" name="Shape 22"/>
          <p:cNvSpPr/>
          <p:nvPr/>
        </p:nvSpPr>
        <p:spPr>
          <a:xfrm>
            <a:off x="3291840" y="3063240"/>
            <a:ext cx="292608" cy="411480"/>
          </a:xfrm>
          <a:prstGeom prst="line">
            <a:avLst/>
          </a:prstGeom>
          <a:noFill/>
          <a:ln w="28575">
            <a:solidFill>
              <a:srgbClr val="1B2A33"/>
            </a:solidFill>
            <a:prstDash val="solid"/>
          </a:ln>
        </p:spPr>
      </p:sp>
      <p:sp>
        <p:nvSpPr>
          <p:cNvPr id="26" name="Shape 23"/>
          <p:cNvSpPr/>
          <p:nvPr/>
        </p:nvSpPr>
        <p:spPr>
          <a:xfrm>
            <a:off x="3291840" y="3538728"/>
            <a:ext cx="0" cy="667512"/>
          </a:xfrm>
          <a:prstGeom prst="line">
            <a:avLst/>
          </a:prstGeom>
          <a:noFill/>
          <a:ln w="19050">
            <a:solidFill>
              <a:srgbClr val="1B2A33"/>
            </a:solidFill>
            <a:prstDash val="solid"/>
          </a:ln>
        </p:spPr>
      </p:sp>
      <p:sp>
        <p:nvSpPr>
          <p:cNvPr id="27" name="Text 24"/>
          <p:cNvSpPr txBox="1"/>
          <p:nvPr/>
        </p:nvSpPr>
        <p:spPr>
          <a:xfrm>
            <a:off x="3364992" y="3749040"/>
            <a:ext cx="365760" cy="228600"/>
          </a:xfrm>
          <a:prstGeom prst="rect">
            <a:avLst/>
          </a:prstGeom>
          <a:noFill/>
          <a:ln/>
        </p:spPr>
        <p:txBody>
          <a:bodyPr wrap="square" lIns="0" tIns="0" rIns="0" bIns="0" rtlCol="0" anchor="ctr"/>
          <a:lstStyle/>
          <a:p>
            <a:pPr algn="l" indent="0" marL="0">
              <a:buNone/>
            </a:pPr>
            <a:r>
              <a:rPr lang="en-US" sz="1000" dirty="0">
                <a:solidFill>
                  <a:srgbClr val="1B2A33"/>
                </a:solidFill>
              </a:rPr>
              <a:t>87</a:t>
            </a:r>
            <a:endParaRPr lang="en-US" sz="1000" dirty="0"/>
          </a:p>
        </p:txBody>
      </p:sp>
      <p:sp>
        <p:nvSpPr>
          <p:cNvPr id="28" name="Shape 25"/>
          <p:cNvSpPr/>
          <p:nvPr/>
        </p:nvSpPr>
        <p:spPr>
          <a:xfrm>
            <a:off x="1645920" y="3383280"/>
            <a:ext cx="1755648" cy="0"/>
          </a:xfrm>
          <a:prstGeom prst="line">
            <a:avLst/>
          </a:prstGeom>
          <a:noFill/>
          <a:ln w="12700">
            <a:solidFill>
              <a:srgbClr val="5B6770"/>
            </a:solidFill>
            <a:prstDash val="dash"/>
          </a:ln>
        </p:spPr>
      </p:sp>
      <p:sp>
        <p:nvSpPr>
          <p:cNvPr id="29" name="Shape 26"/>
          <p:cNvSpPr/>
          <p:nvPr/>
        </p:nvSpPr>
        <p:spPr>
          <a:xfrm>
            <a:off x="2990088" y="4206240"/>
            <a:ext cx="603504" cy="603504"/>
          </a:xfrm>
          <a:prstGeom prst="ellipse">
            <a:avLst/>
          </a:prstGeom>
          <a:solidFill>
            <a:srgbClr val="FFFFFF"/>
          </a:solidFill>
          <a:ln w="19050">
            <a:solidFill>
              <a:srgbClr val="1B2A33"/>
            </a:solidFill>
            <a:prstDash val="solid"/>
          </a:ln>
        </p:spPr>
      </p:sp>
      <p:sp>
        <p:nvSpPr>
          <p:cNvPr id="30" name="Text 27"/>
          <p:cNvSpPr txBox="1"/>
          <p:nvPr/>
        </p:nvSpPr>
        <p:spPr>
          <a:xfrm>
            <a:off x="2990088" y="4206240"/>
            <a:ext cx="603504" cy="603504"/>
          </a:xfrm>
          <a:prstGeom prst="rect">
            <a:avLst/>
          </a:prstGeom>
          <a:noFill/>
          <a:ln/>
        </p:spPr>
        <p:txBody>
          <a:bodyPr wrap="square" lIns="0" tIns="0" rIns="0" bIns="0" rtlCol="0" anchor="ctr"/>
          <a:lstStyle/>
          <a:p>
            <a:pPr algn="ctr" indent="0" marL="0">
              <a:buNone/>
            </a:pPr>
            <a:r>
              <a:rPr lang="en-US" sz="1800" b="1" dirty="0">
                <a:solidFill>
                  <a:srgbClr val="1B2A33"/>
                </a:solidFill>
              </a:rPr>
              <a:t>M</a:t>
            </a:r>
            <a:endParaRPr lang="en-US" sz="1800" dirty="0"/>
          </a:p>
        </p:txBody>
      </p:sp>
      <p:sp>
        <p:nvSpPr>
          <p:cNvPr id="31" name="Shape 28"/>
          <p:cNvSpPr/>
          <p:nvPr/>
        </p:nvSpPr>
        <p:spPr>
          <a:xfrm>
            <a:off x="3291840" y="4809744"/>
            <a:ext cx="0" cy="539496"/>
          </a:xfrm>
          <a:prstGeom prst="line">
            <a:avLst/>
          </a:prstGeom>
          <a:noFill/>
          <a:ln w="19050">
            <a:solidFill>
              <a:srgbClr val="1B2A33"/>
            </a:solidFill>
            <a:prstDash val="solid"/>
          </a:ln>
        </p:spPr>
      </p:sp>
      <p:sp>
        <p:nvSpPr>
          <p:cNvPr id="32" name="Text 29"/>
          <p:cNvSpPr txBox="1"/>
          <p:nvPr/>
        </p:nvSpPr>
        <p:spPr>
          <a:xfrm>
            <a:off x="3703320" y="4160520"/>
            <a:ext cx="1737360" cy="685800"/>
          </a:xfrm>
          <a:prstGeom prst="rect">
            <a:avLst/>
          </a:prstGeom>
          <a:noFill/>
          <a:ln/>
        </p:spPr>
        <p:txBody>
          <a:bodyPr wrap="square" lIns="0" tIns="0" rIns="0" bIns="0" rtlCol="0" anchor="ctr"/>
          <a:lstStyle/>
          <a:p>
            <a:pPr algn="l" indent="0" marL="0">
              <a:buNone/>
            </a:pPr>
            <a:r>
              <a:rPr lang="en-US" sz="1100" b="1" dirty="0">
                <a:solidFill>
                  <a:srgbClr val="00575A"/>
                </a:solidFill>
              </a:rPr>
              <a:t>Bomba</a:t>
            </a:r>
            <a:endParaRPr lang="en-US" sz="1100" dirty="0"/>
          </a:p>
          <a:p>
            <a:pPr algn="l" indent="0" marL="0">
              <a:buNone/>
            </a:pPr>
            <a:r>
              <a:rPr lang="en-US" sz="1100" b="1" dirty="0">
                <a:solidFill>
                  <a:srgbClr val="00575A"/>
                </a:solidFill>
              </a:rPr>
              <a:t>4–8 A</a:t>
            </a:r>
            <a:endParaRPr lang="en-US" sz="1100" dirty="0"/>
          </a:p>
        </p:txBody>
      </p:sp>
      <p:pic>
        <p:nvPicPr>
          <p:cNvPr id="33" name="Figura ia_s02_2.png" descr="ia_s02_2.png">    </p:cNvPr>
          <p:cNvPicPr>
            <a:picLocks noChangeAspect="1"/>
          </p:cNvPicPr>
          <p:nvPr/>
        </p:nvPicPr>
        <p:blipFill>
          <a:blip r:embed="rId1"/>
          <a:stretch>
            <a:fillRect/>
          </a:stretch>
        </p:blipFill>
        <p:spPr>
          <a:xfrm>
            <a:off x="6126480" y="1302568"/>
            <a:ext cx="2194560" cy="3704224"/>
          </a:xfrm>
          <a:prstGeom prst="rect">
            <a:avLst/>
          </a:prstGeom>
        </p:spPr>
      </p:pic>
      <p:sp>
        <p:nvSpPr>
          <p:cNvPr id="34" name="Text 30"/>
          <p:cNvSpPr txBox="1"/>
          <p:nvPr/>
        </p:nvSpPr>
        <p:spPr>
          <a:xfrm>
            <a:off x="6126480" y="5061656"/>
            <a:ext cx="21945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material de clase «Indicadores de anomalía en el vehículo» (s. f.).</a:t>
            </a:r>
            <a:endParaRPr lang="en-US" sz="1000" dirty="0"/>
          </a:p>
        </p:txBody>
      </p:sp>
      <p:sp>
        <p:nvSpPr>
          <p:cNvPr id="35" name="Text 31"/>
          <p:cNvSpPr txBox="1"/>
          <p:nvPr/>
        </p:nvSpPr>
        <p:spPr>
          <a:xfrm>
            <a:off x="8549640" y="1188720"/>
            <a:ext cx="3154680" cy="5029200"/>
          </a:xfrm>
          <a:prstGeom prst="rect">
            <a:avLst/>
          </a:prstGeom>
          <a:noFill/>
          <a:ln/>
        </p:spPr>
        <p:txBody>
          <a:bodyPr wrap="square" lIns="25400" tIns="25400" rIns="50800" bIns="25400" rtlCol="0" anchor="t"/>
          <a:lstStyle/>
          <a:p>
            <a:pPr marL="203200" indent="-203200">
              <a:spcAft>
                <a:spcPts val="600"/>
              </a:spcAft>
              <a:buSzPct val="100000"/>
              <a:buChar char="•"/>
            </a:pPr>
            <a:r>
              <a:rPr lang="en-US" sz="1400" b="1" dirty="0">
                <a:solidFill>
                  <a:schemeClr val="tx1"/>
                </a:solidFill>
              </a:rPr>
              <a:t>Ubicación: </a:t>
            </a:r>
            <a:pPr indent="0" marL="0">
              <a:buNone/>
            </a:pPr>
            <a:r>
              <a:rPr lang="en-US" sz="1400" dirty="0">
                <a:solidFill>
                  <a:schemeClr val="tx1"/>
                </a:solidFill>
              </a:rPr>
              <a:t>dentro del depósito, con el aforador (módulo).</a:t>
            </a:r>
            <a:endParaRPr lang="en-US" sz="1400" dirty="0"/>
          </a:p>
          <a:p>
            <a:pPr marL="203200" indent="-203200">
              <a:spcAft>
                <a:spcPts val="600"/>
              </a:spcAft>
              <a:buSzPct val="100000"/>
              <a:buChar char="•"/>
            </a:pPr>
            <a:r>
              <a:rPr lang="en-US" sz="1400" b="1" dirty="0">
                <a:solidFill>
                  <a:schemeClr val="tx1"/>
                </a:solidFill>
              </a:rPr>
              <a:t>Tipos: </a:t>
            </a:r>
            <a:pPr indent="0" marL="0">
              <a:buNone/>
            </a:pPr>
            <a:r>
              <a:rPr lang="en-US" sz="1400" dirty="0">
                <a:solidFill>
                  <a:schemeClr val="tx1"/>
                </a:solidFill>
              </a:rPr>
              <a:t>de rodillos o de turbina.</a:t>
            </a:r>
            <a:endParaRPr lang="en-US" sz="1400" dirty="0"/>
          </a:p>
          <a:p>
            <a:pPr marL="203200" indent="-203200">
              <a:spcAft>
                <a:spcPts val="600"/>
              </a:spcAft>
              <a:buSzPct val="100000"/>
              <a:buChar char="•"/>
            </a:pPr>
            <a:r>
              <a:rPr lang="en-US" sz="1400" b="1" dirty="0">
                <a:solidFill>
                  <a:schemeClr val="tx1"/>
                </a:solidFill>
              </a:rPr>
              <a:t>Presión: </a:t>
            </a:r>
            <a:pPr indent="0" marL="0">
              <a:buNone/>
            </a:pPr>
            <a:r>
              <a:rPr lang="en-US" sz="1400" dirty="0">
                <a:solidFill>
                  <a:schemeClr val="tx1"/>
                </a:solidFill>
              </a:rPr>
              <a:t>≈ 3–4 bar en inyección indirecta (ver ficha).</a:t>
            </a:r>
            <a:endParaRPr lang="en-US" sz="1400" dirty="0"/>
          </a:p>
          <a:p>
            <a:pPr marL="203200" indent="-203200">
              <a:spcAft>
                <a:spcPts val="600"/>
              </a:spcAft>
              <a:buSzPct val="100000"/>
              <a:buChar char="•"/>
            </a:pPr>
            <a:r>
              <a:rPr lang="en-US" sz="1400" b="1" dirty="0">
                <a:solidFill>
                  <a:schemeClr val="tx1"/>
                </a:solidFill>
              </a:rPr>
              <a:t>Comprobación: </a:t>
            </a:r>
            <a:pPr indent="0" marL="0">
              <a:buNone/>
            </a:pPr>
            <a:r>
              <a:rPr lang="en-US" sz="1400" dirty="0">
                <a:solidFill>
                  <a:schemeClr val="tx1"/>
                </a:solidFill>
              </a:rPr>
              <a:t>zumbido 2 s al dar contacto, tensión en conector, consumo con pinza, presión y caudal.</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4.16.4 Motoventilador de refrigeración</a:t>
            </a:r>
            <a:endParaRPr lang="en-US" sz="2800" dirty="0"/>
          </a:p>
        </p:txBody>
      </p:sp>
      <p:sp>
        <p:nvSpPr>
          <p:cNvPr id="4" name="Shape 1"/>
          <p:cNvSpPr/>
          <p:nvPr/>
        </p:nvSpPr>
        <p:spPr>
          <a:xfrm>
            <a:off x="640080" y="1417320"/>
            <a:ext cx="4206240" cy="0"/>
          </a:xfrm>
          <a:prstGeom prst="line">
            <a:avLst/>
          </a:prstGeom>
          <a:noFill/>
          <a:ln w="28575">
            <a:solidFill>
              <a:srgbClr val="C0392B"/>
            </a:solidFill>
            <a:prstDash val="solid"/>
          </a:ln>
        </p:spPr>
      </p:sp>
      <p:sp>
        <p:nvSpPr>
          <p:cNvPr id="5" name="Text 2"/>
          <p:cNvSpPr txBox="1"/>
          <p:nvPr/>
        </p:nvSpPr>
        <p:spPr>
          <a:xfrm>
            <a:off x="4892040" y="1280160"/>
            <a:ext cx="1188720" cy="274320"/>
          </a:xfrm>
          <a:prstGeom prst="rect">
            <a:avLst/>
          </a:prstGeom>
          <a:noFill/>
          <a:ln/>
        </p:spPr>
        <p:txBody>
          <a:bodyPr wrap="square" lIns="0" tIns="0" rIns="0" bIns="0" rtlCol="0" anchor="ctr"/>
          <a:lstStyle/>
          <a:p>
            <a:pPr algn="l" indent="0" marL="0">
              <a:buNone/>
            </a:pPr>
            <a:r>
              <a:rPr lang="en-US" sz="1100" b="1" dirty="0">
                <a:solidFill>
                  <a:srgbClr val="C0392B"/>
                </a:solidFill>
              </a:rPr>
              <a:t>30 (+ batería)</a:t>
            </a:r>
            <a:endParaRPr lang="en-US" sz="1100" dirty="0"/>
          </a:p>
        </p:txBody>
      </p:sp>
      <p:sp>
        <p:nvSpPr>
          <p:cNvPr id="6" name="Shape 3"/>
          <p:cNvSpPr/>
          <p:nvPr/>
        </p:nvSpPr>
        <p:spPr>
          <a:xfrm>
            <a:off x="640080" y="1783080"/>
            <a:ext cx="4206240" cy="0"/>
          </a:xfrm>
          <a:prstGeom prst="line">
            <a:avLst/>
          </a:prstGeom>
          <a:noFill/>
          <a:ln w="15875">
            <a:solidFill>
              <a:srgbClr val="C0392B"/>
            </a:solidFill>
            <a:prstDash val="solid"/>
          </a:ln>
        </p:spPr>
      </p:sp>
      <p:sp>
        <p:nvSpPr>
          <p:cNvPr id="7" name="Text 4"/>
          <p:cNvSpPr txBox="1"/>
          <p:nvPr/>
        </p:nvSpPr>
        <p:spPr>
          <a:xfrm>
            <a:off x="4892040" y="1645920"/>
            <a:ext cx="1188720" cy="274320"/>
          </a:xfrm>
          <a:prstGeom prst="rect">
            <a:avLst/>
          </a:prstGeom>
          <a:noFill/>
          <a:ln/>
        </p:spPr>
        <p:txBody>
          <a:bodyPr wrap="square" lIns="0" tIns="0" rIns="0" bIns="0" rtlCol="0" anchor="ctr"/>
          <a:lstStyle/>
          <a:p>
            <a:pPr algn="l" indent="0" marL="0">
              <a:buNone/>
            </a:pPr>
            <a:r>
              <a:rPr lang="en-US" sz="1100" b="1" dirty="0">
                <a:solidFill>
                  <a:srgbClr val="C0392B"/>
                </a:solidFill>
              </a:rPr>
              <a:t>15 (+ contacto)</a:t>
            </a:r>
            <a:endParaRPr lang="en-US" sz="1100" dirty="0"/>
          </a:p>
        </p:txBody>
      </p:sp>
      <p:sp>
        <p:nvSpPr>
          <p:cNvPr id="8" name="Shape 5"/>
          <p:cNvSpPr/>
          <p:nvPr/>
        </p:nvSpPr>
        <p:spPr>
          <a:xfrm>
            <a:off x="640080" y="5349240"/>
            <a:ext cx="4206240" cy="0"/>
          </a:xfrm>
          <a:prstGeom prst="line">
            <a:avLst/>
          </a:prstGeom>
          <a:noFill/>
          <a:ln w="28575">
            <a:solidFill>
              <a:srgbClr val="2E6DA4"/>
            </a:solidFill>
            <a:prstDash val="solid"/>
          </a:ln>
        </p:spPr>
      </p:sp>
      <p:sp>
        <p:nvSpPr>
          <p:cNvPr id="9" name="Text 6"/>
          <p:cNvSpPr txBox="1"/>
          <p:nvPr/>
        </p:nvSpPr>
        <p:spPr>
          <a:xfrm>
            <a:off x="4892040" y="5212080"/>
            <a:ext cx="1097280" cy="274320"/>
          </a:xfrm>
          <a:prstGeom prst="rect">
            <a:avLst/>
          </a:prstGeom>
          <a:noFill/>
          <a:ln/>
        </p:spPr>
        <p:txBody>
          <a:bodyPr wrap="square" lIns="0" tIns="0" rIns="0" bIns="0" rtlCol="0" anchor="ctr"/>
          <a:lstStyle/>
          <a:p>
            <a:pPr algn="l" indent="0" marL="0">
              <a:buNone/>
            </a:pPr>
            <a:r>
              <a:rPr lang="en-US" sz="1100" b="1" dirty="0">
                <a:solidFill>
                  <a:srgbClr val="2E6DA4"/>
                </a:solidFill>
              </a:rPr>
              <a:t>31 (masa)</a:t>
            </a:r>
            <a:endParaRPr lang="en-US" sz="1100" dirty="0"/>
          </a:p>
        </p:txBody>
      </p:sp>
      <p:sp>
        <p:nvSpPr>
          <p:cNvPr id="10" name="Shape 7"/>
          <p:cNvSpPr/>
          <p:nvPr/>
        </p:nvSpPr>
        <p:spPr>
          <a:xfrm>
            <a:off x="1463040" y="1783080"/>
            <a:ext cx="0" cy="1234440"/>
          </a:xfrm>
          <a:prstGeom prst="line">
            <a:avLst/>
          </a:prstGeom>
          <a:noFill/>
          <a:ln w="19050">
            <a:solidFill>
              <a:srgbClr val="1B2A33"/>
            </a:solidFill>
            <a:prstDash val="solid"/>
          </a:ln>
        </p:spPr>
      </p:sp>
      <p:sp>
        <p:nvSpPr>
          <p:cNvPr id="11" name="Shape 8"/>
          <p:cNvSpPr/>
          <p:nvPr/>
        </p:nvSpPr>
        <p:spPr>
          <a:xfrm>
            <a:off x="1005840" y="2743200"/>
            <a:ext cx="2743200" cy="1280160"/>
          </a:xfrm>
          <a:prstGeom prst="rect">
            <a:avLst/>
          </a:prstGeom>
          <a:solidFill>
            <a:srgbClr val="FFFFFF"/>
          </a:solidFill>
          <a:ln w="12700">
            <a:solidFill>
              <a:srgbClr val="5B6770"/>
            </a:solidFill>
            <a:prstDash val="dash"/>
          </a:ln>
        </p:spPr>
      </p:sp>
      <p:sp>
        <p:nvSpPr>
          <p:cNvPr id="12" name="Text 9"/>
          <p:cNvSpPr txBox="1"/>
          <p:nvPr/>
        </p:nvSpPr>
        <p:spPr>
          <a:xfrm>
            <a:off x="2103120" y="2761488"/>
            <a:ext cx="731520" cy="228600"/>
          </a:xfrm>
          <a:prstGeom prst="rect">
            <a:avLst/>
          </a:prstGeom>
          <a:noFill/>
          <a:ln/>
        </p:spPr>
        <p:txBody>
          <a:bodyPr wrap="square" lIns="0" tIns="0" rIns="0" bIns="0" rtlCol="0" anchor="ctr"/>
          <a:lstStyle/>
          <a:p>
            <a:pPr algn="ctr" indent="0" marL="0">
              <a:buNone/>
            </a:pPr>
            <a:r>
              <a:rPr lang="en-US" sz="1000" b="1" dirty="0">
                <a:solidFill>
                  <a:srgbClr val="5B6770"/>
                </a:solidFill>
              </a:rPr>
              <a:t>Relé</a:t>
            </a:r>
            <a:endParaRPr lang="en-US" sz="1000" dirty="0"/>
          </a:p>
        </p:txBody>
      </p:sp>
      <p:sp>
        <p:nvSpPr>
          <p:cNvPr id="13" name="Shape 10"/>
          <p:cNvSpPr/>
          <p:nvPr/>
        </p:nvSpPr>
        <p:spPr>
          <a:xfrm>
            <a:off x="1280160" y="3017520"/>
            <a:ext cx="365760" cy="731520"/>
          </a:xfrm>
          <a:prstGeom prst="rect">
            <a:avLst/>
          </a:prstGeom>
          <a:solidFill>
            <a:srgbClr val="E4F1F1"/>
          </a:solidFill>
          <a:ln w="19050">
            <a:solidFill>
              <a:srgbClr val="007578"/>
            </a:solidFill>
            <a:prstDash val="solid"/>
          </a:ln>
        </p:spPr>
      </p:sp>
      <p:sp>
        <p:nvSpPr>
          <p:cNvPr id="14" name="Text 11"/>
          <p:cNvSpPr txBox="1"/>
          <p:nvPr/>
        </p:nvSpPr>
        <p:spPr>
          <a:xfrm>
            <a:off x="896112" y="2880360"/>
            <a:ext cx="365760" cy="228600"/>
          </a:xfrm>
          <a:prstGeom prst="rect">
            <a:avLst/>
          </a:prstGeom>
          <a:noFill/>
          <a:ln/>
        </p:spPr>
        <p:txBody>
          <a:bodyPr wrap="square" lIns="0" tIns="0" rIns="0" bIns="0" rtlCol="0" anchor="ctr"/>
          <a:lstStyle/>
          <a:p>
            <a:pPr algn="r" indent="0" marL="0">
              <a:buNone/>
            </a:pPr>
            <a:r>
              <a:rPr lang="en-US" sz="1000" dirty="0">
                <a:solidFill>
                  <a:srgbClr val="1B2A33"/>
                </a:solidFill>
              </a:rPr>
              <a:t>86</a:t>
            </a:r>
            <a:endParaRPr lang="en-US" sz="1000" dirty="0"/>
          </a:p>
        </p:txBody>
      </p:sp>
      <p:sp>
        <p:nvSpPr>
          <p:cNvPr id="15" name="Text 12"/>
          <p:cNvSpPr txBox="1"/>
          <p:nvPr/>
        </p:nvSpPr>
        <p:spPr>
          <a:xfrm>
            <a:off x="896112" y="3749040"/>
            <a:ext cx="365760" cy="228600"/>
          </a:xfrm>
          <a:prstGeom prst="rect">
            <a:avLst/>
          </a:prstGeom>
          <a:noFill/>
          <a:ln/>
        </p:spPr>
        <p:txBody>
          <a:bodyPr wrap="square" lIns="0" tIns="0" rIns="0" bIns="0" rtlCol="0" anchor="ctr"/>
          <a:lstStyle/>
          <a:p>
            <a:pPr algn="r" indent="0" marL="0">
              <a:buNone/>
            </a:pPr>
            <a:r>
              <a:rPr lang="en-US" sz="1000" dirty="0">
                <a:solidFill>
                  <a:srgbClr val="1B2A33"/>
                </a:solidFill>
              </a:rPr>
              <a:t>85</a:t>
            </a:r>
            <a:endParaRPr lang="en-US" sz="1000" dirty="0"/>
          </a:p>
        </p:txBody>
      </p:sp>
      <p:sp>
        <p:nvSpPr>
          <p:cNvPr id="16" name="Shape 13"/>
          <p:cNvSpPr/>
          <p:nvPr/>
        </p:nvSpPr>
        <p:spPr>
          <a:xfrm>
            <a:off x="1463040" y="3749040"/>
            <a:ext cx="0" cy="502920"/>
          </a:xfrm>
          <a:prstGeom prst="line">
            <a:avLst/>
          </a:prstGeom>
          <a:noFill/>
          <a:ln w="19050">
            <a:solidFill>
              <a:srgbClr val="1B2A33"/>
            </a:solidFill>
            <a:prstDash val="solid"/>
          </a:ln>
        </p:spPr>
      </p:sp>
      <p:sp>
        <p:nvSpPr>
          <p:cNvPr id="17" name="Shape 14"/>
          <p:cNvSpPr/>
          <p:nvPr/>
        </p:nvSpPr>
        <p:spPr>
          <a:xfrm>
            <a:off x="731520" y="4251960"/>
            <a:ext cx="1463040" cy="594360"/>
          </a:xfrm>
          <a:prstGeom prst="roundRect">
            <a:avLst>
              <a:gd name="adj" fmla="val 9231"/>
            </a:avLst>
          </a:prstGeom>
          <a:solidFill>
            <a:srgbClr val="FDF1D8"/>
          </a:solidFill>
          <a:ln w="15875">
            <a:solidFill>
              <a:srgbClr val="F2A516"/>
            </a:solidFill>
            <a:prstDash val="solid"/>
          </a:ln>
        </p:spPr>
      </p:sp>
      <p:sp>
        <p:nvSpPr>
          <p:cNvPr id="18" name="Text 15"/>
          <p:cNvSpPr txBox="1"/>
          <p:nvPr/>
        </p:nvSpPr>
        <p:spPr>
          <a:xfrm>
            <a:off x="731520" y="4251960"/>
            <a:ext cx="1463040" cy="594360"/>
          </a:xfrm>
          <a:prstGeom prst="rect">
            <a:avLst/>
          </a:prstGeom>
          <a:noFill/>
          <a:ln/>
        </p:spPr>
        <p:txBody>
          <a:bodyPr wrap="square" lIns="0" tIns="0" rIns="0" bIns="0" rtlCol="0" anchor="ctr"/>
          <a:lstStyle/>
          <a:p>
            <a:pPr algn="ctr" indent="0" marL="0">
              <a:buNone/>
            </a:pPr>
            <a:r>
              <a:rPr lang="en-US" sz="1100" b="1" dirty="0">
                <a:solidFill>
                  <a:srgbClr val="1B2A33"/>
                </a:solidFill>
              </a:rPr>
              <a:t>Termocontacto</a:t>
            </a:r>
            <a:endParaRPr lang="en-US" sz="1100" dirty="0"/>
          </a:p>
          <a:p>
            <a:pPr algn="ctr" indent="0" marL="0">
              <a:buNone/>
            </a:pPr>
            <a:r>
              <a:rPr lang="en-US" sz="1100" b="1" dirty="0">
                <a:solidFill>
                  <a:srgbClr val="1B2A33"/>
                </a:solidFill>
              </a:rPr>
              <a:t>o ECU</a:t>
            </a:r>
            <a:endParaRPr lang="en-US" sz="1100" dirty="0"/>
          </a:p>
        </p:txBody>
      </p:sp>
      <p:sp>
        <p:nvSpPr>
          <p:cNvPr id="19" name="Shape 16"/>
          <p:cNvSpPr/>
          <p:nvPr/>
        </p:nvSpPr>
        <p:spPr>
          <a:xfrm>
            <a:off x="1463040" y="4846320"/>
            <a:ext cx="0" cy="502920"/>
          </a:xfrm>
          <a:prstGeom prst="line">
            <a:avLst/>
          </a:prstGeom>
          <a:noFill/>
          <a:ln w="19050">
            <a:solidFill>
              <a:srgbClr val="1B2A33"/>
            </a:solidFill>
            <a:prstDash val="solid"/>
          </a:ln>
        </p:spPr>
      </p:sp>
      <p:sp>
        <p:nvSpPr>
          <p:cNvPr id="20" name="Shape 17"/>
          <p:cNvSpPr/>
          <p:nvPr/>
        </p:nvSpPr>
        <p:spPr>
          <a:xfrm>
            <a:off x="3291840" y="1417320"/>
            <a:ext cx="0" cy="457200"/>
          </a:xfrm>
          <a:prstGeom prst="line">
            <a:avLst/>
          </a:prstGeom>
          <a:noFill/>
          <a:ln w="19050">
            <a:solidFill>
              <a:srgbClr val="1B2A33"/>
            </a:solidFill>
            <a:prstDash val="solid"/>
          </a:ln>
        </p:spPr>
      </p:sp>
      <p:sp>
        <p:nvSpPr>
          <p:cNvPr id="21" name="Shape 18"/>
          <p:cNvSpPr/>
          <p:nvPr/>
        </p:nvSpPr>
        <p:spPr>
          <a:xfrm>
            <a:off x="3182112" y="1874520"/>
            <a:ext cx="219456" cy="502920"/>
          </a:xfrm>
          <a:prstGeom prst="rect">
            <a:avLst/>
          </a:prstGeom>
          <a:solidFill>
            <a:srgbClr val="FFFFFF"/>
          </a:solidFill>
          <a:ln w="15875">
            <a:solidFill>
              <a:srgbClr val="1B2A33"/>
            </a:solidFill>
            <a:prstDash val="solid"/>
          </a:ln>
        </p:spPr>
      </p:sp>
      <p:sp>
        <p:nvSpPr>
          <p:cNvPr id="22" name="Text 19"/>
          <p:cNvSpPr txBox="1"/>
          <p:nvPr/>
        </p:nvSpPr>
        <p:spPr>
          <a:xfrm>
            <a:off x="3474720" y="1984248"/>
            <a:ext cx="1097280" cy="274320"/>
          </a:xfrm>
          <a:prstGeom prst="rect">
            <a:avLst/>
          </a:prstGeom>
          <a:noFill/>
          <a:ln/>
        </p:spPr>
        <p:txBody>
          <a:bodyPr wrap="square" lIns="0" tIns="0" rIns="0" bIns="0" rtlCol="0" anchor="ctr"/>
          <a:lstStyle/>
          <a:p>
            <a:pPr algn="l" indent="0" marL="0">
              <a:buNone/>
            </a:pPr>
            <a:r>
              <a:rPr lang="en-US" sz="1000" dirty="0">
                <a:solidFill>
                  <a:srgbClr val="1B2A33"/>
                </a:solidFill>
              </a:rPr>
              <a:t>30–40 A</a:t>
            </a:r>
            <a:endParaRPr lang="en-US" sz="1000" dirty="0"/>
          </a:p>
        </p:txBody>
      </p:sp>
      <p:sp>
        <p:nvSpPr>
          <p:cNvPr id="23" name="Shape 20"/>
          <p:cNvSpPr/>
          <p:nvPr/>
        </p:nvSpPr>
        <p:spPr>
          <a:xfrm>
            <a:off x="3291840" y="2377440"/>
            <a:ext cx="0" cy="685800"/>
          </a:xfrm>
          <a:prstGeom prst="line">
            <a:avLst/>
          </a:prstGeom>
          <a:noFill/>
          <a:ln w="19050">
            <a:solidFill>
              <a:srgbClr val="1B2A33"/>
            </a:solidFill>
            <a:prstDash val="solid"/>
          </a:ln>
        </p:spPr>
      </p:sp>
      <p:sp>
        <p:nvSpPr>
          <p:cNvPr id="24" name="Text 21"/>
          <p:cNvSpPr txBox="1"/>
          <p:nvPr/>
        </p:nvSpPr>
        <p:spPr>
          <a:xfrm>
            <a:off x="3364992" y="2834640"/>
            <a:ext cx="365760" cy="228600"/>
          </a:xfrm>
          <a:prstGeom prst="rect">
            <a:avLst/>
          </a:prstGeom>
          <a:noFill/>
          <a:ln/>
        </p:spPr>
        <p:txBody>
          <a:bodyPr wrap="square" lIns="0" tIns="0" rIns="0" bIns="0" rtlCol="0" anchor="ctr"/>
          <a:lstStyle/>
          <a:p>
            <a:pPr algn="l" indent="0" marL="0">
              <a:buNone/>
            </a:pPr>
            <a:r>
              <a:rPr lang="en-US" sz="1000" dirty="0">
                <a:solidFill>
                  <a:srgbClr val="1B2A33"/>
                </a:solidFill>
              </a:rPr>
              <a:t>30</a:t>
            </a:r>
            <a:endParaRPr lang="en-US" sz="1000" dirty="0"/>
          </a:p>
        </p:txBody>
      </p:sp>
      <p:sp>
        <p:nvSpPr>
          <p:cNvPr id="25" name="Shape 22"/>
          <p:cNvSpPr/>
          <p:nvPr/>
        </p:nvSpPr>
        <p:spPr>
          <a:xfrm>
            <a:off x="3291840" y="3063240"/>
            <a:ext cx="292608" cy="411480"/>
          </a:xfrm>
          <a:prstGeom prst="line">
            <a:avLst/>
          </a:prstGeom>
          <a:noFill/>
          <a:ln w="28575">
            <a:solidFill>
              <a:srgbClr val="1B2A33"/>
            </a:solidFill>
            <a:prstDash val="solid"/>
          </a:ln>
        </p:spPr>
      </p:sp>
      <p:sp>
        <p:nvSpPr>
          <p:cNvPr id="26" name="Shape 23"/>
          <p:cNvSpPr/>
          <p:nvPr/>
        </p:nvSpPr>
        <p:spPr>
          <a:xfrm>
            <a:off x="3291840" y="3538728"/>
            <a:ext cx="0" cy="667512"/>
          </a:xfrm>
          <a:prstGeom prst="line">
            <a:avLst/>
          </a:prstGeom>
          <a:noFill/>
          <a:ln w="19050">
            <a:solidFill>
              <a:srgbClr val="1B2A33"/>
            </a:solidFill>
            <a:prstDash val="solid"/>
          </a:ln>
        </p:spPr>
      </p:sp>
      <p:sp>
        <p:nvSpPr>
          <p:cNvPr id="27" name="Text 24"/>
          <p:cNvSpPr txBox="1"/>
          <p:nvPr/>
        </p:nvSpPr>
        <p:spPr>
          <a:xfrm>
            <a:off x="3364992" y="3749040"/>
            <a:ext cx="365760" cy="228600"/>
          </a:xfrm>
          <a:prstGeom prst="rect">
            <a:avLst/>
          </a:prstGeom>
          <a:noFill/>
          <a:ln/>
        </p:spPr>
        <p:txBody>
          <a:bodyPr wrap="square" lIns="0" tIns="0" rIns="0" bIns="0" rtlCol="0" anchor="ctr"/>
          <a:lstStyle/>
          <a:p>
            <a:pPr algn="l" indent="0" marL="0">
              <a:buNone/>
            </a:pPr>
            <a:r>
              <a:rPr lang="en-US" sz="1000" dirty="0">
                <a:solidFill>
                  <a:srgbClr val="1B2A33"/>
                </a:solidFill>
              </a:rPr>
              <a:t>87</a:t>
            </a:r>
            <a:endParaRPr lang="en-US" sz="1000" dirty="0"/>
          </a:p>
        </p:txBody>
      </p:sp>
      <p:sp>
        <p:nvSpPr>
          <p:cNvPr id="28" name="Shape 25"/>
          <p:cNvSpPr/>
          <p:nvPr/>
        </p:nvSpPr>
        <p:spPr>
          <a:xfrm>
            <a:off x="1645920" y="3383280"/>
            <a:ext cx="1755648" cy="0"/>
          </a:xfrm>
          <a:prstGeom prst="line">
            <a:avLst/>
          </a:prstGeom>
          <a:noFill/>
          <a:ln w="12700">
            <a:solidFill>
              <a:srgbClr val="5B6770"/>
            </a:solidFill>
            <a:prstDash val="dash"/>
          </a:ln>
        </p:spPr>
      </p:sp>
      <p:sp>
        <p:nvSpPr>
          <p:cNvPr id="29" name="Shape 26"/>
          <p:cNvSpPr/>
          <p:nvPr/>
        </p:nvSpPr>
        <p:spPr>
          <a:xfrm>
            <a:off x="2990088" y="4206240"/>
            <a:ext cx="603504" cy="603504"/>
          </a:xfrm>
          <a:prstGeom prst="ellipse">
            <a:avLst/>
          </a:prstGeom>
          <a:solidFill>
            <a:srgbClr val="FFFFFF"/>
          </a:solidFill>
          <a:ln w="19050">
            <a:solidFill>
              <a:srgbClr val="1B2A33"/>
            </a:solidFill>
            <a:prstDash val="solid"/>
          </a:ln>
        </p:spPr>
      </p:sp>
      <p:sp>
        <p:nvSpPr>
          <p:cNvPr id="30" name="Text 27"/>
          <p:cNvSpPr txBox="1"/>
          <p:nvPr/>
        </p:nvSpPr>
        <p:spPr>
          <a:xfrm>
            <a:off x="2990088" y="4206240"/>
            <a:ext cx="603504" cy="603504"/>
          </a:xfrm>
          <a:prstGeom prst="rect">
            <a:avLst/>
          </a:prstGeom>
          <a:noFill/>
          <a:ln/>
        </p:spPr>
        <p:txBody>
          <a:bodyPr wrap="square" lIns="0" tIns="0" rIns="0" bIns="0" rtlCol="0" anchor="ctr"/>
          <a:lstStyle/>
          <a:p>
            <a:pPr algn="ctr" indent="0" marL="0">
              <a:buNone/>
            </a:pPr>
            <a:r>
              <a:rPr lang="en-US" sz="1800" b="1" dirty="0">
                <a:solidFill>
                  <a:srgbClr val="1B2A33"/>
                </a:solidFill>
              </a:rPr>
              <a:t>M</a:t>
            </a:r>
            <a:endParaRPr lang="en-US" sz="1800" dirty="0"/>
          </a:p>
        </p:txBody>
      </p:sp>
      <p:sp>
        <p:nvSpPr>
          <p:cNvPr id="31" name="Shape 28"/>
          <p:cNvSpPr/>
          <p:nvPr/>
        </p:nvSpPr>
        <p:spPr>
          <a:xfrm>
            <a:off x="3291840" y="4809744"/>
            <a:ext cx="0" cy="539496"/>
          </a:xfrm>
          <a:prstGeom prst="line">
            <a:avLst/>
          </a:prstGeom>
          <a:noFill/>
          <a:ln w="19050">
            <a:solidFill>
              <a:srgbClr val="1B2A33"/>
            </a:solidFill>
            <a:prstDash val="solid"/>
          </a:ln>
        </p:spPr>
      </p:sp>
      <p:sp>
        <p:nvSpPr>
          <p:cNvPr id="32" name="Text 29"/>
          <p:cNvSpPr txBox="1"/>
          <p:nvPr/>
        </p:nvSpPr>
        <p:spPr>
          <a:xfrm>
            <a:off x="3703320" y="4160520"/>
            <a:ext cx="1737360" cy="685800"/>
          </a:xfrm>
          <a:prstGeom prst="rect">
            <a:avLst/>
          </a:prstGeom>
          <a:noFill/>
          <a:ln/>
        </p:spPr>
        <p:txBody>
          <a:bodyPr wrap="square" lIns="0" tIns="0" rIns="0" bIns="0" rtlCol="0" anchor="ctr"/>
          <a:lstStyle/>
          <a:p>
            <a:pPr algn="l" indent="0" marL="0">
              <a:buNone/>
            </a:pPr>
            <a:r>
              <a:rPr lang="en-US" sz="1100" b="1" dirty="0">
                <a:solidFill>
                  <a:srgbClr val="00575A"/>
                </a:solidFill>
              </a:rPr>
              <a:t>Motoventilador</a:t>
            </a:r>
            <a:endParaRPr lang="en-US" sz="1100" dirty="0"/>
          </a:p>
          <a:p>
            <a:pPr algn="l" indent="0" marL="0">
              <a:buNone/>
            </a:pPr>
            <a:r>
              <a:rPr lang="en-US" sz="1100" b="1" dirty="0">
                <a:solidFill>
                  <a:srgbClr val="00575A"/>
                </a:solidFill>
              </a:rPr>
              <a:t>(Rs en 1.ª vel.)</a:t>
            </a:r>
            <a:endParaRPr lang="en-US" sz="1100" dirty="0"/>
          </a:p>
        </p:txBody>
      </p:sp>
      <p:sp>
        <p:nvSpPr>
          <p:cNvPr id="33" name="Shape 30"/>
          <p:cNvSpPr/>
          <p:nvPr/>
        </p:nvSpPr>
        <p:spPr>
          <a:xfrm>
            <a:off x="6309360" y="1234440"/>
            <a:ext cx="2103120" cy="365760"/>
          </a:xfrm>
          <a:prstGeom prst="roundRect">
            <a:avLst>
              <a:gd name="adj" fmla="val 50000"/>
            </a:avLst>
          </a:prstGeom>
          <a:solidFill>
            <a:srgbClr val="F2A516"/>
          </a:solidFill>
          <a:ln w="12700">
            <a:solidFill>
              <a:srgbClr val="F2A516"/>
            </a:solidFill>
            <a:prstDash val="solid"/>
          </a:ln>
        </p:spPr>
      </p:sp>
      <p:sp>
        <p:nvSpPr>
          <p:cNvPr id="34" name="Text 31"/>
          <p:cNvSpPr txBox="1"/>
          <p:nvPr/>
        </p:nvSpPr>
        <p:spPr>
          <a:xfrm>
            <a:off x="6309360" y="1234440"/>
            <a:ext cx="2103120" cy="365760"/>
          </a:xfrm>
          <a:prstGeom prst="rect">
            <a:avLst/>
          </a:prstGeom>
          <a:noFill/>
          <a:ln/>
        </p:spPr>
        <p:txBody>
          <a:bodyPr wrap="square" lIns="0" tIns="0" rIns="0" bIns="0" rtlCol="0" anchor="ctr"/>
          <a:lstStyle/>
          <a:p>
            <a:pPr algn="ctr" indent="0" marL="0">
              <a:buNone/>
            </a:pPr>
            <a:r>
              <a:rPr lang="en-US" sz="1300" b="1" dirty="0">
                <a:solidFill>
                  <a:srgbClr val="1B2A33"/>
                </a:solidFill>
              </a:rPr>
              <a:t>Ejemplo resuelto</a:t>
            </a:r>
            <a:endParaRPr lang="en-US" sz="1300" dirty="0"/>
          </a:p>
        </p:txBody>
      </p:sp>
      <p:sp>
        <p:nvSpPr>
          <p:cNvPr id="35" name="Text 32"/>
          <p:cNvSpPr txBox="1"/>
          <p:nvPr/>
        </p:nvSpPr>
        <p:spPr>
          <a:xfrm>
            <a:off x="6309360" y="1737360"/>
            <a:ext cx="5394960" cy="4480560"/>
          </a:xfrm>
          <a:prstGeom prst="rect">
            <a:avLst/>
          </a:prstGeom>
          <a:noFill/>
          <a:ln/>
        </p:spPr>
        <p:txBody>
          <a:bodyPr wrap="square" lIns="25400" tIns="25400" rIns="50800" bIns="25400" rtlCol="0" anchor="t"/>
          <a:lstStyle/>
          <a:p>
            <a:pPr marL="203200" indent="-203200">
              <a:spcAft>
                <a:spcPts val="600"/>
              </a:spcAft>
              <a:buSzPct val="100000"/>
              <a:buChar char="•"/>
            </a:pPr>
            <a:r>
              <a:rPr lang="en-US" sz="1500" dirty="0">
                <a:solidFill>
                  <a:schemeClr val="tx1"/>
                </a:solidFill>
              </a:rPr>
              <a:t>Motor de 240 W a 12 V: I = 20 A en 2.ª velocidad.</a:t>
            </a:r>
            <a:endParaRPr lang="en-US" sz="1500" dirty="0"/>
          </a:p>
          <a:p>
            <a:pPr marL="203200" indent="-203200">
              <a:spcAft>
                <a:spcPts val="600"/>
              </a:spcAft>
              <a:buSzPct val="100000"/>
              <a:buChar char="•"/>
            </a:pPr>
            <a:r>
              <a:rPr lang="en-US" sz="1500" dirty="0">
                <a:solidFill>
                  <a:schemeClr val="tx1"/>
                </a:solidFill>
              </a:rPr>
              <a:t>Modelándolo como R_m = 12 / 20 = 0,6 Ω, para 1.ª velocidad con ≈ 12 A:</a:t>
            </a:r>
            <a:endParaRPr lang="en-US" sz="1500" dirty="0"/>
          </a:p>
          <a:p>
            <a:pPr marL="203200" indent="-203200">
              <a:spcAft>
                <a:spcPts val="600"/>
              </a:spcAft>
              <a:buSzPct val="100000"/>
              <a:buChar char="•"/>
            </a:pPr>
            <a:r>
              <a:rPr lang="en-US" sz="1500" dirty="0">
                <a:solidFill>
                  <a:schemeClr val="tx1"/>
                </a:solidFill>
              </a:rPr>
              <a:t>R_total = 12 / 12 = 1,0 Ω → R_s = 1,0 − 0,6 = 0,4 Ω</a:t>
            </a:r>
            <a:endParaRPr lang="en-US" sz="1500" dirty="0"/>
          </a:p>
          <a:p>
            <a:pPr marL="203200" indent="-203200">
              <a:spcAft>
                <a:spcPts val="600"/>
              </a:spcAft>
              <a:buSzPct val="100000"/>
              <a:buChar char="•"/>
            </a:pPr>
            <a:r>
              <a:rPr lang="en-US" sz="1500" dirty="0">
                <a:solidFill>
                  <a:schemeClr val="tx1"/>
                </a:solidFill>
              </a:rPr>
              <a:t>P disipada en R_s = 12² × 0,4 = 58 W ⇒ resistencia de potencia refrigerada por el aire.</a:t>
            </a:r>
            <a:endParaRPr lang="en-US" sz="1500" dirty="0"/>
          </a:p>
          <a:p>
            <a:pPr marL="203200" indent="-203200">
              <a:spcAft>
                <a:spcPts val="600"/>
              </a:spcAft>
              <a:buSzPct val="100000"/>
              <a:buChar char="•"/>
            </a:pPr>
            <a:r>
              <a:rPr lang="en-US" sz="1500" dirty="0">
                <a:solidFill>
                  <a:schemeClr val="tx1"/>
                </a:solidFill>
              </a:rPr>
              <a:t>Modelo simplificado: el motor real tiene f.c.e.m. (Unidad 2).</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4.16.5 Encendedor de cigarrillos y reloj horario</a:t>
            </a:r>
            <a:endParaRPr lang="en-US" sz="2800" dirty="0"/>
          </a:p>
        </p:txBody>
      </p:sp>
      <p:sp>
        <p:nvSpPr>
          <p:cNvPr id="4" name="Shape 1"/>
          <p:cNvSpPr/>
          <p:nvPr/>
        </p:nvSpPr>
        <p:spPr>
          <a:xfrm>
            <a:off x="502920" y="1234440"/>
            <a:ext cx="2103120" cy="365760"/>
          </a:xfrm>
          <a:prstGeom prst="roundRect">
            <a:avLst>
              <a:gd name="adj" fmla="val 50000"/>
            </a:avLst>
          </a:prstGeom>
          <a:solidFill>
            <a:srgbClr val="F2A516"/>
          </a:solidFill>
          <a:ln w="12700">
            <a:solidFill>
              <a:srgbClr val="F2A516"/>
            </a:solidFill>
            <a:prstDash val="solid"/>
          </a:ln>
        </p:spPr>
      </p:sp>
      <p:sp>
        <p:nvSpPr>
          <p:cNvPr id="5" name="Text 2"/>
          <p:cNvSpPr txBox="1"/>
          <p:nvPr/>
        </p:nvSpPr>
        <p:spPr>
          <a:xfrm>
            <a:off x="502920" y="1234440"/>
            <a:ext cx="2103120" cy="365760"/>
          </a:xfrm>
          <a:prstGeom prst="rect">
            <a:avLst/>
          </a:prstGeom>
          <a:noFill/>
          <a:ln/>
        </p:spPr>
        <p:txBody>
          <a:bodyPr wrap="square" lIns="0" tIns="0" rIns="0" bIns="0" rtlCol="0" anchor="ctr"/>
          <a:lstStyle/>
          <a:p>
            <a:pPr algn="ctr" indent="0" marL="0">
              <a:buNone/>
            </a:pPr>
            <a:r>
              <a:rPr lang="en-US" sz="1300" b="1" dirty="0">
                <a:solidFill>
                  <a:srgbClr val="1B2A33"/>
                </a:solidFill>
              </a:rPr>
              <a:t>Ejemplo resuelto</a:t>
            </a:r>
            <a:endParaRPr lang="en-US" sz="1300" dirty="0"/>
          </a:p>
        </p:txBody>
      </p:sp>
      <p:sp>
        <p:nvSpPr>
          <p:cNvPr id="6" name="Text 3"/>
          <p:cNvSpPr txBox="1"/>
          <p:nvPr/>
        </p:nvSpPr>
        <p:spPr>
          <a:xfrm>
            <a:off x="502920" y="1737360"/>
            <a:ext cx="6035040" cy="4480560"/>
          </a:xfrm>
          <a:prstGeom prst="rect">
            <a:avLst/>
          </a:prstGeom>
          <a:noFill/>
          <a:ln/>
        </p:spPr>
        <p:txBody>
          <a:bodyPr wrap="square" lIns="25400" tIns="25400" rIns="50800" bIns="25400" rtlCol="0" anchor="t"/>
          <a:lstStyle/>
          <a:p>
            <a:pPr indent="0" marL="0">
              <a:spcAft>
                <a:spcPts val="400"/>
              </a:spcAft>
              <a:buNone/>
            </a:pPr>
            <a:r>
              <a:rPr lang="en-US" sz="1700" b="1" dirty="0">
                <a:solidFill>
                  <a:schemeClr val="accent1"/>
                </a:solidFill>
              </a:rPr>
              <a:t>Encendedor (datos típicos)</a:t>
            </a:r>
            <a:endParaRPr lang="en-US" sz="1700" dirty="0"/>
          </a:p>
          <a:p>
            <a:pPr marL="203200" indent="-203200">
              <a:spcAft>
                <a:spcPts val="600"/>
              </a:spcAft>
              <a:buSzPct val="100000"/>
              <a:buChar char="•"/>
            </a:pPr>
            <a:r>
              <a:rPr lang="en-US" sz="1600" dirty="0">
                <a:solidFill>
                  <a:schemeClr val="tx1"/>
                </a:solidFill>
              </a:rPr>
              <a:t>Resistencia en caliente ≈ 1 Ω a 12 V → I = 12 A; P = 144 W</a:t>
            </a:r>
            <a:endParaRPr lang="en-US" sz="1700" dirty="0"/>
          </a:p>
          <a:p>
            <a:pPr marL="203200" indent="-203200">
              <a:spcAft>
                <a:spcPts val="600"/>
              </a:spcAft>
              <a:buSzPct val="100000"/>
              <a:buChar char="•"/>
            </a:pPr>
            <a:r>
              <a:rPr lang="en-US" sz="1600" dirty="0">
                <a:solidFill>
                  <a:schemeClr val="tx1"/>
                </a:solidFill>
              </a:rPr>
              <a:t>Fusible de 15–20 A; enchufe para accesorios ≤ 120 W</a:t>
            </a:r>
            <a:endParaRPr lang="en-US" sz="1700" dirty="0"/>
          </a:p>
          <a:p>
            <a:pPr indent="0" marL="0">
              <a:spcAft>
                <a:spcPts val="400"/>
              </a:spcAft>
              <a:buNone/>
            </a:pPr>
            <a:r>
              <a:rPr lang="en-US" sz="1700" b="1" dirty="0">
                <a:solidFill>
                  <a:schemeClr val="accent1"/>
                </a:solidFill>
              </a:rPr>
              <a:t>Reloj y memorias</a:t>
            </a:r>
            <a:endParaRPr lang="en-US" sz="1700" dirty="0"/>
          </a:p>
          <a:p>
            <a:pPr marL="203200" indent="-203200">
              <a:spcAft>
                <a:spcPts val="600"/>
              </a:spcAft>
              <a:buSzPct val="100000"/>
              <a:buChar char="•"/>
            </a:pPr>
            <a:r>
              <a:rPr lang="en-US" sz="1600" dirty="0">
                <a:solidFill>
                  <a:schemeClr val="tx1"/>
                </a:solidFill>
              </a:rPr>
              <a:t>Consumo en reposo ≈ 1–5 mA (+30). Si la hora se borra al quitar el contacto: falta el +30 o el fusible de memorias.</a:t>
            </a:r>
            <a:endParaRPr lang="en-US" sz="1700" dirty="0"/>
          </a:p>
        </p:txBody>
      </p:sp>
      <p:sp>
        <p:nvSpPr>
          <p:cNvPr id="7" name="Tarjeta Alimentación"/>
          <p:cNvSpPr/>
          <p:nvPr/>
        </p:nvSpPr>
        <p:spPr>
          <a:xfrm>
            <a:off x="6766560" y="1280160"/>
            <a:ext cx="4937760" cy="2286000"/>
          </a:xfrm>
          <a:prstGeom prst="roundRect">
            <a:avLst>
              <a:gd name="adj" fmla="val 3200"/>
            </a:avLst>
          </a:prstGeom>
          <a:solidFill>
            <a:srgbClr val="E4F1F1"/>
          </a:solidFill>
          <a:ln w="12700">
            <a:solidFill>
              <a:srgbClr val="E4F1F1"/>
            </a:solidFill>
            <a:prstDash val="solid"/>
          </a:ln>
        </p:spPr>
      </p:sp>
      <p:sp>
        <p:nvSpPr>
          <p:cNvPr id="8" name="Text 5"/>
          <p:cNvSpPr txBox="1"/>
          <p:nvPr/>
        </p:nvSpPr>
        <p:spPr>
          <a:xfrm>
            <a:off x="6931152" y="1389888"/>
            <a:ext cx="4608576" cy="411480"/>
          </a:xfrm>
          <a:prstGeom prst="rect">
            <a:avLst/>
          </a:prstGeom>
          <a:noFill/>
          <a:ln/>
        </p:spPr>
        <p:txBody>
          <a:bodyPr wrap="square" lIns="0" tIns="0" rIns="0" bIns="0" rtlCol="0" anchor="t"/>
          <a:lstStyle/>
          <a:p>
            <a:pPr indent="0" marL="0">
              <a:buNone/>
            </a:pPr>
            <a:r>
              <a:rPr lang="en-US" sz="1700" b="1" dirty="0">
                <a:solidFill>
                  <a:schemeClr val="accent1"/>
                </a:solidFill>
              </a:rPr>
              <a:t>Alimentación</a:t>
            </a:r>
            <a:endParaRPr lang="en-US" sz="1700" dirty="0"/>
          </a:p>
        </p:txBody>
      </p:sp>
      <p:sp>
        <p:nvSpPr>
          <p:cNvPr id="9" name="Text 6"/>
          <p:cNvSpPr txBox="1"/>
          <p:nvPr/>
        </p:nvSpPr>
        <p:spPr>
          <a:xfrm>
            <a:off x="6931152" y="1828800"/>
            <a:ext cx="4608576" cy="1645920"/>
          </a:xfrm>
          <a:prstGeom prst="rect">
            <a:avLst/>
          </a:prstGeom>
          <a:noFill/>
          <a:ln/>
        </p:spPr>
        <p:txBody>
          <a:bodyPr wrap="square" lIns="0" tIns="0" rIns="0" bIns="0" rtlCol="0" anchor="t"/>
          <a:lstStyle/>
          <a:p>
            <a:pPr marL="203200" indent="-203200">
              <a:spcAft>
                <a:spcPts val="600"/>
              </a:spcAft>
              <a:buSzPct val="100000"/>
              <a:buChar char="•"/>
            </a:pPr>
            <a:r>
              <a:rPr lang="en-US" sz="1500" b="1" dirty="0">
                <a:solidFill>
                  <a:schemeClr val="tx1"/>
                </a:solidFill>
              </a:rPr>
              <a:t>Encendedor: </a:t>
            </a:r>
            <a:pPr indent="0" marL="0">
              <a:buNone/>
            </a:pPr>
            <a:r>
              <a:rPr lang="en-US" sz="1500" dirty="0">
                <a:solidFill>
                  <a:schemeClr val="tx1"/>
                </a:solidFill>
              </a:rPr>
              <a:t>+15 o +75 (corte durante el arranque) por fusible.</a:t>
            </a:r>
            <a:endParaRPr lang="en-US" sz="1500" dirty="0"/>
          </a:p>
          <a:p>
            <a:pPr marL="203200" indent="-203200">
              <a:spcAft>
                <a:spcPts val="600"/>
              </a:spcAft>
              <a:buSzPct val="100000"/>
              <a:buChar char="•"/>
            </a:pPr>
            <a:r>
              <a:rPr lang="en-US" sz="1500" b="1" dirty="0">
                <a:solidFill>
                  <a:schemeClr val="tx1"/>
                </a:solidFill>
              </a:rPr>
              <a:t>Reloj: </a:t>
            </a:r>
            <a:pPr indent="0" marL="0">
              <a:buNone/>
            </a:pPr>
            <a:r>
              <a:rPr lang="en-US" sz="1500" dirty="0">
                <a:solidFill>
                  <a:schemeClr val="tx1"/>
                </a:solidFill>
              </a:rPr>
              <a:t>+30 (memoria), +58 (iluminación).</a:t>
            </a:r>
            <a:endParaRPr lang="en-US" sz="1500" dirty="0"/>
          </a:p>
        </p:txBody>
      </p:sp>
      <p:sp>
        <p:nvSpPr>
          <p:cNvPr id="10" name="Tarjeta Comprobación"/>
          <p:cNvSpPr/>
          <p:nvPr/>
        </p:nvSpPr>
        <p:spPr>
          <a:xfrm>
            <a:off x="6766560" y="3749040"/>
            <a:ext cx="4937760" cy="2377440"/>
          </a:xfrm>
          <a:prstGeom prst="roundRect">
            <a:avLst>
              <a:gd name="adj" fmla="val 3077"/>
            </a:avLst>
          </a:prstGeom>
          <a:solidFill>
            <a:srgbClr val="FDF1D8"/>
          </a:solidFill>
          <a:ln w="12700">
            <a:solidFill>
              <a:srgbClr val="FDF1D8"/>
            </a:solidFill>
            <a:prstDash val="solid"/>
          </a:ln>
        </p:spPr>
      </p:sp>
      <p:sp>
        <p:nvSpPr>
          <p:cNvPr id="11" name="Text 8"/>
          <p:cNvSpPr txBox="1"/>
          <p:nvPr/>
        </p:nvSpPr>
        <p:spPr>
          <a:xfrm>
            <a:off x="6931152" y="3858768"/>
            <a:ext cx="4608576" cy="411480"/>
          </a:xfrm>
          <a:prstGeom prst="rect">
            <a:avLst/>
          </a:prstGeom>
          <a:noFill/>
          <a:ln/>
        </p:spPr>
        <p:txBody>
          <a:bodyPr wrap="square" lIns="0" tIns="0" rIns="0" bIns="0" rtlCol="0" anchor="t"/>
          <a:lstStyle/>
          <a:p>
            <a:pPr indent="0" marL="0">
              <a:buNone/>
            </a:pPr>
            <a:r>
              <a:rPr lang="en-US" sz="1700" b="1" dirty="0">
                <a:solidFill>
                  <a:schemeClr val="tx1"/>
                </a:solidFill>
              </a:rPr>
              <a:t>Comprobación</a:t>
            </a:r>
            <a:endParaRPr lang="en-US" sz="1700" dirty="0"/>
          </a:p>
        </p:txBody>
      </p:sp>
      <p:sp>
        <p:nvSpPr>
          <p:cNvPr id="12" name="Text 9"/>
          <p:cNvSpPr txBox="1"/>
          <p:nvPr/>
        </p:nvSpPr>
        <p:spPr>
          <a:xfrm>
            <a:off x="6931152" y="4297680"/>
            <a:ext cx="4608576" cy="17373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12 V entre el contacto central y la masa del casquillo de la toma.</a:t>
            </a:r>
            <a:endParaRPr lang="en-US" sz="1500" dirty="0"/>
          </a:p>
          <a:p>
            <a:pPr marL="203200" indent="-203200">
              <a:spcAft>
                <a:spcPts val="600"/>
              </a:spcAft>
              <a:buSzPct val="100000"/>
              <a:buChar char="•"/>
            </a:pPr>
            <a:r>
              <a:rPr lang="en-US" sz="1500" dirty="0">
                <a:solidFill>
                  <a:schemeClr val="tx1"/>
                </a:solidFill>
              </a:rPr>
              <a:t>Resistencia del encendedor en frío (≈ 0,8–1,2 Ω).</a:t>
            </a:r>
            <a:endParaRPr lang="en-US" sz="1500" dirty="0"/>
          </a:p>
          <a:p>
            <a:pPr marL="203200" indent="-203200">
              <a:spcAft>
                <a:spcPts val="600"/>
              </a:spcAft>
              <a:buSzPct val="100000"/>
              <a:buChar char="•"/>
            </a:pPr>
            <a:r>
              <a:rPr lang="en-US" sz="1500" dirty="0">
                <a:solidFill>
                  <a:schemeClr val="tx1"/>
                </a:solidFill>
              </a:rPr>
              <a:t>Revisar el fusible si se quemó por un accesorio de mucho consumo.</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4.16.6 Alarma del cinturón de seguridad</a:t>
            </a:r>
            <a:endParaRPr lang="en-US" sz="2800" dirty="0"/>
          </a:p>
        </p:txBody>
      </p:sp>
      <p:pic>
        <p:nvPicPr>
          <p:cNvPr id="4" name="Figura ll_esq830.jpg" descr="ll_esq830.jpg">    </p:cNvPr>
          <p:cNvPicPr>
            <a:picLocks noChangeAspect="1"/>
          </p:cNvPicPr>
          <p:nvPr/>
        </p:nvPicPr>
        <p:blipFill>
          <a:blip r:embed="rId1"/>
          <a:stretch>
            <a:fillRect/>
          </a:stretch>
        </p:blipFill>
        <p:spPr>
          <a:xfrm>
            <a:off x="502920" y="1425408"/>
            <a:ext cx="6766560" cy="1904064"/>
          </a:xfrm>
          <a:prstGeom prst="rect">
            <a:avLst/>
          </a:prstGeom>
        </p:spPr>
      </p:pic>
      <p:sp>
        <p:nvSpPr>
          <p:cNvPr id="5" name="Text 1"/>
          <p:cNvSpPr txBox="1"/>
          <p:nvPr/>
        </p:nvSpPr>
        <p:spPr>
          <a:xfrm>
            <a:off x="502920" y="3384336"/>
            <a:ext cx="67665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6" name="Figura ll_cinturon.jpg" descr="ll_cinturon.jpg">    </p:cNvPr>
          <p:cNvPicPr>
            <a:picLocks noChangeAspect="1"/>
          </p:cNvPicPr>
          <p:nvPr/>
        </p:nvPicPr>
        <p:blipFill>
          <a:blip r:embed="rId2"/>
          <a:stretch>
            <a:fillRect/>
          </a:stretch>
        </p:blipFill>
        <p:spPr>
          <a:xfrm>
            <a:off x="1160450" y="4114800"/>
            <a:ext cx="5451499" cy="914400"/>
          </a:xfrm>
          <a:prstGeom prst="rect">
            <a:avLst/>
          </a:prstGeom>
        </p:spPr>
      </p:pic>
      <p:sp>
        <p:nvSpPr>
          <p:cNvPr id="7" name="Text 2"/>
          <p:cNvSpPr txBox="1"/>
          <p:nvPr/>
        </p:nvSpPr>
        <p:spPr>
          <a:xfrm>
            <a:off x="548640" y="5084064"/>
            <a:ext cx="5451499"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sp>
        <p:nvSpPr>
          <p:cNvPr id="8" name="Text 3"/>
          <p:cNvSpPr txBox="1"/>
          <p:nvPr/>
        </p:nvSpPr>
        <p:spPr>
          <a:xfrm>
            <a:off x="7498080" y="1188720"/>
            <a:ext cx="4206240" cy="5029200"/>
          </a:xfrm>
          <a:prstGeom prst="rect">
            <a:avLst/>
          </a:prstGeom>
          <a:noFill/>
          <a:ln/>
        </p:spPr>
        <p:txBody>
          <a:bodyPr wrap="square" lIns="25400" tIns="25400" rIns="50800" bIns="25400" rtlCol="0" anchor="t"/>
          <a:lstStyle/>
          <a:p>
            <a:pPr marL="203200" indent="-203200">
              <a:spcAft>
                <a:spcPts val="600"/>
              </a:spcAft>
              <a:buSzPct val="100000"/>
              <a:buChar char="•"/>
            </a:pPr>
            <a:r>
              <a:rPr lang="en-US" sz="1400" b="1" dirty="0">
                <a:solidFill>
                  <a:schemeClr val="tx1"/>
                </a:solidFill>
              </a:rPr>
              <a:t>Entradas: </a:t>
            </a:r>
            <a:pPr indent="0" marL="0">
              <a:buNone/>
            </a:pPr>
            <a:r>
              <a:rPr lang="en-US" sz="1400" dirty="0">
                <a:solidFill>
                  <a:schemeClr val="tx1"/>
                </a:solidFill>
              </a:rPr>
              <a:t>hebillas (interruptores), ocupación del asiento, velocidad, contacto.</a:t>
            </a:r>
            <a:endParaRPr lang="en-US" sz="1400" dirty="0"/>
          </a:p>
          <a:p>
            <a:pPr marL="203200" indent="-203200">
              <a:spcAft>
                <a:spcPts val="600"/>
              </a:spcAft>
              <a:buSzPct val="100000"/>
              <a:buChar char="•"/>
            </a:pPr>
            <a:r>
              <a:rPr lang="en-US" sz="1400" b="1" dirty="0">
                <a:solidFill>
                  <a:schemeClr val="tx1"/>
                </a:solidFill>
              </a:rPr>
              <a:t>Salidas: </a:t>
            </a:r>
            <a:pPr indent="0" marL="0">
              <a:buNone/>
            </a:pPr>
            <a:r>
              <a:rPr lang="en-US" sz="1400" dirty="0">
                <a:solidFill>
                  <a:schemeClr val="tx1"/>
                </a:solidFill>
              </a:rPr>
              <a:t>testigo rojo / verde por plaza y zumbador.</a:t>
            </a:r>
            <a:endParaRPr lang="en-US" sz="1400" dirty="0"/>
          </a:p>
          <a:p>
            <a:pPr marL="203200" indent="-203200">
              <a:spcAft>
                <a:spcPts val="600"/>
              </a:spcAft>
              <a:buSzPct val="100000"/>
              <a:buChar char="•"/>
            </a:pPr>
            <a:r>
              <a:rPr lang="en-US" sz="1400" b="1" dirty="0">
                <a:solidFill>
                  <a:schemeClr val="tx1"/>
                </a:solidFill>
              </a:rPr>
              <a:t>Lógica: </a:t>
            </a:r>
            <a:pPr indent="0" marL="0">
              <a:buNone/>
            </a:pPr>
            <a:r>
              <a:rPr lang="en-US" sz="1400" dirty="0">
                <a:solidFill>
                  <a:schemeClr val="tx1"/>
                </a:solidFill>
              </a:rPr>
              <a:t>contacto + asiento ocupado + hebilla abierta ⇒ aviso.</a:t>
            </a:r>
            <a:endParaRPr lang="en-US" sz="1400" dirty="0"/>
          </a:p>
          <a:p>
            <a:pPr marL="203200" indent="-203200">
              <a:spcAft>
                <a:spcPts val="600"/>
              </a:spcAft>
              <a:buSzPct val="100000"/>
              <a:buChar char="•"/>
            </a:pPr>
            <a:r>
              <a:rPr lang="en-US" sz="1400" b="1" dirty="0">
                <a:solidFill>
                  <a:schemeClr val="tx1"/>
                </a:solidFill>
              </a:rPr>
              <a:t>Diagnóstico: </a:t>
            </a:r>
            <a:pPr indent="0" marL="0">
              <a:buNone/>
            </a:pPr>
            <a:r>
              <a:rPr lang="en-US" sz="1400" dirty="0">
                <a:solidFill>
                  <a:schemeClr val="tx1"/>
                </a:solidFill>
              </a:rPr>
              <a:t>resistencia o continuidad de la hebilla; los conectores del asiento son amarillos (airbag): batería desconectada y esperar antes de manipularlos.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Complemento: avisador acústico (bocina)</a:t>
            </a:r>
            <a:endParaRPr lang="en-US" sz="2800" dirty="0"/>
          </a:p>
        </p:txBody>
      </p:sp>
      <p:pic>
        <p:nvPicPr>
          <p:cNvPr id="4" name="Figura ll_bocina_corte.jpg" descr="ll_bocina_corte.jpg">    </p:cNvPr>
          <p:cNvPicPr>
            <a:picLocks noChangeAspect="1"/>
          </p:cNvPicPr>
          <p:nvPr/>
        </p:nvPicPr>
        <p:blipFill>
          <a:blip r:embed="rId1"/>
          <a:stretch>
            <a:fillRect/>
          </a:stretch>
        </p:blipFill>
        <p:spPr>
          <a:xfrm>
            <a:off x="710778" y="1234440"/>
            <a:ext cx="4522045" cy="2743200"/>
          </a:xfrm>
          <a:prstGeom prst="rect">
            <a:avLst/>
          </a:prstGeom>
        </p:spPr>
      </p:pic>
      <p:sp>
        <p:nvSpPr>
          <p:cNvPr id="5" name="Text 1"/>
          <p:cNvSpPr txBox="1"/>
          <p:nvPr/>
        </p:nvSpPr>
        <p:spPr>
          <a:xfrm>
            <a:off x="548640" y="4032504"/>
            <a:ext cx="4522045"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6" name="Figura ll_esq717.jpg" descr="ll_esq717.jpg">    </p:cNvPr>
          <p:cNvPicPr>
            <a:picLocks noChangeAspect="1"/>
          </p:cNvPicPr>
          <p:nvPr/>
        </p:nvPicPr>
        <p:blipFill>
          <a:blip r:embed="rId2"/>
          <a:stretch>
            <a:fillRect/>
          </a:stretch>
        </p:blipFill>
        <p:spPr>
          <a:xfrm>
            <a:off x="5771580" y="1234440"/>
            <a:ext cx="1807080" cy="2926080"/>
          </a:xfrm>
          <a:prstGeom prst="rect">
            <a:avLst/>
          </a:prstGeom>
        </p:spPr>
      </p:pic>
      <p:sp>
        <p:nvSpPr>
          <p:cNvPr id="7" name="Text 2"/>
          <p:cNvSpPr txBox="1"/>
          <p:nvPr/>
        </p:nvSpPr>
        <p:spPr>
          <a:xfrm>
            <a:off x="5715000" y="4215384"/>
            <a:ext cx="201168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pic>
        <p:nvPicPr>
          <p:cNvPr id="8" name="Figura ll_bocinas.jpg" descr="ll_bocinas.jpg">    </p:cNvPr>
          <p:cNvPicPr>
            <a:picLocks noChangeAspect="1"/>
          </p:cNvPicPr>
          <p:nvPr/>
        </p:nvPicPr>
        <p:blipFill>
          <a:blip r:embed="rId3"/>
          <a:stretch>
            <a:fillRect/>
          </a:stretch>
        </p:blipFill>
        <p:spPr>
          <a:xfrm>
            <a:off x="8005699" y="1234440"/>
            <a:ext cx="3602482" cy="1188720"/>
          </a:xfrm>
          <a:prstGeom prst="rect">
            <a:avLst/>
          </a:prstGeom>
        </p:spPr>
      </p:pic>
      <p:sp>
        <p:nvSpPr>
          <p:cNvPr id="9" name="Text 3"/>
          <p:cNvSpPr txBox="1"/>
          <p:nvPr/>
        </p:nvSpPr>
        <p:spPr>
          <a:xfrm>
            <a:off x="7955280" y="2478024"/>
            <a:ext cx="379476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Llanos López (2022).</a:t>
            </a:r>
            <a:endParaRPr lang="en-US" sz="1000" dirty="0"/>
          </a:p>
        </p:txBody>
      </p:sp>
      <p:sp>
        <p:nvSpPr>
          <p:cNvPr id="10" name="Text 4"/>
          <p:cNvSpPr txBox="1"/>
          <p:nvPr/>
        </p:nvSpPr>
        <p:spPr>
          <a:xfrm>
            <a:off x="502920" y="4572000"/>
            <a:ext cx="11201400" cy="1645920"/>
          </a:xfrm>
          <a:prstGeom prst="rect">
            <a:avLst/>
          </a:prstGeom>
          <a:noFill/>
          <a:ln/>
        </p:spPr>
        <p:txBody>
          <a:bodyPr wrap="square" lIns="25400" tIns="25400" rIns="50800" bIns="25400" rtlCol="0" anchor="t"/>
          <a:lstStyle/>
          <a:p>
            <a:pPr marL="203200" indent="-203200">
              <a:spcAft>
                <a:spcPts val="600"/>
              </a:spcAft>
              <a:buSzPct val="100000"/>
              <a:buChar char="•"/>
            </a:pPr>
            <a:r>
              <a:rPr lang="en-US" sz="1400" dirty="0">
                <a:solidFill>
                  <a:schemeClr val="tx1"/>
                </a:solidFill>
              </a:rPr>
              <a:t>Tipos: electromagnética (turismos) y de aire comprimido (vehículos industriales).</a:t>
            </a:r>
            <a:endParaRPr lang="en-US" sz="1400" dirty="0"/>
          </a:p>
          <a:p>
            <a:pPr marL="203200" indent="-203200">
              <a:spcAft>
                <a:spcPts val="600"/>
              </a:spcAft>
              <a:buSzPct val="100000"/>
              <a:buChar char="•"/>
            </a:pPr>
            <a:r>
              <a:rPr lang="en-US" sz="1400" dirty="0">
                <a:solidFill>
                  <a:schemeClr val="tx1"/>
                </a:solidFill>
              </a:rPr>
              <a:t>Consumo ≈ 3–5 A por bocina; alimentación por relé desde +30.</a:t>
            </a:r>
            <a:endParaRPr lang="en-US" sz="1400" dirty="0"/>
          </a:p>
          <a:p>
            <a:pPr marL="203200" indent="-203200">
              <a:spcAft>
                <a:spcPts val="600"/>
              </a:spcAft>
              <a:buSzPct val="100000"/>
              <a:buChar char="•"/>
            </a:pPr>
            <a:r>
              <a:rPr lang="en-US" sz="1400" dirty="0">
                <a:solidFill>
                  <a:schemeClr val="tx1"/>
                </a:solidFill>
              </a:rPr>
              <a:t>Comprobación: alimentar directamente; si suena, revisar relé, pulsador y contactor giratorio (espiral) del volante.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1"/>
          <p:cNvSpPr/>
          <p:nvPr>
            <p:ph idx="102" type="body" hasCustomPrompt="1"/>
          </p:nvPr>
        </p:nvSpPr>
        <p:spPr>
          <a:xfrm>
            <a:off x="731520" y="1463040"/>
            <a:ext cx="4114800" cy="1463040"/>
          </a:xfrm>
          <a:prstGeom prst="rect">
            <a:avLst/>
          </a:prstGeom>
          <a:noFill/>
          <a:ln/>
        </p:spPr>
        <p:txBody>
          <a:bodyPr wrap="square" rtlCol="0" anchor="b"/>
          <a:lstStyle/>
          <a:p>
            <a:pPr algn="l" indent="0" marL="0">
              <a:buNone/>
            </a:pPr>
            <a:r>
              <a:rPr lang="en-US" sz="8000" b="1" dirty="0">
                <a:solidFill>
                  <a:schemeClr val="accent2"/>
                </a:solidFill>
              </a:rPr>
              <a:t>4.17</a:t>
            </a:r>
            <a:endParaRPr lang="en-US" sz="8000" dirty="0"/>
          </a:p>
        </p:txBody>
      </p:sp>
      <p:sp>
        <p:nvSpPr>
          <p:cNvPr id="3" name="Text 1"/>
          <p:cNvSpPr/>
          <p:nvPr>
            <p:ph idx="103" type="title" hasCustomPrompt="1"/>
          </p:nvPr>
        </p:nvSpPr>
        <p:spPr>
          <a:xfrm>
            <a:off x="731520" y="2971800"/>
            <a:ext cx="10515600" cy="1371600"/>
          </a:xfrm>
          <a:prstGeom prst="rect">
            <a:avLst/>
          </a:prstGeom>
          <a:noFill/>
          <a:ln/>
        </p:spPr>
        <p:txBody>
          <a:bodyPr wrap="square" rtlCol="0" anchor="t"/>
          <a:lstStyle/>
          <a:p>
            <a:pPr algn="l" indent="0" marL="0">
              <a:buNone/>
            </a:pPr>
            <a:r>
              <a:rPr lang="en-US" sz="4000" b="1" dirty="0">
                <a:solidFill>
                  <a:schemeClr val="bg1"/>
                </a:solidFill>
              </a:rPr>
              <a:t>Sistema de alarma de seguridad</a:t>
            </a:r>
            <a:endParaRPr lang="en-US" sz="4000" dirty="0"/>
          </a:p>
        </p:txBody>
      </p:sp>
      <p:sp>
        <p:nvSpPr>
          <p:cNvPr id="4" name="Text 1"/>
          <p:cNvSpPr/>
          <p:nvPr>
            <p:ph idx="104" type="body" hasCustomPrompt="1"/>
          </p:nvPr>
        </p:nvSpPr>
        <p:spPr>
          <a:xfrm>
            <a:off x="731520" y="4434840"/>
            <a:ext cx="10058400" cy="1463040"/>
          </a:xfrm>
          <a:prstGeom prst="rect">
            <a:avLst/>
          </a:prstGeom>
          <a:noFill/>
          <a:ln/>
        </p:spPr>
        <p:txBody>
          <a:bodyPr wrap="square" rtlCol="0" anchor="t"/>
          <a:lstStyle/>
          <a:p>
            <a:pPr algn="l" indent="0" marL="0">
              <a:buNone/>
            </a:pPr>
            <a:r>
              <a:rPr lang="en-US" sz="1800" dirty="0">
                <a:solidFill>
                  <a:schemeClr val="bg2"/>
                </a:solidFill>
              </a:rPr>
              <a:t>Funciones, componentes, instalación y diagnóstico</a:t>
            </a:r>
            <a:endParaRPr lang="en-US" sz="18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Alarma antirrobo: funciones de protección</a:t>
            </a:r>
            <a:endParaRPr lang="en-US" sz="2800" dirty="0"/>
          </a:p>
        </p:txBody>
      </p:sp>
      <p:sp>
        <p:nvSpPr>
          <p:cNvPr id="4" name="Tarjeta Perimétrica"/>
          <p:cNvSpPr/>
          <p:nvPr/>
        </p:nvSpPr>
        <p:spPr>
          <a:xfrm>
            <a:off x="502920" y="1280160"/>
            <a:ext cx="3611880" cy="2286000"/>
          </a:xfrm>
          <a:prstGeom prst="roundRect">
            <a:avLst>
              <a:gd name="adj" fmla="val 3200"/>
            </a:avLst>
          </a:prstGeom>
          <a:solidFill>
            <a:srgbClr val="E4F1F1"/>
          </a:solidFill>
          <a:ln w="12700">
            <a:solidFill>
              <a:srgbClr val="E4F1F1"/>
            </a:solidFill>
            <a:prstDash val="solid"/>
          </a:ln>
        </p:spPr>
      </p:sp>
      <p:sp>
        <p:nvSpPr>
          <p:cNvPr id="5" name="Text 2"/>
          <p:cNvSpPr txBox="1"/>
          <p:nvPr/>
        </p:nvSpPr>
        <p:spPr>
          <a:xfrm>
            <a:off x="667512" y="1389888"/>
            <a:ext cx="3282696" cy="411480"/>
          </a:xfrm>
          <a:prstGeom prst="rect">
            <a:avLst/>
          </a:prstGeom>
          <a:noFill/>
          <a:ln/>
        </p:spPr>
        <p:txBody>
          <a:bodyPr wrap="square" lIns="0" tIns="0" rIns="0" bIns="0" rtlCol="0" anchor="t"/>
          <a:lstStyle/>
          <a:p>
            <a:pPr indent="0" marL="0">
              <a:buNone/>
            </a:pPr>
            <a:r>
              <a:rPr lang="en-US" sz="1600" b="1" dirty="0">
                <a:solidFill>
                  <a:schemeClr val="accent1"/>
                </a:solidFill>
              </a:rPr>
              <a:t>Perimétrica</a:t>
            </a:r>
            <a:endParaRPr lang="en-US" sz="1600" dirty="0"/>
          </a:p>
        </p:txBody>
      </p:sp>
      <p:sp>
        <p:nvSpPr>
          <p:cNvPr id="6" name="Text 3"/>
          <p:cNvSpPr txBox="1"/>
          <p:nvPr/>
        </p:nvSpPr>
        <p:spPr>
          <a:xfrm>
            <a:off x="667512" y="1828800"/>
            <a:ext cx="3282696" cy="164592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Pulsadores de puertas, capó y maletero. Cualquier apertura dispara la alarma.</a:t>
            </a:r>
            <a:endParaRPr lang="en-US" sz="1400" dirty="0"/>
          </a:p>
        </p:txBody>
      </p:sp>
      <p:sp>
        <p:nvSpPr>
          <p:cNvPr id="7" name="Tarjeta Volumétrica"/>
          <p:cNvSpPr/>
          <p:nvPr/>
        </p:nvSpPr>
        <p:spPr>
          <a:xfrm>
            <a:off x="4297680" y="1280160"/>
            <a:ext cx="3611880" cy="2286000"/>
          </a:xfrm>
          <a:prstGeom prst="roundRect">
            <a:avLst>
              <a:gd name="adj" fmla="val 3200"/>
            </a:avLst>
          </a:prstGeom>
          <a:solidFill>
            <a:srgbClr val="FDF1D8"/>
          </a:solidFill>
          <a:ln w="12700">
            <a:solidFill>
              <a:srgbClr val="FDF1D8"/>
            </a:solidFill>
            <a:prstDash val="solid"/>
          </a:ln>
        </p:spPr>
      </p:sp>
      <p:sp>
        <p:nvSpPr>
          <p:cNvPr id="8" name="Text 5"/>
          <p:cNvSpPr txBox="1"/>
          <p:nvPr/>
        </p:nvSpPr>
        <p:spPr>
          <a:xfrm>
            <a:off x="4462272" y="1389888"/>
            <a:ext cx="3282696" cy="411480"/>
          </a:xfrm>
          <a:prstGeom prst="rect">
            <a:avLst/>
          </a:prstGeom>
          <a:noFill/>
          <a:ln/>
        </p:spPr>
        <p:txBody>
          <a:bodyPr wrap="square" lIns="0" tIns="0" rIns="0" bIns="0" rtlCol="0" anchor="t"/>
          <a:lstStyle/>
          <a:p>
            <a:pPr indent="0" marL="0">
              <a:buNone/>
            </a:pPr>
            <a:r>
              <a:rPr lang="en-US" sz="1600" b="1" dirty="0">
                <a:solidFill>
                  <a:schemeClr val="tx1"/>
                </a:solidFill>
              </a:rPr>
              <a:t>Volumétrica</a:t>
            </a:r>
            <a:endParaRPr lang="en-US" sz="1600" dirty="0"/>
          </a:p>
        </p:txBody>
      </p:sp>
      <p:sp>
        <p:nvSpPr>
          <p:cNvPr id="9" name="Text 6"/>
          <p:cNvSpPr txBox="1"/>
          <p:nvPr/>
        </p:nvSpPr>
        <p:spPr>
          <a:xfrm>
            <a:off x="4462272" y="1828800"/>
            <a:ext cx="3282696" cy="164592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Sensores de ultrasonidos (≈ 40 kHz) o microondas; detectan movimiento en el habitáculo.</a:t>
            </a:r>
            <a:endParaRPr lang="en-US" sz="1400" dirty="0"/>
          </a:p>
        </p:txBody>
      </p:sp>
      <p:sp>
        <p:nvSpPr>
          <p:cNvPr id="10" name="Tarjeta Anti-inclinación"/>
          <p:cNvSpPr/>
          <p:nvPr/>
        </p:nvSpPr>
        <p:spPr>
          <a:xfrm>
            <a:off x="8092440" y="1280160"/>
            <a:ext cx="3611880" cy="2286000"/>
          </a:xfrm>
          <a:prstGeom prst="roundRect">
            <a:avLst>
              <a:gd name="adj" fmla="val 3200"/>
            </a:avLst>
          </a:prstGeom>
          <a:solidFill>
            <a:srgbClr val="E4F1F1"/>
          </a:solidFill>
          <a:ln w="12700">
            <a:solidFill>
              <a:srgbClr val="E4F1F1"/>
            </a:solidFill>
            <a:prstDash val="solid"/>
          </a:ln>
        </p:spPr>
      </p:sp>
      <p:sp>
        <p:nvSpPr>
          <p:cNvPr id="11" name="Text 8"/>
          <p:cNvSpPr txBox="1"/>
          <p:nvPr/>
        </p:nvSpPr>
        <p:spPr>
          <a:xfrm>
            <a:off x="8257032" y="1389888"/>
            <a:ext cx="3282696" cy="411480"/>
          </a:xfrm>
          <a:prstGeom prst="rect">
            <a:avLst/>
          </a:prstGeom>
          <a:noFill/>
          <a:ln/>
        </p:spPr>
        <p:txBody>
          <a:bodyPr wrap="square" lIns="0" tIns="0" rIns="0" bIns="0" rtlCol="0" anchor="t"/>
          <a:lstStyle/>
          <a:p>
            <a:pPr indent="0" marL="0">
              <a:buNone/>
            </a:pPr>
            <a:r>
              <a:rPr lang="en-US" sz="1600" b="1" dirty="0">
                <a:solidFill>
                  <a:schemeClr val="accent1"/>
                </a:solidFill>
              </a:rPr>
              <a:t>Anti-inclinación</a:t>
            </a:r>
            <a:endParaRPr lang="en-US" sz="1600" dirty="0"/>
          </a:p>
        </p:txBody>
      </p:sp>
      <p:sp>
        <p:nvSpPr>
          <p:cNvPr id="12" name="Text 9"/>
          <p:cNvSpPr txBox="1"/>
          <p:nvPr/>
        </p:nvSpPr>
        <p:spPr>
          <a:xfrm>
            <a:off x="8257032" y="1828800"/>
            <a:ext cx="3282696" cy="164592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Sensor de nivel: avisa si levantan el vehículo (robo de ruedas, grúa).</a:t>
            </a:r>
            <a:endParaRPr lang="en-US" sz="1400" dirty="0"/>
          </a:p>
        </p:txBody>
      </p:sp>
      <p:sp>
        <p:nvSpPr>
          <p:cNvPr id="13" name="Tarjeta Anti-arranque"/>
          <p:cNvSpPr/>
          <p:nvPr/>
        </p:nvSpPr>
        <p:spPr>
          <a:xfrm>
            <a:off x="502920" y="3749040"/>
            <a:ext cx="3611880" cy="2286000"/>
          </a:xfrm>
          <a:prstGeom prst="roundRect">
            <a:avLst>
              <a:gd name="adj" fmla="val 3200"/>
            </a:avLst>
          </a:prstGeom>
          <a:solidFill>
            <a:srgbClr val="FDF1D8"/>
          </a:solidFill>
          <a:ln w="12700">
            <a:solidFill>
              <a:srgbClr val="FDF1D8"/>
            </a:solidFill>
            <a:prstDash val="solid"/>
          </a:ln>
        </p:spPr>
      </p:sp>
      <p:sp>
        <p:nvSpPr>
          <p:cNvPr id="14" name="Text 11"/>
          <p:cNvSpPr txBox="1"/>
          <p:nvPr/>
        </p:nvSpPr>
        <p:spPr>
          <a:xfrm>
            <a:off x="667512" y="3858768"/>
            <a:ext cx="3282696" cy="411480"/>
          </a:xfrm>
          <a:prstGeom prst="rect">
            <a:avLst/>
          </a:prstGeom>
          <a:noFill/>
          <a:ln/>
        </p:spPr>
        <p:txBody>
          <a:bodyPr wrap="square" lIns="0" tIns="0" rIns="0" bIns="0" rtlCol="0" anchor="t"/>
          <a:lstStyle/>
          <a:p>
            <a:pPr indent="0" marL="0">
              <a:buNone/>
            </a:pPr>
            <a:r>
              <a:rPr lang="en-US" sz="1600" b="1" dirty="0">
                <a:solidFill>
                  <a:schemeClr val="tx1"/>
                </a:solidFill>
              </a:rPr>
              <a:t>Anti-arranque</a:t>
            </a:r>
            <a:endParaRPr lang="en-US" sz="1600" dirty="0"/>
          </a:p>
        </p:txBody>
      </p:sp>
      <p:sp>
        <p:nvSpPr>
          <p:cNvPr id="15" name="Text 12"/>
          <p:cNvSpPr txBox="1"/>
          <p:nvPr/>
        </p:nvSpPr>
        <p:spPr>
          <a:xfrm>
            <a:off x="667512" y="4297680"/>
            <a:ext cx="3282696" cy="164592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Corta el encendido, la bomba o la inyección mientras la alarma está conectada.</a:t>
            </a:r>
            <a:endParaRPr lang="en-US" sz="1400" dirty="0"/>
          </a:p>
        </p:txBody>
      </p:sp>
      <p:sp>
        <p:nvSpPr>
          <p:cNvPr id="16" name="Tarjeta Anti-pánico"/>
          <p:cNvSpPr/>
          <p:nvPr/>
        </p:nvSpPr>
        <p:spPr>
          <a:xfrm>
            <a:off x="4297680" y="3749040"/>
            <a:ext cx="3611880" cy="2286000"/>
          </a:xfrm>
          <a:prstGeom prst="roundRect">
            <a:avLst>
              <a:gd name="adj" fmla="val 3200"/>
            </a:avLst>
          </a:prstGeom>
          <a:solidFill>
            <a:srgbClr val="E4F1F1"/>
          </a:solidFill>
          <a:ln w="12700">
            <a:solidFill>
              <a:srgbClr val="E4F1F1"/>
            </a:solidFill>
            <a:prstDash val="solid"/>
          </a:ln>
        </p:spPr>
      </p:sp>
      <p:sp>
        <p:nvSpPr>
          <p:cNvPr id="17" name="Text 14"/>
          <p:cNvSpPr txBox="1"/>
          <p:nvPr/>
        </p:nvSpPr>
        <p:spPr>
          <a:xfrm>
            <a:off x="4462272" y="3858768"/>
            <a:ext cx="3282696" cy="411480"/>
          </a:xfrm>
          <a:prstGeom prst="rect">
            <a:avLst/>
          </a:prstGeom>
          <a:noFill/>
          <a:ln/>
        </p:spPr>
        <p:txBody>
          <a:bodyPr wrap="square" lIns="0" tIns="0" rIns="0" bIns="0" rtlCol="0" anchor="t"/>
          <a:lstStyle/>
          <a:p>
            <a:pPr indent="0" marL="0">
              <a:buNone/>
            </a:pPr>
            <a:r>
              <a:rPr lang="en-US" sz="1600" b="1" dirty="0">
                <a:solidFill>
                  <a:schemeClr val="accent1"/>
                </a:solidFill>
              </a:rPr>
              <a:t>Anti-pánico</a:t>
            </a:r>
            <a:endParaRPr lang="en-US" sz="1600" dirty="0"/>
          </a:p>
        </p:txBody>
      </p:sp>
      <p:sp>
        <p:nvSpPr>
          <p:cNvPr id="18" name="Text 15"/>
          <p:cNvSpPr txBox="1"/>
          <p:nvPr/>
        </p:nvSpPr>
        <p:spPr>
          <a:xfrm>
            <a:off x="4462272" y="4297680"/>
            <a:ext cx="3282696" cy="164592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El propietario dispara la sirena a distancia ante un peligro.</a:t>
            </a:r>
            <a:endParaRPr lang="en-US" sz="1400" dirty="0"/>
          </a:p>
        </p:txBody>
      </p:sp>
      <p:sp>
        <p:nvSpPr>
          <p:cNvPr id="19" name="Tarjeta Anti-impacto"/>
          <p:cNvSpPr/>
          <p:nvPr/>
        </p:nvSpPr>
        <p:spPr>
          <a:xfrm>
            <a:off x="8092440" y="3749040"/>
            <a:ext cx="3611880" cy="2286000"/>
          </a:xfrm>
          <a:prstGeom prst="roundRect">
            <a:avLst>
              <a:gd name="adj" fmla="val 3200"/>
            </a:avLst>
          </a:prstGeom>
          <a:solidFill>
            <a:srgbClr val="FDF1D8"/>
          </a:solidFill>
          <a:ln w="12700">
            <a:solidFill>
              <a:srgbClr val="FDF1D8"/>
            </a:solidFill>
            <a:prstDash val="solid"/>
          </a:ln>
        </p:spPr>
      </p:sp>
      <p:sp>
        <p:nvSpPr>
          <p:cNvPr id="20" name="Text 17"/>
          <p:cNvSpPr txBox="1"/>
          <p:nvPr/>
        </p:nvSpPr>
        <p:spPr>
          <a:xfrm>
            <a:off x="8257032" y="3858768"/>
            <a:ext cx="3282696" cy="411480"/>
          </a:xfrm>
          <a:prstGeom prst="rect">
            <a:avLst/>
          </a:prstGeom>
          <a:noFill/>
          <a:ln/>
        </p:spPr>
        <p:txBody>
          <a:bodyPr wrap="square" lIns="0" tIns="0" rIns="0" bIns="0" rtlCol="0" anchor="t"/>
          <a:lstStyle/>
          <a:p>
            <a:pPr indent="0" marL="0">
              <a:buNone/>
            </a:pPr>
            <a:r>
              <a:rPr lang="en-US" sz="1600" b="1" dirty="0">
                <a:solidFill>
                  <a:schemeClr val="tx1"/>
                </a:solidFill>
              </a:rPr>
              <a:t>Anti-impacto</a:t>
            </a:r>
            <a:endParaRPr lang="en-US" sz="1600" dirty="0"/>
          </a:p>
        </p:txBody>
      </p:sp>
      <p:sp>
        <p:nvSpPr>
          <p:cNvPr id="21" name="Text 18"/>
          <p:cNvSpPr txBox="1"/>
          <p:nvPr/>
        </p:nvSpPr>
        <p:spPr>
          <a:xfrm>
            <a:off x="8257032" y="4297680"/>
            <a:ext cx="3282696" cy="164592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Sensor de vibración (golpes en carrocería o rotura de cristales).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Componentes de un sistema de alarma</a:t>
            </a:r>
            <a:endParaRPr lang="en-US" sz="2800" dirty="0"/>
          </a:p>
        </p:txBody>
      </p:sp>
      <p:pic>
        <p:nvPicPr>
          <p:cNvPr id="4" name="Figura V_p203_3.png" descr="V_p203_3.png">    </p:cNvPr>
          <p:cNvPicPr>
            <a:picLocks noChangeAspect="1"/>
          </p:cNvPicPr>
          <p:nvPr/>
        </p:nvPicPr>
        <p:blipFill>
          <a:blip r:embed="rId1"/>
          <a:stretch>
            <a:fillRect/>
          </a:stretch>
        </p:blipFill>
        <p:spPr>
          <a:xfrm>
            <a:off x="629666" y="1234440"/>
            <a:ext cx="2489708" cy="2377440"/>
          </a:xfrm>
          <a:prstGeom prst="rect">
            <a:avLst/>
          </a:prstGeom>
        </p:spPr>
      </p:pic>
      <p:sp>
        <p:nvSpPr>
          <p:cNvPr id="5" name="Text 1"/>
          <p:cNvSpPr txBox="1"/>
          <p:nvPr/>
        </p:nvSpPr>
        <p:spPr>
          <a:xfrm>
            <a:off x="548640" y="3666744"/>
            <a:ext cx="27432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Vidal Pastor et al. (2011).</a:t>
            </a:r>
            <a:endParaRPr lang="en-US" sz="1000" dirty="0"/>
          </a:p>
        </p:txBody>
      </p:sp>
      <p:pic>
        <p:nvPicPr>
          <p:cNvPr id="6" name="Figura V_p204_2.png" descr="V_p204_2.png">    </p:cNvPr>
          <p:cNvPicPr>
            <a:picLocks noChangeAspect="1"/>
          </p:cNvPicPr>
          <p:nvPr/>
        </p:nvPicPr>
        <p:blipFill>
          <a:blip r:embed="rId2"/>
          <a:stretch>
            <a:fillRect/>
          </a:stretch>
        </p:blipFill>
        <p:spPr>
          <a:xfrm>
            <a:off x="3525689" y="1234440"/>
            <a:ext cx="2549822" cy="2377440"/>
          </a:xfrm>
          <a:prstGeom prst="rect">
            <a:avLst/>
          </a:prstGeom>
        </p:spPr>
      </p:pic>
      <p:sp>
        <p:nvSpPr>
          <p:cNvPr id="7" name="Text 2"/>
          <p:cNvSpPr txBox="1"/>
          <p:nvPr/>
        </p:nvSpPr>
        <p:spPr>
          <a:xfrm>
            <a:off x="3474720" y="3666744"/>
            <a:ext cx="274320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Vidal Pastor et al. (2011).</a:t>
            </a:r>
            <a:endParaRPr lang="en-US" sz="1000" dirty="0"/>
          </a:p>
        </p:txBody>
      </p:sp>
      <p:pic>
        <p:nvPicPr>
          <p:cNvPr id="8" name="Figura V_p205_3.png" descr="V_p205_3.png">    </p:cNvPr>
          <p:cNvPicPr>
            <a:picLocks noChangeAspect="1"/>
          </p:cNvPicPr>
          <p:nvPr/>
        </p:nvPicPr>
        <p:blipFill>
          <a:blip r:embed="rId3"/>
          <a:stretch>
            <a:fillRect/>
          </a:stretch>
        </p:blipFill>
        <p:spPr>
          <a:xfrm>
            <a:off x="6539525" y="1234440"/>
            <a:ext cx="2191430" cy="2377440"/>
          </a:xfrm>
          <a:prstGeom prst="rect">
            <a:avLst/>
          </a:prstGeom>
        </p:spPr>
      </p:pic>
      <p:sp>
        <p:nvSpPr>
          <p:cNvPr id="9" name="Text 3"/>
          <p:cNvSpPr txBox="1"/>
          <p:nvPr/>
        </p:nvSpPr>
        <p:spPr>
          <a:xfrm>
            <a:off x="6400800" y="3666744"/>
            <a:ext cx="256032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Vidal Pastor et al. (2011).</a:t>
            </a:r>
            <a:endParaRPr lang="en-US" sz="1000" dirty="0"/>
          </a:p>
        </p:txBody>
      </p:sp>
      <p:pic>
        <p:nvPicPr>
          <p:cNvPr id="10" name="Figura V_p203_2.png" descr="V_p203_2.png">    </p:cNvPr>
          <p:cNvPicPr>
            <a:picLocks noChangeAspect="1"/>
          </p:cNvPicPr>
          <p:nvPr/>
        </p:nvPicPr>
        <p:blipFill>
          <a:blip r:embed="rId4"/>
          <a:stretch>
            <a:fillRect/>
          </a:stretch>
        </p:blipFill>
        <p:spPr>
          <a:xfrm>
            <a:off x="9106076" y="1234440"/>
            <a:ext cx="2590448" cy="2377440"/>
          </a:xfrm>
          <a:prstGeom prst="rect">
            <a:avLst/>
          </a:prstGeom>
        </p:spPr>
      </p:pic>
      <p:sp>
        <p:nvSpPr>
          <p:cNvPr id="11" name="Text 4"/>
          <p:cNvSpPr txBox="1"/>
          <p:nvPr/>
        </p:nvSpPr>
        <p:spPr>
          <a:xfrm>
            <a:off x="9106076" y="3666744"/>
            <a:ext cx="2606040" cy="320040"/>
          </a:xfrm>
          <a:prstGeom prst="rect">
            <a:avLst/>
          </a:prstGeom>
          <a:noFill/>
          <a:ln/>
        </p:spPr>
        <p:txBody>
          <a:bodyPr wrap="square" lIns="0" tIns="0" rIns="0" bIns="0" rtlCol="0" anchor="t"/>
          <a:lstStyle/>
          <a:p>
            <a:pPr indent="0" marL="0">
              <a:buNone/>
            </a:pPr>
            <a:r>
              <a:rPr lang="en-US" sz="1000" i="1" dirty="0">
                <a:solidFill>
                  <a:schemeClr val="accent5"/>
                </a:solidFill>
              </a:rPr>
              <a:t>Nota. </a:t>
            </a:r>
            <a:pPr indent="0" marL="0">
              <a:buNone/>
            </a:pPr>
            <a:r>
              <a:rPr lang="en-US" sz="1000" dirty="0">
                <a:solidFill>
                  <a:schemeClr val="accent5"/>
                </a:solidFill>
              </a:rPr>
              <a:t>Tomado de Vidal Pastor et al. (2011).</a:t>
            </a:r>
            <a:endParaRPr lang="en-US" sz="1000" dirty="0"/>
          </a:p>
        </p:txBody>
      </p:sp>
      <p:sp>
        <p:nvSpPr>
          <p:cNvPr id="12" name="Text 5"/>
          <p:cNvSpPr txBox="1"/>
          <p:nvPr/>
        </p:nvSpPr>
        <p:spPr>
          <a:xfrm>
            <a:off x="502920" y="4343400"/>
            <a:ext cx="11201400" cy="1828800"/>
          </a:xfrm>
          <a:prstGeom prst="rect">
            <a:avLst/>
          </a:prstGeom>
          <a:noFill/>
          <a:ln/>
        </p:spPr>
        <p:txBody>
          <a:bodyPr wrap="square" lIns="25400" tIns="25400" rIns="50800" bIns="25400" rtlCol="0" anchor="t"/>
          <a:lstStyle/>
          <a:p>
            <a:pPr marL="203200" indent="-203200">
              <a:spcAft>
                <a:spcPts val="600"/>
              </a:spcAft>
              <a:buSzPct val="100000"/>
              <a:buChar char="•"/>
            </a:pPr>
            <a:r>
              <a:rPr lang="en-US" sz="1500" dirty="0">
                <a:solidFill>
                  <a:schemeClr val="tx1"/>
                </a:solidFill>
              </a:rPr>
              <a:t>Central de mando · mando a distancia · sirena (o claxon) · led disuasorio · sensores · relé de corte de arranque.</a:t>
            </a:r>
            <a:endParaRPr lang="en-US" sz="1500" dirty="0"/>
          </a:p>
          <a:p>
            <a:pPr marL="203200" indent="-203200">
              <a:spcAft>
                <a:spcPts val="600"/>
              </a:spcAft>
              <a:buSzPct val="100000"/>
              <a:buChar char="•"/>
            </a:pPr>
            <a:r>
              <a:rPr lang="en-US" sz="1500" dirty="0">
                <a:solidFill>
                  <a:schemeClr val="tx1"/>
                </a:solidFill>
              </a:rPr>
              <a:t>Instalación: alimentación con fusible propio, conexiones soldadas y aisladas, cables ocultos y siguiendo el código de colores del fabricante de la alarma.</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Ejemplo resuelto: alarma y consumo en reposo</a:t>
            </a:r>
            <a:endParaRPr lang="en-US" sz="2800" dirty="0"/>
          </a:p>
        </p:txBody>
      </p:sp>
      <p:sp>
        <p:nvSpPr>
          <p:cNvPr id="4" name="Shape 1"/>
          <p:cNvSpPr/>
          <p:nvPr/>
        </p:nvSpPr>
        <p:spPr>
          <a:xfrm>
            <a:off x="502920" y="1234440"/>
            <a:ext cx="2103120" cy="365760"/>
          </a:xfrm>
          <a:prstGeom prst="roundRect">
            <a:avLst>
              <a:gd name="adj" fmla="val 50000"/>
            </a:avLst>
          </a:prstGeom>
          <a:solidFill>
            <a:srgbClr val="F2A516"/>
          </a:solidFill>
          <a:ln w="12700">
            <a:solidFill>
              <a:srgbClr val="F2A516"/>
            </a:solidFill>
            <a:prstDash val="solid"/>
          </a:ln>
        </p:spPr>
      </p:sp>
      <p:sp>
        <p:nvSpPr>
          <p:cNvPr id="5" name="Text 2"/>
          <p:cNvSpPr txBox="1"/>
          <p:nvPr/>
        </p:nvSpPr>
        <p:spPr>
          <a:xfrm>
            <a:off x="502920" y="1234440"/>
            <a:ext cx="2103120" cy="365760"/>
          </a:xfrm>
          <a:prstGeom prst="rect">
            <a:avLst/>
          </a:prstGeom>
          <a:noFill/>
          <a:ln/>
        </p:spPr>
        <p:txBody>
          <a:bodyPr wrap="square" lIns="0" tIns="0" rIns="0" bIns="0" rtlCol="0" anchor="ctr"/>
          <a:lstStyle/>
          <a:p>
            <a:pPr algn="ctr" indent="0" marL="0">
              <a:buNone/>
            </a:pPr>
            <a:r>
              <a:rPr lang="en-US" sz="1300" b="1" dirty="0">
                <a:solidFill>
                  <a:srgbClr val="1B2A33"/>
                </a:solidFill>
              </a:rPr>
              <a:t>Ejemplo resuelto</a:t>
            </a:r>
            <a:endParaRPr lang="en-US" sz="1300" dirty="0"/>
          </a:p>
        </p:txBody>
      </p:sp>
      <p:sp>
        <p:nvSpPr>
          <p:cNvPr id="6" name="Text 3"/>
          <p:cNvSpPr txBox="1"/>
          <p:nvPr/>
        </p:nvSpPr>
        <p:spPr>
          <a:xfrm>
            <a:off x="502920" y="1737360"/>
            <a:ext cx="6766560" cy="4480560"/>
          </a:xfrm>
          <a:prstGeom prst="rect">
            <a:avLst/>
          </a:prstGeom>
          <a:noFill/>
          <a:ln/>
        </p:spPr>
        <p:txBody>
          <a:bodyPr wrap="square" lIns="25400" tIns="25400" rIns="50800" bIns="25400" rtlCol="0" anchor="t"/>
          <a:lstStyle/>
          <a:p>
            <a:pPr indent="0" marL="0">
              <a:spcAft>
                <a:spcPts val="400"/>
              </a:spcAft>
              <a:buNone/>
            </a:pPr>
            <a:r>
              <a:rPr lang="en-US" sz="1700" b="1" dirty="0">
                <a:solidFill>
                  <a:schemeClr val="accent1"/>
                </a:solidFill>
              </a:rPr>
              <a:t>Datos</a:t>
            </a:r>
            <a:endParaRPr lang="en-US" sz="1700" dirty="0"/>
          </a:p>
          <a:p>
            <a:pPr marL="203200" indent="-203200">
              <a:spcAft>
                <a:spcPts val="600"/>
              </a:spcAft>
              <a:buSzPct val="100000"/>
              <a:buChar char="•"/>
            </a:pPr>
            <a:r>
              <a:rPr lang="en-US" sz="1600" dirty="0">
                <a:solidFill>
                  <a:schemeClr val="tx1"/>
                </a:solidFill>
              </a:rPr>
              <a:t>Batería 60 Ah; se admite descargar el 50 % para poder arrancar.</a:t>
            </a:r>
            <a:endParaRPr lang="en-US" sz="1700" dirty="0"/>
          </a:p>
          <a:p>
            <a:pPr marL="203200" indent="-203200">
              <a:spcAft>
                <a:spcPts val="600"/>
              </a:spcAft>
              <a:buSzPct val="100000"/>
              <a:buChar char="•"/>
            </a:pPr>
            <a:r>
              <a:rPr lang="en-US" sz="1600" dirty="0">
                <a:solidFill>
                  <a:schemeClr val="tx1"/>
                </a:solidFill>
              </a:rPr>
              <a:t>Consumo en reposo: centralitas del vehículo 20 mA + alarma 15 mA = 35 mA.</a:t>
            </a:r>
            <a:endParaRPr lang="en-US" sz="1700" dirty="0"/>
          </a:p>
          <a:p>
            <a:pPr indent="0" marL="0">
              <a:spcAft>
                <a:spcPts val="400"/>
              </a:spcAft>
              <a:buNone/>
            </a:pPr>
            <a:r>
              <a:rPr lang="en-US" sz="1700" b="1" dirty="0">
                <a:solidFill>
                  <a:schemeClr val="accent1"/>
                </a:solidFill>
              </a:rPr>
              <a:t>Cálculo</a:t>
            </a:r>
            <a:endParaRPr lang="en-US" sz="1700" dirty="0"/>
          </a:p>
          <a:p>
            <a:pPr marL="203200" indent="-203200">
              <a:spcAft>
                <a:spcPts val="600"/>
              </a:spcAft>
              <a:buSzPct val="100000"/>
              <a:buChar char="•"/>
            </a:pPr>
            <a:r>
              <a:rPr lang="en-US" sz="1600" dirty="0">
                <a:solidFill>
                  <a:schemeClr val="tx1"/>
                </a:solidFill>
              </a:rPr>
              <a:t>Carga disponible = 60 × 0,5 = 30 Ah</a:t>
            </a:r>
            <a:endParaRPr lang="en-US" sz="1700" dirty="0"/>
          </a:p>
          <a:p>
            <a:pPr marL="203200" indent="-203200">
              <a:spcAft>
                <a:spcPts val="600"/>
              </a:spcAft>
              <a:buSzPct val="100000"/>
              <a:buChar char="•"/>
            </a:pPr>
            <a:r>
              <a:rPr lang="en-US" sz="1600" dirty="0">
                <a:solidFill>
                  <a:schemeClr val="tx1"/>
                </a:solidFill>
              </a:rPr>
              <a:t>t = 30 / 0,035 = 857 h ≈ 36 días</a:t>
            </a:r>
            <a:endParaRPr lang="en-US" sz="1700" dirty="0"/>
          </a:p>
          <a:p>
            <a:pPr indent="0" marL="0">
              <a:spcAft>
                <a:spcPts val="400"/>
              </a:spcAft>
              <a:buNone/>
            </a:pPr>
            <a:r>
              <a:rPr lang="en-US" sz="1700" b="1" dirty="0">
                <a:solidFill>
                  <a:schemeClr val="accent1"/>
                </a:solidFill>
              </a:rPr>
              <a:t>Si la alarma consume 150 mA por un fallo</a:t>
            </a:r>
            <a:endParaRPr lang="en-US" sz="1700" dirty="0"/>
          </a:p>
          <a:p>
            <a:pPr marL="203200" indent="-203200">
              <a:spcAft>
                <a:spcPts val="600"/>
              </a:spcAft>
              <a:buSzPct val="100000"/>
              <a:buChar char="•"/>
            </a:pPr>
            <a:r>
              <a:rPr lang="en-US" sz="1600" dirty="0">
                <a:solidFill>
                  <a:schemeClr val="tx1"/>
                </a:solidFill>
              </a:rPr>
              <a:t>t = 30 / 0,170 = 176 h ≈ 7 días</a:t>
            </a:r>
            <a:endParaRPr lang="en-US" sz="1700" dirty="0"/>
          </a:p>
        </p:txBody>
      </p:sp>
      <p:sp>
        <p:nvSpPr>
          <p:cNvPr id="7" name="Tarjeta Diagnóstico de alarmas"/>
          <p:cNvSpPr/>
          <p:nvPr/>
        </p:nvSpPr>
        <p:spPr>
          <a:xfrm>
            <a:off x="7498080" y="1280160"/>
            <a:ext cx="4206240" cy="4846320"/>
          </a:xfrm>
          <a:prstGeom prst="roundRect">
            <a:avLst>
              <a:gd name="adj" fmla="val 1739"/>
            </a:avLst>
          </a:prstGeom>
          <a:solidFill>
            <a:srgbClr val="E4F1F1"/>
          </a:solidFill>
          <a:ln w="12700">
            <a:solidFill>
              <a:srgbClr val="E4F1F1"/>
            </a:solidFill>
            <a:prstDash val="solid"/>
          </a:ln>
        </p:spPr>
      </p:sp>
      <p:sp>
        <p:nvSpPr>
          <p:cNvPr id="8" name="Text 5"/>
          <p:cNvSpPr txBox="1"/>
          <p:nvPr/>
        </p:nvSpPr>
        <p:spPr>
          <a:xfrm>
            <a:off x="7662672" y="1389888"/>
            <a:ext cx="3877056" cy="411480"/>
          </a:xfrm>
          <a:prstGeom prst="rect">
            <a:avLst/>
          </a:prstGeom>
          <a:noFill/>
          <a:ln/>
        </p:spPr>
        <p:txBody>
          <a:bodyPr wrap="square" lIns="0" tIns="0" rIns="0" bIns="0" rtlCol="0" anchor="t"/>
          <a:lstStyle/>
          <a:p>
            <a:pPr indent="0" marL="0">
              <a:buNone/>
            </a:pPr>
            <a:r>
              <a:rPr lang="en-US" sz="1700" b="1" dirty="0">
                <a:solidFill>
                  <a:schemeClr val="accent1"/>
                </a:solidFill>
              </a:rPr>
              <a:t>Diagnóstico de alarmas</a:t>
            </a:r>
            <a:endParaRPr lang="en-US" sz="1700" dirty="0"/>
          </a:p>
        </p:txBody>
      </p:sp>
      <p:sp>
        <p:nvSpPr>
          <p:cNvPr id="9" name="Text 6"/>
          <p:cNvSpPr txBox="1"/>
          <p:nvPr/>
        </p:nvSpPr>
        <p:spPr>
          <a:xfrm>
            <a:off x="7662672" y="1828800"/>
            <a:ext cx="3877056" cy="42062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Leer la memoria de eventos de la central (qué sensor disparó).</a:t>
            </a:r>
            <a:endParaRPr lang="en-US" sz="1400" dirty="0"/>
          </a:p>
          <a:p>
            <a:pPr marL="203200" indent="-203200">
              <a:spcAft>
                <a:spcPts val="600"/>
              </a:spcAft>
              <a:buSzPct val="100000"/>
              <a:buChar char="•"/>
            </a:pPr>
            <a:r>
              <a:rPr lang="en-US" sz="1400" dirty="0">
                <a:solidFill>
                  <a:schemeClr val="tx1"/>
                </a:solidFill>
              </a:rPr>
              <a:t>Comprobar alimentación, masa y fusible.</a:t>
            </a:r>
            <a:endParaRPr lang="en-US" sz="1400" dirty="0"/>
          </a:p>
          <a:p>
            <a:pPr marL="203200" indent="-203200">
              <a:spcAft>
                <a:spcPts val="600"/>
              </a:spcAft>
              <a:buSzPct val="100000"/>
              <a:buChar char="•"/>
            </a:pPr>
            <a:r>
              <a:rPr lang="en-US" sz="1400" dirty="0">
                <a:solidFill>
                  <a:schemeClr val="tx1"/>
                </a:solidFill>
              </a:rPr>
              <a:t>Probar cada sensor (abrir puertas, mover la mano en el habitáculo).</a:t>
            </a:r>
            <a:endParaRPr lang="en-US" sz="1400" dirty="0"/>
          </a:p>
          <a:p>
            <a:pPr marL="203200" indent="-203200">
              <a:spcAft>
                <a:spcPts val="600"/>
              </a:spcAft>
              <a:buSzPct val="100000"/>
              <a:buChar char="•"/>
            </a:pPr>
            <a:r>
              <a:rPr lang="en-US" sz="1400" dirty="0">
                <a:solidFill>
                  <a:schemeClr val="tx1"/>
                </a:solidFill>
              </a:rPr>
              <a:t>Revisar la pila del mando y volver a sincronizarlo.</a:t>
            </a:r>
            <a:endParaRPr lang="en-US" sz="1400" dirty="0"/>
          </a:p>
          <a:p>
            <a:pPr marL="203200" indent="-203200">
              <a:spcAft>
                <a:spcPts val="600"/>
              </a:spcAft>
              <a:buSzPct val="100000"/>
              <a:buChar char="•"/>
            </a:pPr>
            <a:r>
              <a:rPr lang="en-US" sz="1400" dirty="0">
                <a:solidFill>
                  <a:schemeClr val="tx1"/>
                </a:solidFill>
              </a:rPr>
              <a:t>Medir el consumo en reposo.</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Prácticas de taller de la unidad</a:t>
            </a:r>
            <a:endParaRPr lang="en-US" sz="2800" dirty="0"/>
          </a:p>
        </p:txBody>
      </p:sp>
      <p:graphicFrame>
        <p:nvGraphicFramePr>
          <p:cNvPr id="97"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201400" cy="914400"/>
        </p:xfrm>
        <a:graphic>
          <a:graphicData uri="http://schemas.openxmlformats.org/drawingml/2006/table">
            <a:tbl>
              <a:tblPr/>
              <a:tblGrid>
                <a:gridCol w="2560320"/>
                <a:gridCol w="1737360"/>
                <a:gridCol w="6903720"/>
              </a:tblGrid>
              <a:tr h="502920">
                <a:tc>
                  <a:txBody>
                    <a:bodyPr/>
                    <a:lstStyle/>
                    <a:p>
                      <a:pPr indent="0" marL="0">
                        <a:buNone/>
                      </a:pPr>
                      <a:r>
                        <a:rPr lang="en-US" sz="1500" b="1" dirty="0">
                          <a:solidFill>
                            <a:srgbClr val="FFFFFF"/>
                          </a:solidFill>
                        </a:rPr>
                        <a:t>Tema</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500" b="1" dirty="0">
                          <a:solidFill>
                            <a:srgbClr val="FFFFFF"/>
                          </a:solidFill>
                        </a:rPr>
                        <a:t>Práctica</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c>
                  <a:txBody>
                    <a:bodyPr/>
                    <a:lstStyle/>
                    <a:p>
                      <a:pPr indent="0" marL="0">
                        <a:buNone/>
                      </a:pPr>
                      <a:r>
                        <a:rPr lang="en-US" sz="1500" b="1" dirty="0">
                          <a:solidFill>
                            <a:srgbClr val="FFFFFF"/>
                          </a:solidFill>
                        </a:rPr>
                        <a:t>Contenido</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007578"/>
                    </a:solidFill>
                  </a:tcPr>
                </a:tc>
              </a:tr>
              <a:tr h="502920">
                <a:tc>
                  <a:txBody>
                    <a:bodyPr/>
                    <a:lstStyle/>
                    <a:p>
                      <a:pPr indent="0" marL="0">
                        <a:buNone/>
                      </a:pPr>
                      <a:r>
                        <a:rPr lang="en-US" sz="1500" dirty="0">
                          <a:solidFill>
                            <a:srgbClr val="1B2A33"/>
                          </a:solidFill>
                        </a:rPr>
                        <a:t>4.1 – 4.5, 4.11 – 4.13</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Práctica 14</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Circuitos de alumbrado: mando, relés, cálculo de consumo y regulación de faros</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02920">
                <a:tc>
                  <a:txBody>
                    <a:bodyPr/>
                    <a:lstStyle/>
                    <a:p>
                      <a:pPr indent="0" marL="0">
                        <a:buNone/>
                      </a:pPr>
                      <a:r>
                        <a:rPr lang="en-US" sz="1500" dirty="0">
                          <a:solidFill>
                            <a:srgbClr val="1B2A33"/>
                          </a:solidFill>
                        </a:rPr>
                        <a:t>4.6 – 4.10</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500" dirty="0">
                          <a:solidFill>
                            <a:srgbClr val="1B2A33"/>
                          </a:solidFill>
                        </a:rPr>
                        <a:t>Práctica 15</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500" dirty="0">
                          <a:solidFill>
                            <a:srgbClr val="1B2A33"/>
                          </a:solidFill>
                        </a:rPr>
                        <a:t>Señalización: intermitencia, emergencia, freno, marcha atrás e interior</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B2A33"/>
                          </a:solidFill>
                        </a:rPr>
                        <a:t>4.14.1</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Práctica 16</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Limpiaparabrisas: velocidades, parada automática e intermitencia</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02920">
                <a:tc>
                  <a:txBody>
                    <a:bodyPr/>
                    <a:lstStyle/>
                    <a:p>
                      <a:pPr indent="0" marL="0">
                        <a:buNone/>
                      </a:pPr>
                      <a:r>
                        <a:rPr lang="en-US" sz="1500" dirty="0">
                          <a:solidFill>
                            <a:srgbClr val="1B2A33"/>
                          </a:solidFill>
                        </a:rPr>
                        <a:t>4.15</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500" dirty="0">
                          <a:solidFill>
                            <a:srgbClr val="1B2A33"/>
                          </a:solidFill>
                        </a:rPr>
                        <a:t>Práctica 17</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500" dirty="0">
                          <a:solidFill>
                            <a:srgbClr val="1B2A33"/>
                          </a:solidFill>
                        </a:rPr>
                        <a:t>Cuadro de instrumentos: relojes, sensores y testigos</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B2A33"/>
                          </a:solidFill>
                        </a:rPr>
                        <a:t>4.14.2 – 4.14.4</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Práctica 18</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Luneta térmica y espejos calefactados</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r h="502920">
                <a:tc>
                  <a:txBody>
                    <a:bodyPr/>
                    <a:lstStyle/>
                    <a:p>
                      <a:pPr indent="0" marL="0">
                        <a:buNone/>
                      </a:pPr>
                      <a:r>
                        <a:rPr lang="en-US" sz="1500" dirty="0">
                          <a:solidFill>
                            <a:srgbClr val="1B2A33"/>
                          </a:solidFill>
                        </a:rPr>
                        <a:t>4.16.1 – 4.16.2</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500" dirty="0">
                          <a:solidFill>
                            <a:srgbClr val="1B2A33"/>
                          </a:solidFill>
                        </a:rPr>
                        <a:t>Práctica 19</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500" dirty="0">
                          <a:solidFill>
                            <a:srgbClr val="1B2A33"/>
                          </a:solidFill>
                        </a:rPr>
                        <a:t>Cierre centralizado y elevalunas</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B2A33"/>
                          </a:solidFill>
                        </a:rPr>
                        <a:t>4.15 – 4.17</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Práctica 20</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c>
                  <a:txBody>
                    <a:bodyPr/>
                    <a:lstStyle/>
                    <a:p>
                      <a:pPr indent="0" marL="0">
                        <a:buNone/>
                      </a:pPr>
                      <a:r>
                        <a:rPr lang="en-US" sz="1500" dirty="0">
                          <a:solidFill>
                            <a:srgbClr val="1B2A33"/>
                          </a:solidFill>
                        </a:rPr>
                        <a:t>Red CAN en circuitos de carrocería y confort</a:t>
                      </a:r>
                      <a:endParaRPr lang="en-US" sz="1500" dirty="0"/>
                    </a:p>
                  </a:txBody>
                  <a:tcPr marL="45720" marR="45720" marT="45720" marB="45720" anchor="ctr">
                    <a:lnL w="6350" cap="flat" cmpd="sng" algn="ctr">
                      <a:solidFill>
                        <a:srgbClr val="C9D3D6"/>
                      </a:solidFill>
                      <a:prstDash val="solid"/>
                      <a:round/>
                      <a:headEnd type="none" w="med" len="med"/>
                      <a:tailEnd type="none" w="med" len="med"/>
                    </a:lnL>
                    <a:lnR w="6350" cap="flat" cmpd="sng" algn="ctr">
                      <a:solidFill>
                        <a:srgbClr val="C9D3D6"/>
                      </a:solidFill>
                      <a:prstDash val="solid"/>
                      <a:round/>
                      <a:headEnd type="none" w="med" len="med"/>
                      <a:tailEnd type="none" w="med" len="med"/>
                    </a:lnR>
                    <a:lnT w="6350" cap="flat" cmpd="sng" algn="ctr">
                      <a:solidFill>
                        <a:srgbClr val="C9D3D6"/>
                      </a:solidFill>
                      <a:prstDash val="solid"/>
                      <a:round/>
                      <a:headEnd type="none" w="med" len="med"/>
                      <a:tailEnd type="none" w="med" len="med"/>
                    </a:lnT>
                    <a:lnB w="6350" cap="flat" cmpd="sng" algn="ctr">
                      <a:solidFill>
                        <a:srgbClr val="C9D3D6"/>
                      </a:solidFill>
                      <a:prstDash val="solid"/>
                      <a:round/>
                      <a:headEnd type="none" w="med" len="med"/>
                      <a:tailEnd type="none" w="med" len="med"/>
                    </a:lnB>
                    <a:solidFill>
                      <a:srgbClr val="EEF1F2"/>
                    </a:solidFill>
                  </a:tcPr>
                </a:tc>
              </a:tr>
            </a:tbl>
          </a:graphicData>
        </a:graphic>
      </p:graphicFrame>
      <p:sp>
        <p:nvSpPr>
          <p:cNvPr id="5" name="Text 1"/>
          <p:cNvSpPr txBox="1"/>
          <p:nvPr/>
        </p:nvSpPr>
        <p:spPr>
          <a:xfrm>
            <a:off x="502920" y="5669280"/>
            <a:ext cx="11201400" cy="548640"/>
          </a:xfrm>
          <a:prstGeom prst="rect">
            <a:avLst/>
          </a:prstGeom>
          <a:noFill/>
          <a:ln/>
        </p:spPr>
        <p:txBody>
          <a:bodyPr wrap="square" lIns="25400" tIns="25400" rIns="50800" bIns="25400" rtlCol="0" anchor="t"/>
          <a:lstStyle/>
          <a:p>
            <a:pPr marL="203200" indent="-203200">
              <a:spcAft>
                <a:spcPts val="600"/>
              </a:spcAft>
              <a:buSzPct val="100000"/>
              <a:buChar char="•"/>
            </a:pPr>
            <a:r>
              <a:rPr lang="en-US" sz="1500" dirty="0">
                <a:solidFill>
                  <a:schemeClr val="tx1"/>
                </a:solidFill>
              </a:rPr>
              <a:t>Para cada práctica: esquema dibujado, tabla de mediciones, cálculo de consumo y conclusión.</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Ideas clave</a:t>
            </a:r>
            <a:endParaRPr lang="en-US" sz="2800" dirty="0"/>
          </a:p>
        </p:txBody>
      </p:sp>
      <p:sp>
        <p:nvSpPr>
          <p:cNvPr id="4" name="Tarjeta Norma"/>
          <p:cNvSpPr/>
          <p:nvPr/>
        </p:nvSpPr>
        <p:spPr>
          <a:xfrm>
            <a:off x="502920" y="1280160"/>
            <a:ext cx="3611880" cy="2286000"/>
          </a:xfrm>
          <a:prstGeom prst="roundRect">
            <a:avLst>
              <a:gd name="adj" fmla="val 3200"/>
            </a:avLst>
          </a:prstGeom>
          <a:solidFill>
            <a:srgbClr val="E4F1F1"/>
          </a:solidFill>
          <a:ln w="12700">
            <a:solidFill>
              <a:srgbClr val="E4F1F1"/>
            </a:solidFill>
            <a:prstDash val="solid"/>
          </a:ln>
        </p:spPr>
      </p:sp>
      <p:sp>
        <p:nvSpPr>
          <p:cNvPr id="5" name="Text 2"/>
          <p:cNvSpPr txBox="1"/>
          <p:nvPr/>
        </p:nvSpPr>
        <p:spPr>
          <a:xfrm>
            <a:off x="667512" y="1389888"/>
            <a:ext cx="3282696" cy="411480"/>
          </a:xfrm>
          <a:prstGeom prst="rect">
            <a:avLst/>
          </a:prstGeom>
          <a:noFill/>
          <a:ln/>
        </p:spPr>
        <p:txBody>
          <a:bodyPr wrap="square" lIns="0" tIns="0" rIns="0" bIns="0" rtlCol="0" anchor="t"/>
          <a:lstStyle/>
          <a:p>
            <a:pPr indent="0" marL="0">
              <a:buNone/>
            </a:pPr>
            <a:r>
              <a:rPr lang="en-US" sz="1600" b="1" dirty="0">
                <a:solidFill>
                  <a:schemeClr val="accent1"/>
                </a:solidFill>
              </a:rPr>
              <a:t>Norma</a:t>
            </a:r>
            <a:endParaRPr lang="en-US" sz="1600" dirty="0"/>
          </a:p>
        </p:txBody>
      </p:sp>
      <p:sp>
        <p:nvSpPr>
          <p:cNvPr id="6" name="Text 3"/>
          <p:cNvSpPr txBox="1"/>
          <p:nvPr/>
        </p:nvSpPr>
        <p:spPr>
          <a:xfrm>
            <a:off x="667512" y="1828800"/>
            <a:ext cx="3282696" cy="164592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INEN 1155 fija número, color, altura y frecuencia de destellos (90 ± 30/min).</a:t>
            </a:r>
            <a:endParaRPr lang="en-US" sz="1500" dirty="0"/>
          </a:p>
        </p:txBody>
      </p:sp>
      <p:sp>
        <p:nvSpPr>
          <p:cNvPr id="7" name="Tarjeta Relés"/>
          <p:cNvSpPr/>
          <p:nvPr/>
        </p:nvSpPr>
        <p:spPr>
          <a:xfrm>
            <a:off x="4297680" y="1280160"/>
            <a:ext cx="3611880" cy="2286000"/>
          </a:xfrm>
          <a:prstGeom prst="roundRect">
            <a:avLst>
              <a:gd name="adj" fmla="val 3200"/>
            </a:avLst>
          </a:prstGeom>
          <a:solidFill>
            <a:srgbClr val="FDF1D8"/>
          </a:solidFill>
          <a:ln w="12700">
            <a:solidFill>
              <a:srgbClr val="FDF1D8"/>
            </a:solidFill>
            <a:prstDash val="solid"/>
          </a:ln>
        </p:spPr>
      </p:sp>
      <p:sp>
        <p:nvSpPr>
          <p:cNvPr id="8" name="Text 5"/>
          <p:cNvSpPr txBox="1"/>
          <p:nvPr/>
        </p:nvSpPr>
        <p:spPr>
          <a:xfrm>
            <a:off x="4462272" y="1389888"/>
            <a:ext cx="3282696" cy="411480"/>
          </a:xfrm>
          <a:prstGeom prst="rect">
            <a:avLst/>
          </a:prstGeom>
          <a:noFill/>
          <a:ln/>
        </p:spPr>
        <p:txBody>
          <a:bodyPr wrap="square" lIns="0" tIns="0" rIns="0" bIns="0" rtlCol="0" anchor="t"/>
          <a:lstStyle/>
          <a:p>
            <a:pPr indent="0" marL="0">
              <a:buNone/>
            </a:pPr>
            <a:r>
              <a:rPr lang="en-US" sz="1600" b="1" dirty="0">
                <a:solidFill>
                  <a:schemeClr val="tx1"/>
                </a:solidFill>
              </a:rPr>
              <a:t>Relés</a:t>
            </a:r>
            <a:endParaRPr lang="en-US" sz="1600" dirty="0"/>
          </a:p>
        </p:txBody>
      </p:sp>
      <p:sp>
        <p:nvSpPr>
          <p:cNvPr id="9" name="Text 6"/>
          <p:cNvSpPr txBox="1"/>
          <p:nvPr/>
        </p:nvSpPr>
        <p:spPr>
          <a:xfrm>
            <a:off x="4462272" y="1828800"/>
            <a:ext cx="3282696" cy="164592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Protegen los mandos: el mando lleva décimas de amperio; el relé, la corriente de las lámparas.</a:t>
            </a:r>
            <a:endParaRPr lang="en-US" sz="1500" dirty="0"/>
          </a:p>
        </p:txBody>
      </p:sp>
      <p:sp>
        <p:nvSpPr>
          <p:cNvPr id="10" name="Tarjeta Cálculo"/>
          <p:cNvSpPr/>
          <p:nvPr/>
        </p:nvSpPr>
        <p:spPr>
          <a:xfrm>
            <a:off x="8092440" y="1280160"/>
            <a:ext cx="3611880" cy="2286000"/>
          </a:xfrm>
          <a:prstGeom prst="roundRect">
            <a:avLst>
              <a:gd name="adj" fmla="val 3200"/>
            </a:avLst>
          </a:prstGeom>
          <a:solidFill>
            <a:srgbClr val="E4F1F1"/>
          </a:solidFill>
          <a:ln w="12700">
            <a:solidFill>
              <a:srgbClr val="E4F1F1"/>
            </a:solidFill>
            <a:prstDash val="solid"/>
          </a:ln>
        </p:spPr>
      </p:sp>
      <p:sp>
        <p:nvSpPr>
          <p:cNvPr id="11" name="Text 8"/>
          <p:cNvSpPr txBox="1"/>
          <p:nvPr/>
        </p:nvSpPr>
        <p:spPr>
          <a:xfrm>
            <a:off x="8257032" y="1389888"/>
            <a:ext cx="3282696" cy="411480"/>
          </a:xfrm>
          <a:prstGeom prst="rect">
            <a:avLst/>
          </a:prstGeom>
          <a:noFill/>
          <a:ln/>
        </p:spPr>
        <p:txBody>
          <a:bodyPr wrap="square" lIns="0" tIns="0" rIns="0" bIns="0" rtlCol="0" anchor="t"/>
          <a:lstStyle/>
          <a:p>
            <a:pPr indent="0" marL="0">
              <a:buNone/>
            </a:pPr>
            <a:r>
              <a:rPr lang="en-US" sz="1600" b="1" dirty="0">
                <a:solidFill>
                  <a:schemeClr val="accent1"/>
                </a:solidFill>
              </a:rPr>
              <a:t>Cálculo</a:t>
            </a:r>
            <a:endParaRPr lang="en-US" sz="1600" dirty="0"/>
          </a:p>
        </p:txBody>
      </p:sp>
      <p:sp>
        <p:nvSpPr>
          <p:cNvPr id="12" name="Text 9"/>
          <p:cNvSpPr txBox="1"/>
          <p:nvPr/>
        </p:nvSpPr>
        <p:spPr>
          <a:xfrm>
            <a:off x="8257032" y="1828800"/>
            <a:ext cx="3282696" cy="164592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I = P/U; S = ρ·L·I/ΔU; fusible ≥ 1,25·I y adecuado a la sección.</a:t>
            </a:r>
            <a:endParaRPr lang="en-US" sz="1500" dirty="0"/>
          </a:p>
        </p:txBody>
      </p:sp>
      <p:sp>
        <p:nvSpPr>
          <p:cNvPr id="13" name="Tarjeta Regulación"/>
          <p:cNvSpPr/>
          <p:nvPr/>
        </p:nvSpPr>
        <p:spPr>
          <a:xfrm>
            <a:off x="502920" y="3749040"/>
            <a:ext cx="3611880" cy="2286000"/>
          </a:xfrm>
          <a:prstGeom prst="roundRect">
            <a:avLst>
              <a:gd name="adj" fmla="val 3200"/>
            </a:avLst>
          </a:prstGeom>
          <a:solidFill>
            <a:srgbClr val="FDF1D8"/>
          </a:solidFill>
          <a:ln w="12700">
            <a:solidFill>
              <a:srgbClr val="FDF1D8"/>
            </a:solidFill>
            <a:prstDash val="solid"/>
          </a:ln>
        </p:spPr>
      </p:sp>
      <p:sp>
        <p:nvSpPr>
          <p:cNvPr id="14" name="Text 11"/>
          <p:cNvSpPr txBox="1"/>
          <p:nvPr/>
        </p:nvSpPr>
        <p:spPr>
          <a:xfrm>
            <a:off x="667512" y="3858768"/>
            <a:ext cx="3282696" cy="411480"/>
          </a:xfrm>
          <a:prstGeom prst="rect">
            <a:avLst/>
          </a:prstGeom>
          <a:noFill/>
          <a:ln/>
        </p:spPr>
        <p:txBody>
          <a:bodyPr wrap="square" lIns="0" tIns="0" rIns="0" bIns="0" rtlCol="0" anchor="t"/>
          <a:lstStyle/>
          <a:p>
            <a:pPr indent="0" marL="0">
              <a:buNone/>
            </a:pPr>
            <a:r>
              <a:rPr lang="en-US" sz="1600" b="1" dirty="0">
                <a:solidFill>
                  <a:schemeClr val="tx1"/>
                </a:solidFill>
              </a:rPr>
              <a:t>Regulación</a:t>
            </a:r>
            <a:endParaRPr lang="en-US" sz="1600" dirty="0"/>
          </a:p>
        </p:txBody>
      </p:sp>
      <p:sp>
        <p:nvSpPr>
          <p:cNvPr id="15" name="Text 12"/>
          <p:cNvSpPr txBox="1"/>
          <p:nvPr/>
        </p:nvSpPr>
        <p:spPr>
          <a:xfrm>
            <a:off x="667512" y="4297680"/>
            <a:ext cx="3282696" cy="164592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Vehículo preparado, pantalla a 10 m o regloscopio; corte según placa / norma.</a:t>
            </a:r>
            <a:endParaRPr lang="en-US" sz="1500" dirty="0"/>
          </a:p>
        </p:txBody>
      </p:sp>
      <p:sp>
        <p:nvSpPr>
          <p:cNvPr id="16" name="Tarjeta Motores"/>
          <p:cNvSpPr/>
          <p:nvPr/>
        </p:nvSpPr>
        <p:spPr>
          <a:xfrm>
            <a:off x="4297680" y="3749040"/>
            <a:ext cx="3611880" cy="2286000"/>
          </a:xfrm>
          <a:prstGeom prst="roundRect">
            <a:avLst>
              <a:gd name="adj" fmla="val 3200"/>
            </a:avLst>
          </a:prstGeom>
          <a:solidFill>
            <a:srgbClr val="E4F1F1"/>
          </a:solidFill>
          <a:ln w="12700">
            <a:solidFill>
              <a:srgbClr val="E4F1F1"/>
            </a:solidFill>
            <a:prstDash val="solid"/>
          </a:ln>
        </p:spPr>
      </p:sp>
      <p:sp>
        <p:nvSpPr>
          <p:cNvPr id="17" name="Text 14"/>
          <p:cNvSpPr txBox="1"/>
          <p:nvPr/>
        </p:nvSpPr>
        <p:spPr>
          <a:xfrm>
            <a:off x="4462272" y="3858768"/>
            <a:ext cx="3282696" cy="411480"/>
          </a:xfrm>
          <a:prstGeom prst="rect">
            <a:avLst/>
          </a:prstGeom>
          <a:noFill/>
          <a:ln/>
        </p:spPr>
        <p:txBody>
          <a:bodyPr wrap="square" lIns="0" tIns="0" rIns="0" bIns="0" rtlCol="0" anchor="t"/>
          <a:lstStyle/>
          <a:p>
            <a:pPr indent="0" marL="0">
              <a:buNone/>
            </a:pPr>
            <a:r>
              <a:rPr lang="en-US" sz="1600" b="1" dirty="0">
                <a:solidFill>
                  <a:schemeClr val="accent1"/>
                </a:solidFill>
              </a:rPr>
              <a:t>Motores</a:t>
            </a:r>
            <a:endParaRPr lang="en-US" sz="1600" dirty="0"/>
          </a:p>
        </p:txBody>
      </p:sp>
      <p:sp>
        <p:nvSpPr>
          <p:cNvPr id="18" name="Text 15"/>
          <p:cNvSpPr txBox="1"/>
          <p:nvPr/>
        </p:nvSpPr>
        <p:spPr>
          <a:xfrm>
            <a:off x="4462272" y="4297680"/>
            <a:ext cx="3282696" cy="164592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Limpia, elevalunas, cierre y espejos usan motores de CC; el sentido se invierte con la polaridad.</a:t>
            </a:r>
            <a:endParaRPr lang="en-US" sz="1500" dirty="0"/>
          </a:p>
        </p:txBody>
      </p:sp>
      <p:sp>
        <p:nvSpPr>
          <p:cNvPr id="19" name="Tarjeta Indicadores"/>
          <p:cNvSpPr/>
          <p:nvPr/>
        </p:nvSpPr>
        <p:spPr>
          <a:xfrm>
            <a:off x="8092440" y="3749040"/>
            <a:ext cx="3611880" cy="2286000"/>
          </a:xfrm>
          <a:prstGeom prst="roundRect">
            <a:avLst>
              <a:gd name="adj" fmla="val 3200"/>
            </a:avLst>
          </a:prstGeom>
          <a:solidFill>
            <a:srgbClr val="FDF1D8"/>
          </a:solidFill>
          <a:ln w="12700">
            <a:solidFill>
              <a:srgbClr val="FDF1D8"/>
            </a:solidFill>
            <a:prstDash val="solid"/>
          </a:ln>
        </p:spPr>
      </p:sp>
      <p:sp>
        <p:nvSpPr>
          <p:cNvPr id="20" name="Text 17"/>
          <p:cNvSpPr txBox="1"/>
          <p:nvPr/>
        </p:nvSpPr>
        <p:spPr>
          <a:xfrm>
            <a:off x="8257032" y="3858768"/>
            <a:ext cx="3282696" cy="411480"/>
          </a:xfrm>
          <a:prstGeom prst="rect">
            <a:avLst/>
          </a:prstGeom>
          <a:noFill/>
          <a:ln/>
        </p:spPr>
        <p:txBody>
          <a:bodyPr wrap="square" lIns="0" tIns="0" rIns="0" bIns="0" rtlCol="0" anchor="t"/>
          <a:lstStyle/>
          <a:p>
            <a:pPr indent="0" marL="0">
              <a:buNone/>
            </a:pPr>
            <a:r>
              <a:rPr lang="en-US" sz="1600" b="1" dirty="0">
                <a:solidFill>
                  <a:schemeClr val="tx1"/>
                </a:solidFill>
              </a:rPr>
              <a:t>Indicadores</a:t>
            </a:r>
            <a:endParaRPr lang="en-US" sz="1600" dirty="0"/>
          </a:p>
        </p:txBody>
      </p:sp>
      <p:sp>
        <p:nvSpPr>
          <p:cNvPr id="21" name="Text 18"/>
          <p:cNvSpPr txBox="1"/>
          <p:nvPr/>
        </p:nvSpPr>
        <p:spPr>
          <a:xfrm>
            <a:off x="8257032" y="4297680"/>
            <a:ext cx="3282696" cy="164592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Reloj de bobinas + sensor resistivo (aforador, NTC, manorresistencia) o centralita por CAN.</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Autoevaluación</a:t>
            </a:r>
            <a:endParaRPr lang="en-US" sz="2800" dirty="0"/>
          </a:p>
        </p:txBody>
      </p:sp>
      <p:sp>
        <p:nvSpPr>
          <p:cNvPr id="4" name="Text 1"/>
          <p:cNvSpPr txBox="1"/>
          <p:nvPr/>
        </p:nvSpPr>
        <p:spPr>
          <a:xfrm>
            <a:off x="502920" y="1188720"/>
            <a:ext cx="11201400" cy="5029200"/>
          </a:xfrm>
          <a:prstGeom prst="rect">
            <a:avLst/>
          </a:prstGeom>
          <a:noFill/>
          <a:ln/>
        </p:spPr>
        <p:txBody>
          <a:bodyPr wrap="square" lIns="25400" tIns="25400" rIns="50800" bIns="25400" rtlCol="0" anchor="t"/>
          <a:lstStyle/>
          <a:p>
            <a:pPr indent="0" marL="0">
              <a:spcAft>
                <a:spcPts val="600"/>
              </a:spcAft>
              <a:buNone/>
            </a:pPr>
            <a:r>
              <a:rPr lang="en-US" sz="1600" dirty="0">
                <a:solidFill>
                  <a:schemeClr val="tx1"/>
                </a:solidFill>
              </a:rPr>
              <a:t>1. La frecuencia de destellos exigida por INEN 1155 es: a) 30 ± 10/min  b) 90 ± 30/min  c) 150/min</a:t>
            </a:r>
            <a:endParaRPr lang="en-US" sz="1600" dirty="0"/>
          </a:p>
          <a:p>
            <a:pPr indent="0" marL="0">
              <a:spcAft>
                <a:spcPts val="600"/>
              </a:spcAft>
              <a:buNone/>
            </a:pPr>
            <a:r>
              <a:rPr lang="en-US" sz="1600" dirty="0">
                <a:solidFill>
                  <a:schemeClr val="tx1"/>
                </a:solidFill>
              </a:rPr>
              <a:t>2. El borne de la luz de cruce es: a) 56a  b) 58  c) 56b</a:t>
            </a:r>
            <a:endParaRPr lang="en-US" sz="1600" dirty="0"/>
          </a:p>
          <a:p>
            <a:pPr indent="0" marL="0">
              <a:spcAft>
                <a:spcPts val="600"/>
              </a:spcAft>
              <a:buNone/>
            </a:pPr>
            <a:r>
              <a:rPr lang="en-US" sz="1600" dirty="0">
                <a:solidFill>
                  <a:schemeClr val="tx1"/>
                </a:solidFill>
              </a:rPr>
              <a:t>3. La antiniebla trasera solo debe poder encenderse con: a) cruce, carretera o antiniebla delantera  b) posición  c) intermitentes</a:t>
            </a:r>
            <a:endParaRPr lang="en-US" sz="1600" dirty="0"/>
          </a:p>
          <a:p>
            <a:pPr indent="0" marL="0">
              <a:spcAft>
                <a:spcPts val="600"/>
              </a:spcAft>
              <a:buNone/>
            </a:pPr>
            <a:r>
              <a:rPr lang="en-US" sz="1600" dirty="0">
                <a:solidFill>
                  <a:schemeClr val="tx1"/>
                </a:solidFill>
              </a:rPr>
              <a:t>4. Si un intermitente parpadea al doble de frecuencia: a) relé de 3 bornes  b) batería baja  c) lámpara fundida</a:t>
            </a:r>
            <a:endParaRPr lang="en-US" sz="1600" dirty="0"/>
          </a:p>
          <a:p>
            <a:pPr indent="0" marL="0">
              <a:spcAft>
                <a:spcPts val="600"/>
              </a:spcAft>
              <a:buNone/>
            </a:pPr>
            <a:r>
              <a:rPr lang="en-US" sz="1600" dirty="0">
                <a:solidFill>
                  <a:schemeClr val="tx1"/>
                </a:solidFill>
              </a:rPr>
              <a:t>5. La sección para 9,17 A, 3 m y ΔU = 0,36 V es: a) 0,75 mm²  b) 1,5 mm²  c) 6 mm²</a:t>
            </a:r>
            <a:endParaRPr lang="en-US" sz="1600" dirty="0"/>
          </a:p>
          <a:p>
            <a:pPr indent="0" marL="0">
              <a:spcAft>
                <a:spcPts val="600"/>
              </a:spcAft>
              <a:buNone/>
            </a:pPr>
            <a:r>
              <a:rPr lang="en-US" sz="1600" dirty="0">
                <a:solidFill>
                  <a:schemeClr val="tx1"/>
                </a:solidFill>
              </a:rPr>
              <a:t>6. En el reloj de bobinas, al bajar R del sensor la aguja: a) va al máximo  b) va al cero  c) no cambia</a:t>
            </a:r>
            <a:endParaRPr lang="en-US" sz="1600" dirty="0"/>
          </a:p>
          <a:p>
            <a:pPr indent="0" marL="0">
              <a:spcAft>
                <a:spcPts val="600"/>
              </a:spcAft>
              <a:buNone/>
            </a:pPr>
            <a:r>
              <a:rPr lang="en-US" sz="1600" dirty="0">
                <a:solidFill>
                  <a:schemeClr val="tx1"/>
                </a:solidFill>
              </a:rPr>
              <a:t>7. La parada automática del limpia se alimenta por: a) 53b  b) 31  c) 53a</a:t>
            </a:r>
            <a:endParaRPr lang="en-US" sz="1600" dirty="0"/>
          </a:p>
          <a:p>
            <a:pPr indent="0" marL="0">
              <a:spcAft>
                <a:spcPts val="600"/>
              </a:spcAft>
              <a:buNone/>
            </a:pPr>
            <a:r>
              <a:rPr lang="en-US" sz="1600" dirty="0">
                <a:solidFill>
                  <a:schemeClr val="tx1"/>
                </a:solidFill>
              </a:rPr>
              <a:t>8. Un motor de elevalunas cambia de sentido al: a) cambiar la tensión  b) invertir la polaridad  c) cambiar la frecuencia</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Ejercicios propuestos</a:t>
            </a:r>
            <a:endParaRPr lang="en-US" sz="2800" dirty="0"/>
          </a:p>
        </p:txBody>
      </p:sp>
      <p:sp>
        <p:nvSpPr>
          <p:cNvPr id="4" name="Text 1"/>
          <p:cNvSpPr txBox="1"/>
          <p:nvPr/>
        </p:nvSpPr>
        <p:spPr>
          <a:xfrm>
            <a:off x="502920" y="1188720"/>
            <a:ext cx="11201400" cy="5029200"/>
          </a:xfrm>
          <a:prstGeom prst="rect">
            <a:avLst/>
          </a:prstGeom>
          <a:noFill/>
          <a:ln/>
        </p:spPr>
        <p:txBody>
          <a:bodyPr wrap="square" lIns="25400" tIns="25400" rIns="50800" bIns="25400" rtlCol="0" anchor="t"/>
          <a:lstStyle/>
          <a:p>
            <a:pPr indent="0" marL="0">
              <a:spcAft>
                <a:spcPts val="600"/>
              </a:spcAft>
              <a:buNone/>
            </a:pPr>
            <a:r>
              <a:rPr lang="en-US" sz="1700" dirty="0">
                <a:solidFill>
                  <a:schemeClr val="tx1"/>
                </a:solidFill>
              </a:rPr>
              <a:t>1. Calcula la corriente de un circuito de posición con 4 lámparas de 5 W alimentado a 13,2 V.</a:t>
            </a:r>
            <a:endParaRPr lang="en-US" sz="1700" dirty="0"/>
          </a:p>
          <a:p>
            <a:pPr indent="0" marL="0">
              <a:spcAft>
                <a:spcPts val="600"/>
              </a:spcAft>
              <a:buNone/>
            </a:pPr>
            <a:r>
              <a:rPr lang="en-US" sz="1700" dirty="0">
                <a:solidFill>
                  <a:schemeClr val="tx1"/>
                </a:solidFill>
              </a:rPr>
              <a:t>2. Dos faros de carretera de 55 W con cable de 4 m y ΔU = 2,5 %: calcula sección normalizada y fusible.</a:t>
            </a:r>
            <a:endParaRPr lang="en-US" sz="1700" dirty="0"/>
          </a:p>
          <a:p>
            <a:pPr indent="0" marL="0">
              <a:spcAft>
                <a:spcPts val="600"/>
              </a:spcAft>
              <a:buNone/>
            </a:pPr>
            <a:r>
              <a:rPr lang="en-US" sz="1700" dirty="0">
                <a:solidFill>
                  <a:schemeClr val="tx1"/>
                </a:solidFill>
              </a:rPr>
              <a:t>3. Batería de 45 Ah; luces de cruce (2 × 55 W) olvidadas; se usa el 75 % de la carga. ¿Cuánto tiempo?</a:t>
            </a:r>
            <a:endParaRPr lang="en-US" sz="1700" dirty="0"/>
          </a:p>
          <a:p>
            <a:pPr indent="0" marL="0">
              <a:spcAft>
                <a:spcPts val="600"/>
              </a:spcAft>
              <a:buNone/>
            </a:pPr>
            <a:r>
              <a:rPr lang="en-US" sz="1700" dirty="0">
                <a:solidFill>
                  <a:schemeClr val="tx1"/>
                </a:solidFill>
              </a:rPr>
              <a:t>4. Faro a 650 mm de altura con reglaje −1,2 %. ¿A qué altura queda la línea de corte en una pantalla a 10 m?</a:t>
            </a:r>
            <a:endParaRPr lang="en-US" sz="1700" dirty="0"/>
          </a:p>
          <a:p>
            <a:pPr indent="0" marL="0">
              <a:spcAft>
                <a:spcPts val="600"/>
              </a:spcAft>
              <a:buNone/>
            </a:pPr>
            <a:r>
              <a:rPr lang="en-US" sz="1700" dirty="0">
                <a:solidFill>
                  <a:schemeClr val="tx1"/>
                </a:solidFill>
              </a:rPr>
              <a:t>5. Indicador de combustible: B1 = 8 Ω, B2 = 10 Ω, aforador 0–40 Ω, 12 V. Calcula I con depósito vacío y lleno.</a:t>
            </a:r>
            <a:endParaRPr lang="en-US" sz="1700" dirty="0"/>
          </a:p>
          <a:p>
            <a:pPr indent="0" marL="0">
              <a:spcAft>
                <a:spcPts val="600"/>
              </a:spcAft>
              <a:buNone/>
            </a:pPr>
            <a:r>
              <a:rPr lang="en-US" sz="1700" dirty="0">
                <a:solidFill>
                  <a:schemeClr val="tx1"/>
                </a:solidFill>
              </a:rPr>
              <a:t>6. Luneta de 120 W a 13,5 V con 10 hilos en paralelo: corriente total, resistencia total y de cada hilo.</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1" type="title" hasCustomPrompt="1"/>
          </p:nvPr>
        </p:nvSpPr>
        <p:spPr>
          <a:xfrm>
            <a:off x="502920" y="274320"/>
            <a:ext cx="10149840" cy="731520"/>
          </a:xfrm>
          <a:prstGeom prst="rect">
            <a:avLst/>
          </a:prstGeom>
          <a:noFill/>
          <a:ln/>
        </p:spPr>
        <p:txBody>
          <a:bodyPr wrap="square" rtlCol="0" anchor="ctr"/>
          <a:lstStyle/>
          <a:p>
            <a:pPr algn="l" indent="0" marL="0">
              <a:buNone/>
            </a:pPr>
            <a:r>
              <a:rPr lang="en-US" sz="2800" b="1" dirty="0">
                <a:solidFill>
                  <a:schemeClr val="tx2"/>
                </a:solidFill>
              </a:rPr>
              <a:t>Referencias</a:t>
            </a:r>
            <a:endParaRPr lang="en-US" sz="2800" dirty="0"/>
          </a:p>
        </p:txBody>
      </p:sp>
      <p:sp>
        <p:nvSpPr>
          <p:cNvPr id="4" name="Text 1"/>
          <p:cNvSpPr txBox="1"/>
          <p:nvPr/>
        </p:nvSpPr>
        <p:spPr>
          <a:xfrm>
            <a:off x="502920" y="1188720"/>
            <a:ext cx="11201400" cy="5029200"/>
          </a:xfrm>
          <a:prstGeom prst="rect">
            <a:avLst/>
          </a:prstGeom>
          <a:noFill/>
          <a:ln/>
        </p:spPr>
        <p:txBody>
          <a:bodyPr wrap="square" lIns="25400" tIns="25400" rIns="50800" bIns="25400" rtlCol="0" anchor="t"/>
          <a:lstStyle/>
          <a:p>
            <a:pPr indent="0" marL="0">
              <a:spcAft>
                <a:spcPts val="600"/>
              </a:spcAft>
              <a:buNone/>
            </a:pPr>
            <a:r>
              <a:rPr lang="en-US" sz="1400" dirty="0">
                <a:solidFill>
                  <a:schemeClr val="tx1"/>
                </a:solidFill>
              </a:rPr>
              <a:t>Comisión Económica para Europa de las Naciones Unidas. (s. f.). Reglamento n.º 48: Disposiciones uniformes relativas a la homologación de vehículos en lo que respecta a la instalación de dispositivos de alumbrado y señalización luminosa. CEPE/ONU.</a:t>
            </a:r>
            <a:endParaRPr lang="en-US" sz="1400" dirty="0"/>
          </a:p>
          <a:p>
            <a:pPr indent="0" marL="0">
              <a:spcAft>
                <a:spcPts val="600"/>
              </a:spcAft>
              <a:buNone/>
            </a:pPr>
            <a:r>
              <a:rPr lang="en-US" sz="1400" dirty="0">
                <a:solidFill>
                  <a:schemeClr val="tx1"/>
                </a:solidFill>
              </a:rPr>
              <a:t>Instituto Ecuatoriano de Normalización. (2009). Vehículos automotores: Dispositivos para mantener o mejorar la visibilidad (NTE INEN 1155:2009). INEN.</a:t>
            </a:r>
            <a:endParaRPr lang="en-US" sz="1400" dirty="0"/>
          </a:p>
          <a:p>
            <a:pPr indent="0" marL="0">
              <a:spcAft>
                <a:spcPts val="600"/>
              </a:spcAft>
              <a:buNone/>
            </a:pPr>
            <a:r>
              <a:rPr lang="en-US" sz="1400" dirty="0">
                <a:solidFill>
                  <a:schemeClr val="tx1"/>
                </a:solidFill>
              </a:rPr>
              <a:t>Llanos López, M. J. (2022). Circuitos eléctricos auxiliares del vehículo (3.ª ed.). Paraninfo.</a:t>
            </a:r>
            <a:endParaRPr lang="en-US" sz="1400" dirty="0"/>
          </a:p>
          <a:p>
            <a:pPr indent="0" marL="0">
              <a:spcAft>
                <a:spcPts val="600"/>
              </a:spcAft>
              <a:buNone/>
            </a:pPr>
            <a:r>
              <a:rPr lang="en-US" sz="1400" dirty="0">
                <a:solidFill>
                  <a:schemeClr val="tx1"/>
                </a:solidFill>
              </a:rPr>
              <a:t>Martín Hernández, J. J., &amp; Pérez Belló, M. Á. (2024). Sistemas de seguridad y confortabilidad. Macmillan Iberia.</a:t>
            </a:r>
            <a:endParaRPr lang="en-US" sz="1400" dirty="0"/>
          </a:p>
          <a:p>
            <a:pPr indent="0" marL="0">
              <a:spcAft>
                <a:spcPts val="600"/>
              </a:spcAft>
              <a:buNone/>
            </a:pPr>
            <a:r>
              <a:rPr lang="en-US" sz="1400" dirty="0">
                <a:solidFill>
                  <a:schemeClr val="tx1"/>
                </a:solidFill>
              </a:rPr>
              <a:t>Sánchez Fernández, E. (2024). Circuitos eléctricos auxiliares del vehículo (1.ª ed.). Macmillan Iberia. https://elibro.net/es/ereader/sudamericanoloja/267618</a:t>
            </a:r>
            <a:endParaRPr lang="en-US" sz="1400" dirty="0"/>
          </a:p>
          <a:p>
            <a:pPr indent="0" marL="0">
              <a:spcAft>
                <a:spcPts val="600"/>
              </a:spcAft>
              <a:buNone/>
            </a:pPr>
            <a:r>
              <a:rPr lang="en-US" sz="1400" dirty="0">
                <a:solidFill>
                  <a:schemeClr val="tx1"/>
                </a:solidFill>
              </a:rPr>
              <a:t>SEEA. (s. f.). Sistemas eléctricos del automóvil: Módulo 5, sistemas de limpia y lavaparabrisas [Diapositivas de clase].</a:t>
            </a:r>
            <a:endParaRPr lang="en-US" sz="1400" dirty="0"/>
          </a:p>
          <a:p>
            <a:pPr indent="0" marL="0">
              <a:spcAft>
                <a:spcPts val="600"/>
              </a:spcAft>
              <a:buNone/>
            </a:pPr>
            <a:r>
              <a:rPr lang="en-US" sz="1400" dirty="0">
                <a:solidFill>
                  <a:schemeClr val="tx1"/>
                </a:solidFill>
              </a:rPr>
              <a:t>Vidal Pastor, F. J., Mas Fito, J. J., &amp; González López, M. Á. (2011). Sistemas de seguridad y confortabilidad. Editex.</a:t>
            </a:r>
            <a:endParaRPr lang="en-US" sz="1400" dirty="0"/>
          </a:p>
          <a:p>
            <a:pPr indent="0" marL="0">
              <a:spcAft>
                <a:spcPts val="600"/>
              </a:spcAft>
              <a:buNone/>
            </a:pPr>
            <a:r>
              <a:rPr lang="en-US" sz="1400" dirty="0">
                <a:solidFill>
                  <a:schemeClr val="tx1"/>
                </a:solidFill>
              </a:rPr>
              <a:t>Indicadores de anomalía en el vehículo. (s. f.). [Diapositivas de clase, Electricidad Automotriz II].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1"/>
          <p:cNvSpPr/>
          <p:nvPr>
            <p:ph idx="103" type="title" hasCustomPrompt="1"/>
          </p:nvPr>
        </p:nvSpPr>
        <p:spPr>
          <a:xfrm>
            <a:off x="731520" y="2971800"/>
            <a:ext cx="10515600" cy="1371600"/>
          </a:xfrm>
          <a:prstGeom prst="rect">
            <a:avLst/>
          </a:prstGeom>
          <a:noFill/>
          <a:ln/>
        </p:spPr>
        <p:txBody>
          <a:bodyPr wrap="square" rtlCol="0" anchor="t"/>
          <a:lstStyle/>
          <a:p>
            <a:pPr algn="l" indent="0" marL="0">
              <a:buNone/>
            </a:pPr>
            <a:r>
              <a:rPr lang="en-US" sz="4000" b="1" dirty="0">
                <a:solidFill>
                  <a:schemeClr val="bg1"/>
                </a:solidFill>
              </a:rPr>
              <a:t>¡Gracias!</a:t>
            </a:r>
            <a:endParaRPr lang="en-US" sz="4000" dirty="0"/>
          </a:p>
        </p:txBody>
      </p:sp>
      <p:sp>
        <p:nvSpPr>
          <p:cNvPr id="3" name="Text 1"/>
          <p:cNvSpPr/>
          <p:nvPr>
            <p:ph idx="104" type="body" hasCustomPrompt="1"/>
          </p:nvPr>
        </p:nvSpPr>
        <p:spPr>
          <a:xfrm>
            <a:off x="731520" y="4434840"/>
            <a:ext cx="10058400" cy="1463040"/>
          </a:xfrm>
          <a:prstGeom prst="rect">
            <a:avLst/>
          </a:prstGeom>
          <a:noFill/>
          <a:ln/>
        </p:spPr>
        <p:txBody>
          <a:bodyPr wrap="square" rtlCol="0" anchor="t"/>
          <a:lstStyle/>
          <a:p>
            <a:pPr algn="l" indent="0" marL="0">
              <a:buNone/>
            </a:pPr>
            <a:r>
              <a:rPr lang="en-US" sz="1800" dirty="0">
                <a:solidFill>
                  <a:schemeClr val="bg2"/>
                </a:solidFill>
              </a:rPr>
              <a:t>Fin del temario del PEA · Electricidad Automotriz</a:t>
            </a:r>
            <a:endParaRPr lang="en-US" sz="1800" dirty="0"/>
          </a:p>
          <a:p>
            <a:pPr algn="l" indent="0" marL="0">
              <a:buNone/>
            </a:pPr>
            <a:r>
              <a:rPr lang="en-US" sz="1800" dirty="0">
                <a:solidFill>
                  <a:schemeClr val="bg2"/>
                </a:solidFill>
              </a:rPr>
              <a:t>¡Hacemos gente de talento!</a:t>
            </a:r>
            <a:endParaRPr lang="en-US" sz="1800" dirty="0"/>
          </a:p>
        </p:txBody>
      </p:sp>
      <p:sp>
        <p:nvSpPr>
          <p:cNvPr id="4" name="Text 1"/>
          <p:cNvSpPr/>
          <p:nvPr>
            <p:ph idx="102" type="body" hasCustomPrompt="1"/>
          </p:nvPr>
        </p:nvSpPr>
        <p:spPr>
          <a:xfrm>
            <a:off x="731520" y="1463040"/>
            <a:ext cx="4114800" cy="1463040"/>
          </a:xfrm>
          <a:prstGeom prst="rect">
            <a:avLst/>
          </a:prstGeom>
          <a:noFill/>
          <a:ln/>
        </p:spPr>
        <p:txBody>
          <a:bodyPr wrap="square" rtlCol="0" anchor="b"/>
          <a:lstStyle/>
          <a:p>
            <a:pPr algn="l" indent="0" marL="0">
              <a:buNone/>
            </a:pPr>
            <a:endParaRPr lang="en-US" sz="8000" dirty="0"/>
          </a:p>
        </p:txBody>
      </p:sp>
    </p:spTree>
  </p:cSld>
  <p:clrMapOvr>
    <a:masterClrMapping/>
  </p:clrMapOvr>
</p:sld>
</file>

<file path=ppt/theme/theme1.xml><?xml version="1.0" encoding="utf-8"?>
<a:theme xmlns:a="http://schemas.openxmlformats.org/drawingml/2006/main" name="ISTS Electricidad">
  <a:themeElements>
    <a:clrScheme name="ISTS Electricidad">
      <a:dk1>
        <a:srgbClr val="1B2A33"/>
      </a:dk1>
      <a:lt1>
        <a:srgbClr val="FFFFFF"/>
      </a:lt1>
      <a:dk2>
        <a:srgbClr val="00575A"/>
      </a:dk2>
      <a:lt2>
        <a:srgbClr val="E4F1F1"/>
      </a:lt2>
      <a:accent1>
        <a:srgbClr val="007578"/>
      </a:accent1>
      <a:accent2>
        <a:srgbClr val="F2A516"/>
      </a:accent2>
      <a:accent3>
        <a:srgbClr val="C0392B"/>
      </a:accent3>
      <a:accent4>
        <a:srgbClr val="2E6DA4"/>
      </a:accent4>
      <a:accent5>
        <a:srgbClr val="5B6770"/>
      </a:accent5>
      <a:accent6>
        <a:srgbClr val="8DC63F"/>
      </a:accent6>
      <a:hlink>
        <a:srgbClr val="2E6DA4"/>
      </a:hlink>
      <a:folHlink>
        <a:srgbClr val="6B4C9A"/>
      </a:folHlink>
    </a:clrScheme>
    <a:fontScheme name="ISTS Electricida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101</Slides>
  <Notes>101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101</vt:i4>
      </vt:variant>
    </vt:vector>
  </HeadingPairs>
  <TitlesOfParts>
    <vt:vector size="10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vector>
  </TitlesOfParts>
  <Company>Instituto Superior Tecnológico Sudamericano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Electricidad Automotriz - Unidad 4: Circuitos eléctricos auxiliares</dc:title>
  <dc:subject>PEA MA.03.02 - PAO Octubre 2026 - Febrero 2027</dc:subject>
  <dc:creator>Ing. Miguel Angel Minga González</dc:creator>
  <cp:lastModifiedBy>Ing. Miguel Angel Minga González</cp:lastModifiedBy>
  <cp:revision>1</cp:revision>
  <dcterms:created xsi:type="dcterms:W3CDTF">2026-10-13T22:43:41Z</dcterms:created>
  <dcterms:modified xsi:type="dcterms:W3CDTF">2026-10-13T22:43:41Z</dcterms:modified>
</cp:coreProperties>
</file>