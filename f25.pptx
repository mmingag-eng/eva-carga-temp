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56" r:id="rId107"/>
    <p:sldId id="269" r:id="rId15"/>
    <p:sldId id="357" r:id="rId108"/>
    <p:sldId id="270" r:id="rId16"/>
    <p:sldId id="358" r:id="rId109"/>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59" r:id="rId110"/>
    <p:sldId id="284" r:id="rId30"/>
    <p:sldId id="285" r:id="rId31"/>
    <p:sldId id="287" r:id="rId33"/>
    <p:sldId id="360" r:id="rId111"/>
    <p:sldId id="288" r:id="rId34"/>
    <p:sldId id="286" r:id="rId32"/>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61" r:id="rId112"/>
    <p:sldId id="304" r:id="rId50"/>
    <p:sldId id="305" r:id="rId51"/>
    <p:sldId id="306" r:id="rId52"/>
    <p:sldId id="362" r:id="rId113"/>
    <p:sldId id="307" r:id="rId53"/>
    <p:sldId id="363" r:id="rId114"/>
    <p:sldId id="308" r:id="rId54"/>
    <p:sldId id="364" r:id="rId115"/>
    <p:sldId id="309" r:id="rId55"/>
    <p:sldId id="310" r:id="rId56"/>
    <p:sldId id="311" r:id="rId57"/>
    <p:sldId id="303" r:id="rId49"/>
    <p:sldId id="312" r:id="rId58"/>
    <p:sldId id="313" r:id="rId59"/>
    <p:sldId id="314" r:id="rId60"/>
    <p:sldId id="315" r:id="rId61"/>
    <p:sldId id="316" r:id="rId62"/>
    <p:sldId id="317" r:id="rId63"/>
    <p:sldId id="318" r:id="rId64"/>
    <p:sldId id="319" r:id="rId65"/>
    <p:sldId id="365" r:id="rId116"/>
    <p:sldId id="320" r:id="rId66"/>
    <p:sldId id="321" r:id="rId67"/>
    <p:sldId id="323" r:id="rId69"/>
    <p:sldId id="324" r:id="rId70"/>
    <p:sldId id="366" r:id="rId117"/>
    <p:sldId id="322" r:id="rId68"/>
    <p:sldId id="325" r:id="rId71"/>
    <p:sldId id="326" r:id="rId72"/>
    <p:sldId id="327" r:id="rId73"/>
    <p:sldId id="328" r:id="rId74"/>
    <p:sldId id="329" r:id="rId75"/>
    <p:sldId id="330" r:id="rId76"/>
    <p:sldId id="331" r:id="rId77"/>
    <p:sldId id="332" r:id="rId78"/>
    <p:sldId id="367" r:id="rId118"/>
    <p:sldId id="333" r:id="rId79"/>
    <p:sldId id="368" r:id="rId119"/>
    <p:sldId id="334" r:id="rId80"/>
    <p:sldId id="335" r:id="rId81"/>
    <p:sldId id="336" r:id="rId82"/>
    <p:sldId id="369" r:id="rId120"/>
    <p:sldId id="337" r:id="rId83"/>
    <p:sldId id="370" r:id="rId121"/>
    <p:sldId id="338" r:id="rId84"/>
    <p:sldId id="339" r:id="rId85"/>
    <p:sldId id="340" r:id="rId86"/>
    <p:sldId id="341" r:id="rId87"/>
    <p:sldId id="342" r:id="rId88"/>
    <p:sldId id="343" r:id="rId89"/>
    <p:sldId id="344" r:id="rId90"/>
    <p:sldId id="345" r:id="rId91"/>
    <p:sldId id="346" r:id="rId92"/>
    <p:sldId id="347" r:id="rId93"/>
    <p:sldId id="348" r:id="rId94"/>
    <p:sldId id="371" r:id="rId122"/>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cuadre curricular · PEA" id="{3eda6e2a-7752-c178-9bda-35ceeabc26dd}">
          <p14:sldIdLst>
            <p14:sldId id="256"/>
            <p14:sldId id="257"/>
            <p14:sldId id="258"/>
            <p14:sldId id="259"/>
            <p14:sldId id="260"/>
            <p14:sldId id="261"/>
            <p14:sldId id="262"/>
            <p14:sldId id="263"/>
            <p14:sldId id="264"/>
          </p14:sldIdLst>
        </p14:section>
        <p14:section name="Clase 4.1 · Sistema de lubricación" id="{6e5ce65e-13f1-60e0-2538-9d7a280d00b8}">
          <p14:sldIdLst>
            <p14:sldId id="265"/>
            <p14:sldId id="266"/>
            <p14:sldId id="267"/>
            <p14:sldId id="268"/>
            <p14:sldId id="269"/>
            <p14:sldId id="270"/>
          </p14:sldIdLst>
        </p14:section>
        <p14:section name="Clase 4.1 · Tipos de lubricación y circuito" id="{0142705b-f507-5935-79e3-02e3a5d1d955}">
          <p14:sldIdLst>
            <p14:sldId id="271"/>
            <p14:sldId id="272"/>
            <p14:sldId id="273"/>
            <p14:sldId id="274"/>
            <p14:sldId id="275"/>
            <p14:sldId id="276"/>
          </p14:sldIdLst>
        </p14:section>
        <p14:section name="Clase 4.1 · Bombas, indicadores y enfriador" id="{d43fcf27-988b-1fc4-ee32-fa4e080783e1}">
          <p14:sldIdLst>
            <p14:sldId id="277"/>
            <p14:sldId id="278"/>
            <p14:sldId id="279"/>
            <p14:sldId id="280"/>
            <p14:sldId id="281"/>
            <p14:sldId id="282"/>
          </p14:sldIdLst>
        </p14:section>
        <p14:section name="Clase 4.1 · Mantenimiento y diagnóstico" id="{c3dc9f07-e8db-8caa-b448-a50129c13b99}">
          <p14:sldIdLst>
            <p14:sldId id="283"/>
            <p14:sldId id="284"/>
            <p14:sldId id="285"/>
            <p14:sldId id="286"/>
            <p14:sldId id="287"/>
            <p14:sldId id="288"/>
          </p14:sldIdLst>
        </p14:section>
        <p14:section name="Clase 4.2 · Sistema de refrigeración" id="{9e47dd6f-7566-2fbb-4dd4-079f1f6f3b78}">
          <p14:sldIdLst>
            <p14:sldId id="289"/>
            <p14:sldId id="290"/>
            <p14:sldId id="291"/>
            <p14:sldId id="292"/>
            <p14:sldId id="293"/>
            <p14:sldId id="294"/>
          </p14:sldIdLst>
        </p14:section>
        <p14:section name="Clase 4.2 · Bomba, radiador y presurización" id="{e7c6eebf-6bf3-398c-76df-d99c1dbb4bd7}">
          <p14:sldIdLst>
            <p14:sldId id="295"/>
            <p14:sldId id="296"/>
            <p14:sldId id="297"/>
            <p14:sldId id="298"/>
            <p14:sldId id="299"/>
            <p14:sldId id="300"/>
          </p14:sldIdLst>
        </p14:section>
        <p14:section name="Clase 4.2 · Refrigerante y diagnóstico" id="{f7d0f876-3ed4-e607-493b-07117687a3c3}">
          <p14:sldIdLst>
            <p14:sldId id="301"/>
            <p14:sldId id="302"/>
            <p14:sldId id="303"/>
            <p14:sldId id="304"/>
            <p14:sldId id="305"/>
            <p14:sldId id="306"/>
          </p14:sldIdLst>
        </p14:section>
        <p14:section name="Clase 4.2 · Mantenimiento y cálculo" id="{3b4ec66f-ba5a-43e3-03fe-250e0880744a}">
          <p14:sldIdLst>
            <p14:sldId id="307"/>
            <p14:sldId id="308"/>
            <p14:sldId id="309"/>
            <p14:sldId id="310"/>
            <p14:sldId id="311"/>
            <p14:sldId id="312"/>
          </p14:sldIdLst>
        </p14:section>
        <p14:section name="Clase 4.3 · El bloque motor" id="{4b102d65-32be-0d8e-dd31-8d02f2d3fab0}">
          <p14:sldIdLst>
            <p14:sldId id="313"/>
            <p14:sldId id="314"/>
            <p14:sldId id="315"/>
            <p14:sldId id="316"/>
            <p14:sldId id="317"/>
            <p14:sldId id="318"/>
          </p14:sldIdLst>
        </p14:section>
        <p14:section name="Clase 4.3 · Rectificado y decisiones" id="{0ad8d703-9e0c-60fa-3558-1a153fc41892}">
          <p14:sldIdLst>
            <p14:sldId id="319"/>
            <p14:sldId id="320"/>
            <p14:sldId id="321"/>
            <p14:sldId id="322"/>
            <p14:sldId id="323"/>
            <p14:sldId id="324"/>
          </p14:sldIdLst>
        </p14:section>
        <p14:section name="Clase 4.4 · El tren alternativo" id="{db0c1196-8338-7c49-b2e6-00b7dfd74751}">
          <p14:sldIdLst>
            <p14:sldId id="325"/>
            <p14:sldId id="326"/>
            <p14:sldId id="327"/>
            <p14:sldId id="328"/>
            <p14:sldId id="329"/>
            <p14:sldId id="330"/>
          </p14:sldIdLst>
        </p14:section>
        <p14:section name="Clase 4.4 · Cigüeñal, cojinetes y holguras" id="{8a998a3c-659a-3046-6547-176f5a40ef8b}">
          <p14:sldIdLst>
            <p14:sldId id="331"/>
            <p14:sldId id="332"/>
            <p14:sldId id="333"/>
            <p14:sldId id="334"/>
            <p14:sldId id="335"/>
            <p14:sldId id="336"/>
          </p14:sldIdLst>
        </p14:section>
        <p14:section name="Clase 4.4 · Comprobaciones y averías" id="{5237f77d-218d-9085-15ce-85ba124a339d}">
          <p14:sldIdLst>
            <p14:sldId id="337"/>
            <p14:sldId id="338"/>
            <p14:sldId id="339"/>
            <p14:sldId id="340"/>
            <p14:sldId id="341"/>
            <p14:sldId id="342"/>
          </p14:sldIdLst>
        </p14:section>
        <p14:section name="Anexo · Práctica de bloque y tren alternativo" id="{b8781f5b-688f-d9c5-b7ca-aba10c305b85}">
          <p14:sldIdLst>
            <p14:sldId id="343"/>
            <p14:sldId id="344"/>
            <p14:sldId id="345"/>
            <p14:sldId id="346"/>
            <p14:sldId id="347"/>
            <p14:sldId id="348"/>
            <p14:sldId id="349"/>
            <p14:sldId id="350"/>
          </p14:sldIdLst>
        </p14:section>
        <p14:section name="Cierre de la unidad y de la asignatura" id="{a89baf17-9bc6-1d9b-930c-2ea0a08905c8}">
          <p14:sldIdLst>
            <p14:sldId id="351"/>
            <p14:sldId id="352"/>
            <p14:sldId id="353"/>
            <p14:sldId id="354"/>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última unidad de la asignatura situándola en el recorrido completo. En la Unidad 1 se conoció el motor y se aprendió a medirlo; en la Unidad 2, cómo entra la mezcla y cómo se enciende; en la Unidad 3, quién abre las válvulas y cómo se comprueba el cabezote. Queda lo que sostiene todo eso mientras funciona: la lubricación y la refrigeración, y queda la pieza que lo contiene todo, el bloque, con su tren alternativo.
Hacer explícito por qué el PEA cierra con esta unidad y no la abre con ella: para entender por qué el aceite y el refrigerante son críticos hace falta haber visto antes qué ocurre dentro del motor. Ahora los estudiantes saben que la válvula de escape trabaja al rojo, que el pistón recibe la presión de la combustión y que las holguras son de centésimas. Con eso, la necesidad de una película de aceite y de un circuito de refrigeración deja de ser un dato y se convierte en una consecuencia.
Anunciar la carga: catorce horas práctico-experimentales, las mismas que la Unidad 3, dedicadas al despiece, comprobaciones y armado del bloque motor y del tren alternativo. Es la práctica que cierra la asignatura y la que integra todo lo medido antes.
Advertir que esta unidad cierra también el segundo bimestre, con su examen bimestral, que evalúa las unidades 3 y 4.
Recordar que las dos averías más caras del motor —gripaje por falta de lubricación y culata alabeada por recalentamiento— tienen su causa en los dos sistemas que se estudian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encuadre administrativo de la unidad y conviene proyectarla al inicio.
Recorrer la tabla campo por campo. Señalar el periodo: enero y febrero, que es el cierre del ciclo académico, con el examen bimestral al final.
Detenerse en el reparto de horas: nueve de docencia, catorce práctico-experimentales y nueve autónomas, igual que la Unidad 3. Hacer notar lo que dice el párrafo de la derecha: esta unidad reúne trece conocimientos declarados, que es mucho para nueve horas de clase. Eso obliga a un ritmo alto y a apoyarse más en el trabajo autónomo y en la práctica.
Explicar cómo se va a resolver ese reto: los dos sistemas —lubricación y refrigeración— se tratan con la misma estructura, porque comparten lógica: un fluido que circula por un circuito, impulsado por una bomba, filtrado o enfriado, regulado por un elemento, y con un diagnóstico basado en presión o en temperatura. Esa simetría permite aprender el segundo sistema mucho más deprisa que el primero.
Advertir con el recuadro que la unidad cierra el bimestre y que el examen evalúa las unidades 3 y 4, de modo que conviene no abandonar el material de la Unidad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resultado de aprendizaje y detenerse en la palabra que lo define: seguridad.
Explicar que no se refiere únicamente a la seguridad personal, aunque la incluya. Se refiere a la seguridad en el sentido de dominio: el técnico que trabaja con seguridad es el que sabe qué herramienta usar, cómo usarla y por qué, y no duda en mitad de la operación. Lo contrario —trabajar dudando, improvisando con la herramienta que hay a mano, probando a ver si sale— es lo que produce piezas dañadas y motores que no vuelven a funcionar igual.
Señalar la segunda exigencia: es la única unidad de la asignatura cuyo resultado habla de ensamblar. En las anteriores se desarmaba y se comprobaba; aquí se arma el motor completo, y el criterio de éxito es inapelable, porque el motor funciona o no funciona.
Mostrar la progresión de las tres unidades del párrafo final, que da sentido a toda la asignatura: en la primera se aprendió a medir, en la tercera a aplicar esa metrología y a apretar con criterio, y en esta se cierra el ciclo ensamblando.
Anunciar que la práctica de esta unidad es la más integradora de la carrera hasta el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la evidencia de cobertura curricular de la unidad y cierra la serie de las cuatro.
Recorrer la tabla mostrando la correspondencia entre los trece conocimientos declarados y las cuatro clases. Hacer notar el reparto: diez de los trece conocimientos corresponden a los dos sistemas de fluidos, lo que justifica que ocupen la mitad de la unidad.
Explicar la secuencia didáctica del párrafo, que tiene una lógica clara: primero se estudia lo que mantiene vivo al motor, porque es lo que explica por qué dura; después la pieza que aloja a ambos sistemas y contiene todo lo demás; y por último lo que se mueve dentro.
Destacar la tercera tarjeta, que da sentido a toda la asignatura: al terminar esta práctica, el motor que se abrió en la Unidad 3 queda completamente armado y en funcionamiento. Es el cierre natural del recorrido y el momento en que los estudiantes ven que todo lo aprendido se integra en un solo trabajo.
Recordar que el examen bimestral evalúa las unidades 3 y 4 y que la última clase incluirá repaso integrado.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Desarrollar las habilidades blandas que el PEA declara, mostrando cómo se concretan en el trabajo de esta unidad.
El trabajo en equipo tiene aquí una forma muy exigente: el armado de un motor sigue un orden estricto y cada paso depende del anterior. Si alguien monta una pieza antes de que otro haya tomado su medida, hay que desarmar para volver atrás. Eso obliga a una coordinación que no admite improvisación.
La resolución de conflictos aparece en el momento más tenso del trabajo: cuando una medida no cuadra o una pieza no entra. En ese punto siempre hay dos posiciones en el grupo, la de continuar y la de retroceder, y hay que decidir sin que se convierta en una discusión personal.
Desarrollar el recuadro con franqueza, porque describe una tentación real: dar por buena una medida que no se tomó. En una práctica larga, con prisa y con el cansancio del final, es la salida fácil. Nadie lo nota en ese momento. Lo nota el motor cuando se arranca.
Explicar la tercera tarjeta: el PEA declara el componente ambiental en la Unidad 3, no aquí, pero eso no exime. Los residuos de esta práctica son los mismos y la lista de verificación se mantiene.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cómo se concretan en esta unidad los métodos del PEA.
El método inductivo tiene aquí una aplicación especialmente rica: se parte de lo que se ve. Un aceite usado tiene color, olor y consistencia; un refrigerante dice si está oxidado; un cojinete rayado dice si le faltó aceite o si le entró suciedad. De cada observación se deduce qué ocurrió en ese motor.
El método deductivo opera desde el principio físico: si lo que separa dos superficies es una película de aceite de espesor microscópico, entonces hay que mantener caudal, presión, viscosidad y limpieza. De ese principio se deducen todas las condiciones de mantenimiento.
Desarrollar el recuadro, porque señala el recurso didáctico más valioso de la unidad: las piezas averiadas. Conviene reunir una colección —cojinetes con distintos daños, pistones gripados, camisas rayadas, válvulas quemadas— porque cada pieza cuenta su historia y aprender a leerla es exactamente lo que distingue a un técnico experimentado.
Anunciar que esa colección se usará en la clase 4.4 y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los recursos y comprobar la disponibilidad del material antes de empezar la práctica.
Detenerse en Autodata con el énfasis del recuadro, porque en esta unidad aporta dos datos que son imposibles de deducir y que deciden si el motor funciona: la holgura de los cojinetes de bancada y de biela, que es del orden de centésimas de milímetro y varía por motor, y la secuencia y el par de apriete de los sombreretes, que no es la misma en todos.
Repasar la lista de material de laboratorio. Hay dos elementos que conviene destacar. El compresor de segmentos, sin el cual el pistón no puede introducirse en el cilindro sin romper los aros. Y el plastigage o equivalente, que es el método práctico para medir la holgura de los cojinetes y que se explicará en la clase 4.4.
Insistir en el material complementario, que en esta unidad es especialmente valioso: una colección de piezas averiadas permite el análisis de casos con objetos reales. Si el laboratorio no la tiene, conviene empezar a reunirla con las piezas que salen de las prácticas.
Recordar el equipo de protección personal y la gestión de los fluidos que se vaciarán.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evaluación clara desde el principio, especialmente porque esta unidad cierra la asignatura.
Explicar la estructura del segundo bimestre, idéntica a la del primero: catorce puntos de evaluación continua y seis del examen bimestral, veinte en total. Y hacer notar que la escala de la derecha es sobre cuarenta, es decir, sobre la suma de los dos bimestres.
Señalar dónde está el límite de aprobación en esa escala para que nadie lo descubra tarde.
Recorrer las cuatro tarjetas. El trabajo autónomo es el declarado literalmente por el PEA. El colaborativo se concreta en dos productos de grupo. El práctico es la práctica completa con su informe. Y el examen bimestral evalúa las unidades 3 y 4 juntas.
Insistir en esa última: el examen no es solo de la Unidad 4. Conviene que conserven el material de la Unidad 3 y las fichas de aquella práctica.
Recordar los instrumentos que el PEA declara para esta unidad: participación, lecciones orales y escritas, taller en clase, cumplimiento de tareas, resolución de ejercicios y prueba de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de encuadre con la hoja de ruta.
Recorrer las cuatro clases señalando la lógica. Las dos primeras tratan los sistemas de fluidos, con la misma estructura cada una, lo que permite aprender la segunda apoyándose en la primera. La tercera presenta la pieza que aloja a ambos. Y la cuarta estudia lo que se mueve dentro y cierra con el armado.
Hacer notar el dato de los trece conocimientos: es la unidad más densa de la asignatura en contenidos declarados, y eso obliga a que el trabajo autónomo tenga aquí más peso real.
Insistir en el criterio de logro del recuadro, que es el que debe orientar el estudio y que resume la unidad en dos capacidades: diagnosticar sin desarmar, que es lo que más valor aporta en el taller, y armar con las holguras y pares del manual, que es lo que el resultado de aprendizaje declara.
Anunciar que la última clase incluye el repaso integrado de las unidades 3 y 4 para el examen bimestral, y que con ella se cierra la asignatura.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clase con el dato que la justifica entera: dentro de un motor hay superficies metálicas que se rozan a gran velocidad, con cargas muy elevadas y a temperaturas altas, y lo único que impide que se toquen es una película de aceite de espesor microscópico. Si esa película falla durante unos segundos, el motor se destruye.
Plantear que la lubricación no es mantenimiento accesorio: es la condición de supervivencia del motor. Un motor sin aceite se agarrota en menos de un minuto; con aceite degradado dura, pero envejece mucho más deprisa.
Anunciar el recorrido. Primero qué hace realmente el aceite, que es más de lo que suele pensarse. Después sus propiedades y cómo se clasifica, para poder leer una etiqueta. Luego los tipos de lubricación, que explican por qué el arranque es el momento más crítico. Después los sistemas de engrase y el circuito completo con sus elementos: bomba, filtro, válvulas e indicadores. Y por último el mantenimiento y el diagnóstico por presión.
Conectar con lo estudiado: el cojinete de biela, el bulón, las guías de válvula y los apoyos del árbol de levas que se vieron en las unidades anteriores dependen todos de este sistema.
Advertir que esta clase y la siguiente comparten estructura, lo que facilitará la segunda.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de taller que lo hace concreto y que es frecuente: entra un vehículo con el testigo rojo de presión de aceite encendido. Es una de las pocas situaciones en las que el técnico debe decir al cliente que no mueva el vehículo hasta saber qué ocurre, porque continuar puede significar el motor entero.
Hacer explícito el criterio de orden: las causas se comprueban de la más simple y barata a la más grave. Nivel de aceite, estado del aceite, sensor y su conexión, viscosidad incorrecta, filtro obstruido, bomba, y por último holguras excesivas en cojinetes. Ese orden no es casual: refleja a la vez la probabilidad y el costo de comprobación.
Aclarar el alcance de la clase: se estudia el sistema completo, desde las propiedades del aceite hasta el diagnóstico. La inspección de la bomba y las comprobaciones de cojinetes se completan en la práctica de la unidad.
Señalar la evidencia colaborativa: la ficha de interpretación de una etiqueta de aceite es un ejercicio breve y muy útil, porque los estudiantes compran aceite y casi nunca saben leer lo que compran.
Anunciar los cinco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casos cubren las tres situaciones más frecuentes del sistema de lubricación y se resolverán a lo largo de la clase.
El caso A es presión insuficiente a bajo régimen, que normalmente indica holguras excesivas en los cojinetes: el aceite escapa por ellas con más facilidad de la prevista y la bomba, girando despacio, no puede mantener la presión. También puede deberse a viscosidad insuficiente o a una bomba desgastada. Es el caso más grave de los tres.
El caso B es consumo de aceite sin fugas externas, que significa que el aceite está llegando a la cámara de combustión. Solo hay dos caminos: por las guías de válvula, que es lo que se estudió en la Unidad 3, o por los segmentos, que se verá en la clase 4.4.
El caso C es el ruido de taqués hidráulicos o del tensor de distribución en los primeros segundos tras el arranque, cuando la presión todavía no ha llegado. Conecta con lo visto en la Unidad 3.
No resolver ahora. Pedir que cada grupo anote su hipótesis y la contraste al final.
Señalar que los tres casos ilustran el principio de la clase: el aceite no solo lubrica, también acciona elementos y refrigera.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corrige la idea intuitiva de que el aceite solo lubrica, que es la que impide entender la mayor parte de las averías del sistema.
Recorrer las seis funciones. La primera es la conocida. La segunda sorprende y es muy importante: el aceite refrigera las zonas a las que el refrigerante no llega, en particular la parte interior del pistón, los bulones y los cojinetes. En muchos motores hay surtidores que proyectan aceite contra la cabeza del pistón precisamente para eso.
La tercera lleva a una idea contraintuitiva que conviene decir expresamente, la del segundo punto final: el aceite se ensucia porque está trabajando. Un aceite que sigue con aspecto limpio tras muchos kilómetros no está arrastrando los residuos, que entonces se están quedando dentro del motor.
La cuarta explica por qué echar unas gotas de aceite por el orificio de la bujía mejora temporalmente la compresión si el problema está en los segmentos: es la prueba del aceite que se estudió en la Unidad 3.
La quinta lleva al tercer punto final, que es el criterio real del cambio de aceite: lo que se agota son los aditivos, no el aceite base. Por eso el intervalo se cuenta en kilómetros o en tiempo, y no por el aspecto del aceite.
La sexta resuelve el caso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las propiedades centrándose en la viscosidad, que es la que decide el funcionamiento.
Definir la viscosidad como la resistencia del fluido a fluir, y explicar por qué es crítica con el dilema de los dos extremos: si el aceite es demasiado fluido, la película entre las superficies se rompe bajo carga y se produce contacto metálico; si es demasiado viscoso, tarda en llegar a los puntos de lubricación en frío y además aumenta el rozamiento interno, lo que consume potencia y genera calor.
Explicar el índice de viscosidad como la medida de cuánto cambia la viscosidad con la temperatura, y por qué un índice alto es deseable: significa que el aceite se comporta de forma parecida en frío y en caliente.
Desarrollar el dilema del monogrado y la solución del multigrado, que es el contenido más útil de la diapositiva. Un aceite monogrado tiene que elegir: o sirve en frío o sirve en caliente. Los aditivos mejoradores del índice de viscosidad permiten que un mismo aceite cumpla ambas condiciones.
Terminar con el dato que da sentido a todo: la mayor parte del desgaste de un motor se produce en los primeros segundos tras el arranque. Por eso el comportamiento en frío del aceite es tan importante.
Mencionar la reserva alcalina como factor del intervalo de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produce la evidencia colaborativa de la clase y es de utilidad inmediata para los estudiantes.
Explicar la nomenclatura paso a paso con el ejemplo. El primer número va seguido de una W, de winter, y describe el comportamiento en frío: cuanto menor es ese número, mejor fluye el aceite a baja temperatura y antes llega a los puntos de lubricación tras el arranque. El segundo número describe la viscosidad a la temperatura de trabajo.
Explicar la categoría API: dos letras, la primera indica si es para motor de gasolina o diésel y la segunda el nivel de prestaciones, que avanza alfabéticamente a medida que las exigencias aumentan.
Recorrer la tabla de consecuencias de elegir mal. Insistir en que las tres son reales y que ninguna se manifiesta de inmediato: el motor funciona, y el daño se acumula.
Desarrollar el recuadro con firmeza, porque es la conclusión práctica: la elección no es cuestión de criterio del taller. El fabricante la especifica en función de las holguras de ese motor, de sus temperaturas de trabajo y de los materiales de sus cojinetes. Autodata es el recurso declarado para consultarlo.
Pedir que traigan una etiqueta real de aceite y la interpreten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contenido conceptualmente más interesante de la clase y el que explica por qué el sistema está diseñado como está.
Explicar la lubricación hidrodinámica con cuidado, porque es la que sostiene el motor en marcha: cuando el eje gira dentro del cojinete, arrastra consigo el aceite adherido a su superficie y lo obliga a entrar en el espacio convergente entre ambos. Ese aceite, al no poder salir tan deprisa como entra, genera una presión que literalmente levanta el eje y lo mantiene separado del cojinete. La película se forma sola por efecto del giro.
Señalar entonces la consecuencia del recuadro, que es la clave: si la película depende del giro, a cero revoluciones no existe. En el momento del arranque, el eje está apoyado sobre el cojinete y solo hay la película residual del aceite que quedó. De ahí que el sistema inyecte aceite a presión desde fuera, que es la lubricación hidrostática, y de ahí que la mayor parte del desgaste de un motor se produzca en esos primeros segundos.
Explicar la elastohidrodinámica brevemente: en el contacto leva-taqué las presiones son tan altas que las superficies se deforman elásticamente, y el aceite forma estructuras que impiden el contacto. Es la que mantiene vivos los puntos más cargados.
Terminar con la lubricación al límite y el gripaje.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sistemas en orden histórico y funcional, señalando cuál se encuentra hoy en el taller.
El barboteo es el sistema original: las cabezas de biela, al girar, se sumergen en el aceite del cárter y lo salpican por todo el interior del motor. Es sencillo y no necesita bomba. Su límite es evidente: no puede garantizar caudal ni presión en los puntos más cargados, de modo que resulta insuficiente para un motor moderno.
El engrase a presión resuelve eso con una bomba que envía el aceite por conductos hasta cada punto de lubricación. Es el sistema de todos los motores actuales.
Desarrollar el recuadro, que corrige un malentendido frecuente: el engrase a presión no elimina el barboteo. Las paredes del cilindro, por ejemplo, no tienen conducto propio: reciben el aceite que salpica y el que proyectan los surtidores. Lo mismo ocurre con los bulones en muchos motores. Por eso en la práctica casi todos los motores son mixtos.
Mencionar el engrase por mezcla de los dos tiempos y sus consecuencias: el aceite se quema con el combustible, lo que produce humo y depósitos, y exige un lubricante específico con buena miscibilidad.
Mencionar el cárter seco como solución de competición.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cárter suele presentarse como un simple recipiente y cumple varias funciones que conviene hacer explícitas.
La primera es de almacenamiento, y tiene una consecuencia poco evidente: cuanto mayor es la capacidad, más tiempo pasa cada porción de aceite fuera del motor, enfriándose y dejando decantar las impurezas más pesadas. Por eso la capacidad no se elige solo por autonomía.
La segunda es de enfriamiento. El cárter está expuesto al aire por su cara exterior y cede calor por ella. De ahí que muchos lleven aletas o sean de aleación ligera, que conduce mejor.
La tercera es la de los separadores interiores, que es muy importante en vehículos de uso real: en una curva cerrada, una frenada fuerte o una pendiente pronunciada, el aceite se desplaza dentro del cárter. Si se desplaza lo suficiente, el tamiz de aspiración queda descubierto y la bomba aspira aire. Los tabiques impiden ese desplazamiento.
Desarrollar el recuadro sobre la temperatura del aceite y los enfriadores.
Terminar con las averías, y en particular con la advertencia del tapón de vaciado, que es un error cotidiano y caro: la rosca del cárter de aleación ligera se arranca con facilidad.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circuito con el puntero sobre la figura, paso a paso, porque es el mapa que permite entender todo el diagnóstico posterior.
En el paso dos, explicar la válvula de descarga o limitadora de presión: la bomba es de caudal proporcional al régimen, de modo que a alto régimen entregaría mucha más presión de la necesaria, sobre todo con el aceite frío y espeso. La válvula devuelve el exceso al cárter y mantiene la presión dentro del rango.
En el paso tres, desarrollar la válvula by-pass del filtro con el énfasis del recuadro, porque es un concepto que suele sorprender: el fabricante decide deliberadamente que, si el filtro se obstruye, el aceite lo saltará y llegará sucio a los cojinetes. La alternativa —dejar el motor sin aceite— sería peor. La consecuencia práctica es importante: un filtro saturado no produce ningún síntoma perceptible, y sin embargo está mandando aceite sin filtrar a todo el motor.
En el paso cuatro, señalar el recorrido: galería principal, cojinetes de bancada, y desde estos, por conductos taladrados en el propio cigüeñal, hasta los cojinetes de biela.
Terminar con la observación de trazabilidad: los cojinetes de biela están al final del recorrido y son los primeros en sufrir cuando la presión cae. Es el punto más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el filtro con el detalle que merece, porque es el elemento del sistema que más se manipula y el peor comprendido.
Explicar los dos montajes. En serie, también llamado de flujo total, todo el aceite que sale de la bomba atraviesa el filtro antes de llegar a los puntos de lubricación. El filtrado es completo, pero eso obliga a prever qué ocurre si el filtro se obstruye, de ahí la válvula by-pass obligatoria.
En paralelo o derivación, solo una fracción del caudal se desvía al filtro en cada pasada y el resto va directo a lubricar. El aceite se va limpiando progresivamente y no hay riesgo de falta de caudal, pero en un momento dado parte del aceite circulante no está filtrado.
Desarrollar los tres puntos finales, que son los de aplicación directa. El primero es una regla de mantenimiento que se incumple con frecuencia por ahorrar: el filtro se cambia siempre con el aceite.
El tercero explica un elemento poco conocido y muy importante: la válvula antirretorno mantiene el filtro lleno con el motor parado. Si falla, el filtro se vacía por gravedad y en el arranque siguiente la bomba tiene que llenarlo antes de que llegue presión al motor, lo que alarga el periodo crítico de arranque y aumenta el desgaste.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corte del filtro y recorrer sus elementos, porque casi ningún estudiante ha visto uno por dentro aunque hayan cambiado muchos.
Explicar el plisado del papel: su finalidad es multiplicar la superficie filtrante dentro de un volumen muy pequeño. Un elemento plisado puede tener una superficie varias veces mayor que la del cilindro que lo contiene.
Señalar las dos válvulas, que ya se han explicado, y localizarlas físicamente en la figura para que puedan reconocerlas al abrir un filtro usado. Proponer como actividad abrir uno con una sierra y examinarlo.
Desarrollar el recuadro sobre el montaje, porque es un procedimiento cotidiano que se hace mal con frecuencia: la junta se lubrica con aceite limpio para que no se arrastre al girar, y el apriete es a mano hasta que la junta apoye, más el giro adicional que el propio filtro indica impreso. Apretar con llave de cadena o con herramienta deforma la carcasa, puede provocar fuga y, sobre todo, deja el filtro tan apretado que la vez siguiente hay que romperlo para quitarlo.
Insistir en el primer error habitual, que es una avería espectacular: si la junta vieja queda pegada al soporte y se monta el filtro nuevo encima, el conjunto no sella y el motor pierde todo el aceite a presión en pocos segundos tras el arranque.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principio común antes de entrar en los tipos, porque una vez entendido, todos los tipos son variaciones del mismo mecanismo.
Describir la bomba de engranajes exteriores paso a paso con la figura: dos piñones engranan dentro de una carcasa ajustada. En el lado de aspiración, los dientes se separan y crean un espacio que se llena de aceite. Ese aceite queda atrapado entre el hueco de cada diente y la pared de la carcasa, y es arrastrado alrededor hasta el lado de impulsión. Allí los dientes vuelven a engranar, el espacio se cierra y el aceite es expulsado sin poder retroceder.
Desarrollar el recuadro, que es el concepto clave y explica el diseño del circuito: estas bombas son de desplazamiento positivo. Entregan un caudal que depende únicamente de su velocidad de giro, no de la resistencia que encuentre el aceite. Si el circuito ofrece mucha resistencia, la bomba sigue intentando entregar el mismo caudal y la presión sube sin límite. De ahí la necesidad de la válvula de descarga.
Explicar la variante de engranajes interiores y por qué se impuso en los motores modernos: es más compacta y se monta directamente sobre el morro del cigüeñal, sin transmisión intermedia.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los tipos de bomba, insistiendo en que todas comparten el mismo principio de desplazamiento positivo.
La de paletas funciona por excentricidad: el rotor gira descentrado dentro del cuerpo, y las paletas, que se deslizan en sus ranuras, mantienen el contacto con la pared. Como el rotor está descentrado, el volumen de cada cámara entre paletas aumenta en una zona y disminuye en la opuesta. La zona que aumenta coincide con la entrada y la que disminuye con la salida.
La de lóbulos tiene un detalle geométrico elegante que conviene señalar: el rotor interior tiene un saliente menos que entrantes tiene el exterior. Esa diferencia de uno es lo que hace que, al girar, el volumen entre ambos varíe de forma continua.
La trocoidal es la evolución de esa idea y la más usada hoy, porque su perfil da un flujo muy uniforme, lo que significa menos pulsaciones de presión y menos ruido.
Desarrollar los tres puntos finales, que preparan la práctica: en cualquier bomba se comprueban los mismos tres juegos, con galgas y regla, y la decisión es siempre la misma: si está fuera de límite, se sustituye completa. Los juegos de una bomba no se corrigen.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prepara una parte de la práctica de la unidad y establece un criterio profesional importante.
Recorrer las cuatro comprobaciones, que son las mismas para cualquier tipo de bomba, con sus valores en el manual. Señalar que las tres primeras se miden con galga, apoyando una regla de precisión sobre el cuerpo de la bomba, y que la cuarta es inspección visual.
Explicar qué significa una superficie rayada en una bomba: indica que ha circulado aceite con partículas, es decir, que el filtrado falló o que el aceite estuvo mucho tiempo sin cambiar. Esa información es útil más allá de la bomba, porque significa que esas partículas también pasaron por los cojinetes.
Desarrollar el recuadro con firmeza, porque es un criterio profesional y económico: la bomba es la causa menos frecuente de una presión baja y es cara. Antes de condenarla hay que descartar, por ese orden, nivel, viscosidad, tamiz, filtro, sensor y holguras de cojinetes.
Terminar con el tamiz y su lógica, que es un razonamiento muy instructivo: con el motor frío el aceite es espeso y fuerza la obstrucción parcial; en caliente, más fluido, se escurre por el camino de menor resistencia y el caudal cae. Por eso el síntoma aparece en caliente.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corrige un malentendido muy extendido sobre el testigo de presión y da el procedimiento correcto de las dos comprobaciones cotidianas.
Explicar con claridad qué es el testigo rojo: no es un indicador de nivel ni un medidor de presión. Es un interruptor que se cierra cuando la presión cae por debajo de un valor mínimo. Es decir, cuando se enciende, la presión ya es peligrosamente baja. No hay margen.
De ahí la advertencia del recuadro, que conviene dar con toda seriedad porque los estudiantes la transmitirán a clientes: si el testigo se enciende con el motor en marcha, se detiene el motor de inmediato. Seguir circulando, aunque sea poco, puede significar los cojinetes.
Explicar la comprobación fiable: manómetro externo conectado en la toma del sensor, con el motor a temperatura de operación, midiendo a ralentí y a un régimen definido por el manual. Solo así se tiene un valor comparable.
Explicar el procedimiento del nivel: motor parado unos minutos y vehículo en plano. Medir el nivel recién parado da una lectura baja falsa porque parte del aceite sigue en la parte alta del motor.
Terminar con las tres observaciones finales, en particular la del exceso de nivel, que muchos consideran inocuo y no lo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conecta los dos sistemas de la unidad y aporta un criterio de diagnóstico de alto valor práctico.
Explicar por qué existe el enfriador: el aceite no solo lubrica, también refrigera, de modo que absorbe calor continuamente. Si su temperatura sube por encima de lo previsto, pierde viscosidad, la película se adelgaza y empieza el desgaste. En motores sobrealimentados o de trabajo continuado la carga térmica es mayor y hace falta estabilizar esa temperatura.
Explicar el montaje más habitual, que es un intercambiador entre el circuito de aceite y el de refrigerante, y señalar su virtud menos evidente: funciona en los dos sentidos. En los primeros minutos tras el arranque el refrigerante está más caliente que el aceite, de modo que lo calienta y acelera su llegada a temperatura de régimen. Después, cuando el aceite está más caliente, lo enfría.
Desarrollar el recuadro con el énfasis que merece porque evita un trabajo innecesario muy costoso: si la separación interna del intercambiador falla, aceite y refrigerante se mezclan. El síntoma es el mismo que el de un empaque de culata cedido, pero la causa es completamente distinta y la reparación, incomparablemente más barata.
Explicar cómo se distinguen: el empaque soplado suele venir acompañado de pérdida de compresión o de gases de combustión detectables en el refrigerante; el intercambiador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lleva el esquema del circuito al motor real, que es el paso que permite localizar los puntos en el laboratorio.
Recorrer la primera figura con el puntero, identificando los mismos elementos que ya se vieron en el esquema: cárter, tamiz, bomba, filtro, galería principal y ramal de culata. Pedir que localicen esos mismos puntos en el motor del laboratorio.
Explicar la segunda figura, que muestra el montaje con filtro en circuito secundario y sus dos válvulas, de sobrepresión y de retención. Es la ocasión de recordar la diferencia entre ambos montajes vista antes.
Recorrer la tabla, que organiza el circuito por puntos y por consecuencias. Es útil como herramienta de diagnóstico: cada síntoma de ruido o de desgaste corresponde a un tramo del recorrido.
Detenerse en la segunda fila, que describe el recorrido menos conocido: los cojinetes de biela no reciben aceite directamente de la galería, sino a través de conductos taladrados en el propio cigüeñal que parten de los cojinetes de bancada. Por eso están al final del recorrido y por eso son los primeros en sufrir una caída de presión.
Anunciar que esos conductos se inspeccionan en la práctica de la unidad, cuando el cigüeñal esté desmontado.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más repetido de cualquier taller y conviene darlo con todo el detalle, porque la rutina hace que se degrade.
El paso uno tiene una razón técnica que casi nunca se explica: con el motor caliente, el aceite está fluido y lleva en suspensión las partículas que ha arrastrado. Vaciar en frío deja buena parte de esos residuos depositados en el cárter, de modo que el aceite nuevo los recoge desde el primer minuto.
El paso tres es la causa número uno de las fugas que aparecen después de un cambio de aceite: la arandela de estanqueidad del tapón se deforma al apretar y no vuelve a sellar igual. Es una pieza de costo despreciable.
El paso cinco corrige un error frecuente: la cantidad la indica el fabricante y no es la que cabe hasta la marca de máximo si el motor no se ha vaciado por completo. Por eso se llena con la cantidad especificada y después se verifica con la varilla.
Insistir en el paso seis con el recuadro.
Terminar con el segundo punto final, que explica por qué el uso urbano corto es el peor para un motor: el agua que genera la combustión no llega a evaporarse, se mezcla con el aceite, forma lodos y, con los ácidos, consume la reserva alcalina mucho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mayor valor profesional de la clase y resuelve el caso de apertura A.
Recorrer la tabla de presión baja en el orden indicado, que es el orden real de comprobación: de lo gratuito e inmediato a lo caro y grave. Insistir en que ese orden no es arbitrario, combina probabilidad y costo de comprobación.
Detenerse en la tercera fila: antes de dar por buena una lectura baja, hay que comprobar que el sensor y su instalación no son el problema. Un manómetro externo conectado en la toma del sensor lo resuelve en minutos y evita diagnósticos catastróficos sobre motores sanos.
Explicar la última fila y resolver el caso A con el recuadro: cuando los cojinetes tienen holgura excesiva, el aceite escapa por ellos con más facilidad de la prevista. A alto régimen la bomba entrega caudal suficiente para compensar esa fuga y la presión se mantiene; al ralentí, girando despacio, no puede, y la presión cae. De ahí el cuadro tan característico de testigo encendido al ralentí en caliente y apagado al acelerar.
Recorrer la tabla de presión alta, señalando que la tercera fila es comportamiento normal y no una avería: en frío el aceite es viscoso y la presión sube hasta que la válvula de descarga actúa.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resuelve el caso B y conecta con la clase 4.4, donde se estudian los segmentos.
Recorrer los cuatro caminos por los que un motor puede consumir aceite. Los dos primeros son internos y se distinguen por el momento en que aparece el humo, que es el dato clave: por las guías, tras un reposo largo, porque el aceite necesita horas para filtrarse; por los segmentos, al acelerar y en retención, cuando la depresión en el cilindro es mayor.
El tercero son fugas externas, que se detectan a simple vista. El cuarto es el intercambiador de aceite, que se vio en la diapositiva anterior.
Resolver el caso B con el recuadro, insistiendo en el criterio que separa guías de segmentos.
Explicar la prueba sencilla del segundo punto final, que es un recurso de taller muy útil: con el motor en marcha se retira el tapón de llenado de aceite. En un motor sano sale algo de vapor de forma suave. Si sale una corriente fuerte y pulsante, es que los gases de combustión están pasando por los segmentos hacia el cárter en cantidad excesiva.
Terminar con el tercer punto, que evita alarmas innecesarias: todo motor consume algo de aceite, porque los segmentos dejan por diseño una película en la pared del cilindro que se 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trabajar la pregunta de autoevaluación, que tiene una respuesta instructiva y contraintuitiva.
La respuesta esperada tiene dos partes. La primera: que el aceite siga con aspecto limpio no es buena señal, porque una de sus funciones es arrastrar los residuos en suspensión. Un aceite que no se oscurece no está limpiando, y esos residuos se están quedando dentro del motor. La segunda: el aspecto no es el criterio de cambio. Lo que se agota con el uso son los aditivos, en particular la reserva alcalina que neutraliza los ácidos de la combustión, y ese agotamiento no se ve. Por eso el intervalo se cuenta en kilómetros o en tiempo.
Aprovechar para insistir en la habilidad profesional de argumentar una recomendación: el cliente no cambia el aceite si no entiende por qué.
Repasar las seis ideas, deteniéndose en la tercera, que explica el momento crítico del motor, y en la quinta, que es la que más sorprende.
Anunciar la clase 4.2: el otro sistema que mantiene vivo al motor, con la misma 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reúne las averías del sistema y sirve como material de estudio para la prueba de unidad.
Recorrerla sin detenerse demasiado, porque cada caso se ha explicado ya, y centrarse en las dos reglas finales, que son las que permiten orientarse rápido ante cualquier caso nuevo.
La primera regla separa las dos familias de causas de presión insuficiente: si la presión cae solo a bajo régimen, el problema es que el aceite escapa por holguras excesivas y la bomba no puede compensar girando despacio. Si falta siempre, el problema es de caudal: nivel, tamiz obstruido o bomba sin capacidad.
La segunda regla separa las dos vías internas de consumo por el momento en que aparece el humo, que es un dato que el cliente puede dar sin necesidad de ninguna prueba.
Detenerse en la última fila con honestidad, porque es la única avería de la tabla que produce el propio taller: la arandela del tapón reutilizada y la junta vieja del filtro no retirada. Ambas pueden dejar al motor sin aceite en marcha, y ambas se evitan con unos segundos de atención. Conviene decirlo con claridad en 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ejercicios concretan el trabajo autónomo y el colaborativo de la clase.
El ejercicio uno es de utilidad inmediata y personal: los estudiantes compran aceite y casi ninguno sabe interpretar lo que compra. Pedir que traigan una etiqueta real.
El ejercicio dos construye el uso del manual, que el resultado de aprendizaje declara. Además introduce un dato que se necesitará en la práctica: la capacidad de aceite del motor.
El ejercicio tres tiene la estructura de una pregunta de examen y conviene resolverlo parcialmente en clase. La lectura a tres mil revoluciones está dentro de lo esperable; la de ralentí, claramente por debajo. Ese patrón —normal arriba, baja abajo— es el de holguras excesivas, no el de falta de caudal, que daría valores bajos en todo el rango.
El ejercicio cuatro es el producto colaborativo: el cuadro de diagnóstico con las causas ordenadas por orden de comprobación. Insistir en que el orden es parte de la respuesta.
Recordar que el cuadro se conserva para la práctica y para el repaso del examen bimestral.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la clase con una idea que suele sorprender y que ordena todo lo demás: el sistema de refrigeración no existe para enfriar el motor, existe para mantenerlo a su temperatura de trabajo. Un motor frío contamina más, consume más, se desgasta más y no da su potencia. Un motor caliente se destruye. El sistema mantiene el punto intermedio.
Dar las cifras que justifican el sistema: durante la combustión se alcanzan temperaturas muy superiores a las que resisten los materiales del motor. Si no se evacuara ese calor de forma continua, las piezas perderían resistencia, el aceite se degradaría y el motor se destruiría en minutos.
Anunciar que la clase sigue la misma estructura que la anterior: un fluido, un circuito, una bomba que lo impulsa, un elemento que regula, un intercambiador y un diagnóstico. Esa simetría permitirá avanzar más deprisa.
Conectar con lo estudiado: la culata alabeada de la Unidad 3, la válvula de escape quemada y el aceite degradado de la clase anterior tienen todos la misma causa última, que es el recalentamiento. Esta clase explica por qué ocurre y cómo se evita.
Recordar la advertencia de seguridad: no se abre nunca el tapón de un circuito caliente.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escena de taller, que es de las más frecuentes y de las que más daño causan si se resuelven mal: un vehículo que se recalienta. El cliente suele llegar después de haber seguido circulando un rato, y el primer trabajo del técnico es evaluar si el motor ya sufrió daño.
Hacer explícito el valor del orden de comprobación: en un circuito de refrigeración hay muchos elementos que pueden fallar y casi todos producen el mismo síntoma. Diagnosticar bien consiste en elegir las comprobaciones que descartan varias causas a la vez.
Aclarar el alcance: se estudia el sistema completo, por aire y por agua, aunque el peso esté en el de agua, que es el que encontrarán en casi todos los vehículos.
Señalar la evidencia colaborativa: el esquema del circuito del motor del laboratorio, dibujado por el grupo y con los puntos de fallo marcados. Dibujarlo obliga a recorrerlo físicamente y a entender por dónde va el refrigerante, que es algo que no se consigue mirando un esquema de libro.
Anunciar los cinco bloques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establece el planteamiento del problema y corrige la idea intuitiva de que el sistema sirve solo para enfriar.
Partir de las temperaturas del proceso: durante la combustión se alcanzan valores muy superiores a los que resisten los materiales del motor. El sistema tiene que evacuar ese calor de forma continua, porque si no, las piezas pierden resistencia mecánica y el motor se destruye.
Recorrer la tabla señalando los límites de cada elemento. Detenerse en la última fila, que introduce un concepto que se desarrollará después: el agua hierve a cien grados al nivel del mar, y la temperatura de trabajo del motor está cerca de ese valor. De ahí que el circuito se presurice, porque al aumentar la presión aumenta la temperatura de ebullición.
Desarrollar el recuadro, que es la idea central: el sistema no existe para enfriar sino para regular. De ahí que exista el termostato, cuya función es impedir que el refrigerante pase por el radiador hasta que el motor haya alcanzado su temperatura de trabajo.
Explicar las consecuencias de los dos extremos. Las del motor demasiado caliente son conocidas. Las del motor demasiado frío lo son menos y conectan con la clase anterior: la mezcla se condensa, el combustible diluye el aceite y se forman lodos.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refrigeración por aire está declarada expresamente en el PEA y conviene tratarla bien, aunque los vehículos del laboratorio sean de agua.
Explicar el principio: la pieza cede su calor directamente al aire, y para que eso baste hay que aumentar mucho la superficie de contacto. De ahí las aletas, que son el elemento característico de estos motores y que se ven claramente en la figura.
Explicar cómo circula el aire: en una motocicleta, por la propia marcha; en motores estacionarios, forzado por un ventilador y conducido por deflectores que lo obligan a pasar entre las aletas.
Recorrer ventajas e inconvenientes de forma equilibrada. Las ventajas son reales e importantes: no hay fugas posibles, no hay bomba ni radiador que mantener, no hay fluido que cambiar y no se congela.
Desarrollar el recuadro, que da la razón real de su desaparición en automóviles y que suele explicarse mal: no es un problema de capacidad, sino de regulación. Sin fluido intermedio ni termostato, la temperatura del motor depende del aire disponible en cada momento, y un motor cuya temperatura no se controla con precisión no puede cumplir las exigencias actuales de emisiones ni de consumo.
Terminar señalando que el principio reaparece en el radiador del sistema por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circuito con el puntero sobre la figura, elemento por elemento, igual que se hizo con el de lubricación.
Señalar que la estructura es la misma que la del sistema anterior: un fluido, un depósito, una bomba que lo impulsa, un elemento regulador, un intercambiador y un retorno. Esa simetría ayuda a memorizar.
Detenerse en el paso tres y en el recuadro, porque es el concepto que más se malentiende: mientras el termostato está cerrado, el refrigerante no deja de circular. Circula por un circuito corto que no pasa por el radiador, de modo que el calor se queda en el motor y este alcanza antes su temperatura de trabajo. El termostato no detiene la circulación, la desvía.
Explicar el paso cinco: el ventilador existe porque hay situaciones en las que la marcha del vehículo no mueve aire suficiente por el radiador, y son justamente las de mayor carga térmica: ciudad, atascos, pendientes y vehículo parado con el motor en marcha.
Explicar el párrafo final, que es un detalle de diagnóstico muy útil: el radiador de la calefacción está alimentado por un ramal del circuito y suele estar en un punto alto. Si falta refrigerante, ese ramal es de los primeros en quedarse sin él, y la calefacción deja de calentar antes de que aparezca cualquier otro síntoma.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cámaras son la parte del circuito que no se ve y por eso la que más se olvida en el diagnóstico.
Explicar dónde están y por qué: rodean los cilindros en el bloque y, sobre todo, las cámaras de combustión y los conductos de escape en la culata, que es la zona más caliente del motor. Conectar con la Unidad 3, donde se vio que la válvula de escape evacúa su calor a través del asiento hacia el cabezote y de ahí al refrigerante.
Explicar el sentido de circulación y su razón, que es elegante: el refrigerante entra frío por abajo y sale caliente por arriba. Ese sentido no es casual, aprovecha que el fluido caliente tiende a subir por sí solo. El circuito trabaja con la convección natural en lugar de contra ella.
Desarrollar el recuadro, que describe una avería difícil y frecuente en vehículos a los que se les echó agua sola durante años: las cámaras se obstruyen con cal y sedimentos. El circuito sella perfectamente, la bomba gira, el termostato abre y sin embargo el motor se recalienta en carga, porque el refrigerante no llega a las zonas calientes.
Dar la pista de diagnóstico: con el motor caliente, el radiador presenta zonas frías al tacto, lo que indica que no circula uniformemente. Advertir de hacerlo con precaución.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bomba comparándola con la de aceite, porque el contraste aclara ambas.
La bomba de aceite es de desplazamiento positivo porque allí interesa presión y un caudal controlado. La de agua es centrífuga porque aquí interesa lo contrario: mucho caudal a poca presión. Un rodete con álabes lanza el refrigerante hacia la periferia por efecto del giro, y de ahí sale hacia el bloque.
Señalar una ventaja del tipo centrífugo que no es evidente: si el circuito se cierra, la bomba no genera sobrepresión, simplemente deja de mover caudal. Una bomba de desplazamiento positivo reventaría algo.
Explicar el accionamiento y su consecuencia de mantenimiento: cuando la bomba la mueve la correa de distribución, se sustituye junto con ella, porque el acceso ya está abierto y su vida es comparable. Es lo que se estudió en la Unidad 3.
Desarrollar el recuadro, que describe un detalle de diseño muy útil y poco conocido: el orificio de drenaje entre el sello y el rodamiento. Está previsto a propósito para que una fuga incipiente del sello salga fuera y se vea, en lugar de entrar al rodamiento y destruirlo. Un goteo por ese orificio no es un defecto de fabricación: es el aviso que el fabricante quiso dar.
Terminar con la erosión del rodete y su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radiador como lo que es: un intercambiador de calor entre dos fluidos, el refrigerante y el aire.
Describir su construcción con las figuras: dos depósitos unidos por un núcleo de tubos finos rodeados de aletas. El refrigerante circula por dentro de los tubos y el aire pasa entre las aletas.
Señalar el principio común con la refrigeración por aire, que ya se anticipó: maximizar la superficie de intercambio. En el motor por aire las aletas están en el cilindro; aquí están en el radiador, con un fluido intermedio que transporta el calor hasta él. Es la misma idea aplicada en dos sitios distintos.
Explicar el sentido de circulación: entra caliente por arriba y sale frío por abajo, lo que vuelve a aprovechar la convección.
Mencionar la evolución de materiales: de cobre y latón a aluminio con depósitos de plástico. Señalar una consecuencia práctica: los radiadores antiguos se podían soldar y reparar; los actuales, en general, se sustituyen.
Desarrollar el recuadro, que contiene un recordatorio práctico importante: la obstrucción exterior por barro, hojas e insectos es muy frecuente, sobre todo en vehículos de trabajo, y se resuelve con una limpieza a baja presión. A alta presión se doblan las aletas, y unas aletas dobladas reducen el paso de aire de forma permanente.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un concepto físico sencillo con consecuencias muy prácticas, e incluye la advertencia de seguridad más importante de la unidad.
Explicar la presurización: el agua hierve a cien grados al nivel del mar, y la temperatura de trabajo del motor está cerca de ese valor. Si el circuito estuviera a presión atmosférica, cualquier punto caliente local produciría ebullición, y el vapor no refrigera. Al presurizar el circuito, la temperatura de ebullición sube y se gana margen.
Explicar las dos válvulas de la tapa. La de presión limita el valor máximo, dejando pasar refrigerante al depósito de expansión. La de vacío hace lo contrario: cuando el motor se enfría, el refrigerante se contrae y crearía una depresión capaz de colapsar mangueras; esta válvula permite que el líquido vuelva desde el depósito.
Dar la advertencia de seguridad del recuadro con toda la seriedad, porque es la lesión más grave y más frecuente de este trabajo: con el circuito caliente y presurizado, el refrigerante está por encima de su temperatura de ebullición a presión atmosférica. Al abrir la tapa, la presión cae de golpe, el líquido hierve instantáneamente y sale proyectado. Nunca se abre un circuito caliente.
Terminar con el tercer punto final, que es criterio económico: una tapa cuesta muy poco y causa averías difíciles de diagnosticar.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convierte una observación gratuita en una herramienta de diagnóstico.
Desarrollar el recuadro: el depósito de expansión es translúcido a propósito, para poder ver el refrigerante sin abrir nada. Mirarlo es lo primero que hay que hacer ante cualquier problema de refrigeración, porque no cuesta nada y descarta o confirma varias hipótesis.
Recorrer la tabla de observaciones. Las burbujas constantes con el motor en marcha son especialmente concluyentes: indican gases de combustión pasando al circuito, es decir, empaque soplado o fisura. Es la misma prueba que se mencionó en la Unidad 3.
Explicar la purga con detenimiento, porque es un paso que se omite y causa averías: al llenar el circuito queda aire atrapado. Ese aire forma bolsas que impiden la circulación, y se acumula en los puntos altos, que es justamente donde está la culata, la zona más caliente. El resultado es un motor que se recalienta después de una reparación que, por lo demás, estaba bien hecha.
Explicar los dos métodos de purga y advertir de que, al hacerlo con el motor en marcha y el depósito abierto, hay que tener cuidado con el ventilador y con las salpicaduras cuando el termostato abra.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ventilador es un elemento sencillo cuyo fallo produce un patrón de síntomas muy reconocible, que conviene que quede fijado.
Recorrer los tres tipos de mando en orden evolutivo. El acoplado directamente al motor es el más simple y el más ineficiente: gira siempre, consume potencia y hace ruido incluso cuando no hace ninguna falta, por ejemplo circulando por carretera en invierno.
El embrague viscoso fue la primera solución: un fluido acopla el ventilador al eje solo cuando el aire que viene del radiador está caliente. Es una regulación mecánica, sin electricidad. Su avería típica es que el fluido se degrada y el embrague deja de acoplar.
El electroventilador es la solución actual: un termocontacto o la unidad de mando lo conecta cuando hace falta. Permite además mantenerlo funcionando con el motor ya parado, que es útil tras un uso exigente.
Desarrollar el recuadro, que es el criterio de diagnóstico: cuando el ventilador no entra, el motor se recalienta en ciudad, en atascos y parado, y se enfría al circular, porque entonces la marcha mueve aire suficiente. Si el cuadro es el contrario —se recalienta en carretera y no en ciudad— el problema está en otro sitio, probablemente en el caudal o en el radiador.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termostato es el elemento que hace que el sistema regule en lugar de solo enfriar, y por eso es el más importante conceptualmente.
Explicar su funcionamiento: una cápsula contiene una cera que se dilata mucho al pasar de sólida a pastosa a una temperatura determinada. Esa dilatación empuja un vástago que abre la válvula. Al enfriarse, la cera se contrae y un muelle cierra. Es un mando puramente térmico, sin electricidad ni mando externo.
Explicar la función del circuito corto, que ya se adelantó: con el termostato cerrado el refrigerante sigue circulando, pero por un camino que no pasa por el radiador. Eso acelera el calentamiento.
Explicar el termostato de doble válvula: al abrir el paso al radiador, cierra simultáneamente el circuito corto, de modo que todo el caudal va al radiador en lugar de repartirse.
Recorrer los tres modos de fallo. Insistir en el segundo, que casi nunca se detecta porque no produce alarma: un termostato bloqueado abierto hace que el motor trabaje por debajo de su temperatura, con más consumo, más desgaste y formación de lodos. El único síntoma perceptible es que tarda en calentar y que la calefacción no calienta bien.
Explicar la prueba del recuadro, que es sencilla y conviene ejecutar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corrige una creencia muy extendida y de consecuencias caras.
Empezar reconociendo lo que es cierto: el agua es, por sí sola, un excelente refrigerante. Transporta calor mejor que cualquier mezcla con anticongelante. Si el único criterio fuera refrigerar, el agua ganaría.
Explicar entonces por qué no se usa, con el recuadro: el agua corroe el hierro, el aluminio y el latón del circuito; deposita cal en las cámaras y en el radiador; se congela a cero grados, y al congelarse se dilata y puede fisurar el bloque; y hierve a cien grados, que está demasiado cerca de la temperatura de trabajo. Lo que hace útil al refrigerante no es que enfríe mejor, sino todo lo demás.
Recorrer los componentes de la tabla, destacando los inhibidores de corrosión, que son los que más se olvidan y los que explican por qué el refrigerante tiene intervalo de cambio.
Desarrollar el primer punto final, que es el concepto clave del mantenimiento: los inhibidores se agotan. A partir de ese momento el refrigerante sigue haciendo su trabajo térmico, de modo que no hay ningún síntoma, pero el circuito empieza a oxidarse por dentro. Es exactamente el mismo razonamiento que con los aditivos del aceite.
Advertir sobre mezclar tipos distintos y sobre el relleno con agua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de mayor valor profesional de la clase y conviene trabajarla despacio.
Hacer notar primero la estructura: casi todos los fallos del circuito producen el mismo síntoma general, que es el recalentamiento. Lo que los distingue es en qué condiciones aparece. Por eso la primera herramienta de diagnóstico no es un instrumento, es una pregunta al cliente.
Desarrollar el recuadro: si se recalienta en ciudad y se enfría en carretera, falta aire, y eso apunta al ventilador. Si se recalienta siempre y deprisa, falta circulación o falta refrigerante. Si se recalienta solo en carga, hay caudal pero insuficiente para la carga térmica. Tres patrones, tres familias de causas.
Recorrer las demás filas. Insistir en la cuarta, que es la que nadie lleva al taller porque no enciende ninguna luz, y que sin embargo cuesta consumo y desgaste.
Explicar las dos pruebas instrumentadas del final. La de presión se hace en frío y revela fugas que no se ven, incluidas las internas. La de gases en el refrigerante es concluyente para el empaque de culata.
Recordar la prudencia con el circuito caliente en todas estas comprobaciones.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la pregunta de autoevaluación, cuyo patrón es el tercero de los tres vistos.
La respuesta esperada: recalentamiento solo en carga, con ventilador correcto y nivel correcto, apunta a caudal insuficiente. El circuito funciona, pero no mueve el calor que la carga genera. Las causas candidatas son el rodete de la bomba erosionado, las cámaras del bloque obstruidas o el radiador obstruido interna o externamente. Para comprobarlo: tocar el radiador con el motor caliente buscando zonas frías, que indicarían circulación desigual; inspeccionar el radiador por fuera; y, si procede, desmontar la bomba y examinar el rodete.
Aprovechar para insistir en el método de la clase: el patrón del síntoma orienta la familia de causas antes de cualquier instrumento.
Repasar las seis ideas, deteniéndose en la última, que conecta esta unidad con la anterior y que tiene mucho valor profesional: el recalentamiento es la causa última de buena parte de las averías del cabezote. Reparar una culata sin averiguar por qué se recalentó el motor es garantizar que vuelva.
Anunciar la clase 4.3: el bloque, la pieza que aloja a ambos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las dos primeras clases de la unidad y es de las más útiles para el estudio, porque organiza en una sola tabla dos sistemas completos.
Recorrer la tabla fila por fila, pidiendo a los estudiantes que completen la segunda columna antes de mostrarla. Si han seguido las dos clases, deberían poder hacerlo, y comprobarlo es un buen ejercicio de consolidación.
Detenerse en la fila de la bomba, porque el contraste es instructivo: de desplazamiento positivo en lubricación, porque allí interesa presión controlada; centrífuga en refrigeración, porque allí interesa caudal. El tipo de bomba lo decide lo que el sistema necesita.
Detenerse también en la fila del regulador, donde el contraste es conceptual: la válvula de descarga regula una magnitud, la presión; el termostato regula un camino, decide por dónde circula el fluido. Son dos formas distintas de resolver un problema de regulación.
Desarrollar el recuadro, que es el aprendizaje transferible: el mismo esquema sirve para cualquier circuito de fluidos del vehículo. El de combustible de la Unidad 2 lo cumple; el de frenos y el de dirección asistida también.
Terminar con el párrafo sobre el acoplamiento entre ambos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ejercicios concretan el trabajo de la clase y producen la evidencia colaborativa declarada.
Insistir en el recuadro del ejercicio uno, porque es lo que le da valor: no se trata de copiar el esquema de la diapositiva. Se trata de ir al motor, seguir cada manguera con la mano y dibujar lo que realmente hay. Al hacerlo aparecen cosas que los esquemas simplifican: el ramal de la calefacción, las tomas del depósito de expansión, los tubos de purga y, en motores modernos, los ramales del enfriador de aceite o del turbo.
El ejercicio dos convierte ese dibujo en una herramienta de diagnóstico: marcar sobre él dónde puede fallar cada cosa obliga a relacionar elemento, fallo y síntoma.
El ejercicio tres construye el uso del manual y aporta dos datos que se necesitarán en la práctica.
El ejercicio cuatro es de método: no pide una respuesta, pide un orden de comprobaciones y qué descarta cada una. Es exactamente lo que se evalúa en la parte de casos del examen.
Recordar que el esquema se conserva para la práctica y para el repaso.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tres prácticas que no deben hacerse, porque las tres son frecuentes y las tres se transmiten de taller en taller.
La primera es de seguridad personal y ya se ha advertido; repetirla aquí no sobra.
La segunda es de seguridad del motor y se conoce poco: echar agua fría en un motor recalentado produce un choque térmico sobre una culata de aluminio que está muy caliente y dilatada. La contracción brusca puede fisurarla. Si hay que rellenar, se espera a que el motor esté templado y se añade despacio, preferiblemente con el motor en marcha al ralentí para que el fluido se mezcle.
La tercera merece el recuadro porque es la más extendida y la peor entendida. Retirar el termostato parece lógico —si el motor se calienta, que circule siempre por el radiador— y es un error en dos sentidos. Primero, no resuelve la causa del recalentamiento, solo la enmascara mientras la carga sea baja. Segundo, deja el motor trabajando permanentemente por debajo de su temperatura, con todo lo que eso implica: consumo, desgaste, lodos y dilución del aceite. Y en muchos circuitos, además, el refrigerante toma el camino de menor resistencia y pasa menos por el radiador que con el termostato puesto.
Terminar con las tres buenas prácticas.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da la escala del problema térmico y explica por qué el sistema se dimensiona como se dimensiona.
Explicar el reparto de la energía del combustible en cuatro destinos: trabajo útil en el cigüeñal, calor evacuado por el refrigerante, calor que sale con los gases de escape y pérdidas restantes por rozamiento, auxiliares y radiación.
Desarrollar el recuadro, que es el dato que sorprende: la energía que el sistema de refrigeración tiene que evacuar es del mismo orden que la que el motor entrega como trabajo. Visto así, el radiador no es un accesorio: es un intercambiador que maneja una potencia térmica comparable a la potencia mecánica del motor.
Desarrollar las tres consecuencias. La primera es de diseño y explica por qué modificar un motor para aumentar su potencia obliga a revisar la refrigeración. La segunda es local y conecta con lo visto en la Unidad 2: en altura el aire es menos denso y transporta menos calor por unidad de volumen. La tercera es de diagnóstico: un circuito justo funciona bien en uso normal y falla en trabajo continuado, que es exactamente el patrón de recalentamiento en carga.
Mencionar que el turbocompresor aprovecha parte de la energía del escape, conectando con la Unidad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procedimiento es cotidiano y conviene darlo con detalle.
El paso uno repite la advertencia de seguridad. Darla cada vez que aparece no sobra.
El paso dos corrige un error muy frecuente: vaciar solo por el radiador deja una parte importante del refrigerante viejo dentro del bloque. Si el motor tiene tapón de drenaje en el bloque, se usa.
El paso tres introduce el criterio de enjuague: si el fluido que sale está sucio, oxidado o con partículas, llenar directamente con fluido nuevo lo contamina desde el primer momento.
Desarrollar el paso cinco con el recuadro, porque es la causa número uno de recalentamientos después de una reparación bien hecha: el aire atrapado se acumula en los puntos altos, y el punto alto del circuito es la culata, que es además la zona más caliente. Un motor con una bolsa de aire en la culata se recalienta aunque todo lo demás esté perfecto.
Terminar con las mangueras, que se comprueban en cada mantenimiento: deben estar flexibles, sin grietas y sin zonas blandas. Una manguera degradada puede reventar y dejar al motor sin refrigerante en segundos, lo que casi siempre significa culata alabeada.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consolida el método de diagnóstico de la clase en forma de tabla de patrones.
Recorrerla haciendo notar que las cinco filas cubren prácticamente todos los casos que llegarán al taller, y que lo que las distingue no es ninguna medición, sino la condición en que aparece el síntoma.
Desarrollar el recuadro, que es una idea profesional que vale más allá de esta unidad: la comprobación más rentable del oficio es escuchar bien al cliente. La descripción de cuándo y dónde ocurre el problema reduce el espacio de búsqueda antes de tocar nada.
Explicar las preguntas que hay que hacer, que son cinco y están pensadas para obtener esa información aunque el cliente no sepa qué es relevante.
Insistir en la última, que es la más productiva: si el cliente ha tenido que rellenar refrigerante, hay una fuga en alguna parte. Encontrarla es lo primero, porque muchas veces el recalentamiento no tiene más causa que la falta de fluido, y porque una fuga interna cambia por completo el diagnóstico.
Pedir que practiquen las preguntas entre ellos, con un estudiante haciendo de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ejercicio es sencillo y de aplicación cotidiana inmediata.
Resolverlo en la pizarra. El cálculo es trivial, pero el paso tres contiene el aprendizaje real.
Desarrollar el recuadro, que describe un error muy extendido: muchos refrigerantes se venden ya premezclados, listos para usar. Si se toman por concentrados y se diluyen de nuevo con agua, la proporción final queda muy por debajo de la especificada. El resultado es menos protección anticorrosiva, menos margen frente a la ebullición y menos protección frente a la congelación, y nada en el funcionamiento lo advierte. El motor sigue andando y el circuito se oxida por dentro.
Explicar por qué se usa agua desmineralizada y no agua corriente: el agua corriente aporta cal y minerales que se depositan precisamente en las cámaras del bloque y en el radiador. Es la causa de las obstrucciones que se estudiaron antes.
Explicar la comprobación con refractómetro, que es rápida y da directamente el punto de congelación de la mezcla, lo que permite deducir la proporción.
Pedir que busquen en Autodata la capacidad y el tipo de refrigerante del motor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la clase con la dimensión profesional del trabajo, que conecta con las habilidades blandas que el PEA declara.
La primera tarjeta es de trazabilidad: lo que se registra en el historial del vehículo. Sin ese registro, dentro de tres años nadie sabrá cuándo se cambió el refrigerante.
La segunda es el control de calidad antes de entregar, y conviene que se convierta en rutina.
Desarrollar el recuadro sobre la tercera tarjeta, porque es verdad y conviene decirlo: la mayor parte de las culatas alabeadas que llegan a un taller llegaron porque alguien siguió circulando con el testigo de temperatura encendido. Un cliente al que se le explica que debe detenerse evita, él solo, la reparación más cara de esta asignatura. Explicar eso es parte del trabajo técnico.
Explicar el primer punto final, que es un detalle práctico: el aire residual sale con los primeros ciclos térmicos y el nivel baja. Comprobarlo al día siguiente completa el trabajo.
Terminar con el segundo y tercer punto, que conectan con el liderazgo ético: lo que se detecta se registra y se advierte, aunque el cliente no autorice la reparación.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preguntas consolidan las dos primeras clases de la unidad y tienen el formato de la prueba.
Trabajarlas en clase si queda tiempo, en parejas y en voz alta, porque explicar en voz alta revela de inmediato si se ha entendido o solo memorizado.
Recordar brevemente las respuestas esperadas. La uno: porque la lubricación hidrodinámica depende del giro y a cero revoluciones no existe. La dos: porque la válvula by-pass deja pasar el aceite sin filtrar, de modo que el motor sigue recibiendo caudal, pero sucio. La tres: porque el testigo es un interruptor que se cierra por debajo de un mínimo, de modo que cuando se enciende la presión ya es peligrosamente baja. La cuatro: con el termostato, que mantiene el refrigerante en circuito corto hasta la temperatura de trabajo. La cinco: para elevar la temperatura de ebullición y ganar margen; si la tapa no tara, el refrigerante hierve antes y el motor se recalienta. La seis: descarta falta de circulación y de fluido, que darían recalentamiento también en carretera, y apunta al ventilador.
Insistir en el recuadro: ninguna se responde con una definición. Todas piden explicar un porqué.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bloque como la pieza que sostiene todo lo demás: aloja los cilindros, soporta el cigüeñal, contiene los conductos de los dos sistemas estudiados en las clases anteriores y recibe sobre sí todos los esfuerzos de la combustión.
Conectar con la Unidad 1, donde ya se midió un bloque: diámetro, ovalización, conicidad y planitud. Lo que añade esta clase es el porqué de esas mediciones y la parte del bloque que entonces no se tocó: los apoyos de bancada, que es donde se asienta el cigüeñal.
Anunciar el recorrido: función y exigencias, materiales, camisas, los conductos de los dos sistemas que ahora ya se conocen, los apoyos de bancada y las comprobaciones.
Señalar que esta clase es corta en contenido nuevo y larga en integración: casi todo lo que se dice aquí conecta con algo ya estudiado. Es deliberado, porque el bloque es el punto donde todo converge.
Advertir sobre el peso y la manipulación: un bloque desnudo es pesado y se mueve con medios adecuados, nunca a pulso ni apoyándolo sobre sus planos mecanizados.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Traducir el objetivo a la decisión profesional que resume el trabajo: un bloque llega a la mesa y hay que decidir qué se hace con él. Las respuestas posibles son apto, apto con rectificado —y de qué tipo— o rechazado, y cada una tiene consecuencias económicas muy distintas para el cliente.
Recordar que parte de este trabajo ya se hizo en la Unidad 1: diámetro, ovalización, conicidad y planitud. Lo que esta clase añade son los apoyos de bancada, que entonces no se midieron, y el criterio para decidir con todas las medidas juntas.
Señalar la evidencia de la clase y su continuidad: la ficha de comprobaciones del bloque es la misma de la Unidad 1 ampliada. Pedir que recuperen aquellas fichas.
Anunciar los cinco bloques de la clase y advertir de que gran parte será integración de lo ya visto, lo que permite ir más deprisa y dedicar más tiempo a las comprobaciones.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Enumerar las exigencias del bloque y detenerse en la que menos se menciona y más consecuencias tiene.
Las tres primeras son esperables: alojar los cilindros con precisión, soportar el cigüeñal y resistir los esfuerzos de la combustión.
Desarrollar la segunda con el recuadro, porque es el concepto central de la clase y se entiende mal: los apoyos de bancada no solo tienen que tener el diámetro correcto, tienen que estar alineados entre sí. El cigüeñal es una pieza rígida que se apoya en todos ellos a la vez; si uno está desplazado respecto a los demás, el cigüeñal queda forzado, flexado, y sus cojinetes se destruyen aunque cada holgura individual sea correcta.
Explicar el párrafo siguiente, que es la consecuencia práctica más importante del armado: esa alineación se consigue mecanizando los apoyos con los sombreretes montados y apretados. Es decir, el semicírculo del bloque y el del sombrerete se mecanizaron juntos, como una sola pieza. Por eso los sombreretes están numerados y marcados en su orientación, y por eso no se pueden intercambiar ni montar girados.
Anunciar que esa regla se aplicará en la práctica y que su incumplimiento se detecta inmediatamente: el cigüeñal no gira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Recuperar lo visto en la Unidad 1 sobre camisas y completarlo con la decisión de reparación, que es lo nuevo.
Recorrer la tabla. El cilindro integrado es la solución clásica en bloques de fundición: el cilindro se mecaniza directamente en el material del bloque. Su reparación es el rectificado a sobremedida, que agranda el cilindro y exige montar pistones de mayor diámetro.
La camisa seca permite algo distinto: sustituir el casquillo y devolver el cilindro a su medida original. La camisa húmeda añade el contacto con el refrigerante y las complicaciones de sellado que se vieron en la Unidad 1.
Desarrollar el recuadro, que es la decisión profesional: rectificar es más barato de mano de obra pero exige pistones nuevos de sobremedida y consume espesor de pared, que es un recurso finito. Encamisar cuesta más de trabajo pero devuelve la medida original y permite conservar los pistones si están bien.
Explicar el primer punto final: antes de decidir hay que consultar qué sobremedidas existen para ese motor. Si el bloque ya se rectificó a la última sobremedida disponible, la única salida es encamisar.
Explicar el rayado cruzado del acabado, que se desarrollará en la clase siguiente al hablar de los segmentos.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integra las dos clases anteriores mostrando que ambos circuitos están labrados dentro de la misma pieza.
Recorrer la primera figura identificando la galería principal de aceite, los apoyos de bancada, los de biela y la toma de aceite. Es el mismo recorrido que se estudió en la clase 4.1, ahora visto sobre la pieza real.
Recorrer la segunda figura identificando las cámaras de agua del bloque y su continuidad hacia la culata, que es el recorrido de la clase 4.2.
Recorrer la tabla de comprobaciones, que es lo que se ejecutará en la práctica. Insistir en el método: los conductos se soplan con aire comprimido y se comprueba que el aire sale por cada apoyo. Es una comprobación de un minuto por conducto.
Desarrollar el recuadro, que es un criterio de oportunidad: el bloque desnudo es el único momento en que estos conductos son accesibles. Una vez montados cigüeñal, pistones y culata, ya no hay forma de llegar. Por eso la limpieza y la comprobación se hacen ahora, sin excepción.
Recordar los tapones de expansión, que se vieron en la práctica de la Unidad 1 y que se sustituyen si están corroídos.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organiza todas las comprobaciones del bloque, integrando las de la Unidad 1 con las nuevas.
Recordar que las cuatro primeras filas, salvo la de apoyos de bancada, se practicaron ya en la Unidad 1 con el mismo método. Lo nuevo son los apoyos.
Desarrollar el recuadro, que es el concepto clave de la medición de apoyos: el alojamiento del cojinete de bancada no es un agujero completo del bloque, es la suma del semicírculo del bloque y el del sombrerete. Solo cuando el sombrerete está montado y apretado a su par existe ese alojamiento como círculo. Medir el semicírculo del bloque suelto no informa de nada.
Explicar la alineación de apoyos, que es la comprobación más especializada: se verifica que todos los apoyos estén en el mismo eje. Puede hacerse con una regla de precisión apoyada en los semicírculos del bloque o, de forma más fiable, con un mandril de verificación que debe entrar y girar libremente por todos los apoyos.
Explicar el orden de las comprobaciones del segundo punto final y su lógica económica: primero lo que puede rechazar la pieza, porque si el bloque está fisurado no tiene sentido seguir midiendo.
Recordar el criterio final y la obligación de justificarlo.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convierte la medición del bloque en una decisión técnica y económica, que es lo que el resultado de aprendizaje pide.
Explicar qué es una sobremedida: no es cualquier diámetro mayor, es un escalón normalizado por el fabricante para el que existen pistones y segmentos fabricados. Rectificar a una medida intermedia, sin pistón disponible, convierte el bloque en chatarra.
Explicar el límite físico: entre un cilindro y el siguiente, y entre el cilindro y las cámaras de refrigeración, hay un espesor de pared finito. Cada rectificado consume parte de él. Cuando ese espesor baja de cierto valor, el cilindro pierde rigidez y puede llegar a comunicar con la cámara de agua.
Desarrollar el recuadro, que es una regla que se incumple por ahorrar: todos los cilindros se rectifican a la misma sobremedida. Si uno estuviera a una medida y los demás a otra, los pistones tendrían masas distintas y el equilibrado del cigüeñal, que se hizo contando con masas iguales, dejaría de valer. El resultado son vibraciones.
Recorrer la tabla de decisiones, que es el producto de la clase: tres resultados posibles de la medición y tres decisiones, cada una con lo que hay que pedir al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bruñido es un concepto que los estudiantes rara vez conocen y que explica por qué muchas reparaciones de consumo de aceite fracasan.
Explicar qué es: un acabado final que deja en la pared del cilindro un rayado cruzado de microsurcos, con un ángulo determinado respecto al eje. No es una imperfección del mecanizado, es un acabado buscado y controlado.
Explicar para qué sirve: los microsurcos retienen aceite. Gracias a ellos, el segmento desliza siempre sobre una película en lugar de sobre metal desnudo. Es la misma lógica de la película de aceite que se estudió en la clase 4.1, aplicada a una superficie que no tiene conducto de aceite propio.
Desarrollar el recuadro, que es la consecuencia práctica más importante: con el uso, el rayado se va borrando y el cilindro queda espejado, brillante. Un cilindro así no retiene aceite y, sobre él, unos segmentos nuevos no asientan: se mantienen sobre una superficie pulida sin adaptarse a ella. El motor sigue consumiendo aceite después de una reparación que parecía correcta. Por eso, antes de montar segmentos nuevos, se restaura el rayado con un bruñidor aunque el diámetro esté dentro de límites.
Insistir en la limpieza posterior: el polvo del bruñido es abrasivo y se retira con agua, jabón y cepillo, no con disolvente.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 ficha impresa y señalar que amplía la que ya se completó en la práctica de la Unidad 1.
Recorrer las filas por bloques. Las dos primeras son las que pueden rechazar la pieza y por eso van primero. La tercera, la altura del bloque, es análoga a la del cabezote y cumple la misma función: saber si queda material para rectificar.
Las filas de cilindro son las de la Unidad 1 y se repiten para cada uno, con sus dos direcciones y tres alturas.
Las filas de apoyos de bancada son las nuevas de esta unidad. Recordar que se miden con los sombreretes montados y apretados a su par.
Las tres últimas son de inspección: conductos, cámaras y rayado. Señalar que la última, el estado del rayado, es la que decide si hace falta bruñir aunque el diámetro esté bien.
Insistir en el recuadro: el informe termina con una decisión justificada, y aquí hay cinco decisiones posibles, no tres. Esa precisión es la que se evalúa.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la pregunta de autoevaluación, que tiene una respuesta contraintuitiva y es exactamente el tipo de pregunta que distingue a quien entendió la clase.
La respuesta: no es apto tal como está. Las medidas dimensionales están bien, de modo que el cilindro no necesita rectificado, pero el acabado superficial se ha perdido. Unos segmentos nuevos montados sobre una pared espejada no asentarán, porque no hay microsurcos que retengan aceite ni rugosidad a la que adaptarse. El motor seguirá consumiendo aceite. La solución es bruñir para restaurar el rayado, lo que es una operación menor comparada con un rectificado.
Aprovechar para señalar la idea de fondo: una pieza no se juzga solo por sus dimensiones. El acabado superficial es una característica técnica tan real como el diámetro.
Repasar las seis ideas, deteniéndose en la segunda y la tercera, que son las nuevas de esta clase, y en la sexta, que es un criterio de oportunidad que se aplicará en la práctica.
Anunciar la clase 4.4: lo que se mueve dentro del bloque, y el armado que cierra la asignatura.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hace explícita la continuidad de la asignatura y tiene valor organizativo para la práctica.
Recorrer la tabla señalando lo que ya se hizo y lo que se añade. Es importante que los estudiantes vean que no están aprendiendo métodos nuevos, sino aplicando los mismos a un alcance mayor.
Desarrollar el recuadro, que es la idea de fondo de toda la asignatura: lo que distingue a un técnico no es conocer más instrumentos, sino ser capaz de medir un conjunto completo y decidir con todas las medidas a la vista. Medir un cilindro es metrología; decidir qué se hace con un bloque es oficio.
Explicar el primer punto final, que es práctico: si el motor de prácticas es el mismo, las fichas de la Unidad 1 siguen siendo válidas para las filas que ya se midieron, y recuperarlas ahorra tiempo de laboratorio.
Explicar el segundo, que es un ejercicio muy ilustrativo si el motor ha funcionado entre ambas prácticas: comparar las medidas de entonces con las de ahora muestra el desgaste producido en ese tiempo. Pocas veces se tiene la oportunidad de ver el desgaste medido en lugar de descrito.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desarrolla la parte del resultado de aprendizaje que habla de seguridad, en sus dos sentidos: seguridad de las personas y cuidado de las piezas.
La primera tarjeta es de prevención de lesiones: un bloque desnudo pesa lo suficiente para producir una lesión de espalda. Se mueve entre varias personas o con medios mecánicos.
La segunda es de cuidado de la pieza y suele ignorarse: apoyar el bloque directamente sobre su plano superior o sobre los apoyos de bancada daña precisamente las superficies de las que depende todo. Se usan tacos de madera.
Recorrer los cuatro puntos de procedimiento. El tercero es importante en el laboratorio, donde el bloque puede pasar días entre sesiones: tras un lavado con agua, las superficies mecanizadas se oxidan en horas. Una fina capa de aceite lo evita.
Desarrollar el recuadro, que conecta con el resultado de aprendizaje de la unidad: demostrar seguridad con las herramientas incluye no dañar la pieza sobre la que se trabaja. Un bloque rayado por una llave apoyada encima no es mala suerte, es falta de oficio. Y es exactamente lo que el resultado de aprendizaje pide evitar.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tren alternativo como el conjunto que convierte la presión de la combustión en par en el cigüeñal, que es la razón de ser de todo el motor.
Recordar que estas piezas ya aparecieron en la Unidad 1, donde se nombraron y se midió el pistón. Lo que añade esta clase es el funcionamiento detallado de cada una, sus comprobaciones completas y, sobre todo, el armado, que es la actividad que cierra la asignatura.
Anunciar el recorrido: el mecanismo y sus fuerzas; el pistón con sus zonas y sus materiales; los segmentos, que son la pieza más sutil del conjunto; el bulón; la biela; el cigüeñal y sus cojinetes; las holguras y cómo se miden; y el armado con sus pares.
Advertir que esta clase contiene el contenido más exigente de la unidad en cuanto a precisión: aquí las holguras se miden en centésimas y milésimas de milímetro, y un error de esa magnitud decide si el motor dura o se destruye.
Anunciar también que al final de la clase se hace el repaso integrado de las unidades 3 y 4 para el examen bimestral, con el que se cierra la asignatura.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resultado de aprendizaje, que es el de toda la unidad, y traducirlo a la competencia concreta de esta clase: armar el tren alternativo dejando el cigüeñal girando libre y con los pares correctos.
Hacer explícito el criterio de verificación, que es físico e inapelable: tras montar cada sombrerete al par, el cigüeñal debe seguir girando libremente a mano. Si se endurece al apretar un sombrerete, algo está mal en ese apoyo y hay que detenerse ahí. Ese control intermedio es lo que distingue un armado profesional.
Aclarar el alcance: esta clase cubre el conjunto completo y la práctica lo ejecuta. Las mediciones de bloque de la clase anterior se integran aquí, porque las holguras dependen de las dos piezas, el eje y su alojamiento.
Señalar la evidencia: la ficha completa y, sobre todo, el motor armado y en funcionamiento. Es la única evidencia de toda la asignatura que se verifica poniendo en marcha lo que se construyó.
Anunciar los cinco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explica por qué las cosas se desgastan como se desgastan, y conecta con las mediciones de la Unidad 1.
Explicar el mecanismo: el pistón sube y baja en línea recta, el cigüeñal gira, y la biela es la pieza que relaciona ambos movimientos. Para hacerlo, la biela tiene que inclinarse: solo está vertical en los puntos muertos.
Desarrollar la consecuencia, que es el concepto central: como la biela está inclinada durante casi todo el recorrido, la fuerza que transmite no es paralela al eje del cilindro. Tiene una componente perpendicular que empuja el pistón contra la pared. Durante la carrera de trabajo, que es la de mayor fuerza, ese empuje va hacia un lado concreto, que es el que se llama lado de empuje principal.
Conectar con el recuadro y con la Unidad 1: esa es la razón por la que el cilindro se ovaliza, y por la que la ovalización aparece siempre en el plano en que oscila la biela. Al medir, se toman dos direcciones perpendiculares precisamente para capturarla.
Explicar las fuerzas de inercia y su dependencia del cuadrado del régimen, que justifica el aligeramiento de pistones y bielas en motores rápidos. Conecta con la flotación de válvulas de la Unidad 3, que responde al mismo principio.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pistón es la pieza que más se cree conocer y la que más detalles tiene.
Recorrer las cuatro zonas con la figura, que está bien etiquetada, y pedir que las identifiquen sobre un pistón real.
Desarrollar el recuadro, que es el dato que más sorprende y el que explica la medición: un pistón no es cilíndrico. Es ligeramente ovalado y tiene menor diámetro en la cabeza que en la falda. En frío, montado en el cilindro, se ve claramente que la cabeza tiene más holgura.
Explicar las dos razones. La primera es térmica: la cabeza trabaja mucho más caliente que la falda, de modo que se dilata más. Si en frío tuviera el mismo diámetro, en caliente la cabeza agarrotaría contra el cilindro. Se fabrica más estrecha para que la dilatación la lleve a la medida correcta.
La segunda es de distribución de material: en la zona del alojamiento del bulón hay más material, que se dilata más. Para compensarlo, el pistón se fabrica ligeramente ovalado, con menor diámetro en esa dirección.
Terminar con la consecuencia práctica del tercer punto, que es la que importa al medir: el diámetro se toma donde el manual dice. Medirlo en la cabeza, o en la dirección equivocada, da un valor que no significa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segmentos son piezas pequeñas y baratas de las que depende casi todo el comportamiento del motor, y su funcionamiento tiene detalles muy elegantes.
Recorrer las funciones de los tres segmentos. El primero sella los gases. El segundo completa ese sellado y empieza a controlar el aceite. El tercero es el rascador: retira el exceso de aceite de la pared y lo devuelve al cárter a través de unas ranuras practicadas en la propia ranura del pistón.
Desarrollar el recuadro, que es el detalle más elegante: el primer segmento no sella únicamente por su elasticidad. La presión de los gases de la combustión entra por el hueco que queda detrás de él, en el fondo de la ranura, y lo empuja contra la pared del cilindro. Cuanta más presión hay, con más fuerza sella. El diseño convierte el propio problema en la solución.
Explicar el rayado cruzado y su función, que conecta con la clase anterior: no es un acabado descuidado, es un acabado buscado. Los microsurcos retienen aceite y garantizan que el segmento trabaje siempre sobre una película. Un cilindro pulido como un espejo no retiene aceite y consume segmentos.
Explicar el desfase de aberturas y su razón, que se aplicará literalmente en el montaje de la práctica.
Resolver el caso B de la clase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conjunto pistón-biela, que es la unidad que se desmonta y se monta como tal en la práctica.
Explicar los dos montajes del bulón. Flotante: el bulón puede girar tanto en el pistón como en el pie de biela, y queda retenido por dos anillos elásticos. Fijo: el bulón va montado a presión en el pie de biela y solo gira en el pistón. El primero facilita el desmontaje; el segundo evita los anillos de retención.
Advertir sobre los anillos de retención: si uno se sale con el motor en marcha, el bulón se desplaza y raya el cilindro de forma irreparable. Se montan siempre nuevos y se comprueba que asientan en su ranura.
Desarrollar el recuadro, que repite la regla ya vista en los apoyos de bancada: el sombrerete de biela se mecanizó junto con su biela, de modo que ambos forman una pieza única a efectos de medida. Están numerados y marcados en su orientación.
Explicar la deformación de la biela y cómo se comprueba. Mencionar el golpe de ariete hidráulico: si entra agua al cilindro, el líquido no se comprime y la biela recibe un esfuerzo enorme que la dobla o la parte.
Terminar con la marca de orientación, que se respeta en el armado.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cigüeñal es la pieza más cara del motor y conviene tratarla con el respeto que merece.
Recorrer sus partes con la figura: apoyos de bancada, que se asientan en el bloque; muñequillas de biela, descentradas respecto al eje, que es lo que genera el movimiento; contrapesos; conductos de aceite; y el volante en un extremo.
Explicar los conductos de aceite, que conectan con la clase 4.1: están taladrados dentro de la propia pieza y llevan el aceite desde los apoyos de bancada hasta las muñequillas de biela. Con el cigüeñal desmontado es el momento de soplarlos y comprobar que están libres.
Desarrollar el primer punto final con firmeza, porque es una tentación real en motores modificados: el cigüeñal está equilibrado dinámicamente de fábrica. Retirar material de un contrapeso para aligerarlo desequilibra el conjunto, y un cigüeñal desequilibrado vibra y acaba rompiéndose por fatiga.
Explicar los radios de acuerdo, que es un concepto de resistencia de materiales con aplicación directa: las transiciones curvas entre muñequilla y brazo concentran tensiones. Por eso nunca se rectifican dejando una arista viva, y por eso las roturas de cigüeñal empiezan casi siempre ahí.
Insistir en que el rectificado es trabajo de taller especializado.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análisis de casos declarado en el PEA y conviene trabajarla con cojinetes reales en la mano.
Recorrer la tabla asociando cada aspecto con su causa. Es el ejercicio de lectura de piezas que da nombre a la técnica: un cojinete rayado finamente habla de partículas; uno con el material fundido habla de falta de película; uno desgastado solo en una zona habla de carga desigual, es decir, de algo torcido.
Desarrollar el recuadro, que es el criterio profesional: los cojinetes conservan la historia del motor. Antes de tirarlos hay que mirarlos, porque sustituirlos sin corregir la causa garantiza que los nuevos acaben igual en poco tiempo.
Explicar la lengüeta y corregir un malentendido frecuente: no sirve para posicionar el cojinete axialmente, sino para impedir que gire arrastrado por el eje. El cojinete debe quedar quieto mientras el eje gira dentro de él.
Explicar por qué no se liman ni se ajustan: su espesor es calibrado y determina la holgura, que es el parámetro del que depende la formación de la película hidrodinámica. Cualquier retoque la altera.
Explicar el tercer punto, que es un detalle de diseño poco conocido: los cojinetes sobresalen ligeramente de su alojamiento para que, al apretar, queden firmemente comprimidos contra él, lo que garantiza que no se muevan y que conduzcan el calor al soporte.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medición más característica del armado de un motor y la que mejor resume la asignatura: una magnitud de centésimas de milímetro que decide si el motor dura.
Explicar el método con hilo calibrado paso a paso, porque es el que se usará en la práctica y es muy ingenioso. Se coloca un hilo de plástico de espesor conocido sobre el muñón, se monta el sombrerete y se aprieta a su par. El hilo se aplasta exactamente hasta el espesor del hueco que hay entre el muñón y el cojinete, es decir, hasta la holgura. Al desmontar, el hilo ha quedado convertido en una banda plana cuyo ancho es proporcional a ese espesor, y se lee comparándolo con la escala impresa en el envase.
Insistir en la regla del cuarto punto: con el hilo colocado no se gira el cigüeñal bajo ningún concepto.
Explicar el método alternativo con micrómetro y alexómetro, que es más laborioso pero no consume material.
Recorrer la tabla de consecuencias: insuficiente, gripaje; excesiva, pérdida de presión y golpeteo.
Resolver el caso A de la clase 4.1 con el recuadro, cerrando el círculo entre las dos clases.
Mencionar la holgura axial y los semicojinetes de empuje.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comprobaciones cierran la metrología de la asignatura y conviene señalar expresamente que no hay nada nuevo en el método, solo en la pieza.
Explicar la medición de diámetros: con micrómetro, en dos direcciones perpendiculares para detectar ovalización, y en dos posiciones a lo largo del muñón para detectar conicidad. Es exactamente lo que se hizo con el alexómetro en los cilindros, pero midiendo un eje en lugar de un agujero y por tanto con micrómetro en lugar de alexómetro.
Señalar dónde se desgasta más una muñequilla y por qué: en la zona que recibe el empuje de la carrera de trabajo. Por eso una sola medida puede engañar y hay que medir en varias direcciones.
Explicar la comprobación de rectitud: el cigüeñal se apoya entre puntas, o en sus apoyos extremos, y se mide con comparador en el apoyo central mientras se gira. La lectura indica cuánto está flexado. Un cigüeñal flexado trabaja forzado en todos sus apoyos.
Insistir en la inspección de los radios de acuerdo, que es donde empiezan las fisuras.
Explicar la decisión: si los diámetros están fuera de límite, el cigüeñal se rectifica a una sobremedida y se montan cojinetes de ese espesor. Si no queda sobremedida disponible o hay fisura, se sustituye.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procedimiento se ejecutará en la práctica y conviene demostrarlo antes.
El paso uno repite la regla de toda la asignatura: documentar e identificar antes de desmontar. Las bielas y sus sombreretes suelen venir numerados de fábrica; si no lo están, se marcan antes de separarlos.
Desarrollar el paso dos con el recuadro, porque es un error que cuesta un juego de segmentos y que se comete por desconocimiento: si el cilindro tiene un escalón marcado en la parte alta —que es lo que se palpa con la uña, como se vio en la Unidad 1— y se empuja el pistón hacia arriba, el primer segmento choca contra ese escalón y se rompe. Hay que rebajarlo antes con la herramienta adecuada.
Explicar el paso cuatro, que es un detalle de cuidado de piezas: al sacar el conjunto, los espárragos de la biela pasan junto a la muñequilla del cigüeñal y pueden rayarla. Cubrirlos con un trozo de manguera lo evita.
En el paso cinco, insistir en el orden cruzado y por pasos para aflojar los sombreretes de bancada, por la misma razón que en el árbol de levas de la Unidad 3.
Terminar con la advertencia de manipulación del cigüeñal.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procedimiento que cierra la asignatura y el que el resultado de aprendizaje evalúa.
El paso uno no es retórico: una sola partícula atrapada entre el cojinete y su alojamiento levanta localmente el cojinete, reduce la holgura en ese punto y destruye el conjunto en las primeras horas de funcionamiento.
El paso dos integra la medición de holgura en el propio armado, que es como se hace en la práctica profesional: no se mide todo primero y se arma después, se mide cada apoyo al montarlo.
En el paso cuatro, recordar el orden del centro hacia los extremos y en varias pasadas, por la misma razón que en el cabezote de la Unidad 3.
Desarrollar los pasos cinco y siete con el recuadro, porque son el control de calidad del trabajo y la mejor costumbre que un estudiante puede llevarse de esta asignatura: después de apretar cada sombrerete, se comprueba que el cigüeñal sigue girando libre a mano. Si se endurece al apretar uno concreto, el problema está en ese apoyo: cojinete mal colocado, suciedad, holgura insuficiente o sombrerete cambiado. Se corrige ahí mismo.
En el paso seis, recordar el desfase de aberturas de los segmentos y el uso del compresor.
Terminar con la holgura axial.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comprobaciones completan la metrología del tren alternativo y se ejecutan en la práctica.
Explicar la holgura pistón-cilindro: es la diferencia entre el diámetro del cilindro, medido con alexómetro, y el del pistón, medido con micrómetro. Recordar lo visto antes: el pistón se mide donde el manual indica, normalmente en la falda y perpendicular al eje del bulón, porque no es cilíndrico.
Explicar la holgura del segmento en su ranura: se mide con galga, introduciéndola entre el segmento montado y la pared de la ranura. Si es excesiva, el segmento se mueve axialmente en cada cambio de sentido, golpea las paredes de la ranura y actúa como una bomba que lleva aceite hacia arriba. Es una causa de consumo de aceite que se suele atribuir erróneamente a los segmentos cuando el problema está en el pistón.
Desarrollar el recuadro sobre la abertura, que es la medición más característica y la que más se hace mal: el segmento es un anillo abierto y elástico; al aire adopta un diámetro mayor que el del cilindro. Solo dentro del cilindro tiene su forma de trabajo. Por eso la abertura se mide ahí, y se escuadra el segmento con un pistón invertido para que quede perpendicular al eje.
Explicar por qué existe esa abertura: el segmento se dilata con el calor, y si no tuviera holgura suficiente sus extremos se tocarían.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segunda parte del análisis de casos declarado en el PEA y conviene trabajarla con pistones reales.
Recorrer la tabla asociando cada aspecto con su causa. Insistir en que estas lecturas conectan con toda la asignatura: la detonación se estudió en la clase 2.3, la falta de lubricación en la 4.1, la biela torcida en esta misma clase.
Explicar la diferencia entre detonación y preencendido, que producen daños distintos. La detonación erosiona el borde de la cabeza y produce ese picado característico; el preencendido, que es un encendido antes de la chispa por un punto caliente, concentra el daño y puede llegar a perforar la cabeza.
Comentar la figura de distribución de temperatura, que confirma lo que se explicó sobre la forma del pistón: la cabeza trabaja mucho más caliente que la falda, de ahí el diámetro menor arriba.
Desarrollar el recuadro con el mismo criterio que se aplicó a los cojinetes: el pistón dañado es el resultado, no la causa. Montar uno nuevo sin averiguar qué destruyó al anterior garantiza que el nuevo acabe igual.
Pedir que cada grupo lea un pistón averiado distinto y exponga su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material de estudio y reúne las averías del conjunto más cargado del motor.
Desarrollar el recuadro, que es el criterio de diagnóstico auditivo y una de las habilidades más valoradas en el taller: los tres golpeteos del tren alternativo se distinguen por su carácter y por cuándo aparecen. El de biela es un golpeteo sordo que aumenta claramente con la carga, porque es cuando el cojinete recibe más fuerza. El de bancada es más grave y profundo, y se nota más a bajo régimen. Y el del pistón es un repiqueteo metálico que suena en frío y desaparece al calentar.
Explicar el primer punto final, que justifica ese último comportamiento: el pistón está fabricado con un diámetro menor del final porque se dilata. En frío, la holgura con el cilindro es mayor de la de trabajo, y si además hay desgaste, el pistón cabecea y golpea. Al calentarse, el pistón se dilata, la holgura se reduce a su valor correcto y el ruido desaparece.
Insistir en el segundo punto final con seriedad: ante un ruido grave y súbito se para el motor. Cada vuelta adicional con una biela dañada puede acabar con la biela atravesando el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 ficha impresa. Es la más extensa de la asignatura y la que cierra la serie.
Explicar su organización: las primeras filas corresponden al pistón y sus segmentos; después el bulón y la biela; después el cigüeñal; y las últimas, las holguras de montaje y la verificación del armado.
Señalar que varias filas se repiten por cilindro y por apoyo, de modo que la ficha real es considerablemente más larga. Conviene preparar una hoja por cilindro.
Desarrollar el recuadro sobre las dos últimas filas, porque son las que distinguen esta ficha de las anteriores: registran no una medida de la pieza, sino una verificación del propio trabajo. El par aplicado y el giro libre comprobado tras cada sombrerete son la evidencia de que el armado se hizo con método.
Recordar que todos los valores del fabricante se consultan en Autodata antes de empezar, y que una ficha con la segunda columna vacía no sirve para nada: sin criterio de aceptación, una medida es solo un número.
Anunciar que el informe de la práctica se cierra con la decisión sobre cada pieza y con el resultado de la puesta en marcha.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clase con las seis ideas y la pregunta de autoevaluación, que describe una situación real del armado y que exige razonar, no recordar.
Las hipótesis esperadas, en orden de comprobación: primero, suciedad o una partícula entre el cojinete y su alojamiento, que es lo más probable y lo más fácil de verificar desmontando ese sombrerete y mirando; segundo, cojinete mal colocado, con la lengüeta fuera de su muesca; tercero, sombrerete cambiado de posición o girado respecto a su orientación original; cuarto, cojinete de espesor incorrecto, es decir, de una sobremedida equivocada; y quinto, holgura insuficiente por diámetro de muñón fuera de medida, que se comprobaría con hilo calibrado.
Señalar que las tres primeras hipótesis se resuelven desmontando ese sombrerete y mirando, lo que cuesta dos minutos, y que por eso van primero.
Insistir en lo que la pregunta enseña: el control de giro libre tras cada apriete no es una formalidad, es lo que permite localizar el error en el apoyo concreto donde está, en lugar de descubrirlo con el motor cerrado.
Repasar las seis ideas y anunciar el cierre de la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ejercicio integrador de la unidad y conviene trabajarlo en grupos, repartiendo un caso a cada uno.
Los seis casos recogen los de apertura de las clases 4.1 y 4.2 más los nuevos de la 4.4, de modo que la tabla cierra toda la unidad.
Desarrollar el recuadro, que es el principio de orientación de la unidad entera: los síntomas se agrupan en tres familias según la magnitud que delatan. Presión apunta a lubricación; temperatura, a refrigeración; ruido, a holguras mecánicas. Esa primera clasificación es inmediata y reduce mucho el espacio de búsqueda. Después, dentro de cada familia, la condición en que aparece el síntoma señala el elemento: al ralentí o siempre, en ciudad o en carga, en frío o en caliente.
Insistir en el orden de trabajo del primer punto final, que es el criterio económico de todo el oficio: primero lo que no exige desarmar. En esta unidad eso incluye niveles, aspecto de los fluidos, presión de aceite, temperatura, compresión y pruebas de fugas. Solo cuando esas comprobaciones orientan el diagnóstico se abre el motor.
Terminar con el registro, que es el hábito profesional que la asignatura entera ha intentado instalar.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esta práctica como la que cierra la asignatura y la que integra todo lo aprendido: la metrología de la Unidad 1, el método de despiece ordenado de la Unidad 2, el apriete con par y en orden de la Unidad 3, y las holguras de esta unidad.
Explicar su estructura en cuatro fases: despiece con registro, comprobaciones completas con ficha, decisión técnica sobre cada pieza, y armado con verificación. La cuarta fase termina con el motor en marcha, que es la verificación definitiva.
Advertir que es la práctica más larga y la que menos admite prisa. Catorce horas repartidas en sesiones, con puntos de parada definidos, igual que en la Unidad 3.
Recordar el criterio que gobierna todo: cada medida se compara con el valor del manual antes de decidir. Las fichas se completan durante la ejecución y los valores del fabricante se consultan antes de empezar.
Recordar la seguridad: peso del bloque y del cigüeñal, aristas vivas, aceite en el suelo, y gestión de los fluidos que se vaciarán.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tiempo real a la preparación, igual que en las prácticas anteriores.
Revisar la herramienta y comprobar que cada puesto la tiene. Desarrollar el recuadro con las dos herramientas críticas. La llave dinamométrica es imprescindible porque los pares de bancada y de biela son valores concretos del manual y apretar a ojo no es una opción: demasiado poco, el sombrerete se afloja; demasiado, se deforma el alojamiento y la holgura cambia. El compresor de segmentos es igualmente imprescindible: los segmentos sobresalen del pistón y hay que comprimirlos dentro de sus ranuras para poder introducirlo en el cilindro. Intentarlo sin él rompe los aros.
Explicar el hilo calibrado y recordar que se consume: hace falta prever cantidad suficiente para todos los apoyos.
Recorrer las advertencias de seguridad. Insistir en la segunda: una práctica con fluidos genera suelo resbaladizo, y en un taller donde se manipulan piezas pesadas eso es un riesgo serio.
Insistir en el último punto: la consulta en Autodata se hace antes, con calma, no con el motor desarmado y el tiempo encima.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primera fase de la práctica y la que prepara todo lo demás.
El paso uno incluye un registro que suele omitirse: anotar la cantidad y el aspecto de los fluidos vaciados. La cantidad de aceite comparada con la capacidad del manual dice si el motor consumía; el aspecto dice cómo se mantuvo.
Desarrollar el paso tres con el recuadro, porque es una oportunidad de diagnóstico de primer orden: el fondo del cárter y el tamiz de aspiración conservan las partículas que el motor soltó a lo largo de su vida. Y esas partículas se pueden leer. Virutas de material de cojinete apuntan a desgaste de bancada o de biela. Virutas de aluminio, a pistones o al propio bloque si es de aleación. Lodos espesos, a mantenimiento tardío o recorridos cortos. Agua emulsionada, a entrada de refrigerante.
Pedir que cada grupo examine el contenido de su cárter antes de limpiarlo y lo registre, con fotografía.
Recordar en el paso cuatro lo explicado sobre el escalón del cilindro y la protección de muñequillas, y en el paso cinco el orden cruzado de aflojado.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fase aplica al cigüeñal el mismo método de medición que se usó con los cilindros en la Unidad 1, y conviene decirlo para que los estudiantes reconozcan la continuidad.
El paso uno tiene doble finalidad: limpiar para poder medir con precisión, y comprobar de paso que los conductos de aceite del cigüeñal están libres. Soplar por el conducto de un apoyo y comprobar que sale aire por la muñequilla correspondiente es una verificación de segundos.
Desarrollar el recuadro sobre el paso dos, porque es donde se pierde información por prisa: hacen falta cuatro lecturas por muñón —dos direcciones en dos posiciones— porque con menos no se pueden calcular ni la ovalización ni la conicidad. Una sola medida por muñón no dice si el muñón está ovalado o cónico, que es justamente lo que decide si hay que rectificar.
Explicar el paso cuatro: el cigüeñal se apoya en sus apoyos extremos y se mide con comparador en el central mientras se gira una vuelta completa. La lectura máxima indica la flexión.
Insistir en el paso cinco y en la inspección de los radios de acuerdo, que es donde empiezan las fisuras.
Recordar que todas las lecturas van a la ficha en el momento de tomarlas.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medición más característica del armado de un motor y conviene demostrarla antes de que los grupos la ejecuten.
Insistir en el paso uno, que es donde más se falla: las superficies deben estar limpias y secas. Si hay aceite, el hilo se desliza al apretar en lugar de aplastarse en su sitio, y la lectura sale mayor de la real.
Explicar el paso dos: el hilo se coloca en sentido axial, es decir, paralelo al eje del cigüeñal, en la zona central del cojinete, que es donde la holgura es representativa.
Repetir la advertencia del paso cuatro con énfasis, porque es un error que invalida la medición entera y que se comete sin darse cuenta: con el hilo colocado no se gira el cigüeñal ni un poco.
Explicar la lectura del paso cinco: el hilo aplastado forma una banda, y su ancho se compara con la escala impresa en el envase. Cuanto más ancha, menor la holgura, porque el hilo se aplastó más.
Insistir en el primer punto final: los restos de hilo se retiran por completo antes del montaje definitivo. Un resto olvidado hace exactamente lo que se quería evitar, alterar la holgura.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fase final de la práctica y de la asignatura.
El paso uno integra lo visto en la clase 4.3: bruñido si el rayado se perdió, limpieza con agua y jabón, y secado inmediato con aceite.
El paso dos incorpora la verificación de giro libre tras cada sombrerete, que es el control de calidad del armado. Insistir en que es obligatorio en la práctica y que se registra en la ficha.
En el paso cuatro, recordar el desfase de aberturas y la marca de orientación del pistón.
En el paso cinco, recordar la protección de las muñequillas con manguera sobre los espárragos de biela y el uso de mango de madera, nunca de martillo.
El paso siete integra la Unidad 3: el cabezote con su empaque nuevo y su par, y la distribución calada con su verificación de dos vueltas. Es el momento en que las dos unidades se juntan.
Desarrollar el recuadro del paso ocho, que es el cierre de la asignatura: el motor arranca o no arranca. La presión sube o no sube. No hay interpretación posible. Es una forma de evaluación poco frecuente y muy valiosa, y conviene que los estudiantes la vivan como 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ambas listas y explicar que forman parte de la evaluación de la práctica.
La lista técnica es un control de que ninguna fase se saltó. Señalar que las cuatro últimas filas acreditan el armado y que son las que más peso tienen: pares, giro libre, calado verificado y puesta en marcha.
La lista ambiental es la misma de la Unidad 3. Aunque el PEA declare el componente ambiental allí y no aquí, los residuos de esta práctica son equivalentes y el criterio se mantiene.
Explicar los tres elementos con que se cierra el informe, del recuadro. La decisión técnica sobre cada pieza con su justificación es el contenido profesional. El resultado de la puesta en marcha es la verificación. Y las conclusiones del grupo, incluidos los errores, son la parte formativa.
Insistir una vez más en lo que se dijo en la Unidad 2: un informe que reconoce un error y explica cómo se resolvió vale más que uno impecable que lo oculta. En esta práctica, donde los errores son visibles y caros, ese criterio importa especialmente.
Recordar el plazo de entrega y el formato acordado.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Organizar la práctica igual que se hizo en la Unidad 3, con puntos de parada definidos.
Presentar el reparto en cuatro sesiones como propuesta ajustable. Lo importante es que cada sesión tenga un punto de parada en el que el trabajo quede en un estado estable.
Señalar la estructura: la sesión uno desarma, la dos y la tres miden y deciden, y la cuatro arma. Esa separación entre medir y armar es deliberada: permite que las decisiones se tomen con calma y que, si hay que conseguir material de reposición, haya tiempo entre sesiones.
Desarrollar el recuadro, que es específico de esta práctica: las superficies mecanizadas de bloque y cigüeñal se oxidan en cuestión de días si quedan sin protección, especialmente tras un lavado con agua. Una fina capa de aceite lo evita y cuesta un minuto.
Recordar la rutina de cierre y de apertura de sesión, igual que en la Unidad 3, y la responsabilidad del grupo sobre el estado del puesto.
Anunciar que la sesión cuatro termina con el motor en marcha y que conviene reservar tiempo suficiente, porque es la que menos admite prisa.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esta diapositiva al empezar el repaso, porque muestra el hilo de la unidad.
Recorrer la tabla insistiendo en la columna de la derecha. De la 4.1, que la película depende del giro y que el arranque es el momento crítico. De la 4.2, que el sistema regula y que cada elemento falla con su patrón. De la 4.3, que los apoyos se mecanizan con sus sombreretes y que la alineación importa. De la 4.4, que la holgura decide y que el giro libre es el control de calidad.
Hacer explícito el hilo del recuadro, que es la razón de que el PEA agrupe estos contenidos: los dos sistemas de fluidos mantienen vivo al motor, el bloque los contiene y aloja todo lo demás, y el tren alternativo hace el trabajo. Las cuatro cosas se integran en una sola práctica, que es la que cierra la asignatura.
Recordar las tres tarjetas y señalar que la evaluación de esta unidad incluye, además de la prueba de unidad, el examen bimestral que evalúa las unidades 3 y 4.
Pedir que repasen con esta diapositiva 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Dedicar la última parte de la sesión a este repaso, con la diapositiva proyectada y resolviendo dudas.
Los cuatro primeros puntos corresponden a la Unidad 3. Recordar que el examen no es solo de la Unidad 4 y que conviene recuperar el material y las fichas de aquella práctica.
Los cuatro últimos corresponden a esta unidad. Señalar que el quinto y el sexto se evalúan sobre todo con casos, y el séptimo y el octavo con comprobaciones y decisiones.
Dar el consejo de estudio del recuadro, que es el mismo que se dio en la Unidad 3 y que funciona para toda la asignatura: para cada comprobación, saber qué se mide, con qué, contra qué valor y qué se decide.
Recordar el formato del examen: parte conceptual, parte de cálculo, parte de procedimiento y parte de casos, igual que la prueba de unidad.
Fijar fecha, duración y material permitido, y ofrecer una sesión de consulta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cierra la asignatura y conviene dedicarle tiempo, porque da sentido retrospectivo a todo el recorrido.
Recorrer la tabla señalando qué aportó cada unidad y, sobre todo, qué quedó instalado como capacidad. La Unidad 1 instaló la metrología y el vocabulario. La Unidad 2, el método de despiece ordenado, con el carburador como primer conjunto. La Unidad 3, el procedimiento con verificación, con la regla de las dos vueltas. Y la Unidad 4, el ensamblaje verificado.
Desarrollar el recuadro, que es el hilo del programa: medir, desarmar con método, comprobar con criterio, ensamblar con verificación. Las cuatro unidades construyen el oficio en ese orden, y ese orden no es casual.
Insistir en los tres puntos finales, que son lo que conviene que se lleven de la asignatura. El primero se repitió en las cuatro unidades. El segundo distingue lo que hay que saber de lo que hay que saber buscar. Y el tercero es el que decide la calidad profesional a largo plazo.
Agradecer el trabajo del grupo a lo largo del periodo.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unidad con la bibliografía y los recursos.
Señalar que la bibliografía es la declarada en el PEA. Para esta unidad, el texto de Alonso Pérez sobre sistemas auxiliares del motor es la referencia más directa para lubricación y refrigeración, y el cuaderno de prácticas contiene las fichas de registro del bloque y del tren alternativo.
Recordar el papel de Autodata, que en esta unidad aporta los datos sin los cuales el armado no se puede hacer: holguras de cojinetes, pares y secuencias de apriete, sobremedidas disponibles y capacidades de los fluidos.
Repasar el material de laboratorio y comprobar su disponibilidad antes de la práctica, con especial atención a la llave dinamométrica, el compresor de segmentos y el hilo calibrado.
Insistir en el material complementario: la colección de piezas averiadas es el mejor recurso didáctico de esta unidad y conviene reunirla con las piezas que van saliendo de las prácticas sucesivas. Cada pieza dañada que se conserva, con una etiqueta que diga de dónde salió y qué le ocurrió, vale más que cualquier fotografía.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asignatura.
Lo que queda pendiente: la práctica de despiece, comprobaciones y armado del bloque motor y del tren alternativo, con su informe; el trabajo autónomo declarado, que es la lectura de la guía didáctica de la unidad 4 y su cuestionario; la prueba de unidad; y el examen bimestral, que evalúa las unidades 3 y 4.
Hacer un balance breve del recorrido: cuatro unidades, ciento veintiséis horas, y un motor que se abrió y se volvió a armar. Esa es, literalmente, la asignatura.
Anunciar hacia dónde continúa la formación: los sistemas de inyección electrónica, la gestión del motor y el diagnóstico asistido son materia de asignaturas posteriores, y todo lo visto aquí es su base. Un motor con inyección sigue siendo un motor: la distribución, la lubricación, la refrigeración y el tren alternativo son los mismos.
Agradecer la participación del grupo durante el periodo y recordar el horario de consulta para las semanas de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mostrar que ninguna superficie es perfectamente lisa: vistas al microscopio tienen crestas que, sin aceite, se tocan, se calientan y se arrancan material. En la figura (b) explique la lubricación hidrodinámica: el giro del eje arrastra el aceite hacia la zona estrecha y genera una presión capaz de levantar el eje; así el metal no toca metal. Relacione con el caso de activación de la clase y con el desgaste en arranques en frío. Pregunta: ¿por qué un motor que se usa en trayectos muy cortos se desgasta más que uno de carretera? Porque pasa más tiempo en arranque y con aceite frío, sin película plenamente formada.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compare las rectas de un SAE 10W, un SAE 40 y un multigrado SAE 10W-40: el multigrado se comporta como un 10W en frío y como un 40 en caliente gracias a los aditivos mejoradores del índice de viscosidad. Con la figura (b) explique que cada grado cubre un rango de temperaturas ambiente. Aclare un error común: la “W” significa winter (invierno), no weight. En Loja, con temperaturas entre 8 y 25 °C, los grados 10W-30, 15W-40 o 5W-30 son habituales, pero siempre manda la especificación del fabricante, especialmente en motores modernos con variadores de fase que dependen de la viscosidad correcta.</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figura (a) pida a los estudiantes que lean una etiqueta real: grado SAE, categoría API (SN, SP para gasolina; CK-4 para diésel) o ACEA, y las homologaciones del fabricante. En la figura (b) compare un aceite nuevo con uno usado y aclare que el color oscuro, por sí solo, no indica que el aceite esté degradado: los aditivos detergentes mantienen el hollín en suspensión. Lo que sí es alarma: aspecto lechoso, que indica refrigerante en el aceite (junta de culata), olor a gasolina (dilución por mezcla rica o bomba de membrana perforada) o partículas brillantes. Relacione con el ejercicio de la clase: leer un aceite y un informe de análisis.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en la figura (a) el detalle que más se olvida: lubricar la junta del filtro nuevo con aceite limpio y apretar a mano, normalmente tres cuartos de vuelta tras el contacto; una llave de filtro solo se usa para aflojar. Comprobar que la junta vieja no quedó pegada a la base, porque dos juntas provocan una fuga masiva. En la figura (b) se lee el nivel con el vehículo en llano, motor apagado unos minutos y varilla limpia. Explique por qué el exceso de aceite es tan perjudicial como la falta. Componente ambiental: el aceite usado y el filtro se depositan en recipientes separados para el gestor autorizado. Registre kilometraje y tipo de aceite en la etiqueta de servicio.</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lámina conecta el mapa de averías con la evidencia física. En la figura (a) se compara un tapón magnético nuevo con uno que acumuló partículas después de 10 000 km: un barro fino es normal, pero virutas o escamas indican desgaste anormal de cojinetes, árbol de levas o bomba. En la figura (b) se ven muestras de aceite listas para análisis de laboratorio: hierro alto sugiere cilindros y segmentos, cobre y plomo sugieren cojinetes, silicio indica entrada de polvo por el filtro de aire, y sodio o potasio delatan refrigerante. Recalque que el valor del análisis está en compararlo con los anteriores del mismo motor.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coloca el comprobador con su adaptador en la boca del depósito y se bombea hasta la presión de trabajo, normalmente entre 1,0 y 1,5 bar. Si la presión cae y no hay fuga visible, se sospecha de fuga interna: junta de culata o culata fisurada; en ese caso suele aparecer refrigerante en el aceite o humo blanco en el escape. En la figura (b) se comprueba el tapón con su adaptador: debe abrir a la presión marcada y su válvula de depresión debe permitir el retorno al enfriarse. Seguridad: nunca se abre el tapón con el motor caliente; el refrigerante a presión puede superar los 110 °C y causar quemaduras graves.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la figura (a) para abrir la conversación: es la escena más común de una avería de refrigeración en carretera. Pregunte qué hizo mal el conductor y qué debió hacer. Con la figura (b) explique la tapa: la válvula principal mantiene el circuito presurizado y desvía el exceso al depósito; al enfriarse, la válvula de depresión deja volver el líquido. Recalque las prohibiciones de la diapositiva anterior: no abrir el tapón en caliente, no añadir agua fría a un motor recalentado (riesgo de fisura por choque térmico), no circular con el indicador en rojo. Componente de seguridad laboral: guantes y protección facial en cualquier intervención en caliente.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señale las temperaturas típicas: válvula de escape 700–800 °C, bujía 800–900 °C, cabeza del pistón 250–300 °C y paredes del cilindro 150–200 °C. Con estas cifras el estudiante entiende por qué la culata tiene más cámaras de agua alrededor de los asientos de escape. En la figura (b) se ve cómo se calienta el bloque en el tiempo: el termostato permanece cerrado hasta que el motor alcanza su temperatura de servicio. Conecte con el cálculo de la diapositiva anterior: aproximadamente un tercio de la energía del combustible se va por el refrigerante. Pregunta: ¿qué ocurre si se retira el termostato “para que no se caliente”? El motor trabaja frío, consume más y se desgasta antes.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el vaciado por el grifo o la manguera inferior del radiador; algunos motores tienen también un tapón en el bloque. Abra el tapón del depósito para que entre aire y el líquido salga sin vacío. En la figura (b) se llena con refrigerante premezclado o con concentrado diluido en agua desmineralizada; nunca agua de grifo, porque sus sales forman incrustaciones. Explique la purga: el aire atrapado forma bolsas que impiden la circulación y provocan sobrecalentamiento local en la culata. Con el motor caliente, se vuelve a comprobar el nivel en frío al día siguiente. Componente ambiental: el refrigerante usado es tóxico y dulce al gusto; se recoge y nunca se deja al alcance de animales.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Retome el esquema de seis lecturas visto en la Unidad 1, ahora con la decisión de rectificado. En la figura (a) se muestran las tres alturas y las dos direcciones A y B. En la figura (b) se calibra el alexómetro con micrómetro y se realiza la medida balanceando el instrumento hasta la lectura mínima. Con los datos se calcula la ovalización y la conicidad y se comparan con el límite del manual. Si se supera, se rectifica al diámetro de la siguiente sobremedida que limpie el desgaste: por ejemplo, desgaste máximo de 0,18 mm obliga a la sobremedida 0,25 mm. Recuerde: todos los cilindros se rectifican a la misma sobremedida.</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estas fotografías para cerrar el tema de seguridad con el bloque. En la figura (a) se ve un soporte universal con su placa giratoria y brazos ajustables; en la figura (b) el motor ya está fijado por la brida de la caja de cambios. Insista en las normas: grúa con cadena y ganchos certificados para trasladar el motor, nadie bajo una carga suspendida, tornillos de fijación de longitud suficiente (al menos 1,5 veces el diámetro roscado dentro del bloque) y el motor vacío de fluidos antes de girarlo. Este procedimiento forma parte del resultado de aprendizaje actitudinal del PEA: demostrar seguridad en el empleo de las herramientas para el ensamblaje de un motor.</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identifique cojinetes de biela y de bancada, con sus pestañas y orificios de lubricación; algunos llevan además las arandelas de empuje axial. En la figura (b) explique la estructura multicapa: acero para la rigidez, aleación de cobre-plomo o aluminio-estaño para soportar la carga, y una capa blanda superficial que absorbe pequeñas partículas. Relacione con la lectura de la diapositiva anterior: el desgaste en la zona central indica falta de aceite, en los bordes indica cigüeñal cónico o biela torcida, y las partículas incrustadas, aceite contaminado. Si el cigüeñal se rectifica, se montan cojinetes de la sobremedida correspondiente (por ejemplo, −0,25 mm).</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el procedimiento con Plastigage: muñón y cojinete limpios y secos, hilo a lo largo del muñón, sombrerete apretado al par sin girar el cigüeñal, desmontaje y comparación del ancho con la escala del sobre. En la figura (b) se mide el juego axial con reloj comparador apoyado en el extremo del cigüeñal y palanca para desplazarlo. Si el juego axial es excesivo se cambian las arandelas de empuje por sobremedida. Insista en retirar todo resto de hilo antes del montaje definitivo y en lubricar los cojinetes con aceite limpio. Los valores mostrados son orientativos: el estudiante los toma siempre del manual o de Autodata.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 el ceñidor de segmentos: con el pistón lubricado y las puntas de los segmentos desfasadas, se ajusta el ceñidor y se empuja el pistón con el mango del martillo. Si se atasca no se golpea: un segmento salió del ceñidor y se rompe. Proteja los muñones del cigüeñal con fundas en los pernos de biela. En la figura (b) se aprietan los sombreretes de bancada con llave dinamométrica y luego con ángulo, del centro hacia los extremos. Después de cada sombrerete apretado se gira el cigüeñal a mano para detectar un cojinete mal montado. Registre los pares usados en la ficha.</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figura (a) se ven las comprobaciones del segmento: holgura entre puntas dentro del cilindro, juego lateral en la ranura del pistón y espesor. Explique por qué existe la holgura entre puntas: el segmento se dilata con el calor; si no hay holgura, las puntas se tocan y el segmento se rompe o raya el cilindro. Una holgura excesiva deja pasar gases al cárter y aceite a la cámara. En la figura (b) se muestra el reparto de las puntas a 120°. Recuerde que los segmentos se montan con la marca “TOP” hacia arriba y con la pinza adecuada para no deformarlos. Registre cada medida en la ficha de comprobaciones del tren alternativo.</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fotografías cierran la secuencia de armado. En la figura (a) se aplica el sellador en un cordón continuo, rodeando los orificios de los tornillos, y se monta el cárter dentro del tiempo de trabajo del producto; un exceso de sellador entra al circuito y tapa el colador de la bomba. En la figura (b) se monta el volante en su posición, con los tornillos al par en cruz. Antes de la primera puesta en marcha se ceba el circuito de lubricación: con el encendido o la inyección desactivados, se hace girar el motor con el arranque hasta que el testigo de presión se apague. Solo entonces se arranca y se verifica la ausencia de fugas y ruidos.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rtlCol="0"/>
          <a:lstStyle>
            <a:lvl1pPr indent="0" marL="0">
              <a:buNone/>
              <a:defRPr lang="en-US" sz="4800" b="1" dirty="0">
                <a:solidFill>
                  <a:schemeClr val="bg1"/>
                </a:solidFill>
              </a:defRPr>
            </a:lvl1pPr>
          </a:lstStyle>
          <a:p>
            <a:pPr indent="0" marL="0">
              <a:buNone/>
            </a:pPr>
            <a:r>
              <a:rPr lang="en-US" sz="4800" b="1" dirty="0">
                <a:solidFill>
                  <a:schemeClr val="bg1"/>
                </a:solidFill>
              </a:rPr>
              <a:t> </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r>
              <a:rPr lang="en-US" sz="2000" dirty="0">
                <a:solidFill>
                  <a:schemeClr val="accent5"/>
                </a:solidFill>
              </a:rPr>
              <a:t> </a:t>
            </a:r>
            <a:endParaRPr lang="en-US" sz="2000" dirty="0"/>
          </a:p>
        </p:txBody>
      </p:sp>
      <p:sp>
        <p:nvSpPr>
          <p:cNvPr id="5" name="Text 0"/>
          <p:cNvSpPr/>
          <p:nvPr>
            <p:ph idx="103" type="body" hasCustomPrompt="1"/>
          </p:nvPr>
        </p:nvSpPr>
        <p:spPr>
          <a:xfrm>
            <a:off x="731520" y="4892040"/>
            <a:ext cx="10698480" cy="1280160"/>
          </a:xfrm>
          <a:prstGeom prst="rect">
            <a:avLst/>
          </a:prstGeom>
          <a:noFill/>
          <a:ln/>
        </p:spPr>
        <p:txBody>
          <a:bodyPr wrap="square" rtlCol="0"/>
          <a:lstStyle>
            <a:lvl1pPr indent="0" marL="0">
              <a:buNone/>
              <a:defRPr lang="en-US" sz="1400" dirty="0">
                <a:solidFill>
                  <a:schemeClr val="accent5"/>
                </a:solidFill>
              </a:defRPr>
            </a:lvl1pPr>
          </a:lstStyle>
          <a:p>
            <a:pPr indent="0" marL="0">
              <a:buNone/>
            </a:pPr>
            <a:r>
              <a:rPr lang="en-US" sz="1400" dirty="0">
                <a:solidFill>
                  <a:schemeClr val="accent5"/>
                </a:solidFill>
              </a:rPr>
              <a:t> </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SO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rtlCol="0"/>
          <a:lstStyle>
            <a:lvl1pPr indent="0" marL="0">
              <a:buNone/>
              <a:defRPr lang="en-US" sz="1500" b="1" spc="200" kern="0" dirty="0">
                <a:solidFill>
                  <a:schemeClr val="accent1"/>
                </a:solidFill>
              </a:defRPr>
            </a:lvl1pPr>
          </a:lstStyle>
          <a:p>
            <a:pPr indent="0" marL="0">
              <a:buNone/>
            </a:pPr>
            <a:r>
              <a:rPr lang="en-US" sz="1500" b="1" spc="200" kern="0" dirty="0">
                <a:solidFill>
                  <a:schemeClr val="accent1"/>
                </a:solidFill>
              </a:rPr>
              <a:t> </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rtlCol="0"/>
          <a:lstStyle>
            <a:lvl1pPr indent="0" marL="0">
              <a:buNone/>
              <a:defRPr lang="en-US" sz="1700" dirty="0">
                <a:solidFill>
                  <a:schemeClr val="accent5"/>
                </a:solidFill>
              </a:defRPr>
            </a:lvl1pPr>
          </a:lstStyle>
          <a:p>
            <a:pPr indent="0" marL="0">
              <a:buNone/>
            </a:pPr>
            <a:r>
              <a:rPr lang="en-US" sz="1700" dirty="0">
                <a:solidFill>
                  <a:schemeClr val="accent5"/>
                </a:solidFill>
              </a:rPr>
              <a:t> </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4: Refrigeración, lubricación y elementos del bloque motor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_TEX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rtlCol="0"/>
          <a:lstStyle>
            <a:lvl1pPr indent="0" marL="0">
              <a:buNone/>
              <a:defRPr lang="en-US" sz="1600" dirty="0">
                <a:solidFill>
                  <a:schemeClr val="tx1"/>
                </a:solidFill>
              </a:defRPr>
            </a:lvl1pPr>
          </a:lstStyle>
          <a:p>
            <a:pPr indent="0" marL="0">
              <a:buNone/>
            </a:pPr>
            <a:r>
              <a:rPr lang="en-US" sz="1600" dirty="0">
                <a:solidFill>
                  <a:schemeClr val="tx1"/>
                </a:solidFill>
              </a:rPr>
              <a:t> </a:t>
            </a:r>
            <a:endParaRPr lang="en-US" sz="1600" dirty="0"/>
          </a:p>
        </p:txBody>
      </p:sp>
      <p:sp>
        <p:nvSpPr>
          <p:cNvPr id="4"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4: Refrigeración, lubricación y elementos del bloque motor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AFIC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chart" hasCustomPrompt="1"/>
          </p:nvPr>
        </p:nvSpPr>
        <p:spPr>
          <a:xfrm>
            <a:off x="548640" y="1371600"/>
            <a:ext cx="7406640" cy="448056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4" name="Text 0"/>
          <p:cNvSpPr/>
          <p:nvPr>
            <p:ph idx="102" type="body" hasCustomPrompt="1"/>
          </p:nvPr>
        </p:nvSpPr>
        <p:spPr>
          <a:xfrm>
            <a:off x="8183880" y="1371600"/>
            <a:ext cx="3429000"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r>
              <a:rPr lang="en-US" sz="1400" dirty="0">
                <a:solidFill>
                  <a:schemeClr val="tx1"/>
                </a:solidFill>
              </a:rPr>
              <a:t> </a:t>
            </a:r>
            <a:endParaRPr lang="en-US" sz="1400" dirty="0"/>
          </a:p>
        </p:txBody>
      </p:sp>
      <p:sp>
        <p:nvSpPr>
          <p:cNvPr id="5" name="Text 0"/>
          <p:cNvSpPr txBox="1"/>
          <p:nvPr/>
        </p:nvSpPr>
        <p:spPr>
          <a:xfrm>
            <a:off x="548640" y="6400800"/>
            <a:ext cx="10332720" cy="256032"/>
          </a:xfrm>
          <a:prstGeom prst="rect">
            <a:avLst/>
          </a:prstGeom>
          <a:noFill/>
          <a:ln/>
        </p:spPr>
        <p:txBody>
          <a:bodyPr wrap="square" lIns="0" tIns="0" rIns="0" bIns="0" rtlCol="0" anchor="ctr"/>
          <a:lstStyle/>
          <a:p>
            <a:pPr indent="0" marL="0">
              <a:buNone/>
            </a:pPr>
            <a:r>
              <a:rPr lang="en-US" sz="950" dirty="0">
                <a:solidFill>
                  <a:schemeClr val="accent5"/>
                </a:solidFill>
              </a:rPr>
              <a:t>Sistemas del Funcionamiento del Motor  ·  MA.02.06  ·  Unidad 4: Refrigeración, lubricación y elementos del bloque motor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indent="0" marL="0">
              <a:buNone/>
              <a:defRPr lang="en-US" sz="3400" b="1" dirty="0">
                <a:solidFill>
                  <a:schemeClr val="bg1"/>
                </a:solidFill>
              </a:defRPr>
            </a:lvl1pPr>
          </a:lstStyle>
          <a:p>
            <a:pPr indent="0" marL="0">
              <a:buNone/>
            </a:pPr>
            <a:r>
              <a:rPr lang="en-US" sz="3400" b="1" dirty="0">
                <a:solidFill>
                  <a:schemeClr val="bg1"/>
                </a:solidFill>
              </a:rPr>
              <a:t> </a:t>
            </a:r>
            <a:endParaRPr lang="en-US" sz="3400" dirty="0"/>
          </a:p>
        </p:txBody>
      </p:sp>
      <p:sp>
        <p:nvSpPr>
          <p:cNvPr id="3" name="Text 0"/>
          <p:cNvSpPr txBox="1"/>
          <p:nvPr/>
        </p:nvSpPr>
        <p:spPr>
          <a:xfrm>
            <a:off x="731520" y="6400800"/>
            <a:ext cx="10058400" cy="256032"/>
          </a:xfrm>
          <a:prstGeom prst="rect">
            <a:avLst/>
          </a:prstGeom>
          <a:noFill/>
          <a:ln/>
        </p:spPr>
        <p:txBody>
          <a:bodyPr wrap="square" lIns="0" tIns="0" rIns="0" bIns="0" rtlCol="0" anchor="ctr"/>
          <a:lstStyle/>
          <a:p>
            <a:pPr indent="0" marL="0">
              <a:buNone/>
            </a:pPr>
            <a:r>
              <a:rPr lang="en-US" sz="950" dirty="0">
                <a:solidFill>
                  <a:schemeClr val="accent4"/>
                </a:solidFill>
              </a:rPr>
              <a:t>Sistemas del Funcionamiento del Motor  ·  MA.02.06  ·  Unidad 4: Refrigeración, lubricación y elementos del bloque motor  ·  ISTS</a:t>
            </a:r>
            <a:endParaRPr lang="en-US" sz="9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jp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1-2.jpg"/><Relationship Id="rId3" Type="http://schemas.openxmlformats.org/officeDocument/2006/relationships/image" Target="../media/image-41-3.jp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jpg"/><Relationship Id="rId3" Type="http://schemas.openxmlformats.org/officeDocument/2006/relationships/image" Target="../media/image-44-3.jpg"/><Relationship Id="rId4" Type="http://schemas.openxmlformats.org/officeDocument/2006/relationships/slideLayout" Target="../slideLayouts/slideLayout4.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image" Target="../media/image-45-2.jp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4.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jp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4.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4.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jpg"/><Relationship Id="rId3" Type="http://schemas.openxmlformats.org/officeDocument/2006/relationships/image" Target="../media/image-79-3.jpg"/><Relationship Id="rId4" Type="http://schemas.openxmlformats.org/officeDocument/2006/relationships/slideLayout" Target="../slideLayouts/slideLayout4.xm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4.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jpg"/><Relationship Id="rId3" Type="http://schemas.openxmlformats.org/officeDocument/2006/relationships/image" Target="../media/image-83-3.jpg"/><Relationship Id="rId4" Type="http://schemas.openxmlformats.org/officeDocument/2006/relationships/slideLayout" Target="../slideLayouts/slideLayout4.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4.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4.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jpg"/><Relationship Id="rId3" Type="http://schemas.openxmlformats.org/officeDocument/2006/relationships/image" Target="../media/image-91-3.jpg"/><Relationship Id="rId4" Type="http://schemas.openxmlformats.org/officeDocument/2006/relationships/slideLayout" Target="../slideLayouts/slideLayout4.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4.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jpg"/><Relationship Id="rId3" Type="http://schemas.openxmlformats.org/officeDocument/2006/relationships/image" Target="../media/image24.png"/><Relationship Id="rId4"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jpg"/><Relationship Id="rId3" Type="http://schemas.openxmlformats.org/officeDocument/2006/relationships/image" Target="../media/image28.png"/><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51560"/>
            <a:ext cx="106984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INSTITUTO SUPERIOR TECNOLÓGICO SUDAMERICANO</a:t>
            </a:r>
            <a:endParaRPr lang="en-US" sz="1500" dirty="0"/>
          </a:p>
        </p:txBody>
      </p:sp>
      <p:sp>
        <p:nvSpPr>
          <p:cNvPr id="3" name="Text 0"/>
          <p:cNvSpPr/>
          <p:nvPr>
            <p:ph idx="101" type="title" hasCustomPrompt="1"/>
          </p:nvPr>
        </p:nvSpPr>
        <p:spPr>
          <a:xfrm>
            <a:off x="731520" y="1508760"/>
            <a:ext cx="10698480" cy="1920240"/>
          </a:xfrm>
          <a:prstGeom prst="rect">
            <a:avLst/>
          </a:prstGeom>
          <a:noFill/>
          <a:ln/>
        </p:spPr>
        <p:txBody>
          <a:bodyPr wrap="square" lIns="0" tIns="0" rIns="0" bIns="0" rtlCol="0" anchor="t"/>
          <a:lstStyle/>
          <a:p>
            <a:pPr indent="0" marL="0">
              <a:buNone/>
            </a:pPr>
            <a:r>
              <a:rPr lang="en-US" sz="3800" b="1" dirty="0">
                <a:solidFill>
                  <a:schemeClr val="bg1"/>
                </a:solidFill>
              </a:rPr>
              <a:t>Unidad 4</a:t>
            </a:r>
            <a:endParaRPr lang="en-US" sz="4800" dirty="0"/>
          </a:p>
          <a:p>
            <a:pPr indent="0" marL="0">
              <a:buNone/>
            </a:pPr>
            <a:r>
              <a:rPr lang="en-US" sz="3800" b="1" dirty="0">
                <a:solidFill>
                  <a:schemeClr val="bg1"/>
                </a:solidFill>
              </a:rPr>
              <a:t>Sistemas de refrigeración,</a:t>
            </a:r>
            <a:endParaRPr lang="en-US" sz="4800" dirty="0"/>
          </a:p>
          <a:p>
            <a:pPr indent="0" marL="0">
              <a:buNone/>
            </a:pPr>
            <a:r>
              <a:rPr lang="en-US" sz="3800" b="1" dirty="0">
                <a:solidFill>
                  <a:schemeClr val="bg1"/>
                </a:solidFill>
              </a:rPr>
              <a:t>lubricación y bloque motor</a:t>
            </a:r>
            <a:endParaRPr lang="en-US" sz="4800" dirty="0"/>
          </a:p>
        </p:txBody>
      </p:sp>
      <p:sp>
        <p:nvSpPr>
          <p:cNvPr id="4" name="Text 0"/>
          <p:cNvSpPr/>
          <p:nvPr>
            <p:ph idx="102" type="body" hasCustomPrompt="1"/>
          </p:nvPr>
        </p:nvSpPr>
        <p:spPr>
          <a:xfrm>
            <a:off x="731520" y="3611880"/>
            <a:ext cx="10058400" cy="822960"/>
          </a:xfrm>
          <a:prstGeom prst="rect">
            <a:avLst/>
          </a:prstGeom>
          <a:noFill/>
          <a:ln/>
        </p:spPr>
        <p:txBody>
          <a:bodyPr wrap="square" lIns="0" tIns="0" rIns="0" bIns="0" rtlCol="0" anchor="t"/>
          <a:lstStyle/>
          <a:p>
            <a:pPr indent="0" marL="0">
              <a:buNone/>
            </a:pPr>
            <a:r>
              <a:rPr lang="en-US" sz="2000" dirty="0">
                <a:solidFill>
                  <a:schemeClr val="accent5"/>
                </a:solidFill>
              </a:rPr>
              <a:t>Sistemas del Funcionamiento del Motor  ·  MA.02.06  ·  Segundo período académico</a:t>
            </a:r>
            <a:endParaRPr lang="en-US" sz="2000" dirty="0"/>
          </a:p>
        </p:txBody>
      </p:sp>
      <p:sp>
        <p:nvSpPr>
          <p:cNvPr id="5" name="Text 3"/>
          <p:cNvSpPr/>
          <p:nvPr/>
        </p:nvSpPr>
        <p:spPr>
          <a:xfrm>
            <a:off x="0" y="0"/>
            <a:ext cx="9144000" cy="0"/>
          </a:xfrm>
          <a:prstGeom prst="rect">
            <a:avLst/>
          </a:prstGeom>
          <a:noFill/>
          <a:ln/>
        </p:spPr>
        <p:txBody>
          <a:bodyPr wrap="square" rtlCol="0"/>
          <a:lstStyle/>
          <a:p>
            <a:pPr indent="0" marL="0">
              <a:buNone/>
            </a:pPr>
            <a:r>
              <a:rPr lang="en-US" dirty="0"/>
              <a:t>Carrera: Tecnología Superior en Mecánica Automotriz  ·  Modalidad presencial  ·  Sección Diurno A</a:t>
            </a:r>
            <a:endParaRPr lang="en-US" dirty="0"/>
          </a:p>
          <a:p>
            <a:pPr indent="0" marL="0">
              <a:buNone/>
            </a:pPr>
            <a:r>
              <a:rPr lang="en-US" dirty="0"/>
              <a:t>Docente: Ing. Miguel Angel Minga González  ·  maminga@ists.edu.ec</a:t>
            </a:r>
            <a:endParaRPr lang="en-US" dirty="0"/>
          </a:p>
          <a:p>
            <a:pPr indent="0" marL="0">
              <a:buNone/>
            </a:pPr>
            <a:r>
              <a:rPr lang="en-US" dirty="0"/>
              <a:t>Tiempo asignado en el cronograma: Enero – Febrero 2027  ·  Loja, Ecuador</a:t>
            </a:r>
            <a:endParaRPr lang="en-US" dirty="0"/>
          </a:p>
        </p:txBody>
      </p:sp>
      <p:sp>
        <p:nvSpPr>
          <p:cNvPr id="7" name="Text 0"/>
          <p:cNvSpPr/>
          <p:nvPr>
            <p:ph idx="103" type="body" hasCustomPrompt="1"/>
          </p:nvPr>
        </p:nvSpPr>
        <p:spPr>
          <a:xfrm>
            <a:off x="731520" y="4892040"/>
            <a:ext cx="10698480" cy="1280160"/>
          </a:xfrm>
          <a:prstGeom prst="rect">
            <a:avLst/>
          </a:prstGeom>
          <a:noFill/>
          <a:ln/>
        </p:spPr>
        <p:txBody>
          <a:bodyPr wrap="square" lIns="0" tIns="0" rIns="0" bIns="0" rtlCol="0" anchor="t"/>
          <a:lstStyle/>
          <a:p>
            <a:pPr indent="0" marL="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Unidad 4 dentro de la asignatura</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377440"/>
                <a:gridCol w="4297680"/>
              </a:tblGrid>
              <a:tr h="384048">
                <a:tc>
                  <a:txBody>
                    <a:bodyPr/>
                    <a:lstStyle/>
                    <a:p>
                      <a:pPr indent="0" marL="0">
                        <a:buNone/>
                      </a:pPr>
                      <a:r>
                        <a:rPr lang="en-US" sz="1300" b="1" dirty="0">
                          <a:solidFill>
                            <a:srgbClr val="FFFFFF"/>
                          </a:solidFill>
                        </a:rPr>
                        <a:t>Campo del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declarado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150" b="1" dirty="0">
                          <a:solidFill>
                            <a:schemeClr val="tx1"/>
                          </a:solidFill>
                        </a:rPr>
                        <a:t>Unidad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Nro. 4 — Refrigeración, lubricación y elementos del bloque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Tiempo en el cronograma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Enero – Febrero 2027</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Horas con docente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Horas práctico-experimentales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14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Horas de aprendizaje autónomo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chemeClr val="tx1"/>
                          </a:solidFill>
                        </a:rPr>
                        <a:t>Actividad práctica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Despiece, comprobaciones y armado del bloque motor y tren alternativo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1"/>
                          </a:solidFill>
                        </a:rPr>
                        <a:t>Evaluación de cierre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Prueba de unidad y examen bimestral (unidades 3 y 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7498080" y="1371600"/>
            <a:ext cx="411480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5" name="Text 2"/>
          <p:cNvSpPr txBox="1"/>
          <p:nvPr/>
        </p:nvSpPr>
        <p:spPr>
          <a:xfrm>
            <a:off x="7699248" y="1517904"/>
            <a:ext cx="3712464" cy="523037"/>
          </a:xfrm>
          <a:prstGeom prst="rect">
            <a:avLst/>
          </a:prstGeom>
          <a:noFill/>
          <a:ln/>
        </p:spPr>
        <p:txBody>
          <a:bodyPr wrap="square" lIns="0" tIns="0" rIns="0" bIns="0" rtlCol="0" anchor="ctr"/>
          <a:lstStyle/>
          <a:p>
            <a:pPr indent="0" marL="0">
              <a:buNone/>
            </a:pPr>
            <a:r>
              <a:rPr lang="en-US" sz="3400" b="1" dirty="0">
                <a:solidFill>
                  <a:schemeClr val="accent1"/>
                </a:solidFill>
              </a:rPr>
              <a:t>32 h</a:t>
            </a:r>
            <a:endParaRPr lang="en-US" sz="3400" dirty="0"/>
          </a:p>
        </p:txBody>
      </p:sp>
      <p:sp>
        <p:nvSpPr>
          <p:cNvPr id="6" name="Text 3"/>
          <p:cNvSpPr txBox="1"/>
          <p:nvPr/>
        </p:nvSpPr>
        <p:spPr>
          <a:xfrm>
            <a:off x="7699248" y="1995221"/>
            <a:ext cx="3712464" cy="321869"/>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Horas totales de la unidad, de las 126 de la asignatura</a:t>
            </a:r>
            <a:endParaRPr lang="en-US" sz="1300" dirty="0"/>
          </a:p>
        </p:txBody>
      </p:sp>
      <p:sp>
        <p:nvSpPr>
          <p:cNvPr id="7" name="tarjeta_1"/>
          <p:cNvSpPr/>
          <p:nvPr/>
        </p:nvSpPr>
        <p:spPr>
          <a:xfrm>
            <a:off x="7498080"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8" name="Text 5"/>
          <p:cNvSpPr txBox="1"/>
          <p:nvPr/>
        </p:nvSpPr>
        <p:spPr>
          <a:xfrm>
            <a:off x="7754112"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9</a:t>
            </a:r>
            <a:endParaRPr lang="en-US" sz="2200" dirty="0"/>
          </a:p>
        </p:txBody>
      </p:sp>
      <p:sp>
        <p:nvSpPr>
          <p:cNvPr id="9" name="Text 6"/>
          <p:cNvSpPr txBox="1"/>
          <p:nvPr/>
        </p:nvSpPr>
        <p:spPr>
          <a:xfrm>
            <a:off x="7754112"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Docencia</a:t>
            </a:r>
            <a:endParaRPr lang="en-US" sz="1050" dirty="0"/>
          </a:p>
        </p:txBody>
      </p:sp>
      <p:sp>
        <p:nvSpPr>
          <p:cNvPr id="10" name="tarjeta_2"/>
          <p:cNvSpPr/>
          <p:nvPr/>
        </p:nvSpPr>
        <p:spPr>
          <a:xfrm>
            <a:off x="8906256"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1" name="Text 8"/>
          <p:cNvSpPr txBox="1"/>
          <p:nvPr/>
        </p:nvSpPr>
        <p:spPr>
          <a:xfrm>
            <a:off x="9162288"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14</a:t>
            </a:r>
            <a:endParaRPr lang="en-US" sz="2200" dirty="0"/>
          </a:p>
        </p:txBody>
      </p:sp>
      <p:sp>
        <p:nvSpPr>
          <p:cNvPr id="12" name="Text 9"/>
          <p:cNvSpPr txBox="1"/>
          <p:nvPr/>
        </p:nvSpPr>
        <p:spPr>
          <a:xfrm>
            <a:off x="9162288"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Práctico</a:t>
            </a:r>
            <a:endParaRPr lang="en-US" sz="1050" dirty="0"/>
          </a:p>
        </p:txBody>
      </p:sp>
      <p:sp>
        <p:nvSpPr>
          <p:cNvPr id="13" name="tarjeta_3"/>
          <p:cNvSpPr/>
          <p:nvPr/>
        </p:nvSpPr>
        <p:spPr>
          <a:xfrm>
            <a:off x="10314432" y="2514600"/>
            <a:ext cx="1298448"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Text 11"/>
          <p:cNvSpPr txBox="1"/>
          <p:nvPr/>
        </p:nvSpPr>
        <p:spPr>
          <a:xfrm>
            <a:off x="10570464" y="2734056"/>
            <a:ext cx="786384" cy="457200"/>
          </a:xfrm>
          <a:prstGeom prst="rect">
            <a:avLst/>
          </a:prstGeom>
          <a:noFill/>
          <a:ln/>
        </p:spPr>
        <p:txBody>
          <a:bodyPr wrap="square" lIns="0" tIns="0" rIns="0" bIns="0" rtlCol="0" anchor="ctr"/>
          <a:lstStyle/>
          <a:p>
            <a:pPr indent="0" marL="0">
              <a:buNone/>
            </a:pPr>
            <a:r>
              <a:rPr lang="en-US" sz="2200" b="1" dirty="0">
                <a:solidFill>
                  <a:schemeClr val="tx1"/>
                </a:solidFill>
              </a:rPr>
              <a:t>9</a:t>
            </a:r>
            <a:endParaRPr lang="en-US" sz="2200" dirty="0"/>
          </a:p>
        </p:txBody>
      </p:sp>
      <p:sp>
        <p:nvSpPr>
          <p:cNvPr id="15" name="Text 12"/>
          <p:cNvSpPr txBox="1"/>
          <p:nvPr/>
        </p:nvSpPr>
        <p:spPr>
          <a:xfrm>
            <a:off x="10570464" y="3264408"/>
            <a:ext cx="786384"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Autónomo</a:t>
            </a:r>
            <a:endParaRPr lang="en-US" sz="1050" dirty="0"/>
          </a:p>
        </p:txBody>
      </p:sp>
      <p:sp>
        <p:nvSpPr>
          <p:cNvPr id="16" name="Text 13"/>
          <p:cNvSpPr txBox="1"/>
          <p:nvPr/>
        </p:nvSpPr>
        <p:spPr>
          <a:xfrm>
            <a:off x="7498080" y="3611880"/>
            <a:ext cx="4114800" cy="1463040"/>
          </a:xfrm>
          <a:prstGeom prst="rect">
            <a:avLst/>
          </a:prstGeom>
          <a:noFill/>
          <a:ln/>
        </p:spPr>
        <p:txBody>
          <a:bodyPr wrap="square" lIns="0" tIns="0" rIns="0" bIns="0" rtlCol="0" anchor="t"/>
          <a:lstStyle/>
          <a:p>
            <a:pPr algn="l" indent="0" marL="0">
              <a:lnSpc>
                <a:spcPct val="110000"/>
              </a:lnSpc>
              <a:buNone/>
            </a:pPr>
            <a:r>
              <a:rPr lang="en-US" sz="1150" dirty="0">
                <a:solidFill>
                  <a:schemeClr val="accent4"/>
                </a:solidFill>
              </a:rPr>
              <a:t>Es la unidad con más conocimientos declarados de toda la asignatura: trece, frente a los catorce de la Unidad 1, los siete de la 2 y los cinco de la 3. Reúne dos sistemas completos —lubricación y refrigeración— y el bloque con su tren alternativo, de modo que el ritmo de las nueve horas de docencia es necesariamente alto.</a:t>
            </a:r>
            <a:endParaRPr lang="en-US" sz="1150" dirty="0"/>
          </a:p>
        </p:txBody>
      </p:sp>
      <p:sp>
        <p:nvSpPr>
          <p:cNvPr id="17" name="Shape 14"/>
          <p:cNvSpPr/>
          <p:nvPr/>
        </p:nvSpPr>
        <p:spPr>
          <a:xfrm>
            <a:off x="548640" y="5212080"/>
            <a:ext cx="11064240" cy="731520"/>
          </a:xfrm>
          <a:prstGeom prst="roundRect">
            <a:avLst>
              <a:gd name="adj" fmla="val 7500"/>
            </a:avLst>
          </a:prstGeom>
          <a:solidFill>
            <a:schemeClr val="bg2"/>
          </a:solidFill>
          <a:ln w="12700">
            <a:solidFill>
              <a:schemeClr val="bg2"/>
            </a:solidFill>
            <a:prstDash val="solid"/>
          </a:ln>
        </p:spPr>
        <p:txBody>
          <a:bodyPr/>
          <a:p/>
        </p:txBody>
      </p:sp>
      <p:sp>
        <p:nvSpPr>
          <p:cNvPr id="18" name="Shape 15"/>
          <p:cNvSpPr/>
          <p:nvPr/>
        </p:nvSpPr>
        <p:spPr>
          <a:xfrm>
            <a:off x="786384" y="5394960"/>
            <a:ext cx="365760" cy="365760"/>
          </a:xfrm>
          <a:prstGeom prst="ellipse">
            <a:avLst/>
          </a:prstGeom>
          <a:solidFill>
            <a:schemeClr val="accent1"/>
          </a:solidFill>
          <a:ln w="12700">
            <a:solidFill>
              <a:schemeClr val="accent1"/>
            </a:solidFill>
            <a:prstDash val="solid"/>
          </a:ln>
        </p:spPr>
        <p:txBody>
          <a:bodyPr/>
          <a:p/>
        </p:txBody>
      </p:sp>
      <p:sp>
        <p:nvSpPr>
          <p:cNvPr id="19" name="Text 16"/>
          <p:cNvSpPr txBox="1"/>
          <p:nvPr/>
        </p:nvSpPr>
        <p:spPr>
          <a:xfrm>
            <a:off x="786384" y="53949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0" name="Text 17"/>
          <p:cNvSpPr txBox="1"/>
          <p:nvPr/>
        </p:nvSpPr>
        <p:spPr>
          <a:xfrm>
            <a:off x="1298448" y="530352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Esta unidad cierra la asignatura y el segundo bimestre. El examen bimestral evalúa las unidades 3 y 4 juntas, de modo que la última clase incluye repaso integrado de ambas.</a:t>
            </a:r>
            <a:endParaRPr lang="en-US" sz="1250" dirty="0"/>
          </a:p>
        </p:txBody>
      </p:sp>
      <p:sp>
        <p:nvSpPr>
          <p:cNvPr id="21"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Programa curricular por unidades didácticas, Unidad Nro.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resultado de aprendizaje construye esta unidad</a:t>
            </a:r>
            <a:endParaRPr lang="en-US" sz="3200" dirty="0"/>
          </a:p>
        </p:txBody>
      </p:sp>
      <p:sp>
        <p:nvSpPr>
          <p:cNvPr id="3" name="tarjeta_1"/>
          <p:cNvSpPr/>
          <p:nvPr/>
        </p:nvSpPr>
        <p:spPr>
          <a:xfrm>
            <a:off x="54864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que declara el PEA</a:t>
            </a:r>
            <a:endParaRPr lang="en-US" sz="1700" dirty="0"/>
          </a:p>
        </p:txBody>
      </p:sp>
      <p:sp>
        <p:nvSpPr>
          <p:cNvPr id="7" name="Text 5"/>
          <p:cNvSpPr txBox="1"/>
          <p:nvPr/>
        </p:nvSpPr>
        <p:spPr>
          <a:xfrm>
            <a:off x="80467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«Demostrar seguridad en el empleo de las herramientas para el ensamblaje de un motor».</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Es el resultado asignado a la Unidad 4 y el que ordena toda su actividad práctica.</a:t>
            </a:r>
            <a:endParaRPr lang="en-US" sz="1100" dirty="0"/>
          </a:p>
        </p:txBody>
      </p:sp>
      <p:sp>
        <p:nvSpPr>
          <p:cNvPr id="8" name="Text 6"/>
          <p:cNvSpPr txBox="1"/>
          <p:nvPr/>
        </p:nvSpPr>
        <p:spPr>
          <a:xfrm>
            <a:off x="804672" y="348386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9" name="tarjeta_2"/>
          <p:cNvSpPr/>
          <p:nvPr/>
        </p:nvSpPr>
        <p:spPr>
          <a:xfrm>
            <a:off x="432816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exige: seguridad</a:t>
            </a:r>
            <a:endParaRPr lang="en-US" sz="1700" dirty="0"/>
          </a:p>
        </p:txBody>
      </p:sp>
      <p:sp>
        <p:nvSpPr>
          <p:cNvPr id="13" name="Text 11"/>
          <p:cNvSpPr txBox="1"/>
          <p:nvPr/>
        </p:nvSpPr>
        <p:spPr>
          <a:xfrm>
            <a:off x="458419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No solo seguridad personal. Seguridad en el sentido de dominio: emplear la herramienta correcta, del modo correcto y con el criterio correcto, sin dudar.</a:t>
            </a:r>
            <a:endParaRPr lang="en-US" sz="1100" dirty="0"/>
          </a:p>
        </p:txBody>
      </p:sp>
      <p:sp>
        <p:nvSpPr>
          <p:cNvPr id="14" name="Text 12"/>
          <p:cNvSpPr txBox="1"/>
          <p:nvPr/>
        </p:nvSpPr>
        <p:spPr>
          <a:xfrm>
            <a:off x="4584192" y="348386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Dominio del procedimiento</a:t>
            </a:r>
            <a:endParaRPr lang="en-US" sz="1200" dirty="0"/>
          </a:p>
        </p:txBody>
      </p:sp>
      <p:sp>
        <p:nvSpPr>
          <p:cNvPr id="15" name="tarjeta_3"/>
          <p:cNvSpPr/>
          <p:nvPr/>
        </p:nvSpPr>
        <p:spPr>
          <a:xfrm>
            <a:off x="8107680" y="1417320"/>
            <a:ext cx="350520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exige: ensamblar</a:t>
            </a:r>
            <a:endParaRPr lang="en-US" sz="1700" dirty="0"/>
          </a:p>
        </p:txBody>
      </p:sp>
      <p:sp>
        <p:nvSpPr>
          <p:cNvPr id="19" name="Text 17"/>
          <p:cNvSpPr txBox="1"/>
          <p:nvPr/>
        </p:nvSpPr>
        <p:spPr>
          <a:xfrm>
            <a:off x="8363712" y="2167128"/>
            <a:ext cx="2993136" cy="149961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Es la única unidad cuyo resultado habla de ensamblaje. Aquí el motor se arma completo, y el criterio de éxito es que funcione.</a:t>
            </a:r>
            <a:endParaRPr lang="en-US" sz="1100" dirty="0"/>
          </a:p>
        </p:txBody>
      </p:sp>
      <p:sp>
        <p:nvSpPr>
          <p:cNvPr id="20" name="Text 18"/>
          <p:cNvSpPr txBox="1"/>
          <p:nvPr/>
        </p:nvSpPr>
        <p:spPr>
          <a:xfrm>
            <a:off x="8363712" y="348386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Práctica de cierre</a:t>
            </a:r>
            <a:endParaRPr lang="en-US" sz="1200" dirty="0"/>
          </a:p>
        </p:txBody>
      </p:sp>
      <p:sp>
        <p:nvSpPr>
          <p:cNvPr id="21" name="Shape 19"/>
          <p:cNvSpPr/>
          <p:nvPr/>
        </p:nvSpPr>
        <p:spPr>
          <a:xfrm>
            <a:off x="548640" y="4041648"/>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247388"/>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42473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133088"/>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Traducción a lo que se exige en el laboratorio: el estudiante debe armar el bloque y el tren alternativo con la herramienta adecuada, aplicando los pares y las holguras del manual, sin improvisar y sin dañar ninguna pieza en el proceso.</a:t>
            </a:r>
            <a:endParaRPr lang="en-US" sz="1250" dirty="0"/>
          </a:p>
        </p:txBody>
      </p:sp>
      <p:sp>
        <p:nvSpPr>
          <p:cNvPr id="25" name="Shape 23"/>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495604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1. </a:t>
            </a:r>
            <a:pPr indent="0" marL="0">
              <a:lnSpc>
                <a:spcPct val="106000"/>
              </a:lnSpc>
              <a:buNone/>
            </a:pPr>
            <a:r>
              <a:rPr lang="en-US" sz="1200" dirty="0">
                <a:solidFill>
                  <a:schemeClr val="accent4"/>
                </a:solidFill>
              </a:rPr>
              <a:t>se aprendió a medir: micrómetro, alexómetro, galgas, criterios de ovalización y conicidad</a:t>
            </a:r>
            <a:endParaRPr lang="en-US" sz="1200" dirty="0"/>
          </a:p>
        </p:txBody>
      </p:sp>
      <p:sp>
        <p:nvSpPr>
          <p:cNvPr id="28" name="Shape 26"/>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25780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3. </a:t>
            </a:r>
            <a:pPr indent="0" marL="0">
              <a:lnSpc>
                <a:spcPct val="106000"/>
              </a:lnSpc>
              <a:buNone/>
            </a:pPr>
            <a:r>
              <a:rPr lang="en-US" sz="1200" dirty="0">
                <a:solidFill>
                  <a:schemeClr val="accent4"/>
                </a:solidFill>
              </a:rPr>
              <a:t>se aplicó esa metrología al cabezote y se aprendió el apriete al par y en orden</a:t>
            </a:r>
            <a:endParaRPr lang="en-US" sz="1200" dirty="0"/>
          </a:p>
        </p:txBody>
      </p:sp>
      <p:sp>
        <p:nvSpPr>
          <p:cNvPr id="31" name="Shape 29"/>
          <p:cNvSpPr/>
          <p:nvPr/>
        </p:nvSpPr>
        <p:spPr>
          <a:xfrm>
            <a:off x="548640" y="5596128"/>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596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1"/>
          <p:cNvSpPr txBox="1"/>
          <p:nvPr/>
        </p:nvSpPr>
        <p:spPr>
          <a:xfrm>
            <a:off x="1078992" y="555955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Unidad 4. </a:t>
            </a:r>
            <a:pPr indent="0" marL="0">
              <a:lnSpc>
                <a:spcPct val="106000"/>
              </a:lnSpc>
              <a:buNone/>
            </a:pPr>
            <a:r>
              <a:rPr lang="en-US" sz="1200" dirty="0">
                <a:solidFill>
                  <a:schemeClr val="accent4"/>
                </a:solidFill>
              </a:rPr>
              <a:t>se cierra el ciclo: se mide, se decide y se ensambla el motor completo; el resultado se verifica poniéndolo en marcha</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6 y 7 del PEA — Resultados de aprendizaje · Tabla 5 — RdA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trece conocimientos del PEA en cuatro clases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4846320"/>
                <a:gridCol w="3931920"/>
              </a:tblGrid>
              <a:tr h="493776">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Conocimientos del PEA que cubre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Producto de la 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93776">
                <a:tc>
                  <a:txBody>
                    <a:bodyPr/>
                    <a:lstStyle/>
                    <a:p>
                      <a:pPr indent="0" marL="0">
                        <a:buNone/>
                      </a:pPr>
                      <a:r>
                        <a:rPr lang="en-US" sz="1100" b="1" dirty="0">
                          <a:solidFill>
                            <a:schemeClr val="tx1"/>
                          </a:solidFill>
                        </a:rPr>
                        <a:t>4.1 Lubricación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Sistema de lubricación · Características del aceite para motores · Tipos de bombas de aceite, sistemas de filtrado y filtro de aceite · Mantenimiento del sistema de lubricación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Ficha de interpretación de una etiqueta de aceite y cuadro de diagnóstico por presión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93776">
                <a:tc>
                  <a:txBody>
                    <a:bodyPr/>
                    <a:lstStyle/>
                    <a:p>
                      <a:pPr indent="0" marL="0">
                        <a:buNone/>
                      </a:pPr>
                      <a:r>
                        <a:rPr lang="en-US" sz="1100" b="1" dirty="0">
                          <a:solidFill>
                            <a:schemeClr val="tx1"/>
                          </a:solidFill>
                        </a:rPr>
                        <a:t>4.2 Refrigeración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Sistema de refrigeración · Refrigeración por aire · Refrigeración por agua · Bomba de agua · El radiador · Diagnóstico del circuito de refrigeración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Esquema del circuito del motor del laboratorio con sus puntos de fallo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93776">
                <a:tc>
                  <a:txBody>
                    <a:bodyPr/>
                    <a:lstStyle/>
                    <a:p>
                      <a:pPr indent="0" marL="0">
                        <a:buNone/>
                      </a:pPr>
                      <a:r>
                        <a:rPr lang="en-US" sz="1100" b="1" dirty="0">
                          <a:solidFill>
                            <a:schemeClr val="tx1"/>
                          </a:solidFill>
                        </a:rPr>
                        <a:t>4.3 Bloque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Bloque de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Ficha de comprobaciones del bloque, enlazada con la de la Unidad 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93776">
                <a:tc>
                  <a:txBody>
                    <a:bodyPr/>
                    <a:lstStyle/>
                    <a:p>
                      <a:pPr indent="0" marL="0">
                        <a:buNone/>
                      </a:pPr>
                      <a:r>
                        <a:rPr lang="en-US" sz="1100" b="1" dirty="0">
                          <a:solidFill>
                            <a:schemeClr val="tx1"/>
                          </a:solidFill>
                        </a:rPr>
                        <a:t>4.4 Tren alternativo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Despiece y armado del tren alternativo · Comprobaciones de tren alternativo y bloque de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Ficha de comprobaciones del tren alternativo y motor armado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38404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trece conocimientos que el PEA lista para la Unidad 4 quedan íntegramente cubiertos por las cuatro clases. Diez de ellos corresponden a los dos sistemas de fluidos, que ocupan por tanto la mitad de la unidad.</a:t>
            </a:r>
            <a:endParaRPr lang="en-US" sz="1450" dirty="0"/>
          </a:p>
        </p:txBody>
      </p:sp>
      <p:sp>
        <p:nvSpPr>
          <p:cNvPr id="8" name="Text 5"/>
          <p:cNvSpPr txBox="1"/>
          <p:nvPr/>
        </p:nvSpPr>
        <p:spPr>
          <a:xfrm>
            <a:off x="548640" y="4462272"/>
            <a:ext cx="11064240" cy="50292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Secuencia didáctica: primero los dos sistemas que mantienen vivo al motor —lubricación (4.1) y refrigeración (4.2)—, porque explican por qué el motor dura; después la pieza que los aloja a ambos y que contiene todo lo demás, el bloque (4.3); y por último lo que se mueve dentro de él, el tren alternativo (4.4), que es donde la práctica termina con el motor armado.</a:t>
            </a:r>
            <a:endParaRPr lang="en-US" sz="1250" dirty="0"/>
          </a:p>
        </p:txBody>
      </p:sp>
      <p:sp>
        <p:nvSpPr>
          <p:cNvPr id="9" name="tarjeta_1"/>
          <p:cNvSpPr/>
          <p:nvPr/>
        </p:nvSpPr>
        <p:spPr>
          <a:xfrm>
            <a:off x="54864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7"/>
          <p:cNvSpPr/>
          <p:nvPr/>
        </p:nvSpPr>
        <p:spPr>
          <a:xfrm>
            <a:off x="804672" y="5266944"/>
            <a:ext cx="420624" cy="420624"/>
          </a:xfrm>
          <a:prstGeom prst="ellipse">
            <a:avLst/>
          </a:prstGeom>
          <a:solidFill>
            <a:schemeClr val="accent1"/>
          </a:solidFill>
          <a:ln w="12700">
            <a:solidFill>
              <a:schemeClr val="accent1"/>
            </a:solidFill>
            <a:prstDash val="solid"/>
          </a:ln>
        </p:spPr>
        <p:txBody>
          <a:bodyPr/>
          <a:p/>
        </p:txBody>
      </p:sp>
      <p:sp>
        <p:nvSpPr>
          <p:cNvPr id="11" name="Text 8"/>
          <p:cNvSpPr txBox="1"/>
          <p:nvPr/>
        </p:nvSpPr>
        <p:spPr>
          <a:xfrm>
            <a:off x="80467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9"/>
          <p:cNvSpPr txBox="1"/>
          <p:nvPr/>
        </p:nvSpPr>
        <p:spPr>
          <a:xfrm>
            <a:off x="135331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La práctica declarada</a:t>
            </a:r>
            <a:endParaRPr lang="en-US" sz="1300" dirty="0"/>
          </a:p>
        </p:txBody>
      </p:sp>
      <p:sp>
        <p:nvSpPr>
          <p:cNvPr id="13" name="Text 10"/>
          <p:cNvSpPr txBox="1"/>
          <p:nvPr/>
        </p:nvSpPr>
        <p:spPr>
          <a:xfrm>
            <a:off x="80467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del bloque motor y del tren alternativo, dentro de las 14 horas práctico-experimentales.</a:t>
            </a:r>
            <a:endParaRPr lang="en-US" sz="1050" dirty="0"/>
          </a:p>
        </p:txBody>
      </p:sp>
      <p:sp>
        <p:nvSpPr>
          <p:cNvPr id="14" name="tarjeta_2"/>
          <p:cNvSpPr/>
          <p:nvPr/>
        </p:nvSpPr>
        <p:spPr>
          <a:xfrm>
            <a:off x="432816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526694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4"/>
          <p:cNvSpPr txBox="1"/>
          <p:nvPr/>
        </p:nvSpPr>
        <p:spPr>
          <a:xfrm>
            <a:off x="513283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cierre de la asignatura</a:t>
            </a:r>
            <a:endParaRPr lang="en-US" sz="1300" dirty="0"/>
          </a:p>
        </p:txBody>
      </p:sp>
      <p:sp>
        <p:nvSpPr>
          <p:cNvPr id="18" name="Text 15"/>
          <p:cNvSpPr txBox="1"/>
          <p:nvPr/>
        </p:nvSpPr>
        <p:spPr>
          <a:xfrm>
            <a:off x="458419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examen bimestral evalúa las unidades 3 y 4, de modo que la última clase incluye repaso integrado de ambas.</a:t>
            </a:r>
            <a:endParaRPr lang="en-US" sz="1050" dirty="0"/>
          </a:p>
        </p:txBody>
      </p:sp>
      <p:sp>
        <p:nvSpPr>
          <p:cNvPr id="19" name="tarjeta_3"/>
          <p:cNvSpPr/>
          <p:nvPr/>
        </p:nvSpPr>
        <p:spPr>
          <a:xfrm>
            <a:off x="8107680" y="5029200"/>
            <a:ext cx="35052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0" name="Shape 17"/>
          <p:cNvSpPr/>
          <p:nvPr/>
        </p:nvSpPr>
        <p:spPr>
          <a:xfrm>
            <a:off x="8363712" y="5266944"/>
            <a:ext cx="420624" cy="420624"/>
          </a:xfrm>
          <a:prstGeom prst="ellipse">
            <a:avLst/>
          </a:prstGeom>
          <a:solidFill>
            <a:schemeClr val="accent3"/>
          </a:solidFill>
          <a:ln w="12700">
            <a:solidFill>
              <a:schemeClr val="accent3"/>
            </a:solidFill>
            <a:prstDash val="solid"/>
          </a:ln>
        </p:spPr>
        <p:txBody>
          <a:bodyPr/>
          <a:p/>
        </p:txBody>
      </p:sp>
      <p:sp>
        <p:nvSpPr>
          <p:cNvPr id="21" name="Text 18"/>
          <p:cNvSpPr txBox="1"/>
          <p:nvPr/>
        </p:nvSpPr>
        <p:spPr>
          <a:xfrm>
            <a:off x="8363712" y="5266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19"/>
          <p:cNvSpPr txBox="1"/>
          <p:nvPr/>
        </p:nvSpPr>
        <p:spPr>
          <a:xfrm>
            <a:off x="8912352" y="524865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El cierre del motor</a:t>
            </a:r>
            <a:endParaRPr lang="en-US" sz="1300" dirty="0"/>
          </a:p>
        </p:txBody>
      </p:sp>
      <p:sp>
        <p:nvSpPr>
          <p:cNvPr id="23" name="Text 20"/>
          <p:cNvSpPr txBox="1"/>
          <p:nvPr/>
        </p:nvSpPr>
        <p:spPr>
          <a:xfrm>
            <a:off x="8363712" y="5779008"/>
            <a:ext cx="2993136" cy="-54864"/>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Al terminar esta práctica, el motor que se abrió en la Unidad 3 queda completamente armado y en funcionamiento.</a:t>
            </a:r>
            <a:endParaRPr lang="en-US" sz="1050" dirty="0"/>
          </a:p>
        </p:txBody>
      </p:sp>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3 del PEA — Bloque de contenidos · Tabla 5 — Conocimientos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Habilidades blandas declaradas para la Unidad 4</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846320"/>
                <a:gridCol w="3474720"/>
              </a:tblGrid>
              <a:tr h="457200">
                <a:tc>
                  <a:txBody>
                    <a:bodyPr/>
                    <a:lstStyle/>
                    <a:p>
                      <a:pPr indent="0" marL="0">
                        <a:buNone/>
                      </a:pPr>
                      <a:r>
                        <a:rPr lang="en-US" sz="1300" b="1" dirty="0">
                          <a:solidFill>
                            <a:srgbClr val="FFFFFF"/>
                          </a:solidFill>
                        </a:rPr>
                        <a:t>Habilidad declarada en el PEA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desarrolla en la Unidad 4</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Herramienta de evaluación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Trabajo en equipo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armado del motor exige coordinación estricta: uno mide, otro registra, otro monta, y nadie avanza sin que el anterior haya terminado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Observación en taller y evaluación entre pares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Resolución de conflictos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Cuando una medida no cuadra o una pieza no entra, el grupo debe decidir si continúa o retrocede, con criterio y sin culpar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Observación y autoevaluación del grupo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Liderazgo ético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Declarar un error propio antes de que el motor se arranque; también, no dar por buena una medida que no se tomó</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Informe de práctica y observación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200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4061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406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291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esta unidad el liderazgo ético tiene una forma muy concreta y muy tentadora de incumplir: dar por buena una medida que no se tomó. Es rápido, nadie lo nota y arruina el motor cuando se arranca.</a:t>
            </a:r>
            <a:endParaRPr lang="en-US" sz="1450" dirty="0"/>
          </a:p>
        </p:txBody>
      </p:sp>
      <p:sp>
        <p:nvSpPr>
          <p:cNvPr id="8" name="tarjeta_1"/>
          <p:cNvSpPr/>
          <p:nvPr/>
        </p:nvSpPr>
        <p:spPr>
          <a:xfrm>
            <a:off x="548640" y="416052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39826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135331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el armado exige coordinación</a:t>
            </a:r>
            <a:endParaRPr lang="en-US" sz="1700" dirty="0"/>
          </a:p>
        </p:txBody>
      </p:sp>
      <p:sp>
        <p:nvSpPr>
          <p:cNvPr id="12" name="Text 9"/>
          <p:cNvSpPr txBox="1"/>
          <p:nvPr/>
        </p:nvSpPr>
        <p:spPr>
          <a:xfrm>
            <a:off x="804672" y="491032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Un motor se arma en un orden estricto. Si alguien monta una pieza antes de que otro haya tomado su medida, hay que desarmar para volver atrás.</a:t>
            </a:r>
            <a:endParaRPr lang="en-US" sz="1050" dirty="0"/>
          </a:p>
        </p:txBody>
      </p:sp>
      <p:sp>
        <p:nvSpPr>
          <p:cNvPr id="13" name="tarjeta_2"/>
          <p:cNvSpPr/>
          <p:nvPr/>
        </p:nvSpPr>
        <p:spPr>
          <a:xfrm>
            <a:off x="4328160" y="416052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1"/>
          <p:cNvSpPr/>
          <p:nvPr/>
        </p:nvSpPr>
        <p:spPr>
          <a:xfrm>
            <a:off x="4584192" y="4398264"/>
            <a:ext cx="420624" cy="420624"/>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458419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3"/>
          <p:cNvSpPr txBox="1"/>
          <p:nvPr/>
        </p:nvSpPr>
        <p:spPr>
          <a:xfrm>
            <a:off x="513283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retroceder es la decisión correcta</a:t>
            </a:r>
            <a:endParaRPr lang="en-US" sz="1700" dirty="0"/>
          </a:p>
        </p:txBody>
      </p:sp>
      <p:sp>
        <p:nvSpPr>
          <p:cNvPr id="17" name="Text 14"/>
          <p:cNvSpPr txBox="1"/>
          <p:nvPr/>
        </p:nvSpPr>
        <p:spPr>
          <a:xfrm>
            <a:off x="4584192" y="491032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Continuar con una duda cuesta, en el peor caso, el motor entero. Retroceder cuesta media hora. La aritmética es siempre la misma.</a:t>
            </a:r>
            <a:endParaRPr lang="en-US" sz="1050" dirty="0"/>
          </a:p>
        </p:txBody>
      </p:sp>
      <p:sp>
        <p:nvSpPr>
          <p:cNvPr id="18" name="tarjeta_3"/>
          <p:cNvSpPr/>
          <p:nvPr/>
        </p:nvSpPr>
        <p:spPr>
          <a:xfrm>
            <a:off x="8107680" y="416052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6"/>
          <p:cNvSpPr/>
          <p:nvPr/>
        </p:nvSpPr>
        <p:spPr>
          <a:xfrm>
            <a:off x="8363712" y="4398264"/>
            <a:ext cx="420624" cy="420624"/>
          </a:xfrm>
          <a:prstGeom prst="ellipse">
            <a:avLst/>
          </a:prstGeom>
          <a:solidFill>
            <a:schemeClr val="accent3"/>
          </a:solidFill>
          <a:ln w="12700">
            <a:solidFill>
              <a:schemeClr val="accent3"/>
            </a:solidFill>
            <a:prstDash val="solid"/>
          </a:ln>
        </p:spPr>
        <p:txBody>
          <a:bodyPr/>
          <a:p/>
        </p:txBody>
      </p:sp>
      <p:sp>
        <p:nvSpPr>
          <p:cNvPr id="20" name="Text 17"/>
          <p:cNvSpPr txBox="1"/>
          <p:nvPr/>
        </p:nvSpPr>
        <p:spPr>
          <a:xfrm>
            <a:off x="8363712" y="43982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8"/>
          <p:cNvSpPr txBox="1"/>
          <p:nvPr/>
        </p:nvSpPr>
        <p:spPr>
          <a:xfrm>
            <a:off x="8912352" y="43799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Por qué no hay componente ambiental declarado aquí</a:t>
            </a:r>
            <a:endParaRPr lang="en-US" sz="1700" dirty="0"/>
          </a:p>
        </p:txBody>
      </p:sp>
      <p:sp>
        <p:nvSpPr>
          <p:cNvPr id="22" name="Text 19"/>
          <p:cNvSpPr txBox="1"/>
          <p:nvPr/>
        </p:nvSpPr>
        <p:spPr>
          <a:xfrm>
            <a:off x="8363712" y="491032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El PEA lo declara en la Unidad 3. Eso no exime: la gestión de residuos de esta práctica es la misma y se mantiene la lista de verificación.</a:t>
            </a:r>
            <a:endParaRPr lang="en-US" sz="105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Habilidades sociales, deontológicas y medioambientales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Metodología del PEA aplicada a esta unidad</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inductivo</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Observación, análisis y comparación.</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Se parte de lo que se ve: un aceite usado, un refrigerante sucio, un cojinete rayado, y de ahí se deduce qué ocurrió.</a:t>
            </a:r>
            <a:endParaRPr lang="en-US" sz="110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Método deductivo</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Síntesis, esquema, repetición y razonamiento.</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Del principio de la película de aceite se deduce qué condiciones hay que mantener en cualquier motor.</a:t>
            </a:r>
            <a:endParaRPr lang="en-US" sz="110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Técnicas de enseñanza</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Aprendizaje basado en proyectos, aprendizaje basado en problemas y análisis de casos.</a:t>
            </a:r>
            <a:endParaRPr lang="en-US" sz="1100" dirty="0"/>
          </a:p>
          <a:p>
            <a:pPr indent="0" marL="0">
              <a:lnSpc>
                <a:spcPct val="108000"/>
              </a:lnSpc>
              <a:buNone/>
            </a:pPr>
            <a:endParaRPr lang="en-US" sz="1100" dirty="0"/>
          </a:p>
          <a:p>
            <a:pPr indent="0" marL="0">
              <a:lnSpc>
                <a:spcPct val="108000"/>
              </a:lnSpc>
              <a:buNone/>
            </a:pPr>
            <a:r>
              <a:rPr lang="en-US" sz="1100" dirty="0">
                <a:solidFill>
                  <a:schemeClr val="accent4"/>
                </a:solidFill>
              </a:rPr>
              <a:t>Las tres están declaradas para esta unidad.</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64240" cy="914400"/>
        </p:xfrm>
        <a:graphic>
          <a:graphicData uri="http://schemas.openxmlformats.org/drawingml/2006/table">
            <a:tbl>
              <a:tblPr/>
              <a:tblGrid>
                <a:gridCol w="3108960"/>
                <a:gridCol w="4114800"/>
                <a:gridCol w="3840480"/>
              </a:tblGrid>
              <a:tr h="402336">
                <a:tc>
                  <a:txBody>
                    <a:bodyPr/>
                    <a:lstStyle/>
                    <a:p>
                      <a:pPr indent="0" marL="0">
                        <a:buNone/>
                      </a:pPr>
                      <a:r>
                        <a:rPr lang="en-US" sz="1300" b="1" dirty="0">
                          <a:solidFill>
                            <a:srgbClr val="FFFFFF"/>
                          </a:solidFill>
                        </a:rPr>
                        <a:t>Técnica declarada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aplica en la unidad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produce el estudiante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00" b="1" dirty="0">
                          <a:solidFill>
                            <a:schemeClr val="tx1"/>
                          </a:solidFill>
                        </a:rPr>
                        <a:t>Aprendizaje basado en proyectos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La práctica completa: armar el bloque y el tren alternativo y dejar el motor en marcha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Motor armado, verificado e informe final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Aprendizaje basado en problemas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Casos de apertura: un motor que perdió presión de aceite, uno que se recalienta, uno que consume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Hipótesis, comprobación y conclusión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Análisis de casos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Lectura de piezas desgastadas reales: cojinetes, pistones y camisas con distintos tipos de daño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Cuadro de interpretación de desgastes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6"/>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7"/>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1" name="Text 18"/>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9"/>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análisis de casos tiene en esta unidad un recurso insustituible: las piezas averiadas. Un cojinete rayado o un pistón gripado cuentan su propia historia, y aprender a leerla es una de las competencias más valiosas del oficio.</a:t>
            </a:r>
            <a:endParaRPr lang="en-US" sz="1200" dirty="0"/>
          </a:p>
        </p:txBody>
      </p:sp>
      <p:sp>
        <p:nvSpPr>
          <p:cNvPr id="23" name="Text 2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Metodología: formas de trabajo y métodos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Recursos declarados en el PEA para la Unidad 4</a:t>
            </a:r>
            <a:endParaRPr lang="en-US" sz="3200" dirty="0"/>
          </a:p>
        </p:txBody>
      </p:sp>
      <p:sp>
        <p:nvSpPr>
          <p:cNvPr id="3" name="tarjeta_1"/>
          <p:cNvSpPr/>
          <p:nvPr/>
        </p:nvSpPr>
        <p:spPr>
          <a:xfrm>
            <a:off x="54864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6" name="Text 4"/>
          <p:cNvSpPr txBox="1"/>
          <p:nvPr/>
        </p:nvSpPr>
        <p:spPr>
          <a:xfrm>
            <a:off x="135331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Humanos</a:t>
            </a:r>
            <a:endParaRPr lang="en-US" sz="1700" dirty="0"/>
          </a:p>
        </p:txBody>
      </p:sp>
      <p:sp>
        <p:nvSpPr>
          <p:cNvPr id="7" name="Text 5"/>
          <p:cNvSpPr txBox="1"/>
          <p:nvPr/>
        </p:nvSpPr>
        <p:spPr>
          <a:xfrm>
            <a:off x="804672" y="2167128"/>
            <a:ext cx="204825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Docente y estudiantes.</a:t>
            </a:r>
            <a:endParaRPr lang="en-US" sz="1050" dirty="0"/>
          </a:p>
        </p:txBody>
      </p:sp>
      <p:sp>
        <p:nvSpPr>
          <p:cNvPr id="8" name="tarjeta_2"/>
          <p:cNvSpPr/>
          <p:nvPr/>
        </p:nvSpPr>
        <p:spPr>
          <a:xfrm>
            <a:off x="338328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3639312" y="1655064"/>
            <a:ext cx="420624" cy="420624"/>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36393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1" name="Text 9"/>
          <p:cNvSpPr txBox="1"/>
          <p:nvPr/>
        </p:nvSpPr>
        <p:spPr>
          <a:xfrm>
            <a:off x="418795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Tecnológicos institucionales</a:t>
            </a:r>
            <a:endParaRPr lang="en-US" sz="1700" dirty="0"/>
          </a:p>
        </p:txBody>
      </p:sp>
      <p:sp>
        <p:nvSpPr>
          <p:cNvPr id="12" name="Text 10"/>
          <p:cNvSpPr txBox="1"/>
          <p:nvPr/>
        </p:nvSpPr>
        <p:spPr>
          <a:xfrm>
            <a:off x="3639312" y="2167128"/>
            <a:ext cx="204825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Entorno Virtual de Aprendizaje (EVA)</a:t>
            </a:r>
            <a:endParaRPr lang="en-US" sz="1050" dirty="0"/>
          </a:p>
          <a:p>
            <a:pPr indent="0" marL="0">
              <a:lnSpc>
                <a:spcPct val="108000"/>
              </a:lnSpc>
              <a:buNone/>
            </a:pPr>
            <a:r>
              <a:rPr lang="en-US" sz="1050" dirty="0">
                <a:solidFill>
                  <a:schemeClr val="accent4"/>
                </a:solidFill>
              </a:rPr>
              <a:t>Proyector</a:t>
            </a:r>
            <a:endParaRPr lang="en-US" sz="1050" dirty="0"/>
          </a:p>
          <a:p>
            <a:pPr indent="0" marL="0">
              <a:lnSpc>
                <a:spcPct val="108000"/>
              </a:lnSpc>
              <a:buNone/>
            </a:pPr>
            <a:r>
              <a:rPr lang="en-US" sz="1050" dirty="0">
                <a:solidFill>
                  <a:schemeClr val="accent4"/>
                </a:solidFill>
              </a:rPr>
              <a:t>Biblioteca virtual</a:t>
            </a:r>
            <a:endParaRPr lang="en-US" sz="1050" dirty="0"/>
          </a:p>
        </p:txBody>
      </p:sp>
      <p:sp>
        <p:nvSpPr>
          <p:cNvPr id="13" name="tarjeta_3"/>
          <p:cNvSpPr/>
          <p:nvPr/>
        </p:nvSpPr>
        <p:spPr>
          <a:xfrm>
            <a:off x="621792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647395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M</a:t>
            </a:r>
            <a:endParaRPr lang="en-US" sz="1400" dirty="0"/>
          </a:p>
        </p:txBody>
      </p:sp>
      <p:sp>
        <p:nvSpPr>
          <p:cNvPr id="16" name="Text 14"/>
          <p:cNvSpPr txBox="1"/>
          <p:nvPr/>
        </p:nvSpPr>
        <p:spPr>
          <a:xfrm>
            <a:off x="702259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Tecnológicos de la materia</a:t>
            </a:r>
            <a:endParaRPr lang="en-US" sz="1700" dirty="0"/>
          </a:p>
        </p:txBody>
      </p:sp>
      <p:sp>
        <p:nvSpPr>
          <p:cNvPr id="17" name="Text 15"/>
          <p:cNvSpPr txBox="1"/>
          <p:nvPr/>
        </p:nvSpPr>
        <p:spPr>
          <a:xfrm>
            <a:off x="6473952" y="2167128"/>
            <a:ext cx="204825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Software de manuales automotrices — Autodata.</a:t>
            </a:r>
            <a:endParaRPr lang="en-US" sz="1050" dirty="0"/>
          </a:p>
          <a:p>
            <a:pPr indent="0" marL="0">
              <a:lnSpc>
                <a:spcPct val="108000"/>
              </a:lnSpc>
              <a:buNone/>
            </a:pPr>
            <a:endParaRPr lang="en-US" sz="1050" dirty="0"/>
          </a:p>
          <a:p>
            <a:pPr indent="0" marL="0">
              <a:lnSpc>
                <a:spcPct val="108000"/>
              </a:lnSpc>
              <a:buNone/>
            </a:pPr>
            <a:r>
              <a:rPr lang="en-US" sz="1050" dirty="0">
                <a:solidFill>
                  <a:schemeClr val="accent4"/>
                </a:solidFill>
              </a:rPr>
              <a:t>Da las holguras de cojinetes, los pares de apriete, las cotas de rectificado y las capacidades de aceite y refrigerante.</a:t>
            </a:r>
            <a:endParaRPr lang="en-US" sz="1050" dirty="0"/>
          </a:p>
        </p:txBody>
      </p:sp>
      <p:sp>
        <p:nvSpPr>
          <p:cNvPr id="18" name="tarjeta_4"/>
          <p:cNvSpPr/>
          <p:nvPr/>
        </p:nvSpPr>
        <p:spPr>
          <a:xfrm>
            <a:off x="9052560" y="1417320"/>
            <a:ext cx="256032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930859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93085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21" name="Text 19"/>
          <p:cNvSpPr txBox="1"/>
          <p:nvPr/>
        </p:nvSpPr>
        <p:spPr>
          <a:xfrm>
            <a:off x="9857232" y="163677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Materiales</a:t>
            </a:r>
            <a:endParaRPr lang="en-US" sz="1700" dirty="0"/>
          </a:p>
        </p:txBody>
      </p:sp>
      <p:sp>
        <p:nvSpPr>
          <p:cNvPr id="22" name="Text 20"/>
          <p:cNvSpPr txBox="1"/>
          <p:nvPr/>
        </p:nvSpPr>
        <p:spPr>
          <a:xfrm>
            <a:off x="9308592" y="2167128"/>
            <a:ext cx="204825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Pizarrón</a:t>
            </a:r>
            <a:endParaRPr lang="en-US" sz="1050" dirty="0"/>
          </a:p>
          <a:p>
            <a:pPr indent="0" marL="0">
              <a:lnSpc>
                <a:spcPct val="108000"/>
              </a:lnSpc>
              <a:buNone/>
            </a:pPr>
            <a:r>
              <a:rPr lang="en-US" sz="1050" dirty="0">
                <a:solidFill>
                  <a:schemeClr val="accent4"/>
                </a:solidFill>
              </a:rPr>
              <a:t>Marcadores y borrador</a:t>
            </a:r>
            <a:endParaRPr lang="en-US" sz="1050" dirty="0"/>
          </a:p>
          <a:p>
            <a:pPr indent="0" marL="0">
              <a:lnSpc>
                <a:spcPct val="108000"/>
              </a:lnSpc>
              <a:buNone/>
            </a:pPr>
            <a:r>
              <a:rPr lang="en-US" sz="1050" dirty="0">
                <a:solidFill>
                  <a:schemeClr val="accent4"/>
                </a:solidFill>
              </a:rPr>
              <a:t>Diapositivas</a:t>
            </a:r>
            <a:endParaRPr lang="en-US" sz="1050" dirty="0"/>
          </a:p>
          <a:p>
            <a:pPr indent="0" marL="0">
              <a:lnSpc>
                <a:spcPct val="108000"/>
              </a:lnSpc>
              <a:buNone/>
            </a:pPr>
            <a:r>
              <a:rPr lang="en-US" sz="1050" dirty="0">
                <a:solidFill>
                  <a:schemeClr val="accent4"/>
                </a:solidFill>
              </a:rPr>
              <a:t>Plan de clase</a:t>
            </a:r>
            <a:endParaRPr lang="en-US" sz="1050" dirty="0"/>
          </a:p>
          <a:p>
            <a:pPr indent="0" marL="0">
              <a:lnSpc>
                <a:spcPct val="108000"/>
              </a:lnSpc>
              <a:buNone/>
            </a:pPr>
            <a:r>
              <a:rPr lang="en-US" sz="1050" dirty="0">
                <a:solidFill>
                  <a:schemeClr val="accent4"/>
                </a:solidFill>
              </a:rPr>
              <a:t>Laboratorios</a:t>
            </a:r>
            <a:endParaRPr lang="en-US" sz="1050" dirty="0"/>
          </a:p>
        </p:txBody>
      </p:sp>
      <p:sp>
        <p:nvSpPr>
          <p:cNvPr id="23" name="Shape 21"/>
          <p:cNvSpPr/>
          <p:nvPr/>
        </p:nvSpPr>
        <p:spPr>
          <a:xfrm>
            <a:off x="548640" y="38862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4" name="Shape 22"/>
          <p:cNvSpPr/>
          <p:nvPr/>
        </p:nvSpPr>
        <p:spPr>
          <a:xfrm>
            <a:off x="786384" y="4114800"/>
            <a:ext cx="365760" cy="365760"/>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78638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6" name="Text 24"/>
          <p:cNvSpPr txBox="1"/>
          <p:nvPr/>
        </p:nvSpPr>
        <p:spPr>
          <a:xfrm>
            <a:off x="1298448" y="39776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 esta unidad Autodata aporta además dos datos que no se pueden deducir ni estimar: la holgura de los cojinetes de bancada y de biela, y la secuencia y el par de apriete de sus sombreretes. Sin ellos, el motor no se puede armar correctamente.</a:t>
            </a:r>
            <a:endParaRPr lang="en-US" sz="1450" dirty="0"/>
          </a:p>
        </p:txBody>
      </p:sp>
      <p:sp>
        <p:nvSpPr>
          <p:cNvPr id="27" name="Shape 2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9" name="Text 27"/>
          <p:cNvSpPr txBox="1"/>
          <p:nvPr/>
        </p:nvSpPr>
        <p:spPr>
          <a:xfrm>
            <a:off x="1078992" y="4846320"/>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de laboratorio que exige la práctica. </a:t>
            </a:r>
            <a:pPr indent="0" marL="0">
              <a:lnSpc>
                <a:spcPct val="106000"/>
              </a:lnSpc>
              <a:buNone/>
            </a:pPr>
            <a:r>
              <a:rPr lang="en-US" sz="1150" dirty="0">
                <a:solidFill>
                  <a:schemeClr val="accent4"/>
                </a:solidFill>
              </a:rPr>
              <a:t>motor de prácticas, juego de llaves y dados, llave dinamométrica, micrómetros de exteriores, alexómetro con comparador, galgas, compresor de segmentos, plastigage o equivalente, y recipientes para los fluidos</a:t>
            </a:r>
            <a:endParaRPr lang="en-US" sz="1150" dirty="0"/>
          </a:p>
        </p:txBody>
      </p:sp>
      <p:sp>
        <p:nvSpPr>
          <p:cNvPr id="30" name="Shape 28"/>
          <p:cNvSpPr/>
          <p:nvPr/>
        </p:nvSpPr>
        <p:spPr>
          <a:xfrm>
            <a:off x="548640" y="5253228"/>
            <a:ext cx="384048" cy="384048"/>
          </a:xfrm>
          <a:prstGeom prst="ellipse">
            <a:avLst/>
          </a:prstGeom>
          <a:solidFill>
            <a:schemeClr val="accent2"/>
          </a:solidFill>
          <a:ln w="12700">
            <a:solidFill>
              <a:schemeClr val="accent2"/>
            </a:solidFill>
            <a:prstDash val="solid"/>
          </a:ln>
        </p:spPr>
        <p:txBody>
          <a:bodyPr/>
          <a:p/>
        </p:txBody>
      </p:sp>
      <p:sp>
        <p:nvSpPr>
          <p:cNvPr id="31" name="Text 29"/>
          <p:cNvSpPr txBox="1"/>
          <p:nvPr/>
        </p:nvSpPr>
        <p:spPr>
          <a:xfrm>
            <a:off x="548640" y="52532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2" name="Text 30"/>
          <p:cNvSpPr txBox="1"/>
          <p:nvPr/>
        </p:nvSpPr>
        <p:spPr>
          <a:xfrm>
            <a:off x="1078992" y="5216652"/>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complementario del docente. </a:t>
            </a:r>
            <a:pPr indent="0" marL="0">
              <a:lnSpc>
                <a:spcPct val="106000"/>
              </a:lnSpc>
              <a:buNone/>
            </a:pPr>
            <a:r>
              <a:rPr lang="en-US" sz="1150" dirty="0">
                <a:solidFill>
                  <a:schemeClr val="accent4"/>
                </a:solidFill>
              </a:rPr>
              <a:t>colección de piezas averiadas: cojinetes con distintos daños, pistones gripados, camisas rayadas y segmentos rotos, para el análisis de casos</a:t>
            </a:r>
            <a:endParaRPr lang="en-US" sz="1150" dirty="0"/>
          </a:p>
        </p:txBody>
      </p:sp>
      <p:sp>
        <p:nvSpPr>
          <p:cNvPr id="33" name="Shape 31"/>
          <p:cNvSpPr/>
          <p:nvPr/>
        </p:nvSpPr>
        <p:spPr>
          <a:xfrm>
            <a:off x="548640" y="5623560"/>
            <a:ext cx="384048" cy="384048"/>
          </a:xfrm>
          <a:prstGeom prst="ellipse">
            <a:avLst/>
          </a:prstGeom>
          <a:solidFill>
            <a:schemeClr val="accent2"/>
          </a:solidFill>
          <a:ln w="12700">
            <a:solidFill>
              <a:schemeClr val="accent2"/>
            </a:solidFill>
            <a:prstDash val="solid"/>
          </a:ln>
        </p:spPr>
        <p:txBody>
          <a:bodyPr/>
          <a:p/>
        </p:txBody>
      </p:sp>
      <p:sp>
        <p:nvSpPr>
          <p:cNvPr id="34" name="Text 32"/>
          <p:cNvSpPr txBox="1"/>
          <p:nvPr/>
        </p:nvSpPr>
        <p:spPr>
          <a:xfrm>
            <a:off x="548640" y="5623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5" name="Text 33"/>
          <p:cNvSpPr txBox="1"/>
          <p:nvPr/>
        </p:nvSpPr>
        <p:spPr>
          <a:xfrm>
            <a:off x="1078992" y="5586984"/>
            <a:ext cx="10533888" cy="31546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Material del estudiante. </a:t>
            </a:r>
            <a:pPr indent="0" marL="0">
              <a:lnSpc>
                <a:spcPct val="106000"/>
              </a:lnSpc>
              <a:buNone/>
            </a:pPr>
            <a:r>
              <a:rPr lang="en-US" sz="1150" dirty="0">
                <a:solidFill>
                  <a:schemeClr val="accent4"/>
                </a:solidFill>
              </a:rPr>
              <a:t>guía de prácticas de la asignatura, cuaderno de registro, cámara o teléfono y equipo de protección personal</a:t>
            </a:r>
            <a:endParaRPr lang="en-US" sz="1150" dirty="0"/>
          </a:p>
        </p:txBody>
      </p:sp>
      <p:sp>
        <p:nvSpPr>
          <p:cNvPr id="36" name="Text 3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Recursos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evalúa la Unidad 4</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926080"/>
                <a:gridCol w="1371600"/>
                <a:gridCol w="1371600"/>
              </a:tblGrid>
              <a:tr h="402336">
                <a:tc>
                  <a:txBody>
                    <a:bodyPr/>
                    <a:lstStyle/>
                    <a:p>
                      <a:pPr indent="0" marL="0">
                        <a:buNone/>
                      </a:pPr>
                      <a:r>
                        <a:rPr lang="en-US" sz="1300" b="1" dirty="0">
                          <a:solidFill>
                            <a:srgbClr val="FFFFFF"/>
                          </a:solidFill>
                        </a:rPr>
                        <a:t>Componente del 2.º bimestre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Porcentaje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Puntaje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50" b="1" dirty="0">
                          <a:solidFill>
                            <a:schemeClr val="tx1"/>
                          </a:solidFill>
                        </a:rPr>
                        <a:t>Trabajo autónomo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20 %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Trabajos colaborativos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10 %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Trabajo práctico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10 %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Pruebas de unidad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30 %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6</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Examen bimestral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30 %</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6</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92240" y="1371600"/>
          <a:ext cx="5120640" cy="914400"/>
        </p:xfrm>
        <a:graphic>
          <a:graphicData uri="http://schemas.openxmlformats.org/drawingml/2006/table">
            <a:tbl>
              <a:tblPr/>
              <a:tblGrid>
                <a:gridCol w="2651760"/>
                <a:gridCol w="2468880"/>
              </a:tblGrid>
              <a:tr h="402336">
                <a:tc>
                  <a:txBody>
                    <a:bodyPr/>
                    <a:lstStyle/>
                    <a:p>
                      <a:pPr indent="0" marL="0">
                        <a:buNone/>
                      </a:pPr>
                      <a:r>
                        <a:rPr lang="en-US" sz="1300" b="1" dirty="0">
                          <a:solidFill>
                            <a:srgbClr val="FFFFFF"/>
                          </a:solidFill>
                        </a:rPr>
                        <a:t>Escala sobre el total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Equivalencia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02336">
                <a:tc>
                  <a:txBody>
                    <a:bodyPr/>
                    <a:lstStyle/>
                    <a:p>
                      <a:pPr indent="0" marL="0">
                        <a:buNone/>
                      </a:pPr>
                      <a:r>
                        <a:rPr lang="en-US" sz="1150" b="1" dirty="0">
                          <a:solidFill>
                            <a:schemeClr val="tx1"/>
                          </a:solidFill>
                        </a:rPr>
                        <a:t>39,00 a 40,00</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Excelente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36,00 a 38,99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Muy bueno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32,00 a 35,99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Bueno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50" b="1" dirty="0">
                          <a:solidFill>
                            <a:schemeClr val="tx1"/>
                          </a:solidFill>
                        </a:rPr>
                        <a:t>28,00 a 31,99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Regular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50" b="1" dirty="0">
                          <a:solidFill>
                            <a:schemeClr val="tx1"/>
                          </a:solidFill>
                        </a:rPr>
                        <a:t>0,00 a 27,99</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Deficiente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3657600"/>
            <a:ext cx="11064240" cy="45720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La escala de la derecha corresponde al total de la asignatura, sobre 40 puntos: 20 del primer bimestre y 20 del segundo. Cada bimestre se compone a su vez de 14 puntos de evaluación continua y 6 del examen bimestral.</a:t>
            </a:r>
            <a:endParaRPr lang="en-US" sz="1200" dirty="0"/>
          </a:p>
        </p:txBody>
      </p:sp>
      <p:sp>
        <p:nvSpPr>
          <p:cNvPr id="6" name="tarjeta_1"/>
          <p:cNvSpPr/>
          <p:nvPr/>
        </p:nvSpPr>
        <p:spPr>
          <a:xfrm>
            <a:off x="548640" y="42062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7" name="Shape 3"/>
          <p:cNvSpPr/>
          <p:nvPr/>
        </p:nvSpPr>
        <p:spPr>
          <a:xfrm>
            <a:off x="804672" y="4443984"/>
            <a:ext cx="420624" cy="420624"/>
          </a:xfrm>
          <a:prstGeom prst="ellipse">
            <a:avLst/>
          </a:prstGeom>
          <a:solidFill>
            <a:schemeClr val="accent1"/>
          </a:solidFill>
          <a:ln w="12700">
            <a:solidFill>
              <a:schemeClr val="accent1"/>
            </a:solidFill>
            <a:prstDash val="solid"/>
          </a:ln>
        </p:spPr>
        <p:txBody>
          <a:bodyPr/>
          <a:p/>
        </p:txBody>
      </p:sp>
      <p:sp>
        <p:nvSpPr>
          <p:cNvPr id="8" name="Text 4"/>
          <p:cNvSpPr txBox="1"/>
          <p:nvPr/>
        </p:nvSpPr>
        <p:spPr>
          <a:xfrm>
            <a:off x="80467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5"/>
          <p:cNvSpPr txBox="1"/>
          <p:nvPr/>
        </p:nvSpPr>
        <p:spPr>
          <a:xfrm>
            <a:off x="1353312" y="442569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Trabajo autónomo</a:t>
            </a:r>
            <a:endParaRPr lang="en-US" sz="1700" dirty="0"/>
          </a:p>
        </p:txBody>
      </p:sp>
      <p:sp>
        <p:nvSpPr>
          <p:cNvPr id="10" name="Text 6"/>
          <p:cNvSpPr txBox="1"/>
          <p:nvPr/>
        </p:nvSpPr>
        <p:spPr>
          <a:xfrm>
            <a:off x="804672" y="4956048"/>
            <a:ext cx="2048256" cy="5394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Lectura y repaso de la guía didáctica de la asignatura, unidad 4, y resolución del cuestionario correspondiente.</a:t>
            </a:r>
            <a:endParaRPr lang="en-US" sz="1050" dirty="0"/>
          </a:p>
        </p:txBody>
      </p:sp>
      <p:sp>
        <p:nvSpPr>
          <p:cNvPr id="11" name="Text 7"/>
          <p:cNvSpPr txBox="1"/>
          <p:nvPr/>
        </p:nvSpPr>
        <p:spPr>
          <a:xfrm>
            <a:off x="804672" y="5312664"/>
            <a:ext cx="2048256" cy="274320"/>
          </a:xfrm>
          <a:prstGeom prst="rect">
            <a:avLst/>
          </a:prstGeom>
          <a:noFill/>
          <a:ln/>
        </p:spPr>
        <p:txBody>
          <a:bodyPr wrap="square" lIns="0" tIns="0" rIns="0" bIns="0" rtlCol="0" anchor="ctr"/>
          <a:lstStyle/>
          <a:p>
            <a:pPr indent="0" marL="0">
              <a:buNone/>
            </a:pPr>
            <a:r>
              <a:rPr lang="en-US" sz="1200" b="1" dirty="0">
                <a:solidFill>
                  <a:schemeClr val="accent1"/>
                </a:solidFill>
              </a:rPr>
              <a:t>Declarado en el PEA</a:t>
            </a:r>
            <a:endParaRPr lang="en-US" sz="1200" dirty="0"/>
          </a:p>
        </p:txBody>
      </p:sp>
      <p:sp>
        <p:nvSpPr>
          <p:cNvPr id="12" name="tarjeta_2"/>
          <p:cNvSpPr/>
          <p:nvPr/>
        </p:nvSpPr>
        <p:spPr>
          <a:xfrm>
            <a:off x="3383280" y="42062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3" name="Shape 9"/>
          <p:cNvSpPr/>
          <p:nvPr/>
        </p:nvSpPr>
        <p:spPr>
          <a:xfrm>
            <a:off x="3639312" y="4443984"/>
            <a:ext cx="420624" cy="420624"/>
          </a:xfrm>
          <a:prstGeom prst="ellipse">
            <a:avLst/>
          </a:prstGeom>
          <a:solidFill>
            <a:schemeClr val="accent2"/>
          </a:solidFill>
          <a:ln w="12700">
            <a:solidFill>
              <a:schemeClr val="accent2"/>
            </a:solidFill>
            <a:prstDash val="solid"/>
          </a:ln>
        </p:spPr>
        <p:txBody>
          <a:bodyPr/>
          <a:p/>
        </p:txBody>
      </p:sp>
      <p:sp>
        <p:nvSpPr>
          <p:cNvPr id="14" name="Text 10"/>
          <p:cNvSpPr txBox="1"/>
          <p:nvPr/>
        </p:nvSpPr>
        <p:spPr>
          <a:xfrm>
            <a:off x="363931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1"/>
          <p:cNvSpPr txBox="1"/>
          <p:nvPr/>
        </p:nvSpPr>
        <p:spPr>
          <a:xfrm>
            <a:off x="4187952" y="442569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Trabajo colaborativo</a:t>
            </a:r>
            <a:endParaRPr lang="en-US" sz="1700" dirty="0"/>
          </a:p>
        </p:txBody>
      </p:sp>
      <p:sp>
        <p:nvSpPr>
          <p:cNvPr id="16" name="Text 12"/>
          <p:cNvSpPr txBox="1"/>
          <p:nvPr/>
        </p:nvSpPr>
        <p:spPr>
          <a:xfrm>
            <a:off x="3639312" y="4956048"/>
            <a:ext cx="2048256" cy="5394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Esquema del circuito de refrigeración del motor del laboratorio y cuadro de interpretación de desgastes.</a:t>
            </a:r>
            <a:endParaRPr lang="en-US" sz="1050" dirty="0"/>
          </a:p>
        </p:txBody>
      </p:sp>
      <p:sp>
        <p:nvSpPr>
          <p:cNvPr id="17" name="Text 13"/>
          <p:cNvSpPr txBox="1"/>
          <p:nvPr/>
        </p:nvSpPr>
        <p:spPr>
          <a:xfrm>
            <a:off x="3639312" y="5312664"/>
            <a:ext cx="2048256" cy="274320"/>
          </a:xfrm>
          <a:prstGeom prst="rect">
            <a:avLst/>
          </a:prstGeom>
          <a:noFill/>
          <a:ln/>
        </p:spPr>
        <p:txBody>
          <a:bodyPr wrap="square" lIns="0" tIns="0" rIns="0" bIns="0" rtlCol="0" anchor="ctr"/>
          <a:lstStyle/>
          <a:p>
            <a:pPr indent="0" marL="0">
              <a:buNone/>
            </a:pPr>
            <a:r>
              <a:rPr lang="en-US" sz="1200" b="1" dirty="0">
                <a:solidFill>
                  <a:schemeClr val="accent2"/>
                </a:solidFill>
              </a:rPr>
              <a:t>Taller en clase</a:t>
            </a:r>
            <a:endParaRPr lang="en-US" sz="1200" dirty="0"/>
          </a:p>
        </p:txBody>
      </p:sp>
      <p:sp>
        <p:nvSpPr>
          <p:cNvPr id="18" name="tarjeta_3"/>
          <p:cNvSpPr/>
          <p:nvPr/>
        </p:nvSpPr>
        <p:spPr>
          <a:xfrm>
            <a:off x="6217920" y="42062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5"/>
          <p:cNvSpPr/>
          <p:nvPr/>
        </p:nvSpPr>
        <p:spPr>
          <a:xfrm>
            <a:off x="6473952" y="4443984"/>
            <a:ext cx="420624" cy="420624"/>
          </a:xfrm>
          <a:prstGeom prst="ellipse">
            <a:avLst/>
          </a:prstGeom>
          <a:solidFill>
            <a:schemeClr val="accent3"/>
          </a:solidFill>
          <a:ln w="12700">
            <a:solidFill>
              <a:schemeClr val="accent3"/>
            </a:solidFill>
            <a:prstDash val="solid"/>
          </a:ln>
        </p:spPr>
        <p:txBody>
          <a:bodyPr/>
          <a:p/>
        </p:txBody>
      </p:sp>
      <p:sp>
        <p:nvSpPr>
          <p:cNvPr id="20" name="Text 16"/>
          <p:cNvSpPr txBox="1"/>
          <p:nvPr/>
        </p:nvSpPr>
        <p:spPr>
          <a:xfrm>
            <a:off x="647395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7"/>
          <p:cNvSpPr txBox="1"/>
          <p:nvPr/>
        </p:nvSpPr>
        <p:spPr>
          <a:xfrm>
            <a:off x="7022592" y="442569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Trabajo práctico</a:t>
            </a:r>
            <a:endParaRPr lang="en-US" sz="1700" dirty="0"/>
          </a:p>
        </p:txBody>
      </p:sp>
      <p:sp>
        <p:nvSpPr>
          <p:cNvPr id="22" name="Text 18"/>
          <p:cNvSpPr txBox="1"/>
          <p:nvPr/>
        </p:nvSpPr>
        <p:spPr>
          <a:xfrm>
            <a:off x="6473952" y="4956048"/>
            <a:ext cx="2048256" cy="5394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del bloque motor y del tren alternativo, con informe.</a:t>
            </a:r>
            <a:endParaRPr lang="en-US" sz="1050" dirty="0"/>
          </a:p>
        </p:txBody>
      </p:sp>
      <p:sp>
        <p:nvSpPr>
          <p:cNvPr id="23" name="Text 19"/>
          <p:cNvSpPr txBox="1"/>
          <p:nvPr/>
        </p:nvSpPr>
        <p:spPr>
          <a:xfrm>
            <a:off x="6473952" y="5312664"/>
            <a:ext cx="2048256" cy="274320"/>
          </a:xfrm>
          <a:prstGeom prst="rect">
            <a:avLst/>
          </a:prstGeom>
          <a:noFill/>
          <a:ln/>
        </p:spPr>
        <p:txBody>
          <a:bodyPr wrap="square" lIns="0" tIns="0" rIns="0" bIns="0" rtlCol="0" anchor="ctr"/>
          <a:lstStyle/>
          <a:p>
            <a:pPr indent="0" marL="0">
              <a:buNone/>
            </a:pPr>
            <a:r>
              <a:rPr lang="en-US" sz="1200" b="1" dirty="0">
                <a:solidFill>
                  <a:schemeClr val="accent3"/>
                </a:solidFill>
              </a:rPr>
              <a:t>14 horas de laboratorio</a:t>
            </a:r>
            <a:endParaRPr lang="en-US" sz="1200" dirty="0"/>
          </a:p>
        </p:txBody>
      </p:sp>
      <p:sp>
        <p:nvSpPr>
          <p:cNvPr id="24" name="tarjeta_4"/>
          <p:cNvSpPr/>
          <p:nvPr/>
        </p:nvSpPr>
        <p:spPr>
          <a:xfrm>
            <a:off x="9052560" y="4206240"/>
            <a:ext cx="25603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5" name="Shape 21"/>
          <p:cNvSpPr/>
          <p:nvPr/>
        </p:nvSpPr>
        <p:spPr>
          <a:xfrm>
            <a:off x="9308592" y="4443984"/>
            <a:ext cx="420624" cy="420624"/>
          </a:xfrm>
          <a:prstGeom prst="ellipse">
            <a:avLst/>
          </a:prstGeom>
          <a:solidFill>
            <a:schemeClr val="accent4"/>
          </a:solidFill>
          <a:ln w="12700">
            <a:solidFill>
              <a:schemeClr val="accent4"/>
            </a:solidFill>
            <a:prstDash val="solid"/>
          </a:ln>
        </p:spPr>
        <p:txBody>
          <a:bodyPr/>
          <a:p/>
        </p:txBody>
      </p:sp>
      <p:sp>
        <p:nvSpPr>
          <p:cNvPr id="26" name="Text 22"/>
          <p:cNvSpPr txBox="1"/>
          <p:nvPr/>
        </p:nvSpPr>
        <p:spPr>
          <a:xfrm>
            <a:off x="9308592" y="4443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7" name="Text 23"/>
          <p:cNvSpPr txBox="1"/>
          <p:nvPr/>
        </p:nvSpPr>
        <p:spPr>
          <a:xfrm>
            <a:off x="9857232" y="4425696"/>
            <a:ext cx="1499616" cy="457200"/>
          </a:xfrm>
          <a:prstGeom prst="rect">
            <a:avLst/>
          </a:prstGeom>
          <a:noFill/>
          <a:ln/>
        </p:spPr>
        <p:txBody>
          <a:bodyPr wrap="square" lIns="0" tIns="0" rIns="0" bIns="0" rtlCol="0" anchor="ctr"/>
          <a:lstStyle/>
          <a:p>
            <a:pPr indent="0" marL="0">
              <a:buNone/>
            </a:pPr>
            <a:r>
              <a:rPr lang="en-US" sz="1700" b="1" dirty="0">
                <a:solidFill>
                  <a:schemeClr val="tx1"/>
                </a:solidFill>
              </a:rPr>
              <a:t>Examen bimestral</a:t>
            </a:r>
            <a:endParaRPr lang="en-US" sz="1700" dirty="0"/>
          </a:p>
        </p:txBody>
      </p:sp>
      <p:sp>
        <p:nvSpPr>
          <p:cNvPr id="28" name="Text 24"/>
          <p:cNvSpPr txBox="1"/>
          <p:nvPr/>
        </p:nvSpPr>
        <p:spPr>
          <a:xfrm>
            <a:off x="9308592" y="4956048"/>
            <a:ext cx="2048256" cy="53949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Evalúa las unidades 3 y 4 juntas, con parte conceptual, de cálculo, de procedimiento y de casos.</a:t>
            </a:r>
            <a:endParaRPr lang="en-US" sz="1050" dirty="0"/>
          </a:p>
        </p:txBody>
      </p:sp>
      <p:sp>
        <p:nvSpPr>
          <p:cNvPr id="29" name="Text 25"/>
          <p:cNvSpPr txBox="1"/>
          <p:nvPr/>
        </p:nvSpPr>
        <p:spPr>
          <a:xfrm>
            <a:off x="9308592" y="5312664"/>
            <a:ext cx="2048256" cy="274320"/>
          </a:xfrm>
          <a:prstGeom prst="rect">
            <a:avLst/>
          </a:prstGeom>
          <a:noFill/>
          <a:ln/>
        </p:spPr>
        <p:txBody>
          <a:bodyPr wrap="square" lIns="0" tIns="0" rIns="0" bIns="0" rtlCol="0" anchor="ctr"/>
          <a:lstStyle/>
          <a:p>
            <a:pPr indent="0" marL="0">
              <a:buNone/>
            </a:pPr>
            <a:r>
              <a:rPr lang="en-US" sz="1200" b="1" dirty="0">
                <a:solidFill>
                  <a:schemeClr val="accent4"/>
                </a:solidFill>
              </a:rPr>
              <a:t>Cierre de la asignatura</a:t>
            </a:r>
            <a:endParaRPr lang="en-US" sz="1200" dirty="0"/>
          </a:p>
        </p:txBody>
      </p:sp>
      <p:sp>
        <p:nvSpPr>
          <p:cNvPr id="30"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9 y 10 del PEA — Sistema de evaluación institucional · Tabla 5 — Evaluación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Hoja de ruta de la unidad</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4.1 — Sistema de lubricación. </a:t>
            </a:r>
            <a:pPr indent="0" marL="0">
              <a:lnSpc>
                <a:spcPct val="106000"/>
              </a:lnSpc>
              <a:buNone/>
            </a:pPr>
            <a:r>
              <a:rPr lang="en-US" sz="1250" dirty="0">
                <a:solidFill>
                  <a:schemeClr val="accent4"/>
                </a:solidFill>
              </a:rPr>
              <a:t>finalidad, propiedades y clasificación del aceite, tipos de lubricación, sistemas de engrase, bombas, filtros, indicadores y mantenimiento</a:t>
            </a:r>
            <a:endParaRPr lang="en-US" sz="1250" dirty="0"/>
          </a:p>
        </p:txBody>
      </p:sp>
      <p:sp>
        <p:nvSpPr>
          <p:cNvPr id="6" name="Shape 4"/>
          <p:cNvSpPr/>
          <p:nvPr/>
        </p:nvSpPr>
        <p:spPr>
          <a:xfrm>
            <a:off x="548640" y="2368296"/>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3317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4.2 — Sistema de refrigeración. </a:t>
            </a:r>
            <a:pPr indent="0" marL="0">
              <a:lnSpc>
                <a:spcPct val="106000"/>
              </a:lnSpc>
              <a:buNone/>
            </a:pPr>
            <a:r>
              <a:rPr lang="en-US" sz="1250" dirty="0">
                <a:solidFill>
                  <a:schemeClr val="accent4"/>
                </a:solidFill>
              </a:rPr>
              <a:t>por qué hay que refrigerar, refrigeración por aire y por agua, circuito, bomba, radiador, termostato, ventilador y diagnóstico</a:t>
            </a:r>
            <a:endParaRPr lang="en-US" sz="1250" dirty="0"/>
          </a:p>
        </p:txBody>
      </p:sp>
      <p:sp>
        <p:nvSpPr>
          <p:cNvPr id="9" name="Shape 7"/>
          <p:cNvSpPr/>
          <p:nvPr/>
        </p:nvSpPr>
        <p:spPr>
          <a:xfrm>
            <a:off x="548640" y="3282696"/>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32461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4.3 — El bloque motor. </a:t>
            </a:r>
            <a:pPr indent="0" marL="0">
              <a:lnSpc>
                <a:spcPct val="106000"/>
              </a:lnSpc>
              <a:buNone/>
            </a:pPr>
            <a:r>
              <a:rPr lang="en-US" sz="1250" dirty="0">
                <a:solidFill>
                  <a:schemeClr val="accent4"/>
                </a:solidFill>
              </a:rPr>
              <a:t>función, materiales, camisas, conductos de aceite y de refrigerante, y comprobaciones del bloque</a:t>
            </a:r>
            <a:endParaRPr lang="en-US" sz="1250" dirty="0"/>
          </a:p>
        </p:txBody>
      </p:sp>
      <p:sp>
        <p:nvSpPr>
          <p:cNvPr id="12" name="Shape 10"/>
          <p:cNvSpPr/>
          <p:nvPr/>
        </p:nvSpPr>
        <p:spPr>
          <a:xfrm>
            <a:off x="548640" y="4197096"/>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4160520"/>
            <a:ext cx="6784848" cy="859536"/>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Clase 4.4 — El tren alternativo. </a:t>
            </a:r>
            <a:pPr indent="0" marL="0">
              <a:lnSpc>
                <a:spcPct val="106000"/>
              </a:lnSpc>
              <a:buNone/>
            </a:pPr>
            <a:r>
              <a:rPr lang="en-US" sz="1250" dirty="0">
                <a:solidFill>
                  <a:schemeClr val="accent4"/>
                </a:solidFill>
              </a:rPr>
              <a:t>pistón, segmentos, bulón, biela, cigüeñal y cojinetes; despiece, comprobaciones y armado con par y holguras</a:t>
            </a:r>
            <a:endParaRPr lang="en-US" sz="1250" dirty="0"/>
          </a:p>
        </p:txBody>
      </p:sp>
      <p:sp>
        <p:nvSpPr>
          <p:cNvPr id="15" name="Shape 13"/>
          <p:cNvSpPr/>
          <p:nvPr/>
        </p:nvSpPr>
        <p:spPr>
          <a:xfrm>
            <a:off x="8138160" y="141732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Text 14"/>
          <p:cNvSpPr txBox="1"/>
          <p:nvPr/>
        </p:nvSpPr>
        <p:spPr>
          <a:xfrm>
            <a:off x="8339328" y="1563624"/>
            <a:ext cx="3072384" cy="570586"/>
          </a:xfrm>
          <a:prstGeom prst="rect">
            <a:avLst/>
          </a:prstGeom>
          <a:noFill/>
          <a:ln/>
        </p:spPr>
        <p:txBody>
          <a:bodyPr wrap="square" lIns="0" tIns="0" rIns="0" bIns="0" rtlCol="0" anchor="ctr"/>
          <a:lstStyle/>
          <a:p>
            <a:pPr indent="0" marL="0">
              <a:buNone/>
            </a:pPr>
            <a:r>
              <a:rPr lang="en-US" sz="4000" b="1" dirty="0">
                <a:solidFill>
                  <a:schemeClr val="accent2"/>
                </a:solidFill>
              </a:rPr>
              <a:t>4</a:t>
            </a:r>
            <a:endParaRPr lang="en-US" sz="4000" dirty="0"/>
          </a:p>
        </p:txBody>
      </p:sp>
      <p:sp>
        <p:nvSpPr>
          <p:cNvPr id="17" name="Text 15"/>
          <p:cNvSpPr txBox="1"/>
          <p:nvPr/>
        </p:nvSpPr>
        <p:spPr>
          <a:xfrm>
            <a:off x="8339328" y="209763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Clases de la unidad, dentro de las 9 horas de docencia</a:t>
            </a:r>
            <a:endParaRPr lang="en-US" sz="1300" dirty="0"/>
          </a:p>
        </p:txBody>
      </p:sp>
      <p:sp>
        <p:nvSpPr>
          <p:cNvPr id="18" name="Shape 16"/>
          <p:cNvSpPr/>
          <p:nvPr/>
        </p:nvSpPr>
        <p:spPr>
          <a:xfrm>
            <a:off x="8138160" y="269748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Text 17"/>
          <p:cNvSpPr txBox="1"/>
          <p:nvPr/>
        </p:nvSpPr>
        <p:spPr>
          <a:xfrm>
            <a:off x="8339328" y="2843784"/>
            <a:ext cx="3072384" cy="570586"/>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20" name="Text 18"/>
          <p:cNvSpPr txBox="1"/>
          <p:nvPr/>
        </p:nvSpPr>
        <p:spPr>
          <a:xfrm>
            <a:off x="8339328" y="337779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Práctica declarada: despiece, comprobaciones y armado del bloque y tren alternativo</a:t>
            </a:r>
            <a:endParaRPr lang="en-US" sz="1300" dirty="0"/>
          </a:p>
        </p:txBody>
      </p:sp>
      <p:sp>
        <p:nvSpPr>
          <p:cNvPr id="21" name="Shape 19"/>
          <p:cNvSpPr/>
          <p:nvPr/>
        </p:nvSpPr>
        <p:spPr>
          <a:xfrm>
            <a:off x="8138160" y="3977640"/>
            <a:ext cx="347472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2" name="Text 20"/>
          <p:cNvSpPr txBox="1"/>
          <p:nvPr/>
        </p:nvSpPr>
        <p:spPr>
          <a:xfrm>
            <a:off x="8339328" y="4123944"/>
            <a:ext cx="3072384" cy="570586"/>
          </a:xfrm>
          <a:prstGeom prst="rect">
            <a:avLst/>
          </a:prstGeom>
          <a:noFill/>
          <a:ln/>
        </p:spPr>
        <p:txBody>
          <a:bodyPr wrap="square" lIns="0" tIns="0" rIns="0" bIns="0" rtlCol="0" anchor="ctr"/>
          <a:lstStyle/>
          <a:p>
            <a:pPr indent="0" marL="0">
              <a:buNone/>
            </a:pPr>
            <a:r>
              <a:rPr lang="en-US" sz="4000" b="1" dirty="0">
                <a:solidFill>
                  <a:schemeClr val="accent3"/>
                </a:solidFill>
              </a:rPr>
              <a:t>13</a:t>
            </a:r>
            <a:endParaRPr lang="en-US" sz="4000" dirty="0"/>
          </a:p>
        </p:txBody>
      </p:sp>
      <p:sp>
        <p:nvSpPr>
          <p:cNvPr id="23" name="Text 21"/>
          <p:cNvSpPr txBox="1"/>
          <p:nvPr/>
        </p:nvSpPr>
        <p:spPr>
          <a:xfrm>
            <a:off x="8339328" y="4657954"/>
            <a:ext cx="3072384" cy="351130"/>
          </a:xfrm>
          <a:prstGeom prst="rect">
            <a:avLst/>
          </a:prstGeom>
          <a:noFill/>
          <a:ln/>
        </p:spPr>
        <p:txBody>
          <a:bodyPr wrap="square" lIns="0" tIns="0" rIns="0" bIns="0" rtlCol="0" anchor="t"/>
          <a:lstStyle/>
          <a:p>
            <a:pPr indent="0" marL="0">
              <a:lnSpc>
                <a:spcPct val="105000"/>
              </a:lnSpc>
              <a:buNone/>
            </a:pPr>
            <a:r>
              <a:rPr lang="en-US" sz="1300" dirty="0">
                <a:solidFill>
                  <a:schemeClr val="accent4"/>
                </a:solidFill>
              </a:rPr>
              <a:t>Conocimientos del PEA cubiertos íntegramente</a:t>
            </a:r>
            <a:endParaRPr lang="en-US" sz="1300" dirty="0"/>
          </a:p>
        </p:txBody>
      </p:sp>
      <p:sp>
        <p:nvSpPr>
          <p:cNvPr id="24" name="Shape 22"/>
          <p:cNvSpPr/>
          <p:nvPr/>
        </p:nvSpPr>
        <p:spPr>
          <a:xfrm>
            <a:off x="548640" y="5257800"/>
            <a:ext cx="11064240" cy="685800"/>
          </a:xfrm>
          <a:prstGeom prst="roundRect">
            <a:avLst>
              <a:gd name="adj" fmla="val 8000"/>
            </a:avLst>
          </a:prstGeom>
          <a:solidFill>
            <a:schemeClr val="bg2"/>
          </a:solidFill>
          <a:ln w="12700">
            <a:solidFill>
              <a:schemeClr val="bg2"/>
            </a:solidFill>
            <a:prstDash val="solid"/>
          </a:ln>
        </p:spPr>
        <p:txBody>
          <a:bodyPr/>
          <a:p/>
        </p:txBody>
      </p:sp>
      <p:sp>
        <p:nvSpPr>
          <p:cNvPr id="25" name="Shape 23"/>
          <p:cNvSpPr/>
          <p:nvPr/>
        </p:nvSpPr>
        <p:spPr>
          <a:xfrm>
            <a:off x="786384" y="5417820"/>
            <a:ext cx="365760" cy="365760"/>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786384" y="5417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5"/>
          <p:cNvSpPr txBox="1"/>
          <p:nvPr/>
        </p:nvSpPr>
        <p:spPr>
          <a:xfrm>
            <a:off x="1298448" y="5349240"/>
            <a:ext cx="10058400" cy="5029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Al terminar la unidad el estudiante debe ser capaz de diagnosticar un fallo de lubricación o de refrigeración sin desarmar el motor, y de armar un bloque con su tren alternativo aplicando las holguras y los pares del manual.</a:t>
            </a:r>
            <a:endParaRPr lang="en-US" sz="1250" dirty="0"/>
          </a:p>
        </p:txBody>
      </p:sp>
      <p:sp>
        <p:nvSpPr>
          <p:cNvPr id="28"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Secuencia construida sobre la Tabla 5 del PEA y el cronograma del SGA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4.1  ·  2 HORAS DE DOCENCIA  ·  ABRE LA UNIDAD</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a:t>
            </a:r>
            <a:endParaRPr lang="en-US" sz="4000" dirty="0"/>
          </a:p>
          <a:p>
            <a:pPr indent="0" marL="0">
              <a:buNone/>
            </a:pPr>
            <a:r>
              <a:rPr lang="en-US" sz="4000" b="1" dirty="0">
                <a:solidFill>
                  <a:schemeClr val="bg1"/>
                </a:solidFill>
              </a:rPr>
              <a:t>de lubricación</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Finalidad · El aceite y sus propiedades · Clasificación · Tipos de lubricación · Sistemas de engrase · Bombas · Filtros · Diagnóstico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Explicar las funciones del aceite, interpretar su clasificación, describir el circuito de lubricación y relacionar una lectura de presión con su causa probable.</a:t>
            </a:r>
            <a:endParaRPr lang="en-US" sz="115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4</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Sistema de lubricación · Características del aceite · Tipos de bombas, sistemas de filtrado y filtro · Mantenimiento del sistema.</a:t>
            </a:r>
            <a:endParaRPr lang="en-US" sz="115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4 de los 13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Ficha de interpretación de una etiqueta de aceite y cuadro de diagnóstico por presión, elaborados en grupo.</a:t>
            </a:r>
            <a:endParaRPr lang="en-US" sz="115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ante un vehículo cuyo testigo de presión de aceite se enciende, el estudiante debe poder enumerar en orden las causas posibles, de la más simple a la más grave, y decir qué comprobaría primero.</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hace el aceite. </a:t>
            </a:r>
            <a:pPr indent="0" marL="0">
              <a:lnSpc>
                <a:spcPct val="106000"/>
              </a:lnSpc>
              <a:buNone/>
            </a:pPr>
            <a:r>
              <a:rPr lang="en-US" sz="1200" dirty="0">
                <a:solidFill>
                  <a:schemeClr val="accent4"/>
                </a:solidFill>
              </a:rPr>
              <a:t>las seis funciones que cumple, de las que solo una es la que todos recuerdan</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clasifica. </a:t>
            </a:r>
            <a:pPr indent="0" marL="0">
              <a:lnSpc>
                <a:spcPct val="106000"/>
              </a:lnSpc>
              <a:buNone/>
            </a:pPr>
            <a:r>
              <a:rPr lang="en-US" sz="1200" dirty="0">
                <a:solidFill>
                  <a:schemeClr val="accent4"/>
                </a:solidFill>
              </a:rPr>
              <a:t>grado SAE y categoría API: cómo se leen y qué decide la elección</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Tipos de lubricación. </a:t>
            </a:r>
            <a:pPr indent="0" marL="0">
              <a:lnSpc>
                <a:spcPct val="106000"/>
              </a:lnSpc>
              <a:buNone/>
            </a:pPr>
            <a:r>
              <a:rPr lang="en-US" sz="1200" dirty="0">
                <a:solidFill>
                  <a:schemeClr val="accent4"/>
                </a:solidFill>
              </a:rPr>
              <a:t>hidrodinámica, hidrostática y al límite; por qué el arranque es el momento crítico</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circuito. </a:t>
            </a:r>
            <a:pPr indent="0" marL="0">
              <a:lnSpc>
                <a:spcPct val="106000"/>
              </a:lnSpc>
              <a:buNone/>
            </a:pPr>
            <a:r>
              <a:rPr lang="en-US" sz="1200" dirty="0">
                <a:solidFill>
                  <a:schemeClr val="accent4"/>
                </a:solidFill>
              </a:rPr>
              <a:t>cárter, bomba, válvula de descarga, filtro, galerías y retorno</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diagnóstico. </a:t>
            </a:r>
            <a:pPr indent="0" marL="0">
              <a:lnSpc>
                <a:spcPct val="106000"/>
              </a:lnSpc>
              <a:buNone/>
            </a:pPr>
            <a:r>
              <a:rPr lang="en-US" sz="1200" dirty="0">
                <a:solidFill>
                  <a:schemeClr val="accent4"/>
                </a:solidFill>
              </a:rPr>
              <a:t>qué significa una presión baja, una presión alta y un consumo de aceite</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Activación: tres motores, tres historias de aceite</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testigo que se enciende en ralentí</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El testigo rojo de presión se enciende con el motor caliente y al ralentí, y se apaga al acelerar. El nivel de aceite es correcto y el motor no hace ruidos extraños.</a:t>
            </a:r>
            <a:endParaRPr lang="en-US" sz="115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que consume sin fugas</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Consume un litro de aceite cada pocos miles de kilómetros. No hay manchas bajo el vehículo ni rastros en el motor. El escape echa algo de humo azulado al acelerar.</a:t>
            </a:r>
            <a:endParaRPr lang="en-US" sz="115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que suena en frío</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Al arrancar en frío se oye un repiqueteo en la parte alta del motor que desaparece en pocos segundos. Después funciona con normalidad.</a:t>
            </a:r>
            <a:endParaRPr lang="en-US" sz="1150" dirty="0"/>
          </a:p>
        </p:txBody>
      </p:sp>
      <p:sp>
        <p:nvSpPr>
          <p:cNvPr id="18" name="Shape 16"/>
          <p:cNvSpPr/>
          <p:nvPr/>
        </p:nvSpPr>
        <p:spPr>
          <a:xfrm>
            <a:off x="548640" y="3931920"/>
            <a:ext cx="11064240" cy="731520"/>
          </a:xfrm>
          <a:prstGeom prst="roundRect">
            <a:avLst>
              <a:gd name="adj" fmla="val 7500"/>
            </a:avLst>
          </a:prstGeom>
          <a:solidFill>
            <a:schemeClr val="bg2"/>
          </a:solidFill>
          <a:ln w="12700">
            <a:solidFill>
              <a:schemeClr val="bg2"/>
            </a:solidFill>
            <a:prstDash val="solid"/>
          </a:ln>
        </p:spPr>
        <p:txBody>
          <a:bodyPr/>
          <a:p/>
        </p:txBody>
      </p:sp>
      <p:sp>
        <p:nvSpPr>
          <p:cNvPr id="19" name="Shape 17"/>
          <p:cNvSpPr/>
          <p:nvPr/>
        </p:nvSpPr>
        <p:spPr>
          <a:xfrm>
            <a:off x="786384" y="4114800"/>
            <a:ext cx="365760" cy="365760"/>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786384"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Text 19"/>
          <p:cNvSpPr txBox="1"/>
          <p:nvPr/>
        </p:nvSpPr>
        <p:spPr>
          <a:xfrm>
            <a:off x="1298448" y="402336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tres hablan del sistema de lubricación, pero cada uno apunta a un punto distinto del circuito. Al terminar la clase, cada grupo debe poder decir cuál es ese punto y qué comprobaría primero.</a:t>
            </a:r>
            <a:endParaRPr lang="en-US" sz="1450" dirty="0"/>
          </a:p>
        </p:txBody>
      </p:sp>
      <p:sp>
        <p:nvSpPr>
          <p:cNvPr id="22" name="Shape 20"/>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A. </a:t>
            </a:r>
            <a:pPr indent="0" marL="0">
              <a:lnSpc>
                <a:spcPct val="106000"/>
              </a:lnSpc>
              <a:buNone/>
            </a:pPr>
            <a:r>
              <a:rPr lang="en-US" sz="1200" dirty="0">
                <a:solidFill>
                  <a:schemeClr val="accent4"/>
                </a:solidFill>
              </a:rPr>
              <a:t>la presión depende del caudal y de la resistencia que encuentra; al ralentí la bomba gira despacio y entrega menos caudal</a:t>
            </a:r>
            <a:endParaRPr lang="en-US" sz="1200" dirty="0"/>
          </a:p>
        </p:txBody>
      </p:sp>
      <p:sp>
        <p:nvSpPr>
          <p:cNvPr id="25" name="Shape 23"/>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B. </a:t>
            </a:r>
            <a:pPr indent="0" marL="0">
              <a:lnSpc>
                <a:spcPct val="106000"/>
              </a:lnSpc>
              <a:buNone/>
            </a:pPr>
            <a:r>
              <a:rPr lang="en-US" sz="1200" dirty="0">
                <a:solidFill>
                  <a:schemeClr val="accent4"/>
                </a:solidFill>
              </a:rPr>
              <a:t>si el aceite no sale por fuera, está saliendo por dentro: solo hay dos caminos hacia la cámara de combustión</a:t>
            </a:r>
            <a:endParaRPr lang="en-US" sz="1200" dirty="0"/>
          </a:p>
        </p:txBody>
      </p:sp>
      <p:sp>
        <p:nvSpPr>
          <p:cNvPr id="28" name="Shape 26"/>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Pista para el caso C. </a:t>
            </a:r>
            <a:pPr indent="0" marL="0">
              <a:lnSpc>
                <a:spcPct val="106000"/>
              </a:lnSpc>
              <a:buNone/>
            </a:pPr>
            <a:r>
              <a:rPr lang="en-US" sz="1200" dirty="0">
                <a:solidFill>
                  <a:schemeClr val="accent4"/>
                </a:solidFill>
              </a:rPr>
              <a:t>en el arranque, el aceite todavía no ha llegado a todas partes; pregúntese qué elemento necesita presión para funcionar</a:t>
            </a:r>
            <a:endParaRPr lang="en-US" sz="120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aprendizaje basado en problemas y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hace el aceite, que es más de lo que parece</a:t>
            </a:r>
            <a:endParaRPr lang="en-US" sz="3200" dirty="0"/>
          </a:p>
        </p:txBody>
      </p:sp>
      <p:sp>
        <p:nvSpPr>
          <p:cNvPr id="3" name="tarjeta_1"/>
          <p:cNvSpPr/>
          <p:nvPr/>
        </p:nvSpPr>
        <p:spPr>
          <a:xfrm>
            <a:off x="54864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Reducir el rozamiento</a:t>
            </a:r>
            <a:endParaRPr lang="en-US" sz="1250" dirty="0"/>
          </a:p>
        </p:txBody>
      </p:sp>
      <p:sp>
        <p:nvSpPr>
          <p:cNvPr id="7" name="Text 5"/>
          <p:cNvSpPr txBox="1"/>
          <p:nvPr/>
        </p:nvSpPr>
        <p:spPr>
          <a:xfrm>
            <a:off x="80467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Interpone una película entre las superficies para que no se toquen. Es la función conocida y la que da nombre al sistema.</a:t>
            </a:r>
            <a:endParaRPr lang="en-US" sz="1050" dirty="0"/>
          </a:p>
        </p:txBody>
      </p:sp>
      <p:sp>
        <p:nvSpPr>
          <p:cNvPr id="8" name="tarjeta_2"/>
          <p:cNvSpPr/>
          <p:nvPr/>
        </p:nvSpPr>
        <p:spPr>
          <a:xfrm>
            <a:off x="243840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269443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269443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24307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Refrigerar</a:t>
            </a:r>
            <a:endParaRPr lang="en-US" sz="1250" dirty="0"/>
          </a:p>
        </p:txBody>
      </p:sp>
      <p:sp>
        <p:nvSpPr>
          <p:cNvPr id="12" name="Text 10"/>
          <p:cNvSpPr txBox="1"/>
          <p:nvPr/>
        </p:nvSpPr>
        <p:spPr>
          <a:xfrm>
            <a:off x="269443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Arrastra calor de las zonas que el refrigerante no alcanza: pistones, bulones, cojinetes y árbol de levas.</a:t>
            </a:r>
            <a:endParaRPr lang="en-US" sz="1050" dirty="0"/>
          </a:p>
        </p:txBody>
      </p:sp>
      <p:sp>
        <p:nvSpPr>
          <p:cNvPr id="13" name="tarjeta_3"/>
          <p:cNvSpPr/>
          <p:nvPr/>
        </p:nvSpPr>
        <p:spPr>
          <a:xfrm>
            <a:off x="432816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458419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513283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Limpiar</a:t>
            </a:r>
            <a:endParaRPr lang="en-US" sz="1250" dirty="0"/>
          </a:p>
        </p:txBody>
      </p:sp>
      <p:sp>
        <p:nvSpPr>
          <p:cNvPr id="17" name="Text 15"/>
          <p:cNvSpPr txBox="1"/>
          <p:nvPr/>
        </p:nvSpPr>
        <p:spPr>
          <a:xfrm>
            <a:off x="458419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Arrastra en suspensión las partículas de desgaste y los residuos de la combustión hasta el filtro y el cárter.</a:t>
            </a:r>
            <a:endParaRPr lang="en-US" sz="1050" dirty="0"/>
          </a:p>
        </p:txBody>
      </p:sp>
      <p:sp>
        <p:nvSpPr>
          <p:cNvPr id="18" name="tarjeta_4"/>
          <p:cNvSpPr/>
          <p:nvPr/>
        </p:nvSpPr>
        <p:spPr>
          <a:xfrm>
            <a:off x="621792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9" name="Shape 17"/>
          <p:cNvSpPr/>
          <p:nvPr/>
        </p:nvSpPr>
        <p:spPr>
          <a:xfrm>
            <a:off x="6473952" y="1655064"/>
            <a:ext cx="420624" cy="420624"/>
          </a:xfrm>
          <a:prstGeom prst="ellipse">
            <a:avLst/>
          </a:prstGeom>
          <a:solidFill>
            <a:schemeClr val="accent4"/>
          </a:solidFill>
          <a:ln w="12700">
            <a:solidFill>
              <a:schemeClr val="accent4"/>
            </a:solidFill>
            <a:prstDash val="solid"/>
          </a:ln>
        </p:spPr>
        <p:txBody>
          <a:bodyPr/>
          <a:p/>
        </p:txBody>
      </p:sp>
      <p:sp>
        <p:nvSpPr>
          <p:cNvPr id="20" name="Text 18"/>
          <p:cNvSpPr txBox="1"/>
          <p:nvPr/>
        </p:nvSpPr>
        <p:spPr>
          <a:xfrm>
            <a:off x="647395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702259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Sellar</a:t>
            </a:r>
            <a:endParaRPr lang="en-US" sz="1250" dirty="0"/>
          </a:p>
        </p:txBody>
      </p:sp>
      <p:sp>
        <p:nvSpPr>
          <p:cNvPr id="22" name="Text 20"/>
          <p:cNvSpPr txBox="1"/>
          <p:nvPr/>
        </p:nvSpPr>
        <p:spPr>
          <a:xfrm>
            <a:off x="647395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Completa el cierre entre segmentos y cilindro, mejorando la compresión.</a:t>
            </a:r>
            <a:endParaRPr lang="en-US" sz="1050" dirty="0"/>
          </a:p>
        </p:txBody>
      </p:sp>
      <p:sp>
        <p:nvSpPr>
          <p:cNvPr id="23" name="tarjeta_5"/>
          <p:cNvSpPr/>
          <p:nvPr/>
        </p:nvSpPr>
        <p:spPr>
          <a:xfrm>
            <a:off x="810768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4" name="Shape 22"/>
          <p:cNvSpPr/>
          <p:nvPr/>
        </p:nvSpPr>
        <p:spPr>
          <a:xfrm>
            <a:off x="8363712" y="1655064"/>
            <a:ext cx="420624" cy="420624"/>
          </a:xfrm>
          <a:prstGeom prst="ellipse">
            <a:avLst/>
          </a:prstGeom>
          <a:solidFill>
            <a:schemeClr val="accent1"/>
          </a:solidFill>
          <a:ln w="12700">
            <a:solidFill>
              <a:schemeClr val="accent1"/>
            </a:solidFill>
            <a:prstDash val="solid"/>
          </a:ln>
        </p:spPr>
        <p:txBody>
          <a:bodyPr/>
          <a:p/>
        </p:txBody>
      </p:sp>
      <p:sp>
        <p:nvSpPr>
          <p:cNvPr id="25" name="Text 2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891235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Proteger</a:t>
            </a:r>
            <a:endParaRPr lang="en-US" sz="1250" dirty="0"/>
          </a:p>
        </p:txBody>
      </p:sp>
      <p:sp>
        <p:nvSpPr>
          <p:cNvPr id="27" name="Text 25"/>
          <p:cNvSpPr txBox="1"/>
          <p:nvPr/>
        </p:nvSpPr>
        <p:spPr>
          <a:xfrm>
            <a:off x="836371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Sus aditivos neutralizan ácidos de la combustión y evitan la corrosión de las superficies.</a:t>
            </a:r>
            <a:endParaRPr lang="en-US" sz="1050" dirty="0"/>
          </a:p>
        </p:txBody>
      </p:sp>
      <p:sp>
        <p:nvSpPr>
          <p:cNvPr id="28" name="tarjeta_6"/>
          <p:cNvSpPr/>
          <p:nvPr/>
        </p:nvSpPr>
        <p:spPr>
          <a:xfrm>
            <a:off x="9997440" y="1417320"/>
            <a:ext cx="1615440" cy="228600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9" name="Shape 27"/>
          <p:cNvSpPr/>
          <p:nvPr/>
        </p:nvSpPr>
        <p:spPr>
          <a:xfrm>
            <a:off x="10253472" y="1655064"/>
            <a:ext cx="420624" cy="420624"/>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102534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10802112" y="1636776"/>
            <a:ext cx="554736" cy="457200"/>
          </a:xfrm>
          <a:prstGeom prst="rect">
            <a:avLst/>
          </a:prstGeom>
          <a:noFill/>
          <a:ln/>
        </p:spPr>
        <p:txBody>
          <a:bodyPr wrap="square" lIns="0" tIns="0" rIns="0" bIns="0" rtlCol="0" anchor="ctr"/>
          <a:lstStyle/>
          <a:p>
            <a:pPr indent="0" marL="0">
              <a:buNone/>
            </a:pPr>
            <a:r>
              <a:rPr lang="en-US" sz="1250" b="1" dirty="0">
                <a:solidFill>
                  <a:schemeClr val="tx1"/>
                </a:solidFill>
              </a:rPr>
              <a:t>Transmitir fuerza</a:t>
            </a:r>
            <a:endParaRPr lang="en-US" sz="1250" dirty="0"/>
          </a:p>
        </p:txBody>
      </p:sp>
      <p:sp>
        <p:nvSpPr>
          <p:cNvPr id="32" name="Text 30"/>
          <p:cNvSpPr txBox="1"/>
          <p:nvPr/>
        </p:nvSpPr>
        <p:spPr>
          <a:xfrm>
            <a:off x="10253472" y="2167128"/>
            <a:ext cx="1103376" cy="131673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Acciona taqués hidráulicos, tensores de cadena y actuadores de distribución variable.</a:t>
            </a:r>
            <a:endParaRPr lang="en-US" sz="1050" dirty="0"/>
          </a:p>
        </p:txBody>
      </p:sp>
      <p:sp>
        <p:nvSpPr>
          <p:cNvPr id="33" name="Shape 31"/>
          <p:cNvSpPr/>
          <p:nvPr/>
        </p:nvSpPr>
        <p:spPr>
          <a:xfrm>
            <a:off x="548640" y="3886200"/>
            <a:ext cx="11064240" cy="777240"/>
          </a:xfrm>
          <a:prstGeom prst="roundRect">
            <a:avLst>
              <a:gd name="adj" fmla="val 7059"/>
            </a:avLst>
          </a:prstGeom>
          <a:solidFill>
            <a:schemeClr val="bg2"/>
          </a:solidFill>
          <a:ln w="12700">
            <a:solidFill>
              <a:schemeClr val="bg2"/>
            </a:solidFill>
            <a:prstDash val="solid"/>
          </a:ln>
        </p:spPr>
        <p:txBody>
          <a:bodyPr/>
          <a:p/>
        </p:txBody>
      </p:sp>
      <p:sp>
        <p:nvSpPr>
          <p:cNvPr id="34" name="Shape 32"/>
          <p:cNvSpPr/>
          <p:nvPr/>
        </p:nvSpPr>
        <p:spPr>
          <a:xfrm>
            <a:off x="786384" y="4091940"/>
            <a:ext cx="365760" cy="365760"/>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786384" y="40919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6" name="Text 34"/>
          <p:cNvSpPr txBox="1"/>
          <p:nvPr/>
        </p:nvSpPr>
        <p:spPr>
          <a:xfrm>
            <a:off x="1298448" y="39776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sexta función explica el caso C y es la menos conocida: en un motor moderno el aceite es además un fluido de mando. Si la presión tarda en llegar, los taqués hidráulicos y los tensores no trabajan, y eso se oye.</a:t>
            </a:r>
            <a:endParaRPr lang="en-US" sz="1450" dirty="0"/>
          </a:p>
        </p:txBody>
      </p:sp>
      <p:sp>
        <p:nvSpPr>
          <p:cNvPr id="37" name="Shape 35"/>
          <p:cNvSpPr/>
          <p:nvPr/>
        </p:nvSpPr>
        <p:spPr>
          <a:xfrm>
            <a:off x="548640" y="4837176"/>
            <a:ext cx="384048" cy="384048"/>
          </a:xfrm>
          <a:prstGeom prst="ellipse">
            <a:avLst/>
          </a:prstGeom>
          <a:solidFill>
            <a:schemeClr val="accent2"/>
          </a:solidFill>
          <a:ln w="12700">
            <a:solidFill>
              <a:schemeClr val="accent2"/>
            </a:solidFill>
            <a:prstDash val="solid"/>
          </a:ln>
        </p:spPr>
        <p:txBody>
          <a:bodyPr/>
          <a:p/>
        </p:txBody>
      </p:sp>
      <p:sp>
        <p:nvSpPr>
          <p:cNvPr id="38" name="Text 36"/>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9" name="Text 37"/>
          <p:cNvSpPr txBox="1"/>
          <p:nvPr/>
        </p:nvSpPr>
        <p:spPr>
          <a:xfrm>
            <a:off x="1078992" y="480060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de la función 2. </a:t>
            </a:r>
            <a:pPr indent="0" marL="0">
              <a:lnSpc>
                <a:spcPct val="106000"/>
              </a:lnSpc>
              <a:buNone/>
            </a:pPr>
            <a:r>
              <a:rPr lang="en-US" sz="1150" dirty="0">
                <a:solidFill>
                  <a:schemeClr val="accent4"/>
                </a:solidFill>
              </a:rPr>
              <a:t>un motor con poco aceite se recalienta aunque el circuito de refrigeración esté perfecto, porque pierde una vía de evacuación de calor</a:t>
            </a:r>
            <a:endParaRPr lang="en-US" sz="1150" dirty="0"/>
          </a:p>
        </p:txBody>
      </p:sp>
      <p:sp>
        <p:nvSpPr>
          <p:cNvPr id="40" name="Shape 38"/>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41" name="Text 39"/>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42" name="Text 40"/>
          <p:cNvSpPr txBox="1"/>
          <p:nvPr/>
        </p:nvSpPr>
        <p:spPr>
          <a:xfrm>
            <a:off x="1078992" y="518464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de la función 3. </a:t>
            </a:r>
            <a:pPr indent="0" marL="0">
              <a:lnSpc>
                <a:spcPct val="106000"/>
              </a:lnSpc>
              <a:buNone/>
            </a:pPr>
            <a:r>
              <a:rPr lang="en-US" sz="1150" dirty="0">
                <a:solidFill>
                  <a:schemeClr val="accent4"/>
                </a:solidFill>
              </a:rPr>
              <a:t>el aceite se ensucia porque está haciendo su trabajo; un aceite que sigue limpio a los diez mil kilómetros no está limpiando</a:t>
            </a:r>
            <a:endParaRPr lang="en-US" sz="1150" dirty="0"/>
          </a:p>
        </p:txBody>
      </p:sp>
      <p:sp>
        <p:nvSpPr>
          <p:cNvPr id="43" name="Shape 41"/>
          <p:cNvSpPr/>
          <p:nvPr/>
        </p:nvSpPr>
        <p:spPr>
          <a:xfrm>
            <a:off x="548640" y="5605272"/>
            <a:ext cx="384048" cy="384048"/>
          </a:xfrm>
          <a:prstGeom prst="ellipse">
            <a:avLst/>
          </a:prstGeom>
          <a:solidFill>
            <a:schemeClr val="accent2"/>
          </a:solidFill>
          <a:ln w="12700">
            <a:solidFill>
              <a:schemeClr val="accent2"/>
            </a:solidFill>
            <a:prstDash val="solid"/>
          </a:ln>
        </p:spPr>
        <p:txBody>
          <a:bodyPr/>
          <a:p/>
        </p:txBody>
      </p:sp>
      <p:sp>
        <p:nvSpPr>
          <p:cNvPr id="44" name="Text 42"/>
          <p:cNvSpPr txBox="1"/>
          <p:nvPr/>
        </p:nvSpPr>
        <p:spPr>
          <a:xfrm>
            <a:off x="548640" y="5605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45" name="Text 43"/>
          <p:cNvSpPr txBox="1"/>
          <p:nvPr/>
        </p:nvSpPr>
        <p:spPr>
          <a:xfrm>
            <a:off x="1078992" y="556869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de la función 5. </a:t>
            </a:r>
            <a:pPr indent="0" marL="0">
              <a:lnSpc>
                <a:spcPct val="106000"/>
              </a:lnSpc>
              <a:buNone/>
            </a:pPr>
            <a:r>
              <a:rPr lang="en-US" sz="1150" dirty="0">
                <a:solidFill>
                  <a:schemeClr val="accent4"/>
                </a:solidFill>
              </a:rPr>
              <a:t>los aditivos se consumen con el uso, y ese consumo —no la suciedad visible— es lo que fija el intervalo de cambio</a:t>
            </a:r>
            <a:endParaRPr lang="en-US" sz="1150" dirty="0"/>
          </a:p>
        </p:txBody>
      </p:sp>
      <p:sp>
        <p:nvSpPr>
          <p:cNvPr id="46" name="Text 4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propiedades del aceite y por qué importan</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206240"/>
                <a:gridCol w="4480560"/>
              </a:tblGrid>
              <a:tr h="457200">
                <a:tc>
                  <a:txBody>
                    <a:bodyPr/>
                    <a:lstStyle/>
                    <a:p>
                      <a:pPr indent="0" marL="0">
                        <a:buNone/>
                      </a:pPr>
                      <a:r>
                        <a:rPr lang="en-US" sz="1300" b="1" dirty="0">
                          <a:solidFill>
                            <a:srgbClr val="FFFFFF"/>
                          </a:solidFill>
                        </a:rPr>
                        <a:t>Propiedad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Por qué importa en el motor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Viscosidad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Resistencia del fluido a fluir; es la propiedad física más importante del lubricante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Demasiado baja, la película se rompe; demasiado alta, no llega a tiempo en frío y aumenta el rozamiento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Índice de viscosidad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Cuánto varía la viscosidad al cambiar la temperatura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Un índice alto significa que el aceite se comporta parecido en frío y en caliente: es lo que buscan los multigrado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Punto de congelación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Temperatura a la que el aceite deja de fluir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Decide si el aceite llegará a los cojinetes en un arranque muy frío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Detergencia y dispersión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Capacidad de arrastrar residuos y mantenerlos en suspensión sin que se agrupen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Es lo que impide que los depósitos se adhieran a las paredes y obstruyan conductos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Reserva alcalina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Capacidad de neutralizar los ácidos que genera la combustión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Se agota con el uso: es uno de los factores que fija el intervalo de cambio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7764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18338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1833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0690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De todas, la viscosidad es la que decide si hay película o no la hay. Pero la viscosidad cambia mucho con la temperatura, y ese es exactamente el problema que resuelven los aceites multigrado.</a:t>
            </a:r>
            <a:endParaRPr lang="en-US" sz="1450" dirty="0"/>
          </a:p>
        </p:txBody>
      </p:sp>
      <p:sp>
        <p:nvSpPr>
          <p:cNvPr id="8" name="Shape 5"/>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92040"/>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dilema de un aceite monogrado. </a:t>
            </a:r>
            <a:pPr indent="0" marL="0">
              <a:lnSpc>
                <a:spcPct val="106000"/>
              </a:lnSpc>
              <a:buNone/>
            </a:pPr>
            <a:r>
              <a:rPr lang="en-US" sz="1150" dirty="0">
                <a:solidFill>
                  <a:schemeClr val="accent4"/>
                </a:solidFill>
              </a:rPr>
              <a:t>si es lo bastante fluido para llegar rápido en frío, resulta demasiado fluido en caliente; si aguanta en caliente, no fluye bien en frío</a:t>
            </a:r>
            <a:endParaRPr lang="en-US" sz="1150" dirty="0"/>
          </a:p>
        </p:txBody>
      </p:sp>
      <p:sp>
        <p:nvSpPr>
          <p:cNvPr id="11" name="Shape 8"/>
          <p:cNvSpPr/>
          <p:nvPr/>
        </p:nvSpPr>
        <p:spPr>
          <a:xfrm>
            <a:off x="548640" y="528157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8157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244998"/>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lo resuelve un multigrado. </a:t>
            </a:r>
            <a:pPr indent="0" marL="0">
              <a:lnSpc>
                <a:spcPct val="106000"/>
              </a:lnSpc>
              <a:buNone/>
            </a:pPr>
            <a:r>
              <a:rPr lang="en-US" sz="1150" dirty="0">
                <a:solidFill>
                  <a:schemeClr val="accent4"/>
                </a:solidFill>
              </a:rPr>
              <a:t>con aditivos mejoradores del índice de viscosidad, que hacen que el aceite se comporte como uno fluido en frío y como uno más viscoso en caliente</a:t>
            </a:r>
            <a:endParaRPr lang="en-US" sz="1150" dirty="0"/>
          </a:p>
        </p:txBody>
      </p:sp>
      <p:sp>
        <p:nvSpPr>
          <p:cNvPr id="14" name="Shape 11"/>
          <p:cNvSpPr/>
          <p:nvPr/>
        </p:nvSpPr>
        <p:spPr>
          <a:xfrm>
            <a:off x="548640" y="5634533"/>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34533"/>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97957"/>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eso importa en el arranque. </a:t>
            </a:r>
            <a:pPr indent="0" marL="0">
              <a:lnSpc>
                <a:spcPct val="106000"/>
              </a:lnSpc>
              <a:buNone/>
            </a:pPr>
            <a:r>
              <a:rPr lang="en-US" sz="1150" dirty="0">
                <a:solidFill>
                  <a:schemeClr val="accent4"/>
                </a:solidFill>
              </a:rPr>
              <a:t>la mayor parte del desgaste de un motor se produce en los primeros segundos tras el arranque, antes de que el aceite llegue a todas partes</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características del aceite para motores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Cómo se lee una etiqueta de aceite</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Ejemplo de grado multigrado</a:t>
            </a:r>
            <a:endParaRPr lang="en-US" sz="1700" dirty="0"/>
          </a:p>
        </p:txBody>
      </p:sp>
      <p:sp>
        <p:nvSpPr>
          <p:cNvPr id="5" name="Text 3"/>
          <p:cNvSpPr txBox="1"/>
          <p:nvPr/>
        </p:nvSpPr>
        <p:spPr>
          <a:xfrm>
            <a:off x="786384" y="1993392"/>
            <a:ext cx="4919472" cy="658368"/>
          </a:xfrm>
          <a:prstGeom prst="rect">
            <a:avLst/>
          </a:prstGeom>
          <a:noFill/>
          <a:ln/>
        </p:spPr>
        <p:txBody>
          <a:bodyPr wrap="square" lIns="0" tIns="0" rIns="0" bIns="0" rtlCol="0" anchor="ctr"/>
          <a:lstStyle/>
          <a:p>
            <a:pPr indent="0" marL="0">
              <a:buNone/>
            </a:pPr>
            <a:r>
              <a:rPr lang="en-US" sz="2600" b="1" dirty="0">
                <a:solidFill>
                  <a:srgbClr val="C0451C"/>
                </a:solidFill>
              </a:rPr>
              <a:t>SAE 15W-40</a:t>
            </a:r>
            <a:endParaRPr lang="en-US" sz="2600" dirty="0"/>
          </a:p>
        </p:txBody>
      </p:sp>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El número con W describe el comportamiento en frío; el segundo, en caliente.</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primer número con la W. </a:t>
            </a:r>
            <a:pPr indent="0" marL="0">
              <a:lnSpc>
                <a:spcPct val="106000"/>
              </a:lnSpc>
              <a:buNone/>
            </a:pPr>
            <a:r>
              <a:rPr lang="en-US" sz="1150" dirty="0">
                <a:solidFill>
                  <a:schemeClr val="accent4"/>
                </a:solidFill>
              </a:rPr>
              <a:t>indica el comportamiento en frío: cuanto menor es, mejor fluye el aceite a baja temperatura y antes llega a los cojinetes</a:t>
            </a:r>
            <a:endParaRPr lang="en-US" sz="115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segundo número. </a:t>
            </a:r>
            <a:pPr indent="0" marL="0">
              <a:lnSpc>
                <a:spcPct val="106000"/>
              </a:lnSpc>
              <a:buNone/>
            </a:pPr>
            <a:r>
              <a:rPr lang="en-US" sz="1150" dirty="0">
                <a:solidFill>
                  <a:schemeClr val="accent4"/>
                </a:solidFill>
              </a:rPr>
              <a:t>indica la viscosidad a la temperatura de trabajo del motor: cuanto mayor, más espesa es la película en caliente</a:t>
            </a:r>
            <a:endParaRPr lang="en-US" sz="115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categoría API. </a:t>
            </a:r>
            <a:pPr indent="0" marL="0">
              <a:lnSpc>
                <a:spcPct val="106000"/>
              </a:lnSpc>
              <a:buNone/>
            </a:pPr>
            <a:r>
              <a:rPr lang="en-US" sz="1150" dirty="0">
                <a:solidFill>
                  <a:schemeClr val="accent4"/>
                </a:solidFill>
              </a:rPr>
              <a:t>dos letras; la primera indica el tipo de motor, gasolina o diésel, y la segunda el nivel de prestaciones del aceite</a:t>
            </a:r>
            <a:endParaRPr lang="en-US" sz="115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Quién decide cuál se usa. </a:t>
            </a:r>
            <a:pPr indent="0" marL="0">
              <a:lnSpc>
                <a:spcPct val="106000"/>
              </a:lnSpc>
              <a:buNone/>
            </a:pPr>
            <a:r>
              <a:rPr lang="en-US" sz="1150" dirty="0">
                <a:solidFill>
                  <a:schemeClr val="accent4"/>
                </a:solidFill>
              </a:rPr>
              <a:t>el fabricante del motor, en el manual o en Autodata; no el criterio del taller ni la costumbre</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5394960" cy="914400"/>
        </p:xfrm>
        <a:graphic>
          <a:graphicData uri="http://schemas.openxmlformats.org/drawingml/2006/table">
            <a:tbl>
              <a:tblPr/>
              <a:tblGrid>
                <a:gridCol w="2651760"/>
                <a:gridCol w="2743200"/>
              </a:tblGrid>
              <a:tr h="384048">
                <a:tc>
                  <a:txBody>
                    <a:bodyPr/>
                    <a:lstStyle/>
                    <a:p>
                      <a:pPr indent="0" marL="0">
                        <a:buNone/>
                      </a:pPr>
                      <a:r>
                        <a:rPr lang="en-US" sz="1300" b="1" dirty="0">
                          <a:solidFill>
                            <a:srgbClr val="FFFFFF"/>
                          </a:solidFill>
                        </a:rPr>
                        <a:t>Si se usa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ocurre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rPr>
                        <a:t>Más fluido del especificado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Película insuficiente en caliente; presión baja; desgaste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Más espeso del especificado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Llega tarde en frío; más rozamiento; más consumo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Categoría API inferior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Aditivos insuficientes para ese motor; degradación rápida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0" name="Shape 17"/>
          <p:cNvSpPr/>
          <p:nvPr/>
        </p:nvSpPr>
        <p:spPr>
          <a:xfrm>
            <a:off x="548640" y="4846320"/>
            <a:ext cx="11064240" cy="777240"/>
          </a:xfrm>
          <a:prstGeom prst="roundRect">
            <a:avLst>
              <a:gd name="adj" fmla="val 7059"/>
            </a:avLst>
          </a:prstGeom>
          <a:solidFill>
            <a:schemeClr val="bg2"/>
          </a:solidFill>
          <a:ln w="12700">
            <a:solidFill>
              <a:schemeClr val="bg2"/>
            </a:solidFill>
            <a:prstDash val="solid"/>
          </a:ln>
        </p:spPr>
        <p:txBody>
          <a:bodyPr/>
          <a:p/>
        </p:txBody>
      </p:sp>
      <p:sp>
        <p:nvSpPr>
          <p:cNvPr id="21" name="Shape 18"/>
          <p:cNvSpPr/>
          <p:nvPr/>
        </p:nvSpPr>
        <p:spPr>
          <a:xfrm>
            <a:off x="786384" y="5052060"/>
            <a:ext cx="365760" cy="365760"/>
          </a:xfrm>
          <a:prstGeom prst="ellipse">
            <a:avLst/>
          </a:prstGeom>
          <a:solidFill>
            <a:schemeClr val="accent1"/>
          </a:solidFill>
          <a:ln w="12700">
            <a:solidFill>
              <a:schemeClr val="accent1"/>
            </a:solidFill>
            <a:prstDash val="solid"/>
          </a:ln>
        </p:spPr>
        <p:txBody>
          <a:bodyPr/>
          <a:p/>
        </p:txBody>
      </p:sp>
      <p:sp>
        <p:nvSpPr>
          <p:cNvPr id="22" name="Text 19"/>
          <p:cNvSpPr txBox="1"/>
          <p:nvPr/>
        </p:nvSpPr>
        <p:spPr>
          <a:xfrm>
            <a:off x="786384" y="50520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298448" y="49377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Elegir el aceite no es cuestión de criterio: el fabricante especifica grado y categoría en función de las holguras, las temperaturas y los materiales de ese motor concreto. El taller consulta y aplica.</a:t>
            </a:r>
            <a:endParaRPr lang="en-US" sz="1450" dirty="0"/>
          </a:p>
        </p:txBody>
      </p:sp>
      <p:sp>
        <p:nvSpPr>
          <p:cNvPr id="24" name="Text 21"/>
          <p:cNvSpPr txBox="1"/>
          <p:nvPr/>
        </p:nvSpPr>
        <p:spPr>
          <a:xfrm>
            <a:off x="548640" y="571500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En Loja, con temperaturas moderadas y sin heladas, el comportamiento en frío extremo es menos crítico que en climas fríos; aun así, el grado se elige por lo que indica el fabricante, no por el clima local.</a:t>
            </a:r>
            <a:endParaRPr lang="en-US" sz="1150" dirty="0"/>
          </a:p>
        </p:txBody>
      </p:sp>
      <p:sp>
        <p:nvSpPr>
          <p:cNvPr id="25" name="Text 22"/>
          <p:cNvSpPr txBox="1"/>
          <p:nvPr/>
        </p:nvSpPr>
        <p:spPr>
          <a:xfrm>
            <a:off x="548640" y="608076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características del aceite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tipos de lubricación y por qué el arranque es crítico</a:t>
            </a:r>
            <a:endParaRPr lang="en-US" sz="3200" dirty="0"/>
          </a:p>
        </p:txBody>
      </p:sp>
      <p:sp>
        <p:nvSpPr>
          <p:cNvPr id="3" name="marco_figura"/>
          <p:cNvSpPr/>
          <p:nvPr/>
        </p:nvSpPr>
        <p:spPr>
          <a:xfrm>
            <a:off x="548640" y="1371600"/>
            <a:ext cx="420624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hidrostatica.jpg">    </p:cNvPr>
          <p:cNvPicPr>
            <a:picLocks noChangeAspect="1"/>
          </p:cNvPicPr>
          <p:nvPr/>
        </p:nvPicPr>
        <p:blipFill>
          <a:blip r:embed="rId1"/>
          <a:srcRect l="0" r="0" t="0" b="0"/>
          <a:stretch/>
        </p:blipFill>
        <p:spPr>
          <a:xfrm>
            <a:off x="658368" y="1481328"/>
            <a:ext cx="3986784" cy="2340864"/>
          </a:xfrm>
          <a:prstGeom prst="rect">
            <a:avLst/>
          </a:prstGeom>
        </p:spPr>
      </p:pic>
      <p:sp>
        <p:nvSpPr>
          <p:cNvPr id="5" name="Text 2"/>
          <p:cNvSpPr txBox="1"/>
          <p:nvPr/>
        </p:nvSpPr>
        <p:spPr>
          <a:xfrm>
            <a:off x="658368" y="393192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 </a:t>
            </a:r>
            <a:pPr indent="0" marL="0">
              <a:lnSpc>
                <a:spcPct val="102000"/>
              </a:lnSpc>
              <a:buNone/>
            </a:pPr>
            <a:r>
              <a:rPr lang="en-US" sz="1000" dirty="0">
                <a:solidFill>
                  <a:schemeClr val="accent4"/>
                </a:solidFill>
              </a:rPr>
              <a:t>Lubricación hidrostática durante el arranque: el aceite se introduce a presión para elevar el rotor. Adaptado de Minga González, M. A. (s. f.). Lubricación [diapositivas]. ISTS.</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0" y="1371600"/>
          <a:ext cx="6492240" cy="914400"/>
        </p:xfrm>
        <a:graphic>
          <a:graphicData uri="http://schemas.openxmlformats.org/drawingml/2006/table">
            <a:tbl>
              <a:tblPr/>
              <a:tblGrid>
                <a:gridCol w="2103120"/>
                <a:gridCol w="2194560"/>
                <a:gridCol w="2194560"/>
              </a:tblGrid>
              <a:tr h="457200">
                <a:tc>
                  <a:txBody>
                    <a:bodyPr/>
                    <a:lstStyle/>
                    <a:p>
                      <a:pPr indent="0" marL="0">
                        <a:buNone/>
                      </a:pPr>
                      <a:r>
                        <a:rPr lang="en-US" sz="1300" b="1" dirty="0">
                          <a:solidFill>
                            <a:srgbClr val="FFFFFF"/>
                          </a:solidFill>
                        </a:rPr>
                        <a:t>Tipo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forma la película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ocurre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050" b="1" dirty="0">
                          <a:solidFill>
                            <a:schemeClr val="tx1"/>
                          </a:solidFill>
                        </a:rPr>
                        <a:t>Hidrodinámica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El propio giro del eje arrastra el aceite y genera una cuña que lo separa del cojinete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Cojinetes de bancada y de biela con el motor en marcha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Hidrostática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El aceite se introduce a presión desde fuera, sin depender del giro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En el arranque, antes de que haya velocidad suficiente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1"/>
                          </a:solidFill>
                        </a:rPr>
                        <a:t>Elastohidrodinámica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Las presiones deforman elásticamente las superficies y el aceite forma redes que impiden el contacto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Contacto leva-taqué y dientes de engranajes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Al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La película es mínima o se rompe: hay contacto metálico parcial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Arranque en frío, sobrecarga o falta de aceite; no es admisible de forma sostenida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06908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2748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274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1605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lubricación hidrodinámica depende de la velocidad de giro: a cero revoluciones no existe. Por eso el arranque necesita presión externa, y por eso la mayor parte del desgaste de un motor ocurre en los primeros segundos.</a:t>
            </a:r>
            <a:endParaRPr lang="en-US" sz="1450" dirty="0"/>
          </a:p>
        </p:txBody>
      </p:sp>
      <p:sp>
        <p:nvSpPr>
          <p:cNvPr id="11" name="Shape 7"/>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4956048"/>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lleva a la lubricación al límite. </a:t>
            </a:r>
            <a:pPr indent="0" marL="0">
              <a:lnSpc>
                <a:spcPct val="106000"/>
              </a:lnSpc>
              <a:buNone/>
            </a:pPr>
            <a:r>
              <a:rPr lang="en-US" sz="1150" dirty="0">
                <a:solidFill>
                  <a:schemeClr val="accent4"/>
                </a:solidFill>
              </a:rPr>
              <a:t>un aumento repentino de temperatura, una fuga que reduce el caudal, una viscosidad insuficiente o una carga superior a la prevista</a:t>
            </a:r>
            <a:endParaRPr lang="en-US" sz="1150" dirty="0"/>
          </a:p>
        </p:txBody>
      </p:sp>
      <p:sp>
        <p:nvSpPr>
          <p:cNvPr id="14" name="Shape 10"/>
          <p:cNvSpPr/>
          <p:nvPr/>
        </p:nvSpPr>
        <p:spPr>
          <a:xfrm>
            <a:off x="548640" y="5329123"/>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29123"/>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292547"/>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ocurre si se sostiene. </a:t>
            </a:r>
            <a:pPr indent="0" marL="0">
              <a:lnSpc>
                <a:spcPct val="106000"/>
              </a:lnSpc>
              <a:buNone/>
            </a:pPr>
            <a:r>
              <a:rPr lang="en-US" sz="1150" dirty="0">
                <a:solidFill>
                  <a:schemeClr val="accent4"/>
                </a:solidFill>
              </a:rPr>
              <a:t>el contacto metálico genera calor localmente, el metal se ablanda y las superficies pueden llegar a soldarse entre sí: es el gripaje</a:t>
            </a:r>
            <a:endParaRPr lang="en-US" sz="1150" dirty="0"/>
          </a:p>
        </p:txBody>
      </p:sp>
      <p:sp>
        <p:nvSpPr>
          <p:cNvPr id="17" name="Shape 13"/>
          <p:cNvSpPr/>
          <p:nvPr/>
        </p:nvSpPr>
        <p:spPr>
          <a:xfrm>
            <a:off x="548640" y="5665622"/>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562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2904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un motor sin aceite se destruye en segundos. </a:t>
            </a:r>
            <a:pPr indent="0" marL="0">
              <a:lnSpc>
                <a:spcPct val="106000"/>
              </a:lnSpc>
              <a:buNone/>
            </a:pPr>
            <a:r>
              <a:rPr lang="en-US" sz="1150" dirty="0">
                <a:solidFill>
                  <a:schemeClr val="accent4"/>
                </a:solidFill>
              </a:rPr>
              <a:t>porque sin película no hay nada que impida ese proceso, y la energía disponible en un motor en marcha es enorme</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sistemas de engrase</a:t>
            </a:r>
            <a:endParaRPr lang="en-US" sz="3200" dirty="0"/>
          </a:p>
        </p:txBody>
      </p:sp>
      <p:sp>
        <p:nvSpPr>
          <p:cNvPr id="3" name="marco_figura"/>
          <p:cNvSpPr/>
          <p:nvPr/>
        </p:nvSpPr>
        <p:spPr>
          <a:xfrm>
            <a:off x="548640" y="1371600"/>
            <a:ext cx="393192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barboteo.jpg">    </p:cNvPr>
          <p:cNvPicPr>
            <a:picLocks noChangeAspect="1"/>
          </p:cNvPicPr>
          <p:nvPr/>
        </p:nvPicPr>
        <p:blipFill>
          <a:blip r:embed="rId1"/>
          <a:srcRect l="0" r="0" t="0" b="0"/>
          <a:stretch/>
        </p:blipFill>
        <p:spPr>
          <a:xfrm>
            <a:off x="658368" y="1481328"/>
            <a:ext cx="3712464" cy="2340864"/>
          </a:xfrm>
          <a:prstGeom prst="rect">
            <a:avLst/>
          </a:prstGeom>
        </p:spPr>
      </p:pic>
      <p:sp>
        <p:nvSpPr>
          <p:cNvPr id="5" name="Text 2"/>
          <p:cNvSpPr txBox="1"/>
          <p:nvPr/>
        </p:nvSpPr>
        <p:spPr>
          <a:xfrm>
            <a:off x="658368" y="393192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 </a:t>
            </a:r>
            <a:pPr indent="0" marL="0">
              <a:lnSpc>
                <a:spcPct val="102000"/>
              </a:lnSpc>
              <a:buNone/>
            </a:pPr>
            <a:r>
              <a:rPr lang="en-US" sz="1000" dirty="0">
                <a:solidFill>
                  <a:schemeClr val="accent4"/>
                </a:solidFill>
              </a:rPr>
              <a:t>Engrase por barboteo: las cabezas de biela salpican el aceite del cárter. Adaptado de Minga González, M. A. (s. f.). Lubricación [diapositivas]. ISTS.</a:t>
            </a:r>
            <a:endParaRPr lang="en-US" sz="1000" dirty="0"/>
          </a:p>
        </p:txBody>
      </p:sp>
      <p:sp>
        <p:nvSpPr>
          <p:cNvPr id="6" name="marco_figura"/>
          <p:cNvSpPr/>
          <p:nvPr/>
        </p:nvSpPr>
        <p:spPr>
          <a:xfrm>
            <a:off x="4754880" y="1371600"/>
            <a:ext cx="3931920" cy="2944368"/>
          </a:xfrm>
          <a:prstGeom prst="roundRect">
            <a:avLst>
              <a:gd name="adj" fmla="val 186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l_mixto.jpg">    </p:cNvPr>
          <p:cNvPicPr>
            <a:picLocks noChangeAspect="1"/>
          </p:cNvPicPr>
          <p:nvPr/>
        </p:nvPicPr>
        <p:blipFill>
          <a:blip r:embed="rId2"/>
          <a:srcRect l="0" r="0" t="0" b="0"/>
          <a:stretch/>
        </p:blipFill>
        <p:spPr>
          <a:xfrm>
            <a:off x="4864608" y="1481328"/>
            <a:ext cx="3712464" cy="2340864"/>
          </a:xfrm>
          <a:prstGeom prst="rect">
            <a:avLst/>
          </a:prstGeom>
        </p:spPr>
      </p:pic>
      <p:sp>
        <p:nvSpPr>
          <p:cNvPr id="8" name="Text 4"/>
          <p:cNvSpPr txBox="1"/>
          <p:nvPr/>
        </p:nvSpPr>
        <p:spPr>
          <a:xfrm>
            <a:off x="4864608" y="393192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 </a:t>
            </a:r>
            <a:pPr indent="0" marL="0">
              <a:lnSpc>
                <a:spcPct val="102000"/>
              </a:lnSpc>
              <a:buNone/>
            </a:pPr>
            <a:r>
              <a:rPr lang="en-US" sz="1000" dirty="0">
                <a:solidFill>
                  <a:schemeClr val="accent4"/>
                </a:solidFill>
              </a:rPr>
              <a:t>Engrase mixto: combina presión y salpicadura. Adaptado de Minga González, M. A. (s. f.). Lubricación [diapositivas]. ISTS.</a:t>
            </a:r>
            <a:endParaRPr lang="en-US" sz="1000" dirty="0"/>
          </a:p>
        </p:txBody>
      </p:sp>
      <p:sp>
        <p:nvSpPr>
          <p:cNvPr id="9" name="Shape 5"/>
          <p:cNvSpPr/>
          <p:nvPr/>
        </p:nvSpPr>
        <p:spPr>
          <a:xfrm>
            <a:off x="896112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961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491472" y="1463040"/>
            <a:ext cx="2121408" cy="493776"/>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Por barboteo. </a:t>
            </a:r>
            <a:pPr indent="0" marL="0">
              <a:lnSpc>
                <a:spcPct val="106000"/>
              </a:lnSpc>
              <a:buNone/>
            </a:pPr>
            <a:r>
              <a:rPr lang="en-US" sz="1050" dirty="0">
                <a:solidFill>
                  <a:schemeClr val="accent4"/>
                </a:solidFill>
              </a:rPr>
              <a:t>las cabezas de biela salpican el aceite del cárter; sencillo pero insuficiente para un motor moderno</a:t>
            </a:r>
            <a:endParaRPr lang="en-US" sz="1050" dirty="0"/>
          </a:p>
        </p:txBody>
      </p:sp>
      <p:sp>
        <p:nvSpPr>
          <p:cNvPr id="12" name="Shape 8"/>
          <p:cNvSpPr/>
          <p:nvPr/>
        </p:nvSpPr>
        <p:spPr>
          <a:xfrm>
            <a:off x="8961120" y="204825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96112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491472" y="2011680"/>
            <a:ext cx="2121408" cy="493776"/>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A presión. </a:t>
            </a:r>
            <a:pPr indent="0" marL="0">
              <a:lnSpc>
                <a:spcPct val="106000"/>
              </a:lnSpc>
              <a:buNone/>
            </a:pPr>
            <a:r>
              <a:rPr lang="en-US" sz="1050" dirty="0">
                <a:solidFill>
                  <a:schemeClr val="accent4"/>
                </a:solidFill>
              </a:rPr>
              <a:t>una bomba envía el aceite por conductos hasta cada punto; es el sistema que usan todos los motores actuales</a:t>
            </a:r>
            <a:endParaRPr lang="en-US" sz="1050" dirty="0"/>
          </a:p>
        </p:txBody>
      </p:sp>
      <p:sp>
        <p:nvSpPr>
          <p:cNvPr id="15" name="Shape 11"/>
          <p:cNvSpPr/>
          <p:nvPr/>
        </p:nvSpPr>
        <p:spPr>
          <a:xfrm>
            <a:off x="8961120" y="259689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896112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491472" y="2560320"/>
            <a:ext cx="2121408" cy="493776"/>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Mixto. </a:t>
            </a:r>
            <a:pPr indent="0" marL="0">
              <a:lnSpc>
                <a:spcPct val="106000"/>
              </a:lnSpc>
              <a:buNone/>
            </a:pPr>
            <a:r>
              <a:rPr lang="en-US" sz="1050" dirty="0">
                <a:solidFill>
                  <a:schemeClr val="accent4"/>
                </a:solidFill>
              </a:rPr>
              <a:t>a presión a los puntos críticos y por salpicadura a los demás; en la práctica, casi todos los motores son mixtos</a:t>
            </a:r>
            <a:endParaRPr lang="en-US" sz="1050" dirty="0"/>
          </a:p>
        </p:txBody>
      </p:sp>
      <p:sp>
        <p:nvSpPr>
          <p:cNvPr id="18" name="Shape 14"/>
          <p:cNvSpPr/>
          <p:nvPr/>
        </p:nvSpPr>
        <p:spPr>
          <a:xfrm>
            <a:off x="8961120" y="314553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896112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491472" y="3108960"/>
            <a:ext cx="2121408" cy="493776"/>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Por mezcla. </a:t>
            </a:r>
            <a:pPr indent="0" marL="0">
              <a:lnSpc>
                <a:spcPct val="106000"/>
              </a:lnSpc>
              <a:buNone/>
            </a:pPr>
            <a:r>
              <a:rPr lang="en-US" sz="1050" dirty="0">
                <a:solidFill>
                  <a:schemeClr val="accent4"/>
                </a:solidFill>
              </a:rPr>
              <a:t>el lubricante va mezclado con el combustible; propio de motores de dos tiempos</a:t>
            </a:r>
            <a:endParaRPr lang="en-US" sz="1050" dirty="0"/>
          </a:p>
        </p:txBody>
      </p:sp>
      <p:sp>
        <p:nvSpPr>
          <p:cNvPr id="21" name="Shape 17"/>
          <p:cNvSpPr/>
          <p:nvPr/>
        </p:nvSpPr>
        <p:spPr>
          <a:xfrm>
            <a:off x="8961120" y="3694176"/>
            <a:ext cx="384048" cy="384048"/>
          </a:xfrm>
          <a:prstGeom prst="ellipse">
            <a:avLst/>
          </a:prstGeom>
          <a:solidFill>
            <a:schemeClr val="accent2"/>
          </a:solidFill>
          <a:ln w="12700">
            <a:solidFill>
              <a:schemeClr val="accent2"/>
            </a:solidFill>
            <a:prstDash val="solid"/>
          </a:ln>
        </p:spPr>
        <p:txBody>
          <a:bodyPr/>
          <a:p/>
        </p:txBody>
      </p:sp>
      <p:sp>
        <p:nvSpPr>
          <p:cNvPr id="22" name="Text 18"/>
          <p:cNvSpPr txBox="1"/>
          <p:nvPr/>
        </p:nvSpPr>
        <p:spPr>
          <a:xfrm>
            <a:off x="896112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19"/>
          <p:cNvSpPr txBox="1"/>
          <p:nvPr/>
        </p:nvSpPr>
        <p:spPr>
          <a:xfrm>
            <a:off x="9491472" y="3657600"/>
            <a:ext cx="2121408" cy="493776"/>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Por cárter seco. </a:t>
            </a:r>
            <a:pPr indent="0" marL="0">
              <a:lnSpc>
                <a:spcPct val="106000"/>
              </a:lnSpc>
              <a:buNone/>
            </a:pPr>
            <a:r>
              <a:rPr lang="en-US" sz="1050" dirty="0">
                <a:solidFill>
                  <a:schemeClr val="accent4"/>
                </a:solidFill>
              </a:rPr>
              <a:t>el aceite se almacena en un depósito aparte y dos bombas lo mueven; usado en competición y perfiles bajos</a:t>
            </a:r>
            <a:endParaRPr lang="en-US" sz="1050" dirty="0"/>
          </a:p>
        </p:txBody>
      </p:sp>
      <p:sp>
        <p:nvSpPr>
          <p:cNvPr id="24" name="Shape 20"/>
          <p:cNvSpPr/>
          <p:nvPr/>
        </p:nvSpPr>
        <p:spPr>
          <a:xfrm>
            <a:off x="548640" y="411480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1"/>
          <p:cNvSpPr/>
          <p:nvPr/>
        </p:nvSpPr>
        <p:spPr>
          <a:xfrm>
            <a:off x="786384" y="4320540"/>
            <a:ext cx="365760" cy="365760"/>
          </a:xfrm>
          <a:prstGeom prst="ellipse">
            <a:avLst/>
          </a:prstGeom>
          <a:solidFill>
            <a:schemeClr val="accent2"/>
          </a:solidFill>
          <a:ln w="12700">
            <a:solidFill>
              <a:schemeClr val="accent2"/>
            </a:solidFill>
            <a:prstDash val="solid"/>
          </a:ln>
        </p:spPr>
        <p:txBody>
          <a:bodyPr/>
          <a:p/>
        </p:txBody>
      </p:sp>
      <p:sp>
        <p:nvSpPr>
          <p:cNvPr id="26" name="Text 22"/>
          <p:cNvSpPr txBox="1"/>
          <p:nvPr/>
        </p:nvSpPr>
        <p:spPr>
          <a:xfrm>
            <a:off x="786384" y="4320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3"/>
          <p:cNvSpPr txBox="1"/>
          <p:nvPr/>
        </p:nvSpPr>
        <p:spPr>
          <a:xfrm>
            <a:off x="1298448" y="42062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engrase a presión no sustituye por completo al barboteo: las paredes del cilindro y los bulones reciben buena parte de su aceite por salpicadura. Por eso prácticamente todos los motores actuales son de engrase mixto.</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Sistema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encuentra hoy</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Limitación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Por mezcla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Motores de dos tiempos pequeños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aceite se quema: humo y depósitos; exige lubricante específico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Por cárter seco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Competición y motores de perfil muy 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Mayor complejidad y costo: dos bombas y un depósito aparte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9" name="Text 2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cárter: mucho más que un recipiente</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carter.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 </a:t>
            </a:r>
            <a:pPr indent="0" marL="0">
              <a:lnSpc>
                <a:spcPct val="102000"/>
              </a:lnSpc>
              <a:buNone/>
            </a:pPr>
            <a:r>
              <a:rPr lang="en-US" sz="1000" dirty="0">
                <a:solidFill>
                  <a:schemeClr val="accent4"/>
                </a:solidFill>
              </a:rPr>
              <a:t>Cárter de aleación ligera con tabiques separadores interiores. Adaptado de Minga González, M. A. (s. f.). Lubricación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Almacena el aceite. </a:t>
            </a:r>
            <a:pPr indent="0" marL="0">
              <a:lnSpc>
                <a:spcPct val="106000"/>
              </a:lnSpc>
              <a:buNone/>
            </a:pPr>
            <a:r>
              <a:rPr lang="en-US" sz="1100" dirty="0">
                <a:solidFill>
                  <a:schemeClr val="accent4"/>
                </a:solidFill>
              </a:rPr>
              <a:t>y su capacidad decide cuánto tiempo pasa cada porción fuera del motor, enfriándose y decantando impurezas</a:t>
            </a:r>
            <a:endParaRPr lang="en-US" sz="1100" dirty="0"/>
          </a:p>
        </p:txBody>
      </p:sp>
      <p:sp>
        <p:nvSpPr>
          <p:cNvPr id="9" name="Shape 6"/>
          <p:cNvSpPr/>
          <p:nvPr/>
        </p:nvSpPr>
        <p:spPr>
          <a:xfrm>
            <a:off x="5852160" y="204825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01168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Enfría el aceite. </a:t>
            </a:r>
            <a:pPr indent="0" marL="0">
              <a:lnSpc>
                <a:spcPct val="106000"/>
              </a:lnSpc>
              <a:buNone/>
            </a:pPr>
            <a:r>
              <a:rPr lang="en-US" sz="1100" dirty="0">
                <a:solidFill>
                  <a:schemeClr val="accent4"/>
                </a:solidFill>
              </a:rPr>
              <a:t>su superficie exterior cede calor al aire; por eso muchos cárteres llevan aletas o son de aleación ligera</a:t>
            </a:r>
            <a:endParaRPr lang="en-US" sz="1100" dirty="0"/>
          </a:p>
        </p:txBody>
      </p:sp>
      <p:sp>
        <p:nvSpPr>
          <p:cNvPr id="12" name="Shape 9"/>
          <p:cNvSpPr/>
          <p:nvPr/>
        </p:nvSpPr>
        <p:spPr>
          <a:xfrm>
            <a:off x="5852160" y="25968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56032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Lleva separadores interiores. </a:t>
            </a:r>
            <a:pPr indent="0" marL="0">
              <a:lnSpc>
                <a:spcPct val="106000"/>
              </a:lnSpc>
              <a:buNone/>
            </a:pPr>
            <a:r>
              <a:rPr lang="en-US" sz="1100" dirty="0">
                <a:solidFill>
                  <a:schemeClr val="accent4"/>
                </a:solidFill>
              </a:rPr>
              <a:t>tabiques que evitan que el aceite se desplace de golpe en curvas, frenadas o pendientes, dejando sin alimentación a la bomba</a:t>
            </a:r>
            <a:endParaRPr lang="en-US" sz="1100" dirty="0"/>
          </a:p>
        </p:txBody>
      </p:sp>
      <p:sp>
        <p:nvSpPr>
          <p:cNvPr id="15" name="Shape 12"/>
          <p:cNvSpPr/>
          <p:nvPr/>
        </p:nvSpPr>
        <p:spPr>
          <a:xfrm>
            <a:off x="5852160" y="314553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10896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Lleva el tapón de vaciado. </a:t>
            </a:r>
            <a:pPr indent="0" marL="0">
              <a:lnSpc>
                <a:spcPct val="106000"/>
              </a:lnSpc>
              <a:buNone/>
            </a:pPr>
            <a:r>
              <a:rPr lang="en-US" sz="1100" dirty="0">
                <a:solidFill>
                  <a:schemeClr val="accent4"/>
                </a:solidFill>
              </a:rPr>
              <a:t>en su punto más bajo, con su junta; es por donde se vacía el aceite en cada cambio</a:t>
            </a:r>
            <a:endParaRPr lang="en-US" sz="1100" dirty="0"/>
          </a:p>
        </p:txBody>
      </p:sp>
      <p:sp>
        <p:nvSpPr>
          <p:cNvPr id="18" name="Shape 15"/>
          <p:cNvSpPr/>
          <p:nvPr/>
        </p:nvSpPr>
        <p:spPr>
          <a:xfrm>
            <a:off x="5852160" y="369417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85216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382512" y="365760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Aloja el tamiz de aspiración. </a:t>
            </a:r>
            <a:pPr indent="0" marL="0">
              <a:lnSpc>
                <a:spcPct val="106000"/>
              </a:lnSpc>
              <a:buNone/>
            </a:pPr>
            <a:r>
              <a:rPr lang="en-US" sz="1100" dirty="0">
                <a:solidFill>
                  <a:schemeClr val="accent4"/>
                </a:solidFill>
              </a:rPr>
              <a:t>la bomba aspira a través de un tamiz que retiene las partículas gruesas antes de que entren al circuito</a:t>
            </a:r>
            <a:endParaRPr lang="en-US" sz="1100" dirty="0"/>
          </a:p>
        </p:txBody>
      </p:sp>
      <p:sp>
        <p:nvSpPr>
          <p:cNvPr id="21" name="Shape 18"/>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22" name="Shape 19"/>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temperatura del aceite en el cárter es un dato de diagnóstico: si supera de forma sostenida los valores normales, el aceite pierde viscosidad y la película se adelgaza. En motores sobrealimentados o de altas prestaciones se añade un enfriador por eso.</a:t>
            </a:r>
            <a:endParaRPr lang="en-US" sz="1450" dirty="0"/>
          </a:p>
        </p:txBody>
      </p:sp>
      <p:sp>
        <p:nvSpPr>
          <p:cNvPr id="25" name="Shape 22"/>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4"/>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Avería típica del cárter. </a:t>
            </a:r>
            <a:pPr indent="0" marL="0">
              <a:lnSpc>
                <a:spcPct val="106000"/>
              </a:lnSpc>
              <a:buNone/>
            </a:pPr>
            <a:r>
              <a:rPr lang="en-US" sz="1150" dirty="0">
                <a:solidFill>
                  <a:schemeClr val="accent4"/>
                </a:solidFill>
              </a:rPr>
              <a:t>golpe por contacto con el suelo, frecuente en caminos irregulares; produce fuga o deformación que puede tocar el tamiz</a:t>
            </a:r>
            <a:endParaRPr lang="en-US" sz="1150" dirty="0"/>
          </a:p>
        </p:txBody>
      </p:sp>
      <p:sp>
        <p:nvSpPr>
          <p:cNvPr id="28" name="Shape 25"/>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29" name="Text 26"/>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7"/>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Avería típica de su junta. </a:t>
            </a:r>
            <a:pPr indent="0" marL="0">
              <a:lnSpc>
                <a:spcPct val="106000"/>
              </a:lnSpc>
              <a:buNone/>
            </a:pPr>
            <a:r>
              <a:rPr lang="en-US" sz="1150" dirty="0">
                <a:solidFill>
                  <a:schemeClr val="accent4"/>
                </a:solidFill>
              </a:rPr>
              <a:t>fuga por junta envejecida o por apriete desigual; se corrige con junta nueva y apriete en orden y al par</a:t>
            </a:r>
            <a:endParaRPr lang="en-US" sz="1150" dirty="0"/>
          </a:p>
        </p:txBody>
      </p:sp>
      <p:sp>
        <p:nvSpPr>
          <p:cNvPr id="31" name="Shape 28"/>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2" name="Text 29"/>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30"/>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nunca se hace. </a:t>
            </a:r>
            <a:pPr indent="0" marL="0">
              <a:lnSpc>
                <a:spcPct val="106000"/>
              </a:lnSpc>
              <a:buNone/>
            </a:pPr>
            <a:r>
              <a:rPr lang="en-US" sz="1150" dirty="0">
                <a:solidFill>
                  <a:schemeClr val="accent4"/>
                </a:solidFill>
              </a:rPr>
              <a:t>apretar el tapón de vaciado en exceso: se arranca la rosca del cárter, que es de aleación ligera, y la reparación es costosa</a:t>
            </a:r>
            <a:endParaRPr lang="en-US" sz="1150" dirty="0"/>
          </a:p>
        </p:txBody>
      </p:sp>
      <p:sp>
        <p:nvSpPr>
          <p:cNvPr id="34"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 · mantenimiento del sistema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circuito de lubricación completo</a:t>
            </a:r>
            <a:endParaRPr lang="en-US" sz="3200" dirty="0"/>
          </a:p>
        </p:txBody>
      </p:sp>
      <p:sp>
        <p:nvSpPr>
          <p:cNvPr id="3" name="marco_figura"/>
          <p:cNvSpPr/>
          <p:nvPr/>
        </p:nvSpPr>
        <p:spPr>
          <a:xfrm>
            <a:off x="548640" y="1371600"/>
            <a:ext cx="5852160" cy="3401568"/>
          </a:xfrm>
          <a:prstGeom prst="roundRect">
            <a:avLst>
              <a:gd name="adj" fmla="val 161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circuito.jpg">    </p:cNvPr>
          <p:cNvPicPr>
            <a:picLocks noChangeAspect="1"/>
          </p:cNvPicPr>
          <p:nvPr/>
        </p:nvPicPr>
        <p:blipFill>
          <a:blip r:embed="rId1"/>
          <a:srcRect l="0" r="0" t="0" b="0"/>
          <a:stretch/>
        </p:blipFill>
        <p:spPr>
          <a:xfrm>
            <a:off x="658368" y="1481328"/>
            <a:ext cx="5632704" cy="2798064"/>
          </a:xfrm>
          <a:prstGeom prst="rect">
            <a:avLst/>
          </a:prstGeom>
        </p:spPr>
      </p:pic>
      <p:sp>
        <p:nvSpPr>
          <p:cNvPr id="5" name="Text 2"/>
          <p:cNvSpPr txBox="1"/>
          <p:nvPr/>
        </p:nvSpPr>
        <p:spPr>
          <a:xfrm>
            <a:off x="658368" y="4389120"/>
            <a:ext cx="56327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8. </a:t>
            </a:r>
            <a:pPr indent="0" marL="0">
              <a:lnSpc>
                <a:spcPct val="102000"/>
              </a:lnSpc>
              <a:buNone/>
            </a:pPr>
            <a:r>
              <a:rPr lang="en-US" sz="1000" dirty="0">
                <a:solidFill>
                  <a:schemeClr val="accent4"/>
                </a:solidFill>
              </a:rPr>
              <a:t>Circuito de lubricación: cárter, bomba, válvula de descarga, filtro y puntos de lubricación. Adaptado de Minga González, M. A. (s. f.). Lubricación [diapositivas]. ISTS.</a:t>
            </a:r>
            <a:endParaRPr lang="en-US" sz="1000" dirty="0"/>
          </a:p>
        </p:txBody>
      </p:sp>
      <p:sp>
        <p:nvSpPr>
          <p:cNvPr id="6" name="Shape 3"/>
          <p:cNvSpPr/>
          <p:nvPr/>
        </p:nvSpPr>
        <p:spPr>
          <a:xfrm>
            <a:off x="67665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7665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296912" y="1463040"/>
            <a:ext cx="4315968" cy="51206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1 — Aspiración. </a:t>
            </a:r>
            <a:pPr indent="0" marL="0">
              <a:lnSpc>
                <a:spcPct val="106000"/>
              </a:lnSpc>
              <a:buNone/>
            </a:pPr>
            <a:r>
              <a:rPr lang="en-US" sz="1050" dirty="0">
                <a:solidFill>
                  <a:schemeClr val="accent4"/>
                </a:solidFill>
              </a:rPr>
              <a:t>la bomba aspira el aceite del cárter a través del tamiz, que retiene las partículas gruesas</a:t>
            </a:r>
            <a:endParaRPr lang="en-US" sz="1050" dirty="0"/>
          </a:p>
        </p:txBody>
      </p:sp>
      <p:sp>
        <p:nvSpPr>
          <p:cNvPr id="9" name="Shape 6"/>
          <p:cNvSpPr/>
          <p:nvPr/>
        </p:nvSpPr>
        <p:spPr>
          <a:xfrm>
            <a:off x="6766560" y="206654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76656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296912" y="2029968"/>
            <a:ext cx="4315968" cy="51206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2 — Regulación de presión. </a:t>
            </a:r>
            <a:pPr indent="0" marL="0">
              <a:lnSpc>
                <a:spcPct val="106000"/>
              </a:lnSpc>
              <a:buNone/>
            </a:pPr>
            <a:r>
              <a:rPr lang="en-US" sz="1050" dirty="0">
                <a:solidFill>
                  <a:schemeClr val="accent4"/>
                </a:solidFill>
              </a:rPr>
              <a:t>una válvula de descarga limita la presión máxima devolviendo el exceso al cárter; protege el circuito en frío</a:t>
            </a:r>
            <a:endParaRPr lang="en-US" sz="1050" dirty="0"/>
          </a:p>
        </p:txBody>
      </p:sp>
      <p:sp>
        <p:nvSpPr>
          <p:cNvPr id="12" name="Shape 9"/>
          <p:cNvSpPr/>
          <p:nvPr/>
        </p:nvSpPr>
        <p:spPr>
          <a:xfrm>
            <a:off x="6766560" y="263347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766560" y="2633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296912" y="2596896"/>
            <a:ext cx="4315968" cy="51206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3 — Filtrado. </a:t>
            </a:r>
            <a:pPr indent="0" marL="0">
              <a:lnSpc>
                <a:spcPct val="106000"/>
              </a:lnSpc>
              <a:buNone/>
            </a:pPr>
            <a:r>
              <a:rPr lang="en-US" sz="1050" dirty="0">
                <a:solidFill>
                  <a:schemeClr val="accent4"/>
                </a:solidFill>
              </a:rPr>
              <a:t>el aceite atraviesa el filtro, que retiene las partículas finas; su válvula by-pass lo deja pasar sin filtrar si se obstruye</a:t>
            </a:r>
            <a:endParaRPr lang="en-US" sz="1050" dirty="0"/>
          </a:p>
        </p:txBody>
      </p:sp>
      <p:sp>
        <p:nvSpPr>
          <p:cNvPr id="15" name="Shape 12"/>
          <p:cNvSpPr/>
          <p:nvPr/>
        </p:nvSpPr>
        <p:spPr>
          <a:xfrm>
            <a:off x="6766560" y="320040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76656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296912" y="3163824"/>
            <a:ext cx="4315968" cy="51206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4 — Distribución. </a:t>
            </a:r>
            <a:pPr indent="0" marL="0">
              <a:lnSpc>
                <a:spcPct val="106000"/>
              </a:lnSpc>
              <a:buNone/>
            </a:pPr>
            <a:r>
              <a:rPr lang="en-US" sz="1050" dirty="0">
                <a:solidFill>
                  <a:schemeClr val="accent4"/>
                </a:solidFill>
              </a:rPr>
              <a:t>por la galería principal del bloque hasta los cojinetes de bancada, y desde ellos, por los conductos del cigüeñal, a los de biela</a:t>
            </a:r>
            <a:endParaRPr lang="en-US" sz="1050" dirty="0"/>
          </a:p>
        </p:txBody>
      </p:sp>
      <p:sp>
        <p:nvSpPr>
          <p:cNvPr id="18" name="Shape 15"/>
          <p:cNvSpPr/>
          <p:nvPr/>
        </p:nvSpPr>
        <p:spPr>
          <a:xfrm>
            <a:off x="6766560" y="3767328"/>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76656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296912" y="3730752"/>
            <a:ext cx="4315968" cy="512064"/>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5 — Culata y retorno. </a:t>
            </a:r>
            <a:pPr indent="0" marL="0">
              <a:lnSpc>
                <a:spcPct val="106000"/>
              </a:lnSpc>
              <a:buNone/>
            </a:pPr>
            <a:r>
              <a:rPr lang="en-US" sz="1050" dirty="0">
                <a:solidFill>
                  <a:schemeClr val="accent4"/>
                </a:solidFill>
              </a:rPr>
              <a:t>un ramal sube a los apoyos del árbol de levas; todo el aceite vuelve por gravedad al cárter arrastrando calor y residuos</a:t>
            </a:r>
            <a:endParaRPr lang="en-US" sz="1050" dirty="0"/>
          </a:p>
        </p:txBody>
      </p:sp>
      <p:sp>
        <p:nvSpPr>
          <p:cNvPr id="21" name="Shape 18"/>
          <p:cNvSpPr/>
          <p:nvPr/>
        </p:nvSpPr>
        <p:spPr>
          <a:xfrm>
            <a:off x="548640" y="45720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2" name="Shape 19"/>
          <p:cNvSpPr/>
          <p:nvPr/>
        </p:nvSpPr>
        <p:spPr>
          <a:xfrm>
            <a:off x="786384" y="480060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8006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6634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válvula by-pass del filtro es una decisión de diseño deliberada: si el filtro se obstruye, el sistema prefiere mandar aceite sucio a los cojinetes antes que dejarlos sin aceite. Eso explica por qué un filtro saturado no da síntoma y aun así daña el motor.</a:t>
            </a:r>
            <a:endParaRPr lang="en-US" sz="1450" dirty="0"/>
          </a:p>
        </p:txBody>
      </p:sp>
      <p:sp>
        <p:nvSpPr>
          <p:cNvPr id="25" name="Text 22"/>
          <p:cNvSpPr txBox="1"/>
          <p:nvPr/>
        </p:nvSpPr>
        <p:spPr>
          <a:xfrm>
            <a:off x="548640" y="548640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Observación de trazabilidad:  el recorrido explica por qué los cojinetes de biela son los últimos en recibir el aceite y los primeros en sufrir cuando la presión cae. Es el punto más sensible del circuito.</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 · sistemas de filtrado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Dónde se coloca el filtro y qué consecuencias tiene</a:t>
            </a:r>
            <a:endParaRPr lang="en-US" sz="3200" dirty="0"/>
          </a:p>
        </p:txBody>
      </p:sp>
      <p:sp>
        <p:nvSpPr>
          <p:cNvPr id="3" name="marco_figura"/>
          <p:cNvSpPr/>
          <p:nvPr/>
        </p:nvSpPr>
        <p:spPr>
          <a:xfrm>
            <a:off x="548640" y="1371600"/>
            <a:ext cx="493776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filtro_serie_paralelo.jpg">    </p:cNvPr>
          <p:cNvPicPr>
            <a:picLocks noChangeAspect="1"/>
          </p:cNvPicPr>
          <p:nvPr/>
        </p:nvPicPr>
        <p:blipFill>
          <a:blip r:embed="rId1"/>
          <a:srcRect l="0" r="0" t="0" b="0"/>
          <a:stretch/>
        </p:blipFill>
        <p:spPr>
          <a:xfrm>
            <a:off x="658368" y="1481328"/>
            <a:ext cx="4718304" cy="2340864"/>
          </a:xfrm>
          <a:prstGeom prst="rect">
            <a:avLst/>
          </a:prstGeom>
        </p:spPr>
      </p:pic>
      <p:sp>
        <p:nvSpPr>
          <p:cNvPr id="5" name="Text 2"/>
          <p:cNvSpPr txBox="1"/>
          <p:nvPr/>
        </p:nvSpPr>
        <p:spPr>
          <a:xfrm>
            <a:off x="658368" y="393192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9. </a:t>
            </a:r>
            <a:pPr indent="0" marL="0">
              <a:lnSpc>
                <a:spcPct val="102000"/>
              </a:lnSpc>
              <a:buNone/>
            </a:pPr>
            <a:r>
              <a:rPr lang="en-US" sz="1000" dirty="0">
                <a:solidFill>
                  <a:schemeClr val="accent4"/>
                </a:solidFill>
              </a:rPr>
              <a:t>Montaje del filtro en serie y en paralelo. Adaptado de Minga González, M. A. (s. f.). Lubricación [diapositivas]. ISTS.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1828800"/>
                <a:gridCol w="1920240"/>
                <a:gridCol w="2011680"/>
              </a:tblGrid>
              <a:tr h="475488">
                <a:tc>
                  <a:txBody>
                    <a:bodyPr/>
                    <a:lstStyle/>
                    <a:p>
                      <a:pPr indent="0" marL="0">
                        <a:buNone/>
                      </a:pPr>
                      <a:r>
                        <a:rPr lang="en-US" sz="1300" b="1" dirty="0">
                          <a:solidFill>
                            <a:srgbClr val="FFFFFF"/>
                          </a:solidFill>
                        </a:rPr>
                        <a:t>Montaje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trabaja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Consecuencia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En serie (flujo total)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Todo el aceite pasa por el filtro antes de ir a los puntos de lubricación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Filtrado completo; exige válvula by-pass por si se obstruye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En paralelo (derivación)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Solo una parte del caudal se desvía al filtro; el resto va directo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El aceite se va limpiando poco a poco; no hay riesgo de falta de caudal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Combinado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Un filtro de flujo total más uno de derivación de filtrado más fino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Usado en motores de trabajo y en diésel de gran cilindrada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36626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montaje en serie es el habitual en turismos: filtra todo el caudal. Su precio es que necesita obligatoriamente la válvula by-pass, porque un filtro obstruido en serie dejaría el motor sin aceite.</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el filtro se cambia siempre con el aceite. </a:t>
            </a:r>
            <a:pPr indent="0" marL="0">
              <a:lnSpc>
                <a:spcPct val="106000"/>
              </a:lnSpc>
              <a:buNone/>
            </a:pPr>
            <a:r>
              <a:rPr lang="en-US" sz="1150" dirty="0">
                <a:solidFill>
                  <a:schemeClr val="accent4"/>
                </a:solidFill>
              </a:rPr>
              <a:t>porque su elemento retiene lo que el aceite arrastró; dejar el filtro viejo con aceite nuevo es ensuciar el aceite desde el primer kilómetro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lleva un filtro por dentro. </a:t>
            </a:r>
            <a:pPr indent="0" marL="0">
              <a:lnSpc>
                <a:spcPct val="106000"/>
              </a:lnSpc>
              <a:buNone/>
            </a:pPr>
            <a:r>
              <a:rPr lang="en-US" sz="1150" dirty="0">
                <a:solidFill>
                  <a:schemeClr val="accent4"/>
                </a:solidFill>
              </a:rPr>
              <a:t>elemento de papel plisado, válvula antirretorno que evita que el filtro se vacíe con el motor parado, y válvula by-pass</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Para qué sirve la válvula antirretorno. </a:t>
            </a:r>
            <a:pPr indent="0" marL="0">
              <a:lnSpc>
                <a:spcPct val="106000"/>
              </a:lnSpc>
              <a:buNone/>
            </a:pPr>
            <a:r>
              <a:rPr lang="en-US" sz="1150" dirty="0">
                <a:solidFill>
                  <a:schemeClr val="accent4"/>
                </a:solidFill>
              </a:rPr>
              <a:t>mantiene el filtro lleno con el motor parado, de modo que en el arranque la presión llega antes; si falla, aumenta el desgaste de arranque</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sistemas de filtrado y filtro de aceite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filtro de aceite por dentro</a:t>
            </a:r>
            <a:endParaRPr lang="en-US" sz="3200" dirty="0"/>
          </a:p>
        </p:txBody>
      </p:sp>
      <p:sp>
        <p:nvSpPr>
          <p:cNvPr id="3" name="marco_figura"/>
          <p:cNvSpPr/>
          <p:nvPr/>
        </p:nvSpPr>
        <p:spPr>
          <a:xfrm>
            <a:off x="548640" y="1371600"/>
            <a:ext cx="512064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filtro_corte.jpg">    </p:cNvPr>
          <p:cNvPicPr>
            <a:picLocks noChangeAspect="1"/>
          </p:cNvPicPr>
          <p:nvPr/>
        </p:nvPicPr>
        <p:blipFill>
          <a:blip r:embed="rId1"/>
          <a:srcRect l="0" r="0" t="0" b="0"/>
          <a:stretch/>
        </p:blipFill>
        <p:spPr>
          <a:xfrm>
            <a:off x="658368" y="1481328"/>
            <a:ext cx="4901184" cy="2706624"/>
          </a:xfrm>
          <a:prstGeom prst="rect">
            <a:avLst/>
          </a:prstGeom>
        </p:spPr>
      </p:pic>
      <p:sp>
        <p:nvSpPr>
          <p:cNvPr id="5" name="Text 2"/>
          <p:cNvSpPr txBox="1"/>
          <p:nvPr/>
        </p:nvSpPr>
        <p:spPr>
          <a:xfrm>
            <a:off x="658368" y="429768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10. </a:t>
            </a:r>
            <a:pPr indent="0" marL="0">
              <a:lnSpc>
                <a:spcPct val="102000"/>
              </a:lnSpc>
              <a:buNone/>
            </a:pPr>
            <a:r>
              <a:rPr lang="en-US" sz="1000" dirty="0">
                <a:solidFill>
                  <a:schemeClr val="accent4"/>
                </a:solidFill>
              </a:rPr>
              <a:t>Corte de un filtro de aceite: elemento filtrante, válvula by-pass, válvula antirretorno y tubo central. Adaptado de Minga González, M. A. (s. f.). Lubricación [diapositivas]. ISTS.</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577840" cy="914400"/>
        </p:xfrm>
        <a:graphic>
          <a:graphicData uri="http://schemas.openxmlformats.org/drawingml/2006/table">
            <a:tbl>
              <a:tblPr/>
              <a:tblGrid>
                <a:gridCol w="2377440"/>
                <a:gridCol w="320040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Elemento filtrante de papel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Retiene las partículas finas; su plisado multiplica la superficie en poco volumen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Tubo central perforado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Recoge el aceite ya filtrado y lo conduce a la salida hacia el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Válvula antirretorno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Impide que el filtro se vacíe con el motor parado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Válvula by-pass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Deja pasar el aceite sin filtrar si el elemento se obstruye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Junta de estanqueidad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Sella contra el soporte; siempre se lubrica antes de montar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43484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64058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6405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5262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Al montar un filtro nuevo se lubrica su junta con aceite limpio y se aprieta a mano hasta que la junta apoye, más el giro que indique el propio filtro. Apretarlo con llave lo deforma y provoca fuga, y además impide desmontarlo la vez siguiente.</a:t>
            </a:r>
            <a:endParaRPr lang="en-US" sz="1450" dirty="0"/>
          </a:p>
        </p:txBody>
      </p:sp>
      <p:sp>
        <p:nvSpPr>
          <p:cNvPr id="11" name="Shape 7"/>
          <p:cNvSpPr/>
          <p:nvPr/>
        </p:nvSpPr>
        <p:spPr>
          <a:xfrm>
            <a:off x="548640" y="5330952"/>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29437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Error habitual 1. </a:t>
            </a:r>
            <a:pPr indent="0" marL="0">
              <a:lnSpc>
                <a:spcPct val="106000"/>
              </a:lnSpc>
              <a:buNone/>
            </a:pPr>
            <a:r>
              <a:rPr lang="en-US" sz="1150" dirty="0">
                <a:solidFill>
                  <a:schemeClr val="accent4"/>
                </a:solidFill>
              </a:rPr>
              <a:t>no retirar la junta vieja del soporte: queda montada bajo la nueva y el filtro pierde aceite a presión en cuanto arranca el motor</a:t>
            </a:r>
            <a:endParaRPr lang="en-US" sz="1150" dirty="0"/>
          </a:p>
        </p:txBody>
      </p:sp>
      <p:sp>
        <p:nvSpPr>
          <p:cNvPr id="14" name="Shape 10"/>
          <p:cNvSpPr/>
          <p:nvPr/>
        </p:nvSpPr>
        <p:spPr>
          <a:xfrm>
            <a:off x="548640" y="5667451"/>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66745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630875"/>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Error habitual 2. </a:t>
            </a:r>
            <a:pPr indent="0" marL="0">
              <a:lnSpc>
                <a:spcPct val="106000"/>
              </a:lnSpc>
              <a:buNone/>
            </a:pPr>
            <a:r>
              <a:rPr lang="en-US" sz="1150" dirty="0">
                <a:solidFill>
                  <a:schemeClr val="accent4"/>
                </a:solidFill>
              </a:rPr>
              <a:t>montar el filtro vacío en instalaciones horizontales: conviene llenarlo parcialmente de aceite antes para acortar el tiempo hasta que llegue presión</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filtro de aceite · mantenimiento del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bomba de aceite: engranajes exteriores e interiores</a:t>
            </a:r>
            <a:endParaRPr lang="en-US" sz="3200" dirty="0"/>
          </a:p>
        </p:txBody>
      </p:sp>
      <p:sp>
        <p:nvSpPr>
          <p:cNvPr id="3" name="marco_figura"/>
          <p:cNvSpPr/>
          <p:nvPr/>
        </p:nvSpPr>
        <p:spPr>
          <a:xfrm>
            <a:off x="548640" y="1371600"/>
            <a:ext cx="420624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bomba_engranajes.jpg">    </p:cNvPr>
          <p:cNvPicPr>
            <a:picLocks noChangeAspect="1"/>
          </p:cNvPicPr>
          <p:nvPr/>
        </p:nvPicPr>
        <p:blipFill>
          <a:blip r:embed="rId1"/>
          <a:srcRect l="0" r="0" t="0" b="0"/>
          <a:stretch/>
        </p:blipFill>
        <p:spPr>
          <a:xfrm>
            <a:off x="658368" y="1481328"/>
            <a:ext cx="3986784" cy="2340864"/>
          </a:xfrm>
          <a:prstGeom prst="rect">
            <a:avLst/>
          </a:prstGeom>
        </p:spPr>
      </p:pic>
      <p:sp>
        <p:nvSpPr>
          <p:cNvPr id="5" name="Text 2"/>
          <p:cNvSpPr txBox="1"/>
          <p:nvPr/>
        </p:nvSpPr>
        <p:spPr>
          <a:xfrm>
            <a:off x="658368" y="393192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11. </a:t>
            </a:r>
            <a:pPr indent="0" marL="0">
              <a:lnSpc>
                <a:spcPct val="102000"/>
              </a:lnSpc>
              <a:buNone/>
            </a:pPr>
            <a:r>
              <a:rPr lang="en-US" sz="1000" dirty="0">
                <a:solidFill>
                  <a:schemeClr val="accent4"/>
                </a:solidFill>
              </a:rPr>
              <a:t>Bomba de engranajes exteriores: el aceite se arrastra entre los dientes y la carcasa. Adaptado de Minga González, M. A. (s. f.). Lubricación [diapositivas]. ISTS.</a:t>
            </a:r>
            <a:endParaRPr lang="en-US" sz="1000" dirty="0"/>
          </a:p>
        </p:txBody>
      </p:sp>
      <p:sp>
        <p:nvSpPr>
          <p:cNvPr id="6" name="marco_figura"/>
          <p:cNvSpPr/>
          <p:nvPr/>
        </p:nvSpPr>
        <p:spPr>
          <a:xfrm>
            <a:off x="5120640" y="1371600"/>
            <a:ext cx="3931920" cy="2944368"/>
          </a:xfrm>
          <a:prstGeom prst="roundRect">
            <a:avLst>
              <a:gd name="adj" fmla="val 186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l_bomba_lobulos2.jpg">    </p:cNvPr>
          <p:cNvPicPr>
            <a:picLocks noChangeAspect="1"/>
          </p:cNvPicPr>
          <p:nvPr/>
        </p:nvPicPr>
        <p:blipFill>
          <a:blip r:embed="rId2"/>
          <a:srcRect l="0" r="0" t="0" b="0"/>
          <a:stretch/>
        </p:blipFill>
        <p:spPr>
          <a:xfrm>
            <a:off x="5230368" y="1481328"/>
            <a:ext cx="3712464" cy="2340864"/>
          </a:xfrm>
          <a:prstGeom prst="rect">
            <a:avLst/>
          </a:prstGeom>
        </p:spPr>
      </p:pic>
      <p:sp>
        <p:nvSpPr>
          <p:cNvPr id="8" name="Text 4"/>
          <p:cNvSpPr txBox="1"/>
          <p:nvPr/>
        </p:nvSpPr>
        <p:spPr>
          <a:xfrm>
            <a:off x="5230368" y="393192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12. </a:t>
            </a:r>
            <a:pPr indent="0" marL="0">
              <a:lnSpc>
                <a:spcPct val="102000"/>
              </a:lnSpc>
              <a:buNone/>
            </a:pPr>
            <a:r>
              <a:rPr lang="en-US" sz="1000" dirty="0">
                <a:solidFill>
                  <a:schemeClr val="accent4"/>
                </a:solidFill>
              </a:rPr>
              <a:t>Bomba de engranajes interiores con espaciador en media luna. Adaptado de Minga González, M. A. (s. f.). Lubricación [diapositivas]. ISTS.</a:t>
            </a:r>
            <a:endParaRPr lang="en-US" sz="1000" dirty="0"/>
          </a:p>
        </p:txBody>
      </p:sp>
      <p:sp>
        <p:nvSpPr>
          <p:cNvPr id="9" name="Shape 5"/>
          <p:cNvSpPr/>
          <p:nvPr/>
        </p:nvSpPr>
        <p:spPr>
          <a:xfrm>
            <a:off x="941832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94183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948672" y="1463040"/>
            <a:ext cx="1664208" cy="585216"/>
          </a:xfrm>
          <a:prstGeom prst="rect">
            <a:avLst/>
          </a:prstGeom>
          <a:noFill/>
          <a:ln/>
        </p:spPr>
        <p:txBody>
          <a:bodyPr wrap="square" lIns="0" tIns="0" rIns="0" bIns="0" rtlCol="0" anchor="ctr"/>
          <a:lstStyle/>
          <a:p>
            <a:pPr indent="0" marL="0">
              <a:lnSpc>
                <a:spcPct val="106000"/>
              </a:lnSpc>
              <a:buNone/>
            </a:pPr>
            <a:r>
              <a:rPr lang="en-US" sz="950" b="1" dirty="0">
                <a:solidFill>
                  <a:schemeClr val="tx1"/>
                </a:solidFill>
              </a:rPr>
              <a:t>Cómo funciona la de engranajes. </a:t>
            </a:r>
            <a:pPr indent="0" marL="0">
              <a:lnSpc>
                <a:spcPct val="106000"/>
              </a:lnSpc>
              <a:buNone/>
            </a:pPr>
            <a:r>
              <a:rPr lang="en-US" sz="950" dirty="0">
                <a:solidFill>
                  <a:schemeClr val="accent4"/>
                </a:solidFill>
              </a:rPr>
              <a:t>dos piñones engranados giran dentro de una carcasa; el aceite queda atrapado entre los dientes y la pared, y es arrastrado del lado de aspiración al de impulsión</a:t>
            </a:r>
            <a:endParaRPr lang="en-US" sz="950" dirty="0"/>
          </a:p>
        </p:txBody>
      </p:sp>
      <p:sp>
        <p:nvSpPr>
          <p:cNvPr id="12" name="Shape 8"/>
          <p:cNvSpPr/>
          <p:nvPr/>
        </p:nvSpPr>
        <p:spPr>
          <a:xfrm>
            <a:off x="9418320" y="213969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9418320"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948672" y="2103120"/>
            <a:ext cx="1664208" cy="585216"/>
          </a:xfrm>
          <a:prstGeom prst="rect">
            <a:avLst/>
          </a:prstGeom>
          <a:noFill/>
          <a:ln/>
        </p:spPr>
        <p:txBody>
          <a:bodyPr wrap="square" lIns="0" tIns="0" rIns="0" bIns="0" rtlCol="0" anchor="ctr"/>
          <a:lstStyle/>
          <a:p>
            <a:pPr indent="0" marL="0">
              <a:lnSpc>
                <a:spcPct val="106000"/>
              </a:lnSpc>
              <a:buNone/>
            </a:pPr>
            <a:r>
              <a:rPr lang="en-US" sz="950" b="1" dirty="0">
                <a:solidFill>
                  <a:schemeClr val="tx1"/>
                </a:solidFill>
              </a:rPr>
              <a:t>Por qué no vuelve atrás. </a:t>
            </a:r>
            <a:pPr indent="0" marL="0">
              <a:lnSpc>
                <a:spcPct val="106000"/>
              </a:lnSpc>
              <a:buNone/>
            </a:pPr>
            <a:r>
              <a:rPr lang="en-US" sz="950" dirty="0">
                <a:solidFill>
                  <a:schemeClr val="accent4"/>
                </a:solidFill>
              </a:rPr>
              <a:t>en la zona donde los dientes engranan, el espacio se cierra y el aceite no puede retroceder: es lo que genera la presión</a:t>
            </a:r>
            <a:endParaRPr lang="en-US" sz="950" dirty="0"/>
          </a:p>
        </p:txBody>
      </p:sp>
      <p:sp>
        <p:nvSpPr>
          <p:cNvPr id="15" name="Shape 11"/>
          <p:cNvSpPr/>
          <p:nvPr/>
        </p:nvSpPr>
        <p:spPr>
          <a:xfrm>
            <a:off x="9418320" y="277977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9418320"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948672" y="2743200"/>
            <a:ext cx="1664208" cy="585216"/>
          </a:xfrm>
          <a:prstGeom prst="rect">
            <a:avLst/>
          </a:prstGeom>
          <a:noFill/>
          <a:ln/>
        </p:spPr>
        <p:txBody>
          <a:bodyPr wrap="square" lIns="0" tIns="0" rIns="0" bIns="0" rtlCol="0" anchor="ctr"/>
          <a:lstStyle/>
          <a:p>
            <a:pPr indent="0" marL="0">
              <a:lnSpc>
                <a:spcPct val="106000"/>
              </a:lnSpc>
              <a:buNone/>
            </a:pPr>
            <a:r>
              <a:rPr lang="en-US" sz="950" b="1" dirty="0">
                <a:solidFill>
                  <a:schemeClr val="tx1"/>
                </a:solidFill>
              </a:rPr>
              <a:t>La variante de engranajes interiores. </a:t>
            </a:r>
            <a:pPr indent="0" marL="0">
              <a:lnSpc>
                <a:spcPct val="106000"/>
              </a:lnSpc>
              <a:buNone/>
            </a:pPr>
            <a:r>
              <a:rPr lang="en-US" sz="950" dirty="0">
                <a:solidFill>
                  <a:schemeClr val="accent4"/>
                </a:solidFill>
              </a:rPr>
              <a:t>un piñón pequeño gira dentro de una corona dentada; es más compacta y suele ir acoplada directamente al cigüeñal</a:t>
            </a:r>
            <a:endParaRPr lang="en-US" sz="950" dirty="0"/>
          </a:p>
        </p:txBody>
      </p:sp>
      <p:sp>
        <p:nvSpPr>
          <p:cNvPr id="18" name="Shape 14"/>
          <p:cNvSpPr/>
          <p:nvPr/>
        </p:nvSpPr>
        <p:spPr>
          <a:xfrm>
            <a:off x="9418320" y="341985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941832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948672" y="3383280"/>
            <a:ext cx="1664208" cy="585216"/>
          </a:xfrm>
          <a:prstGeom prst="rect">
            <a:avLst/>
          </a:prstGeom>
          <a:noFill/>
          <a:ln/>
        </p:spPr>
        <p:txBody>
          <a:bodyPr wrap="square" lIns="0" tIns="0" rIns="0" bIns="0" rtlCol="0" anchor="ctr"/>
          <a:lstStyle/>
          <a:p>
            <a:pPr indent="0" marL="0">
              <a:lnSpc>
                <a:spcPct val="106000"/>
              </a:lnSpc>
              <a:buNone/>
            </a:pPr>
            <a:r>
              <a:rPr lang="en-US" sz="950" b="1" dirty="0">
                <a:solidFill>
                  <a:schemeClr val="tx1"/>
                </a:solidFill>
              </a:rPr>
              <a:t>Por qué se monta sobre el cigüeñal. </a:t>
            </a:r>
            <a:pPr indent="0" marL="0">
              <a:lnSpc>
                <a:spcPct val="106000"/>
              </a:lnSpc>
              <a:buNone/>
            </a:pPr>
            <a:r>
              <a:rPr lang="en-US" sz="950" dirty="0">
                <a:solidFill>
                  <a:schemeClr val="accent4"/>
                </a:solidFill>
              </a:rPr>
              <a:t>así gira siempre que gira el motor, sin transmisión intermedia que pueda fallar, y la bomba resulta más corta</a:t>
            </a:r>
            <a:endParaRPr lang="en-US" sz="950" dirty="0"/>
          </a:p>
        </p:txBody>
      </p:sp>
      <p:sp>
        <p:nvSpPr>
          <p:cNvPr id="21" name="Shape 17"/>
          <p:cNvSpPr/>
          <p:nvPr/>
        </p:nvSpPr>
        <p:spPr>
          <a:xfrm>
            <a:off x="548640" y="411480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18"/>
          <p:cNvSpPr/>
          <p:nvPr/>
        </p:nvSpPr>
        <p:spPr>
          <a:xfrm>
            <a:off x="786384" y="4320540"/>
            <a:ext cx="365760" cy="365760"/>
          </a:xfrm>
          <a:prstGeom prst="ellipse">
            <a:avLst/>
          </a:prstGeom>
          <a:solidFill>
            <a:schemeClr val="accent1"/>
          </a:solidFill>
          <a:ln w="12700">
            <a:solidFill>
              <a:schemeClr val="accent1"/>
            </a:solidFill>
            <a:prstDash val="solid"/>
          </a:ln>
        </p:spPr>
        <p:txBody>
          <a:bodyPr/>
          <a:p/>
        </p:txBody>
      </p:sp>
      <p:sp>
        <p:nvSpPr>
          <p:cNvPr id="23" name="Text 19"/>
          <p:cNvSpPr txBox="1"/>
          <p:nvPr/>
        </p:nvSpPr>
        <p:spPr>
          <a:xfrm>
            <a:off x="786384" y="4320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0"/>
          <p:cNvSpPr txBox="1"/>
          <p:nvPr/>
        </p:nvSpPr>
        <p:spPr>
          <a:xfrm>
            <a:off x="1298448" y="42062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Todas las bombas de aceite son de desplazamiento positivo: entregan un caudal proporcional a su velocidad de giro, no a la resistencia del circuito. Por eso hace falta una válvula de descarga que limite la presión máxima.</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Tipo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Ventaja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Dónde se encuentra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Engranajes exteriores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Construcción sencilla y robusta; muy tolerante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Motores de trabajo y diseños clásicos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Engranajes interiores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Compacta y de montaje directo sobre el cigüeñal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Mayoría de motores modernos de turismo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6"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tipos de bombas de aceite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Bombas de paletas, de lóbulos y trocoidal</a:t>
            </a:r>
            <a:endParaRPr lang="en-US" sz="3200" dirty="0"/>
          </a:p>
        </p:txBody>
      </p:sp>
      <p:sp>
        <p:nvSpPr>
          <p:cNvPr id="3" name="marco_figura"/>
          <p:cNvSpPr/>
          <p:nvPr/>
        </p:nvSpPr>
        <p:spPr>
          <a:xfrm>
            <a:off x="548640" y="1371600"/>
            <a:ext cx="393192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bomba_paletas.jpg">    </p:cNvPr>
          <p:cNvPicPr>
            <a:picLocks noChangeAspect="1"/>
          </p:cNvPicPr>
          <p:nvPr/>
        </p:nvPicPr>
        <p:blipFill>
          <a:blip r:embed="rId1"/>
          <a:srcRect l="0" r="0" t="0" b="0"/>
          <a:stretch/>
        </p:blipFill>
        <p:spPr>
          <a:xfrm>
            <a:off x="658368" y="1481328"/>
            <a:ext cx="3712464" cy="2249424"/>
          </a:xfrm>
          <a:prstGeom prst="rect">
            <a:avLst/>
          </a:prstGeom>
        </p:spPr>
      </p:pic>
      <p:sp>
        <p:nvSpPr>
          <p:cNvPr id="5" name="Text 2"/>
          <p:cNvSpPr txBox="1"/>
          <p:nvPr/>
        </p:nvSpPr>
        <p:spPr>
          <a:xfrm>
            <a:off x="658368" y="384048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13. </a:t>
            </a:r>
            <a:pPr indent="0" marL="0">
              <a:lnSpc>
                <a:spcPct val="102000"/>
              </a:lnSpc>
              <a:buNone/>
            </a:pPr>
            <a:r>
              <a:rPr lang="en-US" sz="1000" dirty="0">
                <a:solidFill>
                  <a:schemeClr val="accent4"/>
                </a:solidFill>
              </a:rPr>
              <a:t>Bomba de paletas: el rotor excéntrico y sus paletas varían el volumen de las cámaras. Adaptado de Minga González, M. A. (s. f.). Lubricación [diapositivas]. ISTS.</a:t>
            </a:r>
            <a:endParaRPr lang="en-US" sz="1000" dirty="0"/>
          </a:p>
        </p:txBody>
      </p:sp>
      <p:sp>
        <p:nvSpPr>
          <p:cNvPr id="6" name="marco_figura"/>
          <p:cNvSpPr/>
          <p:nvPr/>
        </p:nvSpPr>
        <p:spPr>
          <a:xfrm>
            <a:off x="4754880" y="1371600"/>
            <a:ext cx="39319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l_bomba_lobulos.jpg">    </p:cNvPr>
          <p:cNvPicPr>
            <a:picLocks noChangeAspect="1"/>
          </p:cNvPicPr>
          <p:nvPr/>
        </p:nvPicPr>
        <p:blipFill>
          <a:blip r:embed="rId2"/>
          <a:srcRect l="0" r="0" t="0" b="0"/>
          <a:stretch/>
        </p:blipFill>
        <p:spPr>
          <a:xfrm>
            <a:off x="4864608" y="1481328"/>
            <a:ext cx="3712464" cy="2249424"/>
          </a:xfrm>
          <a:prstGeom prst="rect">
            <a:avLst/>
          </a:prstGeom>
        </p:spPr>
      </p:pic>
      <p:sp>
        <p:nvSpPr>
          <p:cNvPr id="8" name="Text 4"/>
          <p:cNvSpPr txBox="1"/>
          <p:nvPr/>
        </p:nvSpPr>
        <p:spPr>
          <a:xfrm>
            <a:off x="4864608" y="384048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14. </a:t>
            </a:r>
            <a:pPr indent="0" marL="0">
              <a:lnSpc>
                <a:spcPct val="102000"/>
              </a:lnSpc>
              <a:buNone/>
            </a:pPr>
            <a:r>
              <a:rPr lang="en-US" sz="1000" dirty="0">
                <a:solidFill>
                  <a:schemeClr val="accent4"/>
                </a:solidFill>
              </a:rPr>
              <a:t>Bomba de lóbulos: el rotor interior tiene un lóbulo menos que alvéolos el exterior. Adaptado de Minga González, M. A. (s. f.). Lubricación [diapositivas]. ISTS.</a:t>
            </a:r>
            <a:endParaRPr lang="en-US" sz="1000" dirty="0"/>
          </a:p>
        </p:txBody>
      </p:sp>
      <p:sp>
        <p:nvSpPr>
          <p:cNvPr id="9" name="Shape 5"/>
          <p:cNvSpPr/>
          <p:nvPr/>
        </p:nvSpPr>
        <p:spPr>
          <a:xfrm>
            <a:off x="896112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9611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491472" y="1463040"/>
            <a:ext cx="2121408" cy="58521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De paletas. </a:t>
            </a:r>
            <a:pPr indent="0" marL="0">
              <a:lnSpc>
                <a:spcPct val="106000"/>
              </a:lnSpc>
              <a:buNone/>
            </a:pPr>
            <a:r>
              <a:rPr lang="en-US" sz="1000" dirty="0">
                <a:solidFill>
                  <a:schemeClr val="accent4"/>
                </a:solidFill>
              </a:rPr>
              <a:t>un rotor excéntrico lleva paletas deslizantes; al girar, las cámaras aumentan de volumen del lado de aspiración y lo reducen del de impulsión</a:t>
            </a:r>
            <a:endParaRPr lang="en-US" sz="1000" dirty="0"/>
          </a:p>
        </p:txBody>
      </p:sp>
      <p:sp>
        <p:nvSpPr>
          <p:cNvPr id="12" name="Shape 8"/>
          <p:cNvSpPr/>
          <p:nvPr/>
        </p:nvSpPr>
        <p:spPr>
          <a:xfrm>
            <a:off x="8961120" y="213969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961120"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491472" y="2103120"/>
            <a:ext cx="2121408" cy="58521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De lóbulos. </a:t>
            </a:r>
            <a:pPr indent="0" marL="0">
              <a:lnSpc>
                <a:spcPct val="106000"/>
              </a:lnSpc>
              <a:buNone/>
            </a:pPr>
            <a:r>
              <a:rPr lang="en-US" sz="1000" dirty="0">
                <a:solidFill>
                  <a:schemeClr val="accent4"/>
                </a:solidFill>
              </a:rPr>
              <a:t>el rotor interior tiene un saliente menos que entrantes el exterior; esa diferencia hace que el volumen entre ambos varíe al girar</a:t>
            </a:r>
            <a:endParaRPr lang="en-US" sz="1000" dirty="0"/>
          </a:p>
        </p:txBody>
      </p:sp>
      <p:sp>
        <p:nvSpPr>
          <p:cNvPr id="15" name="Shape 11"/>
          <p:cNvSpPr/>
          <p:nvPr/>
        </p:nvSpPr>
        <p:spPr>
          <a:xfrm>
            <a:off x="8961120" y="277977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8961120" y="2779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491472" y="2743200"/>
            <a:ext cx="2121408" cy="58521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Trocoidal. </a:t>
            </a:r>
            <a:pPr indent="0" marL="0">
              <a:lnSpc>
                <a:spcPct val="106000"/>
              </a:lnSpc>
              <a:buNone/>
            </a:pPr>
            <a:r>
              <a:rPr lang="en-US" sz="1000" dirty="0">
                <a:solidFill>
                  <a:schemeClr val="accent4"/>
                </a:solidFill>
              </a:rPr>
              <a:t>la más usada hoy; variante de la de lóbulos con perfiles trocoidales que dan un flujo muy uniforme y silencioso</a:t>
            </a:r>
            <a:endParaRPr lang="en-US" sz="1000" dirty="0"/>
          </a:p>
        </p:txBody>
      </p:sp>
      <p:sp>
        <p:nvSpPr>
          <p:cNvPr id="18" name="Shape 14"/>
          <p:cNvSpPr/>
          <p:nvPr/>
        </p:nvSpPr>
        <p:spPr>
          <a:xfrm>
            <a:off x="8961120" y="3419856"/>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896112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9491472" y="3383280"/>
            <a:ext cx="2121408" cy="58521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De émbolo. </a:t>
            </a:r>
            <a:pPr indent="0" marL="0">
              <a:lnSpc>
                <a:spcPct val="106000"/>
              </a:lnSpc>
              <a:buNone/>
            </a:pPr>
            <a:r>
              <a:rPr lang="en-US" sz="1000" dirty="0">
                <a:solidFill>
                  <a:schemeClr val="accent4"/>
                </a:solidFill>
              </a:rPr>
              <a:t>un pistón con válvulas de admisión y escape; prácticamente en desuso en automoción</a:t>
            </a:r>
            <a:endParaRPr lang="en-US" sz="1000" dirty="0"/>
          </a:p>
        </p:txBody>
      </p:sp>
      <p:sp>
        <p:nvSpPr>
          <p:cNvPr id="21" name="Shape 17"/>
          <p:cNvSpPr/>
          <p:nvPr/>
        </p:nvSpPr>
        <p:spPr>
          <a:xfrm>
            <a:off x="548640" y="406908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18"/>
          <p:cNvSpPr/>
          <p:nvPr/>
        </p:nvSpPr>
        <p:spPr>
          <a:xfrm>
            <a:off x="786384" y="4274820"/>
            <a:ext cx="365760" cy="365760"/>
          </a:xfrm>
          <a:prstGeom prst="ellipse">
            <a:avLst/>
          </a:prstGeom>
          <a:solidFill>
            <a:schemeClr val="accent2"/>
          </a:solidFill>
          <a:ln w="12700">
            <a:solidFill>
              <a:schemeClr val="accent2"/>
            </a:solidFill>
            <a:prstDash val="solid"/>
          </a:ln>
        </p:spPr>
        <p:txBody>
          <a:bodyPr/>
          <a:p/>
        </p:txBody>
      </p:sp>
      <p:sp>
        <p:nvSpPr>
          <p:cNvPr id="23" name="Text 19"/>
          <p:cNvSpPr txBox="1"/>
          <p:nvPr/>
        </p:nvSpPr>
        <p:spPr>
          <a:xfrm>
            <a:off x="786384" y="42748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0"/>
          <p:cNvSpPr txBox="1"/>
          <p:nvPr/>
        </p:nvSpPr>
        <p:spPr>
          <a:xfrm>
            <a:off x="1298448" y="41605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 que distingue a unas de otras no es el principio, que es el mismo, sino la uniformidad del caudal, el ruido y el espacio que ocupan. La trocoidal se impuso porque da un flujo muy uniforme en un volumen muy pequeño.</a:t>
            </a:r>
            <a:endParaRPr lang="en-US" sz="1450" dirty="0"/>
          </a:p>
        </p:txBody>
      </p:sp>
      <p:sp>
        <p:nvSpPr>
          <p:cNvPr id="25" name="Shape 21"/>
          <p:cNvSpPr/>
          <p:nvPr/>
        </p:nvSpPr>
        <p:spPr>
          <a:xfrm>
            <a:off x="548640" y="4992624"/>
            <a:ext cx="384048" cy="384048"/>
          </a:xfrm>
          <a:prstGeom prst="ellipse">
            <a:avLst/>
          </a:prstGeom>
          <a:solidFill>
            <a:schemeClr val="accent2"/>
          </a:solidFill>
          <a:ln w="12700">
            <a:solidFill>
              <a:schemeClr val="accent2"/>
            </a:solidFill>
            <a:prstDash val="solid"/>
          </a:ln>
        </p:spPr>
        <p:txBody>
          <a:bodyPr/>
          <a:p/>
        </p:txBody>
      </p:sp>
      <p:sp>
        <p:nvSpPr>
          <p:cNvPr id="26" name="Text 22"/>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3"/>
          <p:cNvSpPr txBox="1"/>
          <p:nvPr/>
        </p:nvSpPr>
        <p:spPr>
          <a:xfrm>
            <a:off x="1078992" y="4956048"/>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comprueba en cualquiera de ellas. </a:t>
            </a:r>
            <a:pPr indent="0" marL="0">
              <a:lnSpc>
                <a:spcPct val="106000"/>
              </a:lnSpc>
              <a:buNone/>
            </a:pPr>
            <a:r>
              <a:rPr lang="en-US" sz="1150" dirty="0">
                <a:solidFill>
                  <a:schemeClr val="accent4"/>
                </a:solidFill>
              </a:rPr>
              <a:t>el juego axial entre los elementos y la tapa, el juego entre engranajes o lóbulos, y la separación entre el cuerpo y el elemento exterior</a:t>
            </a:r>
            <a:endParaRPr lang="en-US" sz="1150" dirty="0"/>
          </a:p>
        </p:txBody>
      </p:sp>
      <p:sp>
        <p:nvSpPr>
          <p:cNvPr id="28" name="Shape 24"/>
          <p:cNvSpPr/>
          <p:nvPr/>
        </p:nvSpPr>
        <p:spPr>
          <a:xfrm>
            <a:off x="548640" y="5329123"/>
            <a:ext cx="384048" cy="384048"/>
          </a:xfrm>
          <a:prstGeom prst="ellipse">
            <a:avLst/>
          </a:prstGeom>
          <a:solidFill>
            <a:schemeClr val="accent2"/>
          </a:solidFill>
          <a:ln w="12700">
            <a:solidFill>
              <a:schemeClr val="accent2"/>
            </a:solidFill>
            <a:prstDash val="solid"/>
          </a:ln>
        </p:spPr>
        <p:txBody>
          <a:bodyPr/>
          <a:p/>
        </p:txBody>
      </p:sp>
      <p:sp>
        <p:nvSpPr>
          <p:cNvPr id="29" name="Text 25"/>
          <p:cNvSpPr txBox="1"/>
          <p:nvPr/>
        </p:nvSpPr>
        <p:spPr>
          <a:xfrm>
            <a:off x="548640" y="5329123"/>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6"/>
          <p:cNvSpPr txBox="1"/>
          <p:nvPr/>
        </p:nvSpPr>
        <p:spPr>
          <a:xfrm>
            <a:off x="1078992" y="5292547"/>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 qué se mide. </a:t>
            </a:r>
            <a:pPr indent="0" marL="0">
              <a:lnSpc>
                <a:spcPct val="106000"/>
              </a:lnSpc>
              <a:buNone/>
            </a:pPr>
            <a:r>
              <a:rPr lang="en-US" sz="1150" dirty="0">
                <a:solidFill>
                  <a:schemeClr val="accent4"/>
                </a:solidFill>
              </a:rPr>
              <a:t>con galgas de espesores y una regla de precisión apoyada sobre el cuerpo de la bomba, comparando con los valores del manual</a:t>
            </a:r>
            <a:endParaRPr lang="en-US" sz="1150" dirty="0"/>
          </a:p>
        </p:txBody>
      </p:sp>
      <p:sp>
        <p:nvSpPr>
          <p:cNvPr id="31" name="Shape 27"/>
          <p:cNvSpPr/>
          <p:nvPr/>
        </p:nvSpPr>
        <p:spPr>
          <a:xfrm>
            <a:off x="548640" y="5665622"/>
            <a:ext cx="384048" cy="384048"/>
          </a:xfrm>
          <a:prstGeom prst="ellipse">
            <a:avLst/>
          </a:prstGeom>
          <a:solidFill>
            <a:schemeClr val="accent2"/>
          </a:solidFill>
          <a:ln w="12700">
            <a:solidFill>
              <a:schemeClr val="accent2"/>
            </a:solidFill>
            <a:prstDash val="solid"/>
          </a:ln>
        </p:spPr>
        <p:txBody>
          <a:bodyPr/>
          <a:p/>
        </p:txBody>
      </p:sp>
      <p:sp>
        <p:nvSpPr>
          <p:cNvPr id="32" name="Text 28"/>
          <p:cNvSpPr txBox="1"/>
          <p:nvPr/>
        </p:nvSpPr>
        <p:spPr>
          <a:xfrm>
            <a:off x="548640" y="566562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29"/>
          <p:cNvSpPr txBox="1"/>
          <p:nvPr/>
        </p:nvSpPr>
        <p:spPr>
          <a:xfrm>
            <a:off x="1078992" y="562904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hace si está fuera de límite. </a:t>
            </a:r>
            <a:pPr indent="0" marL="0">
              <a:lnSpc>
                <a:spcPct val="106000"/>
              </a:lnSpc>
              <a:buNone/>
            </a:pPr>
            <a:r>
              <a:rPr lang="en-US" sz="1150" dirty="0">
                <a:solidFill>
                  <a:schemeClr val="accent4"/>
                </a:solidFill>
              </a:rPr>
              <a:t>la bomba se sustituye completa; los juegos no se corrigen y una bomba desgastada no recupera caudal</a:t>
            </a:r>
            <a:endParaRPr lang="en-US" sz="1150" dirty="0"/>
          </a:p>
        </p:txBody>
      </p:sp>
      <p:sp>
        <p:nvSpPr>
          <p:cNvPr id="34"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tipos de bombas de aceite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Comprobación de la bomba de aceite</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bomba_galga.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15. </a:t>
            </a:r>
            <a:pPr indent="0" marL="0">
              <a:lnSpc>
                <a:spcPct val="102000"/>
              </a:lnSpc>
              <a:buNone/>
            </a:pPr>
            <a:r>
              <a:rPr lang="en-US" sz="1000" dirty="0">
                <a:solidFill>
                  <a:schemeClr val="accent4"/>
                </a:solidFill>
              </a:rPr>
              <a:t>Comprobación del juego axial con galga de espesores y regla de precisión. Adaptado de Minga González, M. A. (s. f.). Lubricación [diapositivas]. ISTS.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2194560"/>
                <a:gridCol w="1737360"/>
                <a:gridCol w="1828800"/>
              </a:tblGrid>
              <a:tr h="475488">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mide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 no cumple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Juego axial de los elementos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Regla sobre el cuerpo y galga entre regla y elemento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Sustituir la bomba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Juego entre engranajes o lóbulos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Galga introducida entre los dientes o lóbulos engranados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Sustituir la bomba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Separación cuerpo-elemento exterior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Galga entre el elemento exterior y la pared del cuerpo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Sustituir la bomba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Estado de las superficies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visual de rayado o picaduras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Sustituir; indica aceite sucio o partículas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Antes de condenar una bomba hay que descartar lo demás: nivel, viscosidad, tamiz de aspiración obstruido, filtro, sensor y holguras de cojinetes. La bomba es la causa menos frecuente de una presión baja, y la más cara de sustituir sin necesidad.</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tamiz de aspiración. </a:t>
            </a:r>
            <a:pPr indent="0" marL="0">
              <a:lnSpc>
                <a:spcPct val="106000"/>
              </a:lnSpc>
              <a:buNone/>
            </a:pPr>
            <a:r>
              <a:rPr lang="en-US" sz="1150" dirty="0">
                <a:solidFill>
                  <a:schemeClr val="accent4"/>
                </a:solidFill>
              </a:rPr>
              <a:t>se inspecciona siempre que se abre el cárter; obstruido por lodos, hace que la bomba aspire mal y la presión caiga con el motor caliente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produce esos lodos. </a:t>
            </a:r>
            <a:pPr indent="0" marL="0">
              <a:lnSpc>
                <a:spcPct val="106000"/>
              </a:lnSpc>
              <a:buNone/>
            </a:pPr>
            <a:r>
              <a:rPr lang="en-US" sz="1150" dirty="0">
                <a:solidFill>
                  <a:schemeClr val="accent4"/>
                </a:solidFill>
              </a:rPr>
              <a:t>aceite pasado de intervalo, recorridos cortos que no evaporan la condensación, y aceite de categoría inferior a la especificada</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el síntoma aparece en caliente. </a:t>
            </a:r>
            <a:pPr indent="0" marL="0">
              <a:lnSpc>
                <a:spcPct val="106000"/>
              </a:lnSpc>
              <a:buNone/>
            </a:pPr>
            <a:r>
              <a:rPr lang="en-US" sz="1150" dirty="0">
                <a:solidFill>
                  <a:schemeClr val="accent4"/>
                </a:solidFill>
              </a:rPr>
              <a:t>porque el aceite caliente es más fluido y atraviesa peor una obstrucción parcial que el aceite frío y espeso, que la fuerza</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Indicadores de presión y de nivel</a:t>
            </a:r>
            <a:endParaRPr lang="en-US" sz="3200" dirty="0"/>
          </a:p>
        </p:txBody>
      </p:sp>
      <p:sp>
        <p:nvSpPr>
          <p:cNvPr id="3" name="marco_figura"/>
          <p:cNvSpPr/>
          <p:nvPr/>
        </p:nvSpPr>
        <p:spPr>
          <a:xfrm>
            <a:off x="548640" y="1371600"/>
            <a:ext cx="36576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indicadores.jpg">    </p:cNvPr>
          <p:cNvPicPr>
            <a:picLocks noChangeAspect="1"/>
          </p:cNvPicPr>
          <p:nvPr/>
        </p:nvPicPr>
        <p:blipFill>
          <a:blip r:embed="rId1"/>
          <a:srcRect l="0" r="0" t="0" b="0"/>
          <a:stretch/>
        </p:blipFill>
        <p:spPr>
          <a:xfrm>
            <a:off x="658368" y="1481328"/>
            <a:ext cx="3438144" cy="2340864"/>
          </a:xfrm>
          <a:prstGeom prst="rect">
            <a:avLst/>
          </a:prstGeom>
        </p:spPr>
      </p:pic>
      <p:sp>
        <p:nvSpPr>
          <p:cNvPr id="5" name="Text 2"/>
          <p:cNvSpPr txBox="1"/>
          <p:nvPr/>
        </p:nvSpPr>
        <p:spPr>
          <a:xfrm>
            <a:off x="658368" y="393192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16. </a:t>
            </a:r>
            <a:pPr indent="0" marL="0">
              <a:lnSpc>
                <a:spcPct val="102000"/>
              </a:lnSpc>
              <a:buNone/>
            </a:pPr>
            <a:r>
              <a:rPr lang="en-US" sz="1000" dirty="0">
                <a:solidFill>
                  <a:schemeClr val="accent4"/>
                </a:solidFill>
              </a:rPr>
              <a:t>Varilla de medición del nivel de aceite, con sus marcas de nivel superior e inferior. Adaptado de Minga González, M. A. (s. f.). Lubricación [diapositivas]. ISTS.</a:t>
            </a:r>
            <a:endParaRPr lang="en-US" sz="1000" dirty="0"/>
          </a:p>
        </p:txBody>
      </p:sp>
      <p:sp>
        <p:nvSpPr>
          <p:cNvPr id="6" name="marco_figura"/>
          <p:cNvSpPr/>
          <p:nvPr/>
        </p:nvSpPr>
        <p:spPr>
          <a:xfrm>
            <a:off x="4480560" y="1371600"/>
            <a:ext cx="3474720" cy="2944368"/>
          </a:xfrm>
          <a:prstGeom prst="roundRect">
            <a:avLst>
              <a:gd name="adj" fmla="val 186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l_indicadores2.jpg">    </p:cNvPr>
          <p:cNvPicPr>
            <a:picLocks noChangeAspect="1"/>
          </p:cNvPicPr>
          <p:nvPr/>
        </p:nvPicPr>
        <p:blipFill>
          <a:blip r:embed="rId2"/>
          <a:srcRect l="0" r="0" t="0" b="0"/>
          <a:stretch/>
        </p:blipFill>
        <p:spPr>
          <a:xfrm>
            <a:off x="4590288" y="1481328"/>
            <a:ext cx="3255264" cy="2340864"/>
          </a:xfrm>
          <a:prstGeom prst="rect">
            <a:avLst/>
          </a:prstGeom>
        </p:spPr>
      </p:pic>
      <p:sp>
        <p:nvSpPr>
          <p:cNvPr id="8" name="Text 4"/>
          <p:cNvSpPr txBox="1"/>
          <p:nvPr/>
        </p:nvSpPr>
        <p:spPr>
          <a:xfrm>
            <a:off x="4590288" y="393192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17. </a:t>
            </a:r>
            <a:pPr indent="0" marL="0">
              <a:lnSpc>
                <a:spcPct val="102000"/>
              </a:lnSpc>
              <a:buNone/>
            </a:pPr>
            <a:r>
              <a:rPr lang="en-US" sz="1000" dirty="0">
                <a:solidFill>
                  <a:schemeClr val="accent4"/>
                </a:solidFill>
              </a:rPr>
              <a:t>Medidor de presión de aceite por manómetro y por testigo. Adaptado de Minga González, M. A. (s. f.). Lubricación [diapositivas]. ISTS.</a:t>
            </a:r>
            <a:endParaRPr lang="en-US" sz="1000" dirty="0"/>
          </a:p>
        </p:txBody>
      </p:sp>
      <p:sp>
        <p:nvSpPr>
          <p:cNvPr id="9" name="Shape 5"/>
          <p:cNvSpPr/>
          <p:nvPr/>
        </p:nvSpPr>
        <p:spPr>
          <a:xfrm>
            <a:off x="822960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82296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8759952" y="1463040"/>
            <a:ext cx="2852928" cy="603504"/>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El testigo rojo no mide presión. </a:t>
            </a:r>
            <a:pPr indent="0" marL="0">
              <a:lnSpc>
                <a:spcPct val="106000"/>
              </a:lnSpc>
              <a:buNone/>
            </a:pPr>
            <a:r>
              <a:rPr lang="en-US" sz="1000" dirty="0">
                <a:solidFill>
                  <a:schemeClr val="accent4"/>
                </a:solidFill>
              </a:rPr>
              <a:t>es un interruptor que se cierra por debajo de un valor mínimo; cuando se enciende, la presión ya es peligrosamente baja</a:t>
            </a:r>
            <a:endParaRPr lang="en-US" sz="1000" dirty="0"/>
          </a:p>
        </p:txBody>
      </p:sp>
      <p:sp>
        <p:nvSpPr>
          <p:cNvPr id="12" name="Shape 8"/>
          <p:cNvSpPr/>
          <p:nvPr/>
        </p:nvSpPr>
        <p:spPr>
          <a:xfrm>
            <a:off x="8229600" y="2157984"/>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822960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8759952" y="2121408"/>
            <a:ext cx="2852928" cy="603504"/>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El manómetro sí mide. </a:t>
            </a:r>
            <a:pPr indent="0" marL="0">
              <a:lnSpc>
                <a:spcPct val="106000"/>
              </a:lnSpc>
              <a:buNone/>
            </a:pPr>
            <a:r>
              <a:rPr lang="en-US" sz="1000" dirty="0">
                <a:solidFill>
                  <a:schemeClr val="accent4"/>
                </a:solidFill>
              </a:rPr>
              <a:t>indica el valor real y permite ver tendencias; es un instrumento de diagnóstico, no solo de alarma</a:t>
            </a:r>
            <a:endParaRPr lang="en-US" sz="1000" dirty="0"/>
          </a:p>
        </p:txBody>
      </p:sp>
      <p:sp>
        <p:nvSpPr>
          <p:cNvPr id="15" name="Shape 11"/>
          <p:cNvSpPr/>
          <p:nvPr/>
        </p:nvSpPr>
        <p:spPr>
          <a:xfrm>
            <a:off x="8229600" y="2816352"/>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822960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8759952" y="2779776"/>
            <a:ext cx="2852928" cy="603504"/>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La comprobación fiable. </a:t>
            </a:r>
            <a:pPr indent="0" marL="0">
              <a:lnSpc>
                <a:spcPct val="106000"/>
              </a:lnSpc>
              <a:buNone/>
            </a:pPr>
            <a:r>
              <a:rPr lang="en-US" sz="1000" dirty="0">
                <a:solidFill>
                  <a:schemeClr val="accent4"/>
                </a:solidFill>
              </a:rPr>
              <a:t>con manómetro externo conectado en la toma del sensor, con el motor a temperatura, a ralentí y a un régimen definido</a:t>
            </a:r>
            <a:endParaRPr lang="en-US" sz="1000" dirty="0"/>
          </a:p>
        </p:txBody>
      </p:sp>
      <p:sp>
        <p:nvSpPr>
          <p:cNvPr id="18" name="Shape 14"/>
          <p:cNvSpPr/>
          <p:nvPr/>
        </p:nvSpPr>
        <p:spPr>
          <a:xfrm>
            <a:off x="8229600" y="3474720"/>
            <a:ext cx="384048" cy="384048"/>
          </a:xfrm>
          <a:prstGeom prst="ellipse">
            <a:avLst/>
          </a:prstGeom>
          <a:solidFill>
            <a:schemeClr val="accent2"/>
          </a:solidFill>
          <a:ln w="12700">
            <a:solidFill>
              <a:schemeClr val="accent2"/>
            </a:solidFill>
            <a:prstDash val="solid"/>
          </a:ln>
        </p:spPr>
        <p:txBody>
          <a:bodyPr/>
          <a:p/>
        </p:txBody>
      </p:sp>
      <p:sp>
        <p:nvSpPr>
          <p:cNvPr id="19" name="Text 15"/>
          <p:cNvSpPr txBox="1"/>
          <p:nvPr/>
        </p:nvSpPr>
        <p:spPr>
          <a:xfrm>
            <a:off x="822960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6"/>
          <p:cNvSpPr txBox="1"/>
          <p:nvPr/>
        </p:nvSpPr>
        <p:spPr>
          <a:xfrm>
            <a:off x="8759952" y="3438144"/>
            <a:ext cx="2852928" cy="603504"/>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El nivel se mide en frío y en plano. </a:t>
            </a:r>
            <a:pPr indent="0" marL="0">
              <a:lnSpc>
                <a:spcPct val="106000"/>
              </a:lnSpc>
              <a:buNone/>
            </a:pPr>
            <a:r>
              <a:rPr lang="en-US" sz="1000" dirty="0">
                <a:solidFill>
                  <a:schemeClr val="accent4"/>
                </a:solidFill>
              </a:rPr>
              <a:t>con el motor parado unos minutos para que el aceite regrese al cárter; medirlo recién parado da una lectura baja falsa</a:t>
            </a:r>
            <a:endParaRPr lang="en-US" sz="1000" dirty="0"/>
          </a:p>
        </p:txBody>
      </p:sp>
      <p:sp>
        <p:nvSpPr>
          <p:cNvPr id="21" name="Shape 17"/>
          <p:cNvSpPr/>
          <p:nvPr/>
        </p:nvSpPr>
        <p:spPr>
          <a:xfrm>
            <a:off x="548640" y="420624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18"/>
          <p:cNvSpPr/>
          <p:nvPr/>
        </p:nvSpPr>
        <p:spPr>
          <a:xfrm>
            <a:off x="786384" y="4411980"/>
            <a:ext cx="365760" cy="365760"/>
          </a:xfrm>
          <a:prstGeom prst="ellipse">
            <a:avLst/>
          </a:prstGeom>
          <a:solidFill>
            <a:schemeClr val="accent1"/>
          </a:solidFill>
          <a:ln w="12700">
            <a:solidFill>
              <a:schemeClr val="accent1"/>
            </a:solidFill>
            <a:prstDash val="solid"/>
          </a:ln>
        </p:spPr>
        <p:txBody>
          <a:bodyPr/>
          <a:p/>
        </p:txBody>
      </p:sp>
      <p:sp>
        <p:nvSpPr>
          <p:cNvPr id="23" name="Text 19"/>
          <p:cNvSpPr txBox="1"/>
          <p:nvPr/>
        </p:nvSpPr>
        <p:spPr>
          <a:xfrm>
            <a:off x="786384" y="44119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0"/>
          <p:cNvSpPr txBox="1"/>
          <p:nvPr/>
        </p:nvSpPr>
        <p:spPr>
          <a:xfrm>
            <a:off x="1298448" y="42976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Si el testigo de presión se enciende con el motor en marcha, se detiene el motor de inmediato. No es un aviso para llegar al taller: en ese momento puede no haber película de aceite en los cojinetes.</a:t>
            </a:r>
            <a:endParaRPr lang="en-US" sz="1450" dirty="0"/>
          </a:p>
        </p:txBody>
      </p:sp>
      <p:sp>
        <p:nvSpPr>
          <p:cNvPr id="25" name="Shape 21"/>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26" name="Text 22"/>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3"/>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Nivel por encima del máximo. </a:t>
            </a:r>
            <a:pPr indent="0" marL="0">
              <a:lnSpc>
                <a:spcPct val="106000"/>
              </a:lnSpc>
              <a:buNone/>
            </a:pPr>
            <a:r>
              <a:rPr lang="en-US" sz="1150" dirty="0">
                <a:solidFill>
                  <a:schemeClr val="accent4"/>
                </a:solidFill>
              </a:rPr>
              <a:t>el cigüeñal bate el aceite, lo emulsiona con aire y la bomba manda espuma; la película se degrada y aumenta el consumo</a:t>
            </a:r>
            <a:endParaRPr lang="en-US" sz="1150" dirty="0"/>
          </a:p>
        </p:txBody>
      </p:sp>
      <p:sp>
        <p:nvSpPr>
          <p:cNvPr id="28" name="Shape 24"/>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29" name="Text 25"/>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6"/>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Nivel por debajo del mínimo. </a:t>
            </a:r>
            <a:pPr indent="0" marL="0">
              <a:lnSpc>
                <a:spcPct val="106000"/>
              </a:lnSpc>
              <a:buNone/>
            </a:pPr>
            <a:r>
              <a:rPr lang="en-US" sz="1150" dirty="0">
                <a:solidFill>
                  <a:schemeClr val="accent4"/>
                </a:solidFill>
              </a:rPr>
              <a:t>riesgo de que el tamiz quede descubierto en curvas o pendientes y la bomba aspire aire</a:t>
            </a:r>
            <a:endParaRPr lang="en-US" sz="1150" dirty="0"/>
          </a:p>
        </p:txBody>
      </p:sp>
      <p:sp>
        <p:nvSpPr>
          <p:cNvPr id="31" name="Shape 27"/>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2" name="Text 28"/>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3" name="Text 29"/>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Aceite con aspecto lechoso en la tapa. </a:t>
            </a:r>
            <a:pPr indent="0" marL="0">
              <a:lnSpc>
                <a:spcPct val="106000"/>
              </a:lnSpc>
              <a:buNone/>
            </a:pPr>
            <a:r>
              <a:rPr lang="en-US" sz="1150" dirty="0">
                <a:solidFill>
                  <a:schemeClr val="accent4"/>
                </a:solidFill>
              </a:rPr>
              <a:t>no es un problema de nivel: indica refrigerante mezclado con el aceite, es decir, empaque de culata o fisura</a:t>
            </a:r>
            <a:endParaRPr lang="en-US" sz="1150" dirty="0"/>
          </a:p>
        </p:txBody>
      </p:sp>
      <p:sp>
        <p:nvSpPr>
          <p:cNvPr id="34"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enfriador de aceite y el aceite como refrigerante</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enfriador.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18. </a:t>
            </a:r>
            <a:pPr indent="0" marL="0">
              <a:lnSpc>
                <a:spcPct val="102000"/>
              </a:lnSpc>
              <a:buNone/>
            </a:pPr>
            <a:r>
              <a:rPr lang="en-US" sz="1000" dirty="0">
                <a:solidFill>
                  <a:schemeClr val="accent4"/>
                </a:solidFill>
              </a:rPr>
              <a:t>Refrigerador de aceite por líquido, con paquete de discos y tabique de separación. Adaptado de Minga González, M. A. (s. f.). Lubricación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hace falta. </a:t>
            </a:r>
            <a:pPr indent="0" marL="0">
              <a:lnSpc>
                <a:spcPct val="106000"/>
              </a:lnSpc>
              <a:buNone/>
            </a:pPr>
            <a:r>
              <a:rPr lang="en-US" sz="1100" dirty="0">
                <a:solidFill>
                  <a:schemeClr val="accent4"/>
                </a:solidFill>
              </a:rPr>
              <a:t>el aceite absorbe calor de pistones, cojinetes y árbol de levas; si su temperatura sube demasiado, pierde viscosidad y la película se adelgaza</a:t>
            </a:r>
            <a:endParaRPr lang="en-US" sz="1100" dirty="0"/>
          </a:p>
        </p:txBody>
      </p:sp>
      <p:sp>
        <p:nvSpPr>
          <p:cNvPr id="9" name="Shape 6"/>
          <p:cNvSpPr/>
          <p:nvPr/>
        </p:nvSpPr>
        <p:spPr>
          <a:xfrm>
            <a:off x="585216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121408"/>
            <a:ext cx="523036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Cómo funciona el de líquido. </a:t>
            </a:r>
            <a:pPr indent="0" marL="0">
              <a:lnSpc>
                <a:spcPct val="106000"/>
              </a:lnSpc>
              <a:buNone/>
            </a:pPr>
            <a:r>
              <a:rPr lang="en-US" sz="1100" dirty="0">
                <a:solidFill>
                  <a:schemeClr val="accent4"/>
                </a:solidFill>
              </a:rPr>
              <a:t>un intercambiador entre el circuito de aceite y el de refrigerante; el refrigerante, controlado por termostato, estabiliza la temperatura del aceite</a:t>
            </a:r>
            <a:endParaRPr lang="en-US" sz="1100" dirty="0"/>
          </a:p>
        </p:txBody>
      </p:sp>
      <p:sp>
        <p:nvSpPr>
          <p:cNvPr id="12" name="Shape 9"/>
          <p:cNvSpPr/>
          <p:nvPr/>
        </p:nvSpPr>
        <p:spPr>
          <a:xfrm>
            <a:off x="585216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779776"/>
            <a:ext cx="523036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La ventaja de ese montaje. </a:t>
            </a:r>
            <a:pPr indent="0" marL="0">
              <a:lnSpc>
                <a:spcPct val="106000"/>
              </a:lnSpc>
              <a:buNone/>
            </a:pPr>
            <a:r>
              <a:rPr lang="en-US" sz="1100" dirty="0">
                <a:solidFill>
                  <a:schemeClr val="accent4"/>
                </a:solidFill>
              </a:rPr>
              <a:t>en frío calienta el aceite, acelerando su llegada a temperatura de régimen; en caliente lo enfría: funciona en ambos sentidos</a:t>
            </a:r>
            <a:endParaRPr lang="en-US" sz="1100" dirty="0"/>
          </a:p>
        </p:txBody>
      </p:sp>
      <p:sp>
        <p:nvSpPr>
          <p:cNvPr id="15" name="Shape 12"/>
          <p:cNvSpPr/>
          <p:nvPr/>
        </p:nvSpPr>
        <p:spPr>
          <a:xfrm>
            <a:off x="585216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438144"/>
            <a:ext cx="523036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Cuándo se monta. </a:t>
            </a:r>
            <a:pPr indent="0" marL="0">
              <a:lnSpc>
                <a:spcPct val="106000"/>
              </a:lnSpc>
              <a:buNone/>
            </a:pPr>
            <a:r>
              <a:rPr lang="en-US" sz="1100" dirty="0">
                <a:solidFill>
                  <a:schemeClr val="accent4"/>
                </a:solidFill>
              </a:rPr>
              <a:t>en motores sobrealimentados, de altas prestaciones o de trabajo continuado, donde la carga térmica sobre el aceite es mayor</a:t>
            </a:r>
            <a:endParaRPr lang="en-US" sz="1100" dirty="0"/>
          </a:p>
        </p:txBody>
      </p:sp>
      <p:sp>
        <p:nvSpPr>
          <p:cNvPr id="18" name="Shape 15"/>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intercambiador aceite-refrigerante tiene una consecuencia de diagnóstico: si su separación interna falla, ambos fluidos se mezclan. Aparece aceite en el refrigerante o refrigerante en el aceite sin que el empaque de culata tenga nada que ver.</a:t>
            </a:r>
            <a:endParaRPr lang="en-US" sz="1450" dirty="0"/>
          </a:p>
        </p:txBody>
      </p:sp>
      <p:sp>
        <p:nvSpPr>
          <p:cNvPr id="22" name="Shape 19"/>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12064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distingue de un empaque soplado. </a:t>
            </a:r>
            <a:pPr indent="0" marL="0">
              <a:lnSpc>
                <a:spcPct val="106000"/>
              </a:lnSpc>
              <a:buNone/>
            </a:pPr>
            <a:r>
              <a:rPr lang="en-US" sz="1150" dirty="0">
                <a:solidFill>
                  <a:schemeClr val="accent4"/>
                </a:solidFill>
              </a:rPr>
              <a:t>con el empaque soplado suele haber además pérdida de compresión o gases en el refrigerante; con el intercambiador, solo mezcla de fluidos</a:t>
            </a:r>
            <a:endParaRPr lang="en-US" sz="1150" dirty="0"/>
          </a:p>
        </p:txBody>
      </p:sp>
      <p:sp>
        <p:nvSpPr>
          <p:cNvPr id="25" name="Shape 22"/>
          <p:cNvSpPr/>
          <p:nvPr/>
        </p:nvSpPr>
        <p:spPr>
          <a:xfrm>
            <a:off x="548640" y="5541264"/>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541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50468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conviene saberlo. </a:t>
            </a:r>
            <a:pPr indent="0" marL="0">
              <a:lnSpc>
                <a:spcPct val="106000"/>
              </a:lnSpc>
              <a:buNone/>
            </a:pPr>
            <a:r>
              <a:rPr lang="en-US" sz="1150" dirty="0">
                <a:solidFill>
                  <a:schemeClr val="accent4"/>
                </a:solidFill>
              </a:rPr>
              <a:t>porque desmontar un cabezote por una mezcla de fluidos que venía del intercambiador es un trabajo largo y completamente innecesario</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 · enlaza con la refrigeración de la clase 4.2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circuito en el motor real</a:t>
            </a:r>
            <a:endParaRPr lang="en-US" sz="3200" dirty="0"/>
          </a:p>
        </p:txBody>
      </p:sp>
      <p:sp>
        <p:nvSpPr>
          <p:cNvPr id="3" name="marco_figura"/>
          <p:cNvSpPr/>
          <p:nvPr/>
        </p:nvSpPr>
        <p:spPr>
          <a:xfrm>
            <a:off x="548640" y="1371600"/>
            <a:ext cx="5303520" cy="3218688"/>
          </a:xfrm>
          <a:prstGeom prst="roundRect">
            <a:avLst>
              <a:gd name="adj" fmla="val 1705"/>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circuito_3d.jpg">    </p:cNvPr>
          <p:cNvPicPr>
            <a:picLocks noChangeAspect="1"/>
          </p:cNvPicPr>
          <p:nvPr/>
        </p:nvPicPr>
        <p:blipFill>
          <a:blip r:embed="rId1"/>
          <a:srcRect l="0" r="0" t="0" b="0"/>
          <a:stretch/>
        </p:blipFill>
        <p:spPr>
          <a:xfrm>
            <a:off x="658368" y="1481328"/>
            <a:ext cx="5084064" cy="2615184"/>
          </a:xfrm>
          <a:prstGeom prst="rect">
            <a:avLst/>
          </a:prstGeom>
        </p:spPr>
      </p:pic>
      <p:sp>
        <p:nvSpPr>
          <p:cNvPr id="5" name="Text 2"/>
          <p:cNvSpPr txBox="1"/>
          <p:nvPr/>
        </p:nvSpPr>
        <p:spPr>
          <a:xfrm>
            <a:off x="658368" y="420624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19. </a:t>
            </a:r>
            <a:pPr indent="0" marL="0">
              <a:lnSpc>
                <a:spcPct val="102000"/>
              </a:lnSpc>
              <a:buNone/>
            </a:pPr>
            <a:r>
              <a:rPr lang="en-US" sz="1000" dirty="0">
                <a:solidFill>
                  <a:schemeClr val="accent4"/>
                </a:solidFill>
              </a:rPr>
              <a:t>Circuito de lubricación representado sobre el motor completo. Adaptado de Minga González, M. A. (s. f.). Lubricación [diapositivas]. ISTS.</a:t>
            </a:r>
            <a:endParaRPr lang="en-US" sz="1000" dirty="0"/>
          </a:p>
        </p:txBody>
      </p:sp>
      <p:sp>
        <p:nvSpPr>
          <p:cNvPr id="6" name="marco_figura"/>
          <p:cNvSpPr/>
          <p:nvPr/>
        </p:nvSpPr>
        <p:spPr>
          <a:xfrm>
            <a:off x="6217920" y="1371600"/>
            <a:ext cx="5394960" cy="3218688"/>
          </a:xfrm>
          <a:prstGeom prst="roundRect">
            <a:avLst>
              <a:gd name="adj" fmla="val 1705"/>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l_filtro_secundario.jpg">    </p:cNvPr>
          <p:cNvPicPr>
            <a:picLocks noChangeAspect="1"/>
          </p:cNvPicPr>
          <p:nvPr/>
        </p:nvPicPr>
        <p:blipFill>
          <a:blip r:embed="rId2"/>
          <a:srcRect l="0" r="0" t="0" b="0"/>
          <a:stretch/>
        </p:blipFill>
        <p:spPr>
          <a:xfrm>
            <a:off x="6327648" y="1481328"/>
            <a:ext cx="5175504" cy="2615184"/>
          </a:xfrm>
          <a:prstGeom prst="rect">
            <a:avLst/>
          </a:prstGeom>
        </p:spPr>
      </p:pic>
      <p:sp>
        <p:nvSpPr>
          <p:cNvPr id="8" name="Text 4"/>
          <p:cNvSpPr txBox="1"/>
          <p:nvPr/>
        </p:nvSpPr>
        <p:spPr>
          <a:xfrm>
            <a:off x="6327648" y="420624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20. </a:t>
            </a:r>
            <a:pPr indent="0" marL="0">
              <a:lnSpc>
                <a:spcPct val="102000"/>
              </a:lnSpc>
              <a:buNone/>
            </a:pPr>
            <a:r>
              <a:rPr lang="en-US" sz="1000" dirty="0">
                <a:solidFill>
                  <a:schemeClr val="accent4"/>
                </a:solidFill>
              </a:rPr>
              <a:t>Filtro en circuito secundario, con válvula de sobrepresión y de retención. Adaptado de Minga González, M. A. (s. f.). Lubricación [diapositivas]. ISTS.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743200"/>
                <a:gridCol w="4114800"/>
                <a:gridCol w="4206240"/>
              </a:tblGrid>
              <a:tr h="365760">
                <a:tc>
                  <a:txBody>
                    <a:bodyPr/>
                    <a:lstStyle/>
                    <a:p>
                      <a:pPr indent="0" marL="0">
                        <a:buNone/>
                      </a:pPr>
                      <a:r>
                        <a:rPr lang="en-US" sz="1300" b="1" dirty="0">
                          <a:solidFill>
                            <a:srgbClr val="FFFFFF"/>
                          </a:solidFill>
                        </a:rPr>
                        <a:t>Punto del 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recibe aceite ahí</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ocurre si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100" b="1" dirty="0">
                          <a:solidFill>
                            <a:schemeClr val="tx1"/>
                          </a:solidFill>
                        </a:rPr>
                        <a:t>Galería principal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Todos los cojinetes de bancada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Caída general de presión: el motor entero queda comprometido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Conductos del cigüeñal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Los cojinetes de biela, desde los de bancada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Golpeteo de biela y, si se sostiene, rotura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Ramal de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Apoyos del árbol de levas, taqués y tensores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Ruido de taqués y desgaste de levas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Mantenimiento del sistema de lubricación</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Motor a temperatura de operación. </a:t>
            </a:r>
            <a:pPr indent="0" marL="0">
              <a:lnSpc>
                <a:spcPct val="106000"/>
              </a:lnSpc>
              <a:buNone/>
            </a:pPr>
            <a:r>
              <a:rPr lang="en-US" sz="1200" dirty="0">
                <a:solidFill>
                  <a:schemeClr val="accent4"/>
                </a:solidFill>
              </a:rPr>
              <a:t>el aceite caliente es más fluido y arrastra consigo las partículas en suspensión; vaciar en frío deja buena parte de los residuos dentro</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Vaciado completo. </a:t>
            </a:r>
            <a:pPr indent="0" marL="0">
              <a:lnSpc>
                <a:spcPct val="106000"/>
              </a:lnSpc>
              <a:buNone/>
            </a:pPr>
            <a:r>
              <a:rPr lang="en-US" sz="1200" dirty="0">
                <a:solidFill>
                  <a:schemeClr val="accent4"/>
                </a:solidFill>
              </a:rPr>
              <a:t>con el vehículo en plano, retirando el tapón y dejando escurrir el tiempo suficiente, no solo hasta que deje de salir chorro</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Junta del tapón nueva. </a:t>
            </a:r>
            <a:pPr indent="0" marL="0">
              <a:lnSpc>
                <a:spcPct val="106000"/>
              </a:lnSpc>
              <a:buNone/>
            </a:pPr>
            <a:r>
              <a:rPr lang="en-US" sz="1200" dirty="0">
                <a:solidFill>
                  <a:schemeClr val="accent4"/>
                </a:solidFill>
              </a:rPr>
              <a:t>la arandela de estanqueidad se sustituye; reutilizarla es la causa habitual de las fugas que aparecen tras un cambio de aceite</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Filtro nuevo. </a:t>
            </a:r>
            <a:pPr indent="0" marL="0">
              <a:lnSpc>
                <a:spcPct val="106000"/>
              </a:lnSpc>
              <a:buNone/>
            </a:pPr>
            <a:r>
              <a:rPr lang="en-US" sz="1200" dirty="0">
                <a:solidFill>
                  <a:schemeClr val="accent4"/>
                </a:solidFill>
              </a:rPr>
              <a:t>siempre, con su junta lubricada y apretado a mano según indique el propio filtro</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Llenado con el aceite especificado. </a:t>
            </a:r>
            <a:pPr indent="0" marL="0">
              <a:lnSpc>
                <a:spcPct val="106000"/>
              </a:lnSpc>
              <a:buNone/>
            </a:pPr>
            <a:r>
              <a:rPr lang="en-US" sz="1200" dirty="0">
                <a:solidFill>
                  <a:schemeClr val="accent4"/>
                </a:solidFill>
              </a:rPr>
              <a:t>grado y categoría del manual, y la cantidad exacta que indica el fabricante, no la que cabe</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Arranque y comprobación. </a:t>
            </a:r>
            <a:pPr indent="0" marL="0">
              <a:lnSpc>
                <a:spcPct val="106000"/>
              </a:lnSpc>
              <a:buNone/>
            </a:pPr>
            <a:r>
              <a:rPr lang="en-US" sz="1200" dirty="0">
                <a:solidFill>
                  <a:schemeClr val="accent4"/>
                </a:solidFill>
              </a:rPr>
              <a:t>arrancar, comprobar que el testigo se apaga de inmediato, dejar funcionar unos minutos, parar, esperar y verificar nivel y ausencia de fugas</a:t>
            </a:r>
            <a:endParaRPr lang="en-US" sz="1200" dirty="0"/>
          </a:p>
        </p:txBody>
      </p:sp>
      <p:sp>
        <p:nvSpPr>
          <p:cNvPr id="21" name="Shape 19"/>
          <p:cNvSpPr/>
          <p:nvPr/>
        </p:nvSpPr>
        <p:spPr>
          <a:xfrm>
            <a:off x="548640" y="44805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686300"/>
            <a:ext cx="365760" cy="365760"/>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786384" y="46863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5720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paso 6 no es opcional: el momento de detectar una fuga por el filtro o por el tapón es ahora, con el vehículo en el taller, no cuando el cliente ve una mancha en su garaje o, peor, cuando el motor se queda sin aceite.</a:t>
            </a:r>
            <a:endParaRPr lang="en-US" sz="1450" dirty="0"/>
          </a:p>
        </p:txBody>
      </p:sp>
      <p:sp>
        <p:nvSpPr>
          <p:cNvPr id="25" name="Shape 23"/>
          <p:cNvSpPr/>
          <p:nvPr/>
        </p:nvSpPr>
        <p:spPr>
          <a:xfrm>
            <a:off x="548640" y="5330952"/>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529437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decide el intervalo de cambio. </a:t>
            </a:r>
            <a:pPr indent="0" marL="0">
              <a:lnSpc>
                <a:spcPct val="106000"/>
              </a:lnSpc>
              <a:buNone/>
            </a:pPr>
            <a:r>
              <a:rPr lang="en-US" sz="1150" dirty="0">
                <a:solidFill>
                  <a:schemeClr val="accent4"/>
                </a:solidFill>
              </a:rPr>
              <a:t>el kilometraje o el tiempo que indica el fabricante, lo que ocurra antes; y el tipo de uso, porque los recorridos cortos lo acortan</a:t>
            </a:r>
            <a:endParaRPr lang="en-US" sz="1150" dirty="0"/>
          </a:p>
        </p:txBody>
      </p:sp>
      <p:sp>
        <p:nvSpPr>
          <p:cNvPr id="28" name="Shape 26"/>
          <p:cNvSpPr/>
          <p:nvPr/>
        </p:nvSpPr>
        <p:spPr>
          <a:xfrm>
            <a:off x="548640" y="5667451"/>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66745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630875"/>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el recorrido corto es el peor uso. </a:t>
            </a:r>
            <a:pPr indent="0" marL="0">
              <a:lnSpc>
                <a:spcPct val="106000"/>
              </a:lnSpc>
              <a:buNone/>
            </a:pPr>
            <a:r>
              <a:rPr lang="en-US" sz="1150" dirty="0">
                <a:solidFill>
                  <a:schemeClr val="accent4"/>
                </a:solidFill>
              </a:rPr>
              <a:t>el motor no alcanza temperatura, el agua de la combustión no se evapora y se mezcla con el aceite, formando lodos y ácidos</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Diagnóstico por presión de aceite</a:t>
            </a:r>
            <a:endParaRPr lang="en-US" sz="3200" dirty="0"/>
          </a:p>
        </p:txBody>
      </p:sp>
      <p:sp>
        <p:nvSpPr>
          <p:cNvPr id="3" name="marco_figura"/>
          <p:cNvSpPr/>
          <p:nvPr/>
        </p:nvSpPr>
        <p:spPr>
          <a:xfrm>
            <a:off x="548640" y="1371600"/>
            <a:ext cx="4389120" cy="2761488"/>
          </a:xfrm>
          <a:prstGeom prst="roundRect">
            <a:avLst>
              <a:gd name="adj" fmla="val 198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presion_esquema.jpg">    </p:cNvPr>
          <p:cNvPicPr>
            <a:picLocks noChangeAspect="1"/>
          </p:cNvPicPr>
          <p:nvPr/>
        </p:nvPicPr>
        <p:blipFill>
          <a:blip r:embed="rId1"/>
          <a:srcRect l="0" r="0" t="0" b="0"/>
          <a:stretch/>
        </p:blipFill>
        <p:spPr>
          <a:xfrm>
            <a:off x="658368" y="1481328"/>
            <a:ext cx="4169664" cy="2157984"/>
          </a:xfrm>
          <a:prstGeom prst="rect">
            <a:avLst/>
          </a:prstGeom>
        </p:spPr>
      </p:pic>
      <p:sp>
        <p:nvSpPr>
          <p:cNvPr id="5" name="Text 2"/>
          <p:cNvSpPr txBox="1"/>
          <p:nvPr/>
        </p:nvSpPr>
        <p:spPr>
          <a:xfrm>
            <a:off x="658368" y="3749040"/>
            <a:ext cx="41696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22. </a:t>
            </a:r>
            <a:pPr indent="0" marL="0">
              <a:lnSpc>
                <a:spcPct val="102000"/>
              </a:lnSpc>
              <a:buNone/>
            </a:pPr>
            <a:r>
              <a:rPr lang="en-US" sz="1000" dirty="0">
                <a:solidFill>
                  <a:schemeClr val="accent4"/>
                </a:solidFill>
              </a:rPr>
              <a:t>Toma de presión en el circuito para la comprobación con manómetro. Adaptado de Minga González, M. A. (s. f.). Lubricación [diapositivas]. ISTS.</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303520" y="1371600"/>
          <a:ext cx="6309360" cy="914400"/>
        </p:xfrm>
        <a:graphic>
          <a:graphicData uri="http://schemas.openxmlformats.org/drawingml/2006/table">
            <a:tbl>
              <a:tblPr/>
              <a:tblGrid>
                <a:gridCol w="3108960"/>
                <a:gridCol w="3200400"/>
              </a:tblGrid>
              <a:tr h="384048">
                <a:tc>
                  <a:txBody>
                    <a:bodyPr/>
                    <a:lstStyle/>
                    <a:p>
                      <a:pPr indent="0" marL="0">
                        <a:buNone/>
                      </a:pPr>
                      <a:r>
                        <a:rPr lang="en-US" sz="1300" b="1" dirty="0">
                          <a:solidFill>
                            <a:srgbClr val="FFFFFF"/>
                          </a:solidFill>
                        </a:rPr>
                        <a:t>Presión baja en exceso: causas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Orden de 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050" b="1" dirty="0">
                          <a:solidFill>
                            <a:schemeClr val="tx1"/>
                          </a:solidFill>
                        </a:rPr>
                        <a:t>Nivel de aceite insuficiente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1.º — inmediato y gratuito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Viscosidad inadecuada o aceite diluido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2.º — inspección del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050" b="1" dirty="0">
                          <a:solidFill>
                            <a:schemeClr val="tx1"/>
                          </a:solidFill>
                        </a:rPr>
                        <a:t>Sensor o testigo defectuoso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3.º — manómetro externo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Tamiz de aspiración obstruido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4.º — al abrir el cárter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050" b="1" dirty="0">
                          <a:solidFill>
                            <a:schemeClr val="tx1"/>
                          </a:solidFill>
                        </a:rPr>
                        <a:t>Válvula de descarga agarrotada abierta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5.º — inspección de la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Holguras excesivas en cojinetes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6.º — la causa más grave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108960"/>
                <a:gridCol w="3931920"/>
                <a:gridCol w="4023360"/>
              </a:tblGrid>
              <a:tr h="402336">
                <a:tc>
                  <a:txBody>
                    <a:bodyPr/>
                    <a:lstStyle/>
                    <a:p>
                      <a:pPr indent="0" marL="0">
                        <a:buNone/>
                      </a:pPr>
                      <a:r>
                        <a:rPr lang="en-US" sz="1300" b="1" dirty="0">
                          <a:solidFill>
                            <a:srgbClr val="FFFFFF"/>
                          </a:solidFill>
                        </a:rPr>
                        <a:t>Presión alta en exceso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Consecuencia si no se corrige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Con el motor caliente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Válvula de descarga agarrotada cerrada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Esfuerzo excesivo sobre el filtro y los retenes; riesgo de fuga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De forma permanente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Viscosidad superior a la especificada o conducto obstruido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Mayor consumo de potencia y llegada tardía del aceite en frío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Solo en frío y pasajera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Comportamiento normal: el aceite frío es más viscoso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Ninguna; la válvula de descarga lo regula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8" name="Shape 3"/>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9" name="Shape 4"/>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0" name="Text 5"/>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6"/>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Resolución del caso A: presión suficiente en marcha y testigo encendido al ralentí en caliente es el cuadro característico de holguras excesivas en cojinetes. El aceite escapa por ellas más deprisa de lo que la bomba puede reponer a bajo régimen.</a:t>
            </a:r>
            <a:endParaRPr lang="en-US" sz="1150" dirty="0"/>
          </a:p>
        </p:txBody>
      </p:sp>
      <p:sp>
        <p:nvSpPr>
          <p:cNvPr id="12" name="Text 7"/>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consumo de aceite: por dónde se va</a:t>
            </a:r>
            <a:endParaRPr lang="en-US" sz="3200" dirty="0"/>
          </a:p>
        </p:txBody>
      </p:sp>
      <p:sp>
        <p:nvSpPr>
          <p:cNvPr id="3" name="marco_figura"/>
          <p:cNvSpPr/>
          <p:nvPr/>
        </p:nvSpPr>
        <p:spPr>
          <a:xfrm>
            <a:off x="548640" y="1371600"/>
            <a:ext cx="438912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l_apoyo_desgaste.jpg">    </p:cNvPr>
          <p:cNvPicPr>
            <a:picLocks noChangeAspect="1"/>
          </p:cNvPicPr>
          <p:nvPr/>
        </p:nvPicPr>
        <p:blipFill>
          <a:blip r:embed="rId1"/>
          <a:srcRect l="0" r="0" t="0" b="0"/>
          <a:stretch/>
        </p:blipFill>
        <p:spPr>
          <a:xfrm>
            <a:off x="658368" y="1481328"/>
            <a:ext cx="4169664" cy="2340864"/>
          </a:xfrm>
          <a:prstGeom prst="rect">
            <a:avLst/>
          </a:prstGeom>
        </p:spPr>
      </p:pic>
      <p:sp>
        <p:nvSpPr>
          <p:cNvPr id="5" name="Text 2"/>
          <p:cNvSpPr txBox="1"/>
          <p:nvPr/>
        </p:nvSpPr>
        <p:spPr>
          <a:xfrm>
            <a:off x="658368" y="3931920"/>
            <a:ext cx="41696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23. </a:t>
            </a:r>
            <a:pPr indent="0" marL="0">
              <a:lnSpc>
                <a:spcPct val="102000"/>
              </a:lnSpc>
              <a:buNone/>
            </a:pPr>
            <a:r>
              <a:rPr lang="en-US" sz="1000" dirty="0">
                <a:solidFill>
                  <a:schemeClr val="accent4"/>
                </a:solidFill>
              </a:rPr>
              <a:t>Superficie de apoyo con huellas de desgaste por falta de lubricación. Adaptado de Minga González, M. A. (s. f.). Lubricación [diapositivas]. ISTS.</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303520" y="1371600"/>
          <a:ext cx="6309360" cy="914400"/>
        </p:xfrm>
        <a:graphic>
          <a:graphicData uri="http://schemas.openxmlformats.org/drawingml/2006/table">
            <a:tbl>
              <a:tblPr/>
              <a:tblGrid>
                <a:gridCol w="2103120"/>
                <a:gridCol w="2103120"/>
                <a:gridCol w="2103120"/>
              </a:tblGrid>
              <a:tr h="475488">
                <a:tc>
                  <a:txBody>
                    <a:bodyPr/>
                    <a:lstStyle/>
                    <a:p>
                      <a:pPr indent="0" marL="0">
                        <a:buNone/>
                      </a:pPr>
                      <a:r>
                        <a:rPr lang="en-US" sz="1300" b="1" dirty="0">
                          <a:solidFill>
                            <a:srgbClr val="FFFFFF"/>
                          </a:solidFill>
                        </a:rPr>
                        <a:t>Camino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Síntoma característico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Por las guías de válvula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Humo azul breve al arrancar tras reposo largo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Juego de guía con comparador; estado de los sellos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Por los segmentos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Humo azul al acelerar y en retención; gases en el cárter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Compresión y prueba del aceite; estado de los segmentos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Por fugas externas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Manchas bajo el vehículo; aceite en el exterior del motor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Inspección visual de juntas, retenes y tapón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Quemado en el intercambiador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Aceite en el refrigerante sin pérdida de compresión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del enfriador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Resolución del caso B: consumo sin fugas externas y humo azulado al acelerar apunta a los segmentos. Si el humo apareciera solo tras el reposo, apuntaría a las guías. El momento en que aparece el humo es el dato que separa ambas causas.</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produce la presión de gases en el cárter. </a:t>
            </a:r>
            <a:pPr indent="0" marL="0">
              <a:lnSpc>
                <a:spcPct val="106000"/>
              </a:lnSpc>
              <a:buNone/>
            </a:pPr>
            <a:r>
              <a:rPr lang="en-US" sz="1150" dirty="0">
                <a:solidFill>
                  <a:schemeClr val="accent4"/>
                </a:solidFill>
              </a:rPr>
              <a:t>los gases que pasan por los segmentos hacia el cárter; en exceso, empujan el aceite hacia fuera por retenes y respiradero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de forma sencilla. </a:t>
            </a:r>
            <a:pPr indent="0" marL="0">
              <a:lnSpc>
                <a:spcPct val="106000"/>
              </a:lnSpc>
              <a:buNone/>
            </a:pPr>
            <a:r>
              <a:rPr lang="en-US" sz="1150" dirty="0">
                <a:solidFill>
                  <a:schemeClr val="accent4"/>
                </a:solidFill>
              </a:rPr>
              <a:t>con el motor en marcha, retirar el tapón de llenado de aceite: una salida fuerte y pulsante de gases indica paso excesivo por los segmentos</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un consumo bajo es normal. </a:t>
            </a:r>
            <a:pPr indent="0" marL="0">
              <a:lnSpc>
                <a:spcPct val="106000"/>
              </a:lnSpc>
              <a:buNone/>
            </a:pPr>
            <a:r>
              <a:rPr lang="en-US" sz="1150" dirty="0">
                <a:solidFill>
                  <a:schemeClr val="accent4"/>
                </a:solidFill>
              </a:rPr>
              <a:t>los segmentos dejan una película de aceite en la pared del cilindro que se quema en cada ciclo; todo motor consume algo</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 · anticipa la clase 4.4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4.1</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aceite hace seis cosas, no una. </a:t>
            </a:r>
            <a:pPr indent="0" marL="0">
              <a:lnSpc>
                <a:spcPct val="106000"/>
              </a:lnSpc>
              <a:buNone/>
            </a:pPr>
            <a:r>
              <a:rPr lang="en-US" sz="1250" dirty="0">
                <a:solidFill>
                  <a:schemeClr val="accent4"/>
                </a:solidFill>
              </a:rPr>
              <a:t>lubrica, refrigera, limpia, sella, protege y transmite fuerza; varias averías solo se entienden recordando las cinco últimas</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viscosidad decide si hay película. </a:t>
            </a:r>
            <a:pPr indent="0" marL="0">
              <a:lnSpc>
                <a:spcPct val="106000"/>
              </a:lnSpc>
              <a:buNone/>
            </a:pPr>
            <a:r>
              <a:rPr lang="en-US" sz="1250" dirty="0">
                <a:solidFill>
                  <a:schemeClr val="accent4"/>
                </a:solidFill>
              </a:rPr>
              <a:t>y cambia mucho con la temperatura; por eso existen los multigrado y por eso el grado lo especifica el fabricante, no el taller</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lubricación hidrodinámica depende del giro. </a:t>
            </a:r>
            <a:pPr indent="0" marL="0">
              <a:lnSpc>
                <a:spcPct val="106000"/>
              </a:lnSpc>
              <a:buNone/>
            </a:pPr>
            <a:r>
              <a:rPr lang="en-US" sz="1250" dirty="0">
                <a:solidFill>
                  <a:schemeClr val="accent4"/>
                </a:solidFill>
              </a:rPr>
              <a:t>a cero revoluciones no existe; de ahí que el arranque sea el momento de mayor desgaste de toda la vida del motor</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Las bombas son de desplazamiento positivo. </a:t>
            </a:r>
            <a:pPr indent="0" marL="0">
              <a:lnSpc>
                <a:spcPct val="106000"/>
              </a:lnSpc>
              <a:buNone/>
            </a:pPr>
            <a:r>
              <a:rPr lang="en-US" sz="1250" dirty="0">
                <a:solidFill>
                  <a:schemeClr val="accent4"/>
                </a:solidFill>
              </a:rPr>
              <a:t>entregan caudal proporcional al régimen, no a la resistencia; por eso hace falta la válvula de descarga</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filtro tiene una válvula que lo anula. </a:t>
            </a:r>
            <a:pPr indent="0" marL="0">
              <a:lnSpc>
                <a:spcPct val="106000"/>
              </a:lnSpc>
              <a:buNone/>
            </a:pPr>
            <a:r>
              <a:rPr lang="en-US" sz="1250" dirty="0">
                <a:solidFill>
                  <a:schemeClr val="accent4"/>
                </a:solidFill>
              </a:rPr>
              <a:t>si se obstruye, el aceite lo salta; por eso un filtro saturado no da síntoma y aun así manda aceite sucio a todo el motor</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presión se diagnostica en orden. </a:t>
            </a:r>
            <a:pPr indent="0" marL="0">
              <a:lnSpc>
                <a:spcPct val="106000"/>
              </a:lnSpc>
              <a:buNone/>
            </a:pPr>
            <a:r>
              <a:rPr lang="en-US" sz="1250" dirty="0">
                <a:solidFill>
                  <a:schemeClr val="accent4"/>
                </a:solidFill>
              </a:rPr>
              <a:t>nivel, viscosidad, sensor, tamiz, válvula y, por último, holguras de cojinetes; la bomba rara vez es la causa</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cliente dice que su aceite sigue limpio a los diez mil kilómetros y que por eso no hace falta cambiarlo. ¿Qué le responde y con qué argumento técnico?</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 los conocimientos 1 a 4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Mapa de averías del sistema de lubricación</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38912">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050" b="1" dirty="0">
                          <a:solidFill>
                            <a:schemeClr val="tx1"/>
                          </a:solidFill>
                        </a:rPr>
                        <a:t>Testigo encendido al ralentí en caliente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Holguras excesivas en cojinetes; viscosidad baja; bomba desgastada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Manómetro externo a ralentí y a régimen definido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Según el resultado: aceite correcto, bomba o rectificado de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Testigo encendido siempre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Nivel muy bajo, tamiz obstruido, sensor averiado o bomba sin caudal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Nivel primero; después manómetro externo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Detener el motor de inmediato y comprobar antes de volver a arrancar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Repiqueteo en la culata al arrancar en frío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Taqués hidráulicos o tensor sin presión; válvula antirretorno del filtro defectuosa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Observar cuánto tarda en desaparecer; comprobar el filtro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Filtro con antirretorno correcto; revisar presión y limpieza del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Consumo de aceite sin fugas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Guías y sellos de vástago, o segmentos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Momento en que aparece el humo; compresión y prueba del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Sellos y guías, o segmentos y rectificado del 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Aceite emulsionado, lechoso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Refrigerante mezclado: empaque, fisura o intercambiador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Compresión; gases en el refrigerante; inspección del intercambiador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Según el origen: empaque, cabezote o enfriador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Fuga tras un cambio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Arandela del tapón reutilizada o junta vieja del filtro no retirada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visual inmediata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Arandela nueva; retirar la junta vieja y montar el filtro correctamente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45770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última fila es la única avería de esta tabla que produce el propio taller. Las dos causas son evitables por completo con treinta segundos de atención, y ambas pueden dejar al motor sin aceite en marcha.</a:t>
            </a:r>
            <a:endParaRPr lang="en-US" sz="1450" dirty="0"/>
          </a:p>
        </p:txBody>
      </p:sp>
      <p:sp>
        <p:nvSpPr>
          <p:cNvPr id="8" name="Shape 5"/>
          <p:cNvSpPr/>
          <p:nvPr/>
        </p:nvSpPr>
        <p:spPr>
          <a:xfrm>
            <a:off x="548640" y="52029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202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1663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regla que resume el diagnóstico de presión. </a:t>
            </a:r>
            <a:pPr indent="0" marL="0">
              <a:lnSpc>
                <a:spcPct val="106000"/>
              </a:lnSpc>
              <a:buNone/>
            </a:pPr>
            <a:r>
              <a:rPr lang="en-US" sz="1150" dirty="0">
                <a:solidFill>
                  <a:schemeClr val="accent4"/>
                </a:solidFill>
              </a:rPr>
              <a:t>una presión que cae solo a bajo régimen apunta a holguras; una que falta siempre apunta a caudal: nivel, tamiz o bomba</a:t>
            </a:r>
            <a:endParaRPr lang="en-US" sz="1150" dirty="0"/>
          </a:p>
        </p:txBody>
      </p:sp>
      <p:sp>
        <p:nvSpPr>
          <p:cNvPr id="11" name="Shape 8"/>
          <p:cNvSpPr/>
          <p:nvPr/>
        </p:nvSpPr>
        <p:spPr>
          <a:xfrm>
            <a:off x="548640" y="55869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5504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regla que resume el consumo. </a:t>
            </a:r>
            <a:pPr indent="0" marL="0">
              <a:lnSpc>
                <a:spcPct val="106000"/>
              </a:lnSpc>
              <a:buNone/>
            </a:pPr>
            <a:r>
              <a:rPr lang="en-US" sz="1150" dirty="0">
                <a:solidFill>
                  <a:schemeClr val="accent4"/>
                </a:solidFill>
              </a:rPr>
              <a:t>si aparece tras el reposo, está arriba, en las guías; si aparece al acelerar, está abajo, en los segmentos</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mantenimiento del sistema de lubricación · material de estudio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de la clase: leer un aceite y un informe</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6217920"/>
                <a:gridCol w="4114800"/>
              </a:tblGrid>
              <a:tr h="548640">
                <a:tc>
                  <a:txBody>
                    <a:bodyPr/>
                    <a:lstStyle/>
                    <a:p>
                      <a:pPr indent="0" marL="0">
                        <a:buNone/>
                      </a:pPr>
                      <a:r>
                        <a:rPr lang="en-US" sz="1300" b="1" dirty="0">
                          <a:solidFill>
                            <a:srgbClr val="FFFFFF"/>
                          </a:solidFill>
                        </a:rPr>
                        <a:t>Nro.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Enunciado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evalúa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48640">
                <a:tc>
                  <a:txBody>
                    <a:bodyPr/>
                    <a:lstStyle/>
                    <a:p>
                      <a:pPr indent="0" marL="0">
                        <a:buNone/>
                      </a:pPr>
                      <a:r>
                        <a:rPr lang="en-US" sz="1150" b="1" dirty="0">
                          <a:solidFill>
                            <a:schemeClr val="tx1"/>
                          </a:solidFill>
                        </a:rPr>
                        <a:t>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Traiga la etiqueta de un envase de aceite e interprete su grado SAE y su categoría API. Diga a qué tipo de motor y a qué condiciones corresponde.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Lectura de la especificación del lubricante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chemeClr val="tx1"/>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Busque en Autodata el grado y la categoría que especifica el fabricante para el motor del laboratorio, y la capacidad de aceite del cárter.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Uso del manual como fuente, declarado en el PEA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1"/>
                          </a:solidFill>
                        </a:rPr>
                        <a:t>3</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Un motor da 0,8 bar a ralentí en caliente y 3,2 bar a 3 000 rpm, con los valores del manual en 1,2 y 3,5. Interprete el resultado.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Interpretación de una medición de 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chemeClr val="tx1"/>
                          </a:solidFill>
                        </a:rPr>
                        <a:t>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Elabore en grupo el cuadro de diagnóstico por presión, con las causas ordenadas por orden de comprobación.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Trabajo colaborativo declarado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8862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0690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069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9776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ejercicio 3 tiene la estructura de una pregunta de examen: el valor a régimen está dentro de lo normal y el de ralentí, por debajo. Ese patrón apunta a holguras, no a falta de caudal.</a:t>
            </a:r>
            <a:endParaRPr lang="en-US" sz="1450" dirty="0"/>
          </a:p>
        </p:txBody>
      </p:sp>
      <p:sp>
        <p:nvSpPr>
          <p:cNvPr id="8" name="Shape 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entrega. </a:t>
            </a:r>
            <a:pPr indent="0" marL="0">
              <a:lnSpc>
                <a:spcPct val="106000"/>
              </a:lnSpc>
              <a:buNone/>
            </a:pPr>
            <a:r>
              <a:rPr lang="en-US" sz="1200" dirty="0">
                <a:solidFill>
                  <a:schemeClr val="accent4"/>
                </a:solidFill>
              </a:rPr>
              <a:t>con el razonamiento escrito, no solo la conclusión: qué dato se usó, con qué se comparó y qué se deduce</a:t>
            </a:r>
            <a:endParaRPr lang="en-US" sz="1200" dirty="0"/>
          </a:p>
        </p:txBody>
      </p:sp>
      <p:sp>
        <p:nvSpPr>
          <p:cNvPr id="11" name="Shape 8"/>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Dónde encaja en el PEA. </a:t>
            </a:r>
            <a:pPr indent="0" marL="0">
              <a:lnSpc>
                <a:spcPct val="106000"/>
              </a:lnSpc>
              <a:buNone/>
            </a:pPr>
            <a:r>
              <a:rPr lang="en-US" sz="1200" dirty="0">
                <a:solidFill>
                  <a:schemeClr val="accent4"/>
                </a:solidFill>
              </a:rPr>
              <a:t>los ejercicios 1 a 3 forman parte del trabajo autónomo; el 4 es el producto colaborativo declarado para esta clase</a:t>
            </a:r>
            <a:endParaRPr lang="en-US" sz="1200" dirty="0"/>
          </a:p>
        </p:txBody>
      </p:sp>
      <p:sp>
        <p:nvSpPr>
          <p:cNvPr id="14" name="Shape 11"/>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se conserva para después. </a:t>
            </a:r>
            <a:pPr indent="0" marL="0">
              <a:lnSpc>
                <a:spcPct val="106000"/>
              </a:lnSpc>
              <a:buNone/>
            </a:pPr>
            <a:r>
              <a:rPr lang="en-US" sz="1200" dirty="0">
                <a:solidFill>
                  <a:schemeClr val="accent4"/>
                </a:solidFill>
              </a:rPr>
              <a:t>el cuadro del ejercicio 4 se usará en la práctica de la unidad y en el repaso para el examen bimestral</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Trabajo autónomo y trabajo colaborativo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4.2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sistema</a:t>
            </a:r>
            <a:endParaRPr lang="en-US" sz="4000" dirty="0"/>
          </a:p>
          <a:p>
            <a:pPr indent="0" marL="0">
              <a:buNone/>
            </a:pPr>
            <a:r>
              <a:rPr lang="en-US" sz="4000" b="1" dirty="0">
                <a:solidFill>
                  <a:schemeClr val="bg1"/>
                </a:solidFill>
              </a:rPr>
              <a:t>de refrigeración</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Por qué refrigerar · Por aire y por agua · Circuito · Bomba · Radiador · Termostato · Ventilador · Diagnóstico</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Describir el circuito de refrigeración y sus elementos, explicar la función de cada uno y diagnosticar un recalentamiento identificando su causa probable.</a:t>
            </a:r>
            <a:endParaRPr lang="en-US" sz="115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4</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Sistema de refrigeración · Refrigeración por aire · Refrigeración por agua · Bomba de agua · El radiador · Diagnóstico del circuito.</a:t>
            </a:r>
            <a:endParaRPr lang="en-US" sz="115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6 de los 13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Esquema del circuito de refrigeración del motor del laboratorio con sus puntos de fallo marcados, elaborado en grupo.</a:t>
            </a:r>
            <a:endParaRPr lang="en-US" sz="115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Trabajo colaborativo</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ante un vehículo que se recalienta, el estudiante debe poder enumerar en orden las causas posibles y decir qué comprobación descarta cada una, antes de desmontar nada.</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Por qué hay que refrigerar. </a:t>
            </a:r>
            <a:pPr indent="0" marL="0">
              <a:lnSpc>
                <a:spcPct val="106000"/>
              </a:lnSpc>
              <a:buNone/>
            </a:pPr>
            <a:r>
              <a:rPr lang="en-US" sz="1200" dirty="0">
                <a:solidFill>
                  <a:schemeClr val="accent4"/>
                </a:solidFill>
              </a:rPr>
              <a:t>las temperaturas del proceso frente a los límites de los materiales</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dos sistemas. </a:t>
            </a:r>
            <a:pPr indent="0" marL="0">
              <a:lnSpc>
                <a:spcPct val="106000"/>
              </a:lnSpc>
              <a:buNone/>
            </a:pPr>
            <a:r>
              <a:rPr lang="en-US" sz="1200" dirty="0">
                <a:solidFill>
                  <a:schemeClr val="accent4"/>
                </a:solidFill>
              </a:rPr>
              <a:t>por aire y por agua: qué resuelve cada uno y dónde se usa</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circuito. </a:t>
            </a:r>
            <a:pPr indent="0" marL="0">
              <a:lnSpc>
                <a:spcPct val="106000"/>
              </a:lnSpc>
              <a:buNone/>
            </a:pPr>
            <a:r>
              <a:rPr lang="en-US" sz="1200" dirty="0">
                <a:solidFill>
                  <a:schemeClr val="accent4"/>
                </a:solidFill>
              </a:rPr>
              <a:t>cámaras, bomba, termostato, radiador, ventilador, tapa y depósito de expansión</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refrigerante. </a:t>
            </a:r>
            <a:pPr indent="0" marL="0">
              <a:lnSpc>
                <a:spcPct val="106000"/>
              </a:lnSpc>
              <a:buNone/>
            </a:pPr>
            <a:r>
              <a:rPr lang="en-US" sz="1200" dirty="0">
                <a:solidFill>
                  <a:schemeClr val="accent4"/>
                </a:solidFill>
              </a:rPr>
              <a:t>por qué no se usa agua sola y qué aporta cada componente de la mezcla</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diagnóstico. </a:t>
            </a:r>
            <a:pPr indent="0" marL="0">
              <a:lnSpc>
                <a:spcPct val="106000"/>
              </a:lnSpc>
              <a:buNone/>
            </a:pPr>
            <a:r>
              <a:rPr lang="en-US" sz="1200" dirty="0">
                <a:solidFill>
                  <a:schemeClr val="accent4"/>
                </a:solidFill>
              </a:rPr>
              <a:t>recalentamiento, temperatura baja, pérdida de refrigerante y falta de calefacción</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Por qué hay que refrigerar un motor</a:t>
            </a:r>
            <a:endParaRPr lang="en-US" sz="3200" dirty="0"/>
          </a:p>
        </p:txBody>
      </p:sp>
      <p:sp>
        <p:nvSpPr>
          <p:cNvPr id="3" name="marco_figura"/>
          <p:cNvSpPr/>
          <p:nvPr/>
        </p:nvSpPr>
        <p:spPr>
          <a:xfrm>
            <a:off x="548640" y="1371600"/>
            <a:ext cx="45720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temperaturas.jpg">    </p:cNvPr>
          <p:cNvPicPr>
            <a:picLocks noChangeAspect="1"/>
          </p:cNvPicPr>
          <p:nvPr/>
        </p:nvPicPr>
        <p:blipFill>
          <a:blip r:embed="rId1"/>
          <a:srcRect l="0" r="0" t="0" b="0"/>
          <a:stretch/>
        </p:blipFill>
        <p:spPr>
          <a:xfrm>
            <a:off x="658368" y="1481328"/>
            <a:ext cx="4352544" cy="2340864"/>
          </a:xfrm>
          <a:prstGeom prst="rect">
            <a:avLst/>
          </a:prstGeom>
        </p:spPr>
      </p:pic>
      <p:sp>
        <p:nvSpPr>
          <p:cNvPr id="5" name="Text 2"/>
          <p:cNvSpPr txBox="1"/>
          <p:nvPr/>
        </p:nvSpPr>
        <p:spPr>
          <a:xfrm>
            <a:off x="658368" y="393192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25. </a:t>
            </a:r>
            <a:pPr indent="0" marL="0">
              <a:lnSpc>
                <a:spcPct val="102000"/>
              </a:lnSpc>
              <a:buNone/>
            </a:pPr>
            <a:r>
              <a:rPr lang="en-US" sz="1000" dirty="0">
                <a:solidFill>
                  <a:schemeClr val="accent4"/>
                </a:solidFill>
              </a:rPr>
              <a:t>Temperaturas alcanzadas en el interior del cilindro durante la combustión. Adaptado de Minga González, M. A. (s. f.). El sistema de refrigeración [diapositivas]. ISTS.</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3108960"/>
                <a:gridCol w="301752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Límite aproximado de trabajo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Válvula de escape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Puede soportar temperaturas muy elevadas, del orden de varios cientos de grados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Cabeza del pistón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Muy por debajo de la de los gases: el aluminio pierde resistencia con el calor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Paredes de la cámara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Limitadas para evitar el autoencendido de la mezcla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Aceite lubricante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Pierde viscosidad y se degrada por encima de su rango de trabajo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Refrigerante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El agua hierve a 100 °C al nivel del mar: de ahí la necesidad de presurizar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sistema no existe para enfriar: existe para mantener la temperatura de trabajo. Un motor frío consume más, contamina más y se desgasta más deprisa; por eso el termostato impide la circulación por el radiador hasta que el motor alcanza su temperatura.</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pasa si el motor trabaja demasiado caliente. </a:t>
            </a:r>
            <a:pPr indent="0" marL="0">
              <a:lnSpc>
                <a:spcPct val="106000"/>
              </a:lnSpc>
              <a:buNone/>
            </a:pPr>
            <a:r>
              <a:rPr lang="en-US" sz="1150" dirty="0">
                <a:solidFill>
                  <a:schemeClr val="accent4"/>
                </a:solidFill>
              </a:rPr>
              <a:t>detonación, pérdida de resistencia de los materiales, degradación del aceite, alabeo de la culata y, en el extremo, gripaje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pasa si trabaja demasiado frío. </a:t>
            </a:r>
            <a:pPr indent="0" marL="0">
              <a:lnSpc>
                <a:spcPct val="106000"/>
              </a:lnSpc>
              <a:buNone/>
            </a:pPr>
            <a:r>
              <a:rPr lang="en-US" sz="1150" dirty="0">
                <a:solidFill>
                  <a:schemeClr val="accent4"/>
                </a:solidFill>
              </a:rPr>
              <a:t>la mezcla se condensa en las paredes, el combustible diluye el aceite, aumenta el consumo y se forman lodos en el cárter</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conclusión de diseño. </a:t>
            </a:r>
            <a:pPr indent="0" marL="0">
              <a:lnSpc>
                <a:spcPct val="106000"/>
              </a:lnSpc>
              <a:buNone/>
            </a:pPr>
            <a:r>
              <a:rPr lang="en-US" sz="1150" dirty="0">
                <a:solidFill>
                  <a:schemeClr val="accent4"/>
                </a:solidFill>
              </a:rPr>
              <a:t>el sistema debe evacuar el calor sobrante y, a la vez, impedir que el motor se enfríe por debajo de su rango útil</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refrigeración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Refrigeración por aire</a:t>
            </a:r>
            <a:endParaRPr lang="en-US" sz="3200" dirty="0"/>
          </a:p>
        </p:txBody>
      </p:sp>
      <p:sp>
        <p:nvSpPr>
          <p:cNvPr id="3" name="marco_figura"/>
          <p:cNvSpPr/>
          <p:nvPr/>
        </p:nvSpPr>
        <p:spPr>
          <a:xfrm>
            <a:off x="548640" y="1371600"/>
            <a:ext cx="512064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aire.jpg">    </p:cNvPr>
          <p:cNvPicPr>
            <a:picLocks noChangeAspect="1"/>
          </p:cNvPicPr>
          <p:nvPr/>
        </p:nvPicPr>
        <p:blipFill>
          <a:blip r:embed="rId1"/>
          <a:srcRect l="0" r="0" t="0" b="0"/>
          <a:stretch/>
        </p:blipFill>
        <p:spPr>
          <a:xfrm>
            <a:off x="658368" y="1481328"/>
            <a:ext cx="4901184" cy="2523744"/>
          </a:xfrm>
          <a:prstGeom prst="rect">
            <a:avLst/>
          </a:prstGeom>
        </p:spPr>
      </p:pic>
      <p:sp>
        <p:nvSpPr>
          <p:cNvPr id="5" name="Text 2"/>
          <p:cNvSpPr txBox="1"/>
          <p:nvPr/>
        </p:nvSpPr>
        <p:spPr>
          <a:xfrm>
            <a:off x="658368" y="411480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26. </a:t>
            </a:r>
            <a:pPr indent="0" marL="0">
              <a:lnSpc>
                <a:spcPct val="102000"/>
              </a:lnSpc>
              <a:buNone/>
            </a:pPr>
            <a:r>
              <a:rPr lang="en-US" sz="1000" dirty="0">
                <a:solidFill>
                  <a:schemeClr val="accent4"/>
                </a:solidFill>
              </a:rPr>
              <a:t>Motor refrigerado por aire: cilindro y culata con aletas. Adaptado de Minga González, M. A. (s. f.). El sistema de refrigeración [diapositivas]. ISTS.</a:t>
            </a:r>
            <a:endParaRPr lang="en-US" sz="1000" dirty="0"/>
          </a:p>
        </p:txBody>
      </p:sp>
      <p:sp>
        <p:nvSpPr>
          <p:cNvPr id="6" name="Shape 3"/>
          <p:cNvSpPr/>
          <p:nvPr/>
        </p:nvSpPr>
        <p:spPr>
          <a:xfrm>
            <a:off x="60350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035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65392" y="1463040"/>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funciona. </a:t>
            </a:r>
            <a:pPr indent="0" marL="0">
              <a:lnSpc>
                <a:spcPct val="106000"/>
              </a:lnSpc>
              <a:buNone/>
            </a:pPr>
            <a:r>
              <a:rPr lang="en-US" sz="1150" dirty="0">
                <a:solidFill>
                  <a:schemeClr val="accent4"/>
                </a:solidFill>
              </a:rPr>
              <a:t>el cilindro y la culata llevan aletas que multiplican la superficie en contacto con el aire, y el aire se lleva el calor</a:t>
            </a:r>
            <a:endParaRPr lang="en-US" sz="1150" dirty="0"/>
          </a:p>
        </p:txBody>
      </p:sp>
      <p:sp>
        <p:nvSpPr>
          <p:cNvPr id="9" name="Shape 6"/>
          <p:cNvSpPr/>
          <p:nvPr/>
        </p:nvSpPr>
        <p:spPr>
          <a:xfrm>
            <a:off x="6035040" y="219456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03504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65392" y="2157984"/>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circula el aire. </a:t>
            </a:r>
            <a:pPr indent="0" marL="0">
              <a:lnSpc>
                <a:spcPct val="106000"/>
              </a:lnSpc>
              <a:buNone/>
            </a:pPr>
            <a:r>
              <a:rPr lang="en-US" sz="1150" dirty="0">
                <a:solidFill>
                  <a:schemeClr val="accent4"/>
                </a:solidFill>
              </a:rPr>
              <a:t>por la marcha del vehículo, o forzado por un ventilador y conducido por deflectores en los motores estacionarios</a:t>
            </a:r>
            <a:endParaRPr lang="en-US" sz="1150" dirty="0"/>
          </a:p>
        </p:txBody>
      </p:sp>
      <p:sp>
        <p:nvSpPr>
          <p:cNvPr id="12" name="Shape 9"/>
          <p:cNvSpPr/>
          <p:nvPr/>
        </p:nvSpPr>
        <p:spPr>
          <a:xfrm>
            <a:off x="6035040" y="288950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03504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65392" y="2852928"/>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Sus ventajas. </a:t>
            </a:r>
            <a:pPr indent="0" marL="0">
              <a:lnSpc>
                <a:spcPct val="106000"/>
              </a:lnSpc>
              <a:buNone/>
            </a:pPr>
            <a:r>
              <a:rPr lang="en-US" sz="1150" dirty="0">
                <a:solidFill>
                  <a:schemeClr val="accent4"/>
                </a:solidFill>
              </a:rPr>
              <a:t>sencillez, ligereza, ausencia de fugas, de bomba, de radiador y de mantenimiento del fluido; y no se congela</a:t>
            </a:r>
            <a:endParaRPr lang="en-US" sz="1150" dirty="0"/>
          </a:p>
        </p:txBody>
      </p:sp>
      <p:sp>
        <p:nvSpPr>
          <p:cNvPr id="15" name="Shape 12"/>
          <p:cNvSpPr/>
          <p:nvPr/>
        </p:nvSpPr>
        <p:spPr>
          <a:xfrm>
            <a:off x="6035040" y="358444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03504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65392" y="3547872"/>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Sus inconvenientes. </a:t>
            </a:r>
            <a:pPr indent="0" marL="0">
              <a:lnSpc>
                <a:spcPct val="106000"/>
              </a:lnSpc>
              <a:buNone/>
            </a:pPr>
            <a:r>
              <a:rPr lang="en-US" sz="1150" dirty="0">
                <a:solidFill>
                  <a:schemeClr val="accent4"/>
                </a:solidFill>
              </a:rPr>
              <a:t>ruido, regulación de temperatura mucho peor, refrigeración desigual entre cilindros y dificultad para calefactar el habitáculo</a:t>
            </a:r>
            <a:endParaRPr lang="en-US" sz="1150" dirty="0"/>
          </a:p>
        </p:txBody>
      </p:sp>
      <p:sp>
        <p:nvSpPr>
          <p:cNvPr id="18" name="Shape 15"/>
          <p:cNvSpPr/>
          <p:nvPr/>
        </p:nvSpPr>
        <p:spPr>
          <a:xfrm>
            <a:off x="548640" y="429768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5262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3891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motivo real por el que la refrigeración por aire desapareció de los automóviles no es la potencia: es la regulación. Sin un fluido intermedio y sin termostato, la temperatura depende del aire disponible, y eso impide cumplir las exigencias actuales de emisiones.</a:t>
            </a:r>
            <a:endParaRPr lang="en-US" sz="1450" dirty="0"/>
          </a:p>
        </p:txBody>
      </p:sp>
      <p:sp>
        <p:nvSpPr>
          <p:cNvPr id="22" name="Shape 19"/>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sigue vigente. </a:t>
            </a:r>
            <a:pPr indent="0" marL="0">
              <a:lnSpc>
                <a:spcPct val="106000"/>
              </a:lnSpc>
              <a:buNone/>
            </a:pPr>
            <a:r>
              <a:rPr lang="en-US" sz="1150" dirty="0">
                <a:solidFill>
                  <a:schemeClr val="accent4"/>
                </a:solidFill>
              </a:rPr>
              <a:t>motocicletas, motores estacionarios, maquinaria pequeña y aplicaciones donde la sencillez y la ausencia de mantenimiento pesan más</a:t>
            </a:r>
            <a:endParaRPr lang="en-US" sz="1150" dirty="0"/>
          </a:p>
        </p:txBody>
      </p:sp>
      <p:sp>
        <p:nvSpPr>
          <p:cNvPr id="25" name="Shape 22"/>
          <p:cNvSpPr/>
          <p:nvPr/>
        </p:nvSpPr>
        <p:spPr>
          <a:xfrm>
            <a:off x="548640" y="561441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614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5778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conviene recordar de ella. </a:t>
            </a:r>
            <a:pPr indent="0" marL="0">
              <a:lnSpc>
                <a:spcPct val="106000"/>
              </a:lnSpc>
              <a:buNone/>
            </a:pPr>
            <a:r>
              <a:rPr lang="en-US" sz="1150" dirty="0">
                <a:solidFill>
                  <a:schemeClr val="accent4"/>
                </a:solidFill>
              </a:rPr>
              <a:t>que el principio es el mismo: aumentar la superficie de intercambio y mover un fluido sobre ella; el radiador del sistema por agua hace exactamente eso</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por aire</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Refrigeración por líquido: el circuito</a:t>
            </a:r>
            <a:endParaRPr lang="en-US" sz="3200" dirty="0"/>
          </a:p>
        </p:txBody>
      </p:sp>
      <p:sp>
        <p:nvSpPr>
          <p:cNvPr id="3" name="marco_figura"/>
          <p:cNvSpPr/>
          <p:nvPr/>
        </p:nvSpPr>
        <p:spPr>
          <a:xfrm>
            <a:off x="548640" y="1371600"/>
            <a:ext cx="5669280" cy="3310128"/>
          </a:xfrm>
          <a:prstGeom prst="roundRect">
            <a:avLst>
              <a:gd name="adj" fmla="val 165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circuito.jpg">    </p:cNvPr>
          <p:cNvPicPr>
            <a:picLocks noChangeAspect="1"/>
          </p:cNvPicPr>
          <p:nvPr/>
        </p:nvPicPr>
        <p:blipFill>
          <a:blip r:embed="rId1"/>
          <a:srcRect l="0" r="0" t="0" b="0"/>
          <a:stretch/>
        </p:blipFill>
        <p:spPr>
          <a:xfrm>
            <a:off x="658368" y="1481328"/>
            <a:ext cx="5449824" cy="2706624"/>
          </a:xfrm>
          <a:prstGeom prst="rect">
            <a:avLst/>
          </a:prstGeom>
        </p:spPr>
      </p:pic>
      <p:sp>
        <p:nvSpPr>
          <p:cNvPr id="5" name="Text 2"/>
          <p:cNvSpPr txBox="1"/>
          <p:nvPr/>
        </p:nvSpPr>
        <p:spPr>
          <a:xfrm>
            <a:off x="658368" y="4297680"/>
            <a:ext cx="5449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27. </a:t>
            </a:r>
            <a:pPr indent="0" marL="0">
              <a:lnSpc>
                <a:spcPct val="102000"/>
              </a:lnSpc>
              <a:buNone/>
            </a:pPr>
            <a:r>
              <a:rPr lang="en-US" sz="1000" dirty="0">
                <a:solidFill>
                  <a:schemeClr val="accent4"/>
                </a:solidFill>
              </a:rPr>
              <a:t>Circuito de refrigeración por líquido con sus elementos principales. Adaptado de Minga González, M. A. (s. f.). El sistema de refrigeración [diapositivas]. ISTS.</a:t>
            </a:r>
            <a:endParaRPr lang="en-US" sz="1000" dirty="0"/>
          </a:p>
        </p:txBody>
      </p:sp>
      <p:sp>
        <p:nvSpPr>
          <p:cNvPr id="6" name="Shape 3"/>
          <p:cNvSpPr/>
          <p:nvPr/>
        </p:nvSpPr>
        <p:spPr>
          <a:xfrm>
            <a:off x="65836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5836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114032" y="1463040"/>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1 — Cámaras de refrigeración. </a:t>
            </a:r>
            <a:pPr indent="0" marL="0">
              <a:lnSpc>
                <a:spcPct val="106000"/>
              </a:lnSpc>
              <a:buNone/>
            </a:pPr>
            <a:r>
              <a:rPr lang="en-US" sz="1050" dirty="0">
                <a:solidFill>
                  <a:schemeClr val="accent4"/>
                </a:solidFill>
              </a:rPr>
              <a:t>espacios huecos en el bloque y en la culata que rodean los cilindros y las cámaras de combustión</a:t>
            </a:r>
            <a:endParaRPr lang="en-US" sz="1050" dirty="0"/>
          </a:p>
        </p:txBody>
      </p:sp>
      <p:sp>
        <p:nvSpPr>
          <p:cNvPr id="9" name="Shape 6"/>
          <p:cNvSpPr/>
          <p:nvPr/>
        </p:nvSpPr>
        <p:spPr>
          <a:xfrm>
            <a:off x="6583680" y="2029968"/>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58368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114032" y="1993392"/>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2 — Bomba de agua. </a:t>
            </a:r>
            <a:pPr indent="0" marL="0">
              <a:lnSpc>
                <a:spcPct val="106000"/>
              </a:lnSpc>
              <a:buNone/>
            </a:pPr>
            <a:r>
              <a:rPr lang="en-US" sz="1050" dirty="0">
                <a:solidFill>
                  <a:schemeClr val="accent4"/>
                </a:solidFill>
              </a:rPr>
              <a:t>impulsa el refrigerante; movida por la correa de distribución o por una correa de accesorios</a:t>
            </a:r>
            <a:endParaRPr lang="en-US" sz="1050" dirty="0"/>
          </a:p>
        </p:txBody>
      </p:sp>
      <p:sp>
        <p:nvSpPr>
          <p:cNvPr id="12" name="Shape 9"/>
          <p:cNvSpPr/>
          <p:nvPr/>
        </p:nvSpPr>
        <p:spPr>
          <a:xfrm>
            <a:off x="6583680" y="2560320"/>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583680" y="2560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114032" y="2523744"/>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3 — Termostato. </a:t>
            </a:r>
            <a:pPr indent="0" marL="0">
              <a:lnSpc>
                <a:spcPct val="106000"/>
              </a:lnSpc>
              <a:buNone/>
            </a:pPr>
            <a:r>
              <a:rPr lang="en-US" sz="1050" dirty="0">
                <a:solidFill>
                  <a:schemeClr val="accent4"/>
                </a:solidFill>
              </a:rPr>
              <a:t>impide el paso al radiador mientras el motor está frío; abre al alcanzar la temperatura de trabajo</a:t>
            </a:r>
            <a:endParaRPr lang="en-US" sz="1050" dirty="0"/>
          </a:p>
        </p:txBody>
      </p:sp>
      <p:sp>
        <p:nvSpPr>
          <p:cNvPr id="15" name="Shape 12"/>
          <p:cNvSpPr/>
          <p:nvPr/>
        </p:nvSpPr>
        <p:spPr>
          <a:xfrm>
            <a:off x="6583680" y="3090672"/>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583680" y="30906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114032" y="3054096"/>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4 — Radiador. </a:t>
            </a:r>
            <a:pPr indent="0" marL="0">
              <a:lnSpc>
                <a:spcPct val="106000"/>
              </a:lnSpc>
              <a:buNone/>
            </a:pPr>
            <a:r>
              <a:rPr lang="en-US" sz="1050" dirty="0">
                <a:solidFill>
                  <a:schemeClr val="accent4"/>
                </a:solidFill>
              </a:rPr>
              <a:t>intercambiador donde el refrigerante cede su calor al aire que lo atraviesa</a:t>
            </a:r>
            <a:endParaRPr lang="en-US" sz="1050" dirty="0"/>
          </a:p>
        </p:txBody>
      </p:sp>
      <p:sp>
        <p:nvSpPr>
          <p:cNvPr id="18" name="Shape 15"/>
          <p:cNvSpPr/>
          <p:nvPr/>
        </p:nvSpPr>
        <p:spPr>
          <a:xfrm>
            <a:off x="6583680" y="3621024"/>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6583680" y="3621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7114032" y="3584448"/>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5 — Ventilador. </a:t>
            </a:r>
            <a:pPr indent="0" marL="0">
              <a:lnSpc>
                <a:spcPct val="106000"/>
              </a:lnSpc>
              <a:buNone/>
            </a:pPr>
            <a:r>
              <a:rPr lang="en-US" sz="1050" dirty="0">
                <a:solidFill>
                  <a:schemeClr val="accent4"/>
                </a:solidFill>
              </a:rPr>
              <a:t>fuerza el paso de aire por el radiador cuando la marcha no basta: en ciudad, parado o subiendo</a:t>
            </a:r>
            <a:endParaRPr lang="en-US" sz="1050" dirty="0"/>
          </a:p>
        </p:txBody>
      </p:sp>
      <p:sp>
        <p:nvSpPr>
          <p:cNvPr id="21" name="Shape 18"/>
          <p:cNvSpPr/>
          <p:nvPr/>
        </p:nvSpPr>
        <p:spPr>
          <a:xfrm>
            <a:off x="6583680" y="415137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658368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7114032" y="4114800"/>
            <a:ext cx="4498848" cy="475488"/>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6 — Tapa y depósito de expansión. </a:t>
            </a:r>
            <a:pPr indent="0" marL="0">
              <a:lnSpc>
                <a:spcPct val="106000"/>
              </a:lnSpc>
              <a:buNone/>
            </a:pPr>
            <a:r>
              <a:rPr lang="en-US" sz="1050" dirty="0">
                <a:solidFill>
                  <a:schemeClr val="accent4"/>
                </a:solidFill>
              </a:rPr>
              <a:t>presurizan el circuito y absorben la dilatación del refrigerante al calentarse</a:t>
            </a:r>
            <a:endParaRPr lang="en-US" sz="1050" dirty="0"/>
          </a:p>
        </p:txBody>
      </p:sp>
      <p:sp>
        <p:nvSpPr>
          <p:cNvPr id="24" name="Shape 21"/>
          <p:cNvSpPr/>
          <p:nvPr/>
        </p:nvSpPr>
        <p:spPr>
          <a:xfrm>
            <a:off x="548640" y="457200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86384" y="477774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47777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46634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Mientras el termostato está cerrado, el refrigerante circula por un circuito corto que no pasa por el radiador. Eso acelera el calentamiento del motor, que es exactamente lo que interesa en los primeros minutos.</a:t>
            </a:r>
            <a:endParaRPr lang="en-US" sz="1450" dirty="0"/>
          </a:p>
        </p:txBody>
      </p:sp>
      <p:sp>
        <p:nvSpPr>
          <p:cNvPr id="28" name="Text 25"/>
          <p:cNvSpPr txBox="1"/>
          <p:nvPr/>
        </p:nvSpPr>
        <p:spPr>
          <a:xfrm>
            <a:off x="548640" y="544068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Un ramal del circuito alimenta el radiador de la calefacción del habitáculo. Ese detalle tiene valor de diagnóstico: si la calefacción no calienta, puede faltar refrigerante o estar obstruido ese ramal.</a:t>
            </a:r>
            <a:endParaRPr lang="en-US" sz="120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por agua · sistema de refrigeración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cámaras de refrigeración del bloque y la culata</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camaras.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28. </a:t>
            </a:r>
            <a:pPr indent="0" marL="0">
              <a:lnSpc>
                <a:spcPct val="102000"/>
              </a:lnSpc>
              <a:buNone/>
            </a:pPr>
            <a:r>
              <a:rPr lang="en-US" sz="1000" dirty="0">
                <a:solidFill>
                  <a:schemeClr val="accent4"/>
                </a:solidFill>
              </a:rPr>
              <a:t>Cámaras de refrigeración alrededor del cilindro. Adaptado de Minga González, M. A. (s. f.). El sistema de refrigeración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r_camaras2.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29. </a:t>
            </a:r>
            <a:pPr indent="0" marL="0">
              <a:lnSpc>
                <a:spcPct val="102000"/>
              </a:lnSpc>
              <a:buNone/>
            </a:pPr>
            <a:r>
              <a:rPr lang="en-US" sz="1000" dirty="0">
                <a:solidFill>
                  <a:schemeClr val="accent4"/>
                </a:solidFill>
              </a:rPr>
              <a:t>Partes huecas del bloque y de la culata por donde circula el refrigerante. Adaptado de Minga González, M. A. (s. f.). El sistema de refrigeración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r_liquido.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30. </a:t>
            </a:r>
            <a:pPr indent="0" marL="0">
              <a:lnSpc>
                <a:spcPct val="102000"/>
              </a:lnSpc>
              <a:buNone/>
            </a:pPr>
            <a:r>
              <a:rPr lang="en-US" sz="1000" dirty="0">
                <a:solidFill>
                  <a:schemeClr val="accent4"/>
                </a:solidFill>
              </a:rPr>
              <a:t>Recorrido del refrigerante a través del motor. Adaptado de Minga González, M. A. (s. f.). El sistema de refrigeración [diapositivas]. ISTS.</a:t>
            </a:r>
            <a:endParaRPr lang="en-US" sz="1000" dirty="0"/>
          </a:p>
        </p:txBody>
      </p:sp>
      <p:sp>
        <p:nvSpPr>
          <p:cNvPr id="12" name="Shape 7"/>
          <p:cNvSpPr/>
          <p:nvPr/>
        </p:nvSpPr>
        <p:spPr>
          <a:xfrm>
            <a:off x="548640" y="419709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1605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están. </a:t>
            </a:r>
            <a:pPr indent="0" marL="0">
              <a:lnSpc>
                <a:spcPct val="106000"/>
              </a:lnSpc>
              <a:buNone/>
            </a:pPr>
            <a:r>
              <a:rPr lang="en-US" sz="1150" dirty="0">
                <a:solidFill>
                  <a:schemeClr val="accent4"/>
                </a:solidFill>
              </a:rPr>
              <a:t>rodean los cilindros en el bloque y las cámaras de combustión y los conductos de escape en la culata, que son las zonas más calientes</a:t>
            </a:r>
            <a:endParaRPr lang="en-US" sz="1150" dirty="0"/>
          </a:p>
        </p:txBody>
      </p:sp>
      <p:sp>
        <p:nvSpPr>
          <p:cNvPr id="15" name="Shape 10"/>
          <p:cNvSpPr/>
          <p:nvPr/>
        </p:nvSpPr>
        <p:spPr>
          <a:xfrm>
            <a:off x="548640" y="456285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5262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dónde entra y por dónde sale. </a:t>
            </a:r>
            <a:pPr indent="0" marL="0">
              <a:lnSpc>
                <a:spcPct val="106000"/>
              </a:lnSpc>
              <a:buNone/>
            </a:pPr>
            <a:r>
              <a:rPr lang="en-US" sz="1150" dirty="0">
                <a:solidFill>
                  <a:schemeClr val="accent4"/>
                </a:solidFill>
              </a:rPr>
              <a:t>el refrigerante entra frío por la parte baja del bloque y sale caliente por la parte alta de la culata, hacia el radiador</a:t>
            </a:r>
            <a:endParaRPr lang="en-US" sz="1150" dirty="0"/>
          </a:p>
        </p:txBody>
      </p:sp>
      <p:sp>
        <p:nvSpPr>
          <p:cNvPr id="18" name="Shape 13"/>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8920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ese sentido. </a:t>
            </a:r>
            <a:pPr indent="0" marL="0">
              <a:lnSpc>
                <a:spcPct val="106000"/>
              </a:lnSpc>
              <a:buNone/>
            </a:pPr>
            <a:r>
              <a:rPr lang="en-US" sz="1150" dirty="0">
                <a:solidFill>
                  <a:schemeClr val="accent4"/>
                </a:solidFill>
              </a:rPr>
              <a:t>porque el calor hace subir el fluido: el recorrido aprovecha la convección natural en lugar de oponerse a ella</a:t>
            </a:r>
            <a:endParaRPr lang="en-US" sz="1150" dirty="0"/>
          </a:p>
        </p:txBody>
      </p:sp>
      <p:sp>
        <p:nvSpPr>
          <p:cNvPr id="21" name="Shape 16"/>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2578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las obstruye. </a:t>
            </a:r>
            <a:pPr indent="0" marL="0">
              <a:lnSpc>
                <a:spcPct val="106000"/>
              </a:lnSpc>
              <a:buNone/>
            </a:pPr>
            <a:r>
              <a:rPr lang="en-US" sz="1150" dirty="0">
                <a:solidFill>
                  <a:schemeClr val="accent4"/>
                </a:solidFill>
              </a:rPr>
              <a:t>cal y sedimentos cuando se ha usado agua sola, y óxido cuando el refrigerante perdió sus inhibidores</a:t>
            </a:r>
            <a:endParaRPr lang="en-US" sz="1150" dirty="0"/>
          </a:p>
        </p:txBody>
      </p:sp>
      <p:sp>
        <p:nvSpPr>
          <p:cNvPr id="24" name="Shape 19"/>
          <p:cNvSpPr/>
          <p:nvPr/>
        </p:nvSpPr>
        <p:spPr>
          <a:xfrm>
            <a:off x="548640" y="5614416"/>
            <a:ext cx="11064240" cy="384048"/>
          </a:xfrm>
          <a:prstGeom prst="roundRect">
            <a:avLst>
              <a:gd name="adj" fmla="val 14286"/>
            </a:avLst>
          </a:prstGeom>
          <a:solidFill>
            <a:schemeClr val="bg2"/>
          </a:solidFill>
          <a:ln w="12700">
            <a:solidFill>
              <a:schemeClr val="bg2"/>
            </a:solidFill>
            <a:prstDash val="solid"/>
          </a:ln>
        </p:spPr>
        <p:txBody>
          <a:bodyPr/>
          <a:p/>
        </p:txBody>
      </p:sp>
      <p:sp>
        <p:nvSpPr>
          <p:cNvPr id="25" name="Shape 20"/>
          <p:cNvSpPr/>
          <p:nvPr/>
        </p:nvSpPr>
        <p:spPr>
          <a:xfrm>
            <a:off x="786384" y="5623560"/>
            <a:ext cx="365760" cy="365760"/>
          </a:xfrm>
          <a:prstGeom prst="ellipse">
            <a:avLst/>
          </a:prstGeom>
          <a:solidFill>
            <a:schemeClr val="accent1"/>
          </a:solidFill>
          <a:ln w="12700">
            <a:solidFill>
              <a:schemeClr val="accent1"/>
            </a:solidFill>
            <a:prstDash val="solid"/>
          </a:ln>
        </p:spPr>
        <p:txBody>
          <a:bodyPr/>
          <a:p/>
        </p:txBody>
      </p:sp>
      <p:sp>
        <p:nvSpPr>
          <p:cNvPr id="26" name="Text 21"/>
          <p:cNvSpPr txBox="1"/>
          <p:nvPr/>
        </p:nvSpPr>
        <p:spPr>
          <a:xfrm>
            <a:off x="786384" y="5623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2"/>
          <p:cNvSpPr txBox="1"/>
          <p:nvPr/>
        </p:nvSpPr>
        <p:spPr>
          <a:xfrm>
            <a:off x="1298448" y="5705856"/>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Una cámara obstruida no se detecta con ninguna prueba de presión: el circuito sella bien y la bomba funciona. El motor simplemente se recalienta en carga, y la única pista es que el radiador presenta zonas frías al tacto.</a:t>
            </a:r>
            <a:endParaRPr lang="en-US" sz="1100" dirty="0"/>
          </a:p>
        </p:txBody>
      </p:sp>
      <p:sp>
        <p:nvSpPr>
          <p:cNvPr id="28"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por agua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bomba de agua</a:t>
            </a:r>
            <a:endParaRPr lang="en-US" sz="3200" dirty="0"/>
          </a:p>
        </p:txBody>
      </p:sp>
      <p:sp>
        <p:nvSpPr>
          <p:cNvPr id="3" name="marco_figura"/>
          <p:cNvSpPr/>
          <p:nvPr/>
        </p:nvSpPr>
        <p:spPr>
          <a:xfrm>
            <a:off x="548640" y="1371600"/>
            <a:ext cx="5120640" cy="3127248"/>
          </a:xfrm>
          <a:prstGeom prst="roundRect">
            <a:avLst>
              <a:gd name="adj" fmla="val 1754"/>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bomba_corte.jpg">    </p:cNvPr>
          <p:cNvPicPr>
            <a:picLocks noChangeAspect="1"/>
          </p:cNvPicPr>
          <p:nvPr/>
        </p:nvPicPr>
        <p:blipFill>
          <a:blip r:embed="rId1"/>
          <a:srcRect l="0" r="0" t="0" b="0"/>
          <a:stretch/>
        </p:blipFill>
        <p:spPr>
          <a:xfrm>
            <a:off x="658368" y="1481328"/>
            <a:ext cx="4901184" cy="2523744"/>
          </a:xfrm>
          <a:prstGeom prst="rect">
            <a:avLst/>
          </a:prstGeom>
        </p:spPr>
      </p:pic>
      <p:sp>
        <p:nvSpPr>
          <p:cNvPr id="5" name="Text 2"/>
          <p:cNvSpPr txBox="1"/>
          <p:nvPr/>
        </p:nvSpPr>
        <p:spPr>
          <a:xfrm>
            <a:off x="658368" y="4114800"/>
            <a:ext cx="49011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31. </a:t>
            </a:r>
            <a:pPr indent="0" marL="0">
              <a:lnSpc>
                <a:spcPct val="102000"/>
              </a:lnSpc>
              <a:buNone/>
            </a:pPr>
            <a:r>
              <a:rPr lang="en-US" sz="1000" dirty="0">
                <a:solidFill>
                  <a:schemeClr val="accent4"/>
                </a:solidFill>
              </a:rPr>
              <a:t>Corte de la bomba de agua: polea, sello, rotor y salida al bloque. Adaptado de Minga González, M. A. (s. f.). El sistema de refrigeración [diapositivas]. ISTS.</a:t>
            </a:r>
            <a:endParaRPr lang="en-US" sz="1000" dirty="0"/>
          </a:p>
        </p:txBody>
      </p:sp>
      <p:sp>
        <p:nvSpPr>
          <p:cNvPr id="6" name="Shape 3"/>
          <p:cNvSpPr/>
          <p:nvPr/>
        </p:nvSpPr>
        <p:spPr>
          <a:xfrm>
            <a:off x="60350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60350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565392" y="1463040"/>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tipo es. </a:t>
            </a:r>
            <a:pPr indent="0" marL="0">
              <a:lnSpc>
                <a:spcPct val="106000"/>
              </a:lnSpc>
              <a:buNone/>
            </a:pPr>
            <a:r>
              <a:rPr lang="en-US" sz="1150" dirty="0">
                <a:solidFill>
                  <a:schemeClr val="accent4"/>
                </a:solidFill>
              </a:rPr>
              <a:t>centrífuga: un rodete con álabes lanza el refrigerante hacia la periferia por efecto del giro</a:t>
            </a:r>
            <a:endParaRPr lang="en-US" sz="1150" dirty="0"/>
          </a:p>
        </p:txBody>
      </p:sp>
      <p:sp>
        <p:nvSpPr>
          <p:cNvPr id="9" name="Shape 6"/>
          <p:cNvSpPr/>
          <p:nvPr/>
        </p:nvSpPr>
        <p:spPr>
          <a:xfrm>
            <a:off x="6035040" y="219456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603504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565392" y="2157984"/>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centrífuga y no de desplazamiento positivo. </a:t>
            </a:r>
            <a:pPr indent="0" marL="0">
              <a:lnSpc>
                <a:spcPct val="106000"/>
              </a:lnSpc>
              <a:buNone/>
            </a:pPr>
            <a:r>
              <a:rPr lang="en-US" sz="1150" dirty="0">
                <a:solidFill>
                  <a:schemeClr val="accent4"/>
                </a:solidFill>
              </a:rPr>
              <a:t>porque aquí interesa mucho caudal a poca presión, al contrario que en la lubricación; y porque no genera sobrepresión si el circuito se cierra</a:t>
            </a:r>
            <a:endParaRPr lang="en-US" sz="1150" dirty="0"/>
          </a:p>
        </p:txBody>
      </p:sp>
      <p:sp>
        <p:nvSpPr>
          <p:cNvPr id="12" name="Shape 9"/>
          <p:cNvSpPr/>
          <p:nvPr/>
        </p:nvSpPr>
        <p:spPr>
          <a:xfrm>
            <a:off x="6035040" y="288950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603504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565392" y="2852928"/>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acciona. </a:t>
            </a:r>
            <a:pPr indent="0" marL="0">
              <a:lnSpc>
                <a:spcPct val="106000"/>
              </a:lnSpc>
              <a:buNone/>
            </a:pPr>
            <a:r>
              <a:rPr lang="en-US" sz="1150" dirty="0">
                <a:solidFill>
                  <a:schemeClr val="accent4"/>
                </a:solidFill>
              </a:rPr>
              <a:t>por la correa de distribución en muchos motores, o por una correa de accesorios; de ahí que se sustituya junto con la distribución</a:t>
            </a:r>
            <a:endParaRPr lang="en-US" sz="1150" dirty="0"/>
          </a:p>
        </p:txBody>
      </p:sp>
      <p:sp>
        <p:nvSpPr>
          <p:cNvPr id="15" name="Shape 12"/>
          <p:cNvSpPr/>
          <p:nvPr/>
        </p:nvSpPr>
        <p:spPr>
          <a:xfrm>
            <a:off x="6035040" y="358444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603504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565392" y="3547872"/>
            <a:ext cx="504748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Su punto débil. </a:t>
            </a:r>
            <a:pPr indent="0" marL="0">
              <a:lnSpc>
                <a:spcPct val="106000"/>
              </a:lnSpc>
              <a:buNone/>
            </a:pPr>
            <a:r>
              <a:rPr lang="en-US" sz="1150" dirty="0">
                <a:solidFill>
                  <a:schemeClr val="accent4"/>
                </a:solidFill>
              </a:rPr>
              <a:t>el sello mecánico que separa el refrigerante del rodamiento; cuando falla, el refrigerante llega al rodamiento y lo destruye</a:t>
            </a:r>
            <a:endParaRPr lang="en-US" sz="1150" dirty="0"/>
          </a:p>
        </p:txBody>
      </p:sp>
      <p:sp>
        <p:nvSpPr>
          <p:cNvPr id="18" name="Shape 15"/>
          <p:cNvSpPr/>
          <p:nvPr/>
        </p:nvSpPr>
        <p:spPr>
          <a:xfrm>
            <a:off x="548640" y="429768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52628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3891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bomba lleva un orificio de drenaje entre el sello y el rodamiento, previsto para que una fuga incipiente salga al exterior y se vea, en lugar de entrar al rodamiento. Un goteo por ese orificio es el aviso de que el sello está fallando.</a:t>
            </a:r>
            <a:endParaRPr lang="en-US" sz="1450" dirty="0"/>
          </a:p>
        </p:txBody>
      </p:sp>
      <p:sp>
        <p:nvSpPr>
          <p:cNvPr id="22" name="Shape 19"/>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Síntomas de bomba averiada. </a:t>
            </a:r>
            <a:pPr indent="0" marL="0">
              <a:lnSpc>
                <a:spcPct val="106000"/>
              </a:lnSpc>
              <a:buNone/>
            </a:pPr>
            <a:r>
              <a:rPr lang="en-US" sz="1150" dirty="0">
                <a:solidFill>
                  <a:schemeClr val="accent4"/>
                </a:solidFill>
              </a:rPr>
              <a:t>goteo por el orificio de drenaje, ruido o juego en el rodamiento, y recalentamiento por caudal insuficiente si el rodete está erosionado</a:t>
            </a:r>
            <a:endParaRPr lang="en-US" sz="1150" dirty="0"/>
          </a:p>
        </p:txBody>
      </p:sp>
      <p:sp>
        <p:nvSpPr>
          <p:cNvPr id="25" name="Shape 22"/>
          <p:cNvSpPr/>
          <p:nvPr/>
        </p:nvSpPr>
        <p:spPr>
          <a:xfrm>
            <a:off x="548640" y="561441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614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5778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erosiona un rodete. </a:t>
            </a:r>
            <a:pPr indent="0" marL="0">
              <a:lnSpc>
                <a:spcPct val="106000"/>
              </a:lnSpc>
              <a:buNone/>
            </a:pPr>
            <a:r>
              <a:rPr lang="en-US" sz="1150" dirty="0">
                <a:solidFill>
                  <a:schemeClr val="accent4"/>
                </a:solidFill>
              </a:rPr>
              <a:t>por cavitación y por corrosión cuando se ha usado agua sola o un refrigerante agotado; un rodete comido no mueve caudal aunque gire</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bomba de agua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radiador: el intercambiador del sistema</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radiador_foto.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32. </a:t>
            </a:r>
            <a:pPr indent="0" marL="0">
              <a:lnSpc>
                <a:spcPct val="102000"/>
              </a:lnSpc>
              <a:buNone/>
            </a:pPr>
            <a:r>
              <a:rPr lang="en-US" sz="1000" dirty="0">
                <a:solidFill>
                  <a:schemeClr val="accent4"/>
                </a:solidFill>
              </a:rPr>
              <a:t>Radiador con depósitos superior e inferior y núcleo central. Adaptado de Minga González, M. A. (s. f.). El sistema de refrigeración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r_radiador2.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33. </a:t>
            </a:r>
            <a:pPr indent="0" marL="0">
              <a:lnSpc>
                <a:spcPct val="102000"/>
              </a:lnSpc>
              <a:buNone/>
            </a:pPr>
            <a:r>
              <a:rPr lang="en-US" sz="1000" dirty="0">
                <a:solidFill>
                  <a:schemeClr val="accent4"/>
                </a:solidFill>
              </a:rPr>
              <a:t>Núcleo de láminas: alternancia de conductos de agua y pasos de aire. Adaptado de Minga González, M. A. (s. f.). El sistema de refrigeración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r_radiador3.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34. </a:t>
            </a:r>
            <a:pPr indent="0" marL="0">
              <a:lnSpc>
                <a:spcPct val="102000"/>
              </a:lnSpc>
              <a:buNone/>
            </a:pPr>
            <a:r>
              <a:rPr lang="en-US" sz="1000" dirty="0">
                <a:solidFill>
                  <a:schemeClr val="accent4"/>
                </a:solidFill>
              </a:rPr>
              <a:t>Distintos tipos de núcleo y su disposición de aletas. Adaptado de Minga González, M. A. (s. f.). El sistema de refrigeración [diapositivas]. ISTS.</a:t>
            </a:r>
            <a:endParaRPr lang="en-US" sz="1000" dirty="0"/>
          </a:p>
        </p:txBody>
      </p:sp>
      <p:sp>
        <p:nvSpPr>
          <p:cNvPr id="12" name="Shape 7"/>
          <p:cNvSpPr/>
          <p:nvPr/>
        </p:nvSpPr>
        <p:spPr>
          <a:xfrm>
            <a:off x="548640" y="419709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1605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está hecho. </a:t>
            </a:r>
            <a:pPr indent="0" marL="0">
              <a:lnSpc>
                <a:spcPct val="106000"/>
              </a:lnSpc>
              <a:buNone/>
            </a:pPr>
            <a:r>
              <a:rPr lang="en-US" sz="1150" dirty="0">
                <a:solidFill>
                  <a:schemeClr val="accent4"/>
                </a:solidFill>
              </a:rPr>
              <a:t>dos depósitos, superior e inferior o laterales, unidos por un núcleo de tubos finos rodeados de aletas</a:t>
            </a:r>
            <a:endParaRPr lang="en-US" sz="1150" dirty="0"/>
          </a:p>
        </p:txBody>
      </p:sp>
      <p:sp>
        <p:nvSpPr>
          <p:cNvPr id="15" name="Shape 10"/>
          <p:cNvSpPr/>
          <p:nvPr/>
        </p:nvSpPr>
        <p:spPr>
          <a:xfrm>
            <a:off x="548640" y="4562856"/>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5262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tubos finos y aletas. </a:t>
            </a:r>
            <a:pPr indent="0" marL="0">
              <a:lnSpc>
                <a:spcPct val="106000"/>
              </a:lnSpc>
              <a:buNone/>
            </a:pPr>
            <a:r>
              <a:rPr lang="en-US" sz="1150" dirty="0">
                <a:solidFill>
                  <a:schemeClr val="accent4"/>
                </a:solidFill>
              </a:rPr>
              <a:t>para maximizar la superficie de contacto entre el refrigerante y el aire en el menor volumen posible; es el mismo principio de las aletas del motor por aire</a:t>
            </a:r>
            <a:endParaRPr lang="en-US" sz="1150" dirty="0"/>
          </a:p>
        </p:txBody>
      </p:sp>
      <p:sp>
        <p:nvSpPr>
          <p:cNvPr id="18" name="Shape 13"/>
          <p:cNvSpPr/>
          <p:nvPr/>
        </p:nvSpPr>
        <p:spPr>
          <a:xfrm>
            <a:off x="548640" y="4928616"/>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8920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dónde entra y sale. </a:t>
            </a:r>
            <a:pPr indent="0" marL="0">
              <a:lnSpc>
                <a:spcPct val="106000"/>
              </a:lnSpc>
              <a:buNone/>
            </a:pPr>
            <a:r>
              <a:rPr lang="en-US" sz="1150" dirty="0">
                <a:solidFill>
                  <a:schemeClr val="accent4"/>
                </a:solidFill>
              </a:rPr>
              <a:t>el refrigerante caliente entra por arriba y sale frío por abajo; el aire lo atraviesa en sentido perpendicular</a:t>
            </a:r>
            <a:endParaRPr lang="en-US" sz="1150" dirty="0"/>
          </a:p>
        </p:txBody>
      </p:sp>
      <p:sp>
        <p:nvSpPr>
          <p:cNvPr id="21" name="Shape 16"/>
          <p:cNvSpPr/>
          <p:nvPr/>
        </p:nvSpPr>
        <p:spPr>
          <a:xfrm>
            <a:off x="548640" y="5294376"/>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294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2578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 qué está hecho. </a:t>
            </a:r>
            <a:pPr indent="0" marL="0">
              <a:lnSpc>
                <a:spcPct val="106000"/>
              </a:lnSpc>
              <a:buNone/>
            </a:pPr>
            <a:r>
              <a:rPr lang="en-US" sz="1150" dirty="0">
                <a:solidFill>
                  <a:schemeClr val="accent4"/>
                </a:solidFill>
              </a:rPr>
              <a:t>tradicionalmente de cobre y latón; hoy, mayoritariamente de aluminio con depósitos de plástico, más ligero y barato</a:t>
            </a:r>
            <a:endParaRPr lang="en-US" sz="1150" dirty="0"/>
          </a:p>
        </p:txBody>
      </p:sp>
      <p:sp>
        <p:nvSpPr>
          <p:cNvPr id="24" name="Shape 19"/>
          <p:cNvSpPr/>
          <p:nvPr/>
        </p:nvSpPr>
        <p:spPr>
          <a:xfrm>
            <a:off x="548640" y="5614416"/>
            <a:ext cx="11064240" cy="384048"/>
          </a:xfrm>
          <a:prstGeom prst="roundRect">
            <a:avLst>
              <a:gd name="adj" fmla="val 14286"/>
            </a:avLst>
          </a:prstGeom>
          <a:solidFill>
            <a:schemeClr val="bg2"/>
          </a:solidFill>
          <a:ln w="12700">
            <a:solidFill>
              <a:schemeClr val="bg2"/>
            </a:solidFill>
            <a:prstDash val="solid"/>
          </a:ln>
        </p:spPr>
        <p:txBody>
          <a:bodyPr/>
          <a:p/>
        </p:txBody>
      </p:sp>
      <p:sp>
        <p:nvSpPr>
          <p:cNvPr id="25" name="Shape 20"/>
          <p:cNvSpPr/>
          <p:nvPr/>
        </p:nvSpPr>
        <p:spPr>
          <a:xfrm>
            <a:off x="786384" y="5623560"/>
            <a:ext cx="365760" cy="365760"/>
          </a:xfrm>
          <a:prstGeom prst="ellipse">
            <a:avLst/>
          </a:prstGeom>
          <a:solidFill>
            <a:schemeClr val="accent1"/>
          </a:solidFill>
          <a:ln w="12700">
            <a:solidFill>
              <a:schemeClr val="accent1"/>
            </a:solidFill>
            <a:prstDash val="solid"/>
          </a:ln>
        </p:spPr>
        <p:txBody>
          <a:bodyPr/>
          <a:p/>
        </p:txBody>
      </p:sp>
      <p:sp>
        <p:nvSpPr>
          <p:cNvPr id="26" name="Text 21"/>
          <p:cNvSpPr txBox="1"/>
          <p:nvPr/>
        </p:nvSpPr>
        <p:spPr>
          <a:xfrm>
            <a:off x="786384" y="5623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2"/>
          <p:cNvSpPr txBox="1"/>
          <p:nvPr/>
        </p:nvSpPr>
        <p:spPr>
          <a:xfrm>
            <a:off x="1298448" y="5705856"/>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Un radiador puede obstruirse por dentro, con sedimentos, o por fuera, con barro, hojas e insectos. La segunda es más frecuente de lo que parece y se resuelve con una limpieza cuidadosa a baja presión, sin doblar las aletas.</a:t>
            </a:r>
            <a:endParaRPr lang="en-US" sz="1100" dirty="0"/>
          </a:p>
        </p:txBody>
      </p:sp>
      <p:sp>
        <p:nvSpPr>
          <p:cNvPr id="28"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el radiador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tapa del radiador: por qué el circuito va presurizado</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tapa.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35. </a:t>
            </a:r>
            <a:pPr indent="0" marL="0">
              <a:lnSpc>
                <a:spcPct val="102000"/>
              </a:lnSpc>
              <a:buNone/>
            </a:pPr>
            <a:r>
              <a:rPr lang="en-US" sz="1000" dirty="0">
                <a:solidFill>
                  <a:schemeClr val="accent4"/>
                </a:solidFill>
              </a:rPr>
              <a:t>Tapa del radiador con sus dos válvulas: de presión y de vacío. Adaptado de Minga González, M. A. (s. f.). El sistema de refrigeración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presuriza. </a:t>
            </a:r>
            <a:pPr indent="0" marL="0">
              <a:lnSpc>
                <a:spcPct val="106000"/>
              </a:lnSpc>
              <a:buNone/>
            </a:pPr>
            <a:r>
              <a:rPr lang="en-US" sz="1150" dirty="0">
                <a:solidFill>
                  <a:schemeClr val="accent4"/>
                </a:solidFill>
              </a:rPr>
              <a:t>porque al aumentar la presión sube la temperatura de ebullición del refrigerante, lo que da margen frente al punto de ebullición</a:t>
            </a:r>
            <a:endParaRPr lang="en-US" sz="1150" dirty="0"/>
          </a:p>
        </p:txBody>
      </p:sp>
      <p:sp>
        <p:nvSpPr>
          <p:cNvPr id="9" name="Shape 6"/>
          <p:cNvSpPr/>
          <p:nvPr/>
        </p:nvSpPr>
        <p:spPr>
          <a:xfrm>
            <a:off x="5852160" y="219456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157984"/>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válvula de presión. </a:t>
            </a:r>
            <a:pPr indent="0" marL="0">
              <a:lnSpc>
                <a:spcPct val="106000"/>
              </a:lnSpc>
              <a:buNone/>
            </a:pPr>
            <a:r>
              <a:rPr lang="en-US" sz="1150" dirty="0">
                <a:solidFill>
                  <a:schemeClr val="accent4"/>
                </a:solidFill>
              </a:rPr>
              <a:t>se abre cuando la presión supera el valor de tarado y deja pasar refrigerante al depósito de expansión</a:t>
            </a:r>
            <a:endParaRPr lang="en-US" sz="1150" dirty="0"/>
          </a:p>
        </p:txBody>
      </p:sp>
      <p:sp>
        <p:nvSpPr>
          <p:cNvPr id="12" name="Shape 9"/>
          <p:cNvSpPr/>
          <p:nvPr/>
        </p:nvSpPr>
        <p:spPr>
          <a:xfrm>
            <a:off x="5852160" y="288950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852928"/>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válvula de vacío. </a:t>
            </a:r>
            <a:pPr indent="0" marL="0">
              <a:lnSpc>
                <a:spcPct val="106000"/>
              </a:lnSpc>
              <a:buNone/>
            </a:pPr>
            <a:r>
              <a:rPr lang="en-US" sz="1150" dirty="0">
                <a:solidFill>
                  <a:schemeClr val="accent4"/>
                </a:solidFill>
              </a:rPr>
              <a:t>al enfriarse, el refrigerante se contrae y crea depresión; esta válvula deja volver el líquido desde el depósito</a:t>
            </a:r>
            <a:endParaRPr lang="en-US" sz="1150" dirty="0"/>
          </a:p>
        </p:txBody>
      </p:sp>
      <p:sp>
        <p:nvSpPr>
          <p:cNvPr id="15" name="Shape 12"/>
          <p:cNvSpPr/>
          <p:nvPr/>
        </p:nvSpPr>
        <p:spPr>
          <a:xfrm>
            <a:off x="5852160" y="358444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547872"/>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pasa si la tapa falla. </a:t>
            </a:r>
            <a:pPr indent="0" marL="0">
              <a:lnSpc>
                <a:spcPct val="106000"/>
              </a:lnSpc>
              <a:buNone/>
            </a:pPr>
            <a:r>
              <a:rPr lang="en-US" sz="1150" dirty="0">
                <a:solidFill>
                  <a:schemeClr val="accent4"/>
                </a:solidFill>
              </a:rPr>
              <a:t>si no mantiene presión, el refrigerante hierve antes de lo previsto y el motor se recalienta aunque todo lo demás esté bien</a:t>
            </a:r>
            <a:endParaRPr lang="en-US" sz="1150" dirty="0"/>
          </a:p>
        </p:txBody>
      </p:sp>
      <p:sp>
        <p:nvSpPr>
          <p:cNvPr id="18" name="Shape 15"/>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Nunca se abre la tapa de un circuito caliente. Con el circuito presurizado, el refrigerante está por encima de su temperatura de ebullición a presión atmosférica: al abrir, hierve de golpe y sale proyectado. Es una de las quemaduras más graves del taller.</a:t>
            </a:r>
            <a:endParaRPr lang="en-US" sz="1450" dirty="0"/>
          </a:p>
        </p:txBody>
      </p:sp>
      <p:sp>
        <p:nvSpPr>
          <p:cNvPr id="22" name="Shape 19"/>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depósito de expansión. </a:t>
            </a:r>
            <a:pPr indent="0" marL="0">
              <a:lnSpc>
                <a:spcPct val="106000"/>
              </a:lnSpc>
              <a:buNone/>
            </a:pPr>
            <a:r>
              <a:rPr lang="en-US" sz="1150" dirty="0">
                <a:solidFill>
                  <a:schemeClr val="accent4"/>
                </a:solidFill>
              </a:rPr>
              <a:t>absorbe la dilatación del refrigerante al calentarse y lo devuelve al enfriarse; su nivel se comprueba en frío, entre las marcas</a:t>
            </a:r>
            <a:endParaRPr lang="en-US" sz="1150" dirty="0"/>
          </a:p>
        </p:txBody>
      </p:sp>
      <p:sp>
        <p:nvSpPr>
          <p:cNvPr id="25" name="Shape 22"/>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la tapa. </a:t>
            </a:r>
            <a:pPr indent="0" marL="0">
              <a:lnSpc>
                <a:spcPct val="106000"/>
              </a:lnSpc>
              <a:buNone/>
            </a:pPr>
            <a:r>
              <a:rPr lang="en-US" sz="1150" dirty="0">
                <a:solidFill>
                  <a:schemeClr val="accent4"/>
                </a:solidFill>
              </a:rPr>
              <a:t>con el comprobador de presión específico, verificando que mantiene su valor de tarado y que ambas válvulas actúan</a:t>
            </a:r>
            <a:endParaRPr lang="en-US" sz="1150" dirty="0"/>
          </a:p>
        </p:txBody>
      </p:sp>
      <p:sp>
        <p:nvSpPr>
          <p:cNvPr id="28" name="Shape 25"/>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29" name="Text 26"/>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7"/>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sustituye una tapa barata. </a:t>
            </a:r>
            <a:pPr indent="0" marL="0">
              <a:lnSpc>
                <a:spcPct val="106000"/>
              </a:lnSpc>
              <a:buNone/>
            </a:pPr>
            <a:r>
              <a:rPr lang="en-US" sz="1150" dirty="0">
                <a:solidFill>
                  <a:schemeClr val="accent4"/>
                </a:solidFill>
              </a:rPr>
              <a:t>porque una tapa que no tara produce recalentamientos intermitentes imposibles de atribuir, y cuesta una fracción de cualquier otra reparación</a:t>
            </a:r>
            <a:endParaRPr lang="en-US" sz="1150" dirty="0"/>
          </a:p>
        </p:txBody>
      </p:sp>
      <p:sp>
        <p:nvSpPr>
          <p:cNvPr id="31" name="Text 2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refrigeración · componente de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Depósito de expansión, nivel y purga</a:t>
            </a:r>
            <a:endParaRPr lang="en-US" sz="3200" dirty="0"/>
          </a:p>
        </p:txBody>
      </p:sp>
      <p:sp>
        <p:nvSpPr>
          <p:cNvPr id="3" name="marco_figura"/>
          <p:cNvSpPr/>
          <p:nvPr/>
        </p:nvSpPr>
        <p:spPr>
          <a:xfrm>
            <a:off x="548640" y="1371600"/>
            <a:ext cx="438912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deposito.jpg">    </p:cNvPr>
          <p:cNvPicPr>
            <a:picLocks noChangeAspect="1"/>
          </p:cNvPicPr>
          <p:nvPr/>
        </p:nvPicPr>
        <p:blipFill>
          <a:blip r:embed="rId1"/>
          <a:srcRect l="0" r="0" t="0" b="0"/>
          <a:stretch/>
        </p:blipFill>
        <p:spPr>
          <a:xfrm>
            <a:off x="658368" y="1481328"/>
            <a:ext cx="4169664" cy="2340864"/>
          </a:xfrm>
          <a:prstGeom prst="rect">
            <a:avLst/>
          </a:prstGeom>
        </p:spPr>
      </p:pic>
      <p:sp>
        <p:nvSpPr>
          <p:cNvPr id="5" name="Text 2"/>
          <p:cNvSpPr txBox="1"/>
          <p:nvPr/>
        </p:nvSpPr>
        <p:spPr>
          <a:xfrm>
            <a:off x="658368" y="3931920"/>
            <a:ext cx="41696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36. </a:t>
            </a:r>
            <a:pPr indent="0" marL="0">
              <a:lnSpc>
                <a:spcPct val="102000"/>
              </a:lnSpc>
              <a:buNone/>
            </a:pPr>
            <a:r>
              <a:rPr lang="en-US" sz="1000" dirty="0">
                <a:solidFill>
                  <a:schemeClr val="accent4"/>
                </a:solidFill>
              </a:rPr>
              <a:t>Depósito de expansión translúcido con sus marcas de nivel. Adaptado de Minga González, M. A. (s. f.). El sistema de refrigeración [diapositivas]. ISTS.</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303520" y="1371600"/>
          <a:ext cx="6309360" cy="914400"/>
        </p:xfrm>
        <a:graphic>
          <a:graphicData uri="http://schemas.openxmlformats.org/drawingml/2006/table">
            <a:tbl>
              <a:tblPr/>
              <a:tblGrid>
                <a:gridCol w="3108960"/>
                <a:gridCol w="3200400"/>
              </a:tblGrid>
              <a:tr h="420624">
                <a:tc>
                  <a:txBody>
                    <a:bodyPr/>
                    <a:lstStyle/>
                    <a:p>
                      <a:pPr indent="0" marL="0">
                        <a:buNone/>
                      </a:pPr>
                      <a:r>
                        <a:rPr lang="en-US" sz="1300" b="1" dirty="0">
                          <a:solidFill>
                            <a:srgbClr val="FFFFFF"/>
                          </a:solidFill>
                        </a:rPr>
                        <a:t>Observación en el depósito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indica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100" b="1" dirty="0">
                          <a:solidFill>
                            <a:schemeClr val="tx1"/>
                          </a:solidFill>
                        </a:rPr>
                        <a:t>Nivel que baja lentamente sin fuga visible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Fuga interna: empaque de culata, fisura o intercambiador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Burbujas constantes con el motor en marcha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Gases de combustión pasando al circuito: empaque o fisura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Refrigerante con aspecto aceitoso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Mezcla con aceite: empaque o enfriador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Refrigerante oxidado o con partículas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 usó agua sola o el refrigerante perdió sus inhibidores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36626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depósito de expansión es la ventana del circuito: es translúcido precisamente para poder ver el refrigerante sin abrir nada. Mirarlo antes de cualquier otra cosa es gratis y descarta o confirma varias hipótesis a la vez.</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el nivel. </a:t>
            </a:r>
            <a:pPr indent="0" marL="0">
              <a:lnSpc>
                <a:spcPct val="106000"/>
              </a:lnSpc>
              <a:buNone/>
            </a:pPr>
            <a:r>
              <a:rPr lang="en-US" sz="1150" dirty="0">
                <a:solidFill>
                  <a:schemeClr val="accent4"/>
                </a:solidFill>
              </a:rPr>
              <a:t>con el motor frío y el vehículo en plano, entre las marcas de mínimo y máximo del depósito; nunca abriendo la tapa en caliente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hay que purgar al llenar. </a:t>
            </a:r>
            <a:pPr indent="0" marL="0">
              <a:lnSpc>
                <a:spcPct val="106000"/>
              </a:lnSpc>
              <a:buNone/>
            </a:pPr>
            <a:r>
              <a:rPr lang="en-US" sz="1150" dirty="0">
                <a:solidFill>
                  <a:schemeClr val="accent4"/>
                </a:solidFill>
              </a:rPr>
              <a:t>el aire atrapado en el circuito forma bolsas que impiden la circulación y producen recalentamiento, sobre todo en la culata, que es el punto alto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purga. </a:t>
            </a:r>
            <a:pPr indent="0" marL="0">
              <a:lnSpc>
                <a:spcPct val="106000"/>
              </a:lnSpc>
              <a:buNone/>
            </a:pPr>
            <a:r>
              <a:rPr lang="en-US" sz="1150" dirty="0">
                <a:solidFill>
                  <a:schemeClr val="accent4"/>
                </a:solidFill>
              </a:rPr>
              <a:t>por los tornillos de purga, si los hay, o haciendo funcionar el motor con el depósito abierto hasta que el termostato abra y dejen de salir burbujas</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de refrigeración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ventilador y sus formas de mando</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ventilador.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37. </a:t>
            </a:r>
            <a:pPr indent="0" marL="0">
              <a:lnSpc>
                <a:spcPct val="102000"/>
              </a:lnSpc>
              <a:buNone/>
            </a:pPr>
            <a:r>
              <a:rPr lang="en-US" sz="1000" dirty="0">
                <a:solidFill>
                  <a:schemeClr val="accent4"/>
                </a:solidFill>
              </a:rPr>
              <a:t>Ventilador acoplado al motor. Adaptado de Minga González, M. A. (s. f.). El sistema de refrigeración [diapositivas]. ISTS.</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r_embrague_viscoso.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38. </a:t>
            </a:r>
            <a:pPr indent="0" marL="0">
              <a:lnSpc>
                <a:spcPct val="102000"/>
              </a:lnSpc>
              <a:buNone/>
            </a:pPr>
            <a:r>
              <a:rPr lang="en-US" sz="1000" dirty="0">
                <a:solidFill>
                  <a:schemeClr val="accent4"/>
                </a:solidFill>
              </a:rPr>
              <a:t>Embrague viscoso: acopla el ventilador según la temperatura del aire. Adaptado de Minga González, M. A. (s. f.). El sistema de refrigeración [diapositivas]. ISTS.</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r_electroventiladores.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39. </a:t>
            </a:r>
            <a:pPr indent="0" marL="0">
              <a:lnSpc>
                <a:spcPct val="102000"/>
              </a:lnSpc>
              <a:buNone/>
            </a:pPr>
            <a:r>
              <a:rPr lang="en-US" sz="1000" dirty="0">
                <a:solidFill>
                  <a:schemeClr val="accent4"/>
                </a:solidFill>
              </a:rPr>
              <a:t>Electroventiladores montados sobre el radiador. Adaptado de Minga González, M. A. (s. f.). El sistema de refrigeración [diapositivas]. ISTS.</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2651760"/>
                <a:gridCol w="4114800"/>
                <a:gridCol w="4297680"/>
              </a:tblGrid>
              <a:tr h="402336">
                <a:tc>
                  <a:txBody>
                    <a:bodyPr/>
                    <a:lstStyle/>
                    <a:p>
                      <a:pPr indent="0" marL="0">
                        <a:buNone/>
                      </a:pPr>
                      <a:r>
                        <a:rPr lang="en-US" sz="1300" b="1" dirty="0">
                          <a:solidFill>
                            <a:srgbClr val="FFFFFF"/>
                          </a:solidFill>
                        </a:rPr>
                        <a:t>Tipo de mando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funciona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Inconveniente o avería típica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Acoplado al motor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Gira siempre que gira el motor, movido por correa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Consume potencia y mueve aire aunque no haga falta; ruidoso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Embrague viscoso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Un fluido acopla el ventilador cuando el aire que llega del radiador está caliente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El fluido se degrada y el embrague deja de acoplar: recalentamiento en carga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Electroventilador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Un motor eléctrico lo acciona cuando el termocontacto detecta la temperatura de consigna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Falla el termocontacto, el relé o el propio motor: recalentamiento solo en ciudad</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síntoma que delata un ventilador que no entra es muy característico: el motor se recalienta en ciudad y en atascos, y se enfría al circular por carretera. Si ocurre lo contrario, el problema no está en el ventilador.</a:t>
            </a:r>
            <a:endParaRPr lang="en-US" sz="115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de refrigeración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termostato: el regulador del sistema</a:t>
            </a:r>
            <a:endParaRPr lang="en-US" sz="3200" dirty="0"/>
          </a:p>
        </p:txBody>
      </p:sp>
      <p:sp>
        <p:nvSpPr>
          <p:cNvPr id="3" name="marco_figura"/>
          <p:cNvSpPr/>
          <p:nvPr/>
        </p:nvSpPr>
        <p:spPr>
          <a:xfrm>
            <a:off x="548640" y="1371600"/>
            <a:ext cx="420624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termostato2.jpg">    </p:cNvPr>
          <p:cNvPicPr>
            <a:picLocks noChangeAspect="1"/>
          </p:cNvPicPr>
          <p:nvPr/>
        </p:nvPicPr>
        <p:blipFill>
          <a:blip r:embed="rId1"/>
          <a:srcRect l="0" r="0" t="0" b="0"/>
          <a:stretch/>
        </p:blipFill>
        <p:spPr>
          <a:xfrm>
            <a:off x="658368" y="1481328"/>
            <a:ext cx="3986784" cy="2340864"/>
          </a:xfrm>
          <a:prstGeom prst="rect">
            <a:avLst/>
          </a:prstGeom>
        </p:spPr>
      </p:pic>
      <p:sp>
        <p:nvSpPr>
          <p:cNvPr id="5" name="Text 2"/>
          <p:cNvSpPr txBox="1"/>
          <p:nvPr/>
        </p:nvSpPr>
        <p:spPr>
          <a:xfrm>
            <a:off x="658368" y="393192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40. </a:t>
            </a:r>
            <a:pPr indent="0" marL="0">
              <a:lnSpc>
                <a:spcPct val="102000"/>
              </a:lnSpc>
              <a:buNone/>
            </a:pPr>
            <a:r>
              <a:rPr lang="en-US" sz="1000" dirty="0">
                <a:solidFill>
                  <a:schemeClr val="accent4"/>
                </a:solidFill>
              </a:rPr>
              <a:t>Termostato de cera: al calentarse, la cera se dilata y desplaza el vástago, abriendo la válvula. Adaptado de Minga González, M. A. (s. f.). El sistema de refrigeración [diapositivas]. ISTS.</a:t>
            </a:r>
            <a:endParaRPr lang="en-US" sz="1000" dirty="0"/>
          </a:p>
        </p:txBody>
      </p:sp>
      <p:sp>
        <p:nvSpPr>
          <p:cNvPr id="6" name="marco_figura"/>
          <p:cNvSpPr/>
          <p:nvPr/>
        </p:nvSpPr>
        <p:spPr>
          <a:xfrm>
            <a:off x="5120640" y="1371600"/>
            <a:ext cx="3931920" cy="2944368"/>
          </a:xfrm>
          <a:prstGeom prst="roundRect">
            <a:avLst>
              <a:gd name="adj" fmla="val 186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r_termostato3.jpg">    </p:cNvPr>
          <p:cNvPicPr>
            <a:picLocks noChangeAspect="1"/>
          </p:cNvPicPr>
          <p:nvPr/>
        </p:nvPicPr>
        <p:blipFill>
          <a:blip r:embed="rId2"/>
          <a:srcRect l="0" r="0" t="0" b="0"/>
          <a:stretch/>
        </p:blipFill>
        <p:spPr>
          <a:xfrm>
            <a:off x="5230368" y="1481328"/>
            <a:ext cx="3712464" cy="2340864"/>
          </a:xfrm>
          <a:prstGeom prst="rect">
            <a:avLst/>
          </a:prstGeom>
        </p:spPr>
      </p:pic>
      <p:sp>
        <p:nvSpPr>
          <p:cNvPr id="8" name="Text 4"/>
          <p:cNvSpPr txBox="1"/>
          <p:nvPr/>
        </p:nvSpPr>
        <p:spPr>
          <a:xfrm>
            <a:off x="5230368" y="393192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41. </a:t>
            </a:r>
            <a:pPr indent="0" marL="0">
              <a:lnSpc>
                <a:spcPct val="102000"/>
              </a:lnSpc>
              <a:buNone/>
            </a:pPr>
            <a:r>
              <a:rPr lang="en-US" sz="1000" dirty="0">
                <a:solidFill>
                  <a:schemeClr val="accent4"/>
                </a:solidFill>
              </a:rPr>
              <a:t>Termostato de doble válvula: cierra el circuito corto al abrir el paso al radiador. Adaptado de Minga González, M. A. (s. f.). El sistema de refrigeración [diapositivas]. ISTS.</a:t>
            </a:r>
            <a:endParaRPr lang="en-US" sz="1000" dirty="0"/>
          </a:p>
        </p:txBody>
      </p:sp>
      <p:sp>
        <p:nvSpPr>
          <p:cNvPr id="9" name="Shape 5"/>
          <p:cNvSpPr/>
          <p:nvPr/>
        </p:nvSpPr>
        <p:spPr>
          <a:xfrm>
            <a:off x="9418320" y="1499616"/>
            <a:ext cx="384048" cy="384048"/>
          </a:xfrm>
          <a:prstGeom prst="ellipse">
            <a:avLst/>
          </a:prstGeom>
          <a:solidFill>
            <a:schemeClr val="accent2"/>
          </a:solidFill>
          <a:ln w="12700">
            <a:solidFill>
              <a:schemeClr val="accent2"/>
            </a:solidFill>
            <a:prstDash val="solid"/>
          </a:ln>
        </p:spPr>
        <p:txBody>
          <a:bodyPr/>
          <a:p/>
        </p:txBody>
      </p:sp>
      <p:sp>
        <p:nvSpPr>
          <p:cNvPr id="10" name="Text 6"/>
          <p:cNvSpPr txBox="1"/>
          <p:nvPr/>
        </p:nvSpPr>
        <p:spPr>
          <a:xfrm>
            <a:off x="94183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948672" y="1463040"/>
            <a:ext cx="1664208" cy="76809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Cómo funciona. </a:t>
            </a:r>
            <a:pPr indent="0" marL="0">
              <a:lnSpc>
                <a:spcPct val="106000"/>
              </a:lnSpc>
              <a:buNone/>
            </a:pPr>
            <a:r>
              <a:rPr lang="en-US" sz="1000" dirty="0">
                <a:solidFill>
                  <a:schemeClr val="accent4"/>
                </a:solidFill>
              </a:rPr>
              <a:t>una cápsula de cera se dilata al calentarse y empuja un vástago que abre la válvula; al enfriarse, un muelle la cierra</a:t>
            </a:r>
            <a:endParaRPr lang="en-US" sz="1000" dirty="0"/>
          </a:p>
        </p:txBody>
      </p:sp>
      <p:sp>
        <p:nvSpPr>
          <p:cNvPr id="12" name="Shape 8"/>
          <p:cNvSpPr/>
          <p:nvPr/>
        </p:nvSpPr>
        <p:spPr>
          <a:xfrm>
            <a:off x="9418320" y="2322576"/>
            <a:ext cx="384048" cy="384048"/>
          </a:xfrm>
          <a:prstGeom prst="ellipse">
            <a:avLst/>
          </a:prstGeom>
          <a:solidFill>
            <a:schemeClr val="accent2"/>
          </a:solidFill>
          <a:ln w="12700">
            <a:solidFill>
              <a:schemeClr val="accent2"/>
            </a:solidFill>
            <a:prstDash val="solid"/>
          </a:ln>
        </p:spPr>
        <p:txBody>
          <a:bodyPr/>
          <a:p/>
        </p:txBody>
      </p:sp>
      <p:sp>
        <p:nvSpPr>
          <p:cNvPr id="13" name="Text 9"/>
          <p:cNvSpPr txBox="1"/>
          <p:nvPr/>
        </p:nvSpPr>
        <p:spPr>
          <a:xfrm>
            <a:off x="9418320"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0"/>
          <p:cNvSpPr txBox="1"/>
          <p:nvPr/>
        </p:nvSpPr>
        <p:spPr>
          <a:xfrm>
            <a:off x="9948672" y="2286000"/>
            <a:ext cx="1664208" cy="76809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Qué hace cerrado. </a:t>
            </a:r>
            <a:pPr indent="0" marL="0">
              <a:lnSpc>
                <a:spcPct val="106000"/>
              </a:lnSpc>
              <a:buNone/>
            </a:pPr>
            <a:r>
              <a:rPr lang="en-US" sz="1000" dirty="0">
                <a:solidFill>
                  <a:schemeClr val="accent4"/>
                </a:solidFill>
              </a:rPr>
              <a:t>desvía el refrigerante por el circuito corto, sin pasar por el radiador, para que el motor caliente deprisa</a:t>
            </a:r>
            <a:endParaRPr lang="en-US" sz="1000" dirty="0"/>
          </a:p>
        </p:txBody>
      </p:sp>
      <p:sp>
        <p:nvSpPr>
          <p:cNvPr id="15" name="Shape 11"/>
          <p:cNvSpPr/>
          <p:nvPr/>
        </p:nvSpPr>
        <p:spPr>
          <a:xfrm>
            <a:off x="9418320" y="3145536"/>
            <a:ext cx="384048" cy="384048"/>
          </a:xfrm>
          <a:prstGeom prst="ellipse">
            <a:avLst/>
          </a:prstGeom>
          <a:solidFill>
            <a:schemeClr val="accent2"/>
          </a:solidFill>
          <a:ln w="12700">
            <a:solidFill>
              <a:schemeClr val="accent2"/>
            </a:solidFill>
            <a:prstDash val="solid"/>
          </a:ln>
        </p:spPr>
        <p:txBody>
          <a:bodyPr/>
          <a:p/>
        </p:txBody>
      </p:sp>
      <p:sp>
        <p:nvSpPr>
          <p:cNvPr id="16" name="Text 12"/>
          <p:cNvSpPr txBox="1"/>
          <p:nvPr/>
        </p:nvSpPr>
        <p:spPr>
          <a:xfrm>
            <a:off x="941832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3"/>
          <p:cNvSpPr txBox="1"/>
          <p:nvPr/>
        </p:nvSpPr>
        <p:spPr>
          <a:xfrm>
            <a:off x="9948672" y="3108960"/>
            <a:ext cx="1664208" cy="768096"/>
          </a:xfrm>
          <a:prstGeom prst="rect">
            <a:avLst/>
          </a:prstGeom>
          <a:noFill/>
          <a:ln/>
        </p:spPr>
        <p:txBody>
          <a:bodyPr wrap="square" lIns="0" tIns="0" rIns="0" bIns="0" rtlCol="0" anchor="ctr"/>
          <a:lstStyle/>
          <a:p>
            <a:pPr indent="0" marL="0">
              <a:lnSpc>
                <a:spcPct val="106000"/>
              </a:lnSpc>
              <a:buNone/>
            </a:pPr>
            <a:r>
              <a:rPr lang="en-US" sz="1000" b="1" dirty="0">
                <a:solidFill>
                  <a:schemeClr val="tx1"/>
                </a:solidFill>
              </a:rPr>
              <a:t>Qué hace abierto. </a:t>
            </a:r>
            <a:pPr indent="0" marL="0">
              <a:lnSpc>
                <a:spcPct val="106000"/>
              </a:lnSpc>
              <a:buNone/>
            </a:pPr>
            <a:r>
              <a:rPr lang="en-US" sz="1000" dirty="0">
                <a:solidFill>
                  <a:schemeClr val="accent4"/>
                </a:solidFill>
              </a:rPr>
              <a:t>deja pasar al radiador; en los de doble válvula, cierra a la vez el circuito corto para que todo el caudal vaya al radiador</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2926080"/>
                <a:gridCol w="4023360"/>
                <a:gridCol w="4114800"/>
              </a:tblGrid>
              <a:tr h="402336">
                <a:tc>
                  <a:txBody>
                    <a:bodyPr/>
                    <a:lstStyle/>
                    <a:p>
                      <a:pPr indent="0" marL="0">
                        <a:buNone/>
                      </a:pPr>
                      <a:r>
                        <a:rPr lang="en-US" sz="1300" b="1" dirty="0">
                          <a:solidFill>
                            <a:srgbClr val="FFFFFF"/>
                          </a:solidFill>
                        </a:rPr>
                        <a:t>Modo de fallo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Bloqueado cerrado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Recalentamiento rápido; manguera superior fría con el motor caliente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Tocar la manguera superior: debe calentarse al abrir el termostato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Bloqueado abierto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El motor tarda mucho en calentar; la calefacción no calienta; consumo alto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Observar el tiempo hasta temperatura de trabajo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Tarado incorrecto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Temperatura de trabajo por debajo o por encima de lo previsto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Prueba en recipiente con agua caliente y termómetro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9" name="Shape 14"/>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0" name="Shape 15"/>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1" name="Text 16"/>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17"/>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termostato se comprueba en un recipiente con agua calentada y un termómetro: debe empezar a abrir a su temperatura de tarado y estar completamente abierto unos grados por encima. Es una prueba de taller sencilla y concluyente.</a:t>
            </a:r>
            <a:endParaRPr lang="en-US" sz="1150" dirty="0"/>
          </a:p>
        </p:txBody>
      </p:sp>
      <p:sp>
        <p:nvSpPr>
          <p:cNvPr id="23" name="Text 18"/>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refrigeración · diagnóstico del circuito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refrigerante: por qué no se usa agua sola</a:t>
            </a:r>
            <a:endParaRPr lang="en-US" sz="3200" dirty="0"/>
          </a:p>
        </p:txBody>
      </p:sp>
      <p:sp>
        <p:nvSpPr>
          <p:cNvPr id="3" name="marco_figura"/>
          <p:cNvSpPr/>
          <p:nvPr/>
        </p:nvSpPr>
        <p:spPr>
          <a:xfrm>
            <a:off x="548640" y="1371600"/>
            <a:ext cx="438912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r_deposito.jpg">    </p:cNvPr>
          <p:cNvPicPr>
            <a:picLocks noChangeAspect="1"/>
          </p:cNvPicPr>
          <p:nvPr/>
        </p:nvPicPr>
        <p:blipFill>
          <a:blip r:embed="rId1"/>
          <a:srcRect l="0" r="0" t="0" b="0"/>
          <a:stretch/>
        </p:blipFill>
        <p:spPr>
          <a:xfrm>
            <a:off x="658368" y="1481328"/>
            <a:ext cx="4169664" cy="2340864"/>
          </a:xfrm>
          <a:prstGeom prst="rect">
            <a:avLst/>
          </a:prstGeom>
        </p:spPr>
      </p:pic>
      <p:sp>
        <p:nvSpPr>
          <p:cNvPr id="5" name="Text 2"/>
          <p:cNvSpPr txBox="1"/>
          <p:nvPr/>
        </p:nvSpPr>
        <p:spPr>
          <a:xfrm>
            <a:off x="658368" y="3931920"/>
            <a:ext cx="41696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42. </a:t>
            </a:r>
            <a:pPr indent="0" marL="0">
              <a:lnSpc>
                <a:spcPct val="102000"/>
              </a:lnSpc>
              <a:buNone/>
            </a:pPr>
            <a:r>
              <a:rPr lang="en-US" sz="1000" dirty="0">
                <a:solidFill>
                  <a:schemeClr val="accent4"/>
                </a:solidFill>
              </a:rPr>
              <a:t>Refrigerante: mezcla de agua con anticongelante e inhibidores. Adaptado de Minga González, M. A. (s. f.). El sistema de refrigeración [diapositivas]. ISTS.</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303520" y="1371600"/>
          <a:ext cx="6309360" cy="914400"/>
        </p:xfrm>
        <a:graphic>
          <a:graphicData uri="http://schemas.openxmlformats.org/drawingml/2006/table">
            <a:tbl>
              <a:tblPr/>
              <a:tblGrid>
                <a:gridCol w="2103120"/>
                <a:gridCol w="4206240"/>
              </a:tblGrid>
              <a:tr h="475488">
                <a:tc>
                  <a:txBody>
                    <a:bodyPr/>
                    <a:lstStyle/>
                    <a:p>
                      <a:pPr indent="0" marL="0">
                        <a:buNone/>
                      </a:pPr>
                      <a:r>
                        <a:rPr lang="en-US" sz="1300" b="1" dirty="0">
                          <a:solidFill>
                            <a:srgbClr val="FFFFFF"/>
                          </a:solidFill>
                        </a:rPr>
                        <a:t>Componente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aporta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00" b="1" dirty="0">
                          <a:solidFill>
                            <a:schemeClr val="tx1"/>
                          </a:solidFill>
                        </a:rPr>
                        <a:t>Agua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Excelente capacidad de transportar calor: es el mejor refrigerante disponible por sí solo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Anticongelante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Baja el punto de congelación y, a la vez, eleva el de ebullición, ampliando el rango útil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Inhibidores de corrosión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Protegen aluminio, hierro, cobre y latón; impiden la oxidación de las cámaras y del radiador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Antiespumantes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Evitan la formación de espuma, que no transporta calor y corta la circulación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agua sola refrigera bien, pero corroe el circuito, forma cal, se congela y hierve a temperatura más baja. Lo que hace útil al refrigerante no es su capacidad de enfriar, que es menor que la del agua, sino todo lo demás.</a:t>
            </a:r>
            <a:endParaRPr lang="en-US" sz="1450" dirty="0"/>
          </a:p>
        </p:txBody>
      </p:sp>
      <p:sp>
        <p:nvSpPr>
          <p:cNvPr id="11" name="Shape 7"/>
          <p:cNvSpPr/>
          <p:nvPr/>
        </p:nvSpPr>
        <p:spPr>
          <a:xfrm>
            <a:off x="548640" y="4736592"/>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4700016"/>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ocurre con el tiempo. </a:t>
            </a:r>
            <a:pPr indent="0" marL="0">
              <a:lnSpc>
                <a:spcPct val="106000"/>
              </a:lnSpc>
              <a:buNone/>
            </a:pPr>
            <a:r>
              <a:rPr lang="en-US" sz="1150" dirty="0">
                <a:solidFill>
                  <a:schemeClr val="accent4"/>
                </a:solidFill>
              </a:rPr>
              <a:t>los inhibidores se agotan; a partir de ese momento el refrigerante sigue refrigerando pero ya no protege, y el circuito empieza a oxidarse por dentro</a:t>
            </a:r>
            <a:endParaRPr lang="en-US" sz="1150" dirty="0"/>
          </a:p>
        </p:txBody>
      </p:sp>
      <p:sp>
        <p:nvSpPr>
          <p:cNvPr id="14" name="Shape 10"/>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eso tiene intervalo de cambio. </a:t>
            </a:r>
            <a:pPr indent="0" marL="0">
              <a:lnSpc>
                <a:spcPct val="106000"/>
              </a:lnSpc>
              <a:buNone/>
            </a:pPr>
            <a:r>
              <a:rPr lang="en-US" sz="1150" dirty="0">
                <a:solidFill>
                  <a:schemeClr val="accent4"/>
                </a:solidFill>
              </a:rPr>
              <a:t>como el aceite, se sustituye por tiempo o kilometraje aunque su aspecto siga siendo aceptable</a:t>
            </a:r>
            <a:endParaRPr lang="en-US" sz="1150" dirty="0"/>
          </a:p>
        </p:txBody>
      </p:sp>
      <p:sp>
        <p:nvSpPr>
          <p:cNvPr id="17" name="Shape 13"/>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no se mezclan tipos distintos. </a:t>
            </a:r>
            <a:pPr indent="0" marL="0">
              <a:lnSpc>
                <a:spcPct val="106000"/>
              </a:lnSpc>
              <a:buNone/>
            </a:pPr>
            <a:r>
              <a:rPr lang="en-US" sz="1150" dirty="0">
                <a:solidFill>
                  <a:schemeClr val="accent4"/>
                </a:solidFill>
              </a:rPr>
              <a:t>los aditivos de distintas familias pueden reaccionar entre sí, formar depósitos y perder ambos su capacidad de protección</a:t>
            </a:r>
            <a:endParaRPr lang="en-US" sz="1150" dirty="0"/>
          </a:p>
        </p:txBody>
      </p:sp>
      <p:sp>
        <p:nvSpPr>
          <p:cNvPr id="20" name="Shape 16"/>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21" name="Text 17"/>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18"/>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usa para rellenar. </a:t>
            </a:r>
            <a:pPr indent="0" marL="0">
              <a:lnSpc>
                <a:spcPct val="106000"/>
              </a:lnSpc>
              <a:buNone/>
            </a:pPr>
            <a:r>
              <a:rPr lang="en-US" sz="1150" dirty="0">
                <a:solidFill>
                  <a:schemeClr val="accent4"/>
                </a:solidFill>
              </a:rPr>
              <a:t>el mismo tipo que lleva el vehículo, en la proporción que indica el fabricante; nunca agua sola salvo en una emergencia y de forma provisional</a:t>
            </a:r>
            <a:endParaRPr lang="en-US" sz="1150" dirty="0"/>
          </a:p>
        </p:txBody>
      </p:sp>
      <p:sp>
        <p:nvSpPr>
          <p:cNvPr id="23" name="Text 1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por agua · diagnóstico del circuito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Diagnóstico del circuito de refrigeración</a:t>
            </a:r>
            <a:endParaRPr lang="en-US" sz="3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38912">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050" b="1" dirty="0">
                          <a:solidFill>
                            <a:schemeClr val="tx1"/>
                          </a:solidFill>
                        </a:rPr>
                        <a:t>Se recalienta en ciudad y se enfría en carretera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Ventilador que no entra: termocontacto, relé, motor o embrague viscoso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Observar si el ventilador arranca al alcanzar la temperatura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Sustituir el elemento que falla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Se recalienta siempre, y rápido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Termostato bloqueado cerrado, o falta grave de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Nivel; manguera superior que no se calienta con el motor caliente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Reponer refrigerante o sustituir el termostato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Se recalienta solo en carga o en pendiente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Caudal insuficiente: bomba con rodete erosionado, o cámaras y radiador obstruidos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Zonas frías en el radiador al tacto; inspección del rodete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Limpieza del circuito, radiador o bomba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Tarda mucho en calentar y no hay calefacción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Termostato bloqueado abierto o ausente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Tiempo hasta temperatura de trabajo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Sustituir el termostato por el de tarado correcto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Pierde refrigerante sin fuga visible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Empaque de culata, fisura o intercambiador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Prueba de presión del circuito; gases de combustión en el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Según el origen: empaque, cabezote o enfriador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Recalentamientos intermitentes sin patrón claro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Tapa que no mantiene la presión de tarado, o aire atrapado sin purgar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Comprobador de presión de tapa; purga del circuito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Tapa nueva; purgar correctamente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4577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dos primeras filas se distinguen con una sola observación gratuita: preguntar al cliente dónde se recalienta. En ciudad apunta al ventilador; siempre y rápido, al termostato o al nivel. Esa pregunta ahorra media hora de trabajo.</a:t>
            </a:r>
            <a:endParaRPr lang="en-US" sz="1450" dirty="0"/>
          </a:p>
        </p:txBody>
      </p:sp>
      <p:sp>
        <p:nvSpPr>
          <p:cNvPr id="8" name="Shape 5"/>
          <p:cNvSpPr/>
          <p:nvPr/>
        </p:nvSpPr>
        <p:spPr>
          <a:xfrm>
            <a:off x="548640" y="52029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202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1663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prueba de presión del circuito. </a:t>
            </a:r>
            <a:pPr indent="0" marL="0">
              <a:lnSpc>
                <a:spcPct val="106000"/>
              </a:lnSpc>
              <a:buNone/>
            </a:pPr>
            <a:r>
              <a:rPr lang="en-US" sz="1150" dirty="0">
                <a:solidFill>
                  <a:schemeClr val="accent4"/>
                </a:solidFill>
              </a:rPr>
              <a:t>se presuriza el circuito en frío con el comprobador y se observa si mantiene la presión; una caída indica fuga, interna o externa</a:t>
            </a:r>
            <a:endParaRPr lang="en-US" sz="1150" dirty="0"/>
          </a:p>
        </p:txBody>
      </p:sp>
      <p:sp>
        <p:nvSpPr>
          <p:cNvPr id="11" name="Shape 8"/>
          <p:cNvSpPr/>
          <p:nvPr/>
        </p:nvSpPr>
        <p:spPr>
          <a:xfrm>
            <a:off x="548640" y="55869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5504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 prueba de gases en el refrigerante. </a:t>
            </a:r>
            <a:pPr indent="0" marL="0">
              <a:lnSpc>
                <a:spcPct val="106000"/>
              </a:lnSpc>
              <a:buNone/>
            </a:pPr>
            <a:r>
              <a:rPr lang="en-US" sz="1150" dirty="0">
                <a:solidFill>
                  <a:schemeClr val="accent4"/>
                </a:solidFill>
              </a:rPr>
              <a:t>detecta gases de combustión en el depósito; si da positivo, hay comunicación entre la cámara y el circuito</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de refrigeración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4.2</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sistema regula, no enfría. </a:t>
            </a:r>
            <a:pPr indent="0" marL="0">
              <a:lnSpc>
                <a:spcPct val="106000"/>
              </a:lnSpc>
              <a:buNone/>
            </a:pPr>
            <a:r>
              <a:rPr lang="en-US" sz="1250" dirty="0">
                <a:solidFill>
                  <a:schemeClr val="accent4"/>
                </a:solidFill>
              </a:rPr>
              <a:t>mantiene la temperatura de trabajo; un motor frío consume y se desgasta más, y por eso existe el termostato</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circuito va presurizado por una razón. </a:t>
            </a:r>
            <a:pPr indent="0" marL="0">
              <a:lnSpc>
                <a:spcPct val="106000"/>
              </a:lnSpc>
              <a:buNone/>
            </a:pPr>
            <a:r>
              <a:rPr lang="en-US" sz="1250" dirty="0">
                <a:solidFill>
                  <a:schemeClr val="accent4"/>
                </a:solidFill>
              </a:rPr>
              <a:t>al subir la presión sube la temperatura de ebullición; por eso una tapa que no tara produce recalentamientos sin otra causa aparente</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Cada elemento falla con su propio patrón. </a:t>
            </a:r>
            <a:pPr indent="0" marL="0">
              <a:lnSpc>
                <a:spcPct val="106000"/>
              </a:lnSpc>
              <a:buNone/>
            </a:pPr>
            <a:r>
              <a:rPr lang="en-US" sz="1250" dirty="0">
                <a:solidFill>
                  <a:schemeClr val="accent4"/>
                </a:solidFill>
              </a:rPr>
              <a:t>el ventilador en ciudad, el termostato siempre y rápido, el caudal solo en carga: la condición en que aparece el síntoma orienta el diagnóstico</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refrigerante no es solo anticongelante. </a:t>
            </a:r>
            <a:pPr indent="0" marL="0">
              <a:lnSpc>
                <a:spcPct val="106000"/>
              </a:lnSpc>
              <a:buNone/>
            </a:pPr>
            <a:r>
              <a:rPr lang="en-US" sz="1250" dirty="0">
                <a:solidFill>
                  <a:schemeClr val="accent4"/>
                </a:solidFill>
              </a:rPr>
              <a:t>sus inhibidores protegen el circuito y se agotan con el tiempo; por eso tiene intervalo de cambio aunque su aspecto siga siendo bueno</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depósito es la ventana del circuito. </a:t>
            </a:r>
            <a:pPr indent="0" marL="0">
              <a:lnSpc>
                <a:spcPct val="106000"/>
              </a:lnSpc>
              <a:buNone/>
            </a:pPr>
            <a:r>
              <a:rPr lang="en-US" sz="1250" dirty="0">
                <a:solidFill>
                  <a:schemeClr val="accent4"/>
                </a:solidFill>
              </a:rPr>
              <a:t>nivel, burbujas, aspecto aceitoso u oxidación: cuatro observaciones gratuitas antes de tocar una herramienta</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recalentamiento es la causa de media Unidad 3. </a:t>
            </a:r>
            <a:pPr indent="0" marL="0">
              <a:lnSpc>
                <a:spcPct val="106000"/>
              </a:lnSpc>
              <a:buNone/>
            </a:pPr>
            <a:r>
              <a:rPr lang="en-US" sz="1250" dirty="0">
                <a:solidFill>
                  <a:schemeClr val="accent4"/>
                </a:solidFill>
              </a:rPr>
              <a:t>culata alabeada, empaque soplado y válvula quemada vienen casi siempre de aquí; reparar sin corregir la causa garantiza la repetición</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vehículo se recalienta solo al subir pendientes con carga, y en llano funciona bien. El ventilador arranca correctamente y el nivel es correcto. ¿Qué sospecharía y cómo lo comprobaría?</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 los conocimientos 5 a 10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dos sistemas de fluidos, lado a lado</a:t>
            </a:r>
            <a:endParaRPr lang="en-US" sz="3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4206240"/>
                <a:gridCol w="4297680"/>
              </a:tblGrid>
              <a:tr h="457200">
                <a:tc>
                  <a:txBody>
                    <a:bodyPr/>
                    <a:lstStyle/>
                    <a:p>
                      <a:pPr indent="0" marL="0">
                        <a:buNone/>
                      </a:pPr>
                      <a:r>
                        <a:rPr lang="en-US" sz="1300" b="1" dirty="0">
                          <a:solidFill>
                            <a:srgbClr val="FFFFFF"/>
                          </a:solidFill>
                        </a:rPr>
                        <a:t>Elemento del circuito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lubricación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 refrigeración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El fluido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Aceite: lubrica, refrigera, limpia, sella, protege y transmite fuerza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Refrigerante: transporta calor y protege el circuito de la corrosión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El depósito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Cárter, en la parte baja del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Depósito de expansión, en un punto alto y translúcido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La bomba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 desplazamiento positivo: caudal proporcional al régimen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Centrífuga: mucho caudal a poca 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El regulador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Válvula de descarga, que limita la presión máxima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Termostato, que decide por dónde circula el fluido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El intercambiador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Filtro y, en algunos motores, enfriador de aceite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Radiador, con su ventilador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El indicador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Testigo de presión y varilla de nivel</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Indicador de temperatura y nivel del depósito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Qué se diagnostica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Presión y consumo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Temperatura y pérdida de fluido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754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9606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960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846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dos clases han seguido la misma estructura porque los dos sistemas la comparten. Reconocer esa simetría permite abordar cualquier circuito de fluidos de un vehículo —combustible, frenos, dirección asistida— con el mismo método.</a:t>
            </a:r>
            <a:endParaRPr lang="en-US" sz="1450" dirty="0"/>
          </a:p>
        </p:txBody>
      </p:sp>
      <p:sp>
        <p:nvSpPr>
          <p:cNvPr id="8" name="Text 5"/>
          <p:cNvSpPr txBox="1"/>
          <p:nvPr/>
        </p:nvSpPr>
        <p:spPr>
          <a:xfrm>
            <a:off x="548640" y="562356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Los dos sistemas están además acoplados entre sí: el aceite refrigera lo que el refrigerante no alcanza, y en muchos motores un intercambiador los comunica térmicamente. Un fallo en uno acaba manifestándose en el otro.</a:t>
            </a:r>
            <a:endParaRPr lang="en-US" sz="1200" dirty="0"/>
          </a:p>
        </p:txBody>
      </p:sp>
      <p:sp>
        <p:nvSpPr>
          <p:cNvPr id="9" name="Text 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Conocimientos del PEA: sistema de lubricación y sistema de refrigeración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de la clase: el circuito del laboratorio</a:t>
            </a:r>
            <a:endParaRPr lang="en-US" sz="3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6217920"/>
                <a:gridCol w="4114800"/>
              </a:tblGrid>
              <a:tr h="548640">
                <a:tc>
                  <a:txBody>
                    <a:bodyPr/>
                    <a:lstStyle/>
                    <a:p>
                      <a:pPr indent="0" marL="0">
                        <a:buNone/>
                      </a:pPr>
                      <a:r>
                        <a:rPr lang="en-US" sz="1300" b="1" dirty="0">
                          <a:solidFill>
                            <a:srgbClr val="FFFFFF"/>
                          </a:solidFill>
                        </a:rPr>
                        <a:t>Nro.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Enunciado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evalúa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48640">
                <a:tc>
                  <a:txBody>
                    <a:bodyPr/>
                    <a:lstStyle/>
                    <a:p>
                      <a:pPr indent="0" marL="0">
                        <a:buNone/>
                      </a:pPr>
                      <a:r>
                        <a:rPr lang="en-US" sz="1150" b="1" dirty="0">
                          <a:solidFill>
                            <a:schemeClr val="tx1"/>
                          </a:solidFill>
                        </a:rPr>
                        <a:t>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Dibuje el circuito de refrigeración del motor del laboratorio siguiendo físicamente las mangueras, e identifique cada elemento sobre el dibujo.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Reconocimiento del circuito real, no del esquema de libro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chemeClr val="tx1"/>
                          </a:solidFill>
                        </a:rPr>
                        <a:t>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Marque sobre ese dibujo los puntos donde puede producirse cada uno de los fallos estudiados.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Relación entre elemento, fallo y síntoma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1"/>
                          </a:solidFill>
                        </a:rPr>
                        <a:t>3</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Busque en Autodata el tipo y la cantidad de refrigerante que especifica el fabricante, y el tarado del termostato.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Uso del manual como fuente, declarado en el PEA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chemeClr val="tx1"/>
                          </a:solidFill>
                        </a:rPr>
                        <a:t>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Un vehículo se recalienta solo en ciudad. Redacte el orden de comprobaciones que haría y qué descarta cada una.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Método de diagnóstico ordenado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88620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06908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069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97764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ejercicio 1 no se resuelve copiando un esquema: hay que seguir las mangueras con la mano sobre el motor. Es la única forma de descubrir que el circuito real tiene ramales que los esquemas simplifican, como el de la calefacción.</a:t>
            </a:r>
            <a:endParaRPr lang="en-US" sz="1450" dirty="0"/>
          </a:p>
        </p:txBody>
      </p:sp>
      <p:sp>
        <p:nvSpPr>
          <p:cNvPr id="8" name="Shape 5"/>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Cómo se entrega. </a:t>
            </a:r>
            <a:pPr indent="0" marL="0">
              <a:lnSpc>
                <a:spcPct val="106000"/>
              </a:lnSpc>
              <a:buNone/>
            </a:pPr>
            <a:r>
              <a:rPr lang="en-US" sz="1200" dirty="0">
                <a:solidFill>
                  <a:schemeClr val="accent4"/>
                </a:solidFill>
              </a:rPr>
              <a:t>dibujo a mano o esquema limpio, con los elementos identificados y los puntos de fallo marcados y numerados</a:t>
            </a:r>
            <a:endParaRPr lang="en-US" sz="1200" dirty="0"/>
          </a:p>
        </p:txBody>
      </p:sp>
      <p:sp>
        <p:nvSpPr>
          <p:cNvPr id="11" name="Shape 8"/>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Dónde encaja en el PEA. </a:t>
            </a:r>
            <a:pPr indent="0" marL="0">
              <a:lnSpc>
                <a:spcPct val="106000"/>
              </a:lnSpc>
              <a:buNone/>
            </a:pPr>
            <a:r>
              <a:rPr lang="en-US" sz="1200" dirty="0">
                <a:solidFill>
                  <a:schemeClr val="accent4"/>
                </a:solidFill>
              </a:rPr>
              <a:t>los ejercicios 1 y 2 son el producto colaborativo declarado para esta clase; el 3 y el 4, trabajo autónomo</a:t>
            </a:r>
            <a:endParaRPr lang="en-US" sz="1200" dirty="0"/>
          </a:p>
        </p:txBody>
      </p:sp>
      <p:sp>
        <p:nvSpPr>
          <p:cNvPr id="14" name="Shape 11"/>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se conserva. </a:t>
            </a:r>
            <a:pPr indent="0" marL="0">
              <a:lnSpc>
                <a:spcPct val="106000"/>
              </a:lnSpc>
              <a:buNone/>
            </a:pPr>
            <a:r>
              <a:rPr lang="en-US" sz="1200" dirty="0">
                <a:solidFill>
                  <a:schemeClr val="accent4"/>
                </a:solidFill>
              </a:rPr>
              <a:t>el esquema se usa en la práctica de la unidad y en el repaso para el examen bimestral</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Trabajo colaborativo y autónomo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no se hace nunca con el circuito de refrigeración</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Abrir la tapa en caliente</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refrigerante está por encima de su punto de ebullición a presión atmosférica: al abrir, hierve de golpe y sale proyectado. Es la quemadura más grave de este trabajo.</a:t>
            </a:r>
            <a:endParaRPr lang="en-US" sz="110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Rellenar con agua fría un motor recalentado</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choque térmico sobre una culata de aluminio muy caliente puede fisurarla. Si hay que rellenar, se hace con el motor templado y añadiendo despacio.</a:t>
            </a:r>
            <a:endParaRPr lang="en-US" sz="110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Retirar el termostato para «que refrigere más»</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El motor queda sin regulación, trabaja frío, consume más, se desgasta más y forma lodos. Además, en muchos circuitos reduce el caudal por el radiador.</a:t>
            </a:r>
            <a:endParaRPr lang="en-US" sz="1100" dirty="0"/>
          </a:p>
        </p:txBody>
      </p:sp>
      <p:sp>
        <p:nvSpPr>
          <p:cNvPr id="18" name="Shape 16"/>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8"/>
          <p:cNvSpPr txBox="1"/>
          <p:nvPr/>
        </p:nvSpPr>
        <p:spPr>
          <a:xfrm>
            <a:off x="1078992" y="39319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sí se hace ante un recalentamiento en ruta. </a:t>
            </a:r>
            <a:pPr indent="0" marL="0">
              <a:lnSpc>
                <a:spcPct val="106000"/>
              </a:lnSpc>
              <a:buNone/>
            </a:pPr>
            <a:r>
              <a:rPr lang="en-US" sz="1150" dirty="0">
                <a:solidFill>
                  <a:schemeClr val="accent4"/>
                </a:solidFill>
              </a:rPr>
              <a:t>detener el vehículo, apagar el motor, esperar a que enfríe y revisar; seguir circulando puede convertir una reparación menor en el motor entero</a:t>
            </a:r>
            <a:endParaRPr lang="en-US" sz="1150" dirty="0"/>
          </a:p>
        </p:txBody>
      </p:sp>
      <p:sp>
        <p:nvSpPr>
          <p:cNvPr id="21" name="Shape 19"/>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1"/>
          <p:cNvSpPr txBox="1"/>
          <p:nvPr/>
        </p:nvSpPr>
        <p:spPr>
          <a:xfrm>
            <a:off x="1078992" y="43159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comprueba antes de entregar un vehículo reparado. </a:t>
            </a:r>
            <a:pPr indent="0" marL="0">
              <a:lnSpc>
                <a:spcPct val="106000"/>
              </a:lnSpc>
              <a:buNone/>
            </a:pPr>
            <a:r>
              <a:rPr lang="en-US" sz="1150" dirty="0">
                <a:solidFill>
                  <a:schemeClr val="accent4"/>
                </a:solidFill>
              </a:rPr>
              <a:t>nivel en frío, ausencia de fugas, purga completa, entrada del ventilador y temperatura estable tras varios minutos en marcha</a:t>
            </a:r>
            <a:endParaRPr lang="en-US" sz="1150" dirty="0"/>
          </a:p>
        </p:txBody>
      </p:sp>
      <p:sp>
        <p:nvSpPr>
          <p:cNvPr id="24" name="Shape 22"/>
          <p:cNvSpPr/>
          <p:nvPr/>
        </p:nvSpPr>
        <p:spPr>
          <a:xfrm>
            <a:off x="548640" y="473659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1078992" y="47000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explica al cliente. </a:t>
            </a:r>
            <a:pPr indent="0" marL="0">
              <a:lnSpc>
                <a:spcPct val="106000"/>
              </a:lnSpc>
              <a:buNone/>
            </a:pPr>
            <a:r>
              <a:rPr lang="en-US" sz="1150" dirty="0">
                <a:solidFill>
                  <a:schemeClr val="accent4"/>
                </a:solidFill>
              </a:rPr>
              <a:t>por qué el refrigerante tiene intervalo de cambio y por qué no se rellena con agua sola salvo en una emergencia puntual</a:t>
            </a:r>
            <a:endParaRPr lang="en-US" sz="1150" dirty="0"/>
          </a:p>
        </p:txBody>
      </p:sp>
      <p:sp>
        <p:nvSpPr>
          <p:cNvPr id="27" name="Shape 25"/>
          <p:cNvSpPr/>
          <p:nvPr/>
        </p:nvSpPr>
        <p:spPr>
          <a:xfrm>
            <a:off x="548640" y="553212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8" name="Shape 26"/>
          <p:cNvSpPr/>
          <p:nvPr/>
        </p:nvSpPr>
        <p:spPr>
          <a:xfrm>
            <a:off x="786384" y="5577840"/>
            <a:ext cx="365760" cy="365760"/>
          </a:xfrm>
          <a:prstGeom prst="ellipse">
            <a:avLst/>
          </a:prstGeom>
          <a:solidFill>
            <a:schemeClr val="accent1"/>
          </a:solidFill>
          <a:ln w="12700">
            <a:solidFill>
              <a:schemeClr val="accent1"/>
            </a:solidFill>
            <a:prstDash val="solid"/>
          </a:ln>
        </p:spPr>
        <p:txBody>
          <a:bodyPr/>
          <a:p/>
        </p:txBody>
      </p:sp>
      <p:sp>
        <p:nvSpPr>
          <p:cNvPr id="29" name="Text 27"/>
          <p:cNvSpPr txBox="1"/>
          <p:nvPr/>
        </p:nvSpPr>
        <p:spPr>
          <a:xfrm>
            <a:off x="786384" y="5577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23560"/>
            <a:ext cx="10058400" cy="2743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La tercera práctica de la lista es la más extendida y la que más daño silencioso causa: retirar el termostato no resuelve un recalentamiento, lo enmascara, y deja el motor trabajando permanentemente fuera de su rango.</a:t>
            </a:r>
            <a:endParaRPr lang="en-US" sz="120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 componente de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Cuánto calor tiene que evacuar el sistema</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Reparto de la energía del combustible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E</m:t>
                          </m:r>
                        </m:e>
                        <m:sub>
                          <m:r>
                            <a:rPr lang="es-EC" sz="2200" b="1" dirty="0" i="0">
                              <a:solidFill>
                                <a:srgbClr val="C0451C"/>
                              </a:solidFill>
                              <a:latin typeface="Cambria Math" panose="02040503050406030204" pitchFamily="18" charset="0"/>
                            </a:rPr>
                            <m:t xml:space="preserve">t</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E</m:t>
                          </m:r>
                        </m:e>
                        <m:sub>
                          <m:r>
                            <a:rPr lang="es-EC" sz="2200" b="1" dirty="0" i="0">
                              <a:solidFill>
                                <a:srgbClr val="C0451C"/>
                              </a:solidFill>
                              <a:latin typeface="Cambria Math" panose="02040503050406030204" pitchFamily="18" charset="0"/>
                            </a:rPr>
                            <m:t xml:space="preserve">u</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E</m:t>
                          </m:r>
                        </m:e>
                        <m:sub>
                          <m:r>
                            <a:rPr lang="es-EC" sz="2200" b="1" dirty="0" i="0">
                              <a:solidFill>
                                <a:srgbClr val="C0451C"/>
                              </a:solidFill>
                              <a:latin typeface="Cambria Math" panose="02040503050406030204" pitchFamily="18" charset="0"/>
                            </a:rPr>
                            <m:t xml:space="preserve">r</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E</m:t>
                          </m:r>
                        </m:e>
                        <m:sub>
                          <m:r>
                            <a:rPr lang="es-EC" sz="2200" b="1" dirty="0" i="0">
                              <a:solidFill>
                                <a:srgbClr val="C0451C"/>
                              </a:solidFill>
                              <a:latin typeface="Cambria Math" panose="02040503050406030204" pitchFamily="18" charset="0"/>
                            </a:rPr>
                            <m:t xml:space="preserve">e</m:t>
                          </m:r>
                        </m:sub>
                      </m:sSub>
                      <m:r>
                        <a:rPr lang="es-EC" sz="2200" b="1" dirty="0" i="0">
                          <a:solidFill>
                            <a:srgbClr val="C0451C"/>
                          </a:solidFill>
                          <a:latin typeface="Cambria Math" panose="02040503050406030204" pitchFamily="18" charset="0"/>
                        </a:rPr>
                        <m:t xml:space="preserve"> + </m:t>
                      </m:r>
                      <m:sSub>
                        <m:sSubPr>
                          <m:ctrlPr>
                            <a:rPr lang="es-EC" sz="2200" b="1" dirty="0" i="1">
                              <a:solidFill>
                                <a:srgbClr val="C0451C"/>
                              </a:solidFill>
                              <a:latin typeface="Cambria Math" panose="02040503050406030204" pitchFamily="18" charset="0"/>
                            </a:rPr>
                          </m:ctrlPr>
                        </m:sSubPr>
                        <m:e>
                          <m:r>
                            <a:rPr lang="es-EC" sz="2200" b="1" dirty="0" i="1">
                              <a:solidFill>
                                <a:srgbClr val="C0451C"/>
                              </a:solidFill>
                              <a:latin typeface="Cambria Math" panose="02040503050406030204" pitchFamily="18" charset="0"/>
                            </a:rPr>
                            <m:t xml:space="preserve">E</m:t>
                          </m:r>
                        </m:e>
                        <m:sub>
                          <m:r>
                            <a:rPr lang="es-EC" sz="2200" b="1" dirty="0" i="0">
                              <a:solidFill>
                                <a:srgbClr val="C0451C"/>
                              </a:solidFill>
                              <a:latin typeface="Cambria Math" panose="02040503050406030204" pitchFamily="18" charset="0"/>
                            </a:rPr>
                            <m:t xml:space="preserve">p</m:t>
                          </m:r>
                        </m:sub>
                      </m:sSub>
                    </m:oMath>
                  </m:oMathPara>
                </a14:m>
                <a:endParaRPr lang="es-EC" sz="22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200" b="1" dirty="0">
                    <a:solidFill>
                      <a:srgbClr val="C0451C"/>
                    </a:solidFill>
                  </a:rPr>
                  <a:t xml:space="preserve">E</a:t>
                </a:r>
                <a:r>
                  <a:rPr lang="es-EC" sz="2200" b="1" baseline="-25000" dirty="0">
                    <a:solidFill>
                      <a:srgbClr val="C0451C"/>
                    </a:solidFill>
                  </a:rPr>
                  <a:t xml:space="preserve">t</a:t>
                </a:r>
                <a:r>
                  <a:rPr lang="es-EC" sz="2200" b="1" dirty="0">
                    <a:solidFill>
                      <a:srgbClr val="C0451C"/>
                    </a:solidFill>
                  </a:rPr>
                  <a:t xml:space="preserve"> = </a:t>
                </a:r>
                <a:r>
                  <a:rPr lang="es-EC" sz="2200" b="1" dirty="0">
                    <a:solidFill>
                      <a:srgbClr val="C0451C"/>
                    </a:solidFill>
                  </a:rPr>
                  <a:t xml:space="preserve">E</a:t>
                </a:r>
                <a:r>
                  <a:rPr lang="es-EC" sz="2200" b="1" baseline="-25000" dirty="0">
                    <a:solidFill>
                      <a:srgbClr val="C0451C"/>
                    </a:solidFill>
                  </a:rPr>
                  <a:t xml:space="preserve">u</a:t>
                </a:r>
                <a:r>
                  <a:rPr lang="es-EC" sz="2200" b="1" dirty="0">
                    <a:solidFill>
                      <a:srgbClr val="C0451C"/>
                    </a:solidFill>
                  </a:rPr>
                  <a:t xml:space="preserve"> + </a:t>
                </a:r>
                <a:r>
                  <a:rPr lang="es-EC" sz="2200" b="1" dirty="0">
                    <a:solidFill>
                      <a:srgbClr val="C0451C"/>
                    </a:solidFill>
                  </a:rPr>
                  <a:t xml:space="preserve">E</a:t>
                </a:r>
                <a:r>
                  <a:rPr lang="es-EC" sz="2200" b="1" baseline="-25000" dirty="0">
                    <a:solidFill>
                      <a:srgbClr val="C0451C"/>
                    </a:solidFill>
                  </a:rPr>
                  <a:t xml:space="preserve">r</a:t>
                </a:r>
                <a:r>
                  <a:rPr lang="es-EC" sz="2200" b="1" dirty="0">
                    <a:solidFill>
                      <a:srgbClr val="C0451C"/>
                    </a:solidFill>
                  </a:rPr>
                  <a:t xml:space="preserve"> + </a:t>
                </a:r>
                <a:r>
                  <a:rPr lang="es-EC" sz="2200" b="1" dirty="0">
                    <a:solidFill>
                      <a:srgbClr val="C0451C"/>
                    </a:solidFill>
                  </a:rPr>
                  <a:t xml:space="preserve">E</a:t>
                </a:r>
                <a:r>
                  <a:rPr lang="es-EC" sz="2200" b="1" baseline="-25000" dirty="0">
                    <a:solidFill>
                      <a:srgbClr val="C0451C"/>
                    </a:solidFill>
                  </a:rPr>
                  <a:t xml:space="preserve">e</a:t>
                </a:r>
                <a:r>
                  <a:rPr lang="es-EC" sz="2200" b="1" dirty="0">
                    <a:solidFill>
                      <a:srgbClr val="C0451C"/>
                    </a:solidFill>
                  </a:rPr>
                  <a:t xml:space="preserve"> + </a:t>
                </a:r>
                <a:r>
                  <a:rPr lang="es-EC" sz="2200" b="1" dirty="0">
                    <a:solidFill>
                      <a:srgbClr val="C0451C"/>
                    </a:solidFill>
                  </a:rPr>
                  <a:t xml:space="preserve">E</a:t>
                </a:r>
                <a:r>
                  <a:rPr lang="es-EC" sz="2200" b="1" baseline="-25000" dirty="0">
                    <a:solidFill>
                      <a:srgbClr val="C0451C"/>
                    </a:solidFill>
                  </a:rPr>
                  <a:t xml:space="preserve">p</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Energía total igual a la útil más la evacuada por refrigeración, por el escape y las pérdidas restantes.</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Energía útil. </a:t>
            </a:r>
            <a:pPr indent="0" marL="0">
              <a:lnSpc>
                <a:spcPct val="106000"/>
              </a:lnSpc>
              <a:buNone/>
            </a:pPr>
            <a:r>
              <a:rPr lang="en-US" sz="1150" dirty="0">
                <a:solidFill>
                  <a:schemeClr val="accent4"/>
                </a:solidFill>
              </a:rPr>
              <a:t>la fracción que llega al cigüeñal como trabajo; es la menor parte de lo que entra con el combustible</a:t>
            </a:r>
            <a:endParaRPr lang="en-US" sz="115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Energía al refrigerante. </a:t>
            </a:r>
            <a:pPr indent="0" marL="0">
              <a:lnSpc>
                <a:spcPct val="106000"/>
              </a:lnSpc>
              <a:buNone/>
            </a:pPr>
            <a:r>
              <a:rPr lang="en-US" sz="1150" dirty="0">
                <a:solidFill>
                  <a:schemeClr val="accent4"/>
                </a:solidFill>
              </a:rPr>
              <a:t>una fracción comparable a la útil se evacúa por el sistema de refrigeración, que por eso ha de dimensionarse bien</a:t>
            </a:r>
            <a:endParaRPr lang="en-US" sz="115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Energía por el escape. </a:t>
            </a:r>
            <a:pPr indent="0" marL="0">
              <a:lnSpc>
                <a:spcPct val="106000"/>
              </a:lnSpc>
              <a:buNone/>
            </a:pPr>
            <a:r>
              <a:rPr lang="en-US" sz="1150" dirty="0">
                <a:solidFill>
                  <a:schemeClr val="accent4"/>
                </a:solidFill>
              </a:rPr>
              <a:t>otra fracción importante sale con los gases calientes; es la que aprovecha un turbocompresor</a:t>
            </a:r>
            <a:endParaRPr lang="en-US" sz="115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Pérdidas restantes. </a:t>
            </a:r>
            <a:pPr indent="0" marL="0">
              <a:lnSpc>
                <a:spcPct val="106000"/>
              </a:lnSpc>
              <a:buNone/>
            </a:pPr>
            <a:r>
              <a:rPr lang="en-US" sz="1150" dirty="0">
                <a:solidFill>
                  <a:schemeClr val="accent4"/>
                </a:solidFill>
              </a:rPr>
              <a:t>rozamiento interno, accionamiento de auxiliares y radiación directa del motor al aire</a:t>
            </a:r>
            <a:endParaRPr lang="en-US" sz="1150" dirty="0"/>
          </a:p>
        </p:txBody>
      </p:sp>
      <p:sp>
        <p:nvSpPr>
          <p:cNvPr id="19" name="Shape 17"/>
          <p:cNvSpPr/>
          <p:nvPr/>
        </p:nvSpPr>
        <p:spPr>
          <a:xfrm>
            <a:off x="548640" y="41148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34340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062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sistema de refrigeración evacúa una cantidad de energía del mismo orden que la que el motor entrega como trabajo útil. No es un accesorio: es un intercambiador de potencia comparable a la del propio motor.</a:t>
            </a:r>
            <a:endParaRPr lang="en-US" sz="1450" dirty="0"/>
          </a:p>
        </p:txBody>
      </p:sp>
      <p:sp>
        <p:nvSpPr>
          <p:cNvPr id="23" name="Shape 21"/>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24" name="Text 22"/>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3"/>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de dimensionado. </a:t>
            </a:r>
            <a:pPr indent="0" marL="0">
              <a:lnSpc>
                <a:spcPct val="106000"/>
              </a:lnSpc>
              <a:buNone/>
            </a:pPr>
            <a:r>
              <a:rPr lang="en-US" sz="1150" dirty="0">
                <a:solidFill>
                  <a:schemeClr val="accent4"/>
                </a:solidFill>
              </a:rPr>
              <a:t>un motor más potente necesita un radiador mayor, más caudal de bomba y más aire; por eso no se puede aumentar la potencia sin revisar la refrigeración</a:t>
            </a:r>
            <a:endParaRPr lang="en-US" sz="1150" dirty="0"/>
          </a:p>
        </p:txBody>
      </p:sp>
      <p:sp>
        <p:nvSpPr>
          <p:cNvPr id="26" name="Shape 24"/>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27" name="Text 25"/>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8" name="Text 26"/>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en altura. </a:t>
            </a:r>
            <a:pPr indent="0" marL="0">
              <a:lnSpc>
                <a:spcPct val="106000"/>
              </a:lnSpc>
              <a:buNone/>
            </a:pPr>
            <a:r>
              <a:rPr lang="en-US" sz="1150" dirty="0">
                <a:solidFill>
                  <a:schemeClr val="accent4"/>
                </a:solidFill>
              </a:rPr>
              <a:t>en Loja el aire es menos denso, de modo que el mismo radiador evacúa algo menos de calor con el mismo caudal de aire</a:t>
            </a:r>
            <a:endParaRPr lang="en-US" sz="1150" dirty="0"/>
          </a:p>
        </p:txBody>
      </p:sp>
      <p:sp>
        <p:nvSpPr>
          <p:cNvPr id="29" name="Shape 27"/>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1" name="Text 29"/>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Consecuencia en trabajo continuado. </a:t>
            </a:r>
            <a:pPr indent="0" marL="0">
              <a:lnSpc>
                <a:spcPct val="106000"/>
              </a:lnSpc>
              <a:buNone/>
            </a:pPr>
            <a:r>
              <a:rPr lang="en-US" sz="1150" dirty="0">
                <a:solidFill>
                  <a:schemeClr val="accent4"/>
                </a:solidFill>
              </a:rPr>
              <a:t>un vehículo remolcando o subiendo de forma sostenida genera más calor que en uso normal: es la condición que delata un circuito justo</a:t>
            </a:r>
            <a:endParaRPr lang="en-US" sz="1150" dirty="0"/>
          </a:p>
        </p:txBody>
      </p:sp>
      <p:sp>
        <p:nvSpPr>
          <p:cNvPr id="32"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sistema de refrigeración · habilidad de cálculo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Mantenimiento del circuito de refrigeración</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Motor frío y vehículo en plano. </a:t>
            </a:r>
            <a:pPr indent="0" marL="0">
              <a:lnSpc>
                <a:spcPct val="106000"/>
              </a:lnSpc>
              <a:buNone/>
            </a:pPr>
            <a:r>
              <a:rPr lang="en-US" sz="1200" dirty="0">
                <a:solidFill>
                  <a:schemeClr val="accent4"/>
                </a:solidFill>
              </a:rPr>
              <a:t>nunca se abre un circuito caliente; si hay prisa, se espera; no hay ninguna urgencia que justifique una quemadura</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Vaciado completo. </a:t>
            </a:r>
            <a:pPr indent="0" marL="0">
              <a:lnSpc>
                <a:spcPct val="106000"/>
              </a:lnSpc>
              <a:buNone/>
            </a:pPr>
            <a:r>
              <a:rPr lang="en-US" sz="1200" dirty="0">
                <a:solidFill>
                  <a:schemeClr val="accent4"/>
                </a:solidFill>
              </a:rPr>
              <a:t>por el tapón de drenaje del radiador y, si lo tiene, por el del bloque; vaciar solo el radiador deja buena parte del fluido viejo dentro</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Enjuague si procede. </a:t>
            </a:r>
            <a:pPr indent="0" marL="0">
              <a:lnSpc>
                <a:spcPct val="106000"/>
              </a:lnSpc>
              <a:buNone/>
            </a:pPr>
            <a:r>
              <a:rPr lang="en-US" sz="1200" dirty="0">
                <a:solidFill>
                  <a:schemeClr val="accent4"/>
                </a:solidFill>
              </a:rPr>
              <a:t>si el refrigerante salió sucio u oxidado, se enjuaga el circuito antes de llenar; de lo contrario se contamina el fluido nuevo</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Llenado con el refrigerante especificado. </a:t>
            </a:r>
            <a:pPr indent="0" marL="0">
              <a:lnSpc>
                <a:spcPct val="106000"/>
              </a:lnSpc>
              <a:buNone/>
            </a:pPr>
            <a:r>
              <a:rPr lang="en-US" sz="1200" dirty="0">
                <a:solidFill>
                  <a:schemeClr val="accent4"/>
                </a:solidFill>
              </a:rPr>
              <a:t>el tipo que indica el fabricante, en la proporción indicada y en la cantidad del manual</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Purga del aire. </a:t>
            </a:r>
            <a:pPr indent="0" marL="0">
              <a:lnSpc>
                <a:spcPct val="106000"/>
              </a:lnSpc>
              <a:buNone/>
            </a:pPr>
            <a:r>
              <a:rPr lang="en-US" sz="1200" dirty="0">
                <a:solidFill>
                  <a:schemeClr val="accent4"/>
                </a:solidFill>
              </a:rPr>
              <a:t>por los tornillos de purga si los hay, o con el motor en marcha hasta que el termostato abra y dejen de salir burbujas</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Verificación. </a:t>
            </a:r>
            <a:pPr indent="0" marL="0">
              <a:lnSpc>
                <a:spcPct val="106000"/>
              </a:lnSpc>
              <a:buNone/>
            </a:pPr>
            <a:r>
              <a:rPr lang="en-US" sz="1200" dirty="0">
                <a:solidFill>
                  <a:schemeClr val="accent4"/>
                </a:solidFill>
              </a:rPr>
              <a:t>temperatura estable, entrada del ventilador, calefacción caliente, ausencia de fugas y nivel correcto en frío al día siguiente</a:t>
            </a:r>
            <a:endParaRPr lang="en-US" sz="1200" dirty="0"/>
          </a:p>
        </p:txBody>
      </p:sp>
      <p:sp>
        <p:nvSpPr>
          <p:cNvPr id="21" name="Shape 19"/>
          <p:cNvSpPr/>
          <p:nvPr/>
        </p:nvSpPr>
        <p:spPr>
          <a:xfrm>
            <a:off x="548640" y="4480560"/>
            <a:ext cx="11064240" cy="777240"/>
          </a:xfrm>
          <a:prstGeom prst="roundRect">
            <a:avLst>
              <a:gd name="adj" fmla="val 7059"/>
            </a:avLst>
          </a:prstGeom>
          <a:solidFill>
            <a:schemeClr val="bg2"/>
          </a:solidFill>
          <a:ln w="12700">
            <a:solidFill>
              <a:schemeClr val="bg2"/>
            </a:solidFill>
            <a:prstDash val="solid"/>
          </a:ln>
        </p:spPr>
        <p:txBody>
          <a:bodyPr/>
          <a:p/>
        </p:txBody>
      </p:sp>
      <p:sp>
        <p:nvSpPr>
          <p:cNvPr id="22" name="Shape 20"/>
          <p:cNvSpPr/>
          <p:nvPr/>
        </p:nvSpPr>
        <p:spPr>
          <a:xfrm>
            <a:off x="786384" y="4686300"/>
            <a:ext cx="365760" cy="365760"/>
          </a:xfrm>
          <a:prstGeom prst="ellipse">
            <a:avLst/>
          </a:prstGeom>
          <a:solidFill>
            <a:schemeClr val="accent1"/>
          </a:solidFill>
          <a:ln w="12700">
            <a:solidFill>
              <a:schemeClr val="accent1"/>
            </a:solidFill>
            <a:prstDash val="solid"/>
          </a:ln>
        </p:spPr>
        <p:txBody>
          <a:bodyPr/>
          <a:p/>
        </p:txBody>
      </p:sp>
      <p:sp>
        <p:nvSpPr>
          <p:cNvPr id="23" name="Text 21"/>
          <p:cNvSpPr txBox="1"/>
          <p:nvPr/>
        </p:nvSpPr>
        <p:spPr>
          <a:xfrm>
            <a:off x="786384" y="46863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45720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paso 5 es el que más se omite y el que más averías produce después de una reparación correcta: el aire atrapado se acumula en la culata, que es el punto alto y el más caliente, y el motor se recalienta sin ninguna otra causa.</a:t>
            </a:r>
            <a:endParaRPr lang="en-US" sz="1450" dirty="0"/>
          </a:p>
        </p:txBody>
      </p:sp>
      <p:sp>
        <p:nvSpPr>
          <p:cNvPr id="25" name="Shape 23"/>
          <p:cNvSpPr/>
          <p:nvPr/>
        </p:nvSpPr>
        <p:spPr>
          <a:xfrm>
            <a:off x="548640" y="5330952"/>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7" name="Text 25"/>
          <p:cNvSpPr txBox="1"/>
          <p:nvPr/>
        </p:nvSpPr>
        <p:spPr>
          <a:xfrm>
            <a:off x="1078992" y="5294376"/>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se comprueba además en cada mantenimiento. </a:t>
            </a:r>
            <a:pPr indent="0" marL="0">
              <a:lnSpc>
                <a:spcPct val="106000"/>
              </a:lnSpc>
              <a:buNone/>
            </a:pPr>
            <a:r>
              <a:rPr lang="en-US" sz="1150" dirty="0">
                <a:solidFill>
                  <a:schemeClr val="accent4"/>
                </a:solidFill>
              </a:rPr>
              <a:t>estado de las mangueras, que deben estar flexibles y sin grietas ni zonas blandas; y apriete de sus abrazaderas</a:t>
            </a:r>
            <a:endParaRPr lang="en-US" sz="1150" dirty="0"/>
          </a:p>
        </p:txBody>
      </p:sp>
      <p:sp>
        <p:nvSpPr>
          <p:cNvPr id="28" name="Shape 26"/>
          <p:cNvSpPr/>
          <p:nvPr/>
        </p:nvSpPr>
        <p:spPr>
          <a:xfrm>
            <a:off x="548640" y="5667451"/>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66745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0" name="Text 28"/>
          <p:cNvSpPr txBox="1"/>
          <p:nvPr/>
        </p:nvSpPr>
        <p:spPr>
          <a:xfrm>
            <a:off x="1078992" y="5630875"/>
            <a:ext cx="10533888" cy="281635"/>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una manguera blanda es un aviso. </a:t>
            </a:r>
            <a:pPr indent="0" marL="0">
              <a:lnSpc>
                <a:spcPct val="106000"/>
              </a:lnSpc>
              <a:buNone/>
            </a:pPr>
            <a:r>
              <a:rPr lang="en-US" sz="1150" dirty="0">
                <a:solidFill>
                  <a:schemeClr val="accent4"/>
                </a:solidFill>
              </a:rPr>
              <a:t>indica que el material se ha degradado por el calor y los aditivos; puede reventar en servicio y dejar al motor sin refrigerante en segundos</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de refrigeración · mantenimiento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Resolución de los casos de refrigeración</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3931920"/>
                <a:gridCol w="4023360"/>
              </a:tblGrid>
              <a:tr h="512064">
                <a:tc>
                  <a:txBody>
                    <a:bodyPr/>
                    <a:lstStyle/>
                    <a:p>
                      <a:pPr indent="0" marL="0">
                        <a:buNone/>
                      </a:pPr>
                      <a:r>
                        <a:rPr lang="en-US" sz="1300" b="1" dirty="0">
                          <a:solidFill>
                            <a:srgbClr val="FFFFFF"/>
                          </a:solidFill>
                        </a:rPr>
                        <a:t>Patrón del 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Dónde buscar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150" b="1" dirty="0">
                          <a:solidFill>
                            <a:schemeClr val="tx1"/>
                          </a:solidFill>
                        </a:rPr>
                        <a:t>Se recalienta en ciudad, se enfría en carretera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Falta aire por el radiador cuando la marcha no lo mueve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Ventilador: termocontacto, relé, motor o embrague viscoso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Se recalienta siempre y deprisa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Falta circulación o falta fluido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Nivel, termostato bloqueado cerrado, bomba sin accionamiento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1"/>
                          </a:solidFill>
                        </a:rPr>
                        <a:t>Se recalienta solo en carga o pendiente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Hay circulación pero el intercambio no basta para esa 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Rodete erosionado, cámaras obstruidas, radiador obstruido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chemeClr val="tx1"/>
                          </a:solidFill>
                        </a:rPr>
                        <a:t>Tarda en calentar y no da calefacción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motor nunca alcanza su temperatura de trabajo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Termostato bloqueado abierto o ausente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50" b="1" dirty="0">
                          <a:solidFill>
                            <a:schemeClr val="tx1"/>
                          </a:solidFill>
                        </a:rPr>
                        <a:t>Recalentamientos sin patrón claro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Falla la presurización o hay aire en el circuito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Tapa del radiador; purga incompleta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44348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Cinco patrones y cinco familias de causas. Antes de conectar ningún instrumento, la descripción del cliente ya reduce el problema a una de ellas. Esa es la comprobación más rentable del oficio: escuchar bien.</a:t>
            </a:r>
            <a:endParaRPr lang="en-US" sz="1450" dirty="0"/>
          </a:p>
        </p:txBody>
      </p:sp>
      <p:sp>
        <p:nvSpPr>
          <p:cNvPr id="8" name="Shape 5"/>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12064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Las preguntas que hay que hacer al cliente. </a:t>
            </a:r>
            <a:pPr indent="0" marL="0">
              <a:lnSpc>
                <a:spcPct val="106000"/>
              </a:lnSpc>
              <a:buNone/>
            </a:pPr>
            <a:r>
              <a:rPr lang="en-US" sz="1150" dirty="0">
                <a:solidFill>
                  <a:schemeClr val="accent4"/>
                </a:solidFill>
              </a:rPr>
              <a:t>dónde ocurre, en qué condiciones de marcha, desde cuándo, si se ha tocado algo antes y si ha habido que rellenar refrigerante</a:t>
            </a:r>
            <a:endParaRPr lang="en-US" sz="1150" dirty="0"/>
          </a:p>
        </p:txBody>
      </p:sp>
      <p:sp>
        <p:nvSpPr>
          <p:cNvPr id="11" name="Shape 8"/>
          <p:cNvSpPr/>
          <p:nvPr/>
        </p:nvSpPr>
        <p:spPr>
          <a:xfrm>
            <a:off x="548640" y="554126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541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50468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 última pregunta importa. </a:t>
            </a:r>
            <a:pPr indent="0" marL="0">
              <a:lnSpc>
                <a:spcPct val="106000"/>
              </a:lnSpc>
              <a:buNone/>
            </a:pPr>
            <a:r>
              <a:rPr lang="en-US" sz="1150" dirty="0">
                <a:solidFill>
                  <a:schemeClr val="accent4"/>
                </a:solidFill>
              </a:rPr>
              <a:t>si ha habido que rellenar, hay una fuga, y lo primero es encontrarla antes de pensar en cualquier otra cosa</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de refrigeración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Ejercicio: capacidad y proporción de la mezcla</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Volumen de anticongelante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V</m:t>
                          </m:r>
                        </m:e>
                        <m:sub>
                          <m:r>
                            <a:rPr lang="es-EC" sz="2400" b="1" dirty="0" i="0">
                              <a:solidFill>
                                <a:srgbClr val="C0451C"/>
                              </a:solidFill>
                              <a:latin typeface="Cambria Math" panose="02040503050406030204" pitchFamily="18" charset="0"/>
                            </a:rPr>
                            <m:t xml:space="preserve">t</m:t>
                          </m:r>
                        </m:sub>
                      </m:sSub>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p</m:t>
                      </m:r>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V</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V</a:t>
                </a:r>
                <a:r>
                  <a:rPr lang="es-EC" sz="2400" b="1" baseline="-25000" dirty="0">
                    <a:solidFill>
                      <a:srgbClr val="C0451C"/>
                    </a:solidFill>
                  </a:rPr>
                  <a:t xml:space="preserve">t</a:t>
                </a:r>
                <a:r>
                  <a:rPr lang="es-EC" sz="2400" b="1" dirty="0">
                    <a:solidFill>
                      <a:srgbClr val="C0451C"/>
                    </a:solidFill>
                  </a:rPr>
                  <a:t xml:space="preserve"> · </a:t>
                </a:r>
                <a:r>
                  <a:rPr lang="es-EC" sz="2400" b="1" dirty="0">
                    <a:solidFill>
                      <a:srgbClr val="C0451C"/>
                    </a:solidFill>
                  </a:rPr>
                  <a:t xml:space="preserve">p</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Volumen total del circuito por la proporción de anticongelante que indica el fabricante.</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Datos. </a:t>
            </a:r>
            <a:pPr indent="0" marL="0">
              <a:lnSpc>
                <a:spcPct val="106000"/>
              </a:lnSpc>
              <a:buNone/>
            </a:pPr>
            <a:r>
              <a:rPr lang="en-US" sz="1100" dirty="0">
                <a:solidFill>
                  <a:schemeClr val="accent4"/>
                </a:solidFill>
              </a:rPr>
              <a:t>circuito de 6,5 litros de capacidad; el fabricante especifica una proporción del 50 % de anticongelante</a:t>
            </a:r>
            <a:endParaRPr lang="en-US" sz="110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Paso 1 — anticongelante necesario. </a:t>
            </a:r>
            <a:pPr indent="0" marL="0">
              <a:lnSpc>
                <a:spcPct val="106000"/>
              </a:lnSpc>
              <a:buNone/>
            </a:pPr>
            <a:r>
              <a:rPr lang="en-US" sz="1100" dirty="0">
                <a:solidFill>
                  <a:schemeClr val="accent4"/>
                </a:solidFill>
              </a:rPr>
              <a:t xml:space="preserve">V</a:t>
            </a:r>
            <a:r>
              <a:rPr baseline="-25000" lang="en-US" sz="1100" dirty="0">
                <a:solidFill>
                  <a:schemeClr val="accent4"/>
                </a:solidFill>
              </a:rPr>
              <a:t xml:space="preserve">a</a:t>
            </a:r>
            <a:r>
              <a:rPr lang="en-US" sz="1100" dirty="0">
                <a:solidFill>
                  <a:schemeClr val="accent4"/>
                </a:solidFill>
              </a:rPr>
              <a:t xml:space="preserve"> = 6,5 · 0,50 = 3,25 litros de anticongelante concentrado</a:t>
            </a:r>
            <a:endParaRPr lang="en-US" sz="110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Paso 2 — agua necesaria. </a:t>
            </a:r>
            <a:pPr indent="0" marL="0">
              <a:lnSpc>
                <a:spcPct val="106000"/>
              </a:lnSpc>
              <a:buNone/>
            </a:pPr>
            <a:r>
              <a:rPr lang="en-US" sz="1100" dirty="0">
                <a:solidFill>
                  <a:schemeClr val="accent4"/>
                </a:solidFill>
              </a:rPr>
              <a:t>6,5 − 3,25 = 3,25 litros de agua desmineralizada</a:t>
            </a:r>
            <a:endParaRPr lang="en-US" sz="110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Paso 3 — si el producto ya viene premezclado. </a:t>
            </a:r>
            <a:pPr indent="0" marL="0">
              <a:lnSpc>
                <a:spcPct val="106000"/>
              </a:lnSpc>
              <a:buNone/>
            </a:pPr>
            <a:r>
              <a:rPr lang="en-US" sz="1100" dirty="0">
                <a:solidFill>
                  <a:schemeClr val="accent4"/>
                </a:solidFill>
              </a:rPr>
              <a:t>se emplean los 6,5 litros directamente, sin añadir agua; mezclarlo de nuevo bajaría la proporción por debajo de lo especificado</a:t>
            </a:r>
            <a:endParaRPr lang="en-US" sz="1100" dirty="0"/>
          </a:p>
        </p:txBody>
      </p:sp>
      <p:sp>
        <p:nvSpPr>
          <p:cNvPr id="19" name="Shape 17"/>
          <p:cNvSpPr/>
          <p:nvPr/>
        </p:nvSpPr>
        <p:spPr>
          <a:xfrm>
            <a:off x="548640" y="41148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34340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062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error más común con el refrigerante es mezclar un producto que ya viene premezclado. El resultado es una proporción insuficiente, con menos protección anticorrosiva y menor margen de ebullición, sin que nada lo advierta.</a:t>
            </a:r>
            <a:endParaRPr lang="en-US" sz="1450" dirty="0"/>
          </a:p>
        </p:txBody>
      </p:sp>
      <p:sp>
        <p:nvSpPr>
          <p:cNvPr id="23" name="Shape 21"/>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24" name="Text 22"/>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3"/>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usa agua desmineralizada. </a:t>
            </a:r>
            <a:pPr indent="0" marL="0">
              <a:lnSpc>
                <a:spcPct val="106000"/>
              </a:lnSpc>
              <a:buNone/>
            </a:pPr>
            <a:r>
              <a:rPr lang="en-US" sz="1150" dirty="0">
                <a:solidFill>
                  <a:schemeClr val="accent4"/>
                </a:solidFill>
              </a:rPr>
              <a:t>el agua corriente aporta cal y minerales que se depositan en las cámaras y en el radiador, que es justo lo que se quiere evitar</a:t>
            </a:r>
            <a:endParaRPr lang="en-US" sz="1150" dirty="0"/>
          </a:p>
        </p:txBody>
      </p:sp>
      <p:sp>
        <p:nvSpPr>
          <p:cNvPr id="26" name="Shape 24"/>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27" name="Text 25"/>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8" name="Text 26"/>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la proporción. </a:t>
            </a:r>
            <a:pPr indent="0" marL="0">
              <a:lnSpc>
                <a:spcPct val="106000"/>
              </a:lnSpc>
              <a:buNone/>
            </a:pPr>
            <a:r>
              <a:rPr lang="en-US" sz="1150" dirty="0">
                <a:solidFill>
                  <a:schemeClr val="accent4"/>
                </a:solidFill>
              </a:rPr>
              <a:t>con refractómetro o densímetro específico de refrigerante, que indica el punto de congelación de la mezcla</a:t>
            </a:r>
            <a:endParaRPr lang="en-US" sz="1150" dirty="0"/>
          </a:p>
        </p:txBody>
      </p:sp>
      <p:sp>
        <p:nvSpPr>
          <p:cNvPr id="29" name="Shape 27"/>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1" name="Text 29"/>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buscar en la etiqueta. </a:t>
            </a:r>
            <a:pPr indent="0" marL="0">
              <a:lnSpc>
                <a:spcPct val="106000"/>
              </a:lnSpc>
              <a:buNone/>
            </a:pPr>
            <a:r>
              <a:rPr lang="en-US" sz="1150" dirty="0">
                <a:solidFill>
                  <a:schemeClr val="accent4"/>
                </a:solidFill>
              </a:rPr>
              <a:t>si dice concentrado, hay que diluirlo; si dice listo para usar o premezclado, se emplea tal cual</a:t>
            </a:r>
            <a:endParaRPr lang="en-US" sz="1150" dirty="0"/>
          </a:p>
        </p:txBody>
      </p:sp>
      <p:sp>
        <p:nvSpPr>
          <p:cNvPr id="32"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refrigeración por agua · habilidad de cálculo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se registra y lo que se explica al cliente</a:t>
            </a:r>
            <a:endParaRPr lang="en-US" sz="3200" dirty="0"/>
          </a:p>
        </p:txBody>
      </p:sp>
      <p:sp>
        <p:nvSpPr>
          <p:cNvPr id="3" name="tarjeta_1"/>
          <p:cNvSpPr/>
          <p:nvPr/>
        </p:nvSpPr>
        <p:spPr>
          <a:xfrm>
            <a:off x="54864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se registra en el historial</a:t>
            </a:r>
            <a:endParaRPr lang="en-US" sz="1700" dirty="0"/>
          </a:p>
        </p:txBody>
      </p:sp>
      <p:sp>
        <p:nvSpPr>
          <p:cNvPr id="7" name="Text 5"/>
          <p:cNvSpPr txBox="1"/>
          <p:nvPr/>
        </p:nvSpPr>
        <p:spPr>
          <a:xfrm>
            <a:off x="80467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Fecha y kilometraje del cambio de refrigerante, tipo y cantidad empleados, y piezas sustituidas: termostato, tapa, mangueras, bomba.</a:t>
            </a:r>
            <a:endParaRPr lang="en-US" sz="1100" dirty="0"/>
          </a:p>
        </p:txBody>
      </p:sp>
      <p:sp>
        <p:nvSpPr>
          <p:cNvPr id="8" name="tarjeta_2"/>
          <p:cNvSpPr/>
          <p:nvPr/>
        </p:nvSpPr>
        <p:spPr>
          <a:xfrm>
            <a:off x="432816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se comprueba antes de entregar</a:t>
            </a:r>
            <a:endParaRPr lang="en-US" sz="1700" dirty="0"/>
          </a:p>
        </p:txBody>
      </p:sp>
      <p:sp>
        <p:nvSpPr>
          <p:cNvPr id="12" name="Text 10"/>
          <p:cNvSpPr txBox="1"/>
          <p:nvPr/>
        </p:nvSpPr>
        <p:spPr>
          <a:xfrm>
            <a:off x="458419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Temperatura estable tras varios minutos, entrada del ventilador, calefacción caliente, ausencia de fugas y nivel correcto en frío.</a:t>
            </a:r>
            <a:endParaRPr lang="en-US" sz="1100" dirty="0"/>
          </a:p>
        </p:txBody>
      </p:sp>
      <p:sp>
        <p:nvSpPr>
          <p:cNvPr id="13" name="tarjeta_3"/>
          <p:cNvSpPr/>
          <p:nvPr/>
        </p:nvSpPr>
        <p:spPr>
          <a:xfrm>
            <a:off x="8107680" y="1417320"/>
            <a:ext cx="3505200" cy="2377440"/>
          </a:xfrm>
          <a:prstGeom prst="roundRect">
            <a:avLst>
              <a:gd name="adj" fmla="val 3077"/>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 que se explica al cliente</a:t>
            </a:r>
            <a:endParaRPr lang="en-US" sz="1700" dirty="0"/>
          </a:p>
        </p:txBody>
      </p:sp>
      <p:sp>
        <p:nvSpPr>
          <p:cNvPr id="17" name="Text 15"/>
          <p:cNvSpPr txBox="1"/>
          <p:nvPr/>
        </p:nvSpPr>
        <p:spPr>
          <a:xfrm>
            <a:off x="8363712" y="2167128"/>
            <a:ext cx="2993136" cy="140817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Que el refrigerante tiene intervalo de cambio, que no se rellena con agua sola salvo emergencia, y que ante un recalentamiento hay que detener el vehículo.</a:t>
            </a:r>
            <a:endParaRPr lang="en-US" sz="1100" dirty="0"/>
          </a:p>
        </p:txBody>
      </p:sp>
      <p:sp>
        <p:nvSpPr>
          <p:cNvPr id="18" name="Shape 16"/>
          <p:cNvSpPr/>
          <p:nvPr/>
        </p:nvSpPr>
        <p:spPr>
          <a:xfrm>
            <a:off x="548640" y="3931920"/>
            <a:ext cx="11064240" cy="777240"/>
          </a:xfrm>
          <a:prstGeom prst="roundRect">
            <a:avLst>
              <a:gd name="adj" fmla="val 7059"/>
            </a:avLst>
          </a:prstGeom>
          <a:solidFill>
            <a:schemeClr val="bg2"/>
          </a:solidFill>
          <a:ln w="12700">
            <a:solidFill>
              <a:schemeClr val="bg2"/>
            </a:solidFill>
            <a:prstDash val="solid"/>
          </a:ln>
        </p:spPr>
        <p:txBody>
          <a:bodyPr/>
          <a:p/>
        </p:txBody>
      </p:sp>
      <p:sp>
        <p:nvSpPr>
          <p:cNvPr id="19" name="Shape 17"/>
          <p:cNvSpPr/>
          <p:nvPr/>
        </p:nvSpPr>
        <p:spPr>
          <a:xfrm>
            <a:off x="786384" y="4137660"/>
            <a:ext cx="365760" cy="365760"/>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786384" y="41376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9"/>
          <p:cNvSpPr txBox="1"/>
          <p:nvPr/>
        </p:nvSpPr>
        <p:spPr>
          <a:xfrm>
            <a:off x="1298448" y="40233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tercera tarjeta es la que más motores salva. Un cliente que entiende que no debe seguir circulando con el testigo de temperatura encendido evita, él solo, la reparación más cara de esta asignatura.</a:t>
            </a:r>
            <a:endParaRPr lang="en-US" sz="1450" dirty="0"/>
          </a:p>
        </p:txBody>
      </p:sp>
      <p:sp>
        <p:nvSpPr>
          <p:cNvPr id="22" name="Shape 20"/>
          <p:cNvSpPr/>
          <p:nvPr/>
        </p:nvSpPr>
        <p:spPr>
          <a:xfrm>
            <a:off x="548640" y="4882896"/>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846320"/>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se comprueba el nivel al día siguiente. </a:t>
            </a:r>
            <a:pPr indent="0" marL="0">
              <a:lnSpc>
                <a:spcPct val="106000"/>
              </a:lnSpc>
              <a:buNone/>
            </a:pPr>
            <a:r>
              <a:rPr lang="en-US" sz="1150" dirty="0">
                <a:solidFill>
                  <a:schemeClr val="accent4"/>
                </a:solidFill>
              </a:rPr>
              <a:t>el aire residual del circuito termina de salir con los primeros ciclos térmicos, y el nivel baja; reponerlo entonces completa el trabajo</a:t>
            </a:r>
            <a:endParaRPr lang="en-US" sz="1150" dirty="0"/>
          </a:p>
        </p:txBody>
      </p:sp>
      <p:sp>
        <p:nvSpPr>
          <p:cNvPr id="25" name="Shape 23"/>
          <p:cNvSpPr/>
          <p:nvPr/>
        </p:nvSpPr>
        <p:spPr>
          <a:xfrm>
            <a:off x="548640" y="5221224"/>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5184648"/>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anotar si se detectó una fuga interna. </a:t>
            </a:r>
            <a:pPr indent="0" marL="0">
              <a:lnSpc>
                <a:spcPct val="106000"/>
              </a:lnSpc>
              <a:buNone/>
            </a:pPr>
            <a:r>
              <a:rPr lang="en-US" sz="1150" dirty="0">
                <a:solidFill>
                  <a:schemeClr val="accent4"/>
                </a:solidFill>
              </a:rPr>
              <a:t>el hallazgo, la prueba que lo confirmó y la recomendación; aunque el cliente no autorice la reparación, el registro protege al taller y al propio cliente</a:t>
            </a:r>
            <a:endParaRPr lang="en-US" sz="1150" dirty="0"/>
          </a:p>
        </p:txBody>
      </p:sp>
      <p:sp>
        <p:nvSpPr>
          <p:cNvPr id="28" name="Shape 26"/>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5522976"/>
            <a:ext cx="10533888" cy="28346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no hacer nunca. </a:t>
            </a:r>
            <a:pPr indent="0" marL="0">
              <a:lnSpc>
                <a:spcPct val="106000"/>
              </a:lnSpc>
              <a:buNone/>
            </a:pPr>
            <a:r>
              <a:rPr lang="en-US" sz="1150" dirty="0">
                <a:solidFill>
                  <a:schemeClr val="accent4"/>
                </a:solidFill>
              </a:rPr>
              <a:t>entregar un vehículo con el circuito sin purgar o con una fuga conocida sin advertirla por escrito</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diagnóstico del circuito · habilidades blandas: liderazgo ético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Preguntas de repaso de las clases 4.1 y 4.2</a:t>
            </a:r>
            <a:endParaRPr lang="en-US" sz="32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6675120"/>
                <a:gridCol w="3657600"/>
              </a:tblGrid>
              <a:tr h="475488">
                <a:tc>
                  <a:txBody>
                    <a:bodyPr/>
                    <a:lstStyle/>
                    <a:p>
                      <a:pPr indent="0" marL="0">
                        <a:buNone/>
                      </a:pPr>
                      <a:r>
                        <a:rPr lang="en-US" sz="1300" b="1" dirty="0">
                          <a:solidFill>
                            <a:srgbClr val="FFFFFF"/>
                          </a:solidFill>
                        </a:rPr>
                        <a:t>Nro.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Pregunta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comprueba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00" b="1" dirty="0">
                          <a:solidFill>
                            <a:schemeClr val="tx1"/>
                          </a:solidFill>
                        </a:rPr>
                        <a:t>1</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¿Por qué el arranque es el momento de mayor desgaste del motor, incluso en uno bien mantenido?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Lubricación hidrodinámica y su dependencia del giro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2</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Un filtro de aceite saturado no produce ningún síntoma perceptible. ¿Por qué, y qué está ocurriendo mientras tanto?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Válvula by-pass del filtro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3</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¿Por qué el testigo rojo de presión de aceite no es un aviso para llegar al taller?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Naturaleza del testigo como interruptor de mínimo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4</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Explique por qué el sistema de refrigeración impide que el motor se enfríe demasiado, y cómo lo hace.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Función reguladora del termostato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00" b="1" dirty="0">
                          <a:solidFill>
                            <a:schemeClr val="tx1"/>
                          </a:solidFill>
                        </a:rPr>
                        <a:t>5</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¿Por qué el circuito de refrigeración va presurizado y qué ocurre si la tapa no tara?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Relación entre presión y temperatura de ebullición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chemeClr val="tx1"/>
                          </a:solidFill>
                        </a:rPr>
                        <a:t>6</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Un motor se recalienta solo en ciudad. ¿Qué descarta ese dato y qué sospecha?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Patrones de síntoma y familias de causas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480560"/>
            <a:ext cx="11064240" cy="731520"/>
          </a:xfrm>
          <a:prstGeom prst="roundRect">
            <a:avLst>
              <a:gd name="adj" fmla="val 7500"/>
            </a:avLst>
          </a:prstGeom>
          <a:solidFill>
            <a:schemeClr val="bg2"/>
          </a:solidFill>
          <a:ln w="12700">
            <a:solidFill>
              <a:schemeClr val="bg2"/>
            </a:solidFill>
            <a:prstDash val="solid"/>
          </a:ln>
        </p:spPr>
        <p:txBody>
          <a:bodyPr/>
          <a:p/>
        </p:txBody>
      </p:sp>
      <p:sp>
        <p:nvSpPr>
          <p:cNvPr id="5" name="Shape 2"/>
          <p:cNvSpPr/>
          <p:nvPr/>
        </p:nvSpPr>
        <p:spPr>
          <a:xfrm>
            <a:off x="786384" y="46634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572000"/>
            <a:ext cx="10058400" cy="54864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Las seis preguntas tienen el formato de la prueba de unidad: ninguna se responde con una definición memorizada, todas exigen explicar un porqué o interpretar un patrón.</a:t>
            </a:r>
            <a:endParaRPr lang="en-US" sz="1450" dirty="0"/>
          </a:p>
        </p:txBody>
      </p:sp>
      <p:sp>
        <p:nvSpPr>
          <p:cNvPr id="8" name="Shape 5"/>
          <p:cNvSpPr/>
          <p:nvPr/>
        </p:nvSpPr>
        <p:spPr>
          <a:xfrm>
            <a:off x="548640" y="5312664"/>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312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276088"/>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usarlas. </a:t>
            </a:r>
            <a:pPr indent="0" marL="0">
              <a:lnSpc>
                <a:spcPct val="106000"/>
              </a:lnSpc>
              <a:buNone/>
            </a:pPr>
            <a:r>
              <a:rPr lang="en-US" sz="1150" dirty="0">
                <a:solidFill>
                  <a:schemeClr val="accent4"/>
                </a:solidFill>
              </a:rPr>
              <a:t>en parejas, respondiendo en voz alta y contrastando; después, por escrito, para fijar la redacción</a:t>
            </a:r>
            <a:endParaRPr lang="en-US" sz="1150" dirty="0"/>
          </a:p>
        </p:txBody>
      </p:sp>
      <p:sp>
        <p:nvSpPr>
          <p:cNvPr id="11" name="Shape 8"/>
          <p:cNvSpPr/>
          <p:nvPr/>
        </p:nvSpPr>
        <p:spPr>
          <a:xfrm>
            <a:off x="548640" y="5665622"/>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66562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629046"/>
            <a:ext cx="10533888" cy="29809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encajan. </a:t>
            </a:r>
            <a:pPr indent="0" marL="0">
              <a:lnSpc>
                <a:spcPct val="106000"/>
              </a:lnSpc>
              <a:buNone/>
            </a:pPr>
            <a:r>
              <a:rPr lang="en-US" sz="1150" dirty="0">
                <a:solidFill>
                  <a:schemeClr val="accent4"/>
                </a:solidFill>
              </a:rPr>
              <a:t>forman parte del trabajo autónomo junto con la guía didáctica de la unidad 4 y su cuestionario</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Actividades de trabajo autónomo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4.3  ·  2 HORAS DE DOCENCIA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bloque motor</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Función · Materiales · Camisas · Conductos de aceite y refrigerante · Apoyos de bancada · Comprobaciones</a:t>
            </a:r>
            <a:endParaRPr lang="en-US" sz="17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Identificar las partes del bloque motor, explicar la función de sus conductos y ejecutar sus comprobaciones aplicando el criterio del manual.</a:t>
            </a:r>
            <a:endParaRPr lang="en-US" sz="115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4</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Bloque de motor.</a:t>
            </a:r>
            <a:endParaRPr lang="en-US" sz="1150" dirty="0"/>
          </a:p>
          <a:p>
            <a:pPr indent="0" marL="0">
              <a:lnSpc>
                <a:spcPct val="108000"/>
              </a:lnSpc>
              <a:buNone/>
            </a:pPr>
            <a:endParaRPr lang="en-US" sz="1150" dirty="0"/>
          </a:p>
          <a:p>
            <a:pPr indent="0" marL="0">
              <a:lnSpc>
                <a:spcPct val="108000"/>
              </a:lnSpc>
              <a:buNone/>
            </a:pPr>
            <a:r>
              <a:rPr lang="en-US" sz="1150" dirty="0">
                <a:solidFill>
                  <a:schemeClr val="accent4"/>
                </a:solidFill>
              </a:rPr>
              <a:t>Es el undécimo de los trece conocimientos declarados para la unidad.</a:t>
            </a:r>
            <a:endParaRPr lang="en-US" sz="115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1 de los 13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150" dirty="0">
                <a:solidFill>
                  <a:schemeClr val="accent4"/>
                </a:solidFill>
              </a:rPr>
              <a:t>Ficha de comprobaciones del bloque, enlazada con la que se completó en la práctica de la Unidad 1.</a:t>
            </a:r>
            <a:endParaRPr lang="en-US" sz="115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Instrumento de evaluación</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bloque desmontado, el estudiante debe poder decidir si es apto, si necesita rectificado y de qué tipo, o si debe rechazarse, justificando la decisión con las medidas tomadas.</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Qué hace el bloque. </a:t>
            </a:r>
            <a:pPr indent="0" marL="0">
              <a:lnSpc>
                <a:spcPct val="106000"/>
              </a:lnSpc>
              <a:buNone/>
            </a:pPr>
            <a:r>
              <a:rPr lang="en-US" sz="1200" dirty="0">
                <a:solidFill>
                  <a:schemeClr val="accent4"/>
                </a:solidFill>
              </a:rPr>
              <a:t>las exigencias que debe cumplir simultáneamente y cómo condicionan su diseño</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De qué está hecho. </a:t>
            </a:r>
            <a:pPr indent="0" marL="0">
              <a:lnSpc>
                <a:spcPct val="106000"/>
              </a:lnSpc>
              <a:buNone/>
            </a:pPr>
            <a:r>
              <a:rPr lang="en-US" sz="1200" dirty="0">
                <a:solidFill>
                  <a:schemeClr val="accent4"/>
                </a:solidFill>
              </a:rPr>
              <a:t>fundición y aleación ligera: qué aporta cada material y qué consecuencias tiene</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camisas. </a:t>
            </a:r>
            <a:pPr indent="0" marL="0">
              <a:lnSpc>
                <a:spcPct val="106000"/>
              </a:lnSpc>
              <a:buNone/>
            </a:pPr>
            <a:r>
              <a:rPr lang="en-US" sz="1200" dirty="0">
                <a:solidFill>
                  <a:schemeClr val="accent4"/>
                </a:solidFill>
              </a:rPr>
              <a:t>integradas, secas y húmedas: qué resuelve cada solución y qué exige su montaje</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conductos. </a:t>
            </a:r>
            <a:pPr indent="0" marL="0">
              <a:lnSpc>
                <a:spcPct val="106000"/>
              </a:lnSpc>
              <a:buNone/>
            </a:pPr>
            <a:r>
              <a:rPr lang="en-US" sz="1200" dirty="0">
                <a:solidFill>
                  <a:schemeClr val="accent4"/>
                </a:solidFill>
              </a:rPr>
              <a:t>galería de aceite y cámaras de refrigeración, ya conocidos de las dos clases anteriores</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Las comprobaciones. </a:t>
            </a:r>
            <a:pPr indent="0" marL="0">
              <a:lnSpc>
                <a:spcPct val="106000"/>
              </a:lnSpc>
              <a:buNone/>
            </a:pPr>
            <a:r>
              <a:rPr lang="en-US" sz="1200" dirty="0">
                <a:solidFill>
                  <a:schemeClr val="accent4"/>
                </a:solidFill>
              </a:rPr>
              <a:t>planitud, cilindros, apoyos de bancada y fisuras, con sus criterios de aceptación</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el bloque tiene que hacer a la vez</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b_bloque.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47. </a:t>
            </a:r>
            <a:pPr indent="0" marL="0">
              <a:lnSpc>
                <a:spcPct val="102000"/>
              </a:lnSpc>
              <a:buNone/>
            </a:pPr>
            <a:r>
              <a:rPr lang="en-US" sz="1000" dirty="0">
                <a:solidFill>
                  <a:schemeClr val="accent4"/>
                </a:solidFill>
              </a:rPr>
              <a:t>Bloque motor con sus elementos auxiliares: bomba de aceite, filtro, radiador de aceite y termostato. Adaptado de Minga González, M. A. (s. f.). Constitución del motor: el bloque de cilindros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Alojar los cilindros. </a:t>
            </a:r>
            <a:pPr indent="0" marL="0">
              <a:lnSpc>
                <a:spcPct val="106000"/>
              </a:lnSpc>
              <a:buNone/>
            </a:pPr>
            <a:r>
              <a:rPr lang="en-US" sz="1100" dirty="0">
                <a:solidFill>
                  <a:schemeClr val="accent4"/>
                </a:solidFill>
              </a:rPr>
              <a:t>con la precisión de forma y de acabado que exige el deslizamiento de los segmentos</a:t>
            </a:r>
            <a:endParaRPr lang="en-US" sz="1100" dirty="0"/>
          </a:p>
        </p:txBody>
      </p:sp>
      <p:sp>
        <p:nvSpPr>
          <p:cNvPr id="9" name="Shape 6"/>
          <p:cNvSpPr/>
          <p:nvPr/>
        </p:nvSpPr>
        <p:spPr>
          <a:xfrm>
            <a:off x="5852160" y="2048256"/>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048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01168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Soportar el cigüeñal. </a:t>
            </a:r>
            <a:pPr indent="0" marL="0">
              <a:lnSpc>
                <a:spcPct val="106000"/>
              </a:lnSpc>
              <a:buNone/>
            </a:pPr>
            <a:r>
              <a:rPr lang="en-US" sz="1100" dirty="0">
                <a:solidFill>
                  <a:schemeClr val="accent4"/>
                </a:solidFill>
              </a:rPr>
              <a:t>sus apoyos de bancada son la referencia de todo el tren alternativo y deben estar perfectamente alineados</a:t>
            </a:r>
            <a:endParaRPr lang="en-US" sz="1100" dirty="0"/>
          </a:p>
        </p:txBody>
      </p:sp>
      <p:sp>
        <p:nvSpPr>
          <p:cNvPr id="12" name="Shape 9"/>
          <p:cNvSpPr/>
          <p:nvPr/>
        </p:nvSpPr>
        <p:spPr>
          <a:xfrm>
            <a:off x="5852160" y="2596896"/>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56032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Resistir los esfuerzos. </a:t>
            </a:r>
            <a:pPr indent="0" marL="0">
              <a:lnSpc>
                <a:spcPct val="106000"/>
              </a:lnSpc>
              <a:buNone/>
            </a:pPr>
            <a:r>
              <a:rPr lang="en-US" sz="1100" dirty="0">
                <a:solidFill>
                  <a:schemeClr val="accent4"/>
                </a:solidFill>
              </a:rPr>
              <a:t>recibe la presión de combustión a través de la culata y las reacciones del cigüeñal por abajo</a:t>
            </a:r>
            <a:endParaRPr lang="en-US" sz="1100" dirty="0"/>
          </a:p>
        </p:txBody>
      </p:sp>
      <p:sp>
        <p:nvSpPr>
          <p:cNvPr id="15" name="Shape 12"/>
          <p:cNvSpPr/>
          <p:nvPr/>
        </p:nvSpPr>
        <p:spPr>
          <a:xfrm>
            <a:off x="5852160" y="3145536"/>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10896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Contener los dos circuitos. </a:t>
            </a:r>
            <a:pPr indent="0" marL="0">
              <a:lnSpc>
                <a:spcPct val="106000"/>
              </a:lnSpc>
              <a:buNone/>
            </a:pPr>
            <a:r>
              <a:rPr lang="en-US" sz="1100" dirty="0">
                <a:solidFill>
                  <a:schemeClr val="accent4"/>
                </a:solidFill>
              </a:rPr>
              <a:t>la galería principal de aceite y las cámaras de refrigeración están labradas en su interior</a:t>
            </a:r>
            <a:endParaRPr lang="en-US" sz="1100" dirty="0"/>
          </a:p>
        </p:txBody>
      </p:sp>
      <p:sp>
        <p:nvSpPr>
          <p:cNvPr id="18" name="Shape 15"/>
          <p:cNvSpPr/>
          <p:nvPr/>
        </p:nvSpPr>
        <p:spPr>
          <a:xfrm>
            <a:off x="5852160" y="3694176"/>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85216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382512" y="3657600"/>
            <a:ext cx="5230368" cy="493776"/>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Servir de estructura. </a:t>
            </a:r>
            <a:pPr indent="0" marL="0">
              <a:lnSpc>
                <a:spcPct val="106000"/>
              </a:lnSpc>
              <a:buNone/>
            </a:pPr>
            <a:r>
              <a:rPr lang="en-US" sz="1100" dirty="0">
                <a:solidFill>
                  <a:schemeClr val="accent4"/>
                </a:solidFill>
              </a:rPr>
              <a:t>en muchos vehículos el bloque es además elemento estructural, con los soportes del motor anclados en él</a:t>
            </a:r>
            <a:endParaRPr lang="en-US" sz="1100" dirty="0"/>
          </a:p>
        </p:txBody>
      </p:sp>
      <p:sp>
        <p:nvSpPr>
          <p:cNvPr id="21" name="Shape 18"/>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22" name="Shape 19"/>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3" name="Text 20"/>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1"/>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exigencia menos evidente y más crítica es la segunda: los apoyos de bancada deben estar alineados entre sí con precisión muy alta. Si esa alineación se pierde, el cigüeñal trabaja forzado y los cojinetes se destruyen por mucho que las holguras individuales sean correctas.</a:t>
            </a:r>
            <a:endParaRPr lang="en-US" sz="1450" dirty="0"/>
          </a:p>
        </p:txBody>
      </p:sp>
      <p:sp>
        <p:nvSpPr>
          <p:cNvPr id="25" name="Text 22"/>
          <p:cNvSpPr txBox="1"/>
          <p:nvPr/>
        </p:nvSpPr>
        <p:spPr>
          <a:xfrm>
            <a:off x="548640" y="5120640"/>
            <a:ext cx="11064240" cy="54864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Esa alineación se consigue mecanizando los apoyos con los sombreretes ya montados y apretados a su par. Por eso los sombreretes de bancada no son intercambiables entre sí ni se montan girados: cada uno pertenece a su apoyo y a su orientación.</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Materiales y camisas</a:t>
            </a:r>
            <a:endParaRPr lang="en-US" sz="3200" dirty="0"/>
          </a:p>
        </p:txBody>
      </p:sp>
      <p:sp>
        <p:nvSpPr>
          <p:cNvPr id="3" name="marco_figura"/>
          <p:cNvSpPr/>
          <p:nvPr/>
        </p:nvSpPr>
        <p:spPr>
          <a:xfrm>
            <a:off x="548640" y="1371600"/>
            <a:ext cx="420624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b_encamisado.jpg">    </p:cNvPr>
          <p:cNvPicPr>
            <a:picLocks noChangeAspect="1"/>
          </p:cNvPicPr>
          <p:nvPr/>
        </p:nvPicPr>
        <p:blipFill>
          <a:blip r:embed="rId1"/>
          <a:srcRect l="0" r="0" t="0" b="0"/>
          <a:stretch/>
        </p:blipFill>
        <p:spPr>
          <a:xfrm>
            <a:off x="658368" y="1481328"/>
            <a:ext cx="3986784" cy="2249424"/>
          </a:xfrm>
          <a:prstGeom prst="rect">
            <a:avLst/>
          </a:prstGeom>
        </p:spPr>
      </p:pic>
      <p:sp>
        <p:nvSpPr>
          <p:cNvPr id="5" name="Text 2"/>
          <p:cNvSpPr txBox="1"/>
          <p:nvPr/>
        </p:nvSpPr>
        <p:spPr>
          <a:xfrm>
            <a:off x="658368" y="384048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48. </a:t>
            </a:r>
            <a:pPr indent="0" marL="0">
              <a:lnSpc>
                <a:spcPct val="102000"/>
              </a:lnSpc>
              <a:buNone/>
            </a:pPr>
            <a:r>
              <a:rPr lang="en-US" sz="1000" dirty="0">
                <a:solidFill>
                  <a:schemeClr val="accent4"/>
                </a:solidFill>
              </a:rPr>
              <a:t>Encamisado de un bloque: sustitución de la camisa en una rectificadora. Adaptado de Minga González, M. A. (s. f.). Constitución del motor: el bloque de cilindros [diapositivas]. ISTS.</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120640" y="1371600"/>
          <a:ext cx="6492240" cy="914400"/>
        </p:xfrm>
        <a:graphic>
          <a:graphicData uri="http://schemas.openxmlformats.org/drawingml/2006/table">
            <a:tbl>
              <a:tblPr/>
              <a:tblGrid>
                <a:gridCol w="2103120"/>
                <a:gridCol w="2194560"/>
                <a:gridCol w="2194560"/>
              </a:tblGrid>
              <a:tr h="457200">
                <a:tc>
                  <a:txBody>
                    <a:bodyPr/>
                    <a:lstStyle/>
                    <a:p>
                      <a:pPr indent="0" marL="0">
                        <a:buNone/>
                      </a:pPr>
                      <a:r>
                        <a:rPr lang="en-US" sz="1300" b="1" dirty="0">
                          <a:solidFill>
                            <a:srgbClr val="FFFFFF"/>
                          </a:solidFill>
                        </a:rPr>
                        <a:t>Solución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implica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050" b="1" dirty="0">
                          <a:solidFill>
                            <a:schemeClr val="tx1"/>
                          </a:solidFill>
                        </a:rPr>
                        <a:t>Cilindro integrado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El cilindro se mecaniza en el propio material del bloque, normalmente fundición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Rectificado a sobremedida con pistones mayores; limitado por el espesor de pared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Camisa seca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Casquillo insertado a presión, sin contacto con el refrigerante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Permite recuperar el bloque sustituyendo la camisa, sin cambiar de pistón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1"/>
                          </a:solidFill>
                        </a:rPr>
                        <a:t>Camisa húmeda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Casquillo en contacto directo con el refrigerante, con juntas tóricas y saliente controlado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Mejor refrigeración y sustitución sencilla; exige controlar el saliente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Bloque de aleación ligera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Aluminio con tratamiento superficial del cilindro o con camisa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Más ligero y mejor conductor; más sensible al recalentamiento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06908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29768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297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1605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elección entre rectificar a sobremedida o encamisar es económica y técnica a la vez: rectificar exige pistones nuevos de mayor diámetro y consume espesor de pared; encamisar devuelve el cilindro a su medida original y permite conservar los pistones si están en buen estado.</a:t>
            </a:r>
            <a:endParaRPr lang="en-US" sz="1450" dirty="0"/>
          </a:p>
        </p:txBody>
      </p:sp>
      <p:sp>
        <p:nvSpPr>
          <p:cNvPr id="11" name="Shape 7"/>
          <p:cNvSpPr/>
          <p:nvPr/>
        </p:nvSpPr>
        <p:spPr>
          <a:xfrm>
            <a:off x="548640" y="5020056"/>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49834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consulta antes de decidir. </a:t>
            </a:r>
            <a:pPr indent="0" marL="0">
              <a:lnSpc>
                <a:spcPct val="106000"/>
              </a:lnSpc>
              <a:buNone/>
            </a:pPr>
            <a:r>
              <a:rPr lang="en-US" sz="1150" dirty="0">
                <a:solidFill>
                  <a:schemeClr val="accent4"/>
                </a:solidFill>
              </a:rPr>
              <a:t>las sobremedidas disponibles para ese motor y el límite de rectificado; si no quedan sobremedidas, la única salida es encamisar</a:t>
            </a:r>
            <a:endParaRPr lang="en-US" sz="1150" dirty="0"/>
          </a:p>
        </p:txBody>
      </p:sp>
      <p:sp>
        <p:nvSpPr>
          <p:cNvPr id="14" name="Shape 10"/>
          <p:cNvSpPr/>
          <p:nvPr/>
        </p:nvSpPr>
        <p:spPr>
          <a:xfrm>
            <a:off x="548640" y="5385816"/>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85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492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comprueba tras encamisar. </a:t>
            </a:r>
            <a:pPr indent="0" marL="0">
              <a:lnSpc>
                <a:spcPct val="106000"/>
              </a:lnSpc>
              <a:buNone/>
            </a:pPr>
            <a:r>
              <a:rPr lang="en-US" sz="1150" dirty="0">
                <a:solidFill>
                  <a:schemeClr val="accent4"/>
                </a:solidFill>
              </a:rPr>
              <a:t>el diámetro final, el saliente si es camisa húmeda, y que el acabado superficial tenga el rayado cruzado que retiene el aceite</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 · enlaza con la metrología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conductos del bloque: aceite y refrigerante</a:t>
            </a:r>
            <a:endParaRPr lang="en-US" sz="3200" dirty="0"/>
          </a:p>
        </p:txBody>
      </p:sp>
      <p:sp>
        <p:nvSpPr>
          <p:cNvPr id="3" name="marco_figura"/>
          <p:cNvSpPr/>
          <p:nvPr/>
        </p:nvSpPr>
        <p:spPr>
          <a:xfrm>
            <a:off x="548640" y="1371600"/>
            <a:ext cx="530352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b_conducto_aceite.jpg">    </p:cNvPr>
          <p:cNvPicPr>
            <a:picLocks noChangeAspect="1"/>
          </p:cNvPicPr>
          <p:nvPr/>
        </p:nvPicPr>
        <p:blipFill>
          <a:blip r:embed="rId1"/>
          <a:srcRect l="0" r="0" t="0" b="0"/>
          <a:stretch/>
        </p:blipFill>
        <p:spPr>
          <a:xfrm>
            <a:off x="658368" y="1481328"/>
            <a:ext cx="5084064" cy="2432304"/>
          </a:xfrm>
          <a:prstGeom prst="rect">
            <a:avLst/>
          </a:prstGeom>
        </p:spPr>
      </p:pic>
      <p:sp>
        <p:nvSpPr>
          <p:cNvPr id="5" name="Text 2"/>
          <p:cNvSpPr txBox="1"/>
          <p:nvPr/>
        </p:nvSpPr>
        <p:spPr>
          <a:xfrm>
            <a:off x="658368" y="4023360"/>
            <a:ext cx="50840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49. </a:t>
            </a:r>
            <a:pPr indent="0" marL="0">
              <a:lnSpc>
                <a:spcPct val="102000"/>
              </a:lnSpc>
              <a:buNone/>
            </a:pPr>
            <a:r>
              <a:rPr lang="en-US" sz="1000" dirty="0">
                <a:solidFill>
                  <a:schemeClr val="accent4"/>
                </a:solidFill>
              </a:rPr>
              <a:t>Conducción principal de aceite, apoyos de bancada y de biela, y toma de aceite. Adaptado de Minga González, M. A. (s. f.). Constitución del motor: el bloque de cilindros [diapositivas]. ISTS.</a:t>
            </a:r>
            <a:endParaRPr lang="en-US" sz="1000" dirty="0"/>
          </a:p>
        </p:txBody>
      </p:sp>
      <p:sp>
        <p:nvSpPr>
          <p:cNvPr id="6" name="marco_figura"/>
          <p:cNvSpPr/>
          <p:nvPr/>
        </p:nvSpPr>
        <p:spPr>
          <a:xfrm>
            <a:off x="6217920" y="1371600"/>
            <a:ext cx="5394960" cy="3035808"/>
          </a:xfrm>
          <a:prstGeom prst="roundRect">
            <a:avLst>
              <a:gd name="adj" fmla="val 1807"/>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b_circuito_agua.jpg">    </p:cNvPr>
          <p:cNvPicPr>
            <a:picLocks noChangeAspect="1"/>
          </p:cNvPicPr>
          <p:nvPr/>
        </p:nvPicPr>
        <p:blipFill>
          <a:blip r:embed="rId2"/>
          <a:srcRect l="0" r="0" t="0" b="0"/>
          <a:stretch/>
        </p:blipFill>
        <p:spPr>
          <a:xfrm>
            <a:off x="6327648" y="1481328"/>
            <a:ext cx="5175504" cy="2432304"/>
          </a:xfrm>
          <a:prstGeom prst="rect">
            <a:avLst/>
          </a:prstGeom>
        </p:spPr>
      </p:pic>
      <p:sp>
        <p:nvSpPr>
          <p:cNvPr id="8" name="Text 4"/>
          <p:cNvSpPr txBox="1"/>
          <p:nvPr/>
        </p:nvSpPr>
        <p:spPr>
          <a:xfrm>
            <a:off x="6327648" y="4023360"/>
            <a:ext cx="5175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50. </a:t>
            </a:r>
            <a:pPr indent="0" marL="0">
              <a:lnSpc>
                <a:spcPct val="102000"/>
              </a:lnSpc>
              <a:buNone/>
            </a:pPr>
            <a:r>
              <a:rPr lang="en-US" sz="1000" dirty="0">
                <a:solidFill>
                  <a:schemeClr val="accent4"/>
                </a:solidFill>
              </a:rPr>
              <a:t>Cámaras y conductos de agua del bloque y de la culata. Adaptado de Minga González, M. A. (s. f.). El sistema de refrigeración [diapositivas]. ISTS.</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2743200"/>
                <a:gridCol w="4114800"/>
                <a:gridCol w="4206240"/>
              </a:tblGrid>
              <a:tr h="402336">
                <a:tc>
                  <a:txBody>
                    <a:bodyPr/>
                    <a:lstStyle/>
                    <a:p>
                      <a:pPr indent="0" marL="0">
                        <a:buNone/>
                      </a:pPr>
                      <a:r>
                        <a:rPr lang="en-US" sz="1300" b="1" dirty="0">
                          <a:solidFill>
                            <a:srgbClr val="FFFFFF"/>
                          </a:solidFill>
                        </a:rPr>
                        <a:t>Conducto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alimenta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comprueba al desarmar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Galería principal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Los apoyos de bancada y, desde ellos, los de biela por el cigüeñal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Que esté limpia y libre; se sopla con aire y se comprueba el paso a cada apoyo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Ramal a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Apoyos del árbol de levas, taqués y tensores hidráulicos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Paso libre; su obstrucción explica ruidos y desgaste en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Cámaras de refrigeración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Rodean cilindros y conducen el refrigerante hacia la culata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Ausencia de cal, sedimentos y corrosión; tapones de expansión en buen estado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10" name="Shape 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1" name="Shape 6"/>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12" name="Text 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3" name="Text 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Con el bloque desnudo es el único momento en que estos conductos son accesibles. Limpiarlos y comprobar su paso ahora cuesta minutos; descubrir que uno está obstruido con el motor ya armado cuesta desarmarlo entero.</a:t>
            </a:r>
            <a:endParaRPr lang="en-US" sz="1150" dirty="0"/>
          </a:p>
        </p:txBody>
      </p:sp>
      <p:sp>
        <p:nvSpPr>
          <p:cNvPr id="14" name="Text 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 · integra las clases 4.1 y 4.2</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del bloque motor</a:t>
            </a:r>
            <a:endParaRPr lang="en-US" sz="3200" dirty="0"/>
          </a:p>
        </p:txBody>
      </p:sp>
      <p:sp>
        <p:nvSpPr>
          <p:cNvPr id="3" name="marco_figura"/>
          <p:cNvSpPr/>
          <p:nvPr/>
        </p:nvSpPr>
        <p:spPr>
          <a:xfrm>
            <a:off x="548640" y="1371600"/>
            <a:ext cx="45720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resalte_apoyo.jpg">    </p:cNvPr>
          <p:cNvPicPr>
            <a:picLocks noChangeAspect="1"/>
          </p:cNvPicPr>
          <p:nvPr/>
        </p:nvPicPr>
        <p:blipFill>
          <a:blip r:embed="rId1"/>
          <a:srcRect l="0" r="0" t="0" b="0"/>
          <a:stretch/>
        </p:blipFill>
        <p:spPr>
          <a:xfrm>
            <a:off x="658368" y="1481328"/>
            <a:ext cx="4352544" cy="2340864"/>
          </a:xfrm>
          <a:prstGeom prst="rect">
            <a:avLst/>
          </a:prstGeom>
        </p:spPr>
      </p:pic>
      <p:sp>
        <p:nvSpPr>
          <p:cNvPr id="5" name="Text 2"/>
          <p:cNvSpPr txBox="1"/>
          <p:nvPr/>
        </p:nvSpPr>
        <p:spPr>
          <a:xfrm>
            <a:off x="658368" y="393192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51. </a:t>
            </a:r>
            <a:pPr indent="0" marL="0">
              <a:lnSpc>
                <a:spcPct val="102000"/>
              </a:lnSpc>
              <a:buNone/>
            </a:pPr>
            <a:r>
              <a:rPr lang="en-US" sz="1000" dirty="0">
                <a:solidFill>
                  <a:schemeClr val="accent4"/>
                </a:solidFill>
              </a:rPr>
              <a:t>Resalte y apoyo: geometría de referencia en el mecanizado del bloque. Adaptado de Escudero, S., González, J., y Rivas, J. L. (2024). Cuaderno de prácticas: motores (1.ª ed.). Macmillan Iberia.</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2103120"/>
                <a:gridCol w="2011680"/>
                <a:gridCol w="2011680"/>
              </a:tblGrid>
              <a:tr h="420624">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Instrumento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050" b="1" dirty="0">
                          <a:solidFill>
                            <a:schemeClr val="tx1"/>
                          </a:solidFill>
                        </a:rPr>
                        <a:t>Planitud del plano superior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Regla y galga, o comparador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Rectificado plano si supera el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Diámetro, ovalización y conicidad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Alexómetro con comparador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Rectificado a sobremedida o encamisado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Diámetro de apoyos de bancada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Alexómetro, con sombreretes montados y al par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Rectificado de bancada o rechazo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chemeClr val="tx1"/>
                          </a:solidFill>
                        </a:rPr>
                        <a:t>Alineación de apoyos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Regla de precisión o mandril de verificación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Rectificado de bancada; si no es posible, rechazo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50" b="1" dirty="0">
                          <a:solidFill>
                            <a:schemeClr val="tx1"/>
                          </a:solidFill>
                        </a:rPr>
                        <a:t>Fisuras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Inspección visual con luz rasante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Rechazo del bloque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16052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36626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apoyos de bancada se miden con los sombreretes montados y apretados a su par, porque así es como trabajan. Medir un semicírculo suelto no da ninguna información útil.</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las medidas de la Unidad 1 siguen valiendo. </a:t>
            </a:r>
            <a:pPr indent="0" marL="0">
              <a:lnSpc>
                <a:spcPct val="106000"/>
              </a:lnSpc>
              <a:buNone/>
            </a:pPr>
            <a:r>
              <a:rPr lang="en-US" sz="1150" dirty="0">
                <a:solidFill>
                  <a:schemeClr val="accent4"/>
                </a:solidFill>
              </a:rPr>
              <a:t>porque son las mismas: diámetro, ovalización, conicidad y planitud; lo que añade esta unidad son los apoyos de bancada</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orden de las comprobaciones. </a:t>
            </a:r>
            <a:pPr indent="0" marL="0">
              <a:lnSpc>
                <a:spcPct val="106000"/>
              </a:lnSpc>
              <a:buNone/>
            </a:pPr>
            <a:r>
              <a:rPr lang="en-US" sz="1150" dirty="0">
                <a:solidFill>
                  <a:schemeClr val="accent4"/>
                </a:solidFill>
              </a:rPr>
              <a:t>primero fisuras y planitud, que pueden rechazar la pieza; después cilindros; y por último apoyos de bancada</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criterio final. </a:t>
            </a:r>
            <a:pPr indent="0" marL="0">
              <a:lnSpc>
                <a:spcPct val="106000"/>
              </a:lnSpc>
              <a:buNone/>
            </a:pPr>
            <a:r>
              <a:rPr lang="en-US" sz="1150" dirty="0">
                <a:solidFill>
                  <a:schemeClr val="accent4"/>
                </a:solidFill>
              </a:rPr>
              <a:t>apto, apto con rectificado y de qué tipo, o rechazado; siempre justificado con las medidas de la ficha</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 · comprobaciones de bloque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Rectificado a sobremedida: qué significa y qué límite tiene</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Diámetro tras el rectificado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f</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n</m:t>
                          </m:r>
                        </m:sub>
                      </m:sSub>
                      <m:r>
                        <a:rPr lang="es-EC" sz="2400" b="1" dirty="0" i="0">
                          <a:solidFill>
                            <a:srgbClr val="C0451C"/>
                          </a:solidFill>
                          <a:latin typeface="Cambria Math" panose="02040503050406030204" pitchFamily="18" charset="0"/>
                        </a:rPr>
                        <m:t xml:space="preserve"> + </m:t>
                      </m:r>
                      <m:r>
                        <a:rPr lang="es-EC" sz="2400" b="1" dirty="0" i="1">
                          <a:solidFill>
                            <a:srgbClr val="C0451C"/>
                          </a:solidFill>
                          <a:latin typeface="Cambria Math" panose="02040503050406030204" pitchFamily="18" charset="0"/>
                        </a:rPr>
                        <m:t xml:space="preserve">S</m:t>
                      </m:r>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D</a:t>
                </a:r>
                <a:r>
                  <a:rPr lang="es-EC" sz="2400" b="1" baseline="-25000" dirty="0">
                    <a:solidFill>
                      <a:srgbClr val="C0451C"/>
                    </a:solidFill>
                  </a:rPr>
                  <a:t xml:space="preserve">f</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n</a:t>
                </a:r>
                <a:r>
                  <a:rPr lang="es-EC" sz="2400" b="1" dirty="0">
                    <a:solidFill>
                      <a:srgbClr val="C0451C"/>
                    </a:solidFill>
                  </a:rPr>
                  <a:t xml:space="preserve"> + </a:t>
                </a:r>
                <a:r>
                  <a:rPr lang="es-EC" sz="2400" b="1" dirty="0">
                    <a:solidFill>
                      <a:srgbClr val="C0451C"/>
                    </a:solidFill>
                  </a:rPr>
                  <a:t xml:space="preserve">S</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Al diámetro nominal se suma la sobremedida elegida; el pistón nuevo debe corresponder a ese diámetro.</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es una sobremedida. </a:t>
            </a:r>
            <a:pPr indent="0" marL="0">
              <a:lnSpc>
                <a:spcPct val="106000"/>
              </a:lnSpc>
              <a:buNone/>
            </a:pPr>
            <a:r>
              <a:rPr lang="en-US" sz="1100" dirty="0">
                <a:solidFill>
                  <a:schemeClr val="accent4"/>
                </a:solidFill>
              </a:rPr>
              <a:t>un escalón de diámetro normalizado por el fabricante, para el que existen pistones y segmentos de ese tamaño</a:t>
            </a:r>
            <a:endParaRPr lang="en-US" sz="110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no se rectifica a cualquier medida. </a:t>
            </a:r>
            <a:pPr indent="0" marL="0">
              <a:lnSpc>
                <a:spcPct val="106000"/>
              </a:lnSpc>
              <a:buNone/>
            </a:pPr>
            <a:r>
              <a:rPr lang="en-US" sz="1100" dirty="0">
                <a:solidFill>
                  <a:schemeClr val="accent4"/>
                </a:solidFill>
              </a:rPr>
              <a:t>porque el pistón tiene que existir; rectificar a una medida sin pistón disponible inutiliza el bloque</a:t>
            </a:r>
            <a:endParaRPr lang="en-US" sz="110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Cuántas sobremedidas hay. </a:t>
            </a:r>
            <a:pPr indent="0" marL="0">
              <a:lnSpc>
                <a:spcPct val="106000"/>
              </a:lnSpc>
              <a:buNone/>
            </a:pPr>
            <a:r>
              <a:rPr lang="en-US" sz="1100" dirty="0">
                <a:solidFill>
                  <a:schemeClr val="accent4"/>
                </a:solidFill>
              </a:rPr>
              <a:t>las que el fabricante declare para ese motor; cuando se agotan, la única salida es encamisar</a:t>
            </a:r>
            <a:endParaRPr lang="en-US" sz="110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limita el rectificado. </a:t>
            </a:r>
            <a:pPr indent="0" marL="0">
              <a:lnSpc>
                <a:spcPct val="106000"/>
              </a:lnSpc>
              <a:buNone/>
            </a:pPr>
            <a:r>
              <a:rPr lang="en-US" sz="1100" dirty="0">
                <a:solidFill>
                  <a:schemeClr val="accent4"/>
                </a:solidFill>
              </a:rPr>
              <a:t>el espesor de pared que queda entre cilindros y hacia las cámaras de refrigeración</a:t>
            </a:r>
            <a:endParaRPr lang="en-US" sz="1100" dirty="0"/>
          </a:p>
        </p:txBody>
      </p:sp>
      <p:sp>
        <p:nvSpPr>
          <p:cNvPr id="19" name="Shape 17"/>
          <p:cNvSpPr/>
          <p:nvPr/>
        </p:nvSpPr>
        <p:spPr>
          <a:xfrm>
            <a:off x="548640" y="41148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34340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062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Rectificar los cuatro cilindros a la misma sobremedida no es una opción estética: todos los pistones de un motor deben tener la misma masa y el mismo diámetro, porque el cigüeñal está equilibrado contando con ello.</a:t>
            </a:r>
            <a:endParaRPr lang="en-US" sz="14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Resultado de la medición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hay que pedir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Dentro de límites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Apto; solo bruñido para restaurar el rayado si procede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Segmentos nuevos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Fuera de límites, con sobremedida disponible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Rectificado a la sobremedida siguiente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Pistones y segmentos de esa sobremedida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1"/>
                          </a:solidFill>
                        </a:rPr>
                        <a:t>Fuera de límites, sin sobremedida disponible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Encamisado para recuperar la medida nominal</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Camisas y, si procede, pistones nominales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 · comprobaciones de bloque de motor</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bruñido y el acabado del cilindro</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b_camisas_agua.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53. </a:t>
            </a:r>
            <a:pPr indent="0" marL="0">
              <a:lnSpc>
                <a:spcPct val="102000"/>
              </a:lnSpc>
              <a:buNone/>
            </a:pPr>
            <a:r>
              <a:rPr lang="en-US" sz="1000" dirty="0">
                <a:solidFill>
                  <a:schemeClr val="accent4"/>
                </a:solidFill>
              </a:rPr>
              <a:t>Camisas y cámaras de agua del bloque. Adaptado de Minga González, M. A. (s. f.). Constitución del motor: el bloque de cilindros [diapositivas]. ISTS.</a:t>
            </a:r>
            <a:endParaRPr lang="en-US" sz="1000" dirty="0"/>
          </a:p>
        </p:txBody>
      </p:sp>
      <p:sp>
        <p:nvSpPr>
          <p:cNvPr id="6" name="Shape 3"/>
          <p:cNvSpPr/>
          <p:nvPr/>
        </p:nvSpPr>
        <p:spPr>
          <a:xfrm>
            <a:off x="566928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66928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199632" y="1463040"/>
            <a:ext cx="541324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es el bruñido. </a:t>
            </a:r>
            <a:pPr indent="0" marL="0">
              <a:lnSpc>
                <a:spcPct val="106000"/>
              </a:lnSpc>
              <a:buNone/>
            </a:pPr>
            <a:r>
              <a:rPr lang="en-US" sz="1100" dirty="0">
                <a:solidFill>
                  <a:schemeClr val="accent4"/>
                </a:solidFill>
              </a:rPr>
              <a:t>un acabado final que deja en la pared del cilindro un rayado cruzado de microsurcos, con un ángulo determinado</a:t>
            </a:r>
            <a:endParaRPr lang="en-US" sz="1100" dirty="0"/>
          </a:p>
        </p:txBody>
      </p:sp>
      <p:sp>
        <p:nvSpPr>
          <p:cNvPr id="9" name="Shape 6"/>
          <p:cNvSpPr/>
          <p:nvPr/>
        </p:nvSpPr>
        <p:spPr>
          <a:xfrm>
            <a:off x="5669280" y="2157984"/>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66928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199632" y="2121408"/>
            <a:ext cx="541324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Para qué sirve ese rayado. </a:t>
            </a:r>
            <a:pPr indent="0" marL="0">
              <a:lnSpc>
                <a:spcPct val="106000"/>
              </a:lnSpc>
              <a:buNone/>
            </a:pPr>
            <a:r>
              <a:rPr lang="en-US" sz="1100" dirty="0">
                <a:solidFill>
                  <a:schemeClr val="accent4"/>
                </a:solidFill>
              </a:rPr>
              <a:t>retiene aceite en sus microsurcos, de modo que el segmento trabaja siempre sobre una película, y favorece el asentamiento</a:t>
            </a:r>
            <a:endParaRPr lang="en-US" sz="1100" dirty="0"/>
          </a:p>
        </p:txBody>
      </p:sp>
      <p:sp>
        <p:nvSpPr>
          <p:cNvPr id="12" name="Shape 9"/>
          <p:cNvSpPr/>
          <p:nvPr/>
        </p:nvSpPr>
        <p:spPr>
          <a:xfrm>
            <a:off x="5669280" y="2816352"/>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66928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199632" y="2779776"/>
            <a:ext cx="541324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cruzado y no en un solo sentido. </a:t>
            </a:r>
            <a:pPr indent="0" marL="0">
              <a:lnSpc>
                <a:spcPct val="106000"/>
              </a:lnSpc>
              <a:buNone/>
            </a:pPr>
            <a:r>
              <a:rPr lang="en-US" sz="1100" dirty="0">
                <a:solidFill>
                  <a:schemeClr val="accent4"/>
                </a:solidFill>
              </a:rPr>
              <a:t>el cruce distribuye la retención de aceite en toda la superficie y evita que se formen caminos continuos para los gases</a:t>
            </a:r>
            <a:endParaRPr lang="en-US" sz="1100" dirty="0"/>
          </a:p>
        </p:txBody>
      </p:sp>
      <p:sp>
        <p:nvSpPr>
          <p:cNvPr id="15" name="Shape 12"/>
          <p:cNvSpPr/>
          <p:nvPr/>
        </p:nvSpPr>
        <p:spPr>
          <a:xfrm>
            <a:off x="5669280" y="3474720"/>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66928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199632" y="3438144"/>
            <a:ext cx="541324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Qué ocurre con un cilindro espejado. </a:t>
            </a:r>
            <a:pPr indent="0" marL="0">
              <a:lnSpc>
                <a:spcPct val="106000"/>
              </a:lnSpc>
              <a:buNone/>
            </a:pPr>
            <a:r>
              <a:rPr lang="en-US" sz="1100" dirty="0">
                <a:solidFill>
                  <a:schemeClr val="accent4"/>
                </a:solidFill>
              </a:rPr>
              <a:t>por desgaste, el rayado desaparece y la superficie se vuelve brillante; entonces no retiene aceite y los segmentos nuevos no asientan</a:t>
            </a:r>
            <a:endParaRPr lang="en-US" sz="1100" dirty="0"/>
          </a:p>
        </p:txBody>
      </p:sp>
      <p:sp>
        <p:nvSpPr>
          <p:cNvPr id="18" name="Shape 15"/>
          <p:cNvSpPr/>
          <p:nvPr/>
        </p:nvSpPr>
        <p:spPr>
          <a:xfrm>
            <a:off x="548640" y="420624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434840"/>
            <a:ext cx="365760" cy="365760"/>
          </a:xfrm>
          <a:prstGeom prst="ellipse">
            <a:avLst/>
          </a:prstGeom>
          <a:solidFill>
            <a:schemeClr val="accent1"/>
          </a:solidFill>
          <a:ln w="12700">
            <a:solidFill>
              <a:schemeClr val="accent1"/>
            </a:solidFill>
            <a:prstDash val="solid"/>
          </a:ln>
        </p:spPr>
        <p:txBody>
          <a:bodyPr/>
          <a:p/>
        </p:txBody>
      </p:sp>
      <p:sp>
        <p:nvSpPr>
          <p:cNvPr id="20" name="Text 17"/>
          <p:cNvSpPr txBox="1"/>
          <p:nvPr/>
        </p:nvSpPr>
        <p:spPr>
          <a:xfrm>
            <a:off x="786384" y="4434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29768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Montar segmentos nuevos sobre un cilindro espejado es trabajo perdido: no asentarán, y el motor seguirá consumiendo aceite. Antes de cambiar segmentos hay que restaurar el rayado con un bruñidor, aunque el diámetro esté dentro de límites.</a:t>
            </a:r>
            <a:endParaRPr lang="en-US" sz="1450" dirty="0"/>
          </a:p>
        </p:txBody>
      </p:sp>
      <p:sp>
        <p:nvSpPr>
          <p:cNvPr id="22" name="Shape 19"/>
          <p:cNvSpPr/>
          <p:nvPr/>
        </p:nvSpPr>
        <p:spPr>
          <a:xfrm>
            <a:off x="548640" y="515721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1206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comprobar tras el bruñido. </a:t>
            </a:r>
            <a:pPr indent="0" marL="0">
              <a:lnSpc>
                <a:spcPct val="106000"/>
              </a:lnSpc>
              <a:buNone/>
            </a:pPr>
            <a:r>
              <a:rPr lang="en-US" sz="1150" dirty="0">
                <a:solidFill>
                  <a:schemeClr val="accent4"/>
                </a:solidFill>
              </a:rPr>
              <a:t>que el rayado sea uniforme en toda la altura y en todo el contorno, y que el diámetro siga dentro del valor previsto</a:t>
            </a:r>
            <a:endParaRPr lang="en-US" sz="1150" dirty="0"/>
          </a:p>
        </p:txBody>
      </p:sp>
      <p:sp>
        <p:nvSpPr>
          <p:cNvPr id="25" name="Shape 22"/>
          <p:cNvSpPr/>
          <p:nvPr/>
        </p:nvSpPr>
        <p:spPr>
          <a:xfrm>
            <a:off x="548640" y="552297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522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48640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limpia el cilindro después. </a:t>
            </a:r>
            <a:pPr indent="0" marL="0">
              <a:lnSpc>
                <a:spcPct val="106000"/>
              </a:lnSpc>
              <a:buNone/>
            </a:pPr>
            <a:r>
              <a:rPr lang="en-US" sz="1150" dirty="0">
                <a:solidFill>
                  <a:schemeClr val="accent4"/>
                </a:solidFill>
              </a:rPr>
              <a:t>con agua, jabón y cepillo, y secado inmediato con aceite; el polvo del bruñido es abrasivo y no se retira solo con disolvente</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bloque de motor · prepara la clase 4.4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comprobaciones del bloque motor</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47472">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050" b="1" dirty="0">
                          <a:solidFill>
                            <a:schemeClr val="tx1"/>
                          </a:solidFill>
                        </a:rPr>
                        <a:t>Inspección de fisuras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Ausencia total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Planitud del plano superior (5 posiciones)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Galga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Altura del bloque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Cilindro 1 — diámetro alto / medio / bajo, dirección X</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Cilindro 1 — diámetro alto / medio / bajo, dirección Y</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Ovalización máxima — cilindro 1</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Conicidad — cilindro 1</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Apoyos de bancada — diámetro con sombreretes al par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Alineación de apoyos de bancada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Estado de conductos de aceite (paso libre)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Paso libre en todos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Estado de cámaras y tapones de expansión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Sin corrosión apreciable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Estado del rayado de los cilindros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Rayado cruzado uniforme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5" name="Shape 2"/>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Las filas de cilindro se repiten para cada uno. El informe termina con la decisión: apto, apto con bruñido, apto con rectificado a sobremedida, apto con encamisado, o rechazado, siempre justificada con las medidas.</a:t>
            </a:r>
            <a:endParaRPr lang="en-US" sz="1150" dirty="0"/>
          </a:p>
        </p:txBody>
      </p:sp>
      <p:sp>
        <p:nvSpPr>
          <p:cNvPr id="8"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comprobaciones de bloque de motor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4.3</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bloque es el punto donde todo converge. </a:t>
            </a:r>
            <a:pPr indent="0" marL="0">
              <a:lnSpc>
                <a:spcPct val="106000"/>
              </a:lnSpc>
              <a:buNone/>
            </a:pPr>
            <a:r>
              <a:rPr lang="en-US" sz="1250" dirty="0">
                <a:solidFill>
                  <a:schemeClr val="accent4"/>
                </a:solidFill>
              </a:rPr>
              <a:t>aloja los cilindros, sostiene el cigüeñal y contiene los conductos de los dos sistemas estudiados antes</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apoyos de bancada se mecanizan con sus sombreretes. </a:t>
            </a:r>
            <a:pPr indent="0" marL="0">
              <a:lnSpc>
                <a:spcPct val="106000"/>
              </a:lnSpc>
              <a:buNone/>
            </a:pPr>
            <a:r>
              <a:rPr lang="en-US" sz="1250" dirty="0">
                <a:solidFill>
                  <a:schemeClr val="accent4"/>
                </a:solidFill>
              </a:rPr>
              <a:t>por eso están numerados y orientados, y por eso se miden con el sombrerete montado y apretado al par</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alineación de apoyos importa tanto como el diámetro. </a:t>
            </a:r>
            <a:pPr indent="0" marL="0">
              <a:lnSpc>
                <a:spcPct val="106000"/>
              </a:lnSpc>
              <a:buNone/>
            </a:pPr>
            <a:r>
              <a:rPr lang="en-US" sz="1250" dirty="0">
                <a:solidFill>
                  <a:schemeClr val="accent4"/>
                </a:solidFill>
              </a:rPr>
              <a:t>un cigüeñal apoyado sobre apoyos desalineados trabaja forzado aunque cada holgura individual sea correcta</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reparación del cilindro tiene tres salidas. </a:t>
            </a:r>
            <a:pPr indent="0" marL="0">
              <a:lnSpc>
                <a:spcPct val="106000"/>
              </a:lnSpc>
              <a:buNone/>
            </a:pPr>
            <a:r>
              <a:rPr lang="en-US" sz="1250" dirty="0">
                <a:solidFill>
                  <a:schemeClr val="accent4"/>
                </a:solidFill>
              </a:rPr>
              <a:t>bruñido si solo falta rayado, rectificado a sobremedida si hay desgaste, y encamisado si no quedan sobremedidas</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rayado cruzado no es un defecto. </a:t>
            </a:r>
            <a:pPr indent="0" marL="0">
              <a:lnSpc>
                <a:spcPct val="106000"/>
              </a:lnSpc>
              <a:buNone/>
            </a:pPr>
            <a:r>
              <a:rPr lang="en-US" sz="1250" dirty="0">
                <a:solidFill>
                  <a:schemeClr val="accent4"/>
                </a:solidFill>
              </a:rPr>
              <a:t>retiene el aceite sobre el que trabajan los segmentos; sin él, los segmentos nuevos no asientan y el motor sigue consumiendo</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Los conductos se limpian ahora o nunca. </a:t>
            </a:r>
            <a:pPr indent="0" marL="0">
              <a:lnSpc>
                <a:spcPct val="106000"/>
              </a:lnSpc>
              <a:buNone/>
            </a:pPr>
            <a:r>
              <a:rPr lang="en-US" sz="1250" dirty="0">
                <a:solidFill>
                  <a:schemeClr val="accent4"/>
                </a:solidFill>
              </a:rPr>
              <a:t>con el bloque desnudo son accesibles; con el motor armado, llegar a ellos cuesta desarmarlo entero</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un bloque tiene los cilindros dentro de límites de diámetro, ovalización y conicidad, pero sus paredes están espejadas y brillantes. ¿Es apto para montar segmentos nuevos? Justifique la respuesta.</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del conocimiento 11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ya se midió en la Unidad 1 y lo que se añade ahora</a:t>
            </a:r>
            <a:endParaRPr lang="en-US" sz="3200" dirty="0"/>
          </a:p>
        </p:txBody>
      </p:sp>
      <p:sp>
        <p:nvSpPr>
          <p:cNvPr id="3" name="marco_figura"/>
          <p:cNvSpPr/>
          <p:nvPr/>
        </p:nvSpPr>
        <p:spPr>
          <a:xfrm>
            <a:off x="548640" y="1371600"/>
            <a:ext cx="45720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utiles_medicion.jpg">    </p:cNvPr>
          <p:cNvPicPr>
            <a:picLocks noChangeAspect="1"/>
          </p:cNvPicPr>
          <p:nvPr/>
        </p:nvPicPr>
        <p:blipFill>
          <a:blip r:embed="rId1"/>
          <a:srcRect l="0" r="0" t="0" b="0"/>
          <a:stretch/>
        </p:blipFill>
        <p:spPr>
          <a:xfrm>
            <a:off x="658368" y="1481328"/>
            <a:ext cx="4352544" cy="2340864"/>
          </a:xfrm>
          <a:prstGeom prst="rect">
            <a:avLst/>
          </a:prstGeom>
        </p:spPr>
      </p:pic>
      <p:sp>
        <p:nvSpPr>
          <p:cNvPr id="5" name="Text 2"/>
          <p:cNvSpPr txBox="1"/>
          <p:nvPr/>
        </p:nvSpPr>
        <p:spPr>
          <a:xfrm>
            <a:off x="658368" y="393192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54. </a:t>
            </a:r>
            <a:pPr indent="0" marL="0">
              <a:lnSpc>
                <a:spcPct val="102000"/>
              </a:lnSpc>
              <a:buNone/>
            </a:pPr>
            <a:r>
              <a:rPr lang="en-US" sz="1000" dirty="0">
                <a:solidFill>
                  <a:schemeClr val="accent4"/>
                </a:solidFill>
              </a:rPr>
              <a:t>Útiles de medición de la práctica: galgas, escuadra, micrómetro y calibrador. Adaptado de Escudero, S., González, J., y Rivas, J. L. (2024). Cuaderno de prácticas: motores (1.ª ed.). Macmillan Iberia.</a:t>
            </a:r>
            <a:endParaRPr lang="en-US" sz="1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3108960"/>
                <a:gridCol w="3017520"/>
              </a:tblGrid>
              <a:tr h="420624">
                <a:tc>
                  <a:txBody>
                    <a:bodyPr/>
                    <a:lstStyle/>
                    <a:p>
                      <a:pPr indent="0" marL="0">
                        <a:buNone/>
                      </a:pPr>
                      <a:r>
                        <a:rPr lang="en-US" sz="1300" b="1" dirty="0">
                          <a:solidFill>
                            <a:srgbClr val="FFFFFF"/>
                          </a:solidFill>
                        </a:rPr>
                        <a:t>Medido en la Unidad 1</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Añadido en la Unidad 4</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420624">
                <a:tc>
                  <a:txBody>
                    <a:bodyPr/>
                    <a:lstStyle/>
                    <a:p>
                      <a:pPr indent="0" marL="0">
                        <a:buNone/>
                      </a:pPr>
                      <a:r>
                        <a:rPr lang="en-US" sz="1100" b="1" dirty="0">
                          <a:solidFill>
                            <a:schemeClr val="tx1"/>
                          </a:solidFill>
                        </a:rPr>
                        <a:t>Planitud del plano superior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Altura del bloque y margen de rectificado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Diámetro, ovalización y conicidad del cilindro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Decisión entre bruñido, rectificado y encamisado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100" b="1" dirty="0">
                          <a:solidFill>
                            <a:schemeClr val="tx1"/>
                          </a:solidFill>
                        </a:rPr>
                        <a:t>Inspección de fisuras y tapones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Comprobación de paso de los conductos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100" b="1" dirty="0">
                          <a:solidFill>
                            <a:schemeClr val="tx1"/>
                          </a:solidFill>
                        </a:rPr>
                        <a:t>Saliente de camisas húmedas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Apoyos de bancada: diámetro y alineación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metrología no cambia: los instrumentos y los métodos son los mismos de la Unidad 1. Lo que cambia es que ahora se mide todo el conjunto y se decide con todas las medidas juntas, que es lo que hace un técnico y no un estudiante de metrología.</a:t>
            </a:r>
            <a:endParaRPr lang="en-US" sz="1450" dirty="0"/>
          </a:p>
        </p:txBody>
      </p:sp>
      <p:sp>
        <p:nvSpPr>
          <p:cNvPr id="11" name="Shape 7"/>
          <p:cNvSpPr/>
          <p:nvPr/>
        </p:nvSpPr>
        <p:spPr>
          <a:xfrm>
            <a:off x="548640" y="5111496"/>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7492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hacer con las fichas de la Unidad 1. </a:t>
            </a:r>
            <a:pPr indent="0" marL="0">
              <a:lnSpc>
                <a:spcPct val="106000"/>
              </a:lnSpc>
              <a:buNone/>
            </a:pPr>
            <a:r>
              <a:rPr lang="en-US" sz="1150" dirty="0">
                <a:solidFill>
                  <a:schemeClr val="accent4"/>
                </a:solidFill>
              </a:rPr>
              <a:t>recuperarlas: si el motor de prácticas es el mismo, aquellas medidas siguen siendo válidas y ahorran trabajo</a:t>
            </a:r>
            <a:endParaRPr lang="en-US" sz="1150" dirty="0"/>
          </a:p>
        </p:txBody>
      </p:sp>
      <p:sp>
        <p:nvSpPr>
          <p:cNvPr id="14" name="Shape 10"/>
          <p:cNvSpPr/>
          <p:nvPr/>
        </p:nvSpPr>
        <p:spPr>
          <a:xfrm>
            <a:off x="548640" y="5477256"/>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4772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4406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conviene compararlas. </a:t>
            </a:r>
            <a:pPr indent="0" marL="0">
              <a:lnSpc>
                <a:spcPct val="106000"/>
              </a:lnSpc>
              <a:buNone/>
            </a:pPr>
            <a:r>
              <a:rPr lang="en-US" sz="1150" dirty="0">
                <a:solidFill>
                  <a:schemeClr val="accent4"/>
                </a:solidFill>
              </a:rPr>
              <a:t>si el motor ha funcionado entre ambas prácticas, la comparación muestra cuánto se desgastó y es un ejercicio muy ilustrativo</a:t>
            </a:r>
            <a:endParaRPr lang="en-US" sz="1150" dirty="0"/>
          </a:p>
        </p:txBody>
      </p:sp>
      <p:sp>
        <p:nvSpPr>
          <p:cNvPr id="17" name="Text 1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bloque de motor · integra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Manipulación del bloque: seguridad y cuidado de la pieza</a:t>
            </a:r>
            <a:endParaRPr lang="en-US" sz="3200" dirty="0"/>
          </a:p>
        </p:txBody>
      </p:sp>
      <p:sp>
        <p:nvSpPr>
          <p:cNvPr id="3" name="tarjeta_1"/>
          <p:cNvSpPr/>
          <p:nvPr/>
        </p:nvSpPr>
        <p:spPr>
          <a:xfrm>
            <a:off x="54864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1"/>
          </a:solidFill>
          <a:ln w="12700">
            <a:solidFill>
              <a:schemeClr val="accent1"/>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El peso</a:t>
            </a:r>
            <a:endParaRPr lang="en-US" sz="1700" dirty="0"/>
          </a:p>
        </p:txBody>
      </p:sp>
      <p:sp>
        <p:nvSpPr>
          <p:cNvPr id="7" name="Text 5"/>
          <p:cNvSpPr txBox="1"/>
          <p:nvPr/>
        </p:nvSpPr>
        <p:spPr>
          <a:xfrm>
            <a:off x="80467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Un bloque desnudo es pesado. Se mueve entre varias personas o con medios mecánicos, nunca a pulso y nunca levantándolo desde una posición forzada.</a:t>
            </a:r>
            <a:endParaRPr lang="en-US" sz="1100" dirty="0"/>
          </a:p>
        </p:txBody>
      </p:sp>
      <p:sp>
        <p:nvSpPr>
          <p:cNvPr id="8" name="tarjeta_2"/>
          <p:cNvSpPr/>
          <p:nvPr/>
        </p:nvSpPr>
        <p:spPr>
          <a:xfrm>
            <a:off x="432816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7"/>
          <p:cNvSpPr/>
          <p:nvPr/>
        </p:nvSpPr>
        <p:spPr>
          <a:xfrm>
            <a:off x="4584192" y="1655064"/>
            <a:ext cx="420624" cy="420624"/>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Los planos mecanizados</a:t>
            </a:r>
            <a:endParaRPr lang="en-US" sz="1700" dirty="0"/>
          </a:p>
        </p:txBody>
      </p:sp>
      <p:sp>
        <p:nvSpPr>
          <p:cNvPr id="12" name="Text 10"/>
          <p:cNvSpPr txBox="1"/>
          <p:nvPr/>
        </p:nvSpPr>
        <p:spPr>
          <a:xfrm>
            <a:off x="458419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Nunca se apoya el bloque directamente sobre su plano superior ni sobre los apoyos de bancada: se usan tacos de madera o un soporte adecuado.</a:t>
            </a:r>
            <a:endParaRPr lang="en-US" sz="1100" dirty="0"/>
          </a:p>
        </p:txBody>
      </p:sp>
      <p:sp>
        <p:nvSpPr>
          <p:cNvPr id="13" name="tarjeta_3"/>
          <p:cNvSpPr/>
          <p:nvPr/>
        </p:nvSpPr>
        <p:spPr>
          <a:xfrm>
            <a:off x="8107680" y="1417320"/>
            <a:ext cx="350520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4" name="Shape 12"/>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5" name="Text 13"/>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Los bordes y el aceite</a:t>
            </a:r>
            <a:endParaRPr lang="en-US" sz="1700" dirty="0"/>
          </a:p>
        </p:txBody>
      </p:sp>
      <p:sp>
        <p:nvSpPr>
          <p:cNvPr id="17" name="Text 15"/>
          <p:cNvSpPr txBox="1"/>
          <p:nvPr/>
        </p:nvSpPr>
        <p:spPr>
          <a:xfrm>
            <a:off x="8363712" y="2167128"/>
            <a:ext cx="2993136" cy="131673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Aristas vivas, restos de aceite y suelos resbaladizos. Guantes, calzado adecuado y puesto de trabajo despejado antes de mover nada.</a:t>
            </a:r>
            <a:endParaRPr lang="en-US" sz="1100" dirty="0"/>
          </a:p>
        </p:txBody>
      </p:sp>
      <p:sp>
        <p:nvSpPr>
          <p:cNvPr id="18" name="Shape 16"/>
          <p:cNvSpPr/>
          <p:nvPr/>
        </p:nvSpPr>
        <p:spPr>
          <a:xfrm>
            <a:off x="548640" y="396849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8"/>
          <p:cNvSpPr txBox="1"/>
          <p:nvPr/>
        </p:nvSpPr>
        <p:spPr>
          <a:xfrm>
            <a:off x="1078992" y="39319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Antes de mover el bloque. </a:t>
            </a:r>
            <a:pPr indent="0" marL="0">
              <a:lnSpc>
                <a:spcPct val="106000"/>
              </a:lnSpc>
              <a:buNone/>
            </a:pPr>
            <a:r>
              <a:rPr lang="en-US" sz="1150" dirty="0">
                <a:solidFill>
                  <a:schemeClr val="accent4"/>
                </a:solidFill>
              </a:rPr>
              <a:t>comprobar que el recorrido está despejado y que el lugar donde se va a dejar está preparado, con sus tacos ya colocados</a:t>
            </a:r>
            <a:endParaRPr lang="en-US" sz="1150" dirty="0"/>
          </a:p>
        </p:txBody>
      </p:sp>
      <p:sp>
        <p:nvSpPr>
          <p:cNvPr id="21" name="Shape 19"/>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1"/>
          <p:cNvSpPr txBox="1"/>
          <p:nvPr/>
        </p:nvSpPr>
        <p:spPr>
          <a:xfrm>
            <a:off x="1078992" y="43159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Durante el trabajo. </a:t>
            </a:r>
            <a:pPr indent="0" marL="0">
              <a:lnSpc>
                <a:spcPct val="106000"/>
              </a:lnSpc>
              <a:buNone/>
            </a:pPr>
            <a:r>
              <a:rPr lang="en-US" sz="1150" dirty="0">
                <a:solidFill>
                  <a:schemeClr val="accent4"/>
                </a:solidFill>
              </a:rPr>
              <a:t>cubrir los cilindros y los apoyos cuando no se esté trabajando sobre ellos, para que no caigan virutas, polvo ni herramientas</a:t>
            </a:r>
            <a:endParaRPr lang="en-US" sz="1150" dirty="0"/>
          </a:p>
        </p:txBody>
      </p:sp>
      <p:sp>
        <p:nvSpPr>
          <p:cNvPr id="24" name="Shape 22"/>
          <p:cNvSpPr/>
          <p:nvPr/>
        </p:nvSpPr>
        <p:spPr>
          <a:xfrm>
            <a:off x="548640" y="4736592"/>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txBox="1"/>
          <p:nvPr/>
        </p:nvSpPr>
        <p:spPr>
          <a:xfrm>
            <a:off x="1078992" y="47000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terminar cada sesión. </a:t>
            </a:r>
            <a:pPr indent="0" marL="0">
              <a:lnSpc>
                <a:spcPct val="106000"/>
              </a:lnSpc>
              <a:buNone/>
            </a:pPr>
            <a:r>
              <a:rPr lang="en-US" sz="1150" dirty="0">
                <a:solidFill>
                  <a:schemeClr val="accent4"/>
                </a:solidFill>
              </a:rPr>
              <a:t>aplicar una fina capa de aceite sobre las superficies mecanizadas para evitar la oxidación, especialmente tras un lavado con agua</a:t>
            </a:r>
            <a:endParaRPr lang="en-US" sz="1150" dirty="0"/>
          </a:p>
        </p:txBody>
      </p:sp>
      <p:sp>
        <p:nvSpPr>
          <p:cNvPr id="27" name="Shape 25"/>
          <p:cNvSpPr/>
          <p:nvPr/>
        </p:nvSpPr>
        <p:spPr>
          <a:xfrm>
            <a:off x="548640" y="5120640"/>
            <a:ext cx="384048" cy="384048"/>
          </a:xfrm>
          <a:prstGeom prst="ellipse">
            <a:avLst/>
          </a:prstGeom>
          <a:solidFill>
            <a:schemeClr val="accent2"/>
          </a:solidFill>
          <a:ln w="12700">
            <a:solidFill>
              <a:schemeClr val="accent2"/>
            </a:solidFill>
            <a:prstDash val="solid"/>
          </a:ln>
        </p:spPr>
        <p:txBody>
          <a:bodyPr/>
          <a:p/>
        </p:txBody>
      </p:sp>
      <p:sp>
        <p:nvSpPr>
          <p:cNvPr id="28" name="Text 26"/>
          <p:cNvSpPr txBox="1"/>
          <p:nvPr/>
        </p:nvSpPr>
        <p:spPr>
          <a:xfrm>
            <a:off x="548640" y="5120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9" name="Text 27"/>
          <p:cNvSpPr txBox="1"/>
          <p:nvPr/>
        </p:nvSpPr>
        <p:spPr>
          <a:xfrm>
            <a:off x="1078992" y="5084064"/>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nunca se hace. </a:t>
            </a:r>
            <a:pPr indent="0" marL="0">
              <a:lnSpc>
                <a:spcPct val="106000"/>
              </a:lnSpc>
              <a:buNone/>
            </a:pPr>
            <a:r>
              <a:rPr lang="en-US" sz="1150" dirty="0">
                <a:solidFill>
                  <a:schemeClr val="accent4"/>
                </a:solidFill>
              </a:rPr>
              <a:t>golpear el bloque con martillo de acero, apalancar sobre un plano mecanizado, ni apoyar herramientas sobre los cilindros</a:t>
            </a:r>
            <a:endParaRPr lang="en-US" sz="1150" dirty="0"/>
          </a:p>
        </p:txBody>
      </p:sp>
      <p:sp>
        <p:nvSpPr>
          <p:cNvPr id="30" name="Shape 28"/>
          <p:cNvSpPr/>
          <p:nvPr/>
        </p:nvSpPr>
        <p:spPr>
          <a:xfrm>
            <a:off x="548640" y="5532120"/>
            <a:ext cx="11064240" cy="457200"/>
          </a:xfrm>
          <a:prstGeom prst="roundRect">
            <a:avLst>
              <a:gd name="adj" fmla="val 12000"/>
            </a:avLst>
          </a:prstGeom>
          <a:solidFill>
            <a:schemeClr val="bg2"/>
          </a:solidFill>
          <a:ln w="12700">
            <a:solidFill>
              <a:schemeClr val="bg2"/>
            </a:solidFill>
            <a:prstDash val="solid"/>
          </a:ln>
        </p:spPr>
        <p:txBody>
          <a:bodyPr/>
          <a:p/>
        </p:txBody>
      </p:sp>
      <p:sp>
        <p:nvSpPr>
          <p:cNvPr id="31" name="Shape 29"/>
          <p:cNvSpPr/>
          <p:nvPr/>
        </p:nvSpPr>
        <p:spPr>
          <a:xfrm>
            <a:off x="786384" y="5577840"/>
            <a:ext cx="365760" cy="365760"/>
          </a:xfrm>
          <a:prstGeom prst="ellipse">
            <a:avLst/>
          </a:prstGeom>
          <a:solidFill>
            <a:schemeClr val="accent1"/>
          </a:solidFill>
          <a:ln w="12700">
            <a:solidFill>
              <a:schemeClr val="accent1"/>
            </a:solidFill>
            <a:prstDash val="solid"/>
          </a:ln>
        </p:spPr>
        <p:txBody>
          <a:bodyPr/>
          <a:p/>
        </p:txBody>
      </p:sp>
      <p:sp>
        <p:nvSpPr>
          <p:cNvPr id="32" name="Text 30"/>
          <p:cNvSpPr txBox="1"/>
          <p:nvPr/>
        </p:nvSpPr>
        <p:spPr>
          <a:xfrm>
            <a:off x="786384" y="5577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3" name="Text 31"/>
          <p:cNvSpPr txBox="1"/>
          <p:nvPr/>
        </p:nvSpPr>
        <p:spPr>
          <a:xfrm>
            <a:off x="1298448" y="5623560"/>
            <a:ext cx="10058400" cy="274320"/>
          </a:xfrm>
          <a:prstGeom prst="rect">
            <a:avLst/>
          </a:prstGeom>
          <a:noFill/>
          <a:ln/>
        </p:spPr>
        <p:txBody>
          <a:bodyPr wrap="square" lIns="0" tIns="0" rIns="0" bIns="0" rtlCol="0" anchor="ctr"/>
          <a:lstStyle/>
          <a:p>
            <a:pPr indent="0" marL="0">
              <a:lnSpc>
                <a:spcPct val="106000"/>
              </a:lnSpc>
              <a:buNone/>
            </a:pPr>
            <a:r>
              <a:rPr lang="en-US" sz="1200" dirty="0">
                <a:solidFill>
                  <a:schemeClr val="tx1"/>
                </a:solidFill>
              </a:rPr>
              <a:t>El cuidado de la pieza forma parte del resultado de aprendizaje: demostrar seguridad con las herramientas incluye no dañar aquello sobre lo que se trabaja. Un bloque rayado por una herramienta apoyada encima es un error de oficio, no un accidente.</a:t>
            </a:r>
            <a:endParaRPr lang="en-US" sz="1200" dirty="0"/>
          </a:p>
        </p:txBody>
      </p:sp>
      <p:sp>
        <p:nvSpPr>
          <p:cNvPr id="34" name="Text 3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RdA: demostrar seguridad en el empleo de las herramientas ·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CLASE 4.4  ·  3 HORAS DE DOCENCIA  ·  CIERRA LA ASIGNATURA</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El tren alternativo:</a:t>
            </a:r>
            <a:endParaRPr lang="en-US" sz="4000" dirty="0"/>
          </a:p>
          <a:p>
            <a:pPr indent="0" marL="0">
              <a:buNone/>
            </a:pPr>
            <a:r>
              <a:rPr lang="en-US" sz="4000" b="1" dirty="0">
                <a:solidFill>
                  <a:schemeClr val="bg1"/>
                </a:solidFill>
              </a:rPr>
              <a:t>despiece y armado</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Pistón · Segmentos · Bulón · Biela · Cigüeñal · Cojinetes · Holguras · Armado con par</a:t>
            </a:r>
            <a:endParaRPr lang="en-US" sz="1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debe poder hacer el estudiante al terminar la clase</a:t>
            </a:r>
            <a:endParaRPr lang="en-US" sz="3200" dirty="0"/>
          </a:p>
        </p:txBody>
      </p:sp>
      <p:sp>
        <p:nvSpPr>
          <p:cNvPr id="3" name="tarjeta_1"/>
          <p:cNvSpPr/>
          <p:nvPr/>
        </p:nvSpPr>
        <p:spPr>
          <a:xfrm>
            <a:off x="54864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Shape 2"/>
          <p:cNvSpPr/>
          <p:nvPr/>
        </p:nvSpPr>
        <p:spPr>
          <a:xfrm>
            <a:off x="804672" y="1655064"/>
            <a:ext cx="420624" cy="420624"/>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80467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RdA</a:t>
            </a:r>
            <a:endParaRPr lang="en-US" sz="1400" dirty="0"/>
          </a:p>
        </p:txBody>
      </p:sp>
      <p:sp>
        <p:nvSpPr>
          <p:cNvPr id="6" name="Text 4"/>
          <p:cNvSpPr txBox="1"/>
          <p:nvPr/>
        </p:nvSpPr>
        <p:spPr>
          <a:xfrm>
            <a:off x="135331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Resultado de aprendizaje</a:t>
            </a:r>
            <a:endParaRPr lang="en-US" sz="1700" dirty="0"/>
          </a:p>
        </p:txBody>
      </p:sp>
      <p:sp>
        <p:nvSpPr>
          <p:cNvPr id="7" name="Text 5"/>
          <p:cNvSpPr txBox="1"/>
          <p:nvPr/>
        </p:nvSpPr>
        <p:spPr>
          <a:xfrm>
            <a:off x="804672" y="2167128"/>
            <a:ext cx="2993136" cy="12252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Demostrar seguridad en el empleo de las herramientas para el ensamblaje de un motor: desarmar, comprobar y armar el tren alternativo con los pares y holguras del manual.</a:t>
            </a:r>
            <a:endParaRPr lang="en-US" sz="1100" dirty="0"/>
          </a:p>
        </p:txBody>
      </p:sp>
      <p:sp>
        <p:nvSpPr>
          <p:cNvPr id="8" name="Text 6"/>
          <p:cNvSpPr txBox="1"/>
          <p:nvPr/>
        </p:nvSpPr>
        <p:spPr>
          <a:xfrm>
            <a:off x="804672" y="320954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PEA · Unidad 4</a:t>
            </a:r>
            <a:endParaRPr lang="en-US" sz="1200" dirty="0"/>
          </a:p>
        </p:txBody>
      </p:sp>
      <p:sp>
        <p:nvSpPr>
          <p:cNvPr id="9" name="tarjeta_2"/>
          <p:cNvSpPr/>
          <p:nvPr/>
        </p:nvSpPr>
        <p:spPr>
          <a:xfrm>
            <a:off x="432816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0" name="Shape 8"/>
          <p:cNvSpPr/>
          <p:nvPr/>
        </p:nvSpPr>
        <p:spPr>
          <a:xfrm>
            <a:off x="4584192" y="1655064"/>
            <a:ext cx="420624" cy="420624"/>
          </a:xfrm>
          <a:prstGeom prst="ellipse">
            <a:avLst/>
          </a:prstGeom>
          <a:solidFill>
            <a:schemeClr val="accent1"/>
          </a:solidFill>
          <a:ln w="12700">
            <a:solidFill>
              <a:schemeClr val="accent1"/>
            </a:solidFill>
            <a:prstDash val="solid"/>
          </a:ln>
        </p:spPr>
        <p:txBody>
          <a:bodyPr/>
          <a:p/>
        </p:txBody>
      </p:sp>
      <p:sp>
        <p:nvSpPr>
          <p:cNvPr id="11" name="Text 9"/>
          <p:cNvSpPr txBox="1"/>
          <p:nvPr/>
        </p:nvSpPr>
        <p:spPr>
          <a:xfrm>
            <a:off x="458419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10"/>
          <p:cNvSpPr txBox="1"/>
          <p:nvPr/>
        </p:nvSpPr>
        <p:spPr>
          <a:xfrm>
            <a:off x="513283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Conocimientos del PEA</a:t>
            </a:r>
            <a:endParaRPr lang="en-US" sz="1700" dirty="0"/>
          </a:p>
        </p:txBody>
      </p:sp>
      <p:sp>
        <p:nvSpPr>
          <p:cNvPr id="13" name="Text 11"/>
          <p:cNvSpPr txBox="1"/>
          <p:nvPr/>
        </p:nvSpPr>
        <p:spPr>
          <a:xfrm>
            <a:off x="4584192" y="2167128"/>
            <a:ext cx="2993136" cy="12252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Despiece y armado del tren alternativo · Comprobaciones de tren alternativo y bloque de motor.</a:t>
            </a:r>
            <a:endParaRPr lang="en-US" sz="1100" dirty="0"/>
          </a:p>
        </p:txBody>
      </p:sp>
      <p:sp>
        <p:nvSpPr>
          <p:cNvPr id="14" name="Text 12"/>
          <p:cNvSpPr txBox="1"/>
          <p:nvPr/>
        </p:nvSpPr>
        <p:spPr>
          <a:xfrm>
            <a:off x="4584192" y="320954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2 de los 13 conocimientos</a:t>
            </a:r>
            <a:endParaRPr lang="en-US" sz="1200" dirty="0"/>
          </a:p>
        </p:txBody>
      </p:sp>
      <p:sp>
        <p:nvSpPr>
          <p:cNvPr id="15" name="tarjeta_3"/>
          <p:cNvSpPr/>
          <p:nvPr/>
        </p:nvSpPr>
        <p:spPr>
          <a:xfrm>
            <a:off x="8107680" y="1417320"/>
            <a:ext cx="350520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6" name="Shape 14"/>
          <p:cNvSpPr/>
          <p:nvPr/>
        </p:nvSpPr>
        <p:spPr>
          <a:xfrm>
            <a:off x="8363712" y="1655064"/>
            <a:ext cx="420624" cy="420624"/>
          </a:xfrm>
          <a:prstGeom prst="ellipse">
            <a:avLst/>
          </a:prstGeom>
          <a:solidFill>
            <a:schemeClr val="accent3"/>
          </a:solidFill>
          <a:ln w="12700">
            <a:solidFill>
              <a:schemeClr val="accent3"/>
            </a:solidFill>
            <a:prstDash val="solid"/>
          </a:ln>
        </p:spPr>
        <p:txBody>
          <a:bodyPr/>
          <a:p/>
        </p:txBody>
      </p:sp>
      <p:sp>
        <p:nvSpPr>
          <p:cNvPr id="17" name="Text 15"/>
          <p:cNvSpPr txBox="1"/>
          <p:nvPr/>
        </p:nvSpPr>
        <p:spPr>
          <a:xfrm>
            <a:off x="8363712" y="16550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18" name="Text 16"/>
          <p:cNvSpPr txBox="1"/>
          <p:nvPr/>
        </p:nvSpPr>
        <p:spPr>
          <a:xfrm>
            <a:off x="8912352" y="1636776"/>
            <a:ext cx="2444496" cy="457200"/>
          </a:xfrm>
          <a:prstGeom prst="rect">
            <a:avLst/>
          </a:prstGeom>
          <a:noFill/>
          <a:ln/>
        </p:spPr>
        <p:txBody>
          <a:bodyPr wrap="square" lIns="0" tIns="0" rIns="0" bIns="0" rtlCol="0" anchor="ctr"/>
          <a:lstStyle/>
          <a:p>
            <a:pPr indent="0" marL="0">
              <a:buNone/>
            </a:pPr>
            <a:r>
              <a:rPr lang="en-US" sz="1700" b="1" dirty="0">
                <a:solidFill>
                  <a:schemeClr val="tx1"/>
                </a:solidFill>
              </a:rPr>
              <a:t>Evidencia de la clase</a:t>
            </a:r>
            <a:endParaRPr lang="en-US" sz="1700" dirty="0"/>
          </a:p>
        </p:txBody>
      </p:sp>
      <p:sp>
        <p:nvSpPr>
          <p:cNvPr id="19" name="Text 17"/>
          <p:cNvSpPr txBox="1"/>
          <p:nvPr/>
        </p:nvSpPr>
        <p:spPr>
          <a:xfrm>
            <a:off x="8363712" y="2167128"/>
            <a:ext cx="2993136" cy="1225296"/>
          </a:xfrm>
          <a:prstGeom prst="rect">
            <a:avLst/>
          </a:prstGeom>
          <a:noFill/>
          <a:ln/>
        </p:spPr>
        <p:txBody>
          <a:bodyPr wrap="square" lIns="0" tIns="0" rIns="0" bIns="0" rtlCol="0" anchor="t"/>
          <a:lstStyle/>
          <a:p>
            <a:pPr indent="0" marL="0">
              <a:lnSpc>
                <a:spcPct val="108000"/>
              </a:lnSpc>
              <a:buNone/>
            </a:pPr>
            <a:r>
              <a:rPr lang="en-US" sz="1100" dirty="0">
                <a:solidFill>
                  <a:schemeClr val="accent4"/>
                </a:solidFill>
              </a:rPr>
              <a:t>Ficha de comprobaciones del tren alternativo y motor armado, verificado y en funcionamiento.</a:t>
            </a:r>
            <a:endParaRPr lang="en-US" sz="1100" dirty="0"/>
          </a:p>
        </p:txBody>
      </p:sp>
      <p:sp>
        <p:nvSpPr>
          <p:cNvPr id="20" name="Text 18"/>
          <p:cNvSpPr txBox="1"/>
          <p:nvPr/>
        </p:nvSpPr>
        <p:spPr>
          <a:xfrm>
            <a:off x="8363712" y="320954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Cierre de la práctica</a:t>
            </a:r>
            <a:endParaRPr lang="en-US" sz="1200" dirty="0"/>
          </a:p>
        </p:txBody>
      </p:sp>
      <p:sp>
        <p:nvSpPr>
          <p:cNvPr id="21" name="Text 19"/>
          <p:cNvSpPr txBox="1"/>
          <p:nvPr/>
        </p:nvSpPr>
        <p:spPr>
          <a:xfrm>
            <a:off x="548640" y="3749040"/>
            <a:ext cx="11064240" cy="5029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Competencia concreta que se evalúa:  dado un conjunto de pistones, bielas y un cigüeñal, el estudiante debe poder medir sus holguras, decidir sobre cada pieza y armarlo todo en el bloque dejando el cigüeñal girando libre y con el par correcto.</a:t>
            </a:r>
            <a:endParaRPr lang="en-US" sz="1400" dirty="0"/>
          </a:p>
        </p:txBody>
      </p:sp>
      <p:sp>
        <p:nvSpPr>
          <p:cNvPr id="22" name="Shape 20"/>
          <p:cNvSpPr/>
          <p:nvPr/>
        </p:nvSpPr>
        <p:spPr>
          <a:xfrm>
            <a:off x="548640" y="435254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2"/>
          <p:cNvSpPr txBox="1"/>
          <p:nvPr/>
        </p:nvSpPr>
        <p:spPr>
          <a:xfrm>
            <a:off x="1078992" y="4315968"/>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mecanismo y sus fuerzas. </a:t>
            </a:r>
            <a:pPr indent="0" marL="0">
              <a:lnSpc>
                <a:spcPct val="106000"/>
              </a:lnSpc>
              <a:buNone/>
            </a:pPr>
            <a:r>
              <a:rPr lang="en-US" sz="1200" dirty="0">
                <a:solidFill>
                  <a:schemeClr val="accent4"/>
                </a:solidFill>
              </a:rPr>
              <a:t>por qué aparece el empuje lateral y por qué el pistón se desgasta de forma asimétrica</a:t>
            </a:r>
            <a:endParaRPr lang="en-US" sz="1200" dirty="0"/>
          </a:p>
        </p:txBody>
      </p:sp>
      <p:sp>
        <p:nvSpPr>
          <p:cNvPr id="25" name="Shape 23"/>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5"/>
          <p:cNvSpPr txBox="1"/>
          <p:nvPr/>
        </p:nvSpPr>
        <p:spPr>
          <a:xfrm>
            <a:off x="1078992" y="4617720"/>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pistón. </a:t>
            </a:r>
            <a:pPr indent="0" marL="0">
              <a:lnSpc>
                <a:spcPct val="106000"/>
              </a:lnSpc>
              <a:buNone/>
            </a:pPr>
            <a:r>
              <a:rPr lang="en-US" sz="1200" dirty="0">
                <a:solidFill>
                  <a:schemeClr val="accent4"/>
                </a:solidFill>
              </a:rPr>
              <a:t>sus zonas, sus materiales y por qué no es cilíndrico ni de diámetro uniforme</a:t>
            </a:r>
            <a:endParaRPr lang="en-US" sz="1200" dirty="0"/>
          </a:p>
        </p:txBody>
      </p:sp>
      <p:sp>
        <p:nvSpPr>
          <p:cNvPr id="28" name="Shape 26"/>
          <p:cNvSpPr/>
          <p:nvPr/>
        </p:nvSpPr>
        <p:spPr>
          <a:xfrm>
            <a:off x="548640" y="4956048"/>
            <a:ext cx="384048" cy="384048"/>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548640" y="4956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8"/>
          <p:cNvSpPr txBox="1"/>
          <p:nvPr/>
        </p:nvSpPr>
        <p:spPr>
          <a:xfrm>
            <a:off x="1078992" y="4919472"/>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Los segmentos. </a:t>
            </a:r>
            <a:pPr indent="0" marL="0">
              <a:lnSpc>
                <a:spcPct val="106000"/>
              </a:lnSpc>
              <a:buNone/>
            </a:pPr>
            <a:r>
              <a:rPr lang="en-US" sz="1200" dirty="0">
                <a:solidFill>
                  <a:schemeClr val="accent4"/>
                </a:solidFill>
              </a:rPr>
              <a:t>qué hace cada uno, por qué el rayado del cilindro importa y cómo se montan</a:t>
            </a:r>
            <a:endParaRPr lang="en-US" sz="1200" dirty="0"/>
          </a:p>
        </p:txBody>
      </p:sp>
      <p:sp>
        <p:nvSpPr>
          <p:cNvPr id="31" name="Shape 29"/>
          <p:cNvSpPr/>
          <p:nvPr/>
        </p:nvSpPr>
        <p:spPr>
          <a:xfrm>
            <a:off x="548640" y="5257800"/>
            <a:ext cx="384048" cy="384048"/>
          </a:xfrm>
          <a:prstGeom prst="ellipse">
            <a:avLst/>
          </a:prstGeom>
          <a:solidFill>
            <a:schemeClr val="accent2"/>
          </a:solidFill>
          <a:ln w="12700">
            <a:solidFill>
              <a:schemeClr val="accent2"/>
            </a:solidFill>
            <a:prstDash val="solid"/>
          </a:ln>
        </p:spPr>
        <p:txBody>
          <a:bodyPr/>
          <a:p/>
        </p:txBody>
      </p:sp>
      <p:sp>
        <p:nvSpPr>
          <p:cNvPr id="32" name="Text 30"/>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3" name="Text 31"/>
          <p:cNvSpPr txBox="1"/>
          <p:nvPr/>
        </p:nvSpPr>
        <p:spPr>
          <a:xfrm>
            <a:off x="1078992" y="5221224"/>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Biela, cigüeñal y cojinetes. </a:t>
            </a:r>
            <a:pPr indent="0" marL="0">
              <a:lnSpc>
                <a:spcPct val="106000"/>
              </a:lnSpc>
              <a:buNone/>
            </a:pPr>
            <a:r>
              <a:rPr lang="en-US" sz="1200" dirty="0">
                <a:solidFill>
                  <a:schemeClr val="accent4"/>
                </a:solidFill>
              </a:rPr>
              <a:t>cómo se apoyan, qué holguras tienen y cómo se miden</a:t>
            </a:r>
            <a:endParaRPr lang="en-US" sz="1200" dirty="0"/>
          </a:p>
        </p:txBody>
      </p:sp>
      <p:sp>
        <p:nvSpPr>
          <p:cNvPr id="34" name="Shape 32"/>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35" name="Text 33"/>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6" name="Text 34"/>
          <p:cNvSpPr txBox="1"/>
          <p:nvPr/>
        </p:nvSpPr>
        <p:spPr>
          <a:xfrm>
            <a:off x="1078992" y="5522976"/>
            <a:ext cx="10533888" cy="246888"/>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El armado. </a:t>
            </a:r>
            <a:pPr indent="0" marL="0">
              <a:lnSpc>
                <a:spcPct val="106000"/>
              </a:lnSpc>
              <a:buNone/>
            </a:pPr>
            <a:r>
              <a:rPr lang="en-US" sz="1200" dirty="0">
                <a:solidFill>
                  <a:schemeClr val="accent4"/>
                </a:solidFill>
              </a:rPr>
              <a:t>orden, pares, holguras de control y verificación final del giro</a:t>
            </a:r>
            <a:endParaRPr lang="en-US" sz="1200" dirty="0"/>
          </a:p>
        </p:txBody>
      </p:sp>
      <p:sp>
        <p:nvSpPr>
          <p:cNvPr id="37" name="Text 3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Conocimientos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mecanismo biela-manivela y sus fuerzas</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t_mecanismo.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56. </a:t>
            </a:r>
            <a:pPr indent="0" marL="0">
              <a:lnSpc>
                <a:spcPct val="102000"/>
              </a:lnSpc>
              <a:buNone/>
            </a:pPr>
            <a:r>
              <a:rPr lang="en-US" sz="1000" dirty="0">
                <a:solidFill>
                  <a:schemeClr val="accent4"/>
                </a:solidFill>
              </a:rPr>
              <a:t>Mecanismo biela-manivela: conversión del movimiento alternativo en rotativo. Adaptado de Minga González, M. A. (s. f.). Pistones y tren alternativo [diapositivas]. ISTS.</a:t>
            </a:r>
            <a:endParaRPr lang="en-US" sz="1000" dirty="0"/>
          </a:p>
        </p:txBody>
      </p:sp>
      <p:sp>
        <p:nvSpPr>
          <p:cNvPr id="6" name="Shape 3"/>
          <p:cNvSpPr/>
          <p:nvPr/>
        </p:nvSpPr>
        <p:spPr>
          <a:xfrm>
            <a:off x="585216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8521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382512" y="1463040"/>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hace. </a:t>
            </a:r>
            <a:pPr indent="0" marL="0">
              <a:lnSpc>
                <a:spcPct val="106000"/>
              </a:lnSpc>
              <a:buNone/>
            </a:pPr>
            <a:r>
              <a:rPr lang="en-US" sz="1150" dirty="0">
                <a:solidFill>
                  <a:schemeClr val="accent4"/>
                </a:solidFill>
              </a:rPr>
              <a:t>convierte el movimiento alternativo del pistón en movimiento rotativo del cigüeñal, y transmite la fuerza de la combustión</a:t>
            </a:r>
            <a:endParaRPr lang="en-US" sz="1150" dirty="0"/>
          </a:p>
        </p:txBody>
      </p:sp>
      <p:sp>
        <p:nvSpPr>
          <p:cNvPr id="9" name="Shape 6"/>
          <p:cNvSpPr/>
          <p:nvPr/>
        </p:nvSpPr>
        <p:spPr>
          <a:xfrm>
            <a:off x="5852160" y="219456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85216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382512" y="2157984"/>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 dónde sale el empuje lateral. </a:t>
            </a:r>
            <a:pPr indent="0" marL="0">
              <a:lnSpc>
                <a:spcPct val="106000"/>
              </a:lnSpc>
              <a:buNone/>
            </a:pPr>
            <a:r>
              <a:rPr lang="en-US" sz="1150" dirty="0">
                <a:solidFill>
                  <a:schemeClr val="accent4"/>
                </a:solidFill>
              </a:rPr>
              <a:t>la biela está inclinada durante casi todo el recorrido, de modo que la fuerza que transmite tiene una componente perpendicular al cilindro</a:t>
            </a:r>
            <a:endParaRPr lang="en-US" sz="1150" dirty="0"/>
          </a:p>
        </p:txBody>
      </p:sp>
      <p:sp>
        <p:nvSpPr>
          <p:cNvPr id="12" name="Shape 9"/>
          <p:cNvSpPr/>
          <p:nvPr/>
        </p:nvSpPr>
        <p:spPr>
          <a:xfrm>
            <a:off x="5852160" y="288950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852160" y="2889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382512" y="2852928"/>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produce ese empuje. </a:t>
            </a:r>
            <a:pPr indent="0" marL="0">
              <a:lnSpc>
                <a:spcPct val="106000"/>
              </a:lnSpc>
              <a:buNone/>
            </a:pPr>
            <a:r>
              <a:rPr lang="en-US" sz="1150" dirty="0">
                <a:solidFill>
                  <a:schemeClr val="accent4"/>
                </a:solidFill>
              </a:rPr>
              <a:t>el pistón se apoya contra una pared del cilindro en la carrera de trabajo y contra la opuesta en las demás: desgaste asimétrico</a:t>
            </a:r>
            <a:endParaRPr lang="en-US" sz="1150" dirty="0"/>
          </a:p>
        </p:txBody>
      </p:sp>
      <p:sp>
        <p:nvSpPr>
          <p:cNvPr id="15" name="Shape 12"/>
          <p:cNvSpPr/>
          <p:nvPr/>
        </p:nvSpPr>
        <p:spPr>
          <a:xfrm>
            <a:off x="5852160" y="358444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852160" y="3584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382512" y="3547872"/>
            <a:ext cx="5230368" cy="640080"/>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importa saberlo. </a:t>
            </a:r>
            <a:pPr indent="0" marL="0">
              <a:lnSpc>
                <a:spcPct val="106000"/>
              </a:lnSpc>
              <a:buNone/>
            </a:pPr>
            <a:r>
              <a:rPr lang="en-US" sz="1150" dirty="0">
                <a:solidFill>
                  <a:schemeClr val="accent4"/>
                </a:solidFill>
              </a:rPr>
              <a:t>porque explica la ovalización medida en la Unidad 1 y la dirección en que aparece: en el plano de oscilación de la biela</a:t>
            </a:r>
            <a:endParaRPr lang="en-US" sz="1150" dirty="0"/>
          </a:p>
        </p:txBody>
      </p:sp>
      <p:sp>
        <p:nvSpPr>
          <p:cNvPr id="18" name="Shape 15"/>
          <p:cNvSpPr/>
          <p:nvPr/>
        </p:nvSpPr>
        <p:spPr>
          <a:xfrm>
            <a:off x="548640" y="4297680"/>
            <a:ext cx="11064240" cy="822960"/>
          </a:xfrm>
          <a:prstGeom prst="roundRect">
            <a:avLst>
              <a:gd name="adj" fmla="val 6667"/>
            </a:avLst>
          </a:prstGeom>
          <a:solidFill>
            <a:schemeClr val="bg2"/>
          </a:solidFill>
          <a:ln w="12700">
            <a:solidFill>
              <a:schemeClr val="bg2"/>
            </a:solidFill>
            <a:prstDash val="solid"/>
          </a:ln>
        </p:spPr>
        <p:txBody>
          <a:bodyPr/>
          <a:p/>
        </p:txBody>
      </p:sp>
      <p:sp>
        <p:nvSpPr>
          <p:cNvPr id="19" name="Shape 16"/>
          <p:cNvSpPr/>
          <p:nvPr/>
        </p:nvSpPr>
        <p:spPr>
          <a:xfrm>
            <a:off x="786384" y="4526280"/>
            <a:ext cx="365760" cy="365760"/>
          </a:xfrm>
          <a:prstGeom prst="ellipse">
            <a:avLst/>
          </a:prstGeom>
          <a:solidFill>
            <a:schemeClr val="accent2"/>
          </a:solidFill>
          <a:ln w="12700">
            <a:solidFill>
              <a:schemeClr val="accent2"/>
            </a:solidFill>
            <a:prstDash val="solid"/>
          </a:ln>
        </p:spPr>
        <p:txBody>
          <a:bodyPr/>
          <a:p/>
        </p:txBody>
      </p:sp>
      <p:sp>
        <p:nvSpPr>
          <p:cNvPr id="20" name="Text 17"/>
          <p:cNvSpPr txBox="1"/>
          <p:nvPr/>
        </p:nvSpPr>
        <p:spPr>
          <a:xfrm>
            <a:off x="786384"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1" name="Text 18"/>
          <p:cNvSpPr txBox="1"/>
          <p:nvPr/>
        </p:nvSpPr>
        <p:spPr>
          <a:xfrm>
            <a:off x="1298448" y="438912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empuje lateral es la razón de que el cilindro se ovalice siempre en la misma dirección, de que la falda del pistón tenga esa forma y de que exista un lado de empuje principal. No es un defecto: es una consecuencia inevitable de la geometría del mecanismo.</a:t>
            </a:r>
            <a:endParaRPr lang="en-US" sz="1450" dirty="0"/>
          </a:p>
        </p:txBody>
      </p:sp>
      <p:sp>
        <p:nvSpPr>
          <p:cNvPr id="22" name="Shape 19"/>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3" name="Text 20"/>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Las otras fuerzas presentes. </a:t>
            </a:r>
            <a:pPr indent="0" marL="0">
              <a:lnSpc>
                <a:spcPct val="106000"/>
              </a:lnSpc>
              <a:buNone/>
            </a:pPr>
            <a:r>
              <a:rPr lang="en-US" sz="1150" dirty="0">
                <a:solidFill>
                  <a:schemeClr val="accent4"/>
                </a:solidFill>
              </a:rPr>
              <a:t>la presión de los gases, que empuja el pistón hacia abajo, y las fuerzas de inercia de las masas que aceleran y frenan en cada carrera</a:t>
            </a:r>
            <a:endParaRPr lang="en-US" sz="1150" dirty="0"/>
          </a:p>
        </p:txBody>
      </p:sp>
      <p:sp>
        <p:nvSpPr>
          <p:cNvPr id="25" name="Shape 22"/>
          <p:cNvSpPr/>
          <p:nvPr/>
        </p:nvSpPr>
        <p:spPr>
          <a:xfrm>
            <a:off x="548640" y="5614416"/>
            <a:ext cx="384048" cy="384048"/>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548640" y="5614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78992" y="55778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las inercias crecen tanto con el régimen. </a:t>
            </a:r>
            <a:pPr indent="0" marL="0">
              <a:lnSpc>
                <a:spcPct val="106000"/>
              </a:lnSpc>
              <a:buNone/>
            </a:pPr>
            <a:r>
              <a:rPr lang="en-US" sz="1150" dirty="0">
                <a:solidFill>
                  <a:schemeClr val="accent4"/>
                </a:solidFill>
              </a:rPr>
              <a:t>porque dependen del cuadrado de la velocidad de giro; por eso aligerar pistones y bielas es tan determinante en motores de alto régimen</a:t>
            </a:r>
            <a:endParaRPr lang="en-US" sz="1150" dirty="0"/>
          </a:p>
        </p:txBody>
      </p:sp>
      <p:sp>
        <p:nvSpPr>
          <p:cNvPr id="28" name="Text 2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 · enlaza con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pistón: zonas, forma y materiales</a:t>
            </a:r>
            <a:endParaRPr lang="en-US" sz="3200" dirty="0"/>
          </a:p>
        </p:txBody>
      </p:sp>
      <p:sp>
        <p:nvSpPr>
          <p:cNvPr id="3" name="marco_figura"/>
          <p:cNvSpPr/>
          <p:nvPr/>
        </p:nvSpPr>
        <p:spPr>
          <a:xfrm>
            <a:off x="548640" y="1371600"/>
            <a:ext cx="493776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t_piston_nomenclatura.jpg">    </p:cNvPr>
          <p:cNvPicPr>
            <a:picLocks noChangeAspect="1"/>
          </p:cNvPicPr>
          <p:nvPr/>
        </p:nvPicPr>
        <p:blipFill>
          <a:blip r:embed="rId1"/>
          <a:srcRect l="0" r="0" t="0" b="0"/>
          <a:stretch/>
        </p:blipFill>
        <p:spPr>
          <a:xfrm>
            <a:off x="658368" y="1481328"/>
            <a:ext cx="4718304" cy="2432304"/>
          </a:xfrm>
          <a:prstGeom prst="rect">
            <a:avLst/>
          </a:prstGeom>
        </p:spPr>
      </p:pic>
      <p:sp>
        <p:nvSpPr>
          <p:cNvPr id="5" name="Text 2"/>
          <p:cNvSpPr txBox="1"/>
          <p:nvPr/>
        </p:nvSpPr>
        <p:spPr>
          <a:xfrm>
            <a:off x="658368" y="4023360"/>
            <a:ext cx="47183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57. </a:t>
            </a:r>
            <a:pPr indent="0" marL="0">
              <a:lnSpc>
                <a:spcPct val="102000"/>
              </a:lnSpc>
              <a:buNone/>
            </a:pPr>
            <a:r>
              <a:rPr lang="en-US" sz="1000" dirty="0">
                <a:solidFill>
                  <a:schemeClr val="accent4"/>
                </a:solidFill>
              </a:rPr>
              <a:t>Nomenclatura del pistón: cabeza, zona de segmentos, alojamiento del bulón y falda. Adaptado de Minga González, M. A. (s. f.). Pistones y tren alternativo [diapositivas]. ISTS.</a:t>
            </a:r>
            <a:endParaRPr lang="en-US" sz="10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852160" y="1371600"/>
          <a:ext cx="5760720" cy="914400"/>
        </p:xfrm>
        <a:graphic>
          <a:graphicData uri="http://schemas.openxmlformats.org/drawingml/2006/table">
            <a:tbl>
              <a:tblPr/>
              <a:tblGrid>
                <a:gridCol w="1828800"/>
                <a:gridCol w="1920240"/>
                <a:gridCol w="2011680"/>
              </a:tblGrid>
              <a:tr h="457200">
                <a:tc>
                  <a:txBody>
                    <a:bodyPr/>
                    <a:lstStyle/>
                    <a:p>
                      <a:pPr indent="0" marL="0">
                        <a:buNone/>
                      </a:pPr>
                      <a:r>
                        <a:rPr lang="en-US" sz="1300" b="1" dirty="0">
                          <a:solidFill>
                            <a:srgbClr val="FFFFFF"/>
                          </a:solidFill>
                        </a:rPr>
                        <a:t>Zona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la castiga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050" b="1" dirty="0">
                          <a:solidFill>
                            <a:schemeClr val="tx1"/>
                          </a:solidFill>
                        </a:rPr>
                        <a:t>Cabeza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Recibe la presión y el calor de la combustión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Temperatura; su forma condiciona la cámara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Zona de segmentos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Aloja los aros en sus ranuras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Desgaste de ranuras y acumulación de carbonilla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050" b="1" dirty="0">
                          <a:solidFill>
                            <a:schemeClr val="tx1"/>
                          </a:solidFill>
                        </a:rPr>
                        <a:t>Alojamiento del bulón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Transmite la fuerza a la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Concentración de esfuerzos; refuerzos internos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chemeClr val="tx1"/>
                          </a:solidFill>
                        </a:rPr>
                        <a:t>Falda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Guía el pistón y absorbe el empuje lateral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Rozamiento contra la pared del 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Un pistón no es cilíndrico ni de diámetro uniforme: es ligeramente ovalado y más estrecho arriba que abajo. Esa forma está calculada para que, al dilatarse en caliente, adopte la forma cilíndrica correcta dentro del cilindro.</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más estrecho arriba. </a:t>
            </a:r>
            <a:pPr indent="0" marL="0">
              <a:lnSpc>
                <a:spcPct val="106000"/>
              </a:lnSpc>
              <a:buNone/>
            </a:pPr>
            <a:r>
              <a:rPr lang="en-US" sz="1150" dirty="0">
                <a:solidFill>
                  <a:schemeClr val="accent4"/>
                </a:solidFill>
              </a:rPr>
              <a:t>la cabeza está mucho más caliente que la falda y se dilata más; si tuviera el mismo diámetro en frío, agarrotaría en caliente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ligeramente ovalado. </a:t>
            </a:r>
            <a:pPr indent="0" marL="0">
              <a:lnSpc>
                <a:spcPct val="106000"/>
              </a:lnSpc>
              <a:buNone/>
            </a:pPr>
            <a:r>
              <a:rPr lang="en-US" sz="1150" dirty="0">
                <a:solidFill>
                  <a:schemeClr val="accent4"/>
                </a:solidFill>
              </a:rPr>
              <a:t>para compensar la dilatación desigual causada por el material del alojamiento del bulón, que es más grueso</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se mide el diámetro. </a:t>
            </a:r>
            <a:pPr indent="0" marL="0">
              <a:lnSpc>
                <a:spcPct val="106000"/>
              </a:lnSpc>
              <a:buNone/>
            </a:pPr>
            <a:r>
              <a:rPr lang="en-US" sz="1150" dirty="0">
                <a:solidFill>
                  <a:schemeClr val="accent4"/>
                </a:solidFill>
              </a:rPr>
              <a:t>en el punto y la dirección que indica el manual, normalmente en la falda y perpendicular al eje del bulón; medir en otro sitio da valores sin sentido</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segmentos: la pieza más sutil del motor</a:t>
            </a:r>
            <a:endParaRPr lang="en-US" sz="3200" dirty="0"/>
          </a:p>
        </p:txBody>
      </p:sp>
      <p:sp>
        <p:nvSpPr>
          <p:cNvPr id="3" name="marco_figura"/>
          <p:cNvSpPr/>
          <p:nvPr/>
        </p:nvSpPr>
        <p:spPr>
          <a:xfrm>
            <a:off x="548640" y="1371600"/>
            <a:ext cx="457200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t_anillos.jpg">    </p:cNvPr>
          <p:cNvPicPr>
            <a:picLocks noChangeAspect="1"/>
          </p:cNvPicPr>
          <p:nvPr/>
        </p:nvPicPr>
        <p:blipFill>
          <a:blip r:embed="rId1"/>
          <a:srcRect l="0" r="0" t="0" b="0"/>
          <a:stretch/>
        </p:blipFill>
        <p:spPr>
          <a:xfrm>
            <a:off x="658368" y="1481328"/>
            <a:ext cx="4352544" cy="2340864"/>
          </a:xfrm>
          <a:prstGeom prst="rect">
            <a:avLst/>
          </a:prstGeom>
        </p:spPr>
      </p:pic>
      <p:sp>
        <p:nvSpPr>
          <p:cNvPr id="5" name="Text 2"/>
          <p:cNvSpPr txBox="1"/>
          <p:nvPr/>
        </p:nvSpPr>
        <p:spPr>
          <a:xfrm>
            <a:off x="658368" y="393192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58. </a:t>
            </a:r>
            <a:pPr indent="0" marL="0">
              <a:lnSpc>
                <a:spcPct val="102000"/>
              </a:lnSpc>
              <a:buNone/>
            </a:pPr>
            <a:r>
              <a:rPr lang="en-US" sz="1000" dirty="0">
                <a:solidFill>
                  <a:schemeClr val="accent4"/>
                </a:solidFill>
              </a:rPr>
              <a:t>Zona de segmentos del pistón, con sus ranuras y aros montados. Adaptado de Minga González, M. A. (s. f.). Pistones y tren alternativo [diapositivas]. ISTS.</a:t>
            </a:r>
            <a:endParaRPr lang="en-US" sz="1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2103120"/>
                <a:gridCol w="2011680"/>
                <a:gridCol w="2011680"/>
              </a:tblGrid>
              <a:tr h="475488">
                <a:tc>
                  <a:txBody>
                    <a:bodyPr/>
                    <a:lstStyle/>
                    <a:p>
                      <a:pPr indent="0" marL="0">
                        <a:buNone/>
                      </a:pPr>
                      <a:r>
                        <a:rPr lang="en-US" sz="1300" b="1" dirty="0">
                          <a:solidFill>
                            <a:srgbClr val="FFFFFF"/>
                          </a:solidFill>
                        </a:rPr>
                        <a:t>Segmento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Función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Si falla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Primero, de compresión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Sella los gases de la combustión contra la pared del 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Pérdida de compresión y paso de gases al cárter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Segundo, de compresión y rascado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Completa el sellado y arrastra parte del aceite hacia abajo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Consumo de aceite y pérdida parcial de compresión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Tercero, rascador de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Retira el exceso de aceite de la pared y lo devuelve al cárter por sus ranuras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Consumo de aceite y humo azul al acelerar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2"/>
          </a:solidFill>
          <a:ln w="12700">
            <a:solidFill>
              <a:schemeClr val="accent2"/>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primer segmento no sella solo por su propia elasticidad: la presión de los gases entra por detrás de él y lo empuja contra la pared. Cuanta más presión hay en la cámara, con más fuerza sella. El diseño usa el propio problema como solución.</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el cilindro lleva un rayado cruzado. </a:t>
            </a:r>
            <a:pPr indent="0" marL="0">
              <a:lnSpc>
                <a:spcPct val="106000"/>
              </a:lnSpc>
              <a:buNone/>
            </a:pPr>
            <a:r>
              <a:rPr lang="en-US" sz="1150" dirty="0">
                <a:solidFill>
                  <a:schemeClr val="accent4"/>
                </a:solidFill>
              </a:rPr>
              <a:t>ese acabado retiene aceite en sus microsurcos y permite que los segmentos trabajen siempre sobre una película; un cilindro espejado no retiene aceite</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es el asentamiento de segmentos. </a:t>
            </a:r>
            <a:pPr indent="0" marL="0">
              <a:lnSpc>
                <a:spcPct val="106000"/>
              </a:lnSpc>
              <a:buNone/>
            </a:pPr>
            <a:r>
              <a:rPr lang="en-US" sz="1150" dirty="0">
                <a:solidFill>
                  <a:schemeClr val="accent4"/>
                </a:solidFill>
              </a:rPr>
              <a:t>los primeros kilómetros tras un rectificado, en los que el segmento y la pared se adaptan entre sí; de ahí las recomendaciones de rodaje</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las aberturas van desfasadas. </a:t>
            </a:r>
            <a:pPr indent="0" marL="0">
              <a:lnSpc>
                <a:spcPct val="106000"/>
              </a:lnSpc>
              <a:buNone/>
            </a:pPr>
            <a:r>
              <a:rPr lang="en-US" sz="1150" dirty="0">
                <a:solidFill>
                  <a:schemeClr val="accent4"/>
                </a:solidFill>
              </a:rPr>
              <a:t>para que los huecos de los distintos segmentos no queden alineados y no formen un camino continuo para los gases</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 · resuelve el caso B de la clase 4.1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Bulón y biela</a:t>
            </a:r>
            <a:endParaRPr lang="en-US" sz="3200" dirty="0"/>
          </a:p>
        </p:txBody>
      </p:sp>
      <p:sp>
        <p:nvSpPr>
          <p:cNvPr id="3" name="marco_figura"/>
          <p:cNvSpPr/>
          <p:nvPr/>
        </p:nvSpPr>
        <p:spPr>
          <a:xfrm>
            <a:off x="548640" y="1371600"/>
            <a:ext cx="402336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t_piston_biela.jpg">    </p:cNvPr>
          <p:cNvPicPr>
            <a:picLocks noChangeAspect="1"/>
          </p:cNvPicPr>
          <p:nvPr/>
        </p:nvPicPr>
        <p:blipFill>
          <a:blip r:embed="rId1"/>
          <a:srcRect l="0" r="0" t="0" b="0"/>
          <a:stretch/>
        </p:blipFill>
        <p:spPr>
          <a:xfrm>
            <a:off x="658368" y="1481328"/>
            <a:ext cx="3803904" cy="2340864"/>
          </a:xfrm>
          <a:prstGeom prst="rect">
            <a:avLst/>
          </a:prstGeom>
        </p:spPr>
      </p:pic>
      <p:sp>
        <p:nvSpPr>
          <p:cNvPr id="5" name="Text 2"/>
          <p:cNvSpPr txBox="1"/>
          <p:nvPr/>
        </p:nvSpPr>
        <p:spPr>
          <a:xfrm>
            <a:off x="658368" y="3931920"/>
            <a:ext cx="38039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59. </a:t>
            </a:r>
            <a:pPr indent="0" marL="0">
              <a:lnSpc>
                <a:spcPct val="102000"/>
              </a:lnSpc>
              <a:buNone/>
            </a:pPr>
            <a:r>
              <a:rPr lang="en-US" sz="1000" dirty="0">
                <a:solidFill>
                  <a:schemeClr val="accent4"/>
                </a:solidFill>
              </a:rPr>
              <a:t>Conjunto pistón-biela montado. Adaptado de Minga González, M. A. (s. f.). Pistones y tren alternativo [diapositivas]. ISTS.</a:t>
            </a:r>
            <a:endParaRPr lang="en-US" sz="10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937760" y="1371600"/>
          <a:ext cx="6675120" cy="914400"/>
        </p:xfrm>
        <a:graphic>
          <a:graphicData uri="http://schemas.openxmlformats.org/drawingml/2006/table">
            <a:tbl>
              <a:tblPr/>
              <a:tblGrid>
                <a:gridCol w="2194560"/>
                <a:gridCol w="2194560"/>
                <a:gridCol w="2286000"/>
              </a:tblGrid>
              <a:tr h="475488">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Montaje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050" b="1" dirty="0">
                          <a:solidFill>
                            <a:schemeClr val="tx1"/>
                          </a:solidFill>
                        </a:rPr>
                        <a:t>Bulón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Articula el pistón con el pie de biela y transmite la fuerza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Flotante con anillos de retención, o fijo a presión en el pie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Pie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Extremo pequeño; aloja el bulón, con casquillo si el bulón es flotante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 comprueba la holgura del casquillo con el bulón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050" b="1" dirty="0">
                          <a:solidFill>
                            <a:schemeClr val="tx1"/>
                          </a:solidFill>
                        </a:rPr>
                        <a:t>Cuerpo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Transmite el esfuerzo; su sección resiste tracción, compresión y pandeo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Se comprueba rectitud y ausencia de torsión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chemeClr val="tx1"/>
                          </a:solidFill>
                        </a:rPr>
                        <a:t>Cabeza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Extremo grande; abraza la muñequilla del cigüeñal con sus cojinetes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Sombrerete numerado, no intercambiable, con su par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160520"/>
            <a:ext cx="11064240" cy="822960"/>
          </a:xfrm>
          <a:prstGeom prst="roundRect">
            <a:avLst>
              <a:gd name="adj" fmla="val 6667"/>
            </a:avLst>
          </a:prstGeom>
          <a:solidFill>
            <a:schemeClr val="bg2"/>
          </a:solidFill>
          <a:ln w="12700">
            <a:solidFill>
              <a:schemeClr val="bg2"/>
            </a:solidFill>
            <a:prstDash val="solid"/>
          </a:ln>
        </p:spPr>
        <p:txBody>
          <a:bodyPr/>
          <a:p/>
        </p:txBody>
      </p:sp>
      <p:sp>
        <p:nvSpPr>
          <p:cNvPr id="8" name="Shape 4"/>
          <p:cNvSpPr/>
          <p:nvPr/>
        </p:nvSpPr>
        <p:spPr>
          <a:xfrm>
            <a:off x="786384" y="438912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389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25196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sombrerete de la cabeza de biela se mecanizó junto con su biela, igual que los de bancada con el bloque. Cada sombrerete pertenece a su biela y a su orientación: intercambiarlos deja el alojamiento fuera de medida y destruye el cojinete.</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la biela puede quedar torcida. </a:t>
            </a:r>
            <a:pPr indent="0" marL="0">
              <a:lnSpc>
                <a:spcPct val="106000"/>
              </a:lnSpc>
              <a:buNone/>
            </a:pPr>
            <a:r>
              <a:rPr lang="en-US" sz="1150" dirty="0">
                <a:solidFill>
                  <a:schemeClr val="accent4"/>
                </a:solidFill>
              </a:rPr>
              <a:t>un gripaje o un golpe de ariete hidráulico la deforman; una biela torcida hace que el pistón apoye desigual y desgaste el cilindro en falso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Cómo se comprueba. </a:t>
            </a:r>
            <a:pPr indent="0" marL="0">
              <a:lnSpc>
                <a:spcPct val="106000"/>
              </a:lnSpc>
              <a:buNone/>
            </a:pPr>
            <a:r>
              <a:rPr lang="en-US" sz="1150" dirty="0">
                <a:solidFill>
                  <a:schemeClr val="accent4"/>
                </a:solidFill>
              </a:rPr>
              <a:t>en un verificador de bielas, que mide el paralelismo entre los ejes del pie y de la cabeza, en dos planos</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marca llevan las bielas. </a:t>
            </a:r>
            <a:pPr indent="0" marL="0">
              <a:lnSpc>
                <a:spcPct val="106000"/>
              </a:lnSpc>
              <a:buNone/>
            </a:pPr>
            <a:r>
              <a:rPr lang="en-US" sz="1150" dirty="0">
                <a:solidFill>
                  <a:schemeClr val="accent4"/>
                </a:solidFill>
              </a:rPr>
              <a:t>una marca de orientación que debe mirar hacia un lado determinado del motor; montarlas al revés desplaza el bulón descentrado y el aceite no llega igual</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cigüeñal</a:t>
            </a:r>
            <a:endParaRPr lang="en-US" sz="3200" dirty="0"/>
          </a:p>
        </p:txBody>
      </p:sp>
      <p:sp>
        <p:nvSpPr>
          <p:cNvPr id="3" name="marco_figura"/>
          <p:cNvSpPr/>
          <p:nvPr/>
        </p:nvSpPr>
        <p:spPr>
          <a:xfrm>
            <a:off x="548640" y="1371600"/>
            <a:ext cx="475488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mano.jpg">    </p:cNvPr>
          <p:cNvPicPr>
            <a:picLocks noChangeAspect="1"/>
          </p:cNvPicPr>
          <p:nvPr/>
        </p:nvPicPr>
        <p:blipFill>
          <a:blip r:embed="rId1"/>
          <a:srcRect l="0" r="0" t="0" b="0"/>
          <a:stretch/>
        </p:blipFill>
        <p:spPr>
          <a:xfrm>
            <a:off x="658368" y="1481328"/>
            <a:ext cx="4535424" cy="2340864"/>
          </a:xfrm>
          <a:prstGeom prst="rect">
            <a:avLst/>
          </a:prstGeom>
        </p:spPr>
      </p:pic>
      <p:sp>
        <p:nvSpPr>
          <p:cNvPr id="5" name="Text 2"/>
          <p:cNvSpPr txBox="1"/>
          <p:nvPr/>
        </p:nvSpPr>
        <p:spPr>
          <a:xfrm>
            <a:off x="658368" y="3931920"/>
            <a:ext cx="45354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60. </a:t>
            </a:r>
            <a:pPr indent="0" marL="0">
              <a:lnSpc>
                <a:spcPct val="102000"/>
              </a:lnSpc>
              <a:buNone/>
            </a:pPr>
            <a:r>
              <a:rPr lang="en-US" sz="1000" dirty="0">
                <a:solidFill>
                  <a:schemeClr val="accent4"/>
                </a:solidFill>
              </a:rPr>
              <a:t>Cigüeñal con sus apoyos de bancada, muñequillas y contrapesos. Adaptado de Escudero, S., González, J., y Rivas, J. L. (2024). Cuaderno de prácticas: motores (1.ª ed.). Macmillan Iberia.</a:t>
            </a:r>
            <a:endParaRPr lang="en-US" sz="1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5943600" cy="914400"/>
        </p:xfrm>
        <a:graphic>
          <a:graphicData uri="http://schemas.openxmlformats.org/drawingml/2006/table">
            <a:tbl>
              <a:tblPr/>
              <a:tblGrid>
                <a:gridCol w="1920240"/>
                <a:gridCol w="2011680"/>
                <a:gridCol w="2011680"/>
              </a:tblGrid>
              <a:tr h="420624">
                <a:tc>
                  <a:txBody>
                    <a:bodyPr/>
                    <a:lstStyle/>
                    <a:p>
                      <a:pPr indent="0" marL="0">
                        <a:buNone/>
                      </a:pPr>
                      <a:r>
                        <a:rPr lang="en-US" sz="1300" b="1" dirty="0">
                          <a:solidFill>
                            <a:srgbClr val="FFFFFF"/>
                          </a:solidFill>
                        </a:rPr>
                        <a:t>Elemento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comprueba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20624">
                <a:tc>
                  <a:txBody>
                    <a:bodyPr/>
                    <a:lstStyle/>
                    <a:p>
                      <a:pPr indent="0" marL="0">
                        <a:buNone/>
                      </a:pPr>
                      <a:r>
                        <a:rPr lang="en-US" sz="1000" b="1" dirty="0">
                          <a:solidFill>
                            <a:schemeClr val="tx1"/>
                          </a:solidFill>
                        </a:rPr>
                        <a:t>Apoyos de bancada</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Se asientan en el bloque; sostienen el cigüeñal</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Diámetro, ovalización y conicidad</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chemeClr val="tx1"/>
                          </a:solidFill>
                        </a:rPr>
                        <a:t>Muñequillas de biela</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00" dirty="0">
                          <a:solidFill>
                            <a:schemeClr val="accent4"/>
                          </a:solidFill>
                        </a:rPr>
                        <a:t>Reciben las cabezas de biela, descentradas respecto al eje</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00" dirty="0">
                          <a:solidFill>
                            <a:schemeClr val="accent4"/>
                          </a:solidFill>
                        </a:rPr>
                        <a:t>Diámetro, ovalización y conicidad</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00" b="1" dirty="0">
                          <a:solidFill>
                            <a:schemeClr val="tx1"/>
                          </a:solidFill>
                        </a:rPr>
                        <a:t>Contrapesos</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Equilibran las masas en rotación y reducen vibraciones</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Integridad; nunca se mecanizan por cuenta propia</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chemeClr val="tx1"/>
                          </a:solidFill>
                        </a:rPr>
                        <a:t>Conductos de aceite</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00" dirty="0">
                          <a:solidFill>
                            <a:schemeClr val="accent4"/>
                          </a:solidFill>
                        </a:rPr>
                        <a:t>Llevan el aceite desde los apoyos a las muñequillas</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00" dirty="0">
                          <a:solidFill>
                            <a:schemeClr val="accent4"/>
                          </a:solidFill>
                        </a:rPr>
                        <a:t>Paso libre: se soplan con aire</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20624">
                <a:tc>
                  <a:txBody>
                    <a:bodyPr/>
                    <a:lstStyle/>
                    <a:p>
                      <a:pPr indent="0" marL="0">
                        <a:buNone/>
                      </a:pPr>
                      <a:r>
                        <a:rPr lang="en-US" sz="1000" b="1" dirty="0">
                          <a:solidFill>
                            <a:schemeClr val="tx1"/>
                          </a:solidFill>
                        </a:rPr>
                        <a:t>Volante de inercia</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Almacena energía entre carreras de trabajo</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00" dirty="0">
                          <a:solidFill>
                            <a:schemeClr val="accent4"/>
                          </a:solidFill>
                        </a:rPr>
                        <a:t>Planitud, estado de la corona y del plano de embrague</a:t>
                      </a:r>
                      <a:endParaRPr lang="en-US" sz="10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023360"/>
            <a:ext cx="11064240" cy="731520"/>
          </a:xfrm>
          <a:prstGeom prst="roundRect">
            <a:avLst>
              <a:gd name="adj" fmla="val 7500"/>
            </a:avLst>
          </a:prstGeom>
          <a:solidFill>
            <a:schemeClr val="bg2"/>
          </a:solidFill>
          <a:ln w="12700">
            <a:solidFill>
              <a:schemeClr val="bg2"/>
            </a:solidFill>
            <a:prstDash val="solid"/>
          </a:ln>
        </p:spPr>
        <p:txBody>
          <a:bodyPr/>
          <a:p/>
        </p:txBody>
      </p:sp>
      <p:sp>
        <p:nvSpPr>
          <p:cNvPr id="8" name="Shape 4"/>
          <p:cNvSpPr/>
          <p:nvPr/>
        </p:nvSpPr>
        <p:spPr>
          <a:xfrm>
            <a:off x="786384" y="420624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206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114800"/>
            <a:ext cx="10058400" cy="54864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cigüeñal es la pieza más cara del motor y la que menos admite improvisación: se mide, se decide y, si procede, se rectifica en un taller especializado con cojinetes de sobremedida. No se repara en el banco.</a:t>
            </a:r>
            <a:endParaRPr lang="en-US" sz="12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los contrapesos no se tocan. </a:t>
            </a:r>
            <a:pPr indent="0" marL="0">
              <a:lnSpc>
                <a:spcPct val="106000"/>
              </a:lnSpc>
              <a:buNone/>
            </a:pPr>
            <a:r>
              <a:rPr lang="en-US" sz="1150" dirty="0">
                <a:solidFill>
                  <a:schemeClr val="accent4"/>
                </a:solidFill>
              </a:rPr>
              <a:t>el cigüeñal está equilibrado dinámicamente de fábrica; retirar material desequilibra el conjunto y produce vibraciones y rotura por fatiga</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son los radios de acuerdo. </a:t>
            </a:r>
            <a:pPr indent="0" marL="0">
              <a:lnSpc>
                <a:spcPct val="106000"/>
              </a:lnSpc>
              <a:buNone/>
            </a:pPr>
            <a:r>
              <a:rPr lang="en-US" sz="1150" dirty="0">
                <a:solidFill>
                  <a:schemeClr val="accent4"/>
                </a:solidFill>
              </a:rPr>
              <a:t>las transiciones curvas entre muñequilla y brazo; concentran tensiones y por eso nunca se rectifican dejando una arista viva</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Dónde empiezan las roturas. </a:t>
            </a:r>
            <a:pPr indent="0" marL="0">
              <a:lnSpc>
                <a:spcPct val="106000"/>
              </a:lnSpc>
              <a:buNone/>
            </a:pPr>
            <a:r>
              <a:rPr lang="en-US" sz="1150" dirty="0">
                <a:solidFill>
                  <a:schemeClr val="accent4"/>
                </a:solidFill>
              </a:rPr>
              <a:t>casi siempre en esos radios de acuerdo, por fatiga; una inspección cuidadosa de esa zona forma parte de la comprobación</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Los cojinetes: lo que lee su superficie</a:t>
            </a:r>
            <a:endParaRPr 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4114800"/>
                <a:gridCol w="4206240"/>
              </a:tblGrid>
              <a:tr h="457200">
                <a:tc>
                  <a:txBody>
                    <a:bodyPr/>
                    <a:lstStyle/>
                    <a:p>
                      <a:pPr indent="0" marL="0">
                        <a:buNone/>
                      </a:pPr>
                      <a:r>
                        <a:rPr lang="en-US" sz="1300" b="1" dirty="0">
                          <a:solidFill>
                            <a:srgbClr val="FFFFFF"/>
                          </a:solidFill>
                        </a:rPr>
                        <a:t>Aspecto del cojinete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ocurrió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hay que corregir además de sustituirlo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57200">
                <a:tc>
                  <a:txBody>
                    <a:bodyPr/>
                    <a:lstStyle/>
                    <a:p>
                      <a:pPr indent="0" marL="0">
                        <a:buNone/>
                      </a:pPr>
                      <a:r>
                        <a:rPr lang="en-US" sz="1150" b="1" dirty="0">
                          <a:solidFill>
                            <a:schemeClr val="tx1"/>
                          </a:solidFill>
                        </a:rPr>
                        <a:t>Rayado fino y uniforme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Partículas en suspensión en el aceite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Limpieza del circuito, filtro y origen de las partículas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Material fundido o pegado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Falta de película de aceite: presión insuficiente o sobrecarga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Causa de la pérdida de presión: holguras, bomba, nivel o tamiz</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Desgaste concentrado en una zona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Carga desigual: cigüeñal flexado, biela torcida o apoyo desalineado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Rectitud del cigüeñal, de la biela y alineación de apoyos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1"/>
                          </a:solidFill>
                        </a:rPr>
                        <a:t>Corrosión y picaduras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Aceite degradado con ácidos: intervalo de cambio excedido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Hábito de mantenimiento del vehículo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57200">
                <a:tc>
                  <a:txBody>
                    <a:bodyPr/>
                    <a:lstStyle/>
                    <a:p>
                      <a:pPr indent="0" marL="0">
                        <a:buNone/>
                      </a:pPr>
                      <a:r>
                        <a:rPr lang="en-US" sz="1150" b="1" dirty="0">
                          <a:solidFill>
                            <a:schemeClr val="tx1"/>
                          </a:solidFill>
                        </a:rPr>
                        <a:t>Marcas en el dorso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Suciedad entre el cojinete y su alojamiento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Limpieza escrupulosa del alojamiento antes de montar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11480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434340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2062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Los cojinetes son la pieza del motor que más información conserva sobre lo que ocurrió. Antes de sustituirlos hay que leerlos: cada aspecto apunta a una causa distinta, y sustituirlos sin corregirla garantiza que el nuevo acabe igual.</a:t>
            </a:r>
            <a:endParaRPr lang="en-US" sz="1450" dirty="0"/>
          </a:p>
        </p:txBody>
      </p:sp>
      <p:sp>
        <p:nvSpPr>
          <p:cNvPr id="8" name="Shape 5"/>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llevan una lengüeta. </a:t>
            </a:r>
            <a:pPr indent="0" marL="0">
              <a:lnSpc>
                <a:spcPct val="106000"/>
              </a:lnSpc>
              <a:buNone/>
            </a:pPr>
            <a:r>
              <a:rPr lang="en-US" sz="1150" dirty="0">
                <a:solidFill>
                  <a:schemeClr val="accent4"/>
                </a:solidFill>
              </a:rPr>
              <a:t>encaja en una muesca del alojamiento e impide que el cojinete gire con el eje; no es para posicionarlo axialmente</a:t>
            </a:r>
            <a:endParaRPr lang="en-US" sz="1150" dirty="0"/>
          </a:p>
        </p:txBody>
      </p:sp>
      <p:sp>
        <p:nvSpPr>
          <p:cNvPr id="11" name="Shape 8"/>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no se liman ni se ajustan. </a:t>
            </a:r>
            <a:pPr indent="0" marL="0">
              <a:lnSpc>
                <a:spcPct val="106000"/>
              </a:lnSpc>
              <a:buNone/>
            </a:pPr>
            <a:r>
              <a:rPr lang="en-US" sz="1150" dirty="0">
                <a:solidFill>
                  <a:schemeClr val="accent4"/>
                </a:solidFill>
              </a:rPr>
              <a:t>su espesor es una medida calibrada; cualquier retoque altera la holgura, que es el parámetro que decide si hay película de aceite</a:t>
            </a:r>
            <a:endParaRPr lang="en-US" sz="1150" dirty="0"/>
          </a:p>
        </p:txBody>
      </p:sp>
      <p:sp>
        <p:nvSpPr>
          <p:cNvPr id="14" name="Shape 11"/>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sobresalen ligeramente de su alojamiento. </a:t>
            </a:r>
            <a:pPr indent="0" marL="0">
              <a:lnSpc>
                <a:spcPct val="106000"/>
              </a:lnSpc>
              <a:buNone/>
            </a:pPr>
            <a:r>
              <a:rPr lang="en-US" sz="1150" dirty="0">
                <a:solidFill>
                  <a:schemeClr val="accent4"/>
                </a:solidFill>
              </a:rPr>
              <a:t>para que, al apretar el sombrerete, queden firmemente apretados contra él y no se muevan ni pierdan contacto térmico</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Las holguras y cómo se miden</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Holgura radial del cojinete</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r>
                        <a:rPr lang="es-EC" sz="2400" b="1" dirty="0" i="1">
                          <a:solidFill>
                            <a:srgbClr val="C0451C"/>
                          </a:solidFill>
                          <a:latin typeface="Cambria Math" panose="02040503050406030204" pitchFamily="18" charset="0"/>
                        </a:rPr>
                        <m:t xml:space="preserve">J</m:t>
                      </m:r>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a</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m</m:t>
                          </m:r>
                        </m:sub>
                      </m:sSub>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J</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a</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m</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Diferencia entre el diámetro del alojamiento con cojinetes montados y el del muñón.</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Método con plastigage. </a:t>
            </a:r>
            <a:pPr indent="0" marL="0">
              <a:lnSpc>
                <a:spcPct val="106000"/>
              </a:lnSpc>
              <a:buNone/>
            </a:pPr>
            <a:r>
              <a:rPr lang="en-US" sz="1100" dirty="0">
                <a:solidFill>
                  <a:schemeClr val="accent4"/>
                </a:solidFill>
              </a:rPr>
              <a:t>se coloca un hilo calibrado sobre el muñón, se monta el sombrerete al par sin girar el eje, se desmonta y se mide el ancho que alcanzó el hilo</a:t>
            </a:r>
            <a:endParaRPr lang="en-US" sz="110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funciona. </a:t>
            </a:r>
            <a:pPr indent="0" marL="0">
              <a:lnSpc>
                <a:spcPct val="106000"/>
              </a:lnSpc>
              <a:buNone/>
            </a:pPr>
            <a:r>
              <a:rPr lang="en-US" sz="1100" dirty="0">
                <a:solidFill>
                  <a:schemeClr val="accent4"/>
                </a:solidFill>
              </a:rPr>
              <a:t>el hilo se aplasta exactamente hasta el espesor de la holgura; su ancho final es proporcional a esa holgura y se lee en una escala</a:t>
            </a:r>
            <a:endParaRPr lang="en-US" sz="110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Método con micrómetro y alexómetro. </a:t>
            </a:r>
            <a:pPr indent="0" marL="0">
              <a:lnSpc>
                <a:spcPct val="106000"/>
              </a:lnSpc>
              <a:buNone/>
            </a:pPr>
            <a:r>
              <a:rPr lang="en-US" sz="1100" dirty="0">
                <a:solidFill>
                  <a:schemeClr val="accent4"/>
                </a:solidFill>
              </a:rPr>
              <a:t>se mide el muñón con micrómetro y el alojamiento con alexómetro, con los cojinetes montados y el sombrerete al par; la diferencia es la holgura</a:t>
            </a:r>
            <a:endParaRPr lang="en-US" sz="110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La regla que no se olvida. </a:t>
            </a:r>
            <a:pPr indent="0" marL="0">
              <a:lnSpc>
                <a:spcPct val="106000"/>
              </a:lnSpc>
              <a:buNone/>
            </a:pPr>
            <a:r>
              <a:rPr lang="en-US" sz="1100" dirty="0">
                <a:solidFill>
                  <a:schemeClr val="accent4"/>
                </a:solidFill>
              </a:rPr>
              <a:t>con el hilo colocado no se gira nunca el cigüeñal: el hilo se desplazaría y la lectura no valdría nada</a:t>
            </a:r>
            <a:endParaRPr lang="en-US" sz="11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5394960" cy="914400"/>
        </p:xfrm>
        <a:graphic>
          <a:graphicData uri="http://schemas.openxmlformats.org/drawingml/2006/table">
            <a:tbl>
              <a:tblPr/>
              <a:tblGrid>
                <a:gridCol w="2651760"/>
                <a:gridCol w="2743200"/>
              </a:tblGrid>
              <a:tr h="384048">
                <a:tc>
                  <a:txBody>
                    <a:bodyPr/>
                    <a:lstStyle/>
                    <a:p>
                      <a:pPr indent="0" marL="0">
                        <a:buNone/>
                      </a:pPr>
                      <a:r>
                        <a:rPr lang="en-US" sz="1300" b="1" dirty="0">
                          <a:solidFill>
                            <a:srgbClr val="FFFFFF"/>
                          </a:solidFill>
                        </a:rPr>
                        <a:t>Si la holgura es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ocurre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rPr>
                        <a:t>Insuficiente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No se forma película: contacto, calor y gripaje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rPr>
                        <a:t>Correcta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Película estable; el eje flota sobre el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100" b="1" dirty="0">
                          <a:solidFill>
                            <a:schemeClr val="tx1"/>
                          </a:solidFill>
                        </a:rPr>
                        <a:t>Excesiva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Fuga de caudal, caída de presión y golpeteo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0" name="Shape 17"/>
          <p:cNvSpPr/>
          <p:nvPr/>
        </p:nvSpPr>
        <p:spPr>
          <a:xfrm>
            <a:off x="548640" y="4937760"/>
            <a:ext cx="11064240" cy="822960"/>
          </a:xfrm>
          <a:prstGeom prst="roundRect">
            <a:avLst>
              <a:gd name="adj" fmla="val 6667"/>
            </a:avLst>
          </a:prstGeom>
          <a:solidFill>
            <a:schemeClr val="bg2"/>
          </a:solidFill>
          <a:ln w="12700">
            <a:solidFill>
              <a:schemeClr val="bg2"/>
            </a:solidFill>
            <a:prstDash val="solid"/>
          </a:ln>
        </p:spPr>
        <p:txBody>
          <a:bodyPr/>
          <a:p/>
        </p:txBody>
      </p:sp>
      <p:sp>
        <p:nvSpPr>
          <p:cNvPr id="21" name="Shape 18"/>
          <p:cNvSpPr/>
          <p:nvPr/>
        </p:nvSpPr>
        <p:spPr>
          <a:xfrm>
            <a:off x="786384" y="5166360"/>
            <a:ext cx="365760" cy="365760"/>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786384" y="5166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298448" y="502920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Resolución del caso A de la clase 4.1: la holgura excesiva en cojinetes deja escapar más caudal del previsto. A alto régimen la bomba lo compensa; al ralentí no puede, y la presión cae. De ahí el testigo encendido solo al ralentí en caliente.</a:t>
            </a:r>
            <a:endParaRPr lang="en-US" sz="1450" dirty="0"/>
          </a:p>
        </p:txBody>
      </p:sp>
      <p:sp>
        <p:nvSpPr>
          <p:cNvPr id="24" name="Text 21"/>
          <p:cNvSpPr txBox="1"/>
          <p:nvPr/>
        </p:nvSpPr>
        <p:spPr>
          <a:xfrm>
            <a:off x="548640" y="5669280"/>
            <a:ext cx="11064240" cy="274320"/>
          </a:xfrm>
          <a:prstGeom prst="rect">
            <a:avLst/>
          </a:prstGeom>
          <a:noFill/>
          <a:ln/>
        </p:spPr>
        <p:txBody>
          <a:bodyPr wrap="square" lIns="0" tIns="0" rIns="0" bIns="0" rtlCol="0" anchor="t"/>
          <a:lstStyle/>
          <a:p>
            <a:pPr algn="l" indent="0" marL="0">
              <a:lnSpc>
                <a:spcPct val="110000"/>
              </a:lnSpc>
              <a:buNone/>
            </a:pPr>
            <a:r>
              <a:rPr lang="en-US" sz="1100" dirty="0">
                <a:solidFill>
                  <a:schemeClr val="tx1"/>
                </a:solidFill>
              </a:rPr>
              <a:t>También se mide la holgura axial del cigüeñal, con comparador, desplazándolo en la dirección de su eje; la controlan los semicojinetes de empuje y su valor lo da el manual.</a:t>
            </a:r>
            <a:endParaRPr lang="en-US" sz="1100" dirty="0"/>
          </a:p>
        </p:txBody>
      </p:sp>
      <p:sp>
        <p:nvSpPr>
          <p:cNvPr id="25" name="Text 22"/>
          <p:cNvSpPr txBox="1"/>
          <p:nvPr/>
        </p:nvSpPr>
        <p:spPr>
          <a:xfrm>
            <a:off x="548640" y="621792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del cigüeñal</a:t>
            </a:r>
            <a:endParaRPr lang="en-US" sz="3200" dirty="0"/>
          </a:p>
        </p:txBody>
      </p:sp>
      <p:sp>
        <p:nvSpPr>
          <p:cNvPr id="3" name="marco_figura"/>
          <p:cNvSpPr/>
          <p:nvPr/>
        </p:nvSpPr>
        <p:spPr>
          <a:xfrm>
            <a:off x="548640" y="1371600"/>
            <a:ext cx="393192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muñequilla.jpg">    </p:cNvPr>
          <p:cNvPicPr>
            <a:picLocks noChangeAspect="1"/>
          </p:cNvPicPr>
          <p:nvPr/>
        </p:nvPicPr>
        <p:blipFill>
          <a:blip r:embed="rId1"/>
          <a:srcRect l="0" r="0" t="0" b="0"/>
          <a:stretch/>
        </p:blipFill>
        <p:spPr>
          <a:xfrm>
            <a:off x="658368" y="1481328"/>
            <a:ext cx="3712464" cy="2249424"/>
          </a:xfrm>
          <a:prstGeom prst="rect">
            <a:avLst/>
          </a:prstGeom>
        </p:spPr>
      </p:pic>
      <p:sp>
        <p:nvSpPr>
          <p:cNvPr id="5" name="Text 2"/>
          <p:cNvSpPr txBox="1"/>
          <p:nvPr/>
        </p:nvSpPr>
        <p:spPr>
          <a:xfrm>
            <a:off x="658368" y="3840480"/>
            <a:ext cx="37124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63. </a:t>
            </a:r>
            <a:pPr indent="0" marL="0">
              <a:lnSpc>
                <a:spcPct val="102000"/>
              </a:lnSpc>
              <a:buNone/>
            </a:pPr>
            <a:r>
              <a:rPr lang="en-US" sz="1000" dirty="0">
                <a:solidFill>
                  <a:schemeClr val="accent4"/>
                </a:solidFill>
              </a:rPr>
              <a:t>Medición del diámetro de una muñequilla con micrómetro. Adaptado de Escudero, S., González, J., y Rivas, J. L. (2024). Cuaderno de prácticas: motores (1.ª ed.). Macmillan Iberia.</a:t>
            </a:r>
            <a:endParaRPr lang="en-US" sz="1000" dirty="0"/>
          </a:p>
        </p:txBody>
      </p:sp>
      <p:sp>
        <p:nvSpPr>
          <p:cNvPr id="6" name="marco_figura"/>
          <p:cNvSpPr/>
          <p:nvPr/>
        </p:nvSpPr>
        <p:spPr>
          <a:xfrm>
            <a:off x="475488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cu_cig_comparador.jpg">    </p:cNvPr>
          <p:cNvPicPr>
            <a:picLocks noChangeAspect="1"/>
          </p:cNvPicPr>
          <p:nvPr/>
        </p:nvPicPr>
        <p:blipFill>
          <a:blip r:embed="rId2"/>
          <a:srcRect l="0" r="0" t="0" b="0"/>
          <a:stretch/>
        </p:blipFill>
        <p:spPr>
          <a:xfrm>
            <a:off x="4864608" y="1481328"/>
            <a:ext cx="3255264" cy="2249424"/>
          </a:xfrm>
          <a:prstGeom prst="rect">
            <a:avLst/>
          </a:prstGeom>
        </p:spPr>
      </p:pic>
      <p:sp>
        <p:nvSpPr>
          <p:cNvPr id="8" name="Text 4"/>
          <p:cNvSpPr txBox="1"/>
          <p:nvPr/>
        </p:nvSpPr>
        <p:spPr>
          <a:xfrm>
            <a:off x="486460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64. </a:t>
            </a:r>
            <a:pPr indent="0" marL="0">
              <a:lnSpc>
                <a:spcPct val="102000"/>
              </a:lnSpc>
              <a:buNone/>
            </a:pPr>
            <a:r>
              <a:rPr lang="en-US" sz="1000" dirty="0">
                <a:solidFill>
                  <a:schemeClr val="accent4"/>
                </a:solidFill>
              </a:rPr>
              <a:t>Comprobación de la rectitud del cigüeñal entre puntas, con comparador. Adaptado de Escudero, S., González, J., y Rivas, J. L. (2024). Cuaderno de prácticas: motores (1.ª ed.). Macmillan Iberia.</a:t>
            </a:r>
            <a:endParaRPr lang="en-US" sz="1000" dirty="0"/>
          </a:p>
        </p:txBody>
      </p:sp>
      <p:sp>
        <p:nvSpPr>
          <p:cNvPr id="9" name="marco_figura"/>
          <p:cNvSpPr/>
          <p:nvPr/>
        </p:nvSpPr>
        <p:spPr>
          <a:xfrm>
            <a:off x="8503920" y="1371600"/>
            <a:ext cx="310896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cu_cig_esquema.jpg">    </p:cNvPr>
          <p:cNvPicPr>
            <a:picLocks noChangeAspect="1"/>
          </p:cNvPicPr>
          <p:nvPr/>
        </p:nvPicPr>
        <p:blipFill>
          <a:blip r:embed="rId3"/>
          <a:srcRect l="0" r="0" t="0" b="0"/>
          <a:stretch/>
        </p:blipFill>
        <p:spPr>
          <a:xfrm>
            <a:off x="8613648" y="1481328"/>
            <a:ext cx="2889504" cy="2249424"/>
          </a:xfrm>
          <a:prstGeom prst="rect">
            <a:avLst/>
          </a:prstGeom>
        </p:spPr>
      </p:pic>
      <p:sp>
        <p:nvSpPr>
          <p:cNvPr id="11" name="Text 6"/>
          <p:cNvSpPr txBox="1"/>
          <p:nvPr/>
        </p:nvSpPr>
        <p:spPr>
          <a:xfrm>
            <a:off x="8613648" y="3840480"/>
            <a:ext cx="288950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65. </a:t>
            </a:r>
            <a:pPr indent="0" marL="0">
              <a:lnSpc>
                <a:spcPct val="102000"/>
              </a:lnSpc>
              <a:buNone/>
            </a:pPr>
            <a:r>
              <a:rPr lang="en-US" sz="1000" dirty="0">
                <a:solidFill>
                  <a:schemeClr val="accent4"/>
                </a:solidFill>
              </a:rPr>
              <a:t>Esquema de medición de un muñón: diámetros en distintas direcciones y alturas. Adaptado de Escudero, S., González, J., y Rivas, J. L. (2024). Cuaderno de prácticas: motores (1.ª ed.). Macmillan Iberia.</a:t>
            </a:r>
            <a:endParaRPr lang="en-US" sz="10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914400"/>
        </p:xfrm>
        <a:graphic>
          <a:graphicData uri="http://schemas.openxmlformats.org/drawingml/2006/table">
            <a:tbl>
              <a:tblPr/>
              <a:tblGrid>
                <a:gridCol w="2743200"/>
                <a:gridCol w="4114800"/>
                <a:gridCol w="4206240"/>
              </a:tblGrid>
              <a:tr h="365760">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hace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Criterio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050" b="1" dirty="0">
                          <a:solidFill>
                            <a:schemeClr val="tx1"/>
                          </a:solidFill>
                        </a:rPr>
                        <a:t>Diámetro de cada muñón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Micrómetro, en dos direcciones perpendiculares y en dos posiciones axiales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Dentro del valor nominal o de una sobremedida disponible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Ovalización y conicidad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Diferencia entre direcciones y entre posiciones, igual que en los cilindros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Dentro del límite del manual; si no, rectificado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Rectitud</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Apoyado entre puntas o en sus apoyos extremos, comparador en el central, girando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Flexión dentro del valor admitido; si no, rectificado o rechazo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Estado superficial y radios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visual de muñones y de los radios de acuerdo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Sin rayado profundo ni indicios de fisura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La ovalización y la conicidad del cigüeñal se miden exactamente igual que las del cilindro en la Unidad 1: dos direcciones perpendiculares y dos posiciones. Es el mismo método aplicado a un eje en lugar de a un agujero.</a:t>
            </a:r>
            <a:endParaRPr lang="en-US" sz="115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enlaza con la metrología de la Unidad 1</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Despiece del tren alternativo</a:t>
            </a:r>
            <a:endParaRPr lang="en-US" sz="3200" dirty="0"/>
          </a:p>
        </p:txBody>
      </p:sp>
      <p:sp>
        <p:nvSpPr>
          <p:cNvPr id="3" name="marco_figura"/>
          <p:cNvSpPr/>
          <p:nvPr/>
        </p:nvSpPr>
        <p:spPr>
          <a:xfrm>
            <a:off x="548640" y="1371600"/>
            <a:ext cx="4206240" cy="2944368"/>
          </a:xfrm>
          <a:prstGeom prst="roundRect">
            <a:avLst>
              <a:gd name="adj" fmla="val 186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extraccion.jpg">    </p:cNvPr>
          <p:cNvPicPr>
            <a:picLocks noChangeAspect="1"/>
          </p:cNvPicPr>
          <p:nvPr/>
        </p:nvPicPr>
        <p:blipFill>
          <a:blip r:embed="rId1"/>
          <a:srcRect l="0" r="0" t="0" b="0"/>
          <a:stretch/>
        </p:blipFill>
        <p:spPr>
          <a:xfrm>
            <a:off x="658368" y="1481328"/>
            <a:ext cx="3986784" cy="2340864"/>
          </a:xfrm>
          <a:prstGeom prst="rect">
            <a:avLst/>
          </a:prstGeom>
        </p:spPr>
      </p:pic>
      <p:sp>
        <p:nvSpPr>
          <p:cNvPr id="5" name="Text 2"/>
          <p:cNvSpPr txBox="1"/>
          <p:nvPr/>
        </p:nvSpPr>
        <p:spPr>
          <a:xfrm>
            <a:off x="658368" y="3931920"/>
            <a:ext cx="398678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66. </a:t>
            </a:r>
            <a:pPr indent="0" marL="0">
              <a:lnSpc>
                <a:spcPct val="102000"/>
              </a:lnSpc>
              <a:buNone/>
            </a:pPr>
            <a:r>
              <a:rPr lang="en-US" sz="1000" dirty="0">
                <a:solidFill>
                  <a:schemeClr val="accent4"/>
                </a:solidFill>
              </a:rPr>
              <a:t>Extracción del conjunto biela-cigüeñal con los útiles adecuados. Adaptado de Escudero, S., González, J., y Rivas, J. L. (2024). Cuaderno de prácticas: motores (1.ª ed.). Macmillan Iberia.</a:t>
            </a:r>
            <a:endParaRPr lang="en-US" sz="1000" dirty="0"/>
          </a:p>
        </p:txBody>
      </p:sp>
      <p:sp>
        <p:nvSpPr>
          <p:cNvPr id="6" name="Shape 3"/>
          <p:cNvSpPr/>
          <p:nvPr/>
        </p:nvSpPr>
        <p:spPr>
          <a:xfrm>
            <a:off x="512064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12064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5650992" y="1463040"/>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1 — Documentar y marcar. </a:t>
            </a:r>
            <a:pPr indent="0" marL="0">
              <a:lnSpc>
                <a:spcPct val="106000"/>
              </a:lnSpc>
              <a:buNone/>
            </a:pPr>
            <a:r>
              <a:rPr lang="en-US" sz="1050" dirty="0">
                <a:solidFill>
                  <a:schemeClr val="accent4"/>
                </a:solidFill>
              </a:rPr>
              <a:t>fotografiar el conjunto; comprobar que bielas y sombreretes están numerados y marcados en su orientación, y marcarlos si no lo están</a:t>
            </a:r>
            <a:endParaRPr lang="en-US" sz="1050" dirty="0"/>
          </a:p>
        </p:txBody>
      </p:sp>
      <p:sp>
        <p:nvSpPr>
          <p:cNvPr id="9" name="Shape 6"/>
          <p:cNvSpPr/>
          <p:nvPr/>
        </p:nvSpPr>
        <p:spPr>
          <a:xfrm>
            <a:off x="512064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12064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5650992" y="1975104"/>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2 — Retirar el escalón del cilindro. </a:t>
            </a:r>
            <a:pPr indent="0" marL="0">
              <a:lnSpc>
                <a:spcPct val="106000"/>
              </a:lnSpc>
              <a:buNone/>
            </a:pPr>
            <a:r>
              <a:rPr lang="en-US" sz="1050" dirty="0">
                <a:solidFill>
                  <a:schemeClr val="accent4"/>
                </a:solidFill>
              </a:rPr>
              <a:t>si hay escalón marcado en la parte alta, se rebaja con la herramienta adecuada antes de sacar el pistón, o los segmentos se romperán</a:t>
            </a:r>
            <a:endParaRPr lang="en-US" sz="1050" dirty="0"/>
          </a:p>
        </p:txBody>
      </p:sp>
      <p:sp>
        <p:nvSpPr>
          <p:cNvPr id="12" name="Shape 9"/>
          <p:cNvSpPr/>
          <p:nvPr/>
        </p:nvSpPr>
        <p:spPr>
          <a:xfrm>
            <a:off x="512064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12064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5650992" y="2487168"/>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3 — Sacar los conjuntos pistón-biela. </a:t>
            </a:r>
            <a:pPr indent="0" marL="0">
              <a:lnSpc>
                <a:spcPct val="106000"/>
              </a:lnSpc>
              <a:buNone/>
            </a:pPr>
            <a:r>
              <a:rPr lang="en-US" sz="1050" dirty="0">
                <a:solidFill>
                  <a:schemeClr val="accent4"/>
                </a:solidFill>
              </a:rPr>
              <a:t>aflojar el sombrerete de biela, empujar el conjunto hacia arriba con un mango de madera y recibirlo por arriba</a:t>
            </a:r>
            <a:endParaRPr lang="en-US" sz="1050" dirty="0"/>
          </a:p>
        </p:txBody>
      </p:sp>
      <p:sp>
        <p:nvSpPr>
          <p:cNvPr id="15" name="Shape 12"/>
          <p:cNvSpPr/>
          <p:nvPr/>
        </p:nvSpPr>
        <p:spPr>
          <a:xfrm>
            <a:off x="512064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12064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5650992" y="2999232"/>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4 — Proteger la muñequilla. </a:t>
            </a:r>
            <a:pPr indent="0" marL="0">
              <a:lnSpc>
                <a:spcPct val="106000"/>
              </a:lnSpc>
              <a:buNone/>
            </a:pPr>
            <a:r>
              <a:rPr lang="en-US" sz="1050" dirty="0">
                <a:solidFill>
                  <a:schemeClr val="accent4"/>
                </a:solidFill>
              </a:rPr>
              <a:t>cubrir los espárragos de la biela con tubo de plástico o manguera para no rayar la muñequilla al extraer</a:t>
            </a:r>
            <a:endParaRPr lang="en-US" sz="1050" dirty="0"/>
          </a:p>
        </p:txBody>
      </p:sp>
      <p:sp>
        <p:nvSpPr>
          <p:cNvPr id="18" name="Shape 15"/>
          <p:cNvSpPr/>
          <p:nvPr/>
        </p:nvSpPr>
        <p:spPr>
          <a:xfrm>
            <a:off x="512064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12064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5650992" y="3511296"/>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5 — Retirar el cigüeñal. </a:t>
            </a:r>
            <a:pPr indent="0" marL="0">
              <a:lnSpc>
                <a:spcPct val="106000"/>
              </a:lnSpc>
              <a:buNone/>
            </a:pPr>
            <a:r>
              <a:rPr lang="en-US" sz="1050" dirty="0">
                <a:solidFill>
                  <a:schemeClr val="accent4"/>
                </a:solidFill>
              </a:rPr>
              <a:t>aflojar los sombreretes de bancada en orden cruzado y por pasos; levantar el cigüeñal con apoyo, nunca de un extremo</a:t>
            </a:r>
            <a:endParaRPr lang="en-US" sz="1050" dirty="0"/>
          </a:p>
        </p:txBody>
      </p:sp>
      <p:sp>
        <p:nvSpPr>
          <p:cNvPr id="21" name="Shape 18"/>
          <p:cNvSpPr/>
          <p:nvPr/>
        </p:nvSpPr>
        <p:spPr>
          <a:xfrm>
            <a:off x="5120640" y="40599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12064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5650992" y="4023360"/>
            <a:ext cx="596188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6 — Ordenar e inventariar. </a:t>
            </a:r>
            <a:pPr indent="0" marL="0">
              <a:lnSpc>
                <a:spcPct val="106000"/>
              </a:lnSpc>
              <a:buNone/>
            </a:pPr>
            <a:r>
              <a:rPr lang="en-US" sz="1050" dirty="0">
                <a:solidFill>
                  <a:schemeClr val="accent4"/>
                </a:solidFill>
              </a:rPr>
              <a:t>cada pistón con su biela, su sombrerete y sus cojinetes, identificados por cilindro, en su casilla</a:t>
            </a:r>
            <a:endParaRPr lang="en-US" sz="1050" dirty="0"/>
          </a:p>
        </p:txBody>
      </p:sp>
      <p:sp>
        <p:nvSpPr>
          <p:cNvPr id="24" name="Shape 21"/>
          <p:cNvSpPr/>
          <p:nvPr/>
        </p:nvSpPr>
        <p:spPr>
          <a:xfrm>
            <a:off x="548640" y="466344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86384" y="4869180"/>
            <a:ext cx="365760" cy="365760"/>
          </a:xfrm>
          <a:prstGeom prst="ellipse">
            <a:avLst/>
          </a:prstGeom>
          <a:solidFill>
            <a:schemeClr val="accent1"/>
          </a:solidFill>
          <a:ln w="12700">
            <a:solidFill>
              <a:schemeClr val="accent1"/>
            </a:solidFill>
            <a:prstDash val="solid"/>
          </a:ln>
        </p:spPr>
        <p:txBody>
          <a:bodyPr/>
          <a:p/>
        </p:txBody>
      </p:sp>
      <p:sp>
        <p:nvSpPr>
          <p:cNvPr id="26" name="Text 23"/>
          <p:cNvSpPr txBox="1"/>
          <p:nvPr/>
        </p:nvSpPr>
        <p:spPr>
          <a:xfrm>
            <a:off x="786384" y="48691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475488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paso 2 se olvida con frecuencia y cuesta un juego de segmentos: si hay escalón en la parte alta del cilindro y se empuja el pistón hacia arriba, el primer segmento choca contra él y se rompe.</a:t>
            </a:r>
            <a:endParaRPr lang="en-US" sz="1450" dirty="0"/>
          </a:p>
        </p:txBody>
      </p:sp>
      <p:sp>
        <p:nvSpPr>
          <p:cNvPr id="28" name="Text 25"/>
          <p:cNvSpPr txBox="1"/>
          <p:nvPr/>
        </p:nvSpPr>
        <p:spPr>
          <a:xfrm>
            <a:off x="548640" y="553212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Seguridad:  el cigüeñal es pesado y resbaladizo por el aceite. Se manipula con las dos manos, con apoyo preparado donde dejarlo y nunca sosteniéndolo por un extremo, que lo somete a flexión y puede dañar los muñones si se golpea.</a:t>
            </a:r>
            <a:endParaRPr lang="en-US" sz="120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Armado del tren alternativo</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Limpieza absoluta. </a:t>
            </a:r>
            <a:pPr indent="0" marL="0">
              <a:lnSpc>
                <a:spcPct val="106000"/>
              </a:lnSpc>
              <a:buNone/>
            </a:pPr>
            <a:r>
              <a:rPr lang="en-US" sz="1200" dirty="0">
                <a:solidFill>
                  <a:schemeClr val="accent4"/>
                </a:solidFill>
              </a:rPr>
              <a:t>alojamientos, conductos y piezas sin restos; una partícula entre el cojinete y su alojamiento altera la holgura y lo destruye</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Montar cojinetes y medir holgura. </a:t>
            </a:r>
            <a:pPr indent="0" marL="0">
              <a:lnSpc>
                <a:spcPct val="106000"/>
              </a:lnSpc>
              <a:buNone/>
            </a:pPr>
            <a:r>
              <a:rPr lang="en-US" sz="1200" dirty="0">
                <a:solidFill>
                  <a:schemeClr val="accent4"/>
                </a:solidFill>
              </a:rPr>
              <a:t>cojinetes en su alojamiento, con la lengüeta en su muesca; medir la holgura con hilo calibrado antes de dar por bueno el montaje</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Lubricar y montar el cigüeñal. </a:t>
            </a:r>
            <a:pPr indent="0" marL="0">
              <a:lnSpc>
                <a:spcPct val="106000"/>
              </a:lnSpc>
              <a:buNone/>
            </a:pPr>
            <a:r>
              <a:rPr lang="en-US" sz="1200" dirty="0">
                <a:solidFill>
                  <a:schemeClr val="accent4"/>
                </a:solidFill>
              </a:rPr>
              <a:t>lubricar muñones y cojinetes con aceite de motor limpio; apoyar el cigüeñal sin golpear</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Sombreretes de bancada al par. </a:t>
            </a:r>
            <a:pPr indent="0" marL="0">
              <a:lnSpc>
                <a:spcPct val="106000"/>
              </a:lnSpc>
              <a:buNone/>
            </a:pPr>
            <a:r>
              <a:rPr lang="en-US" sz="1200" dirty="0">
                <a:solidFill>
                  <a:schemeClr val="accent4"/>
                </a:solidFill>
              </a:rPr>
              <a:t>en su número y orientación, apretados en orden del centro hacia los extremos y en varias pasadas</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Verificar el giro. </a:t>
            </a:r>
            <a:pPr indent="0" marL="0">
              <a:lnSpc>
                <a:spcPct val="106000"/>
              </a:lnSpc>
              <a:buNone/>
            </a:pPr>
            <a:r>
              <a:rPr lang="en-US" sz="1200" dirty="0">
                <a:solidFill>
                  <a:schemeClr val="accent4"/>
                </a:solidFill>
              </a:rPr>
              <a:t>tras cada sombrerete, comprobar que el cigüeñal sigue girando libre a mano; si se endurece, detenerse y revisar ese apoyo</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Montar los pistones. </a:t>
            </a:r>
            <a:pPr indent="0" marL="0">
              <a:lnSpc>
                <a:spcPct val="106000"/>
              </a:lnSpc>
              <a:buNone/>
            </a:pPr>
            <a:r>
              <a:rPr lang="en-US" sz="1200" dirty="0">
                <a:solidFill>
                  <a:schemeClr val="accent4"/>
                </a:solidFill>
              </a:rPr>
              <a:t>segmentos con sus aberturas desfasadas según el manual, compresor de segmentos puesto, y empujar con mango de madera, nunca a golpes</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Sombreretes de biela al par. </a:t>
            </a:r>
            <a:pPr indent="0" marL="0">
              <a:lnSpc>
                <a:spcPct val="106000"/>
              </a:lnSpc>
              <a:buNone/>
            </a:pPr>
            <a:r>
              <a:rPr lang="en-US" sz="1200" dirty="0">
                <a:solidFill>
                  <a:schemeClr val="accent4"/>
                </a:solidFill>
              </a:rPr>
              <a:t>cada uno con su biela y su orientación; verificar de nuevo el giro libre tras cada uno</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Comprobar la holgura axial. </a:t>
            </a:r>
            <a:pPr indent="0" marL="0">
              <a:lnSpc>
                <a:spcPct val="106000"/>
              </a:lnSpc>
              <a:buNone/>
            </a:pPr>
            <a:r>
              <a:rPr lang="en-US" sz="1200" dirty="0">
                <a:solidFill>
                  <a:schemeClr val="accent4"/>
                </a:solidFill>
              </a:rPr>
              <a:t>con comparador, desplazando el cigüeñal en su eje; debe estar dentro del valor del manual</a:t>
            </a:r>
            <a:endParaRPr lang="en-US" sz="1200" dirty="0"/>
          </a:p>
        </p:txBody>
      </p:sp>
      <p:sp>
        <p:nvSpPr>
          <p:cNvPr id="27" name="Shape 2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8" name="Shape 26"/>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Los pasos 5 y 7 son el control de calidad del armado: el cigüeñal debe girar libre después de cada sombrerete apretado. Si se endurece, el error está en ese apoyo y se corrige ahora, no cuando el motor ya esté cerrado.</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despiece y armado del tren alternativo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Comprobaciones del pistón y de los segmentos</a:t>
            </a:r>
            <a:endParaRPr lang="en-US" sz="3200" dirty="0"/>
          </a:p>
        </p:txBody>
      </p:sp>
      <p:sp>
        <p:nvSpPr>
          <p:cNvPr id="3" name="Shape 1"/>
          <p:cNvSpPr/>
          <p:nvPr/>
        </p:nvSpPr>
        <p:spPr>
          <a:xfrm>
            <a:off x="548640" y="1371600"/>
            <a:ext cx="53949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4" name="Text 2"/>
          <p:cNvSpPr txBox="1"/>
          <p:nvPr/>
        </p:nvSpPr>
        <p:spPr>
          <a:xfrm>
            <a:off x="786384" y="1554480"/>
            <a:ext cx="4919472" cy="384048"/>
          </a:xfrm>
          <a:prstGeom prst="rect">
            <a:avLst/>
          </a:prstGeom>
          <a:noFill/>
          <a:ln/>
        </p:spPr>
        <p:txBody>
          <a:bodyPr wrap="square" lIns="0" tIns="0" rIns="0" bIns="0" rtlCol="0" anchor="ctr"/>
          <a:lstStyle/>
          <a:p>
            <a:pPr indent="0" marL="0">
              <a:buNone/>
            </a:pPr>
            <a:r>
              <a:rPr lang="en-US" sz="1700" b="1" dirty="0">
                <a:solidFill>
                  <a:schemeClr val="tx1"/>
                </a:solidFill>
              </a:rPr>
              <a:t>Holgura pistón-cilindro</a:t>
            </a:r>
            <a:endParaRPr lang="en-US" sz="1700" dirty="0"/>
          </a:p>
        </p:txBody>
      </p:sp>
      <mc:AlternateContent xmlns:mc="http://schemas.openxmlformats.org/markup-compatibility/2006" xmlns:a14="http://schemas.microsoft.com/office/drawing/2010/main">
        <mc:Choice Requires="a14">
          <p:sp>
            <p:nvSpPr>
              <p:cNvPr id="5" name="Text 3"/>
              <p:cNvSpPr txBox="1"/>
              <p:nvPr/>
            </p:nvSpPr>
            <p:spPr>
              <a:xfrm>
                <a:off x="786384" y="1993392"/>
                <a:ext cx="4919472" cy="658368"/>
              </a:xfrm>
              <a:prstGeom prst="rect">
                <a:avLst/>
              </a:prstGeom>
              <a:noFill/>
              <a:ln/>
            </p:spPr>
            <p:txBody>
              <a:bodyPr wrap="square" lIns="0" tIns="0" rIns="0" bIns="0" rtlCol="0" anchor="ctr"/>
              <a:lstStyle/>
              <a:p>
                <a:pPr algn="l"/>
                <a14:m>
                  <m:oMathPara xmlns:m="http://schemas.openxmlformats.org/officeDocument/2006/math">
                    <m:oMathParaPr>
                      <m:jc m:val="left"/>
                    </m:oMathParaPr>
                    <m:oMath xmlns:m="http://schemas.openxmlformats.org/officeDocument/2006/math">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J</m:t>
                          </m:r>
                        </m:e>
                        <m:sub>
                          <m:r>
                            <a:rPr lang="es-EC" sz="2400" b="1" dirty="0" i="0">
                              <a:solidFill>
                                <a:srgbClr val="C0451C"/>
                              </a:solidFill>
                              <a:latin typeface="Cambria Math" panose="02040503050406030204" pitchFamily="18" charset="0"/>
                            </a:rPr>
                            <m:t xml:space="preserve">p</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c</m:t>
                          </m:r>
                        </m:sub>
                      </m:sSub>
                      <m:r>
                        <a:rPr lang="es-EC" sz="2400" b="1" dirty="0" i="0">
                          <a:solidFill>
                            <a:srgbClr val="C0451C"/>
                          </a:solidFill>
                          <a:latin typeface="Cambria Math" panose="02040503050406030204" pitchFamily="18" charset="0"/>
                        </a:rPr>
                        <m:t xml:space="preserve"> − </m:t>
                      </m:r>
                      <m:sSub>
                        <m:sSubPr>
                          <m:ctrlPr>
                            <a:rPr lang="es-EC" sz="2400" b="1" dirty="0" i="1">
                              <a:solidFill>
                                <a:srgbClr val="C0451C"/>
                              </a:solidFill>
                              <a:latin typeface="Cambria Math" panose="02040503050406030204" pitchFamily="18" charset="0"/>
                            </a:rPr>
                          </m:ctrlPr>
                        </m:sSubPr>
                        <m:e>
                          <m:r>
                            <a:rPr lang="es-EC" sz="2400" b="1" dirty="0" i="1">
                              <a:solidFill>
                                <a:srgbClr val="C0451C"/>
                              </a:solidFill>
                              <a:latin typeface="Cambria Math" panose="02040503050406030204" pitchFamily="18" charset="0"/>
                            </a:rPr>
                            <m:t xml:space="preserve">D</m:t>
                          </m:r>
                        </m:e>
                        <m:sub>
                          <m:r>
                            <a:rPr lang="es-EC" sz="2400" b="1" dirty="0" i="0">
                              <a:solidFill>
                                <a:srgbClr val="C0451C"/>
                              </a:solidFill>
                              <a:latin typeface="Cambria Math" panose="02040503050406030204" pitchFamily="18" charset="0"/>
                            </a:rPr>
                            <m:t xml:space="preserve">p</m:t>
                          </m:r>
                        </m:sub>
                      </m:sSub>
                    </m:oMath>
                  </m:oMathPara>
                </a14:m>
                <a:endParaRPr lang="es-EC" sz="2400" dirty="0"/>
              </a:p>
            </p:txBody>
          </p:sp>
        </mc:Choice>
        <mc:Fallback xmlns="">
          <p:sp>
            <p:nvSpPr>
              <p:cNvPr id="5" name="Text 3"/>
              <p:cNvSpPr txBox="1"/>
              <p:nvPr/>
            </p:nvSpPr>
            <p:spPr>
              <a:xfrm>
                <a:off x="786384" y="1993392"/>
                <a:ext cx="4919472" cy="658368"/>
              </a:xfrm>
              <a:prstGeom prst="rect">
                <a:avLst/>
              </a:prstGeom>
              <a:noFill/>
              <a:ln/>
            </p:spPr>
            <p:txBody>
              <a:bodyPr wrap="square" lIns="0" tIns="0" rIns="0" bIns="0" rtlCol="0" anchor="ctr"/>
              <a:lstStyle/>
              <a:p>
                <a:pPr algn="l"/>
                <a:r>
                  <a:rPr lang="es-EC" sz="2400" b="1" dirty="0">
                    <a:solidFill>
                      <a:srgbClr val="C0451C"/>
                    </a:solidFill>
                  </a:rPr>
                  <a:t xml:space="preserve">J</a:t>
                </a:r>
                <a:r>
                  <a:rPr lang="es-EC" sz="2400" b="1" baseline="-25000" dirty="0">
                    <a:solidFill>
                      <a:srgbClr val="C0451C"/>
                    </a:solidFill>
                  </a:rPr>
                  <a:t xml:space="preserve">p</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c</a:t>
                </a:r>
                <a:r>
                  <a:rPr lang="es-EC" sz="2400" b="1" dirty="0">
                    <a:solidFill>
                      <a:srgbClr val="C0451C"/>
                    </a:solidFill>
                  </a:rPr>
                  <a:t xml:space="preserve"> − </a:t>
                </a:r>
                <a:r>
                  <a:rPr lang="es-EC" sz="2400" b="1" dirty="0">
                    <a:solidFill>
                      <a:srgbClr val="C0451C"/>
                    </a:solidFill>
                  </a:rPr>
                  <a:t xml:space="preserve">D</a:t>
                </a:r>
                <a:r>
                  <a:rPr lang="es-EC" sz="2400" b="1" baseline="-25000" dirty="0">
                    <a:solidFill>
                      <a:srgbClr val="C0451C"/>
                    </a:solidFill>
                  </a:rPr>
                  <a:t xml:space="preserve">p</a:t>
                </a:r>
              </a:p>
            </p:txBody>
          </p:sp>
        </mc:Fallback>
      </mc:AlternateContent>
      <p:sp>
        <p:nvSpPr>
          <p:cNvPr id="6" name="Text 4"/>
          <p:cNvSpPr txBox="1"/>
          <p:nvPr/>
        </p:nvSpPr>
        <p:spPr>
          <a:xfrm>
            <a:off x="786384" y="2706624"/>
            <a:ext cx="4919472" cy="36576"/>
          </a:xfrm>
          <a:prstGeom prst="rect">
            <a:avLst/>
          </a:prstGeom>
          <a:noFill/>
          <a:ln/>
        </p:spPr>
        <p:txBody>
          <a:bodyPr wrap="square" lIns="0" tIns="0" rIns="0" bIns="0" rtlCol="0" anchor="t"/>
          <a:lstStyle/>
          <a:p>
            <a:pPr indent="0" marL="0">
              <a:lnSpc>
                <a:spcPct val="108000"/>
              </a:lnSpc>
              <a:buNone/>
            </a:pPr>
            <a:r>
              <a:rPr lang="en-US" sz="1300" dirty="0">
                <a:solidFill>
                  <a:schemeClr val="accent4"/>
                </a:solidFill>
              </a:rPr>
              <a:t>Diferencia entre el diámetro del cilindro y el del pistón, medido donde indica el manual.</a:t>
            </a:r>
            <a:endParaRPr lang="en-US" sz="1300" dirty="0"/>
          </a:p>
        </p:txBody>
      </p:sp>
      <p:sp>
        <p:nvSpPr>
          <p:cNvPr id="7" name="Shape 5"/>
          <p:cNvSpPr/>
          <p:nvPr/>
        </p:nvSpPr>
        <p:spPr>
          <a:xfrm>
            <a:off x="6217920" y="1499616"/>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621792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6748272" y="1463040"/>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Holgura pistón-cilindro. </a:t>
            </a:r>
            <a:pPr indent="0" marL="0">
              <a:lnSpc>
                <a:spcPct val="106000"/>
              </a:lnSpc>
              <a:buNone/>
            </a:pPr>
            <a:r>
              <a:rPr lang="en-US" sz="1100" dirty="0">
                <a:solidFill>
                  <a:schemeClr val="accent4"/>
                </a:solidFill>
              </a:rPr>
              <a:t>se mide el cilindro con alexómetro y el pistón con micrómetro, en el punto que indica el manual, y se resta</a:t>
            </a:r>
            <a:endParaRPr lang="en-US" sz="1100" dirty="0"/>
          </a:p>
        </p:txBody>
      </p:sp>
      <p:sp>
        <p:nvSpPr>
          <p:cNvPr id="10" name="Shape 8"/>
          <p:cNvSpPr/>
          <p:nvPr/>
        </p:nvSpPr>
        <p:spPr>
          <a:xfrm>
            <a:off x="6217920" y="2157984"/>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6217920" y="2157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748272" y="2121408"/>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Holgura del segmento en su ranura. </a:t>
            </a:r>
            <a:pPr indent="0" marL="0">
              <a:lnSpc>
                <a:spcPct val="106000"/>
              </a:lnSpc>
              <a:buNone/>
            </a:pPr>
            <a:r>
              <a:rPr lang="en-US" sz="1100" dirty="0">
                <a:solidFill>
                  <a:schemeClr val="accent4"/>
                </a:solidFill>
              </a:rPr>
              <a:t>con galga, entre el segmento y la pared de su ranura; si es excesiva, el segmento golpea y bombea aceite</a:t>
            </a:r>
            <a:endParaRPr lang="en-US" sz="1100" dirty="0"/>
          </a:p>
        </p:txBody>
      </p:sp>
      <p:sp>
        <p:nvSpPr>
          <p:cNvPr id="13" name="Shape 11"/>
          <p:cNvSpPr/>
          <p:nvPr/>
        </p:nvSpPr>
        <p:spPr>
          <a:xfrm>
            <a:off x="6217920" y="2816352"/>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6748272" y="2779776"/>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Abertura del segmento en el cilindro. </a:t>
            </a:r>
            <a:pPr indent="0" marL="0">
              <a:lnSpc>
                <a:spcPct val="106000"/>
              </a:lnSpc>
              <a:buNone/>
            </a:pPr>
            <a:r>
              <a:rPr lang="en-US" sz="1100" dirty="0">
                <a:solidFill>
                  <a:schemeClr val="accent4"/>
                </a:solidFill>
              </a:rPr>
              <a:t>se introduce el segmento solo en el cilindro, se escuadra con un pistón invertido y se mide la abertura con galga</a:t>
            </a:r>
            <a:endParaRPr lang="en-US" sz="1100" dirty="0"/>
          </a:p>
        </p:txBody>
      </p:sp>
      <p:sp>
        <p:nvSpPr>
          <p:cNvPr id="16" name="Shape 14"/>
          <p:cNvSpPr/>
          <p:nvPr/>
        </p:nvSpPr>
        <p:spPr>
          <a:xfrm>
            <a:off x="6217920" y="3474720"/>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6217920" y="3474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Text 16"/>
          <p:cNvSpPr txBox="1"/>
          <p:nvPr/>
        </p:nvSpPr>
        <p:spPr>
          <a:xfrm>
            <a:off x="6748272" y="3438144"/>
            <a:ext cx="4864608" cy="603504"/>
          </a:xfrm>
          <a:prstGeom prst="rect">
            <a:avLst/>
          </a:prstGeom>
          <a:noFill/>
          <a:ln/>
        </p:spPr>
        <p:txBody>
          <a:bodyPr wrap="square" lIns="0" tIns="0" rIns="0" bIns="0" rtlCol="0" anchor="ctr"/>
          <a:lstStyle/>
          <a:p>
            <a:pPr indent="0" marL="0">
              <a:lnSpc>
                <a:spcPct val="106000"/>
              </a:lnSpc>
              <a:buNone/>
            </a:pPr>
            <a:r>
              <a:rPr lang="en-US" sz="1100" b="1" dirty="0">
                <a:solidFill>
                  <a:schemeClr val="tx1"/>
                </a:solidFill>
              </a:rPr>
              <a:t>Por qué se mide la abertura dentro del cilindro. </a:t>
            </a:r>
            <a:pPr indent="0" marL="0">
              <a:lnSpc>
                <a:spcPct val="106000"/>
              </a:lnSpc>
              <a:buNone/>
            </a:pPr>
            <a:r>
              <a:rPr lang="en-US" sz="1100" dirty="0">
                <a:solidFill>
                  <a:schemeClr val="accent4"/>
                </a:solidFill>
              </a:rPr>
              <a:t>porque el segmento se dilata con el calor; una abertura insuficiente haría que sus extremos se tocaran y el segmento se rompiera o rayara el cilindro</a:t>
            </a:r>
            <a:endParaRPr lang="en-US" sz="1100" dirty="0"/>
          </a:p>
        </p:txBody>
      </p:sp>
      <p:sp>
        <p:nvSpPr>
          <p:cNvPr id="19" name="Shape 17"/>
          <p:cNvSpPr/>
          <p:nvPr/>
        </p:nvSpPr>
        <p:spPr>
          <a:xfrm>
            <a:off x="548640" y="4114800"/>
            <a:ext cx="11064240" cy="822960"/>
          </a:xfrm>
          <a:prstGeom prst="roundRect">
            <a:avLst>
              <a:gd name="adj" fmla="val 6667"/>
            </a:avLst>
          </a:prstGeom>
          <a:solidFill>
            <a:schemeClr val="bg2"/>
          </a:solidFill>
          <a:ln w="12700">
            <a:solidFill>
              <a:schemeClr val="bg2"/>
            </a:solidFill>
            <a:prstDash val="solid"/>
          </a:ln>
        </p:spPr>
        <p:txBody>
          <a:bodyPr/>
          <a:p/>
        </p:txBody>
      </p:sp>
      <p:sp>
        <p:nvSpPr>
          <p:cNvPr id="20" name="Shape 18"/>
          <p:cNvSpPr/>
          <p:nvPr/>
        </p:nvSpPr>
        <p:spPr>
          <a:xfrm>
            <a:off x="786384" y="4343400"/>
            <a:ext cx="365760" cy="365760"/>
          </a:xfrm>
          <a:prstGeom prst="ellipse">
            <a:avLst/>
          </a:prstGeom>
          <a:solidFill>
            <a:schemeClr val="accent1"/>
          </a:solidFill>
          <a:ln w="12700">
            <a:solidFill>
              <a:schemeClr val="accent1"/>
            </a:solidFill>
            <a:prstDash val="solid"/>
          </a:ln>
        </p:spPr>
        <p:txBody>
          <a:bodyPr/>
          <a:p/>
        </p:txBody>
      </p:sp>
      <p:sp>
        <p:nvSpPr>
          <p:cNvPr id="21" name="Text 19"/>
          <p:cNvSpPr txBox="1"/>
          <p:nvPr/>
        </p:nvSpPr>
        <p:spPr>
          <a:xfrm>
            <a:off x="786384"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2" name="Text 20"/>
          <p:cNvSpPr txBox="1"/>
          <p:nvPr/>
        </p:nvSpPr>
        <p:spPr>
          <a:xfrm>
            <a:off x="1298448" y="420624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La abertura del segmento se mide siempre dentro del cilindro en el que va a trabajar, no al aire. Medirla fuera no da ninguna información, porque el segmento está libre y adopta un diámetro mayor que el del cilindro.</a:t>
            </a:r>
            <a:endParaRPr lang="en-US" sz="145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108960"/>
                <a:gridCol w="3931920"/>
                <a:gridCol w="4023360"/>
              </a:tblGrid>
              <a:tr h="365760">
                <a:tc>
                  <a:txBody>
                    <a:bodyPr/>
                    <a:lstStyle/>
                    <a:p>
                      <a:pPr indent="0" marL="0">
                        <a:buNone/>
                      </a:pPr>
                      <a:r>
                        <a:rPr lang="en-US" sz="1300" b="1" dirty="0">
                          <a:solidFill>
                            <a:srgbClr val="FFFFFF"/>
                          </a:solidFill>
                        </a:rPr>
                        <a:t>Resultado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Qué significa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Decisión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100" b="1" dirty="0">
                          <a:solidFill>
                            <a:schemeClr val="tx1"/>
                          </a:solidFill>
                        </a:rPr>
                        <a:t>Holgura pistón-cilindro excesiva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Pistón desgastado, cilindro desgastado o ambos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Rectificado con pistones de sobremedida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chemeClr val="tx1"/>
                          </a:solidFill>
                        </a:rPr>
                        <a:t>Holgura de segmento en ranura excesiva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Ranura desgastada por el martilleo del segmento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Sustituir el pistón: la ranura no se repara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24" name="Text 2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recursos: Autodata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Leer un pistón: qué cuenta su aspecto</a:t>
            </a:r>
            <a:endParaRPr lang="en-US" sz="3200" dirty="0"/>
          </a:p>
        </p:txBody>
      </p:sp>
      <p:sp>
        <p:nvSpPr>
          <p:cNvPr id="3" name="marco_figura"/>
          <p:cNvSpPr/>
          <p:nvPr/>
        </p:nvSpPr>
        <p:spPr>
          <a:xfrm>
            <a:off x="548640" y="1371600"/>
            <a:ext cx="3657600" cy="2761488"/>
          </a:xfrm>
          <a:prstGeom prst="roundRect">
            <a:avLst>
              <a:gd name="adj" fmla="val 198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t_piston_desgastado.jpg">    </p:cNvPr>
          <p:cNvPicPr>
            <a:picLocks noChangeAspect="1"/>
          </p:cNvPicPr>
          <p:nvPr/>
        </p:nvPicPr>
        <p:blipFill>
          <a:blip r:embed="rId1"/>
          <a:srcRect l="0" r="0" t="0" b="0"/>
          <a:stretch/>
        </p:blipFill>
        <p:spPr>
          <a:xfrm>
            <a:off x="658368" y="1481328"/>
            <a:ext cx="3438144" cy="2157984"/>
          </a:xfrm>
          <a:prstGeom prst="rect">
            <a:avLst/>
          </a:prstGeom>
        </p:spPr>
      </p:pic>
      <p:sp>
        <p:nvSpPr>
          <p:cNvPr id="5" name="Text 2"/>
          <p:cNvSpPr txBox="1"/>
          <p:nvPr/>
        </p:nvSpPr>
        <p:spPr>
          <a:xfrm>
            <a:off x="658368" y="374904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69. </a:t>
            </a:r>
            <a:pPr indent="0" marL="0">
              <a:lnSpc>
                <a:spcPct val="102000"/>
              </a:lnSpc>
              <a:buNone/>
            </a:pPr>
            <a:r>
              <a:rPr lang="en-US" sz="1000" dirty="0">
                <a:solidFill>
                  <a:schemeClr val="accent4"/>
                </a:solidFill>
              </a:rPr>
              <a:t>Pistón con marcas de trabajo en la falda. Adaptado de Minga González, M. A. (s. f.). Pistones y tren alternativo [diapositivas]. ISTS.</a:t>
            </a:r>
            <a:endParaRPr lang="en-US" sz="1000" dirty="0"/>
          </a:p>
        </p:txBody>
      </p:sp>
      <p:sp>
        <p:nvSpPr>
          <p:cNvPr id="6" name="marco_figura"/>
          <p:cNvSpPr/>
          <p:nvPr/>
        </p:nvSpPr>
        <p:spPr>
          <a:xfrm>
            <a:off x="4480560" y="1371600"/>
            <a:ext cx="3474720" cy="2761488"/>
          </a:xfrm>
          <a:prstGeom prst="roundRect">
            <a:avLst>
              <a:gd name="adj" fmla="val 1987"/>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t_piston_roto.jpg">    </p:cNvPr>
          <p:cNvPicPr>
            <a:picLocks noChangeAspect="1"/>
          </p:cNvPicPr>
          <p:nvPr/>
        </p:nvPicPr>
        <p:blipFill>
          <a:blip r:embed="rId2"/>
          <a:srcRect l="0" r="0" t="0" b="0"/>
          <a:stretch/>
        </p:blipFill>
        <p:spPr>
          <a:xfrm>
            <a:off x="4590288" y="1481328"/>
            <a:ext cx="3255264" cy="2157984"/>
          </a:xfrm>
          <a:prstGeom prst="rect">
            <a:avLst/>
          </a:prstGeom>
        </p:spPr>
      </p:pic>
      <p:sp>
        <p:nvSpPr>
          <p:cNvPr id="8" name="Text 4"/>
          <p:cNvSpPr txBox="1"/>
          <p:nvPr/>
        </p:nvSpPr>
        <p:spPr>
          <a:xfrm>
            <a:off x="4590288" y="374904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70. </a:t>
            </a:r>
            <a:pPr indent="0" marL="0">
              <a:lnSpc>
                <a:spcPct val="102000"/>
              </a:lnSpc>
              <a:buNone/>
            </a:pPr>
            <a:r>
              <a:rPr lang="en-US" sz="1000" dirty="0">
                <a:solidFill>
                  <a:schemeClr val="accent4"/>
                </a:solidFill>
              </a:rPr>
              <a:t>Pistón destruido: consecuencia extrema de detonación o de falta de lubricación. Adaptado de Minga González, M. A. (s. f.). Pistones y tren alternativo [diapositivas]. ISTS.</a:t>
            </a:r>
            <a:endParaRPr lang="en-US" sz="1000" dirty="0"/>
          </a:p>
        </p:txBody>
      </p:sp>
      <p:sp>
        <p:nvSpPr>
          <p:cNvPr id="9" name="marco_figura"/>
          <p:cNvSpPr/>
          <p:nvPr/>
        </p:nvSpPr>
        <p:spPr>
          <a:xfrm>
            <a:off x="8229600" y="1371600"/>
            <a:ext cx="3383280" cy="2761488"/>
          </a:xfrm>
          <a:prstGeom prst="roundRect">
            <a:avLst>
              <a:gd name="adj" fmla="val 1987"/>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t_temperatura.jpg">    </p:cNvPr>
          <p:cNvPicPr>
            <a:picLocks noChangeAspect="1"/>
          </p:cNvPicPr>
          <p:nvPr/>
        </p:nvPicPr>
        <p:blipFill>
          <a:blip r:embed="rId3"/>
          <a:srcRect l="0" r="0" t="0" b="0"/>
          <a:stretch/>
        </p:blipFill>
        <p:spPr>
          <a:xfrm>
            <a:off x="8339328" y="1481328"/>
            <a:ext cx="3163824" cy="2157984"/>
          </a:xfrm>
          <a:prstGeom prst="rect">
            <a:avLst/>
          </a:prstGeom>
        </p:spPr>
      </p:pic>
      <p:sp>
        <p:nvSpPr>
          <p:cNvPr id="11" name="Text 6"/>
          <p:cNvSpPr txBox="1"/>
          <p:nvPr/>
        </p:nvSpPr>
        <p:spPr>
          <a:xfrm>
            <a:off x="8339328" y="374904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71. </a:t>
            </a:r>
            <a:pPr indent="0" marL="0">
              <a:lnSpc>
                <a:spcPct val="102000"/>
              </a:lnSpc>
              <a:buNone/>
            </a:pPr>
            <a:r>
              <a:rPr lang="en-US" sz="1000" dirty="0">
                <a:solidFill>
                  <a:schemeClr val="accent4"/>
                </a:solidFill>
              </a:rPr>
              <a:t>Distribución de temperatura en un pistón: la cabeza trabaja mucho más caliente que la falda. Adaptado de Minga González, M. A. (s. f.). Pistones y tren alternativo [diapositivas]. ISTS.</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64240" cy="914400"/>
        </p:xfrm>
        <a:graphic>
          <a:graphicData uri="http://schemas.openxmlformats.org/drawingml/2006/table">
            <a:tbl>
              <a:tblPr/>
              <a:tblGrid>
                <a:gridCol w="2743200"/>
                <a:gridCol w="4114800"/>
                <a:gridCol w="4206240"/>
              </a:tblGrid>
              <a:tr h="402336">
                <a:tc>
                  <a:txBody>
                    <a:bodyPr/>
                    <a:lstStyle/>
                    <a:p>
                      <a:pPr indent="0" marL="0">
                        <a:buNone/>
                      </a:pPr>
                      <a:r>
                        <a:rPr lang="en-US" sz="1300" b="1" dirty="0">
                          <a:solidFill>
                            <a:srgbClr val="FFFFFF"/>
                          </a:solidFill>
                        </a:rPr>
                        <a:t>Lo que se observa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ocurrió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corregir además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02336">
                <a:tc>
                  <a:txBody>
                    <a:bodyPr/>
                    <a:lstStyle/>
                    <a:p>
                      <a:pPr indent="0" marL="0">
                        <a:buNone/>
                      </a:pPr>
                      <a:r>
                        <a:rPr lang="en-US" sz="1100" b="1" dirty="0">
                          <a:solidFill>
                            <a:schemeClr val="tx1"/>
                          </a:solidFill>
                        </a:rPr>
                        <a:t>Rayado vertical en la falda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Falta de lubricación o partículas abrasivas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Origen de la falta de aceite o de las partículas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Cabeza picada o erosionada en el borde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Detonación sostenida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Avance, calidad de gasolina, carbonilla o refrigeración</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02336">
                <a:tc>
                  <a:txBody>
                    <a:bodyPr/>
                    <a:lstStyle/>
                    <a:p>
                      <a:pPr indent="0" marL="0">
                        <a:buNone/>
                      </a:pPr>
                      <a:r>
                        <a:rPr lang="en-US" sz="1100" b="1" dirty="0">
                          <a:solidFill>
                            <a:schemeClr val="tx1"/>
                          </a:solidFill>
                        </a:rPr>
                        <a:t>Zona fundida junto a la bujía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Preencendido o punto caliente en la cámara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Grado térmico de la bujía, carbonilla y mezcla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chemeClr val="tx1"/>
                          </a:solidFill>
                        </a:rPr>
                        <a:t>Falda pulida solo en un lado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Biela torcida o bulón descentrado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Rectitud de la biela antes de montar nada nuevo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13" name="Shape 7"/>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14" name="Shape 8"/>
          <p:cNvSpPr/>
          <p:nvPr/>
        </p:nvSpPr>
        <p:spPr>
          <a:xfrm>
            <a:off x="786384" y="5600700"/>
            <a:ext cx="365760" cy="365760"/>
          </a:xfrm>
          <a:prstGeom prst="ellipse">
            <a:avLst/>
          </a:prstGeom>
          <a:solidFill>
            <a:schemeClr val="accent1"/>
          </a:solidFill>
          <a:ln w="12700">
            <a:solidFill>
              <a:schemeClr val="accent1"/>
            </a:solidFill>
            <a:prstDash val="solid"/>
          </a:ln>
        </p:spPr>
        <p:txBody>
          <a:bodyPr/>
          <a:p/>
        </p:txBody>
      </p:sp>
      <p:sp>
        <p:nvSpPr>
          <p:cNvPr id="15" name="Text 9"/>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6" name="Text 10"/>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Un pistón dañado casi nunca es la causa: es el resultado. Antes de montar uno nuevo hay que saber qué lo destruyó, porque esa causa sigue ahí y destruirá también al nuevo.</a:t>
            </a:r>
            <a:endParaRPr lang="en-US" sz="1150" dirty="0"/>
          </a:p>
        </p:txBody>
      </p:sp>
      <p:sp>
        <p:nvSpPr>
          <p:cNvPr id="17"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técnica: análisis de casos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Mapa de averías del tren alternativo</a:t>
            </a:r>
            <a:endParaRPr lang="en-US" sz="32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2926080"/>
                <a:gridCol w="2651760"/>
                <a:gridCol w="2743200"/>
              </a:tblGrid>
              <a:tr h="438912">
                <a:tc>
                  <a:txBody>
                    <a:bodyPr/>
                    <a:lstStyle/>
                    <a:p>
                      <a:pPr indent="0" marL="0">
                        <a:buNone/>
                      </a:pPr>
                      <a:r>
                        <a:rPr lang="en-US" sz="1300" b="1" dirty="0">
                          <a:solidFill>
                            <a:srgbClr val="FFFFFF"/>
                          </a:solidFill>
                        </a:rPr>
                        <a:t>Síntoma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Causa probable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Corrección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050" b="1" dirty="0">
                          <a:solidFill>
                            <a:schemeClr val="tx1"/>
                          </a:solidFill>
                        </a:rPr>
                        <a:t>Golpeteo sordo que aumenta con la carga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 excesiva en cojinete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Presión de aceite; holgura con hilo calibrado al desarmar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Cojinetes nuevos; rectificado del cigüeñal si procede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Golpeteo grave y profundo en el bajo régimen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Holgura excesiva en cojinete de bancada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Presión de aceite; holgura al desarmar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Cojinetes nuevos y rectificado de bancada del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Repiqueteo metálico en frío que desaparece en caliente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 pistón-cilindro excesiva: el pistón cabecea en frío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 pistón-cilindro al desarmar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Rectificado con pistones de sobremedida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Consumo de aceite y humo azul al acelerar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Segmentos desgastados, ranuras desgastadas o cilindro espejado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Compresión y prueba del aceite; medición al desarmar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Segmentos, bruñido o rectificado según el caso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050" b="1" dirty="0">
                          <a:solidFill>
                            <a:schemeClr val="tx1"/>
                          </a:solidFill>
                        </a:rPr>
                        <a:t>Vibración que aparece a cierto régimen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Desequilibrio: pistones de masas distintas o cigüeñal desequilibrado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Comparación de masas; equilibrado en taller especializado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Igualar masas; equilibrar 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chemeClr val="tx1"/>
                          </a:solidFill>
                        </a:rPr>
                        <a:t>Pérdida súbita y ruido muy fuerte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Rotura de biela o gripaje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Inspección tras desarmar; no insistir en arrancar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Evaluación completa del motor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251960"/>
            <a:ext cx="11064240" cy="822960"/>
          </a:xfrm>
          <a:prstGeom prst="roundRect">
            <a:avLst>
              <a:gd name="adj" fmla="val 6667"/>
            </a:avLst>
          </a:prstGeom>
          <a:solidFill>
            <a:schemeClr val="bg2"/>
          </a:solidFill>
          <a:ln w="12700">
            <a:solidFill>
              <a:schemeClr val="bg2"/>
            </a:solidFill>
            <a:prstDash val="solid"/>
          </a:ln>
        </p:spPr>
        <p:txBody>
          <a:bodyPr/>
          <a:p/>
        </p:txBody>
      </p:sp>
      <p:sp>
        <p:nvSpPr>
          <p:cNvPr id="5" name="Shape 2"/>
          <p:cNvSpPr/>
          <p:nvPr/>
        </p:nvSpPr>
        <p:spPr>
          <a:xfrm>
            <a:off x="786384" y="448056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480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343400"/>
            <a:ext cx="10058400" cy="64008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golpeteo del tren alternativo se diagnostica por su carácter y por cuándo aparece: el de biela aumenta con la carga; el de bancada es más grave y profundo; el del pistón suena en frío y desaparece al calentar. Tres ruidos, tres causas.</a:t>
            </a:r>
            <a:endParaRPr lang="en-US" sz="1450" dirty="0"/>
          </a:p>
        </p:txBody>
      </p:sp>
      <p:sp>
        <p:nvSpPr>
          <p:cNvPr id="8" name="Shape 5"/>
          <p:cNvSpPr/>
          <p:nvPr/>
        </p:nvSpPr>
        <p:spPr>
          <a:xfrm>
            <a:off x="548640" y="520293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202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16636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Por qué el repiqueteo del pistón desaparece en caliente. </a:t>
            </a:r>
            <a:pPr indent="0" marL="0">
              <a:lnSpc>
                <a:spcPct val="106000"/>
              </a:lnSpc>
              <a:buNone/>
            </a:pPr>
            <a:r>
              <a:rPr lang="en-US" sz="1150" dirty="0">
                <a:solidFill>
                  <a:schemeClr val="accent4"/>
                </a:solidFill>
              </a:rPr>
              <a:t>porque el pistón se dilata y la holgura con el cilindro se reduce hasta su valor de trabajo; en frío es mayor y el pistón cabecea</a:t>
            </a:r>
            <a:endParaRPr lang="en-US" sz="1150" dirty="0"/>
          </a:p>
        </p:txBody>
      </p:sp>
      <p:sp>
        <p:nvSpPr>
          <p:cNvPr id="11" name="Shape 8"/>
          <p:cNvSpPr/>
          <p:nvPr/>
        </p:nvSpPr>
        <p:spPr>
          <a:xfrm>
            <a:off x="548640" y="55869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55040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Qué hacer ante un ruido grave y súbito. </a:t>
            </a:r>
            <a:pPr indent="0" marL="0">
              <a:lnSpc>
                <a:spcPct val="106000"/>
              </a:lnSpc>
              <a:buNone/>
            </a:pPr>
            <a:r>
              <a:rPr lang="en-US" sz="1150" dirty="0">
                <a:solidFill>
                  <a:schemeClr val="accent4"/>
                </a:solidFill>
              </a:rPr>
              <a:t>parar el motor y no volver a arrancarlo hasta haber comprobado; cada vuelta adicional puede multiplicar el daño</a:t>
            </a:r>
            <a:endParaRPr lang="en-US" sz="1150" dirty="0"/>
          </a:p>
        </p:txBody>
      </p:sp>
      <p:sp>
        <p:nvSpPr>
          <p:cNvPr id="14" name="Text 1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material de estudio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Ficha de comprobaciones del tren alternativo</a:t>
            </a:r>
            <a:endParaRPr lang="en-US" sz="32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2651760"/>
                <a:gridCol w="2651760"/>
                <a:gridCol w="2651760"/>
              </a:tblGrid>
              <a:tr h="347472">
                <a:tc>
                  <a:txBody>
                    <a:bodyPr/>
                    <a:lstStyle/>
                    <a:p>
                      <a:pPr indent="0" marL="0">
                        <a:buNone/>
                      </a:pPr>
                      <a:r>
                        <a:rPr lang="en-US" sz="1300" b="1" dirty="0">
                          <a:solidFill>
                            <a:srgbClr val="FFFFFF"/>
                          </a:solidFill>
                        </a:rPr>
                        <a:t>Comprobación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del fabricante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Valor medido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 / No 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47472">
                <a:tc>
                  <a:txBody>
                    <a:bodyPr/>
                    <a:lstStyle/>
                    <a:p>
                      <a:pPr indent="0" marL="0">
                        <a:buNone/>
                      </a:pPr>
                      <a:r>
                        <a:rPr lang="en-US" sz="1050" b="1" dirty="0">
                          <a:solidFill>
                            <a:schemeClr val="tx1"/>
                          </a:solidFill>
                        </a:rPr>
                        <a:t>Diámetro del pistón (punto del manual)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Holgura pistón-cilindro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Holgura de segmento en ranura (1.º, 2.º y 3.º)</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Abertura de segmento en el cilindro (1.º, 2.º y 3.º)</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Holgura bulón-pie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Rectitud y torsión de la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Dentro del límite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Diámetro de muñequillas (2 direcciones, 2 posiciones)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Diámetro de apoyos de bancada del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Ovalización y conicidad de muñones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Rectitud del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Holgura radial de cojinetes de bancada y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Holgura axial del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47472">
                <a:tc>
                  <a:txBody>
                    <a:bodyPr/>
                    <a:lstStyle/>
                    <a:p>
                      <a:pPr indent="0" marL="0">
                        <a:buNone/>
                      </a:pPr>
                      <a:r>
                        <a:rPr lang="en-US" sz="1050" b="1" dirty="0">
                          <a:solidFill>
                            <a:schemeClr val="tx1"/>
                          </a:solidFill>
                        </a:rPr>
                        <a:t>Par aplicado en sombreretes de bancada y de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chemeClr val="tx1"/>
                          </a:solidFill>
                        </a:rPr>
                        <a:t>Giro libre del cigüeñal tras cada apriete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Libre a mano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5614416"/>
            <a:ext cx="11064240" cy="384048"/>
          </a:xfrm>
          <a:prstGeom prst="roundRect">
            <a:avLst>
              <a:gd name="adj" fmla="val 14286"/>
            </a:avLst>
          </a:prstGeom>
          <a:solidFill>
            <a:schemeClr val="bg2"/>
          </a:solidFill>
          <a:ln w="12700">
            <a:solidFill>
              <a:schemeClr val="bg2"/>
            </a:solidFill>
            <a:prstDash val="solid"/>
          </a:ln>
        </p:spPr>
        <p:txBody>
          <a:bodyPr/>
          <a:p/>
        </p:txBody>
      </p:sp>
      <p:sp>
        <p:nvSpPr>
          <p:cNvPr id="5" name="Shape 2"/>
          <p:cNvSpPr/>
          <p:nvPr/>
        </p:nvSpPr>
        <p:spPr>
          <a:xfrm>
            <a:off x="786384" y="562356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5623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5705856"/>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Las dos últimas filas son las que acreditan el armado: el par aplicado y el giro libre comprobado tras cada sombrerete. Son la evidencia de que el trabajo se hizo con método y no por aproximación.</a:t>
            </a:r>
            <a:endParaRPr lang="en-US" sz="1100" dirty="0"/>
          </a:p>
        </p:txBody>
      </p:sp>
      <p:sp>
        <p:nvSpPr>
          <p:cNvPr id="8" name="Text 5"/>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comprobaciones de tren alternativo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clase 4.4</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empuje lateral explica casi todo el desgaste. </a:t>
            </a:r>
            <a:pPr indent="0" marL="0">
              <a:lnSpc>
                <a:spcPct val="106000"/>
              </a:lnSpc>
              <a:buNone/>
            </a:pPr>
            <a:r>
              <a:rPr lang="en-US" sz="1250" dirty="0">
                <a:solidFill>
                  <a:schemeClr val="accent4"/>
                </a:solidFill>
              </a:rPr>
              <a:t>la biela trabaja inclinada, de modo que el pistón se apoya contra una pared; de ahí la ovalización del cilindro y la forma de la falda</a:t>
            </a:r>
            <a:endParaRPr lang="en-US" sz="1250" dirty="0"/>
          </a:p>
        </p:txBody>
      </p:sp>
      <p:sp>
        <p:nvSpPr>
          <p:cNvPr id="6" name="Shape 4"/>
          <p:cNvSpPr/>
          <p:nvPr/>
        </p:nvSpPr>
        <p:spPr>
          <a:xfrm>
            <a:off x="548640" y="2112264"/>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2075688"/>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pistón no es cilíndrico ni uniforme. </a:t>
            </a:r>
            <a:pPr indent="0" marL="0">
              <a:lnSpc>
                <a:spcPct val="106000"/>
              </a:lnSpc>
              <a:buNone/>
            </a:pPr>
            <a:r>
              <a:rPr lang="en-US" sz="1250" dirty="0">
                <a:solidFill>
                  <a:schemeClr val="accent4"/>
                </a:solidFill>
              </a:rPr>
              <a:t>es más estrecho arriba y ligeramente ovalado, para que la dilatación lo lleve a la forma correcta en caliente</a:t>
            </a:r>
            <a:endParaRPr lang="en-US" sz="1250" dirty="0"/>
          </a:p>
        </p:txBody>
      </p:sp>
      <p:sp>
        <p:nvSpPr>
          <p:cNvPr id="9" name="Shape 7"/>
          <p:cNvSpPr/>
          <p:nvPr/>
        </p:nvSpPr>
        <p:spPr>
          <a:xfrm>
            <a:off x="548640" y="2770632"/>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734056"/>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primer segmento sella con la propia presión. </a:t>
            </a:r>
            <a:pPr indent="0" marL="0">
              <a:lnSpc>
                <a:spcPct val="106000"/>
              </a:lnSpc>
              <a:buNone/>
            </a:pPr>
            <a:r>
              <a:rPr lang="en-US" sz="1250" dirty="0">
                <a:solidFill>
                  <a:schemeClr val="accent4"/>
                </a:solidFill>
              </a:rPr>
              <a:t>los gases entran detrás de él y lo empujan contra la pared: cuanta más presión, mejor sella</a:t>
            </a:r>
            <a:endParaRPr lang="en-US" sz="1250" dirty="0"/>
          </a:p>
        </p:txBody>
      </p:sp>
      <p:sp>
        <p:nvSpPr>
          <p:cNvPr id="12" name="Shape 10"/>
          <p:cNvSpPr/>
          <p:nvPr/>
        </p:nvSpPr>
        <p:spPr>
          <a:xfrm>
            <a:off x="548640" y="3429000"/>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3392424"/>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Sombreretes y cojinetes no son intercambiables. </a:t>
            </a:r>
            <a:pPr indent="0" marL="0">
              <a:lnSpc>
                <a:spcPct val="106000"/>
              </a:lnSpc>
              <a:buNone/>
            </a:pPr>
            <a:r>
              <a:rPr lang="en-US" sz="1250" dirty="0">
                <a:solidFill>
                  <a:schemeClr val="accent4"/>
                </a:solidFill>
              </a:rPr>
              <a:t>se mecanizaron con su pieza y su espesor es calibrado; cambiarlos de sitio o retocarlos altera la holgura</a:t>
            </a:r>
            <a:endParaRPr lang="en-US" sz="1250" dirty="0"/>
          </a:p>
        </p:txBody>
      </p:sp>
      <p:sp>
        <p:nvSpPr>
          <p:cNvPr id="15" name="Shape 13"/>
          <p:cNvSpPr/>
          <p:nvPr/>
        </p:nvSpPr>
        <p:spPr>
          <a:xfrm>
            <a:off x="548640" y="4087368"/>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4050792"/>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La holgura decide si hay película. </a:t>
            </a:r>
            <a:pPr indent="0" marL="0">
              <a:lnSpc>
                <a:spcPct val="106000"/>
              </a:lnSpc>
              <a:buNone/>
            </a:pPr>
            <a:r>
              <a:rPr lang="en-US" sz="1250" dirty="0">
                <a:solidFill>
                  <a:schemeClr val="accent4"/>
                </a:solidFill>
              </a:rPr>
              <a:t>insuficiente, gripaje; excesiva, caída de presión y golpeteo; se mide con hilo calibrado y se compara con el manual</a:t>
            </a:r>
            <a:endParaRPr lang="en-US" sz="1250" dirty="0"/>
          </a:p>
        </p:txBody>
      </p:sp>
      <p:sp>
        <p:nvSpPr>
          <p:cNvPr id="18" name="Shape 16"/>
          <p:cNvSpPr/>
          <p:nvPr/>
        </p:nvSpPr>
        <p:spPr>
          <a:xfrm>
            <a:off x="548640" y="474573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4709160"/>
            <a:ext cx="10533888" cy="603504"/>
          </a:xfrm>
          <a:prstGeom prst="rect">
            <a:avLst/>
          </a:prstGeom>
          <a:noFill/>
          <a:ln/>
        </p:spPr>
        <p:txBody>
          <a:bodyPr wrap="square" lIns="0" tIns="0" rIns="0" bIns="0" rtlCol="0" anchor="ctr"/>
          <a:lstStyle/>
          <a:p>
            <a:pPr indent="0" marL="0">
              <a:lnSpc>
                <a:spcPct val="106000"/>
              </a:lnSpc>
              <a:buNone/>
            </a:pPr>
            <a:r>
              <a:rPr lang="en-US" sz="1250" b="1" dirty="0">
                <a:solidFill>
                  <a:schemeClr val="tx1"/>
                </a:solidFill>
              </a:rPr>
              <a:t>El giro libre es el control de calidad. </a:t>
            </a:r>
            <a:pPr indent="0" marL="0">
              <a:lnSpc>
                <a:spcPct val="106000"/>
              </a:lnSpc>
              <a:buNone/>
            </a:pPr>
            <a:r>
              <a:rPr lang="en-US" sz="1250" dirty="0">
                <a:solidFill>
                  <a:schemeClr val="accent4"/>
                </a:solidFill>
              </a:rPr>
              <a:t>tras cada sombrerete apretado, el cigüeñal debe girar libre a mano; si se endurece, el error está ahí y se corrige ahora</a:t>
            </a:r>
            <a:endParaRPr lang="en-US" sz="1250" dirty="0"/>
          </a:p>
        </p:txBody>
      </p:sp>
      <p:sp>
        <p:nvSpPr>
          <p:cNvPr id="21" name="Shape 19"/>
          <p:cNvSpPr/>
          <p:nvPr/>
        </p:nvSpPr>
        <p:spPr>
          <a:xfrm>
            <a:off x="548640" y="5486400"/>
            <a:ext cx="11064240" cy="457200"/>
          </a:xfrm>
          <a:prstGeom prst="roundRect">
            <a:avLst>
              <a:gd name="adj" fmla="val 12000"/>
            </a:avLst>
          </a:prstGeom>
          <a:solidFill>
            <a:schemeClr val="bg2"/>
          </a:solidFill>
          <a:ln w="12700">
            <a:solidFill>
              <a:schemeClr val="bg2"/>
            </a:solidFill>
            <a:prstDash val="solid"/>
          </a:ln>
        </p:spPr>
        <p:txBody>
          <a:bodyPr/>
          <a:p/>
        </p:txBody>
      </p:sp>
      <p:sp>
        <p:nvSpPr>
          <p:cNvPr id="22" name="Shape 20"/>
          <p:cNvSpPr/>
          <p:nvPr/>
        </p:nvSpPr>
        <p:spPr>
          <a:xfrm>
            <a:off x="786384" y="5532120"/>
            <a:ext cx="365760" cy="365760"/>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786384" y="5532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4" name="Text 22"/>
          <p:cNvSpPr txBox="1"/>
          <p:nvPr/>
        </p:nvSpPr>
        <p:spPr>
          <a:xfrm>
            <a:off x="1298448" y="5577840"/>
            <a:ext cx="10058400" cy="27432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Pregunta de autoevaluación: al armar un motor, el cigüeñal gira libre hasta que se aprieta el tercer sombrerete de bancada, momento en que se endurece notablemente. ¿Qué hipótesis maneja y en qué orden las comprobaría?</a:t>
            </a:r>
            <a:endParaRPr lang="en-US" sz="1250" dirty="0"/>
          </a:p>
        </p:txBody>
      </p:sp>
      <p:sp>
        <p:nvSpPr>
          <p:cNvPr id="25"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cierre de los conocimientos 12 y 13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Casos integrados de la unidad</a:t>
            </a:r>
            <a:endParaRPr lang="en-US" sz="32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3566160"/>
                <a:gridCol w="3657600"/>
              </a:tblGrid>
              <a:tr h="512064">
                <a:tc>
                  <a:txBody>
                    <a:bodyPr/>
                    <a:lstStyle/>
                    <a:p>
                      <a:pPr indent="0" marL="0">
                        <a:buNone/>
                      </a:pPr>
                      <a:r>
                        <a:rPr lang="en-US" sz="1300" b="1" dirty="0">
                          <a:solidFill>
                            <a:srgbClr val="FFFFFF"/>
                          </a:solidFill>
                        </a:rPr>
                        <a:t>Caso que presenta el cliente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Hipótesis candidatas</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Comprobación que las separa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512064">
                <a:tc>
                  <a:txBody>
                    <a:bodyPr/>
                    <a:lstStyle/>
                    <a:p>
                      <a:pPr indent="0" marL="0">
                        <a:buNone/>
                      </a:pPr>
                      <a:r>
                        <a:rPr lang="en-US" sz="1100" b="1" dirty="0">
                          <a:solidFill>
                            <a:schemeClr val="tx1"/>
                          </a:solidFill>
                        </a:rPr>
                        <a:t>Testigo de aceite encendido solo al ralentí en caliente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Holguras de cojinetes, viscosidad incorrecta o bomba desgastada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Manómetro externo a ralentí y a régimen; después, holguras al desarmar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chemeClr val="tx1"/>
                          </a:solidFill>
                        </a:rPr>
                        <a:t>Consume aceite sin fugas y humea al acelerar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Segmentos, ranuras del pistón o cilindro espejado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Compresión y prueba del aceite; al desarmar, holguras y estado del rayado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00" b="1" dirty="0">
                          <a:solidFill>
                            <a:schemeClr val="tx1"/>
                          </a:solidFill>
                        </a:rPr>
                        <a:t>Se recalienta solo en carga y en pendiente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Caudal insuficiente: bomba, cámaras o radiador obstruidos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Zonas frías del radiador; inspección del rodete y de las cámaras</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chemeClr val="tx1"/>
                          </a:solidFill>
                        </a:rPr>
                        <a:t>Golpeteo sordo que aumenta con la carga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Holgura de cojinete de biela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Presión de aceite; holgura con hilo calibrado</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512064">
                <a:tc>
                  <a:txBody>
                    <a:bodyPr/>
                    <a:lstStyle/>
                    <a:p>
                      <a:pPr indent="0" marL="0">
                        <a:buNone/>
                      </a:pPr>
                      <a:r>
                        <a:rPr lang="en-US" sz="1100" b="1" dirty="0">
                          <a:solidFill>
                            <a:schemeClr val="tx1"/>
                          </a:solidFill>
                        </a:rPr>
                        <a:t>Repiqueteo en frío que desaparece al calentar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Holgura pistón-cilindro excesiva</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00" dirty="0">
                          <a:solidFill>
                            <a:schemeClr val="accent4"/>
                          </a:solidFill>
                        </a:rPr>
                        <a:t>Medición de holgura pistón-cilindro al desarmar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chemeClr val="tx1"/>
                          </a:solidFill>
                        </a:rPr>
                        <a:t>Aceite lechoso y refrigerante con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Empaque, fisura o intercambiador de aceite</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00" dirty="0">
                          <a:solidFill>
                            <a:schemeClr val="accent4"/>
                          </a:solidFill>
                        </a:rPr>
                        <a:t>Compresión y gases en el refrigerante; inspección del enfriador</a:t>
                      </a:r>
                      <a:endParaRPr lang="en-US" sz="110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43434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54914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5491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44348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patrón de la unidad: los síntomas de presión apuntan a lubricación, los de temperatura a refrigeración, y los de ruido a holguras mecánicas. Dentro de cada familia, la condición en que aparece el síntoma señala el elemento concreto.</a:t>
            </a:r>
            <a:endParaRPr lang="en-US" sz="1450" dirty="0"/>
          </a:p>
        </p:txBody>
      </p:sp>
      <p:sp>
        <p:nvSpPr>
          <p:cNvPr id="8" name="Shape 5"/>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El orden de trabajo. </a:t>
            </a:r>
            <a:pPr indent="0" marL="0">
              <a:lnSpc>
                <a:spcPct val="106000"/>
              </a:lnSpc>
              <a:buNone/>
            </a:pPr>
            <a:r>
              <a:rPr lang="en-US" sz="1150" dirty="0">
                <a:solidFill>
                  <a:schemeClr val="accent4"/>
                </a:solidFill>
              </a:rPr>
              <a:t>primero lo que no exige desarmar: niveles, aspecto de los fluidos, presión, temperatura, compresión y fugas; solo después se abre</a:t>
            </a:r>
            <a:endParaRPr lang="en-US" sz="1150" dirty="0"/>
          </a:p>
        </p:txBody>
      </p:sp>
      <p:sp>
        <p:nvSpPr>
          <p:cNvPr id="11" name="Shape 8"/>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gana. </a:t>
            </a:r>
            <a:pPr indent="0" marL="0">
              <a:lnSpc>
                <a:spcPct val="106000"/>
              </a:lnSpc>
              <a:buNone/>
            </a:pPr>
            <a:r>
              <a:rPr lang="en-US" sz="1150" dirty="0">
                <a:solidFill>
                  <a:schemeClr val="accent4"/>
                </a:solidFill>
              </a:rPr>
              <a:t>un presupuesto fundado y la seguridad de no abrir un motor que no hacía falta abrir, que es el error más caro del taller</a:t>
            </a:r>
            <a:endParaRPr lang="en-US" sz="1150" dirty="0"/>
          </a:p>
        </p:txBody>
      </p:sp>
      <p:sp>
        <p:nvSpPr>
          <p:cNvPr id="14" name="Shape 11"/>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Lo que se registra. </a:t>
            </a:r>
            <a:pPr indent="0" marL="0">
              <a:lnSpc>
                <a:spcPct val="106000"/>
              </a:lnSpc>
              <a:buNone/>
            </a:pPr>
            <a:r>
              <a:rPr lang="en-US" sz="1150" dirty="0">
                <a:solidFill>
                  <a:schemeClr val="accent4"/>
                </a:solidFill>
              </a:rPr>
              <a:t>hipótesis, prueba, resultado y conclusión; el caso queda documentado para quien lo retome y para el propio historial del vehículo</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Técnica declarada en el PEA: análisis de casos · cierre integrador de la unidad</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body" hasCustomPrompt="1"/>
          </p:nvPr>
        </p:nvSpPr>
        <p:spPr>
          <a:xfrm>
            <a:off x="2103120" y="2148840"/>
            <a:ext cx="9326880" cy="365760"/>
          </a:xfrm>
          <a:prstGeom prst="rect">
            <a:avLst/>
          </a:prstGeom>
          <a:noFill/>
          <a:ln/>
        </p:spPr>
        <p:txBody>
          <a:bodyPr wrap="square" lIns="0" tIns="0" rIns="0" bIns="0" rtlCol="0" anchor="ctr"/>
          <a:lstStyle/>
          <a:p>
            <a:pPr indent="0" marL="0">
              <a:buNone/>
            </a:pPr>
            <a:r>
              <a:rPr lang="en-US" sz="1500" b="1" spc="200" kern="0" dirty="0">
                <a:solidFill>
                  <a:schemeClr val="accent1"/>
                </a:solidFill>
              </a:rPr>
              <a:t>GUÍA DE PRÁCTICAS DE LA ASIGNATURA  ·  14 HORAS PRÁCTICO-EXPERIMENTALES</a:t>
            </a:r>
            <a:endParaRPr lang="en-US" sz="1500" dirty="0"/>
          </a:p>
        </p:txBody>
      </p:sp>
      <p:sp>
        <p:nvSpPr>
          <p:cNvPr id="3" name="Text 0"/>
          <p:cNvSpPr/>
          <p:nvPr>
            <p:ph idx="101" type="title" hasCustomPrompt="1"/>
          </p:nvPr>
        </p:nvSpPr>
        <p:spPr>
          <a:xfrm>
            <a:off x="2103120" y="2560320"/>
            <a:ext cx="9326880" cy="1371600"/>
          </a:xfrm>
          <a:prstGeom prst="rect">
            <a:avLst/>
          </a:prstGeom>
          <a:noFill/>
          <a:ln/>
        </p:spPr>
        <p:txBody>
          <a:bodyPr wrap="square" lIns="0" tIns="0" rIns="0" bIns="0" rtlCol="0" anchor="t"/>
          <a:lstStyle/>
          <a:p>
            <a:pPr indent="0" marL="0">
              <a:buNone/>
            </a:pPr>
            <a:r>
              <a:rPr lang="en-US" sz="4000" b="1" dirty="0">
                <a:solidFill>
                  <a:schemeClr val="bg1"/>
                </a:solidFill>
              </a:rPr>
              <a:t>Del aula al taller:</a:t>
            </a:r>
            <a:endParaRPr lang="en-US" sz="4000" dirty="0"/>
          </a:p>
          <a:p>
            <a:pPr indent="0" marL="0">
              <a:buNone/>
            </a:pPr>
            <a:r>
              <a:rPr lang="en-US" sz="4000" b="1" dirty="0">
                <a:solidFill>
                  <a:schemeClr val="bg1"/>
                </a:solidFill>
              </a:rPr>
              <a:t>bloque motor y tren alternativo</a:t>
            </a:r>
            <a:endParaRPr lang="en-US" sz="4000" dirty="0"/>
          </a:p>
        </p:txBody>
      </p:sp>
      <p:sp>
        <p:nvSpPr>
          <p:cNvPr id="4" name="Text 0"/>
          <p:cNvSpPr/>
          <p:nvPr>
            <p:ph idx="102" type="body" hasCustomPrompt="1"/>
          </p:nvPr>
        </p:nvSpPr>
        <p:spPr>
          <a:xfrm>
            <a:off x="2103120" y="3977640"/>
            <a:ext cx="8778240" cy="1188720"/>
          </a:xfrm>
          <a:prstGeom prst="rect">
            <a:avLst/>
          </a:prstGeom>
          <a:noFill/>
          <a:ln/>
        </p:spPr>
        <p:txBody>
          <a:bodyPr wrap="square" lIns="0" tIns="0" rIns="0" bIns="0" rtlCol="0" anchor="t"/>
          <a:lstStyle/>
          <a:p>
            <a:pPr indent="0" marL="0">
              <a:buNone/>
            </a:pPr>
            <a:r>
              <a:rPr lang="en-US" sz="1700" dirty="0">
                <a:solidFill>
                  <a:schemeClr val="accent5"/>
                </a:solidFill>
              </a:rPr>
              <a:t>Despiece · Comprobaciones · Decisiones · Armado con par y holguras · Puesta en marcha · Registro</a:t>
            </a:r>
            <a:endParaRPr lang="en-US" sz="17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Preparación, herramienta y seguridad</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utiles_medicion.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72. </a:t>
            </a:r>
            <a:pPr indent="0" marL="0">
              <a:lnSpc>
                <a:spcPct val="102000"/>
              </a:lnSpc>
              <a:buNone/>
            </a:pPr>
            <a:r>
              <a:rPr lang="en-US" sz="1000" dirty="0">
                <a:solidFill>
                  <a:schemeClr val="accent4"/>
                </a:solidFill>
              </a:rPr>
              <a:t>Útiles de medición de la práctica. Adaptado de Escudero, S., González, J., y Rivas, J. L. (2024). Cuaderno de prácticas: motores (1.ª ed.). Macmillan Iberia.</a:t>
            </a:r>
            <a:endParaRPr lang="en-US" sz="10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486400" y="1371600"/>
          <a:ext cx="6126480" cy="914400"/>
        </p:xfrm>
        <a:graphic>
          <a:graphicData uri="http://schemas.openxmlformats.org/drawingml/2006/table">
            <a:tbl>
              <a:tblPr/>
              <a:tblGrid>
                <a:gridCol w="2926080"/>
                <a:gridCol w="3200400"/>
              </a:tblGrid>
              <a:tr h="384048">
                <a:tc>
                  <a:txBody>
                    <a:bodyPr/>
                    <a:lstStyle/>
                    <a:p>
                      <a:pPr indent="0" marL="0">
                        <a:buNone/>
                      </a:pPr>
                      <a:r>
                        <a:rPr lang="en-US" sz="1300" b="1" dirty="0">
                          <a:solidFill>
                            <a:srgbClr val="FFFFFF"/>
                          </a:solidFill>
                        </a:rPr>
                        <a:t>Herramienta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Para qué</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84048">
                <a:tc>
                  <a:txBody>
                    <a:bodyPr/>
                    <a:lstStyle/>
                    <a:p>
                      <a:pPr indent="0" marL="0">
                        <a:buNone/>
                      </a:pPr>
                      <a:r>
                        <a:rPr lang="en-US" sz="1050" b="1" dirty="0">
                          <a:solidFill>
                            <a:schemeClr val="tx1"/>
                          </a:solidFill>
                        </a:rPr>
                        <a:t>Llave dinamométrica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Apriete de sombreretes de bancada y de biela al par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Micrómetros de exteriores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Muñones del cigüeñal, bulón y pistón</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050" b="1" dirty="0">
                          <a:solidFill>
                            <a:schemeClr val="tx1"/>
                          </a:solidFill>
                        </a:rPr>
                        <a:t>Alexómetro con comparador</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Cilindros y alojamientos de cojinete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Hilo calibrado de holgura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Medición de la holgura radial de cojinetes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050" b="1" dirty="0">
                          <a:solidFill>
                            <a:schemeClr val="tx1"/>
                          </a:solidFill>
                        </a:rPr>
                        <a:t>Comparador con base magnética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Rectitud del cigüeñal y holgura axial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Compresor de segmentos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Introducir el pistón en el cilindro sin romper aros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84048">
                <a:tc>
                  <a:txBody>
                    <a:bodyPr/>
                    <a:lstStyle/>
                    <a:p>
                      <a:pPr indent="0" marL="0">
                        <a:buNone/>
                      </a:pPr>
                      <a:r>
                        <a:rPr lang="en-US" sz="1050" b="1" dirty="0">
                          <a:solidFill>
                            <a:schemeClr val="tx1"/>
                          </a:solidFill>
                        </a:rPr>
                        <a:t>Galgas de espesores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050" dirty="0">
                          <a:solidFill>
                            <a:schemeClr val="accent4"/>
                          </a:solidFill>
                        </a:rPr>
                        <a:t>Holgura de segmento en ranura y abertura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chemeClr val="tx1"/>
                          </a:solidFill>
                        </a:rPr>
                        <a:t>Bandejas compartimentadas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050" dirty="0">
                          <a:solidFill>
                            <a:schemeClr val="accent4"/>
                          </a:solidFill>
                        </a:rPr>
                        <a:t>Una casilla por cilindro y por apoyo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7" name="Shape 3"/>
          <p:cNvSpPr/>
          <p:nvPr/>
        </p:nvSpPr>
        <p:spPr>
          <a:xfrm>
            <a:off x="548640" y="4251960"/>
            <a:ext cx="11064240" cy="777240"/>
          </a:xfrm>
          <a:prstGeom prst="roundRect">
            <a:avLst>
              <a:gd name="adj" fmla="val 7059"/>
            </a:avLst>
          </a:prstGeom>
          <a:solidFill>
            <a:schemeClr val="bg2"/>
          </a:solidFill>
          <a:ln w="12700">
            <a:solidFill>
              <a:schemeClr val="bg2"/>
            </a:solidFill>
            <a:prstDash val="solid"/>
          </a:ln>
        </p:spPr>
        <p:txBody>
          <a:bodyPr/>
          <a:p/>
        </p:txBody>
      </p:sp>
      <p:sp>
        <p:nvSpPr>
          <p:cNvPr id="8" name="Shape 4"/>
          <p:cNvSpPr/>
          <p:nvPr/>
        </p:nvSpPr>
        <p:spPr>
          <a:xfrm>
            <a:off x="786384" y="4457700"/>
            <a:ext cx="365760" cy="365760"/>
          </a:xfrm>
          <a:prstGeom prst="ellipse">
            <a:avLst/>
          </a:prstGeom>
          <a:solidFill>
            <a:schemeClr val="accent1"/>
          </a:solidFill>
          <a:ln w="12700">
            <a:solidFill>
              <a:schemeClr val="accent1"/>
            </a:solidFill>
            <a:prstDash val="solid"/>
          </a:ln>
        </p:spPr>
        <p:txBody>
          <a:bodyPr/>
          <a:p/>
        </p:txBody>
      </p:sp>
      <p:sp>
        <p:nvSpPr>
          <p:cNvPr id="9" name="Text 5"/>
          <p:cNvSpPr txBox="1"/>
          <p:nvPr/>
        </p:nvSpPr>
        <p:spPr>
          <a:xfrm>
            <a:off x="786384" y="4457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0" name="Text 6"/>
          <p:cNvSpPr txBox="1"/>
          <p:nvPr/>
        </p:nvSpPr>
        <p:spPr>
          <a:xfrm>
            <a:off x="1298448" y="43434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Dos herramientas deciden si esta práctica se puede hacer: la llave dinamométrica y el compresor de segmentos. Sin la primera, el armado no es verificable; sin la segunda, los segmentos se rompen al introducir el pistón.</a:t>
            </a:r>
            <a:endParaRPr lang="en-US" sz="1450" dirty="0"/>
          </a:p>
        </p:txBody>
      </p:sp>
      <p:sp>
        <p:nvSpPr>
          <p:cNvPr id="11" name="Shape 7"/>
          <p:cNvSpPr/>
          <p:nvPr/>
        </p:nvSpPr>
        <p:spPr>
          <a:xfrm>
            <a:off x="548640" y="5047488"/>
            <a:ext cx="384048" cy="384048"/>
          </a:xfrm>
          <a:prstGeom prst="ellipse">
            <a:avLst/>
          </a:prstGeom>
          <a:solidFill>
            <a:schemeClr val="accent2"/>
          </a:solidFill>
          <a:ln w="12700">
            <a:solidFill>
              <a:schemeClr val="accent2"/>
            </a:solidFill>
            <a:prstDash val="solid"/>
          </a:ln>
        </p:spPr>
        <p:txBody>
          <a:bodyPr/>
          <a:p/>
        </p:txBody>
      </p:sp>
      <p:sp>
        <p:nvSpPr>
          <p:cNvPr id="12" name="Text 8"/>
          <p:cNvSpPr txBox="1"/>
          <p:nvPr/>
        </p:nvSpPr>
        <p:spPr>
          <a:xfrm>
            <a:off x="548640"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9"/>
          <p:cNvSpPr txBox="1"/>
          <p:nvPr/>
        </p:nvSpPr>
        <p:spPr>
          <a:xfrm>
            <a:off x="1078992" y="5010912"/>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1 — peso. </a:t>
            </a:r>
            <a:pPr indent="0" marL="0">
              <a:lnSpc>
                <a:spcPct val="106000"/>
              </a:lnSpc>
              <a:buNone/>
            </a:pPr>
            <a:r>
              <a:rPr lang="en-US" sz="1150" dirty="0">
                <a:solidFill>
                  <a:schemeClr val="accent4"/>
                </a:solidFill>
              </a:rPr>
              <a:t>bloque y cigüeñal se manipulan entre varias personas o con medios mecánicos, con el apoyo de destino ya preparado</a:t>
            </a:r>
            <a:endParaRPr lang="en-US" sz="1150" dirty="0"/>
          </a:p>
        </p:txBody>
      </p:sp>
      <p:sp>
        <p:nvSpPr>
          <p:cNvPr id="14" name="Shape 10"/>
          <p:cNvSpPr/>
          <p:nvPr/>
        </p:nvSpPr>
        <p:spPr>
          <a:xfrm>
            <a:off x="548640" y="5358384"/>
            <a:ext cx="384048" cy="384048"/>
          </a:xfrm>
          <a:prstGeom prst="ellipse">
            <a:avLst/>
          </a:prstGeom>
          <a:solidFill>
            <a:schemeClr val="accent2"/>
          </a:solidFill>
          <a:ln w="12700">
            <a:solidFill>
              <a:schemeClr val="accent2"/>
            </a:solidFill>
            <a:prstDash val="solid"/>
          </a:ln>
        </p:spPr>
        <p:txBody>
          <a:bodyPr/>
          <a:p/>
        </p:txBody>
      </p:sp>
      <p:sp>
        <p:nvSpPr>
          <p:cNvPr id="15" name="Text 11"/>
          <p:cNvSpPr txBox="1"/>
          <p:nvPr/>
        </p:nvSpPr>
        <p:spPr>
          <a:xfrm>
            <a:off x="548640" y="5358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2"/>
          <p:cNvSpPr txBox="1"/>
          <p:nvPr/>
        </p:nvSpPr>
        <p:spPr>
          <a:xfrm>
            <a:off x="1078992" y="5321808"/>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Seguridad 2 — fluidos. </a:t>
            </a:r>
            <a:pPr indent="0" marL="0">
              <a:lnSpc>
                <a:spcPct val="106000"/>
              </a:lnSpc>
              <a:buNone/>
            </a:pPr>
            <a:r>
              <a:rPr lang="en-US" sz="1150" dirty="0">
                <a:solidFill>
                  <a:schemeClr val="accent4"/>
                </a:solidFill>
              </a:rPr>
              <a:t>aceite y refrigerante se recogen en recipientes identificados; el suelo se mantiene seco y se usa absorbente ante cualquier derrame</a:t>
            </a:r>
            <a:endParaRPr lang="en-US" sz="1150" dirty="0"/>
          </a:p>
        </p:txBody>
      </p:sp>
      <p:sp>
        <p:nvSpPr>
          <p:cNvPr id="17" name="Shape 13"/>
          <p:cNvSpPr/>
          <p:nvPr/>
        </p:nvSpPr>
        <p:spPr>
          <a:xfrm>
            <a:off x="548640" y="5669280"/>
            <a:ext cx="384048" cy="384048"/>
          </a:xfrm>
          <a:prstGeom prst="ellipse">
            <a:avLst/>
          </a:prstGeom>
          <a:solidFill>
            <a:schemeClr val="accent2"/>
          </a:solidFill>
          <a:ln w="12700">
            <a:solidFill>
              <a:schemeClr val="accent2"/>
            </a:solidFill>
            <a:prstDash val="solid"/>
          </a:ln>
        </p:spPr>
        <p:txBody>
          <a:bodyPr/>
          <a:p/>
        </p:txBody>
      </p:sp>
      <p:sp>
        <p:nvSpPr>
          <p:cNvPr id="18" name="Text 14"/>
          <p:cNvSpPr txBox="1"/>
          <p:nvPr/>
        </p:nvSpPr>
        <p:spPr>
          <a:xfrm>
            <a:off x="548640" y="5669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5"/>
          <p:cNvSpPr txBox="1"/>
          <p:nvPr/>
        </p:nvSpPr>
        <p:spPr>
          <a:xfrm>
            <a:off x="1078992" y="5632704"/>
            <a:ext cx="10533888" cy="256032"/>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Antes de empezar. </a:t>
            </a:r>
            <a:pPr indent="0" marL="0">
              <a:lnSpc>
                <a:spcPct val="106000"/>
              </a:lnSpc>
              <a:buNone/>
            </a:pPr>
            <a:r>
              <a:rPr lang="en-US" sz="1150" dirty="0">
                <a:solidFill>
                  <a:schemeClr val="accent4"/>
                </a:solidFill>
              </a:rPr>
              <a:t>consultar en Autodata holguras de cojinetes, pares y secuencias de apriete, sobremedidas disponibles y capacidades de los fluidos</a:t>
            </a:r>
            <a:endParaRPr lang="en-US" sz="1150" dirty="0"/>
          </a:p>
        </p:txBody>
      </p:sp>
      <p:sp>
        <p:nvSpPr>
          <p:cNvPr id="20" name="Text 1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recursos: Autodata · seguridad industrial</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despiece del bloque y del tren alternativo</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prensa.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73. </a:t>
            </a:r>
            <a:pPr indent="0" marL="0">
              <a:lnSpc>
                <a:spcPct val="102000"/>
              </a:lnSpc>
              <a:buNone/>
            </a:pPr>
            <a:r>
              <a:rPr lang="en-US" sz="1000" dirty="0">
                <a:solidFill>
                  <a:schemeClr val="accent4"/>
                </a:solidFill>
              </a:rPr>
              <a:t>Extracción del conjunto biela-pistón con los útiles adecuados. Adaptado de Escudero, S., González, J., y Rivas, J. L. (2024). Cuaderno de prácticas: motores (1.ª ed.). Macmillan Iberia.</a:t>
            </a:r>
            <a:endParaRPr lang="en-US" sz="1000" dirty="0"/>
          </a:p>
        </p:txBody>
      </p:sp>
      <p:sp>
        <p:nvSpPr>
          <p:cNvPr id="6" name="Shape 3"/>
          <p:cNvSpPr/>
          <p:nvPr/>
        </p:nvSpPr>
        <p:spPr>
          <a:xfrm>
            <a:off x="54864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4864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016752" y="1463040"/>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1 — Vaciar los fluidos. </a:t>
            </a:r>
            <a:pPr indent="0" marL="0">
              <a:lnSpc>
                <a:spcPct val="106000"/>
              </a:lnSpc>
              <a:buNone/>
            </a:pPr>
            <a:r>
              <a:rPr lang="en-US" sz="1050" dirty="0">
                <a:solidFill>
                  <a:schemeClr val="accent4"/>
                </a:solidFill>
              </a:rPr>
              <a:t>aceite y refrigerante a recipientes identificados; registrar la cantidad y el aspecto de cada uno antes de desecharlos</a:t>
            </a:r>
            <a:endParaRPr lang="en-US" sz="1050" dirty="0"/>
          </a:p>
        </p:txBody>
      </p:sp>
      <p:sp>
        <p:nvSpPr>
          <p:cNvPr id="9" name="Shape 6"/>
          <p:cNvSpPr/>
          <p:nvPr/>
        </p:nvSpPr>
        <p:spPr>
          <a:xfrm>
            <a:off x="548640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48640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016752" y="1975104"/>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2 — Documentar e identificar. </a:t>
            </a:r>
            <a:pPr indent="0" marL="0">
              <a:lnSpc>
                <a:spcPct val="106000"/>
              </a:lnSpc>
              <a:buNone/>
            </a:pPr>
            <a:r>
              <a:rPr lang="en-US" sz="1050" dirty="0">
                <a:solidFill>
                  <a:schemeClr val="accent4"/>
                </a:solidFill>
              </a:rPr>
              <a:t>fotografiar el conjunto; comprobar numeración de bielas, sombreretes y apoyos, y marcar lo que no venga marcado</a:t>
            </a:r>
            <a:endParaRPr lang="en-US" sz="1050" dirty="0"/>
          </a:p>
        </p:txBody>
      </p:sp>
      <p:sp>
        <p:nvSpPr>
          <p:cNvPr id="12" name="Shape 9"/>
          <p:cNvSpPr/>
          <p:nvPr/>
        </p:nvSpPr>
        <p:spPr>
          <a:xfrm>
            <a:off x="548640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016752" y="2487168"/>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3 — Retirar cárter y bomba. </a:t>
            </a:r>
            <a:pPr indent="0" marL="0">
              <a:lnSpc>
                <a:spcPct val="106000"/>
              </a:lnSpc>
              <a:buNone/>
            </a:pPr>
            <a:r>
              <a:rPr lang="en-US" sz="1050" dirty="0">
                <a:solidFill>
                  <a:schemeClr val="accent4"/>
                </a:solidFill>
              </a:rPr>
              <a:t>inspeccionar el tamiz de aspiración y el fondo del cárter: lo que haya ahí cuenta la historia del motor</a:t>
            </a:r>
            <a:endParaRPr lang="en-US" sz="1050" dirty="0"/>
          </a:p>
        </p:txBody>
      </p:sp>
      <p:sp>
        <p:nvSpPr>
          <p:cNvPr id="15" name="Shape 12"/>
          <p:cNvSpPr/>
          <p:nvPr/>
        </p:nvSpPr>
        <p:spPr>
          <a:xfrm>
            <a:off x="548640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016752" y="2999232"/>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4 — Sacar los conjuntos pistón-biela. </a:t>
            </a:r>
            <a:pPr indent="0" marL="0">
              <a:lnSpc>
                <a:spcPct val="106000"/>
              </a:lnSpc>
              <a:buNone/>
            </a:pPr>
            <a:r>
              <a:rPr lang="en-US" sz="1050" dirty="0">
                <a:solidFill>
                  <a:schemeClr val="accent4"/>
                </a:solidFill>
              </a:rPr>
              <a:t>rebajando antes el escalón del cilindro si lo hay, y protegiendo las muñequillas al extraer</a:t>
            </a:r>
            <a:endParaRPr lang="en-US" sz="1050" dirty="0"/>
          </a:p>
        </p:txBody>
      </p:sp>
      <p:sp>
        <p:nvSpPr>
          <p:cNvPr id="18" name="Shape 15"/>
          <p:cNvSpPr/>
          <p:nvPr/>
        </p:nvSpPr>
        <p:spPr>
          <a:xfrm>
            <a:off x="548640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016752" y="3511296"/>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5 — Retirar el cigüeñal. </a:t>
            </a:r>
            <a:pPr indent="0" marL="0">
              <a:lnSpc>
                <a:spcPct val="106000"/>
              </a:lnSpc>
              <a:buNone/>
            </a:pPr>
            <a:r>
              <a:rPr lang="en-US" sz="1050" dirty="0">
                <a:solidFill>
                  <a:schemeClr val="accent4"/>
                </a:solidFill>
              </a:rPr>
              <a:t>sombreretes de bancada en orden cruzado y por pasos; levantar con apoyo y dejarlo sobre soporte preparado</a:t>
            </a:r>
            <a:endParaRPr lang="en-US" sz="1050" dirty="0"/>
          </a:p>
        </p:txBody>
      </p:sp>
      <p:sp>
        <p:nvSpPr>
          <p:cNvPr id="21" name="Shape 18"/>
          <p:cNvSpPr/>
          <p:nvPr/>
        </p:nvSpPr>
        <p:spPr>
          <a:xfrm>
            <a:off x="5486400" y="40599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48640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6016752" y="4023360"/>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6 — Inventariar y limpiar. </a:t>
            </a:r>
            <a:pPr indent="0" marL="0">
              <a:lnSpc>
                <a:spcPct val="106000"/>
              </a:lnSpc>
              <a:buNone/>
            </a:pPr>
            <a:r>
              <a:rPr lang="en-US" sz="1050" dirty="0">
                <a:solidFill>
                  <a:schemeClr val="accent4"/>
                </a:solidFill>
              </a:rPr>
              <a:t>cada pieza identificada en su casilla; limpieza del bloque y soplado de todos los conductos</a:t>
            </a:r>
            <a:endParaRPr lang="en-US" sz="1050" dirty="0"/>
          </a:p>
        </p:txBody>
      </p:sp>
      <p:sp>
        <p:nvSpPr>
          <p:cNvPr id="24" name="Shape 21"/>
          <p:cNvSpPr/>
          <p:nvPr/>
        </p:nvSpPr>
        <p:spPr>
          <a:xfrm>
            <a:off x="548640" y="411480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86384" y="432054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43205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4206240"/>
            <a:ext cx="10058400" cy="594360"/>
          </a:xfrm>
          <a:prstGeom prst="rect">
            <a:avLst/>
          </a:prstGeom>
          <a:noFill/>
          <a:ln/>
        </p:spPr>
        <p:txBody>
          <a:bodyPr wrap="square" lIns="0" tIns="0" rIns="0" bIns="0" rtlCol="0" anchor="ctr"/>
          <a:lstStyle/>
          <a:p>
            <a:pPr indent="0" marL="0">
              <a:lnSpc>
                <a:spcPct val="106000"/>
              </a:lnSpc>
              <a:buNone/>
            </a:pPr>
            <a:r>
              <a:rPr lang="en-US" sz="1250" dirty="0">
                <a:solidFill>
                  <a:schemeClr val="tx1"/>
                </a:solidFill>
              </a:rPr>
              <a:t>El paso 3 es una oportunidad de diagnóstico que se desaprovecha casi siempre: el fondo del cárter y el tamiz conservan las partículas que el motor ha ido soltando. Virutas de bronce apuntan a cojinetes; de aluminio, a pistones; lodos, a mantenimiento tardío.</a:t>
            </a:r>
            <a:endParaRPr lang="en-US" sz="1250" dirty="0"/>
          </a:p>
        </p:txBody>
      </p:sp>
      <p:sp>
        <p:nvSpPr>
          <p:cNvPr id="28" name="Text 25"/>
          <p:cNvSpPr txBox="1"/>
          <p:nvPr/>
        </p:nvSpPr>
        <p:spPr>
          <a:xfrm>
            <a:off x="548640" y="4983480"/>
            <a:ext cx="1106424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Registro de la fase:  cantidad y aspecto de los fluidos vaciados, contenido del cárter y del tamiz, y fotografías del conjunto antes y durante el despiece.</a:t>
            </a:r>
            <a:endParaRPr lang="en-US" sz="1200" dirty="0"/>
          </a:p>
        </p:txBody>
      </p:sp>
      <p:sp>
        <p:nvSpPr>
          <p:cNvPr id="29"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de la Unidad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comprobaciones del cigüeñal</a:t>
            </a:r>
            <a:endParaRPr lang="en-US" sz="3200" dirty="0"/>
          </a:p>
        </p:txBody>
      </p:sp>
      <p:sp>
        <p:nvSpPr>
          <p:cNvPr id="3" name="marco_figura"/>
          <p:cNvSpPr/>
          <p:nvPr/>
        </p:nvSpPr>
        <p:spPr>
          <a:xfrm>
            <a:off x="548640" y="1371600"/>
            <a:ext cx="3657600" cy="2852928"/>
          </a:xfrm>
          <a:prstGeom prst="roundRect">
            <a:avLst>
              <a:gd name="adj" fmla="val 1923"/>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muñequilla.jpg">    </p:cNvPr>
          <p:cNvPicPr>
            <a:picLocks noChangeAspect="1"/>
          </p:cNvPicPr>
          <p:nvPr/>
        </p:nvPicPr>
        <p:blipFill>
          <a:blip r:embed="rId1"/>
          <a:srcRect l="0" r="0" t="0" b="0"/>
          <a:stretch/>
        </p:blipFill>
        <p:spPr>
          <a:xfrm>
            <a:off x="658368" y="1481328"/>
            <a:ext cx="3438144" cy="2249424"/>
          </a:xfrm>
          <a:prstGeom prst="rect">
            <a:avLst/>
          </a:prstGeom>
        </p:spPr>
      </p:pic>
      <p:sp>
        <p:nvSpPr>
          <p:cNvPr id="5" name="Text 2"/>
          <p:cNvSpPr txBox="1"/>
          <p:nvPr/>
        </p:nvSpPr>
        <p:spPr>
          <a:xfrm>
            <a:off x="658368" y="3840480"/>
            <a:ext cx="34381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74. </a:t>
            </a:r>
            <a:pPr indent="0" marL="0">
              <a:lnSpc>
                <a:spcPct val="102000"/>
              </a:lnSpc>
              <a:buNone/>
            </a:pPr>
            <a:r>
              <a:rPr lang="en-US" sz="1000" dirty="0">
                <a:solidFill>
                  <a:schemeClr val="accent4"/>
                </a:solidFill>
              </a:rPr>
              <a:t>Medición del diámetro de muñequilla con micrómetro. Adaptado de Escudero, S., González, J., y Rivas, J. L. (2024). Cuaderno de prácticas: motores (1.ª ed.). Macmillan Iberia.</a:t>
            </a:r>
            <a:endParaRPr lang="en-US" sz="1000" dirty="0"/>
          </a:p>
        </p:txBody>
      </p:sp>
      <p:sp>
        <p:nvSpPr>
          <p:cNvPr id="6" name="marco_figura"/>
          <p:cNvSpPr/>
          <p:nvPr/>
        </p:nvSpPr>
        <p:spPr>
          <a:xfrm>
            <a:off x="4480560" y="1371600"/>
            <a:ext cx="3474720" cy="2852928"/>
          </a:xfrm>
          <a:prstGeom prst="roundRect">
            <a:avLst>
              <a:gd name="adj" fmla="val 1923"/>
            </a:avLst>
          </a:prstGeom>
          <a:solidFill>
            <a:schemeClr val="bg2"/>
          </a:solidFill>
          <a:ln w="12700">
            <a:solidFill>
              <a:schemeClr val="bg2"/>
            </a:solidFill>
            <a:prstDash val="solid"/>
          </a:ln>
        </p:spPr>
        <p:txBody>
          <a:bodyPr/>
          <a:p/>
        </p:txBody>
      </p:sp>
      <p:pic>
        <p:nvPicPr>
          <p:cNvPr id="7" name="figura" descr="/tmp/claude-0/-home-claude/ae7ea666-008e-5687-a756-06b9100bd0c6/scratchpad/sfm/u4/media/cu_cig_comparador.jpg">    </p:cNvPr>
          <p:cNvPicPr>
            <a:picLocks noChangeAspect="1"/>
          </p:cNvPicPr>
          <p:nvPr/>
        </p:nvPicPr>
        <p:blipFill>
          <a:blip r:embed="rId2"/>
          <a:srcRect l="0" r="0" t="0" b="0"/>
          <a:stretch/>
        </p:blipFill>
        <p:spPr>
          <a:xfrm>
            <a:off x="4590288" y="1481328"/>
            <a:ext cx="3255264" cy="2249424"/>
          </a:xfrm>
          <a:prstGeom prst="rect">
            <a:avLst/>
          </a:prstGeom>
        </p:spPr>
      </p:pic>
      <p:sp>
        <p:nvSpPr>
          <p:cNvPr id="8" name="Text 4"/>
          <p:cNvSpPr txBox="1"/>
          <p:nvPr/>
        </p:nvSpPr>
        <p:spPr>
          <a:xfrm>
            <a:off x="4590288" y="3840480"/>
            <a:ext cx="325526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75. </a:t>
            </a:r>
            <a:pPr indent="0" marL="0">
              <a:lnSpc>
                <a:spcPct val="102000"/>
              </a:lnSpc>
              <a:buNone/>
            </a:pPr>
            <a:r>
              <a:rPr lang="en-US" sz="1000" dirty="0">
                <a:solidFill>
                  <a:schemeClr val="accent4"/>
                </a:solidFill>
              </a:rPr>
              <a:t>Comprobación de rectitud con comparador. Adaptado de Escudero, S., González, J., y Rivas, J. L. (2024). Cuaderno de prácticas: motores (1.ª ed.). Macmillan Iberia.</a:t>
            </a:r>
            <a:endParaRPr lang="en-US" sz="1000" dirty="0"/>
          </a:p>
        </p:txBody>
      </p:sp>
      <p:sp>
        <p:nvSpPr>
          <p:cNvPr id="9" name="marco_figura"/>
          <p:cNvSpPr/>
          <p:nvPr/>
        </p:nvSpPr>
        <p:spPr>
          <a:xfrm>
            <a:off x="8229600" y="1371600"/>
            <a:ext cx="3383280" cy="2852928"/>
          </a:xfrm>
          <a:prstGeom prst="roundRect">
            <a:avLst>
              <a:gd name="adj" fmla="val 1923"/>
            </a:avLst>
          </a:prstGeom>
          <a:solidFill>
            <a:schemeClr val="bg2"/>
          </a:solidFill>
          <a:ln w="12700">
            <a:solidFill>
              <a:schemeClr val="bg2"/>
            </a:solidFill>
            <a:prstDash val="solid"/>
          </a:ln>
        </p:spPr>
        <p:txBody>
          <a:bodyPr/>
          <a:p/>
        </p:txBody>
      </p:sp>
      <p:pic>
        <p:nvPicPr>
          <p:cNvPr id="10" name="figura" descr="/tmp/claude-0/-home-claude/ae7ea666-008e-5687-a756-06b9100bd0c6/scratchpad/sfm/u4/media/cu_cig_apoyo.jpg">    </p:cNvPr>
          <p:cNvPicPr>
            <a:picLocks noChangeAspect="1"/>
          </p:cNvPicPr>
          <p:nvPr/>
        </p:nvPicPr>
        <p:blipFill>
          <a:blip r:embed="rId3"/>
          <a:srcRect l="0" r="0" t="0" b="0"/>
          <a:stretch/>
        </p:blipFill>
        <p:spPr>
          <a:xfrm>
            <a:off x="8339328" y="1481328"/>
            <a:ext cx="3163824" cy="2249424"/>
          </a:xfrm>
          <a:prstGeom prst="rect">
            <a:avLst/>
          </a:prstGeom>
        </p:spPr>
      </p:pic>
      <p:sp>
        <p:nvSpPr>
          <p:cNvPr id="11" name="Text 6"/>
          <p:cNvSpPr txBox="1"/>
          <p:nvPr/>
        </p:nvSpPr>
        <p:spPr>
          <a:xfrm>
            <a:off x="8339328" y="3840480"/>
            <a:ext cx="316382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76. </a:t>
            </a:r>
            <a:pPr indent="0" marL="0">
              <a:lnSpc>
                <a:spcPct val="102000"/>
              </a:lnSpc>
              <a:buNone/>
            </a:pPr>
            <a:r>
              <a:rPr lang="en-US" sz="1000" dirty="0">
                <a:solidFill>
                  <a:schemeClr val="accent4"/>
                </a:solidFill>
              </a:rPr>
              <a:t>Verificación de un apoyo con regla de precisión. Adaptado de Escudero, S., González, J., y Rivas, J. L. (2024). Cuaderno de prácticas: motores (1.ª ed.). Macmillan Iberia.</a:t>
            </a:r>
            <a:endParaRPr lang="en-US" sz="1000" dirty="0"/>
          </a:p>
        </p:txBody>
      </p:sp>
      <p:sp>
        <p:nvSpPr>
          <p:cNvPr id="12" name="Shape 7"/>
          <p:cNvSpPr/>
          <p:nvPr/>
        </p:nvSpPr>
        <p:spPr>
          <a:xfrm>
            <a:off x="548640" y="4197096"/>
            <a:ext cx="384048" cy="384048"/>
          </a:xfrm>
          <a:prstGeom prst="ellipse">
            <a:avLst/>
          </a:prstGeom>
          <a:solidFill>
            <a:schemeClr val="accent2"/>
          </a:solidFill>
          <a:ln w="12700">
            <a:solidFill>
              <a:schemeClr val="accent2"/>
            </a:solidFill>
            <a:prstDash val="solid"/>
          </a:ln>
        </p:spPr>
        <p:txBody>
          <a:bodyPr/>
          <a:p/>
        </p:txBody>
      </p:sp>
      <p:sp>
        <p:nvSpPr>
          <p:cNvPr id="13" name="Text 8"/>
          <p:cNvSpPr txBox="1"/>
          <p:nvPr/>
        </p:nvSpPr>
        <p:spPr>
          <a:xfrm>
            <a:off x="548640" y="4197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9"/>
          <p:cNvSpPr txBox="1"/>
          <p:nvPr/>
        </p:nvSpPr>
        <p:spPr>
          <a:xfrm>
            <a:off x="1078992" y="4160520"/>
            <a:ext cx="10533888" cy="29260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1 — Limpiar y soplar los conductos. </a:t>
            </a:r>
            <a:pPr indent="0" marL="0">
              <a:lnSpc>
                <a:spcPct val="106000"/>
              </a:lnSpc>
              <a:buNone/>
            </a:pPr>
            <a:r>
              <a:rPr lang="en-US" sz="1150" dirty="0">
                <a:solidFill>
                  <a:schemeClr val="accent4"/>
                </a:solidFill>
              </a:rPr>
              <a:t>antes de medir nada; además de preparar la pieza, confirma que los conductos de aceite están libres</a:t>
            </a:r>
            <a:endParaRPr lang="en-US" sz="1150" dirty="0"/>
          </a:p>
        </p:txBody>
      </p:sp>
      <p:sp>
        <p:nvSpPr>
          <p:cNvPr id="15" name="Shape 10"/>
          <p:cNvSpPr/>
          <p:nvPr/>
        </p:nvSpPr>
        <p:spPr>
          <a:xfrm>
            <a:off x="548640" y="4544568"/>
            <a:ext cx="384048" cy="384048"/>
          </a:xfrm>
          <a:prstGeom prst="ellipse">
            <a:avLst/>
          </a:prstGeom>
          <a:solidFill>
            <a:schemeClr val="accent2"/>
          </a:solidFill>
          <a:ln w="12700">
            <a:solidFill>
              <a:schemeClr val="accent2"/>
            </a:solidFill>
            <a:prstDash val="solid"/>
          </a:ln>
        </p:spPr>
        <p:txBody>
          <a:bodyPr/>
          <a:p/>
        </p:txBody>
      </p:sp>
      <p:sp>
        <p:nvSpPr>
          <p:cNvPr id="16" name="Text 11"/>
          <p:cNvSpPr txBox="1"/>
          <p:nvPr/>
        </p:nvSpPr>
        <p:spPr>
          <a:xfrm>
            <a:off x="54864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2"/>
          <p:cNvSpPr txBox="1"/>
          <p:nvPr/>
        </p:nvSpPr>
        <p:spPr>
          <a:xfrm>
            <a:off x="1078992" y="4507992"/>
            <a:ext cx="10533888" cy="29260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2 — Medir cada muñón. </a:t>
            </a:r>
            <a:pPr indent="0" marL="0">
              <a:lnSpc>
                <a:spcPct val="106000"/>
              </a:lnSpc>
              <a:buNone/>
            </a:pPr>
            <a:r>
              <a:rPr lang="en-US" sz="1150" dirty="0">
                <a:solidFill>
                  <a:schemeClr val="accent4"/>
                </a:solidFill>
              </a:rPr>
              <a:t>micrómetro en dos direcciones perpendiculares y en dos posiciones a lo largo del muñón, anotando las cuatro lecturas</a:t>
            </a:r>
            <a:endParaRPr lang="en-US" sz="1150" dirty="0"/>
          </a:p>
        </p:txBody>
      </p:sp>
      <p:sp>
        <p:nvSpPr>
          <p:cNvPr id="18" name="Shape 13"/>
          <p:cNvSpPr/>
          <p:nvPr/>
        </p:nvSpPr>
        <p:spPr>
          <a:xfrm>
            <a:off x="548640" y="4892040"/>
            <a:ext cx="384048" cy="384048"/>
          </a:xfrm>
          <a:prstGeom prst="ellipse">
            <a:avLst/>
          </a:prstGeom>
          <a:solidFill>
            <a:schemeClr val="accent2"/>
          </a:solidFill>
          <a:ln w="12700">
            <a:solidFill>
              <a:schemeClr val="accent2"/>
            </a:solidFill>
            <a:prstDash val="solid"/>
          </a:ln>
        </p:spPr>
        <p:txBody>
          <a:bodyPr/>
          <a:p/>
        </p:txBody>
      </p:sp>
      <p:sp>
        <p:nvSpPr>
          <p:cNvPr id="19" name="Text 14"/>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5"/>
          <p:cNvSpPr txBox="1"/>
          <p:nvPr/>
        </p:nvSpPr>
        <p:spPr>
          <a:xfrm>
            <a:off x="1078992" y="4855464"/>
            <a:ext cx="10533888" cy="29260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3 — Calcular ovalización y conicidad. </a:t>
            </a:r>
            <a:pPr indent="0" marL="0">
              <a:lnSpc>
                <a:spcPct val="106000"/>
              </a:lnSpc>
              <a:buNone/>
            </a:pPr>
            <a:r>
              <a:rPr lang="en-US" sz="1150" dirty="0">
                <a:solidFill>
                  <a:schemeClr val="accent4"/>
                </a:solidFill>
              </a:rPr>
              <a:t>diferencia entre direcciones a igual posición, y entre posiciones en igual dirección; comparar con el manual</a:t>
            </a:r>
            <a:endParaRPr lang="en-US" sz="1150" dirty="0"/>
          </a:p>
        </p:txBody>
      </p:sp>
      <p:sp>
        <p:nvSpPr>
          <p:cNvPr id="21" name="Shape 16"/>
          <p:cNvSpPr/>
          <p:nvPr/>
        </p:nvSpPr>
        <p:spPr>
          <a:xfrm>
            <a:off x="548640" y="5239512"/>
            <a:ext cx="384048" cy="384048"/>
          </a:xfrm>
          <a:prstGeom prst="ellipse">
            <a:avLst/>
          </a:prstGeom>
          <a:solidFill>
            <a:schemeClr val="accent2"/>
          </a:solidFill>
          <a:ln w="12700">
            <a:solidFill>
              <a:schemeClr val="accent2"/>
            </a:solidFill>
            <a:prstDash val="solid"/>
          </a:ln>
        </p:spPr>
        <p:txBody>
          <a:bodyPr/>
          <a:p/>
        </p:txBody>
      </p:sp>
      <p:sp>
        <p:nvSpPr>
          <p:cNvPr id="22" name="Text 17"/>
          <p:cNvSpPr txBox="1"/>
          <p:nvPr/>
        </p:nvSpPr>
        <p:spPr>
          <a:xfrm>
            <a:off x="548640" y="5239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18"/>
          <p:cNvSpPr txBox="1"/>
          <p:nvPr/>
        </p:nvSpPr>
        <p:spPr>
          <a:xfrm>
            <a:off x="1078992" y="5202936"/>
            <a:ext cx="10533888" cy="29260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4 — Comprobar la rectitud. </a:t>
            </a:r>
            <a:pPr indent="0" marL="0">
              <a:lnSpc>
                <a:spcPct val="106000"/>
              </a:lnSpc>
              <a:buNone/>
            </a:pPr>
            <a:r>
              <a:rPr lang="en-US" sz="1150" dirty="0">
                <a:solidFill>
                  <a:schemeClr val="accent4"/>
                </a:solidFill>
              </a:rPr>
              <a:t>apoyado en sus extremos, comparador en el apoyo central, girando una vuelta completa y anotando la lectura máxima</a:t>
            </a:r>
            <a:endParaRPr lang="en-US" sz="1150" dirty="0"/>
          </a:p>
        </p:txBody>
      </p:sp>
      <p:sp>
        <p:nvSpPr>
          <p:cNvPr id="24" name="Shape 19"/>
          <p:cNvSpPr/>
          <p:nvPr/>
        </p:nvSpPr>
        <p:spPr>
          <a:xfrm>
            <a:off x="548640" y="5586984"/>
            <a:ext cx="384048" cy="384048"/>
          </a:xfrm>
          <a:prstGeom prst="ellipse">
            <a:avLst/>
          </a:prstGeom>
          <a:solidFill>
            <a:schemeClr val="accent2"/>
          </a:solidFill>
          <a:ln w="12700">
            <a:solidFill>
              <a:schemeClr val="accent2"/>
            </a:solidFill>
            <a:prstDash val="solid"/>
          </a:ln>
        </p:spPr>
        <p:txBody>
          <a:bodyPr/>
          <a:p/>
        </p:txBody>
      </p:sp>
      <p:sp>
        <p:nvSpPr>
          <p:cNvPr id="25" name="Text 20"/>
          <p:cNvSpPr txBox="1"/>
          <p:nvPr/>
        </p:nvSpPr>
        <p:spPr>
          <a:xfrm>
            <a:off x="54864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1"/>
          <p:cNvSpPr txBox="1"/>
          <p:nvPr/>
        </p:nvSpPr>
        <p:spPr>
          <a:xfrm>
            <a:off x="1078992" y="5550408"/>
            <a:ext cx="10533888" cy="292608"/>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5 — Inspeccionar radios y superficies. </a:t>
            </a:r>
            <a:pPr indent="0" marL="0">
              <a:lnSpc>
                <a:spcPct val="106000"/>
              </a:lnSpc>
              <a:buNone/>
            </a:pPr>
            <a:r>
              <a:rPr lang="en-US" sz="1150" dirty="0">
                <a:solidFill>
                  <a:schemeClr val="accent4"/>
                </a:solidFill>
              </a:rPr>
              <a:t>con buena luz, buscando rayado profundo e indicios de fisura en los radios de acuerdo</a:t>
            </a:r>
            <a:endParaRPr lang="en-US" sz="1150" dirty="0"/>
          </a:p>
        </p:txBody>
      </p:sp>
      <p:sp>
        <p:nvSpPr>
          <p:cNvPr id="27" name="Shape 22"/>
          <p:cNvSpPr/>
          <p:nvPr/>
        </p:nvSpPr>
        <p:spPr>
          <a:xfrm>
            <a:off x="548640" y="5632704"/>
            <a:ext cx="11064240" cy="384048"/>
          </a:xfrm>
          <a:prstGeom prst="roundRect">
            <a:avLst>
              <a:gd name="adj" fmla="val 14286"/>
            </a:avLst>
          </a:prstGeom>
          <a:solidFill>
            <a:schemeClr val="bg2"/>
          </a:solidFill>
          <a:ln w="12700">
            <a:solidFill>
              <a:schemeClr val="bg2"/>
            </a:solidFill>
            <a:prstDash val="solid"/>
          </a:ln>
        </p:spPr>
        <p:txBody>
          <a:bodyPr/>
          <a:p/>
        </p:txBody>
      </p:sp>
      <p:sp>
        <p:nvSpPr>
          <p:cNvPr id="28" name="Shape 23"/>
          <p:cNvSpPr/>
          <p:nvPr/>
        </p:nvSpPr>
        <p:spPr>
          <a:xfrm>
            <a:off x="786384" y="5641848"/>
            <a:ext cx="365760" cy="365760"/>
          </a:xfrm>
          <a:prstGeom prst="ellipse">
            <a:avLst/>
          </a:prstGeom>
          <a:solidFill>
            <a:schemeClr val="accent1"/>
          </a:solidFill>
          <a:ln w="12700">
            <a:solidFill>
              <a:schemeClr val="accent1"/>
            </a:solidFill>
            <a:prstDash val="solid"/>
          </a:ln>
        </p:spPr>
        <p:txBody>
          <a:bodyPr/>
          <a:p/>
        </p:txBody>
      </p:sp>
      <p:sp>
        <p:nvSpPr>
          <p:cNvPr id="29" name="Text 24"/>
          <p:cNvSpPr txBox="1"/>
          <p:nvPr/>
        </p:nvSpPr>
        <p:spPr>
          <a:xfrm>
            <a:off x="786384" y="56418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5"/>
          <p:cNvSpPr txBox="1"/>
          <p:nvPr/>
        </p:nvSpPr>
        <p:spPr>
          <a:xfrm>
            <a:off x="1298448" y="5724144"/>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Las cuatro lecturas por muñón no son redundancia: son las que permiten calcular ovalización y conicidad. Anotar solo una medida por muñón, como se hace a veces por prisa, deja la ficha sin la información que decide.</a:t>
            </a:r>
            <a:endParaRPr lang="en-US" sz="1100" dirty="0"/>
          </a:p>
        </p:txBody>
      </p:sp>
      <p:sp>
        <p:nvSpPr>
          <p:cNvPr id="31" name="Text 26"/>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medición de holguras con hilo calibrado</a:t>
            </a:r>
            <a:endParaRPr lang="en-US" sz="3200" dirty="0"/>
          </a:p>
        </p:txBody>
      </p:sp>
      <p:sp>
        <p:nvSpPr>
          <p:cNvPr id="3" name="marco_figura"/>
          <p:cNvSpPr/>
          <p:nvPr/>
        </p:nvSpPr>
        <p:spPr>
          <a:xfrm>
            <a:off x="548640" y="1371600"/>
            <a:ext cx="4572000" cy="3035808"/>
          </a:xfrm>
          <a:prstGeom prst="roundRect">
            <a:avLst>
              <a:gd name="adj" fmla="val 1807"/>
            </a:avLst>
          </a:prstGeom>
          <a:solidFill>
            <a:schemeClr val="bg2"/>
          </a:solidFill>
          <a:ln w="12700">
            <a:solidFill>
              <a:schemeClr val="bg2"/>
            </a:solidFill>
            <a:prstDash val="solid"/>
          </a:ln>
        </p:spPr>
        <p:txBody>
          <a:bodyPr/>
          <a:p/>
        </p:txBody>
      </p:sp>
      <p:pic>
        <p:nvPicPr>
          <p:cNvPr id="4" name="figura" descr="/tmp/claude-0/-home-claude/ae7ea666-008e-5687-a756-06b9100bd0c6/scratchpad/sfm/u4/media/cu_cig_esquema.jpg">    </p:cNvPr>
          <p:cNvPicPr>
            <a:picLocks noChangeAspect="1"/>
          </p:cNvPicPr>
          <p:nvPr/>
        </p:nvPicPr>
        <p:blipFill>
          <a:blip r:embed="rId1"/>
          <a:srcRect l="0" r="0" t="0" b="0"/>
          <a:stretch/>
        </p:blipFill>
        <p:spPr>
          <a:xfrm>
            <a:off x="658368" y="1481328"/>
            <a:ext cx="4352544" cy="2432304"/>
          </a:xfrm>
          <a:prstGeom prst="rect">
            <a:avLst/>
          </a:prstGeom>
        </p:spPr>
      </p:pic>
      <p:sp>
        <p:nvSpPr>
          <p:cNvPr id="5" name="Text 2"/>
          <p:cNvSpPr txBox="1"/>
          <p:nvPr/>
        </p:nvSpPr>
        <p:spPr>
          <a:xfrm>
            <a:off x="658368" y="4023360"/>
            <a:ext cx="4352544" cy="365760"/>
          </a:xfrm>
          <a:prstGeom prst="rect">
            <a:avLst/>
          </a:prstGeom>
          <a:noFill/>
          <a:ln/>
        </p:spPr>
        <p:txBody>
          <a:bodyPr wrap="square" lIns="0" tIns="0" rIns="0" bIns="0" rtlCol="0" anchor="t"/>
          <a:lstStyle/>
          <a:p>
            <a:pPr indent="0" marL="0">
              <a:lnSpc>
                <a:spcPct val="102000"/>
              </a:lnSpc>
              <a:buNone/>
            </a:pPr>
            <a:r>
              <a:rPr lang="en-US" sz="1000" b="1" dirty="0">
                <a:solidFill>
                  <a:schemeClr val="accent1"/>
                </a:solidFill>
              </a:rPr>
              <a:t>Figura 77. </a:t>
            </a:r>
            <a:pPr indent="0" marL="0">
              <a:lnSpc>
                <a:spcPct val="102000"/>
              </a:lnSpc>
              <a:buNone/>
            </a:pPr>
            <a:r>
              <a:rPr lang="en-US" sz="1000" dirty="0">
                <a:solidFill>
                  <a:schemeClr val="accent4"/>
                </a:solidFill>
              </a:rPr>
              <a:t>Esquema de medición: diámetros y posiciones de referencia. Adaptado de Escudero, S., González, J., y Rivas, J. L. (2024). Cuaderno de prácticas: motores (1.ª ed.). Macmillan Iberia.</a:t>
            </a:r>
            <a:endParaRPr lang="en-US" sz="1000" dirty="0"/>
          </a:p>
        </p:txBody>
      </p:sp>
      <p:sp>
        <p:nvSpPr>
          <p:cNvPr id="6" name="Shape 3"/>
          <p:cNvSpPr/>
          <p:nvPr/>
        </p:nvSpPr>
        <p:spPr>
          <a:xfrm>
            <a:off x="5486400" y="1499616"/>
            <a:ext cx="384048" cy="384048"/>
          </a:xfrm>
          <a:prstGeom prst="ellipse">
            <a:avLst/>
          </a:prstGeom>
          <a:solidFill>
            <a:schemeClr val="accent2"/>
          </a:solidFill>
          <a:ln w="12700">
            <a:solidFill>
              <a:schemeClr val="accent2"/>
            </a:solidFill>
            <a:prstDash val="solid"/>
          </a:ln>
        </p:spPr>
        <p:txBody>
          <a:bodyPr/>
          <a:p/>
        </p:txBody>
      </p:sp>
      <p:sp>
        <p:nvSpPr>
          <p:cNvPr id="7" name="Text 4"/>
          <p:cNvSpPr txBox="1"/>
          <p:nvPr/>
        </p:nvSpPr>
        <p:spPr>
          <a:xfrm>
            <a:off x="548640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016752" y="1463040"/>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1 — Limpiar y secar. </a:t>
            </a:r>
            <a:pPr indent="0" marL="0">
              <a:lnSpc>
                <a:spcPct val="106000"/>
              </a:lnSpc>
              <a:buNone/>
            </a:pPr>
            <a:r>
              <a:rPr lang="en-US" sz="1050" dirty="0">
                <a:solidFill>
                  <a:schemeClr val="accent4"/>
                </a:solidFill>
              </a:rPr>
              <a:t>muñón y cojinete perfectamente limpios y secos; el aceite falsea la lectura porque el hilo se desliza</a:t>
            </a:r>
            <a:endParaRPr lang="en-US" sz="1050" dirty="0"/>
          </a:p>
        </p:txBody>
      </p:sp>
      <p:sp>
        <p:nvSpPr>
          <p:cNvPr id="9" name="Shape 6"/>
          <p:cNvSpPr/>
          <p:nvPr/>
        </p:nvSpPr>
        <p:spPr>
          <a:xfrm>
            <a:off x="5486400" y="2011680"/>
            <a:ext cx="384048" cy="384048"/>
          </a:xfrm>
          <a:prstGeom prst="ellipse">
            <a:avLst/>
          </a:prstGeom>
          <a:solidFill>
            <a:schemeClr val="accent2"/>
          </a:solidFill>
          <a:ln w="12700">
            <a:solidFill>
              <a:schemeClr val="accent2"/>
            </a:solidFill>
            <a:prstDash val="solid"/>
          </a:ln>
        </p:spPr>
        <p:txBody>
          <a:bodyPr/>
          <a:p/>
        </p:txBody>
      </p:sp>
      <p:sp>
        <p:nvSpPr>
          <p:cNvPr id="10" name="Text 7"/>
          <p:cNvSpPr txBox="1"/>
          <p:nvPr/>
        </p:nvSpPr>
        <p:spPr>
          <a:xfrm>
            <a:off x="548640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016752" y="1975104"/>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2 — Colocar el hilo. </a:t>
            </a:r>
            <a:pPr indent="0" marL="0">
              <a:lnSpc>
                <a:spcPct val="106000"/>
              </a:lnSpc>
              <a:buNone/>
            </a:pPr>
            <a:r>
              <a:rPr lang="en-US" sz="1050" dirty="0">
                <a:solidFill>
                  <a:schemeClr val="accent4"/>
                </a:solidFill>
              </a:rPr>
              <a:t>un tramo de hilo calibrado sobre el muñón, en sentido axial, en la zona central del cojinete</a:t>
            </a:r>
            <a:endParaRPr lang="en-US" sz="1050" dirty="0"/>
          </a:p>
        </p:txBody>
      </p:sp>
      <p:sp>
        <p:nvSpPr>
          <p:cNvPr id="12" name="Shape 9"/>
          <p:cNvSpPr/>
          <p:nvPr/>
        </p:nvSpPr>
        <p:spPr>
          <a:xfrm>
            <a:off x="5486400" y="2523744"/>
            <a:ext cx="384048" cy="384048"/>
          </a:xfrm>
          <a:prstGeom prst="ellipse">
            <a:avLst/>
          </a:prstGeom>
          <a:solidFill>
            <a:schemeClr val="accent2"/>
          </a:solidFill>
          <a:ln w="12700">
            <a:solidFill>
              <a:schemeClr val="accent2"/>
            </a:solidFill>
            <a:prstDash val="solid"/>
          </a:ln>
        </p:spPr>
        <p:txBody>
          <a:bodyPr/>
          <a:p/>
        </p:txBody>
      </p:sp>
      <p:sp>
        <p:nvSpPr>
          <p:cNvPr id="13" name="Text 10"/>
          <p:cNvSpPr txBox="1"/>
          <p:nvPr/>
        </p:nvSpPr>
        <p:spPr>
          <a:xfrm>
            <a:off x="548640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016752" y="2487168"/>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3 — Montar y apretar al par. </a:t>
            </a:r>
            <a:pPr indent="0" marL="0">
              <a:lnSpc>
                <a:spcPct val="106000"/>
              </a:lnSpc>
              <a:buNone/>
            </a:pPr>
            <a:r>
              <a:rPr lang="en-US" sz="1050" dirty="0">
                <a:solidFill>
                  <a:schemeClr val="accent4"/>
                </a:solidFill>
              </a:rPr>
              <a:t>sombrerete en su posición y orientación, apretado al par del manual en el orden indicado</a:t>
            </a:r>
            <a:endParaRPr lang="en-US" sz="1050" dirty="0"/>
          </a:p>
        </p:txBody>
      </p:sp>
      <p:sp>
        <p:nvSpPr>
          <p:cNvPr id="15" name="Shape 12"/>
          <p:cNvSpPr/>
          <p:nvPr/>
        </p:nvSpPr>
        <p:spPr>
          <a:xfrm>
            <a:off x="5486400" y="3035808"/>
            <a:ext cx="384048" cy="384048"/>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548640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016752" y="2999232"/>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4 — No girar el cigüeñal. </a:t>
            </a:r>
            <a:pPr indent="0" marL="0">
              <a:lnSpc>
                <a:spcPct val="106000"/>
              </a:lnSpc>
              <a:buNone/>
            </a:pPr>
            <a:r>
              <a:rPr lang="en-US" sz="1050" dirty="0">
                <a:solidFill>
                  <a:schemeClr val="accent4"/>
                </a:solidFill>
              </a:rPr>
              <a:t>en ningún momento con el hilo colocado; girarlo lo desplaza y la lectura no vale</a:t>
            </a:r>
            <a:endParaRPr lang="en-US" sz="1050" dirty="0"/>
          </a:p>
        </p:txBody>
      </p:sp>
      <p:sp>
        <p:nvSpPr>
          <p:cNvPr id="18" name="Shape 15"/>
          <p:cNvSpPr/>
          <p:nvPr/>
        </p:nvSpPr>
        <p:spPr>
          <a:xfrm>
            <a:off x="5486400" y="3547872"/>
            <a:ext cx="384048" cy="384048"/>
          </a:xfrm>
          <a:prstGeom prst="ellipse">
            <a:avLst/>
          </a:prstGeom>
          <a:solidFill>
            <a:schemeClr val="accent2"/>
          </a:solidFill>
          <a:ln w="12700">
            <a:solidFill>
              <a:schemeClr val="accent2"/>
            </a:solidFill>
            <a:prstDash val="solid"/>
          </a:ln>
        </p:spPr>
        <p:txBody>
          <a:bodyPr/>
          <a:p/>
        </p:txBody>
      </p:sp>
      <p:sp>
        <p:nvSpPr>
          <p:cNvPr id="19" name="Text 16"/>
          <p:cNvSpPr txBox="1"/>
          <p:nvPr/>
        </p:nvSpPr>
        <p:spPr>
          <a:xfrm>
            <a:off x="5486400" y="35478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6016752" y="3511296"/>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5 — Desmontar y leer. </a:t>
            </a:r>
            <a:pPr indent="0" marL="0">
              <a:lnSpc>
                <a:spcPct val="106000"/>
              </a:lnSpc>
              <a:buNone/>
            </a:pPr>
            <a:r>
              <a:rPr lang="en-US" sz="1050" dirty="0">
                <a:solidFill>
                  <a:schemeClr val="accent4"/>
                </a:solidFill>
              </a:rPr>
              <a:t>retirar el sombrerete y medir el ancho que alcanzó el hilo aplastado, comparándolo con la escala del envase</a:t>
            </a:r>
            <a:endParaRPr lang="en-US" sz="1050" dirty="0"/>
          </a:p>
        </p:txBody>
      </p:sp>
      <p:sp>
        <p:nvSpPr>
          <p:cNvPr id="21" name="Shape 18"/>
          <p:cNvSpPr/>
          <p:nvPr/>
        </p:nvSpPr>
        <p:spPr>
          <a:xfrm>
            <a:off x="5486400" y="4059936"/>
            <a:ext cx="384048" cy="384048"/>
          </a:xfrm>
          <a:prstGeom prst="ellipse">
            <a:avLst/>
          </a:prstGeom>
          <a:solidFill>
            <a:schemeClr val="accent2"/>
          </a:solidFill>
          <a:ln w="12700">
            <a:solidFill>
              <a:schemeClr val="accent2"/>
            </a:solidFill>
            <a:prstDash val="solid"/>
          </a:ln>
        </p:spPr>
        <p:txBody>
          <a:bodyPr/>
          <a:p/>
        </p:txBody>
      </p:sp>
      <p:sp>
        <p:nvSpPr>
          <p:cNvPr id="22" name="Text 19"/>
          <p:cNvSpPr txBox="1"/>
          <p:nvPr/>
        </p:nvSpPr>
        <p:spPr>
          <a:xfrm>
            <a:off x="548640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6016752" y="4023360"/>
            <a:ext cx="5596128" cy="457200"/>
          </a:xfrm>
          <a:prstGeom prst="rect">
            <a:avLst/>
          </a:prstGeom>
          <a:noFill/>
          <a:ln/>
        </p:spPr>
        <p:txBody>
          <a:bodyPr wrap="square" lIns="0" tIns="0" rIns="0" bIns="0" rtlCol="0" anchor="ctr"/>
          <a:lstStyle/>
          <a:p>
            <a:pPr indent="0" marL="0">
              <a:lnSpc>
                <a:spcPct val="106000"/>
              </a:lnSpc>
              <a:buNone/>
            </a:pPr>
            <a:r>
              <a:rPr lang="en-US" sz="1050" b="1" dirty="0">
                <a:solidFill>
                  <a:schemeClr val="tx1"/>
                </a:solidFill>
              </a:rPr>
              <a:t>6 — Registrar y decidir. </a:t>
            </a:r>
            <a:pPr indent="0" marL="0">
              <a:lnSpc>
                <a:spcPct val="106000"/>
              </a:lnSpc>
              <a:buNone/>
            </a:pPr>
            <a:r>
              <a:rPr lang="en-US" sz="1050" dirty="0">
                <a:solidFill>
                  <a:schemeClr val="accent4"/>
                </a:solidFill>
              </a:rPr>
              <a:t>comparar con el valor del manual; si está fuera, rectificado del cigüeñal y cojinetes de la sobremedida correspondiente</a:t>
            </a:r>
            <a:endParaRPr lang="en-US" sz="1050" dirty="0"/>
          </a:p>
        </p:txBody>
      </p:sp>
      <p:sp>
        <p:nvSpPr>
          <p:cNvPr id="24" name="Shape 21"/>
          <p:cNvSpPr/>
          <p:nvPr/>
        </p:nvSpPr>
        <p:spPr>
          <a:xfrm>
            <a:off x="548640" y="4297680"/>
            <a:ext cx="11064240" cy="777240"/>
          </a:xfrm>
          <a:prstGeom prst="roundRect">
            <a:avLst>
              <a:gd name="adj" fmla="val 7059"/>
            </a:avLst>
          </a:prstGeom>
          <a:solidFill>
            <a:schemeClr val="bg2"/>
          </a:solidFill>
          <a:ln w="12700">
            <a:solidFill>
              <a:schemeClr val="bg2"/>
            </a:solidFill>
            <a:prstDash val="solid"/>
          </a:ln>
        </p:spPr>
        <p:txBody>
          <a:bodyPr/>
          <a:p/>
        </p:txBody>
      </p:sp>
      <p:sp>
        <p:nvSpPr>
          <p:cNvPr id="25" name="Shape 22"/>
          <p:cNvSpPr/>
          <p:nvPr/>
        </p:nvSpPr>
        <p:spPr>
          <a:xfrm>
            <a:off x="786384" y="4503420"/>
            <a:ext cx="365760" cy="365760"/>
          </a:xfrm>
          <a:prstGeom prst="ellipse">
            <a:avLst/>
          </a:prstGeom>
          <a:solidFill>
            <a:schemeClr val="accent2"/>
          </a:solidFill>
          <a:ln w="12700">
            <a:solidFill>
              <a:schemeClr val="accent2"/>
            </a:solidFill>
            <a:prstDash val="solid"/>
          </a:ln>
        </p:spPr>
        <p:txBody>
          <a:bodyPr/>
          <a:p/>
        </p:txBody>
      </p:sp>
      <p:sp>
        <p:nvSpPr>
          <p:cNvPr id="26" name="Text 23"/>
          <p:cNvSpPr txBox="1"/>
          <p:nvPr/>
        </p:nvSpPr>
        <p:spPr>
          <a:xfrm>
            <a:off x="786384" y="45034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7" name="Text 24"/>
          <p:cNvSpPr txBox="1"/>
          <p:nvPr/>
        </p:nvSpPr>
        <p:spPr>
          <a:xfrm>
            <a:off x="1298448" y="43891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hilo se aplasta hasta el espesor exacto de la holgura: su ancho final es la medida. Es un método ingenioso, barato y muy preciso, y es el que se usa en el taller profesional para esta medición.</a:t>
            </a:r>
            <a:endParaRPr lang="en-US" sz="1450" dirty="0"/>
          </a:p>
        </p:txBody>
      </p:sp>
      <p:sp>
        <p:nvSpPr>
          <p:cNvPr id="28" name="Shape 25"/>
          <p:cNvSpPr/>
          <p:nvPr/>
        </p:nvSpPr>
        <p:spPr>
          <a:xfrm>
            <a:off x="548640" y="5248656"/>
            <a:ext cx="384048" cy="384048"/>
          </a:xfrm>
          <a:prstGeom prst="ellipse">
            <a:avLst/>
          </a:prstGeom>
          <a:solidFill>
            <a:schemeClr val="accent2"/>
          </a:solidFill>
          <a:ln w="12700">
            <a:solidFill>
              <a:schemeClr val="accent2"/>
            </a:solidFill>
            <a:prstDash val="solid"/>
          </a:ln>
        </p:spPr>
        <p:txBody>
          <a:bodyPr/>
          <a:p/>
        </p:txBody>
      </p:sp>
      <p:sp>
        <p:nvSpPr>
          <p:cNvPr id="29" name="Text 26"/>
          <p:cNvSpPr txBox="1"/>
          <p:nvPr/>
        </p:nvSpPr>
        <p:spPr>
          <a:xfrm>
            <a:off x="548640" y="5248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0" name="Text 27"/>
          <p:cNvSpPr txBox="1"/>
          <p:nvPr/>
        </p:nvSpPr>
        <p:spPr>
          <a:xfrm>
            <a:off x="1078992" y="521208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Después de medir. </a:t>
            </a:r>
            <a:pPr indent="0" marL="0">
              <a:lnSpc>
                <a:spcPct val="106000"/>
              </a:lnSpc>
              <a:buNone/>
            </a:pPr>
            <a:r>
              <a:rPr lang="en-US" sz="1150" dirty="0">
                <a:solidFill>
                  <a:schemeClr val="accent4"/>
                </a:solidFill>
              </a:rPr>
              <a:t>retirar todo resto de hilo del muñón y del cojinete antes del montaje definitivo; un resto olvidado altera la holgura real</a:t>
            </a:r>
            <a:endParaRPr lang="en-US" sz="1150" dirty="0"/>
          </a:p>
        </p:txBody>
      </p:sp>
      <p:sp>
        <p:nvSpPr>
          <p:cNvPr id="31" name="Shape 28"/>
          <p:cNvSpPr/>
          <p:nvPr/>
        </p:nvSpPr>
        <p:spPr>
          <a:xfrm>
            <a:off x="548640" y="5614416"/>
            <a:ext cx="384048" cy="384048"/>
          </a:xfrm>
          <a:prstGeom prst="ellipse">
            <a:avLst/>
          </a:prstGeom>
          <a:solidFill>
            <a:schemeClr val="accent2"/>
          </a:solidFill>
          <a:ln w="12700">
            <a:solidFill>
              <a:schemeClr val="accent2"/>
            </a:solidFill>
            <a:prstDash val="solid"/>
          </a:ln>
        </p:spPr>
        <p:txBody>
          <a:bodyPr/>
          <a:p/>
        </p:txBody>
      </p:sp>
      <p:sp>
        <p:nvSpPr>
          <p:cNvPr id="32" name="Text 29"/>
          <p:cNvSpPr txBox="1"/>
          <p:nvPr/>
        </p:nvSpPr>
        <p:spPr>
          <a:xfrm>
            <a:off x="548640" y="5614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3" name="Text 30"/>
          <p:cNvSpPr txBox="1"/>
          <p:nvPr/>
        </p:nvSpPr>
        <p:spPr>
          <a:xfrm>
            <a:off x="1078992" y="5577840"/>
            <a:ext cx="10533888" cy="310896"/>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Para el montaje definitivo. </a:t>
            </a:r>
            <a:pPr indent="0" marL="0">
              <a:lnSpc>
                <a:spcPct val="106000"/>
              </a:lnSpc>
              <a:buNone/>
            </a:pPr>
            <a:r>
              <a:rPr lang="en-US" sz="1150" dirty="0">
                <a:solidFill>
                  <a:schemeClr val="accent4"/>
                </a:solidFill>
              </a:rPr>
              <a:t>lubricar muñón y cojinete con aceite de motor limpio, ahora sí, y volver a apretar al par</a:t>
            </a:r>
            <a:endParaRPr lang="en-US" sz="1150" dirty="0"/>
          </a:p>
        </p:txBody>
      </p:sp>
      <p:sp>
        <p:nvSpPr>
          <p:cNvPr id="34" name="Text 31"/>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Conocimiento del PEA: comprobaciones de tren alternativo · actividad práctica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Práctica: armado y puesta en marcha</a:t>
            </a:r>
            <a:endParaRPr lang="en-US" sz="3200" dirty="0"/>
          </a:p>
        </p:txBody>
      </p:sp>
      <p:sp>
        <p:nvSpPr>
          <p:cNvPr id="3" name="Shape 1"/>
          <p:cNvSpPr/>
          <p:nvPr/>
        </p:nvSpPr>
        <p:spPr>
          <a:xfrm>
            <a:off x="548640" y="1453896"/>
            <a:ext cx="384048" cy="384048"/>
          </a:xfrm>
          <a:prstGeom prst="ellipse">
            <a:avLst/>
          </a:prstGeom>
          <a:solidFill>
            <a:schemeClr val="accent2"/>
          </a:solidFill>
          <a:ln w="12700">
            <a:solidFill>
              <a:schemeClr val="accent2"/>
            </a:solidFill>
            <a:prstDash val="solid"/>
          </a:ln>
        </p:spPr>
        <p:txBody>
          <a:bodyPr/>
          <a:p/>
        </p:txBody>
      </p:sp>
      <p:sp>
        <p:nvSpPr>
          <p:cNvPr id="4"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78992" y="141732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1 — Limpieza final y bruñido si procede. </a:t>
            </a:r>
            <a:pPr indent="0" marL="0">
              <a:lnSpc>
                <a:spcPct val="106000"/>
              </a:lnSpc>
              <a:buNone/>
            </a:pPr>
            <a:r>
              <a:rPr lang="en-US" sz="1200" dirty="0">
                <a:solidFill>
                  <a:schemeClr val="accent4"/>
                </a:solidFill>
              </a:rPr>
              <a:t>cilindros con su rayado restaurado, conductos soplados, alojamientos sin restos; lavado con agua y jabón y secado con aceite</a:t>
            </a:r>
            <a:endParaRPr lang="en-US" sz="1200" dirty="0"/>
          </a:p>
        </p:txBody>
      </p:sp>
      <p:sp>
        <p:nvSpPr>
          <p:cNvPr id="6" name="Shape 4"/>
          <p:cNvSpPr/>
          <p:nvPr/>
        </p:nvSpPr>
        <p:spPr>
          <a:xfrm>
            <a:off x="548640" y="1965960"/>
            <a:ext cx="384048" cy="384048"/>
          </a:xfrm>
          <a:prstGeom prst="ellipse">
            <a:avLst/>
          </a:prstGeom>
          <a:solidFill>
            <a:schemeClr val="accent2"/>
          </a:solidFill>
          <a:ln w="12700">
            <a:solidFill>
              <a:schemeClr val="accent2"/>
            </a:solidFill>
            <a:prstDash val="solid"/>
          </a:ln>
        </p:spPr>
        <p:txBody>
          <a:bodyPr/>
          <a:p/>
        </p:txBody>
      </p:sp>
      <p:sp>
        <p:nvSpPr>
          <p:cNvPr id="7" name="Text 5"/>
          <p:cNvSpPr txBox="1"/>
          <p:nvPr/>
        </p:nvSpPr>
        <p:spPr>
          <a:xfrm>
            <a:off x="5486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78992" y="192938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2 — Cigüeñal: cojinetes, holguras y par. </a:t>
            </a:r>
            <a:pPr indent="0" marL="0">
              <a:lnSpc>
                <a:spcPct val="106000"/>
              </a:lnSpc>
              <a:buNone/>
            </a:pPr>
            <a:r>
              <a:rPr lang="en-US" sz="1200" dirty="0">
                <a:solidFill>
                  <a:schemeClr val="accent4"/>
                </a:solidFill>
              </a:rPr>
              <a:t>montar cojinetes, verificar holgura, lubricar, montar y apretar sombreretes al par en orden, verificando el giro libre tras cada uno</a:t>
            </a:r>
            <a:endParaRPr lang="en-US" sz="1200" dirty="0"/>
          </a:p>
        </p:txBody>
      </p:sp>
      <p:sp>
        <p:nvSpPr>
          <p:cNvPr id="9" name="Shape 7"/>
          <p:cNvSpPr/>
          <p:nvPr/>
        </p:nvSpPr>
        <p:spPr>
          <a:xfrm>
            <a:off x="548640" y="2478024"/>
            <a:ext cx="384048" cy="384048"/>
          </a:xfrm>
          <a:prstGeom prst="ellipse">
            <a:avLst/>
          </a:prstGeom>
          <a:solidFill>
            <a:schemeClr val="accent2"/>
          </a:solidFill>
          <a:ln w="12700">
            <a:solidFill>
              <a:schemeClr val="accent2"/>
            </a:solidFill>
            <a:prstDash val="solid"/>
          </a:ln>
        </p:spPr>
        <p:txBody>
          <a:bodyPr/>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78992" y="244144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3 — Holgura axial. </a:t>
            </a:r>
            <a:pPr indent="0" marL="0">
              <a:lnSpc>
                <a:spcPct val="106000"/>
              </a:lnSpc>
              <a:buNone/>
            </a:pPr>
            <a:r>
              <a:rPr lang="en-US" sz="1200" dirty="0">
                <a:solidFill>
                  <a:schemeClr val="accent4"/>
                </a:solidFill>
              </a:rPr>
              <a:t>comprobar con comparador que el desplazamiento axial del cigüeñal está dentro del valor del manual</a:t>
            </a:r>
            <a:endParaRPr lang="en-US" sz="1200" dirty="0"/>
          </a:p>
        </p:txBody>
      </p:sp>
      <p:sp>
        <p:nvSpPr>
          <p:cNvPr id="12" name="Shape 10"/>
          <p:cNvSpPr/>
          <p:nvPr/>
        </p:nvSpPr>
        <p:spPr>
          <a:xfrm>
            <a:off x="548640" y="2990088"/>
            <a:ext cx="384048" cy="384048"/>
          </a:xfrm>
          <a:prstGeom prst="ellipse">
            <a:avLst/>
          </a:prstGeom>
          <a:solidFill>
            <a:schemeClr val="accent2"/>
          </a:solidFill>
          <a:ln w="12700">
            <a:solidFill>
              <a:schemeClr val="accent2"/>
            </a:solidFill>
            <a:prstDash val="solid"/>
          </a:ln>
        </p:spPr>
        <p:txBody>
          <a:bodyPr/>
          <a:p/>
        </p:txBody>
      </p:sp>
      <p:sp>
        <p:nvSpPr>
          <p:cNvPr id="13" name="Text 11"/>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78992" y="2953512"/>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4 — Pistones: segmentos y orientación. </a:t>
            </a:r>
            <a:pPr indent="0" marL="0">
              <a:lnSpc>
                <a:spcPct val="106000"/>
              </a:lnSpc>
              <a:buNone/>
            </a:pPr>
            <a:r>
              <a:rPr lang="en-US" sz="1200" dirty="0">
                <a:solidFill>
                  <a:schemeClr val="accent4"/>
                </a:solidFill>
              </a:rPr>
              <a:t>montar segmentos con sus aberturas desfasadas según el manual y el pistón orientado según su marca</a:t>
            </a:r>
            <a:endParaRPr lang="en-US" sz="1200" dirty="0"/>
          </a:p>
        </p:txBody>
      </p:sp>
      <p:sp>
        <p:nvSpPr>
          <p:cNvPr id="15" name="Shape 13"/>
          <p:cNvSpPr/>
          <p:nvPr/>
        </p:nvSpPr>
        <p:spPr>
          <a:xfrm>
            <a:off x="548640" y="3502152"/>
            <a:ext cx="384048" cy="384048"/>
          </a:xfrm>
          <a:prstGeom prst="ellipse">
            <a:avLst/>
          </a:prstGeom>
          <a:solidFill>
            <a:schemeClr val="accent2"/>
          </a:solidFill>
          <a:ln w="12700">
            <a:solidFill>
              <a:schemeClr val="accent2"/>
            </a:solidFill>
            <a:prstDash val="solid"/>
          </a:ln>
        </p:spPr>
        <p:txBody>
          <a:bodyPr/>
          <a:p/>
        </p:txBody>
      </p:sp>
      <p:sp>
        <p:nvSpPr>
          <p:cNvPr id="16" name="Text 14"/>
          <p:cNvSpPr txBox="1"/>
          <p:nvPr/>
        </p:nvSpPr>
        <p:spPr>
          <a:xfrm>
            <a:off x="548640" y="3502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78992" y="3465576"/>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5 — Introducir los conjuntos. </a:t>
            </a:r>
            <a:pPr indent="0" marL="0">
              <a:lnSpc>
                <a:spcPct val="106000"/>
              </a:lnSpc>
              <a:buNone/>
            </a:pPr>
            <a:r>
              <a:rPr lang="en-US" sz="1200" dirty="0">
                <a:solidFill>
                  <a:schemeClr val="accent4"/>
                </a:solidFill>
              </a:rPr>
              <a:t>con compresor de segmentos, cilindro lubricado, empujando con mango de madera y protegiendo las muñequillas</a:t>
            </a:r>
            <a:endParaRPr lang="en-US" sz="1200" dirty="0"/>
          </a:p>
        </p:txBody>
      </p:sp>
      <p:sp>
        <p:nvSpPr>
          <p:cNvPr id="18" name="Shape 16"/>
          <p:cNvSpPr/>
          <p:nvPr/>
        </p:nvSpPr>
        <p:spPr>
          <a:xfrm>
            <a:off x="548640" y="4014216"/>
            <a:ext cx="384048" cy="384048"/>
          </a:xfrm>
          <a:prstGeom prst="ellipse">
            <a:avLst/>
          </a:prstGeom>
          <a:solidFill>
            <a:schemeClr val="accent2"/>
          </a:solidFill>
          <a:ln w="12700">
            <a:solidFill>
              <a:schemeClr val="accent2"/>
            </a:solidFill>
            <a:prstDash val="solid"/>
          </a:ln>
        </p:spPr>
        <p:txBody>
          <a:bodyPr/>
          <a:p/>
        </p:txBody>
      </p:sp>
      <p:sp>
        <p:nvSpPr>
          <p:cNvPr id="19" name="Text 17"/>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78992" y="3977640"/>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6 — Sombreretes de biela al par. </a:t>
            </a:r>
            <a:pPr indent="0" marL="0">
              <a:lnSpc>
                <a:spcPct val="106000"/>
              </a:lnSpc>
              <a:buNone/>
            </a:pPr>
            <a:r>
              <a:rPr lang="en-US" sz="1200" dirty="0">
                <a:solidFill>
                  <a:schemeClr val="accent4"/>
                </a:solidFill>
              </a:rPr>
              <a:t>cada uno con su biela y orientación, verificando el giro libre del cigüeñal tras cada apriete</a:t>
            </a:r>
            <a:endParaRPr lang="en-US" sz="1200" dirty="0"/>
          </a:p>
        </p:txBody>
      </p:sp>
      <p:sp>
        <p:nvSpPr>
          <p:cNvPr id="21" name="Shape 19"/>
          <p:cNvSpPr/>
          <p:nvPr/>
        </p:nvSpPr>
        <p:spPr>
          <a:xfrm>
            <a:off x="548640" y="4526280"/>
            <a:ext cx="384048" cy="384048"/>
          </a:xfrm>
          <a:prstGeom prst="ellipse">
            <a:avLst/>
          </a:prstGeom>
          <a:solidFill>
            <a:schemeClr val="accent2"/>
          </a:solidFill>
          <a:ln w="12700">
            <a:solidFill>
              <a:schemeClr val="accent2"/>
            </a:solidFill>
            <a:prstDash val="solid"/>
          </a:ln>
        </p:spPr>
        <p:txBody>
          <a:bodyPr/>
          <a:p/>
        </p:txBody>
      </p:sp>
      <p:sp>
        <p:nvSpPr>
          <p:cNvPr id="22" name="Text 20"/>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1078992" y="4489704"/>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7 — Cerrar el motor. </a:t>
            </a:r>
            <a:pPr indent="0" marL="0">
              <a:lnSpc>
                <a:spcPct val="106000"/>
              </a:lnSpc>
              <a:buNone/>
            </a:pPr>
            <a:r>
              <a:rPr lang="en-US" sz="1200" dirty="0">
                <a:solidFill>
                  <a:schemeClr val="accent4"/>
                </a:solidFill>
              </a:rPr>
              <a:t>bomba de aceite, cárter con junta nueva, cabezote con su empaque y su par, y distribución calada y verificada con dos vueltas</a:t>
            </a:r>
            <a:endParaRPr lang="en-US" sz="1200" dirty="0"/>
          </a:p>
        </p:txBody>
      </p:sp>
      <p:sp>
        <p:nvSpPr>
          <p:cNvPr id="24" name="Shape 22"/>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25" name="Text 23"/>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1078992" y="5001768"/>
            <a:ext cx="10533888" cy="457200"/>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8 — Llenar, purgar y arrancar. </a:t>
            </a:r>
            <a:pPr indent="0" marL="0">
              <a:lnSpc>
                <a:spcPct val="106000"/>
              </a:lnSpc>
              <a:buNone/>
            </a:pPr>
            <a:r>
              <a:rPr lang="en-US" sz="1200" dirty="0">
                <a:solidFill>
                  <a:schemeClr val="accent4"/>
                </a:solidFill>
              </a:rPr>
              <a:t>aceite y refrigerante en la cantidad del manual; purgar; arrancar y comprobar presión, temperatura, fugas y ruidos</a:t>
            </a:r>
            <a:endParaRPr lang="en-US" sz="1200" dirty="0"/>
          </a:p>
        </p:txBody>
      </p:sp>
      <p:sp>
        <p:nvSpPr>
          <p:cNvPr id="27" name="Shape 25"/>
          <p:cNvSpPr/>
          <p:nvPr/>
        </p:nvSpPr>
        <p:spPr>
          <a:xfrm>
            <a:off x="548640" y="5577840"/>
            <a:ext cx="11064240" cy="411480"/>
          </a:xfrm>
          <a:prstGeom prst="roundRect">
            <a:avLst>
              <a:gd name="adj" fmla="val 13333"/>
            </a:avLst>
          </a:prstGeom>
          <a:solidFill>
            <a:schemeClr val="bg2"/>
          </a:solidFill>
          <a:ln w="12700">
            <a:solidFill>
              <a:schemeClr val="bg2"/>
            </a:solidFill>
            <a:prstDash val="solid"/>
          </a:ln>
        </p:spPr>
        <p:txBody>
          <a:bodyPr/>
          <a:p/>
        </p:txBody>
      </p:sp>
      <p:sp>
        <p:nvSpPr>
          <p:cNvPr id="28" name="Shape 26"/>
          <p:cNvSpPr/>
          <p:nvPr/>
        </p:nvSpPr>
        <p:spPr>
          <a:xfrm>
            <a:off x="786384" y="5600700"/>
            <a:ext cx="365760" cy="365760"/>
          </a:xfrm>
          <a:prstGeom prst="ellipse">
            <a:avLst/>
          </a:prstGeom>
          <a:solidFill>
            <a:schemeClr val="accent2"/>
          </a:solidFill>
          <a:ln w="12700">
            <a:solidFill>
              <a:schemeClr val="accent2"/>
            </a:solidFill>
            <a:prstDash val="solid"/>
          </a:ln>
        </p:spPr>
        <p:txBody>
          <a:bodyPr/>
          <a:p/>
        </p:txBody>
      </p:sp>
      <p:sp>
        <p:nvSpPr>
          <p:cNvPr id="29" name="Text 27"/>
          <p:cNvSpPr txBox="1"/>
          <p:nvPr/>
        </p:nvSpPr>
        <p:spPr>
          <a:xfrm>
            <a:off x="786384" y="56007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8"/>
          <p:cNvSpPr txBox="1"/>
          <p:nvPr/>
        </p:nvSpPr>
        <p:spPr>
          <a:xfrm>
            <a:off x="1298448" y="5669280"/>
            <a:ext cx="10058400" cy="228600"/>
          </a:xfrm>
          <a:prstGeom prst="rect">
            <a:avLst/>
          </a:prstGeom>
          <a:noFill/>
          <a:ln/>
        </p:spPr>
        <p:txBody>
          <a:bodyPr wrap="square" lIns="0" tIns="0" rIns="0" bIns="0" rtlCol="0" anchor="ctr"/>
          <a:lstStyle/>
          <a:p>
            <a:pPr indent="0" marL="0">
              <a:lnSpc>
                <a:spcPct val="106000"/>
              </a:lnSpc>
              <a:buNone/>
            </a:pPr>
            <a:r>
              <a:rPr lang="en-US" sz="1150" dirty="0">
                <a:solidFill>
                  <a:schemeClr val="tx1"/>
                </a:solidFill>
              </a:rPr>
              <a:t>El paso 8 cierra la asignatura: el motor arranca o no arranca, la presión de aceite sube o no sube, la temperatura se estabiliza o no. Es la única evaluación de toda la carrera que no admite interpretación.</a:t>
            </a:r>
            <a:endParaRPr lang="en-US" sz="1150" dirty="0"/>
          </a:p>
        </p:txBody>
      </p:sp>
      <p:sp>
        <p:nvSpPr>
          <p:cNvPr id="31" name="Text 29"/>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RdA: demostrar seguridad en el empleo de las herramientas</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Registro general de la práctica</a:t>
            </a:r>
            <a:endParaRPr lang="en-US" sz="32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3291840"/>
                <a:gridCol w="2468880"/>
              </a:tblGrid>
              <a:tr h="365760">
                <a:tc>
                  <a:txBody>
                    <a:bodyPr/>
                    <a:lstStyle/>
                    <a:p>
                      <a:pPr indent="0" marL="0">
                        <a:buNone/>
                      </a:pPr>
                      <a:r>
                        <a:rPr lang="en-US" sz="1300" b="1" dirty="0">
                          <a:solidFill>
                            <a:srgbClr val="FFFFFF"/>
                          </a:solidFill>
                        </a:rPr>
                        <a:t>Registro técnico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365760">
                <a:tc>
                  <a:txBody>
                    <a:bodyPr/>
                    <a:lstStyle/>
                    <a:p>
                      <a:pPr indent="0" marL="0">
                        <a:buNone/>
                      </a:pPr>
                      <a:r>
                        <a:rPr lang="en-US" sz="1050" b="1" dirty="0">
                          <a:solidFill>
                            <a:schemeClr val="tx1"/>
                          </a:solidFill>
                        </a:rPr>
                        <a:t>Fluidos vaciados: cantidad y aspecto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Contenido del cárter y del tamiz</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Ficha de comprobaciones del bloque completa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Ficha de comprobaciones del tren alternativo completa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Holguras de cojinetes medidas y registradas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Holgura axial del cigüeñal</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Pares aplicados en bancada y biela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Giro libre verificado tras cada apriete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Distribución calada y verificada con dos vueltas</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Llenado, purga y puesta en marcha</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graphicFrame>
        <p:nvGraphicFramePr>
          <p:cNvPr id="189" name="Table 1"/>
          <p:cNvGraphicFramePr>
            <a:graphicFrameLocks noGrp="1"/>
          </p:cNvGraphicFramePr>
          <p:nvPr>
            <p:extLst>
              <p:ext uri="{D42A27DB-BD31-4B8C-83A1-F6EECF244321}">
                <p14:modId xmlns:p14="http://schemas.microsoft.com/office/powerpoint/2010/main" val="1579011935"/>
              </p:ext>
            </p:extLst>
          </p:nvPr>
        </p:nvGraphicFramePr>
        <p:xfrm>
          <a:off x="6583680" y="1371600"/>
          <a:ext cx="5029200" cy="914400"/>
        </p:xfrm>
        <a:graphic>
          <a:graphicData uri="http://schemas.openxmlformats.org/drawingml/2006/table">
            <a:tbl>
              <a:tblPr/>
              <a:tblGrid>
                <a:gridCol w="2743200"/>
                <a:gridCol w="2286000"/>
              </a:tblGrid>
              <a:tr h="365760">
                <a:tc>
                  <a:txBody>
                    <a:bodyPr/>
                    <a:lstStyle/>
                    <a:p>
                      <a:pPr indent="0" marL="0">
                        <a:buNone/>
                      </a:pPr>
                      <a:r>
                        <a:rPr lang="en-US" sz="1300" b="1" dirty="0">
                          <a:solidFill>
                            <a:srgbClr val="FFFFFF"/>
                          </a:solidFill>
                        </a:rPr>
                        <a:t>Verificación ambiental</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c>
                  <a:txBody>
                    <a:bodyPr/>
                    <a:lstStyle/>
                    <a:p>
                      <a:pPr indent="0" marL="0">
                        <a:buNone/>
                      </a:pPr>
                      <a:r>
                        <a:rPr lang="en-US" sz="1300" b="1" dirty="0">
                          <a:solidFill>
                            <a:srgbClr val="FFFFFF"/>
                          </a:solidFill>
                        </a:rPr>
                        <a:t>Conforme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2"/>
                    </a:solidFill>
                  </a:tcPr>
                </a:tc>
              </a:tr>
              <a:tr h="365760">
                <a:tc>
                  <a:txBody>
                    <a:bodyPr/>
                    <a:lstStyle/>
                    <a:p>
                      <a:pPr indent="0" marL="0">
                        <a:buNone/>
                      </a:pPr>
                      <a:r>
                        <a:rPr lang="en-US" sz="1050" b="1" dirty="0">
                          <a:solidFill>
                            <a:schemeClr val="tx1"/>
                          </a:solidFill>
                        </a:rPr>
                        <a:t>Aceite usado en recipiente identificado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Refrigerante usado en recipiente cerrado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Disolventes separados del aceite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Trapos impregnados en contenedor metálico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365760">
                <a:tc>
                  <a:txBody>
                    <a:bodyPr/>
                    <a:lstStyle/>
                    <a:p>
                      <a:pPr indent="0" marL="0">
                        <a:buNone/>
                      </a:pPr>
                      <a:r>
                        <a:rPr lang="en-US" sz="1050" b="1" dirty="0">
                          <a:solidFill>
                            <a:schemeClr val="tx1"/>
                          </a:solidFill>
                        </a:rPr>
                        <a:t>Piezas metálicas separadas para reciclaje</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chemeClr val="tx1"/>
                          </a:solidFill>
                        </a:rPr>
                        <a:t>Puesto sin derrames y absorbente usado si los hubo</a:t>
                      </a: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endParaRPr lang="en-US" sz="10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4846320"/>
            <a:ext cx="11064240" cy="777240"/>
          </a:xfrm>
          <a:prstGeom prst="roundRect">
            <a:avLst>
              <a:gd name="adj" fmla="val 7059"/>
            </a:avLst>
          </a:prstGeom>
          <a:solidFill>
            <a:schemeClr val="bg2"/>
          </a:solidFill>
          <a:ln w="12700">
            <a:solidFill>
              <a:schemeClr val="bg2"/>
            </a:solidFill>
            <a:prstDash val="solid"/>
          </a:ln>
        </p:spPr>
        <p:txBody>
          <a:bodyPr/>
          <a:p/>
        </p:txBody>
      </p:sp>
      <p:sp>
        <p:nvSpPr>
          <p:cNvPr id="6" name="Shape 2"/>
          <p:cNvSpPr/>
          <p:nvPr/>
        </p:nvSpPr>
        <p:spPr>
          <a:xfrm>
            <a:off x="786384" y="5052060"/>
            <a:ext cx="365760" cy="365760"/>
          </a:xfrm>
          <a:prstGeom prst="ellipse">
            <a:avLst/>
          </a:prstGeom>
          <a:solidFill>
            <a:schemeClr val="accent2"/>
          </a:solidFill>
          <a:ln w="12700">
            <a:solidFill>
              <a:schemeClr val="accent2"/>
            </a:solidFill>
            <a:prstDash val="solid"/>
          </a:ln>
        </p:spPr>
        <p:txBody>
          <a:bodyPr/>
          <a:p/>
        </p:txBody>
      </p:sp>
      <p:sp>
        <p:nvSpPr>
          <p:cNvPr id="7" name="Text 3"/>
          <p:cNvSpPr txBox="1"/>
          <p:nvPr/>
        </p:nvSpPr>
        <p:spPr>
          <a:xfrm>
            <a:off x="786384" y="50520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8" name="Text 4"/>
          <p:cNvSpPr txBox="1"/>
          <p:nvPr/>
        </p:nvSpPr>
        <p:spPr>
          <a:xfrm>
            <a:off x="1298448" y="493776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informe final se cierra con tres cosas: la decisión técnica sobre cada pieza con su justificación, el resultado de la puesta en marcha, y las conclusiones del grupo, incluidos los errores cometidos y cómo se resolvieron.</a:t>
            </a:r>
            <a:endParaRPr lang="en-US" sz="1450" dirty="0"/>
          </a:p>
        </p:txBody>
      </p:sp>
      <p:sp>
        <p:nvSpPr>
          <p:cNvPr id="9" name="Text 5"/>
          <p:cNvSpPr txBox="1"/>
          <p:nvPr/>
        </p:nvSpPr>
        <p:spPr>
          <a:xfrm>
            <a:off x="548640" y="5715000"/>
            <a:ext cx="11064240" cy="274320"/>
          </a:xfrm>
          <a:prstGeom prst="rect">
            <a:avLst/>
          </a:prstGeom>
          <a:noFill/>
          <a:ln/>
        </p:spPr>
        <p:txBody>
          <a:bodyPr wrap="square" lIns="0" tIns="0" rIns="0" bIns="0" rtlCol="0" anchor="t"/>
          <a:lstStyle/>
          <a:p>
            <a:pPr algn="l" indent="0" marL="0">
              <a:lnSpc>
                <a:spcPct val="110000"/>
              </a:lnSpc>
              <a:buNone/>
            </a:pPr>
            <a:r>
              <a:rPr lang="en-US" sz="1150" dirty="0">
                <a:solidFill>
                  <a:schemeClr val="tx1"/>
                </a:solidFill>
              </a:rPr>
              <a:t>Aunque el PEA declara la ética ambiental en la Unidad 3, la gestión de residuos de esta práctica es equivalente y se mantiene la lista de verificación.</a:t>
            </a:r>
            <a:endParaRPr lang="en-US" sz="1150" dirty="0"/>
          </a:p>
        </p:txBody>
      </p:sp>
      <p:sp>
        <p:nvSpPr>
          <p:cNvPr id="10" name="Text 6"/>
          <p:cNvSpPr txBox="1"/>
          <p:nvPr/>
        </p:nvSpPr>
        <p:spPr>
          <a:xfrm>
            <a:off x="548640" y="6080760"/>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actividad práctica · instrumento de evaluación</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Organización de la práctica en sesiones</a:t>
            </a:r>
            <a:endParaRPr lang="en-US" sz="32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4297680"/>
                <a:gridCol w="4389120"/>
              </a:tblGrid>
              <a:tr h="475488">
                <a:tc>
                  <a:txBody>
                    <a:bodyPr/>
                    <a:lstStyle/>
                    <a:p>
                      <a:pPr indent="0" marL="0">
                        <a:buNone/>
                      </a:pPr>
                      <a:r>
                        <a:rPr lang="en-US" sz="1300" b="1" dirty="0">
                          <a:solidFill>
                            <a:srgbClr val="FFFFFF"/>
                          </a:solidFill>
                        </a:rPr>
                        <a:t>Sesión</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completa</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Cómo se deja el trabajo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50" b="1" dirty="0">
                          <a:solidFill>
                            <a:schemeClr val="tx1"/>
                          </a:solidFill>
                        </a:rPr>
                        <a:t>Sesión 1</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Vaciado de fluidos, despiece completo, inventario y limpieza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Piezas identificadas en bandejas; bloque limpio y cubierto; superficies aceitadas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Sesión 2</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Comprobaciones del bloque y del cigüeñal, con fichas completas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Fichas cerradas con los valores del manual ya consultados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1"/>
                          </a:solidFill>
                        </a:rPr>
                        <a:t>Sesión 3</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Comprobaciones de pistones, segmentos y bielas; decisiones técnicas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Decisión escrita sobre cada pieza; material de reposición identificado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Sesión 4</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Armado completo, cierre del motor, llenado, purga y puesta en marcha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Motor armado, verificado y en funcionamiento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5760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63340"/>
            <a:ext cx="365760" cy="36576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786384" y="38633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4904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Entre sesiones, el bloque y el cigüeñal quedan cubiertos y con una fina capa de aceite sobre sus superficies mecanizadas. Una semana sin protección basta para que aparezca óxido superficial tras un lavado con agua.</a:t>
            </a:r>
            <a:endParaRPr lang="en-US" sz="1450" dirty="0"/>
          </a:p>
        </p:txBody>
      </p:sp>
      <p:sp>
        <p:nvSpPr>
          <p:cNvPr id="8" name="Shape 5"/>
          <p:cNvSpPr/>
          <p:nvPr/>
        </p:nvSpPr>
        <p:spPr>
          <a:xfrm>
            <a:off x="548640" y="465429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617720"/>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terminar cada sesión. </a:t>
            </a:r>
            <a:pPr indent="0" marL="0">
              <a:lnSpc>
                <a:spcPct val="106000"/>
              </a:lnSpc>
              <a:buNone/>
            </a:pPr>
            <a:r>
              <a:rPr lang="en-US" sz="1150" dirty="0">
                <a:solidFill>
                  <a:schemeClr val="accent4"/>
                </a:solidFill>
              </a:rPr>
              <a:t>fotografiar el estado, cubrir las piezas, proteger las superficies mecanizadas y anotar en la ficha el punto exacto en que se quedó</a:t>
            </a:r>
            <a:endParaRPr lang="en-US" sz="1150" dirty="0"/>
          </a:p>
        </p:txBody>
      </p:sp>
      <p:sp>
        <p:nvSpPr>
          <p:cNvPr id="11" name="Shape 8"/>
          <p:cNvSpPr/>
          <p:nvPr/>
        </p:nvSpPr>
        <p:spPr>
          <a:xfrm>
            <a:off x="548640" y="503834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038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001768"/>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Al empezar la siguiente. </a:t>
            </a:r>
            <a:pPr indent="0" marL="0">
              <a:lnSpc>
                <a:spcPct val="106000"/>
              </a:lnSpc>
              <a:buNone/>
            </a:pPr>
            <a:r>
              <a:rPr lang="en-US" sz="1150" dirty="0">
                <a:solidFill>
                  <a:schemeClr val="accent4"/>
                </a:solidFill>
              </a:rPr>
              <a:t>revisar la fotografía y el inventario antes de tocar nada; comprobar que no falta ninguna pieza ni ha aparecido óxido</a:t>
            </a:r>
            <a:endParaRPr lang="en-US" sz="1150" dirty="0"/>
          </a:p>
        </p:txBody>
      </p:sp>
      <p:sp>
        <p:nvSpPr>
          <p:cNvPr id="14" name="Shape 11"/>
          <p:cNvSpPr/>
          <p:nvPr/>
        </p:nvSpPr>
        <p:spPr>
          <a:xfrm>
            <a:off x="548640" y="542239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422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385816"/>
            <a:ext cx="10533888" cy="32918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Responsabilidad del grupo. </a:t>
            </a:r>
            <a:pPr indent="0" marL="0">
              <a:lnSpc>
                <a:spcPct val="106000"/>
              </a:lnSpc>
              <a:buNone/>
            </a:pPr>
            <a:r>
              <a:rPr lang="en-US" sz="1150" dirty="0">
                <a:solidFill>
                  <a:schemeClr val="accent4"/>
                </a:solidFill>
              </a:rPr>
              <a:t>el puesto queda ordenado aunque la sesión termine con prisa; es la misma exigencia de la Unidad 3 y se evalúa igual</a:t>
            </a:r>
            <a:endParaRPr lang="en-US" sz="115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14 horas práctico-experimentales · habilidades blandas: trabajo en equipo</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Síntesis de la Unidad 4</a:t>
            </a:r>
            <a:endParaRPr lang="en-US" sz="32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389120"/>
                <a:gridCol w="4480560"/>
              </a:tblGrid>
              <a:tr h="438912">
                <a:tc>
                  <a:txBody>
                    <a:bodyPr/>
                    <a:lstStyle/>
                    <a:p>
                      <a:pPr indent="0" marL="0">
                        <a:buNone/>
                      </a:pPr>
                      <a:r>
                        <a:rPr lang="en-US" sz="1300" b="1" dirty="0">
                          <a:solidFill>
                            <a:srgbClr val="FFFFFF"/>
                          </a:solidFill>
                        </a:rPr>
                        <a:t>Clase</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se estudió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Idea que debe quedar</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38912">
                <a:tc>
                  <a:txBody>
                    <a:bodyPr/>
                    <a:lstStyle/>
                    <a:p>
                      <a:pPr indent="0" marL="0">
                        <a:buNone/>
                      </a:pPr>
                      <a:r>
                        <a:rPr lang="en-US" sz="1150" b="1" dirty="0">
                          <a:solidFill>
                            <a:schemeClr val="tx1"/>
                          </a:solidFill>
                        </a:rPr>
                        <a:t>4.1 — Lubricación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Funciones del aceite, propiedades y clasificación, tipos de lubricación, circuito, bombas, filtros y diagnóstico por presión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La película de aceite depende del giro: el arranque es el momento de mayor desgaste del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4.2 — Refrigeración</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Por aire y por agua, circuito, bomba, radiador, termostato, ventilador, refrigerante y diagnóstico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sistema regula, no enfría; cada elemento falla con un patrón de síntoma propio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38912">
                <a:tc>
                  <a:txBody>
                    <a:bodyPr/>
                    <a:lstStyle/>
                    <a:p>
                      <a:pPr indent="0" marL="0">
                        <a:buNone/>
                      </a:pPr>
                      <a:r>
                        <a:rPr lang="en-US" sz="1150" b="1" dirty="0">
                          <a:solidFill>
                            <a:schemeClr val="tx1"/>
                          </a:solidFill>
                        </a:rPr>
                        <a:t>4.3 — Bloque motor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Función, materiales, camisas, conductos, apoyos de bancada, rectificado y bruñido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Los apoyos se mecanizan con sus sombreretes y su alineación importa tanto como el diámetro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38912">
                <a:tc>
                  <a:txBody>
                    <a:bodyPr/>
                    <a:lstStyle/>
                    <a:p>
                      <a:pPr indent="0" marL="0">
                        <a:buNone/>
                      </a:pPr>
                      <a:r>
                        <a:rPr lang="en-US" sz="1150" b="1" dirty="0">
                          <a:solidFill>
                            <a:schemeClr val="tx1"/>
                          </a:solidFill>
                        </a:rPr>
                        <a:t>4.4 — Tren alternativo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Mecanismo, pistón, segmentos, bulón, biela, cigüeñal, cojinetes, holguras y armado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La holgura decide si hay película; el giro libre tras cada apriete es el control de calidad</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61188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381762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38176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70332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hilo de la unidad: la lubricación y la refrigeración mantienen vivo al motor (4.1 y 4.2); el bloque las contiene y aloja todo (4.3); y el tren alternativo convierte la combustión en par (4.4). Las cuatro cosas se integran en una sola práctica.</a:t>
            </a:r>
            <a:endParaRPr lang="en-US" sz="1450" dirty="0"/>
          </a:p>
        </p:txBody>
      </p:sp>
      <p:sp>
        <p:nvSpPr>
          <p:cNvPr id="8" name="tarjeta_1"/>
          <p:cNvSpPr/>
          <p:nvPr/>
        </p:nvSpPr>
        <p:spPr>
          <a:xfrm>
            <a:off x="54864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9" name="Shape 6"/>
          <p:cNvSpPr/>
          <p:nvPr/>
        </p:nvSpPr>
        <p:spPr>
          <a:xfrm>
            <a:off x="804672" y="4764024"/>
            <a:ext cx="420624" cy="420624"/>
          </a:xfrm>
          <a:prstGeom prst="ellipse">
            <a:avLst/>
          </a:prstGeom>
          <a:solidFill>
            <a:schemeClr val="accent1"/>
          </a:solidFill>
          <a:ln w="12700">
            <a:solidFill>
              <a:schemeClr val="accent1"/>
            </a:solidFill>
            <a:prstDash val="solid"/>
          </a:ln>
        </p:spPr>
        <p:txBody>
          <a:bodyPr/>
          <a:p/>
        </p:txBody>
      </p:sp>
      <p:sp>
        <p:nvSpPr>
          <p:cNvPr id="10" name="Text 7"/>
          <p:cNvSpPr txBox="1"/>
          <p:nvPr/>
        </p:nvSpPr>
        <p:spPr>
          <a:xfrm>
            <a:off x="80467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1" name="Text 8"/>
          <p:cNvSpPr txBox="1"/>
          <p:nvPr/>
        </p:nvSpPr>
        <p:spPr>
          <a:xfrm>
            <a:off x="135331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Práctica de la unidad</a:t>
            </a:r>
            <a:endParaRPr lang="en-US" sz="1300" dirty="0"/>
          </a:p>
        </p:txBody>
      </p:sp>
      <p:sp>
        <p:nvSpPr>
          <p:cNvPr id="12" name="Text 9"/>
          <p:cNvSpPr txBox="1"/>
          <p:nvPr/>
        </p:nvSpPr>
        <p:spPr>
          <a:xfrm>
            <a:off x="80467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Despiece, comprobaciones y armado del bloque motor y del tren alternativo, con informe y puesta en marcha.</a:t>
            </a:r>
            <a:endParaRPr lang="en-US" sz="1050" dirty="0"/>
          </a:p>
        </p:txBody>
      </p:sp>
      <p:sp>
        <p:nvSpPr>
          <p:cNvPr id="13" name="Text 10"/>
          <p:cNvSpPr txBox="1"/>
          <p:nvPr/>
        </p:nvSpPr>
        <p:spPr>
          <a:xfrm>
            <a:off x="804672" y="5586984"/>
            <a:ext cx="2993136" cy="274320"/>
          </a:xfrm>
          <a:prstGeom prst="rect">
            <a:avLst/>
          </a:prstGeom>
          <a:noFill/>
          <a:ln/>
        </p:spPr>
        <p:txBody>
          <a:bodyPr wrap="square" lIns="0" tIns="0" rIns="0" bIns="0" rtlCol="0" anchor="ctr"/>
          <a:lstStyle/>
          <a:p>
            <a:pPr indent="0" marL="0">
              <a:buNone/>
            </a:pPr>
            <a:r>
              <a:rPr lang="en-US" sz="1200" b="1" dirty="0">
                <a:solidFill>
                  <a:schemeClr val="accent1"/>
                </a:solidFill>
              </a:rPr>
              <a:t>Tabla 5 del PEA</a:t>
            </a:r>
            <a:endParaRPr lang="en-US" sz="1200" dirty="0"/>
          </a:p>
        </p:txBody>
      </p:sp>
      <p:sp>
        <p:nvSpPr>
          <p:cNvPr id="14" name="tarjeta_2"/>
          <p:cNvSpPr/>
          <p:nvPr/>
        </p:nvSpPr>
        <p:spPr>
          <a:xfrm>
            <a:off x="432816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15" name="Shape 12"/>
          <p:cNvSpPr/>
          <p:nvPr/>
        </p:nvSpPr>
        <p:spPr>
          <a:xfrm>
            <a:off x="4584192" y="4764024"/>
            <a:ext cx="420624" cy="420624"/>
          </a:xfrm>
          <a:prstGeom prst="ellipse">
            <a:avLst/>
          </a:prstGeom>
          <a:solidFill>
            <a:schemeClr val="accent2"/>
          </a:solidFill>
          <a:ln w="12700">
            <a:solidFill>
              <a:schemeClr val="accent2"/>
            </a:solidFill>
            <a:prstDash val="solid"/>
          </a:ln>
        </p:spPr>
        <p:txBody>
          <a:bodyPr/>
          <a:p/>
        </p:txBody>
      </p:sp>
      <p:sp>
        <p:nvSpPr>
          <p:cNvPr id="16" name="Text 13"/>
          <p:cNvSpPr txBox="1"/>
          <p:nvPr/>
        </p:nvSpPr>
        <p:spPr>
          <a:xfrm>
            <a:off x="458419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7" name="Text 14"/>
          <p:cNvSpPr txBox="1"/>
          <p:nvPr/>
        </p:nvSpPr>
        <p:spPr>
          <a:xfrm>
            <a:off x="513283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Resultado de aprendizaje</a:t>
            </a:r>
            <a:endParaRPr lang="en-US" sz="1300" dirty="0"/>
          </a:p>
        </p:txBody>
      </p:sp>
      <p:sp>
        <p:nvSpPr>
          <p:cNvPr id="18" name="Text 15"/>
          <p:cNvSpPr txBox="1"/>
          <p:nvPr/>
        </p:nvSpPr>
        <p:spPr>
          <a:xfrm>
            <a:off x="458419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Demostrar seguridad en el empleo de las herramientas para el ensamblaje de un motor.</a:t>
            </a:r>
            <a:endParaRPr lang="en-US" sz="1050" dirty="0"/>
          </a:p>
        </p:txBody>
      </p:sp>
      <p:sp>
        <p:nvSpPr>
          <p:cNvPr id="19" name="Text 16"/>
          <p:cNvSpPr txBox="1"/>
          <p:nvPr/>
        </p:nvSpPr>
        <p:spPr>
          <a:xfrm>
            <a:off x="4584192" y="5586984"/>
            <a:ext cx="2993136" cy="274320"/>
          </a:xfrm>
          <a:prstGeom prst="rect">
            <a:avLst/>
          </a:prstGeom>
          <a:noFill/>
          <a:ln/>
        </p:spPr>
        <p:txBody>
          <a:bodyPr wrap="square" lIns="0" tIns="0" rIns="0" bIns="0" rtlCol="0" anchor="ctr"/>
          <a:lstStyle/>
          <a:p>
            <a:pPr indent="0" marL="0">
              <a:buNone/>
            </a:pPr>
            <a:r>
              <a:rPr lang="en-US" sz="1200" b="1" dirty="0">
                <a:solidFill>
                  <a:schemeClr val="accent2"/>
                </a:solidFill>
              </a:rPr>
              <a:t>Tabla 5 del PEA</a:t>
            </a:r>
            <a:endParaRPr lang="en-US" sz="1200" dirty="0"/>
          </a:p>
        </p:txBody>
      </p:sp>
      <p:sp>
        <p:nvSpPr>
          <p:cNvPr id="20" name="tarjeta_3"/>
          <p:cNvSpPr/>
          <p:nvPr/>
        </p:nvSpPr>
        <p:spPr>
          <a:xfrm>
            <a:off x="8107680" y="4526280"/>
            <a:ext cx="350520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01600" dist="12700" dir="5400000">
              <a:srgbClr val="1A1F26">
                <a:alpha val="10000"/>
              </a:srgbClr>
            </a:outerShdw>
          </a:effectLst>
        </p:spPr>
        <p:txBody>
          <a:bodyPr/>
          <a:p/>
        </p:txBody>
      </p:sp>
      <p:sp>
        <p:nvSpPr>
          <p:cNvPr id="21" name="Shape 18"/>
          <p:cNvSpPr/>
          <p:nvPr/>
        </p:nvSpPr>
        <p:spPr>
          <a:xfrm>
            <a:off x="8363712" y="4764024"/>
            <a:ext cx="420624" cy="420624"/>
          </a:xfrm>
          <a:prstGeom prst="ellipse">
            <a:avLst/>
          </a:prstGeom>
          <a:solidFill>
            <a:schemeClr val="accent3"/>
          </a:solidFill>
          <a:ln w="12700">
            <a:solidFill>
              <a:schemeClr val="accent3"/>
            </a:solidFill>
            <a:prstDash val="solid"/>
          </a:ln>
        </p:spPr>
        <p:txBody>
          <a:bodyPr/>
          <a:p/>
        </p:txBody>
      </p:sp>
      <p:sp>
        <p:nvSpPr>
          <p:cNvPr id="22" name="Text 19"/>
          <p:cNvSpPr txBox="1"/>
          <p:nvPr/>
        </p:nvSpPr>
        <p:spPr>
          <a:xfrm>
            <a:off x="8363712"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E</a:t>
            </a:r>
            <a:endParaRPr lang="en-US" sz="1400" dirty="0"/>
          </a:p>
        </p:txBody>
      </p:sp>
      <p:sp>
        <p:nvSpPr>
          <p:cNvPr id="23" name="Text 20"/>
          <p:cNvSpPr txBox="1"/>
          <p:nvPr/>
        </p:nvSpPr>
        <p:spPr>
          <a:xfrm>
            <a:off x="8912352" y="4745736"/>
            <a:ext cx="2444496" cy="457200"/>
          </a:xfrm>
          <a:prstGeom prst="rect">
            <a:avLst/>
          </a:prstGeom>
          <a:noFill/>
          <a:ln/>
        </p:spPr>
        <p:txBody>
          <a:bodyPr wrap="square" lIns="0" tIns="0" rIns="0" bIns="0" rtlCol="0" anchor="ctr"/>
          <a:lstStyle/>
          <a:p>
            <a:pPr indent="0" marL="0">
              <a:buNone/>
            </a:pPr>
            <a:r>
              <a:rPr lang="en-US" sz="1300" b="1" dirty="0">
                <a:solidFill>
                  <a:schemeClr val="tx1"/>
                </a:solidFill>
              </a:rPr>
              <a:t>Evaluación</a:t>
            </a:r>
            <a:endParaRPr lang="en-US" sz="1300" dirty="0"/>
          </a:p>
        </p:txBody>
      </p:sp>
      <p:sp>
        <p:nvSpPr>
          <p:cNvPr id="24" name="Text 21"/>
          <p:cNvSpPr txBox="1"/>
          <p:nvPr/>
        </p:nvSpPr>
        <p:spPr>
          <a:xfrm>
            <a:off x="8363712" y="5276088"/>
            <a:ext cx="2993136" cy="493776"/>
          </a:xfrm>
          <a:prstGeom prst="rect">
            <a:avLst/>
          </a:prstGeom>
          <a:noFill/>
          <a:ln/>
        </p:spPr>
        <p:txBody>
          <a:bodyPr wrap="square" lIns="0" tIns="0" rIns="0" bIns="0" rtlCol="0" anchor="t"/>
          <a:lstStyle/>
          <a:p>
            <a:pPr indent="0" marL="0">
              <a:lnSpc>
                <a:spcPct val="108000"/>
              </a:lnSpc>
              <a:buNone/>
            </a:pPr>
            <a:r>
              <a:rPr lang="en-US" sz="1050" dirty="0">
                <a:solidFill>
                  <a:schemeClr val="accent4"/>
                </a:solidFill>
              </a:rPr>
              <a:t>Participación, taller en clase, tareas, trabajo autónomo, informe de práctica, prueba de unidad y examen bimestral.</a:t>
            </a:r>
            <a:endParaRPr lang="en-US" sz="1050" dirty="0"/>
          </a:p>
        </p:txBody>
      </p:sp>
      <p:sp>
        <p:nvSpPr>
          <p:cNvPr id="25" name="Text 22"/>
          <p:cNvSpPr txBox="1"/>
          <p:nvPr/>
        </p:nvSpPr>
        <p:spPr>
          <a:xfrm>
            <a:off x="8363712" y="5586984"/>
            <a:ext cx="2993136" cy="274320"/>
          </a:xfrm>
          <a:prstGeom prst="rect">
            <a:avLst/>
          </a:prstGeom>
          <a:noFill/>
          <a:ln/>
        </p:spPr>
        <p:txBody>
          <a:bodyPr wrap="square" lIns="0" tIns="0" rIns="0" bIns="0" rtlCol="0" anchor="ctr"/>
          <a:lstStyle/>
          <a:p>
            <a:pPr indent="0" marL="0">
              <a:buNone/>
            </a:pPr>
            <a:r>
              <a:rPr lang="en-US" sz="1200" b="1" dirty="0">
                <a:solidFill>
                  <a:schemeClr val="accent3"/>
                </a:solidFill>
              </a:rPr>
              <a:t>Sistema institucional</a:t>
            </a:r>
            <a:endParaRPr lang="en-US" sz="1200" dirty="0"/>
          </a:p>
        </p:txBody>
      </p:sp>
      <p:sp>
        <p:nvSpPr>
          <p:cNvPr id="26" name="Text 23"/>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Tabla 5 del PEA — Unidad 4 completa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Repaso integrado para el examen bimestral</a:t>
            </a:r>
            <a:endParaRPr lang="en-US" sz="3200" dirty="0"/>
          </a:p>
        </p:txBody>
      </p:sp>
      <p:sp>
        <p:nvSpPr>
          <p:cNvPr id="3" name="Text 1"/>
          <p:cNvSpPr txBox="1"/>
          <p:nvPr/>
        </p:nvSpPr>
        <p:spPr>
          <a:xfrm>
            <a:off x="548640" y="1325880"/>
            <a:ext cx="11064240" cy="36576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El examen bimestral evalúa las unidades 3 y 4 juntas. Estos son los ocho puntos que concentran la mayor parte del contenido evaluable.</a:t>
            </a:r>
            <a:endParaRPr lang="en-US" sz="1400" dirty="0"/>
          </a:p>
        </p:txBody>
      </p:sp>
      <p:sp>
        <p:nvSpPr>
          <p:cNvPr id="4" name="Shape 2"/>
          <p:cNvSpPr/>
          <p:nvPr/>
        </p:nvSpPr>
        <p:spPr>
          <a:xfrm>
            <a:off x="548640" y="1773936"/>
            <a:ext cx="384048" cy="384048"/>
          </a:xfrm>
          <a:prstGeom prst="ellipse">
            <a:avLst/>
          </a:prstGeom>
          <a:solidFill>
            <a:schemeClr val="accent2"/>
          </a:solidFill>
          <a:ln w="12700">
            <a:solidFill>
              <a:schemeClr val="accent2"/>
            </a:solidFill>
            <a:prstDash val="solid"/>
          </a:ln>
        </p:spPr>
        <p:txBody>
          <a:bodyPr/>
          <a:p/>
        </p:txBody>
      </p:sp>
      <p:sp>
        <p:nvSpPr>
          <p:cNvPr id="5" name="Text 3"/>
          <p:cNvSpPr txBox="1"/>
          <p:nvPr/>
        </p:nvSpPr>
        <p:spPr>
          <a:xfrm>
            <a:off x="548640" y="1773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078992" y="1737360"/>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Diagrama de distribución y cruce de válvulas (U3). </a:t>
            </a:r>
            <a:pPr indent="0" marL="0">
              <a:lnSpc>
                <a:spcPct val="106000"/>
              </a:lnSpc>
              <a:buNone/>
            </a:pPr>
            <a:r>
              <a:rPr lang="en-US" sz="1150" dirty="0">
                <a:solidFill>
                  <a:schemeClr val="accent4"/>
                </a:solidFill>
              </a:rPr>
              <a:t>avances, retrasos, duración de apertura, cruce y cálculo del desplazamiento por diente</a:t>
            </a:r>
            <a:endParaRPr lang="en-US" sz="1150" dirty="0"/>
          </a:p>
        </p:txBody>
      </p:sp>
      <p:sp>
        <p:nvSpPr>
          <p:cNvPr id="7" name="Shape 5"/>
          <p:cNvSpPr/>
          <p:nvPr/>
        </p:nvSpPr>
        <p:spPr>
          <a:xfrm>
            <a:off x="548640" y="2249424"/>
            <a:ext cx="384048" cy="384048"/>
          </a:xfrm>
          <a:prstGeom prst="ellipse">
            <a:avLst/>
          </a:prstGeom>
          <a:solidFill>
            <a:schemeClr val="accent2"/>
          </a:solidFill>
          <a:ln w="12700">
            <a:solidFill>
              <a:schemeClr val="accent2"/>
            </a:solidFill>
            <a:prstDash val="solid"/>
          </a:ln>
        </p:spPr>
        <p:txBody>
          <a:bodyPr/>
          <a:p/>
        </p:txBody>
      </p:sp>
      <p:sp>
        <p:nvSpPr>
          <p:cNvPr id="8" name="Text 6"/>
          <p:cNvSpPr txBox="1"/>
          <p:nvPr/>
        </p:nvSpPr>
        <p:spPr>
          <a:xfrm>
            <a:off x="548640" y="22494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Text 7"/>
          <p:cNvSpPr txBox="1"/>
          <p:nvPr/>
        </p:nvSpPr>
        <p:spPr>
          <a:xfrm>
            <a:off x="1078992" y="2212848"/>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Arquitecturas y accionamientos (U3). </a:t>
            </a:r>
            <a:pPr indent="0" marL="0">
              <a:lnSpc>
                <a:spcPct val="106000"/>
              </a:lnSpc>
              <a:buNone/>
            </a:pPr>
            <a:r>
              <a:rPr lang="en-US" sz="1150" dirty="0">
                <a:solidFill>
                  <a:schemeClr val="accent4"/>
                </a:solidFill>
              </a:rPr>
              <a:t>SV, OHV, OHC, SOHC y DOHC; piñones, cadena y correa, con su mantenimiento y su forma de fallar</a:t>
            </a:r>
            <a:endParaRPr lang="en-US" sz="1150" dirty="0"/>
          </a:p>
        </p:txBody>
      </p:sp>
      <p:sp>
        <p:nvSpPr>
          <p:cNvPr id="10" name="Shape 8"/>
          <p:cNvSpPr/>
          <p:nvPr/>
        </p:nvSpPr>
        <p:spPr>
          <a:xfrm>
            <a:off x="548640" y="2724912"/>
            <a:ext cx="384048" cy="384048"/>
          </a:xfrm>
          <a:prstGeom prst="ellipse">
            <a:avLst/>
          </a:prstGeom>
          <a:solidFill>
            <a:schemeClr val="accent2"/>
          </a:solidFill>
          <a:ln w="12700">
            <a:solidFill>
              <a:schemeClr val="accent2"/>
            </a:solidFill>
            <a:prstDash val="solid"/>
          </a:ln>
        </p:spPr>
        <p:txBody>
          <a:bodyPr/>
          <a:p/>
        </p:txBody>
      </p:sp>
      <p:sp>
        <p:nvSpPr>
          <p:cNvPr id="11" name="Text 9"/>
          <p:cNvSpPr txBox="1"/>
          <p:nvPr/>
        </p:nvSpPr>
        <p:spPr>
          <a:xfrm>
            <a:off x="54864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Text 10"/>
          <p:cNvSpPr txBox="1"/>
          <p:nvPr/>
        </p:nvSpPr>
        <p:spPr>
          <a:xfrm>
            <a:off x="1078992" y="2688336"/>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Puesta a punto y motor interferente (U3). </a:t>
            </a:r>
            <a:pPr indent="0" marL="0">
              <a:lnSpc>
                <a:spcPct val="106000"/>
              </a:lnSpc>
              <a:buNone/>
            </a:pPr>
            <a:r>
              <a:rPr lang="en-US" sz="1150" dirty="0">
                <a:solidFill>
                  <a:schemeClr val="accent4"/>
                </a:solidFill>
              </a:rPr>
              <a:t>marcas de calado, procedimiento general, verificación de dos vueltas y consecuencias de un error</a:t>
            </a:r>
            <a:endParaRPr lang="en-US" sz="1150" dirty="0"/>
          </a:p>
        </p:txBody>
      </p:sp>
      <p:sp>
        <p:nvSpPr>
          <p:cNvPr id="13" name="Shape 11"/>
          <p:cNvSpPr/>
          <p:nvPr/>
        </p:nvSpPr>
        <p:spPr>
          <a:xfrm>
            <a:off x="548640" y="3200400"/>
            <a:ext cx="384048" cy="384048"/>
          </a:xfrm>
          <a:prstGeom prst="ellipse">
            <a:avLst/>
          </a:prstGeom>
          <a:solidFill>
            <a:schemeClr val="accent2"/>
          </a:solidFill>
          <a:ln w="12700">
            <a:solidFill>
              <a:schemeClr val="accent2"/>
            </a:solidFill>
            <a:prstDash val="solid"/>
          </a:ln>
        </p:spPr>
        <p:txBody>
          <a:bodyPr/>
          <a:p/>
        </p:txBody>
      </p:sp>
      <p:sp>
        <p:nvSpPr>
          <p:cNvPr id="14" name="Text 12"/>
          <p:cNvSpPr txBox="1"/>
          <p:nvPr/>
        </p:nvSpPr>
        <p:spPr>
          <a:xfrm>
            <a:off x="5486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5" name="Text 13"/>
          <p:cNvSpPr txBox="1"/>
          <p:nvPr/>
        </p:nvSpPr>
        <p:spPr>
          <a:xfrm>
            <a:off x="1078992" y="3163824"/>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Cabezote y sus comprobaciones (U3). </a:t>
            </a:r>
            <a:pPr indent="0" marL="0">
              <a:lnSpc>
                <a:spcPct val="106000"/>
              </a:lnSpc>
              <a:buNone/>
            </a:pPr>
            <a:r>
              <a:rPr lang="en-US" sz="1150" dirty="0">
                <a:solidFill>
                  <a:schemeClr val="accent4"/>
                </a:solidFill>
              </a:rPr>
              <a:t>planitud, guías antes que asientos, esmerilado, muelles y reglaje de válvulas</a:t>
            </a:r>
            <a:endParaRPr lang="en-US" sz="1150" dirty="0"/>
          </a:p>
        </p:txBody>
      </p:sp>
      <p:sp>
        <p:nvSpPr>
          <p:cNvPr id="16" name="Shape 14"/>
          <p:cNvSpPr/>
          <p:nvPr/>
        </p:nvSpPr>
        <p:spPr>
          <a:xfrm>
            <a:off x="548640" y="3675888"/>
            <a:ext cx="384048" cy="384048"/>
          </a:xfrm>
          <a:prstGeom prst="ellipse">
            <a:avLst/>
          </a:prstGeom>
          <a:solidFill>
            <a:schemeClr val="accent2"/>
          </a:solidFill>
          <a:ln w="12700">
            <a:solidFill>
              <a:schemeClr val="accent2"/>
            </a:solidFill>
            <a:prstDash val="solid"/>
          </a:ln>
        </p:spPr>
        <p:txBody>
          <a:bodyPr/>
          <a:p/>
        </p:txBody>
      </p:sp>
      <p:sp>
        <p:nvSpPr>
          <p:cNvPr id="17" name="Text 15"/>
          <p:cNvSpPr txBox="1"/>
          <p:nvPr/>
        </p:nvSpPr>
        <p:spPr>
          <a:xfrm>
            <a:off x="548640"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txBox="1"/>
          <p:nvPr/>
        </p:nvSpPr>
        <p:spPr>
          <a:xfrm>
            <a:off x="1078992" y="3639312"/>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Lubricación: funciones y diagnóstico (U4). </a:t>
            </a:r>
            <a:pPr indent="0" marL="0">
              <a:lnSpc>
                <a:spcPct val="106000"/>
              </a:lnSpc>
              <a:buNone/>
            </a:pPr>
            <a:r>
              <a:rPr lang="en-US" sz="1150" dirty="0">
                <a:solidFill>
                  <a:schemeClr val="accent4"/>
                </a:solidFill>
              </a:rPr>
              <a:t>las seis funciones del aceite, los tipos de lubricación y el orden de comprobación de la presión</a:t>
            </a:r>
            <a:endParaRPr lang="en-US" sz="1150" dirty="0"/>
          </a:p>
        </p:txBody>
      </p:sp>
      <p:sp>
        <p:nvSpPr>
          <p:cNvPr id="19" name="Shape 17"/>
          <p:cNvSpPr/>
          <p:nvPr/>
        </p:nvSpPr>
        <p:spPr>
          <a:xfrm>
            <a:off x="548640" y="4151376"/>
            <a:ext cx="384048" cy="384048"/>
          </a:xfrm>
          <a:prstGeom prst="ellipse">
            <a:avLst/>
          </a:prstGeom>
          <a:solidFill>
            <a:schemeClr val="accent2"/>
          </a:solidFill>
          <a:ln w="12700">
            <a:solidFill>
              <a:schemeClr val="accent2"/>
            </a:solidFill>
            <a:prstDash val="solid"/>
          </a:ln>
        </p:spPr>
        <p:txBody>
          <a:bodyPr/>
          <a:p/>
        </p:txBody>
      </p:sp>
      <p:sp>
        <p:nvSpPr>
          <p:cNvPr id="20" name="Text 18"/>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9"/>
          <p:cNvSpPr txBox="1"/>
          <p:nvPr/>
        </p:nvSpPr>
        <p:spPr>
          <a:xfrm>
            <a:off x="1078992" y="4114800"/>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Refrigeración: circuito y patrones de fallo (U4). </a:t>
            </a:r>
            <a:pPr indent="0" marL="0">
              <a:lnSpc>
                <a:spcPct val="106000"/>
              </a:lnSpc>
              <a:buNone/>
            </a:pPr>
            <a:r>
              <a:rPr lang="en-US" sz="1150" dirty="0">
                <a:solidFill>
                  <a:schemeClr val="accent4"/>
                </a:solidFill>
              </a:rPr>
              <a:t>elementos del circuito, función del termostato y de la tapa, y qué indica cada patrón de recalentamiento</a:t>
            </a:r>
            <a:endParaRPr lang="en-US" sz="1150" dirty="0"/>
          </a:p>
        </p:txBody>
      </p:sp>
      <p:sp>
        <p:nvSpPr>
          <p:cNvPr id="22" name="Shape 20"/>
          <p:cNvSpPr/>
          <p:nvPr/>
        </p:nvSpPr>
        <p:spPr>
          <a:xfrm>
            <a:off x="548640" y="4626864"/>
            <a:ext cx="384048" cy="384048"/>
          </a:xfrm>
          <a:prstGeom prst="ellipse">
            <a:avLst/>
          </a:prstGeom>
          <a:solidFill>
            <a:schemeClr val="accent2"/>
          </a:solidFill>
          <a:ln w="12700">
            <a:solidFill>
              <a:schemeClr val="accent2"/>
            </a:solidFill>
            <a:prstDash val="solid"/>
          </a:ln>
        </p:spPr>
        <p:txBody>
          <a:bodyPr/>
          <a:p/>
        </p:txBody>
      </p:sp>
      <p:sp>
        <p:nvSpPr>
          <p:cNvPr id="23" name="Text 21"/>
          <p:cNvSpPr txBox="1"/>
          <p:nvPr/>
        </p:nvSpPr>
        <p:spPr>
          <a:xfrm>
            <a:off x="548640" y="4626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4" name="Text 22"/>
          <p:cNvSpPr txBox="1"/>
          <p:nvPr/>
        </p:nvSpPr>
        <p:spPr>
          <a:xfrm>
            <a:off x="1078992" y="4590288"/>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Bloque y decisiones de reparación (U4). </a:t>
            </a:r>
            <a:pPr indent="0" marL="0">
              <a:lnSpc>
                <a:spcPct val="106000"/>
              </a:lnSpc>
              <a:buNone/>
            </a:pPr>
            <a:r>
              <a:rPr lang="en-US" sz="1150" dirty="0">
                <a:solidFill>
                  <a:schemeClr val="accent4"/>
                </a:solidFill>
              </a:rPr>
              <a:t>comprobaciones, sobremedidas, bruñido y encamisado, y apoyos de bancada</a:t>
            </a:r>
            <a:endParaRPr lang="en-US" sz="1150" dirty="0"/>
          </a:p>
        </p:txBody>
      </p:sp>
      <p:sp>
        <p:nvSpPr>
          <p:cNvPr id="25" name="Shape 23"/>
          <p:cNvSpPr/>
          <p:nvPr/>
        </p:nvSpPr>
        <p:spPr>
          <a:xfrm>
            <a:off x="548640" y="5102352"/>
            <a:ext cx="384048" cy="384048"/>
          </a:xfrm>
          <a:prstGeom prst="ellipse">
            <a:avLst/>
          </a:prstGeom>
          <a:solidFill>
            <a:schemeClr val="accent2"/>
          </a:solidFill>
          <a:ln w="12700">
            <a:solidFill>
              <a:schemeClr val="accent2"/>
            </a:solidFill>
            <a:prstDash val="solid"/>
          </a:ln>
        </p:spPr>
        <p:txBody>
          <a:bodyPr/>
          <a:p/>
        </p:txBody>
      </p:sp>
      <p:sp>
        <p:nvSpPr>
          <p:cNvPr id="26" name="Text 24"/>
          <p:cNvSpPr txBox="1"/>
          <p:nvPr/>
        </p:nvSpPr>
        <p:spPr>
          <a:xfrm>
            <a:off x="548640" y="5102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7" name="Text 25"/>
          <p:cNvSpPr txBox="1"/>
          <p:nvPr/>
        </p:nvSpPr>
        <p:spPr>
          <a:xfrm>
            <a:off x="1078992" y="5065776"/>
            <a:ext cx="10533888" cy="420624"/>
          </a:xfrm>
          <a:prstGeom prst="rect">
            <a:avLst/>
          </a:prstGeom>
          <a:noFill/>
          <a:ln/>
        </p:spPr>
        <p:txBody>
          <a:bodyPr wrap="square" lIns="0" tIns="0" rIns="0" bIns="0" rtlCol="0" anchor="ctr"/>
          <a:lstStyle/>
          <a:p>
            <a:pPr indent="0" marL="0">
              <a:lnSpc>
                <a:spcPct val="106000"/>
              </a:lnSpc>
              <a:buNone/>
            </a:pPr>
            <a:r>
              <a:rPr lang="en-US" sz="1150" b="1" dirty="0">
                <a:solidFill>
                  <a:schemeClr val="tx1"/>
                </a:solidFill>
              </a:rPr>
              <a:t>Tren alternativo y holguras (U4). </a:t>
            </a:r>
            <a:pPr indent="0" marL="0">
              <a:lnSpc>
                <a:spcPct val="106000"/>
              </a:lnSpc>
              <a:buNone/>
            </a:pPr>
            <a:r>
              <a:rPr lang="en-US" sz="1150" dirty="0">
                <a:solidFill>
                  <a:schemeClr val="accent4"/>
                </a:solidFill>
              </a:rPr>
              <a:t>segmentos, cojinetes, medición de holguras con hilo calibrado y procedimiento de armado</a:t>
            </a:r>
            <a:endParaRPr lang="en-US" sz="1150" dirty="0"/>
          </a:p>
        </p:txBody>
      </p:sp>
      <p:sp>
        <p:nvSpPr>
          <p:cNvPr id="28" name="Shape 26"/>
          <p:cNvSpPr/>
          <p:nvPr/>
        </p:nvSpPr>
        <p:spPr>
          <a:xfrm>
            <a:off x="548640" y="5596128"/>
            <a:ext cx="11064240" cy="384048"/>
          </a:xfrm>
          <a:prstGeom prst="roundRect">
            <a:avLst>
              <a:gd name="adj" fmla="val 14286"/>
            </a:avLst>
          </a:prstGeom>
          <a:solidFill>
            <a:schemeClr val="bg2"/>
          </a:solidFill>
          <a:ln w="12700">
            <a:solidFill>
              <a:schemeClr val="bg2"/>
            </a:solidFill>
            <a:prstDash val="solid"/>
          </a:ln>
        </p:spPr>
        <p:txBody>
          <a:bodyPr/>
          <a:p/>
        </p:txBody>
      </p:sp>
      <p:sp>
        <p:nvSpPr>
          <p:cNvPr id="29" name="Shape 27"/>
          <p:cNvSpPr/>
          <p:nvPr/>
        </p:nvSpPr>
        <p:spPr>
          <a:xfrm>
            <a:off x="786384" y="5605272"/>
            <a:ext cx="365760" cy="365760"/>
          </a:xfrm>
          <a:prstGeom prst="ellipse">
            <a:avLst/>
          </a:prstGeom>
          <a:solidFill>
            <a:schemeClr val="accent2"/>
          </a:solidFill>
          <a:ln w="12700">
            <a:solidFill>
              <a:schemeClr val="accent2"/>
            </a:solidFill>
            <a:prstDash val="solid"/>
          </a:ln>
        </p:spPr>
        <p:txBody>
          <a:bodyPr/>
          <a:p/>
        </p:txBody>
      </p:sp>
      <p:sp>
        <p:nvSpPr>
          <p:cNvPr id="30" name="Text 28"/>
          <p:cNvSpPr txBox="1"/>
          <p:nvPr/>
        </p:nvSpPr>
        <p:spPr>
          <a:xfrm>
            <a:off x="786384" y="56052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1" name="Text 29"/>
          <p:cNvSpPr txBox="1"/>
          <p:nvPr/>
        </p:nvSpPr>
        <p:spPr>
          <a:xfrm>
            <a:off x="1298448" y="5687568"/>
            <a:ext cx="10058400" cy="201168"/>
          </a:xfrm>
          <a:prstGeom prst="rect">
            <a:avLst/>
          </a:prstGeom>
          <a:noFill/>
          <a:ln/>
        </p:spPr>
        <p:txBody>
          <a:bodyPr wrap="square" lIns="0" tIns="0" rIns="0" bIns="0" rtlCol="0" anchor="ctr"/>
          <a:lstStyle/>
          <a:p>
            <a:pPr indent="0" marL="0">
              <a:lnSpc>
                <a:spcPct val="106000"/>
              </a:lnSpc>
              <a:buNone/>
            </a:pPr>
            <a:r>
              <a:rPr lang="en-US" sz="1100" dirty="0">
                <a:solidFill>
                  <a:schemeClr val="tx1"/>
                </a:solidFill>
              </a:rPr>
              <a:t>Consejo de estudio: para cada comprobación de las dos unidades, sepa decir qué se mide, con qué instrumento, contra qué valor se compara y qué se decide. Esas cuatro preguntas cubren casi todo lo evaluable.</a:t>
            </a:r>
            <a:endParaRPr lang="en-US" sz="1100" dirty="0"/>
          </a:p>
        </p:txBody>
      </p:sp>
      <p:sp>
        <p:nvSpPr>
          <p:cNvPr id="32" name="Text 30"/>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Sistema de evaluación institucional — examen bimestral, unidades 3 y 4</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asignatura completa: lo que se ha construido</a:t>
            </a:r>
            <a:endParaRPr lang="en-US" sz="3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389120"/>
                <a:gridCol w="4480560"/>
              </a:tblGrid>
              <a:tr h="475488">
                <a:tc>
                  <a:txBody>
                    <a:bodyPr/>
                    <a:lstStyle/>
                    <a:p>
                      <a:pPr indent="0" marL="0">
                        <a:buNone/>
                      </a:pPr>
                      <a:r>
                        <a:rPr lang="en-US" sz="1300" b="1" dirty="0">
                          <a:solidFill>
                            <a:srgbClr val="FFFFFF"/>
                          </a:solidFill>
                        </a:rPr>
                        <a:t>Unidad</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aportó</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rPr>
                        <a:t>Qué quedó instalado</a:t>
                      </a:r>
                      <a:endParaRPr lang="en-US" sz="1300" dirty="0"/>
                    </a:p>
                  </a:txBody>
                  <a:tcPr marL="73152" marR="73152" marT="73152" marB="73152"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tx1"/>
                    </a:solidFill>
                  </a:tcPr>
                </a:tc>
              </a:tr>
              <a:tr h="475488">
                <a:tc>
                  <a:txBody>
                    <a:bodyPr/>
                    <a:lstStyle/>
                    <a:p>
                      <a:pPr indent="0" marL="0">
                        <a:buNone/>
                      </a:pPr>
                      <a:r>
                        <a:rPr lang="en-US" sz="1150" b="1" dirty="0">
                          <a:solidFill>
                            <a:schemeClr val="tx1"/>
                          </a:solidFill>
                        </a:rPr>
                        <a:t>1 — El motor de combustión interna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Partes y sistemas, terminología, cálculos, curvas características y metrología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Saber medir y saber nombrar: la base de todo lo demás</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2 — Alimentación, ignición y escape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Cómo entra la carga, cómo se dosifica, cómo se enciende y cómo sale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primer despiece completo de un conjunto, con método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r h="475488">
                <a:tc>
                  <a:txBody>
                    <a:bodyPr/>
                    <a:lstStyle/>
                    <a:p>
                      <a:pPr indent="0" marL="0">
                        <a:buNone/>
                      </a:pPr>
                      <a:r>
                        <a:rPr lang="en-US" sz="1150" b="1" dirty="0">
                          <a:solidFill>
                            <a:schemeClr val="tx1"/>
                          </a:solidFill>
                        </a:rPr>
                        <a:t>3 — Distribución y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Qué sincroniza la distribución y cómo se comprueba un cabezote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150" dirty="0">
                          <a:solidFill>
                            <a:schemeClr val="accent4"/>
                          </a:solidFill>
                        </a:rPr>
                        <a:t>El procedimiento con verificación: dos vueltas antes de arrancar</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chemeClr val="tx1"/>
                          </a:solidFill>
                        </a:rPr>
                        <a:t>4 — Refrigeración, lubricación y bloque</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Qué mantiene vivo al motor y cómo se arma el conjunto completo</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c>
                  <a:txBody>
                    <a:bodyPr/>
                    <a:lstStyle/>
                    <a:p>
                      <a:pPr indent="0" marL="0">
                        <a:buNone/>
                      </a:pPr>
                      <a:r>
                        <a:rPr lang="en-US" sz="1150" dirty="0">
                          <a:solidFill>
                            <a:schemeClr val="accent4"/>
                          </a:solidFill>
                        </a:rPr>
                        <a:t>El ensamblaje verificado: el motor funciona o no funciona</a:t>
                      </a:r>
                      <a:endParaRPr lang="en-US" sz="1150" dirty="0"/>
                    </a:p>
                  </a:txBody>
                  <a:tcPr marL="73152" marR="73152" marT="73152" marB="73152" anchor="t">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chemeClr val="bg2"/>
                    </a:solidFill>
                  </a:tcPr>
                </a:tc>
              </a:tr>
            </a:tbl>
          </a:graphicData>
        </a:graphic>
      </p:graphicFrame>
      <p:sp>
        <p:nvSpPr>
          <p:cNvPr id="4" name="Shape 1"/>
          <p:cNvSpPr/>
          <p:nvPr/>
        </p:nvSpPr>
        <p:spPr>
          <a:xfrm>
            <a:off x="548640" y="3794760"/>
            <a:ext cx="11064240" cy="777240"/>
          </a:xfrm>
          <a:prstGeom prst="roundRect">
            <a:avLst>
              <a:gd name="adj" fmla="val 7059"/>
            </a:avLst>
          </a:prstGeom>
          <a:solidFill>
            <a:schemeClr val="bg2"/>
          </a:solidFill>
          <a:ln w="12700">
            <a:solidFill>
              <a:schemeClr val="bg2"/>
            </a:solidFill>
            <a:prstDash val="solid"/>
          </a:ln>
        </p:spPr>
        <p:txBody>
          <a:bodyPr/>
          <a:p/>
        </p:txBody>
      </p:sp>
      <p:sp>
        <p:nvSpPr>
          <p:cNvPr id="5" name="Shape 2"/>
          <p:cNvSpPr/>
          <p:nvPr/>
        </p:nvSpPr>
        <p:spPr>
          <a:xfrm>
            <a:off x="786384" y="4000500"/>
            <a:ext cx="365760" cy="365760"/>
          </a:xfrm>
          <a:prstGeom prst="ellipse">
            <a:avLst/>
          </a:prstGeom>
          <a:solidFill>
            <a:schemeClr val="accent2"/>
          </a:solidFill>
          <a:ln w="12700">
            <a:solidFill>
              <a:schemeClr val="accent2"/>
            </a:solidFill>
            <a:prstDash val="solid"/>
          </a:ln>
        </p:spPr>
        <p:txBody>
          <a:bodyPr/>
          <a:p/>
        </p:txBody>
      </p:sp>
      <p:sp>
        <p:nvSpPr>
          <p:cNvPr id="6" name="Text 3"/>
          <p:cNvSpPr txBox="1"/>
          <p:nvPr/>
        </p:nvSpPr>
        <p:spPr>
          <a:xfrm>
            <a:off x="786384" y="40005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7" name="Text 4"/>
          <p:cNvSpPr txBox="1"/>
          <p:nvPr/>
        </p:nvSpPr>
        <p:spPr>
          <a:xfrm>
            <a:off x="1298448" y="3886200"/>
            <a:ext cx="10058400" cy="594360"/>
          </a:xfrm>
          <a:prstGeom prst="rect">
            <a:avLst/>
          </a:prstGeom>
          <a:noFill/>
          <a:ln/>
        </p:spPr>
        <p:txBody>
          <a:bodyPr wrap="square" lIns="0" tIns="0" rIns="0" bIns="0" rtlCol="0" anchor="ctr"/>
          <a:lstStyle/>
          <a:p>
            <a:pPr indent="0" marL="0">
              <a:lnSpc>
                <a:spcPct val="106000"/>
              </a:lnSpc>
              <a:buNone/>
            </a:pPr>
            <a:r>
              <a:rPr lang="en-US" sz="1450" dirty="0">
                <a:solidFill>
                  <a:schemeClr val="tx1"/>
                </a:solidFill>
              </a:rPr>
              <a:t>El hilo de la asignatura: primero se aprendió a medir, después a desarmar con método, luego a comprobar con criterio y por último a ensamblar con verificación. Ese es el oficio, y las cuatro unidades lo construyen en ese orden.</a:t>
            </a:r>
            <a:endParaRPr lang="en-US" sz="1450" dirty="0"/>
          </a:p>
        </p:txBody>
      </p:sp>
      <p:sp>
        <p:nvSpPr>
          <p:cNvPr id="8" name="Shape 5"/>
          <p:cNvSpPr/>
          <p:nvPr/>
        </p:nvSpPr>
        <p:spPr>
          <a:xfrm>
            <a:off x="548640" y="4791456"/>
            <a:ext cx="384048" cy="384048"/>
          </a:xfrm>
          <a:prstGeom prst="ellipse">
            <a:avLst/>
          </a:prstGeom>
          <a:solidFill>
            <a:schemeClr val="accent2"/>
          </a:solidFill>
          <a:ln w="12700">
            <a:solidFill>
              <a:schemeClr val="accent2"/>
            </a:solidFill>
            <a:prstDash val="solid"/>
          </a:ln>
        </p:spPr>
        <p:txBody>
          <a:bodyPr/>
          <a:p/>
        </p:txBody>
      </p:sp>
      <p:sp>
        <p:nvSpPr>
          <p:cNvPr id="9" name="Text 6"/>
          <p:cNvSpPr txBox="1"/>
          <p:nvPr/>
        </p:nvSpPr>
        <p:spPr>
          <a:xfrm>
            <a:off x="548640" y="4791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1078992" y="4754880"/>
            <a:ext cx="10533888" cy="32918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se repitió en las cuatro unidades. </a:t>
            </a:r>
            <a:pPr indent="0" marL="0">
              <a:lnSpc>
                <a:spcPct val="106000"/>
              </a:lnSpc>
              <a:buNone/>
            </a:pPr>
            <a:r>
              <a:rPr lang="en-US" sz="1200" dirty="0">
                <a:solidFill>
                  <a:schemeClr val="accent4"/>
                </a:solidFill>
              </a:rPr>
              <a:t>medir no es leer un número: es comparar con el valor del fabricante y tomar una decisión justificada</a:t>
            </a:r>
            <a:endParaRPr lang="en-US" sz="1200" dirty="0"/>
          </a:p>
        </p:txBody>
      </p:sp>
      <p:sp>
        <p:nvSpPr>
          <p:cNvPr id="11" name="Shape 8"/>
          <p:cNvSpPr/>
          <p:nvPr/>
        </p:nvSpPr>
        <p:spPr>
          <a:xfrm>
            <a:off x="548640" y="5175504"/>
            <a:ext cx="384048" cy="384048"/>
          </a:xfrm>
          <a:prstGeom prst="ellipse">
            <a:avLst/>
          </a:prstGeom>
          <a:solidFill>
            <a:schemeClr val="accent2"/>
          </a:solidFill>
          <a:ln w="12700">
            <a:solidFill>
              <a:schemeClr val="accent2"/>
            </a:solidFill>
            <a:prstDash val="solid"/>
          </a:ln>
        </p:spPr>
        <p:txBody>
          <a:bodyPr/>
          <a:p/>
        </p:txBody>
      </p:sp>
      <p:sp>
        <p:nvSpPr>
          <p:cNvPr id="12" name="Text 9"/>
          <p:cNvSpPr txBox="1"/>
          <p:nvPr/>
        </p:nvSpPr>
        <p:spPr>
          <a:xfrm>
            <a:off x="548640" y="5175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78992" y="5138928"/>
            <a:ext cx="10533888" cy="32918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se consulta y lo que se domina. </a:t>
            </a:r>
            <a:pPr indent="0" marL="0">
              <a:lnSpc>
                <a:spcPct val="106000"/>
              </a:lnSpc>
              <a:buNone/>
            </a:pPr>
            <a:r>
              <a:rPr lang="en-US" sz="1200" dirty="0">
                <a:solidFill>
                  <a:schemeClr val="accent4"/>
                </a:solidFill>
              </a:rPr>
              <a:t>el detalle de cada motor se consulta en el manual; el principio y el método se dominan y no se consultan</a:t>
            </a:r>
            <a:endParaRPr lang="en-US" sz="1200" dirty="0"/>
          </a:p>
        </p:txBody>
      </p:sp>
      <p:sp>
        <p:nvSpPr>
          <p:cNvPr id="14" name="Shape 11"/>
          <p:cNvSpPr/>
          <p:nvPr/>
        </p:nvSpPr>
        <p:spPr>
          <a:xfrm>
            <a:off x="548640" y="5559552"/>
            <a:ext cx="384048" cy="384048"/>
          </a:xfrm>
          <a:prstGeom prst="ellipse">
            <a:avLst/>
          </a:prstGeom>
          <a:solidFill>
            <a:schemeClr val="accent2"/>
          </a:solidFill>
          <a:ln w="12700">
            <a:solidFill>
              <a:schemeClr val="accent2"/>
            </a:solidFill>
            <a:prstDash val="solid"/>
          </a:ln>
        </p:spPr>
        <p:txBody>
          <a:bodyPr/>
          <a:p/>
        </p:txBody>
      </p:sp>
      <p:sp>
        <p:nvSpPr>
          <p:cNvPr id="15" name="Text 12"/>
          <p:cNvSpPr txBox="1"/>
          <p:nvPr/>
        </p:nvSpPr>
        <p:spPr>
          <a:xfrm>
            <a:off x="548640" y="5559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1078992" y="5522976"/>
            <a:ext cx="10533888" cy="329184"/>
          </a:xfrm>
          <a:prstGeom prst="rect">
            <a:avLst/>
          </a:prstGeom>
          <a:noFill/>
          <a:ln/>
        </p:spPr>
        <p:txBody>
          <a:bodyPr wrap="square" lIns="0" tIns="0" rIns="0" bIns="0" rtlCol="0" anchor="ctr"/>
          <a:lstStyle/>
          <a:p>
            <a:pPr indent="0" marL="0">
              <a:lnSpc>
                <a:spcPct val="106000"/>
              </a:lnSpc>
              <a:buNone/>
            </a:pPr>
            <a:r>
              <a:rPr lang="en-US" sz="1200" b="1" dirty="0">
                <a:solidFill>
                  <a:schemeClr val="tx1"/>
                </a:solidFill>
              </a:rPr>
              <a:t>Lo que distingue a un técnico. </a:t>
            </a:r>
            <a:pPr indent="0" marL="0">
              <a:lnSpc>
                <a:spcPct val="106000"/>
              </a:lnSpc>
              <a:buNone/>
            </a:pPr>
            <a:r>
              <a:rPr lang="en-US" sz="1200" dirty="0">
                <a:solidFill>
                  <a:schemeClr val="accent4"/>
                </a:solidFill>
              </a:rPr>
              <a:t>el orden de las comprobaciones, el registro de lo hecho y la honestidad de reconocer un error a tiempo</a:t>
            </a:r>
            <a:endParaRPr lang="en-US" sz="1200" dirty="0"/>
          </a:p>
        </p:txBody>
      </p:sp>
      <p:sp>
        <p:nvSpPr>
          <p:cNvPr id="17" name="Text 14"/>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Apartados 6 y 7 del PEA — Resultados de aprendizaje de la asignatura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Bibliografía y recursos de la Unidad 4</a:t>
            </a:r>
            <a:endParaRPr lang="en-US" sz="3200" dirty="0"/>
          </a:p>
        </p:txBody>
      </p:sp>
      <p:sp>
        <p:nvSpPr>
          <p:cNvPr id="3" name="Text 0"/>
          <p:cNvSpPr/>
          <p:nvPr>
            <p:ph idx="101" type="body" hasCustomPrompt="1"/>
          </p:nvPr>
        </p:nvSpPr>
        <p:spPr>
          <a:xfrm>
            <a:off x="548640" y="1371600"/>
            <a:ext cx="11064240" cy="4754880"/>
          </a:xfrm>
          <a:prstGeom prst="rect">
            <a:avLst/>
          </a:prstGeom>
          <a:noFill/>
          <a:ln/>
        </p:spPr>
        <p:txBody>
          <a:bodyPr wrap="square" lIns="0" tIns="0" rIns="0" bIns="0" rtlCol="0" anchor="t"/>
          <a:lstStyle/>
          <a:p>
            <a:pPr indent="0" marL="0">
              <a:spcAft>
                <a:spcPts val="500"/>
              </a:spcAft>
              <a:buNone/>
            </a:pPr>
            <a:r>
              <a:rPr lang="en-US" sz="1300" b="1" dirty="0">
                <a:solidFill>
                  <a:schemeClr val="accent1"/>
                </a:solidFill>
              </a:rPr>
              <a:t>Bibliografía básica declarada en el PEA</a:t>
            </a:r>
            <a:endParaRPr lang="en-US" sz="1600" dirty="0"/>
          </a:p>
          <a:p>
            <a:pPr indent="0" marL="0">
              <a:spcAft>
                <a:spcPts val="300"/>
              </a:spcAft>
              <a:buNone/>
            </a:pPr>
            <a:r>
              <a:rPr lang="en-US" sz="1150" dirty="0">
                <a:solidFill>
                  <a:schemeClr val="tx1"/>
                </a:solidFill>
              </a:rPr>
              <a:t>Alonso Pérez, J. M. (2014). Técnicas del automóvil: motores (12.ª ed.). Paraninfo.</a:t>
            </a:r>
            <a:endParaRPr lang="en-US" sz="1600" dirty="0"/>
          </a:p>
          <a:p>
            <a:pPr indent="0" marL="0">
              <a:spcAft>
                <a:spcPts val="300"/>
              </a:spcAft>
              <a:buNone/>
            </a:pPr>
            <a:r>
              <a:rPr lang="en-US" sz="1150" dirty="0">
                <a:solidFill>
                  <a:schemeClr val="tx1"/>
                </a:solidFill>
              </a:rPr>
              <a:t>Alonso Pérez, J. M. (2009). Sistemas auxiliares del motor. Macmillan.</a:t>
            </a:r>
            <a:endParaRPr lang="en-US" sz="1600" dirty="0"/>
          </a:p>
          <a:p>
            <a:pPr indent="0" marL="0">
              <a:spcAft>
                <a:spcPts val="300"/>
              </a:spcAft>
              <a:buNone/>
            </a:pPr>
            <a:r>
              <a:rPr lang="en-US" sz="1150" dirty="0">
                <a:solidFill>
                  <a:schemeClr val="tx1"/>
                </a:solidFill>
              </a:rPr>
              <a:t>Payri, F., y Desantes, J. M. (Eds.). (2011). Motores de combustión interna alternativos. Reverté.</a:t>
            </a:r>
            <a:endParaRPr lang="en-US" sz="1600" dirty="0"/>
          </a:p>
          <a:p>
            <a:pPr indent="0" marL="0">
              <a:spcAft>
                <a:spcPts val="1000"/>
              </a:spcAft>
              <a:buNone/>
            </a:pPr>
            <a:r>
              <a:rPr lang="en-US" sz="1150" dirty="0">
                <a:solidFill>
                  <a:schemeClr val="tx1"/>
                </a:solidFill>
              </a:rPr>
              <a:t>Escudero, S., González, J., y Rivas, J. L. (2024). Cuaderno de prácticas: motores (1.ª ed.). Macmillan Iberia.</a:t>
            </a:r>
            <a:endParaRPr lang="en-US" sz="1600" dirty="0"/>
          </a:p>
          <a:p>
            <a:pPr indent="0" marL="0">
              <a:spcAft>
                <a:spcPts val="500"/>
              </a:spcAft>
              <a:buNone/>
            </a:pPr>
            <a:r>
              <a:rPr lang="en-US" sz="1300" b="1" dirty="0">
                <a:solidFill>
                  <a:schemeClr val="accent1"/>
                </a:solidFill>
              </a:rPr>
              <a:t>Recursos declarados en el PEA</a:t>
            </a:r>
            <a:endParaRPr lang="en-US" sz="1600" dirty="0"/>
          </a:p>
          <a:p>
            <a:pPr indent="0" marL="0">
              <a:spcAft>
                <a:spcPts val="1000"/>
              </a:spcAft>
              <a:buNone/>
            </a:pPr>
            <a:r>
              <a:rPr lang="en-US" sz="1150" dirty="0">
                <a:solidFill>
                  <a:schemeClr val="tx1"/>
                </a:solidFill>
              </a:rPr>
              <a:t>Entorno virtual de aprendizaje · proyector · biblioteca virtual · software de manuales automotrices Autodata, para holguras de cojinetes, pares y secuencias de apriete, sobremedidas disponibles y capacidades de aceite y refrigerante.</a:t>
            </a:r>
            <a:endParaRPr lang="en-US" sz="1600" dirty="0"/>
          </a:p>
          <a:p>
            <a:pPr indent="0" marL="0">
              <a:spcAft>
                <a:spcPts val="500"/>
              </a:spcAft>
              <a:buNone/>
            </a:pPr>
            <a:r>
              <a:rPr lang="en-US" sz="1300" b="1" dirty="0">
                <a:solidFill>
                  <a:schemeClr val="accent1"/>
                </a:solidFill>
              </a:rPr>
              <a:t>Material de laboratorio de la unidad</a:t>
            </a:r>
            <a:endParaRPr lang="en-US" sz="1600" dirty="0"/>
          </a:p>
          <a:p>
            <a:pPr indent="0" marL="0">
              <a:spcAft>
                <a:spcPts val="1000"/>
              </a:spcAft>
              <a:buNone/>
            </a:pPr>
            <a:r>
              <a:rPr lang="en-US" sz="1150" dirty="0">
                <a:solidFill>
                  <a:schemeClr val="tx1"/>
                </a:solidFill>
              </a:rPr>
              <a:t>Motor de prácticas, juego de llaves y dados, llave dinamométrica, micrómetros de exteriores, alexómetro con comparador, comparador con base magnética, galgas de espesores, compresor de segmentos, hilo calibrado de holgura, bandejas compartimentadas, recipientes para fluidos y guía de prácticas de la asignatura.</a:t>
            </a:r>
            <a:endParaRPr lang="en-US" sz="1600" dirty="0"/>
          </a:p>
          <a:p>
            <a:pPr indent="0" marL="0">
              <a:spcAft>
                <a:spcPts val="500"/>
              </a:spcAft>
              <a:buNone/>
            </a:pPr>
            <a:r>
              <a:rPr lang="en-US" sz="1300" b="1" dirty="0">
                <a:solidFill>
                  <a:schemeClr val="accent1"/>
                </a:solidFill>
              </a:rPr>
              <a:t>Material complementario recomendado</a:t>
            </a:r>
            <a:endParaRPr lang="en-US" sz="1600" dirty="0"/>
          </a:p>
          <a:p>
            <a:pPr indent="0" marL="0">
              <a:buNone/>
            </a:pPr>
            <a:r>
              <a:rPr lang="en-US" sz="1150" dirty="0">
                <a:solidFill>
                  <a:schemeClr val="tx1"/>
                </a:solidFill>
              </a:rPr>
              <a:t>Colección de piezas averiadas para el análisis de casos: cojinetes con distintos tipos de daño, pistones gripados o con marcas de detonación, camisas rayadas y segmentos rotos.</a:t>
            </a:r>
            <a:endParaRPr lang="en-US" sz="1600" dirty="0"/>
          </a:p>
        </p:txBody>
      </p:sp>
      <p:sp>
        <p:nvSpPr>
          <p:cNvPr id="4" name="Text 2"/>
          <p:cNvSpPr txBox="1"/>
          <p:nvPr/>
        </p:nvSpPr>
        <p:spPr>
          <a:xfrm>
            <a:off x="548640" y="6089904"/>
            <a:ext cx="11064240" cy="256032"/>
          </a:xfrm>
          <a:prstGeom prst="rect">
            <a:avLst/>
          </a:prstGeom>
          <a:noFill/>
          <a:ln/>
        </p:spPr>
        <p:txBody>
          <a:bodyPr wrap="square" lIns="0" tIns="0" rIns="0" bIns="0" rtlCol="0" anchor="ctr"/>
          <a:lstStyle/>
          <a:p>
            <a:pPr indent="0" marL="0">
              <a:buNone/>
            </a:pPr>
            <a:r>
              <a:rPr lang="en-US" sz="1050" b="1" dirty="0">
                <a:solidFill>
                  <a:schemeClr val="accent1"/>
                </a:solidFill>
              </a:rPr>
              <a:t>PEA  </a:t>
            </a:r>
            <a:pPr indent="0" marL="0">
              <a:buNone/>
            </a:pPr>
            <a:r>
              <a:rPr lang="en-US" sz="1050" dirty="0">
                <a:solidFill>
                  <a:schemeClr val="accent4"/>
                </a:solidFill>
              </a:rPr>
              <a:t>Apartado de bibliografía y recursos del PEA</a:t>
            </a:r>
            <a:endParaRPr lang="en-US" sz="1050"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indent="0" marL="0">
              <a:buNone/>
            </a:pPr>
            <a:r>
              <a:rPr lang="en-US" sz="3400" b="1" dirty="0">
                <a:solidFill>
                  <a:schemeClr val="bg1"/>
                </a:solidFill>
              </a:rPr>
              <a:t>Fin de la Unidad 4 y de la asignatura</a:t>
            </a:r>
            <a:endParaRPr lang="en-US" sz="3400"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Sistemas del Funcionamiento del Motor  ·  MA.02.06  ·  Cuatro unidades, 126 horas, un motor desarmado y vuelto a armar</a:t>
            </a:r>
            <a:endParaRPr lang="en-US" dirty="0"/>
          </a:p>
        </p:txBody>
      </p:sp>
      <p:sp>
        <p:nvSpPr>
          <p:cNvPr id="4" name="Text 2"/>
          <p:cNvSpPr/>
          <p:nvPr/>
        </p:nvSpPr>
        <p:spPr>
          <a:xfrm>
            <a:off x="0" y="0"/>
            <a:ext cx="9144000" cy="0"/>
          </a:xfrm>
          <a:prstGeom prst="rect">
            <a:avLst/>
          </a:prstGeom>
          <a:noFill/>
          <a:ln/>
        </p:spPr>
        <p:txBody>
          <a:bodyPr wrap="square" rtlCol="0"/>
          <a:lstStyle/>
          <a:p>
            <a:pPr indent="0" marL="0">
              <a:buNone/>
            </a:pPr>
            <a:r>
              <a:rPr lang="en-US" dirty="0"/>
              <a:t>Ing. Miguel Angel Minga González  ·  MA.02.06 Sistemas del Funcionamiento del Motor  ·  Tecnología Superior en Mecánica Automotriz  ·  Instituto Superior Tecnológico Sudamericano</a:t>
            </a:r>
            <a:endParaRPr lang="en-US" dirty="0"/>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rozamiento y película de aceite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LUBRICACI_N_pptx_s003_bd7c83.png"/>
          <p:cNvPicPr>
            <a:picLocks noChangeAspect="1"/>
          </p:cNvPicPr>
          <p:nvPr/>
        </p:nvPicPr>
        <p:blipFill>
          <a:blip r:embed="rId2"/>
          <a:stretch>
            <a:fillRect/>
          </a:stretch>
        </p:blipFill>
        <p:spPr>
          <a:xfrm>
            <a:off x="676656" y="1969305"/>
            <a:ext cx="3168396" cy="2517053"/>
          </a:xfrm>
          <a:prstGeom prst="rect">
            <a:avLst/>
          </a:prstGeom>
        </p:spPr>
      </p:pic>
      <p:pic>
        <p:nvPicPr>
          <p:cNvPr id="103" name="figura" descr="9788428340106_Unidad_07_defweb_ppsx_s006_7c2760.png"/>
          <p:cNvPicPr>
            <a:picLocks noChangeAspect="1"/>
          </p:cNvPicPr>
          <p:nvPr/>
        </p:nvPicPr>
        <p:blipFill>
          <a:blip r:embed="rId3"/>
          <a:stretch>
            <a:fillRect/>
          </a:stretch>
        </p:blipFill>
        <p:spPr>
          <a:xfrm>
            <a:off x="3973068" y="2339135"/>
            <a:ext cx="3168396" cy="177739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1. </a:t>
            </a:r>
            <a:r>
              <a:rPr lang="es-EC" sz="1000" b="0" dirty="0">
                <a:solidFill>
                  <a:schemeClr val="accent4"/>
                </a:solidFill>
              </a:rPr>
              <a:t>Contacto entre superficies metálicas sin lubricar (a) y cuña de aceite en un cojinete con régimen hidrodinámico (b). Adaptado de Minga González, M. A. (s. f.). Lubricación [diapositivas]. ISTS.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Rozamiento seco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Las crestas de las superficies chocan y se sueldan: calor, desgaste y gripado.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Cuña hidrodinámica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 girar el eje arrastra aceite y forma una cuña a presión que lo separa del cojinete.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arranque es crítico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Hasta que llega la presión, las piezas trabajan con una película mínima: allí ocurre la mayor parte del desgaste.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lubricación</a:t>
            </a:r>
            <a:endParaRPr lang="es-EC" sz="105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viscosidad y temperatura de servicio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7_defweb_ppsx_s010_7b792a.png"/>
          <p:cNvPicPr>
            <a:picLocks noChangeAspect="1"/>
          </p:cNvPicPr>
          <p:nvPr/>
        </p:nvPicPr>
        <p:blipFill>
          <a:blip r:embed="rId2"/>
          <a:stretch>
            <a:fillRect/>
          </a:stretch>
        </p:blipFill>
        <p:spPr>
          <a:xfrm>
            <a:off x="676656" y="2156569"/>
            <a:ext cx="3168396" cy="2142525"/>
          </a:xfrm>
          <a:prstGeom prst="rect">
            <a:avLst/>
          </a:prstGeom>
        </p:spPr>
      </p:pic>
      <p:pic>
        <p:nvPicPr>
          <p:cNvPr id="103" name="figura" descr="9788428340106_Unidad_07_defweb_ppsx_s011_2f47f2.png"/>
          <p:cNvPicPr>
            <a:picLocks noChangeAspect="1"/>
          </p:cNvPicPr>
          <p:nvPr/>
        </p:nvPicPr>
        <p:blipFill>
          <a:blip r:embed="rId3"/>
          <a:stretch>
            <a:fillRect/>
          </a:stretch>
        </p:blipFill>
        <p:spPr>
          <a:xfrm>
            <a:off x="3973068" y="1510270"/>
            <a:ext cx="3168396" cy="343512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 </a:t>
            </a:r>
            <a:r>
              <a:rPr lang="es-EC" sz="1000" b="0" dirty="0">
                <a:solidFill>
                  <a:schemeClr val="accent4"/>
                </a:solidFill>
              </a:rPr>
              <a:t>Viscosidad de un multigrado frente a dos monogrados según la temperatura (a) y elección del grado SAE según la temperatura ambiente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La viscosidad baja con el calor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aceite espeso en frío se vuelve fluido en caliente; el multigrado reduce esa diferencia.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Lectura del SAE 10W-40</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10W indica el comportamiento en frío; el 40, la viscosidad a 100 °C.</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Elegir por manual y clima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fabricante fija grados admisibles; el clima de la Sierra permite multigrados medios.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características del aceite para motores</a:t>
            </a:r>
            <a:endParaRPr lang="es-EC" sz="105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aceite nuevo, aceite usado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LUBRICACI_N_pptx_s007_fce903.jpg"/>
          <p:cNvPicPr>
            <a:picLocks noChangeAspect="1"/>
          </p:cNvPicPr>
          <p:nvPr/>
        </p:nvPicPr>
        <p:blipFill>
          <a:blip r:embed="rId2"/>
          <a:stretch>
            <a:fillRect/>
          </a:stretch>
        </p:blipFill>
        <p:spPr>
          <a:xfrm>
            <a:off x="676656" y="1643634"/>
            <a:ext cx="3168396" cy="3168396"/>
          </a:xfrm>
          <a:prstGeom prst="rect">
            <a:avLst/>
          </a:prstGeom>
        </p:spPr>
      </p:pic>
      <p:pic>
        <p:nvPicPr>
          <p:cNvPr id="103" name="figura" descr="CLASE_LUBRICACI_N_pptx_s033_6a5096.jpg"/>
          <p:cNvPicPr>
            <a:picLocks noChangeAspect="1"/>
          </p:cNvPicPr>
          <p:nvPr/>
        </p:nvPicPr>
        <p:blipFill>
          <a:blip r:embed="rId3"/>
          <a:stretch>
            <a:fillRect/>
          </a:stretch>
        </p:blipFill>
        <p:spPr>
          <a:xfrm>
            <a:off x="3973068" y="2083689"/>
            <a:ext cx="3168396" cy="228828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3. </a:t>
            </a:r>
            <a:r>
              <a:rPr lang="es-EC" sz="1000" b="0" dirty="0">
                <a:solidFill>
                  <a:schemeClr val="accent4"/>
                </a:solidFill>
              </a:rPr>
              <a:t>Envase de aceite con su clasificación y especificación (a) y comparación de aceite usado y aceite nuevo (b). Adaptado de Minga González, M. A. (s. f.). Lubricación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Lo que dice el envase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Grado SAE, nivel API o ACEA y normas del fabricante del vehículo.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color no basta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aceite oscuro puede estar bien en diésel; se evalúa por kilometraje, olor y análisis.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Señales de alarma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Aspecto lechoso (refrigerante), olor a gasolina (dilución) o partículas metálicas.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características del aceite para motores</a:t>
            </a:r>
            <a:endParaRPr lang="es-EC" sz="1050" dirty="0"/>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cambio de filtro y control de nivel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7_defweb_ppsx_s038_d2520f.png"/>
          <p:cNvPicPr>
            <a:picLocks noChangeAspect="1"/>
          </p:cNvPicPr>
          <p:nvPr/>
        </p:nvPicPr>
        <p:blipFill>
          <a:blip r:embed="rId2"/>
          <a:stretch>
            <a:fillRect/>
          </a:stretch>
        </p:blipFill>
        <p:spPr>
          <a:xfrm>
            <a:off x="676655" y="2189999"/>
            <a:ext cx="3168396" cy="2075665"/>
          </a:xfrm>
          <a:prstGeom prst="rect">
            <a:avLst/>
          </a:prstGeom>
        </p:spPr>
      </p:pic>
      <p:pic>
        <p:nvPicPr>
          <p:cNvPr id="103" name="figura" descr="9788428340106_Unidad_07_defweb_ppsx_s040_9a0554.png"/>
          <p:cNvPicPr>
            <a:picLocks noChangeAspect="1"/>
          </p:cNvPicPr>
          <p:nvPr/>
        </p:nvPicPr>
        <p:blipFill>
          <a:blip r:embed="rId3"/>
          <a:stretch>
            <a:fillRect/>
          </a:stretch>
        </p:blipFill>
        <p:spPr>
          <a:xfrm>
            <a:off x="3973068" y="1943500"/>
            <a:ext cx="3168396" cy="2568663"/>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21. </a:t>
            </a:r>
            <a:r>
              <a:rPr lang="es-EC" sz="1000" b="0" dirty="0">
                <a:solidFill>
                  <a:schemeClr val="accent4"/>
                </a:solidFill>
              </a:rPr>
              <a:t>Instalación del filtro nuevo con junta lubricada (a) y comprobación del nivel con la varilla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Filtro nuevo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lubrica la junta con aceite limpio y se aprieta a mano según lo indicado en el filtro.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Nivel en llano y en frío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espera unos minutos tras apagar el motor; el nivel debe quedar entre MIN y MAX.</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Nunca por encima del máximo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exceso de aceite lo bate el cigüeñal, produce espuma y pérdida de presión.</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mantenimiento del sistema de lubricación</a:t>
            </a:r>
            <a:endParaRPr lang="es-EC" sz="105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lo que el aceite deja ver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LUBRICACI_N_pptx_s115_6863b1.png"/>
          <p:cNvPicPr>
            <a:picLocks noChangeAspect="1"/>
          </p:cNvPicPr>
          <p:nvPr/>
        </p:nvPicPr>
        <p:blipFill>
          <a:blip r:embed="rId2"/>
          <a:stretch>
            <a:fillRect/>
          </a:stretch>
        </p:blipFill>
        <p:spPr>
          <a:xfrm>
            <a:off x="676656" y="1801004"/>
            <a:ext cx="3168396" cy="2853654"/>
          </a:xfrm>
          <a:prstGeom prst="rect">
            <a:avLst/>
          </a:prstGeom>
        </p:spPr>
      </p:pic>
      <p:pic>
        <p:nvPicPr>
          <p:cNvPr id="103" name="figura" descr="CLASE_LUBRICACI_N_pptx_s126_9b9f85.jpg"/>
          <p:cNvPicPr>
            <a:picLocks noChangeAspect="1"/>
          </p:cNvPicPr>
          <p:nvPr/>
        </p:nvPicPr>
        <p:blipFill>
          <a:blip r:embed="rId3"/>
          <a:stretch>
            <a:fillRect/>
          </a:stretch>
        </p:blipFill>
        <p:spPr>
          <a:xfrm>
            <a:off x="3973068" y="1643634"/>
            <a:ext cx="3168396" cy="316839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24. </a:t>
            </a:r>
            <a:r>
              <a:rPr lang="es-EC" sz="1000" b="0" dirty="0">
                <a:solidFill>
                  <a:schemeClr val="accent4"/>
                </a:solidFill>
              </a:rPr>
              <a:t>Tapón magnético nuevo y con partículas tras un recorrido (a) y muestras de aceite para análisis (b). Adaptado de Minga González, M. A. (s. f.). Lubricación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Tapón magnético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Atrapa las partículas de hierro; una capa fina es normal, virutas o escamas no lo son.</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Análisis de aceite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laboratorio mide metales de desgaste, contaminantes y estado de los aditivos.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Tendencia, no foto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análisis aislado dice poco; varios análisis seguidos muestran cómo evoluciona el desgaste.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lubricación</a:t>
            </a:r>
            <a:endParaRPr lang="es-EC" sz="105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2600" b="1"/>
              <a:t>En imagen: pruebas de presión del circuito de refrigeración</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8_defweb_ppsx_s048_d80da9.png"/>
          <p:cNvPicPr>
            <a:picLocks noChangeAspect="1"/>
          </p:cNvPicPr>
          <p:nvPr/>
        </p:nvPicPr>
        <p:blipFill>
          <a:blip r:embed="rId2"/>
          <a:stretch>
            <a:fillRect/>
          </a:stretch>
        </p:blipFill>
        <p:spPr>
          <a:xfrm>
            <a:off x="676655" y="2206139"/>
            <a:ext cx="3168396" cy="2043385"/>
          </a:xfrm>
          <a:prstGeom prst="rect">
            <a:avLst/>
          </a:prstGeom>
        </p:spPr>
      </p:pic>
      <p:pic>
        <p:nvPicPr>
          <p:cNvPr id="103" name="figura" descr="9788428340106_Unidad_08_defweb_ppsx_s049_90f2af.png"/>
          <p:cNvPicPr>
            <a:picLocks noChangeAspect="1"/>
          </p:cNvPicPr>
          <p:nvPr/>
        </p:nvPicPr>
        <p:blipFill>
          <a:blip r:embed="rId3"/>
          <a:stretch>
            <a:fillRect/>
          </a:stretch>
        </p:blipFill>
        <p:spPr>
          <a:xfrm>
            <a:off x="4134885" y="1499616"/>
            <a:ext cx="2844760"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43. </a:t>
            </a:r>
            <a:r>
              <a:rPr lang="es-EC" sz="1000" b="0" dirty="0">
                <a:solidFill>
                  <a:schemeClr val="accent4"/>
                </a:solidFill>
              </a:rPr>
              <a:t>Comprobación de fugas con bomba de presión en el depósito (a) y verificación de las válvulas de sobrepresión y depresión del tapón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Presurizar en frío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aplica la presión de trabajo indicada en el tapón y se observa si cae en unos minutos.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Buscar la fuga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Mangueras, radiador, bomba de agua, calefactor y junta de culata son los sospechosos.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tapón también se prueba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Un tapón que no mantiene presión baja el punto de ebullición y provoca pérdidas.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diagnóstico del circuito de refrigeración</a:t>
            </a:r>
            <a:endParaRPr lang="es-EC" sz="1050" dirty="0"/>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sobrecalentamiento y la tapa presurizada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CLASE_REFRIGERACI_N_pptx_s046_96d336.png"/>
          <p:cNvPicPr>
            <a:picLocks noChangeAspect="1"/>
          </p:cNvPicPr>
          <p:nvPr/>
        </p:nvPicPr>
        <p:blipFill>
          <a:blip r:embed="rId2"/>
          <a:stretch>
            <a:fillRect/>
          </a:stretch>
        </p:blipFill>
        <p:spPr>
          <a:xfrm>
            <a:off x="676656" y="2083689"/>
            <a:ext cx="3168396" cy="2288286"/>
          </a:xfrm>
          <a:prstGeom prst="rect">
            <a:avLst/>
          </a:prstGeom>
        </p:spPr>
      </p:pic>
      <p:pic>
        <p:nvPicPr>
          <p:cNvPr id="103" name="figura" descr="CLASE_REFRIGERACI_N_pptx_s054_08b45d.png"/>
          <p:cNvPicPr>
            <a:picLocks noChangeAspect="1"/>
          </p:cNvPicPr>
          <p:nvPr/>
        </p:nvPicPr>
        <p:blipFill>
          <a:blip r:embed="rId3"/>
          <a:stretch>
            <a:fillRect/>
          </a:stretch>
        </p:blipFill>
        <p:spPr>
          <a:xfrm>
            <a:off x="3973068" y="2182778"/>
            <a:ext cx="3168396" cy="209010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44. </a:t>
            </a:r>
            <a:r>
              <a:rPr lang="es-EC" sz="1000" b="0" dirty="0">
                <a:solidFill>
                  <a:schemeClr val="accent4"/>
                </a:solidFill>
              </a:rPr>
              <a:t>Vehículo detenido por sobrecalentamiento (a) y funcionamiento de la válvula principal de la tapa del radiador (b). Adaptado de Minga González, M. A. (s. f.). El sistema de refrigeración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No abrir en caliente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refrigerante está por encima de 100 °C a presión; al abrir hierve de golpe.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Por qué va presurizado</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bar de presión sube el punto de ebullición unos 25 °C.</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Qué hacer en ruta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Detener el motor, esperar a que enfríe, revisar nivel, correa y ventilador antes de seguir.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refrigeración</a:t>
            </a:r>
            <a:endParaRPr lang="es-EC" sz="105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dónde se genera y por dónde se va el calor</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8_defweb_ppsx_s002_1f518c.png"/>
          <p:cNvPicPr>
            <a:picLocks noChangeAspect="1"/>
          </p:cNvPicPr>
          <p:nvPr/>
        </p:nvPicPr>
        <p:blipFill>
          <a:blip r:embed="rId2"/>
          <a:stretch>
            <a:fillRect/>
          </a:stretch>
        </p:blipFill>
        <p:spPr>
          <a:xfrm>
            <a:off x="676656" y="2517421"/>
            <a:ext cx="3168396" cy="1420821"/>
          </a:xfrm>
          <a:prstGeom prst="rect">
            <a:avLst/>
          </a:prstGeom>
        </p:spPr>
      </p:pic>
      <p:pic>
        <p:nvPicPr>
          <p:cNvPr id="103" name="figura" descr="9788428340106_Unidad_08_defweb_ppsx_s003_651af3.png"/>
          <p:cNvPicPr>
            <a:picLocks noChangeAspect="1"/>
          </p:cNvPicPr>
          <p:nvPr/>
        </p:nvPicPr>
        <p:blipFill>
          <a:blip r:embed="rId3"/>
          <a:stretch>
            <a:fillRect/>
          </a:stretch>
        </p:blipFill>
        <p:spPr>
          <a:xfrm>
            <a:off x="3973068" y="2264353"/>
            <a:ext cx="3168396" cy="192695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45. </a:t>
            </a:r>
            <a:r>
              <a:rPr lang="es-EC" sz="1000" b="0" dirty="0">
                <a:solidFill>
                  <a:schemeClr val="accent4"/>
                </a:solidFill>
              </a:rPr>
              <a:t>Temperaturas de trabajo de las distintas partes del motor (a) y evolución de la temperatura del bloque durante el calentamiento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Zonas muy calientes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Válvula de escape y bujía superan los 700 °C; la pared del cilindro se mantiene cerca de 150–200 °C.</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El bloque se calienta por zonas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culata y la parte alta de los cilindros se calientan primero y más.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Por qué importa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sistema debe enfriar lo justo: un motor demasiado frío también se desgasta y consume más.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refrigeración</a:t>
            </a:r>
            <a:endParaRPr lang="es-EC" sz="105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vaciado y llenado del refrigerante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8_defweb_ppsx_s047_0aecd7.png"/>
          <p:cNvPicPr>
            <a:picLocks noChangeAspect="1"/>
          </p:cNvPicPr>
          <p:nvPr/>
        </p:nvPicPr>
        <p:blipFill>
          <a:blip r:embed="rId2"/>
          <a:stretch>
            <a:fillRect/>
          </a:stretch>
        </p:blipFill>
        <p:spPr>
          <a:xfrm>
            <a:off x="676656" y="2776559"/>
            <a:ext cx="3168396" cy="902545"/>
          </a:xfrm>
          <a:prstGeom prst="rect">
            <a:avLst/>
          </a:prstGeom>
        </p:spPr>
      </p:pic>
      <p:pic>
        <p:nvPicPr>
          <p:cNvPr id="103" name="figura" descr="CLASE_REFRIGERACI_N_pptx_s100_2a59b4.jpg"/>
          <p:cNvPicPr>
            <a:picLocks noChangeAspect="1"/>
          </p:cNvPicPr>
          <p:nvPr/>
        </p:nvPicPr>
        <p:blipFill>
          <a:blip r:embed="rId3"/>
          <a:stretch>
            <a:fillRect/>
          </a:stretch>
        </p:blipFill>
        <p:spPr>
          <a:xfrm>
            <a:off x="3973068" y="2237708"/>
            <a:ext cx="3168396" cy="1980247"/>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46. </a:t>
            </a:r>
            <a:r>
              <a:rPr lang="es-EC" sz="1000" b="0" dirty="0">
                <a:solidFill>
                  <a:schemeClr val="accent4"/>
                </a:solidFill>
              </a:rPr>
              <a:t>Procedimiento de vaciado del circuito por el tapón inferior del radiador (a) y llenado con refrigerante de larga duración (b). Adaptado de González Calleja, D. (2018). Motores (2.ª ed.). Paraninfo. Minga González, M. A. (s. f.). El sistema de refrigeración [diapositivas]. ISTS.</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Vaciado completo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Radiador, bloque y calefactor; con el motor frío y la calefacción en máximo.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Mezcla correcta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Anticongelante y agua desmineralizada en la proporción del fabricante, típicamente 50 %.</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Purgar el aire</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abren los purgadores y se hace funcionar el motor hasta que actúe el ventilador.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sistema de refrigeración</a:t>
            </a:r>
            <a:endParaRPr lang="es-EC" sz="1050" dirty="0"/>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medir el desgaste del cilindro</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82_c65094.png"/>
          <p:cNvPicPr>
            <a:picLocks noChangeAspect="1"/>
          </p:cNvPicPr>
          <p:nvPr/>
        </p:nvPicPr>
        <p:blipFill>
          <a:blip r:embed="rId2"/>
          <a:stretch>
            <a:fillRect/>
          </a:stretch>
        </p:blipFill>
        <p:spPr>
          <a:xfrm>
            <a:off x="676656" y="2580806"/>
            <a:ext cx="3168396" cy="1294051"/>
          </a:xfrm>
          <a:prstGeom prst="rect">
            <a:avLst/>
          </a:prstGeom>
        </p:spPr>
      </p:pic>
      <p:pic>
        <p:nvPicPr>
          <p:cNvPr id="103" name="figura" descr="9788428340106_Unidad_05_defweb_ppsx_s083_15a424.png"/>
          <p:cNvPicPr>
            <a:picLocks noChangeAspect="1"/>
          </p:cNvPicPr>
          <p:nvPr/>
        </p:nvPicPr>
        <p:blipFill>
          <a:blip r:embed="rId3"/>
          <a:stretch>
            <a:fillRect/>
          </a:stretch>
        </p:blipFill>
        <p:spPr>
          <a:xfrm>
            <a:off x="4206503" y="1499615"/>
            <a:ext cx="2701524" cy="3456432"/>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52. </a:t>
            </a:r>
            <a:r>
              <a:rPr lang="es-EC" sz="1000" b="0" dirty="0">
                <a:solidFill>
                  <a:schemeClr val="accent4"/>
                </a:solidFill>
              </a:rPr>
              <a:t>Puntos de medida del desgaste en tres alturas y dos direcciones (a) y calibración y medida con alexómetro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Tres alturas, dos direcciones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Arriba, al medio y abajo; paralelo y perpendicular al cigüeñal.</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Ovalización y conicidad</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diferencia entre direcciones da ovalización; la diferencia entre alturas, conicidad.</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Decidir la sobremedida</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mayor diámetro medido más la tolerancia define la siguiente sobremedida comercial.</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bloque de motor</a:t>
            </a:r>
            <a:endParaRPr lang="es-EC" sz="1050" dirty="0"/>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el motor en su soporte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05_4da154.png"/>
          <p:cNvPicPr>
            <a:picLocks noChangeAspect="1"/>
          </p:cNvPicPr>
          <p:nvPr/>
        </p:nvPicPr>
        <p:blipFill>
          <a:blip r:embed="rId2"/>
          <a:stretch>
            <a:fillRect/>
          </a:stretch>
        </p:blipFill>
        <p:spPr>
          <a:xfrm>
            <a:off x="808883" y="1499616"/>
            <a:ext cx="2903941" cy="3456432"/>
          </a:xfrm>
          <a:prstGeom prst="rect">
            <a:avLst/>
          </a:prstGeom>
        </p:spPr>
      </p:pic>
      <p:pic>
        <p:nvPicPr>
          <p:cNvPr id="103" name="figura" descr="9788428340106_Unidad_05_defweb_ppsx_s008_05ba31.png"/>
          <p:cNvPicPr>
            <a:picLocks noChangeAspect="1"/>
          </p:cNvPicPr>
          <p:nvPr/>
        </p:nvPicPr>
        <p:blipFill>
          <a:blip r:embed="rId3"/>
          <a:stretch>
            <a:fillRect/>
          </a:stretch>
        </p:blipFill>
        <p:spPr>
          <a:xfrm>
            <a:off x="3973068" y="2355028"/>
            <a:ext cx="3168396" cy="174560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55. </a:t>
            </a:r>
            <a:r>
              <a:rPr lang="es-EC" sz="1000" b="0" dirty="0">
                <a:solidFill>
                  <a:schemeClr val="accent4"/>
                </a:solidFill>
              </a:rPr>
              <a:t>Soporte universal de motores (a) y motor fijado al soporte y preparado para su desmontaje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Soporte adecuado</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comprueba la capacidad de carga del soporte frente al peso del motor.</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Fijación al bloque</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Al menos cuatro tornillos de la brida de la caja, con calidad y largo correctos.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Antes de girar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vacían aceite y refrigerante y se asegura el pasador de giro.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bloque de motor</a:t>
            </a:r>
            <a:endParaRPr lang="es-EC" sz="105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cojinetes de biela y de bancada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4_defweb_ppsx_s042_d3c0b0.jpg"/>
          <p:cNvPicPr>
            <a:picLocks noChangeAspect="1"/>
          </p:cNvPicPr>
          <p:nvPr/>
        </p:nvPicPr>
        <p:blipFill>
          <a:blip r:embed="rId2"/>
          <a:stretch>
            <a:fillRect/>
          </a:stretch>
        </p:blipFill>
        <p:spPr>
          <a:xfrm>
            <a:off x="1119849" y="1499616"/>
            <a:ext cx="2282008" cy="3456432"/>
          </a:xfrm>
          <a:prstGeom prst="rect">
            <a:avLst/>
          </a:prstGeom>
        </p:spPr>
      </p:pic>
      <p:pic>
        <p:nvPicPr>
          <p:cNvPr id="103" name="figura" descr="9788428340106_Unidad_04_defweb_ppsx_s044_fa6b0f.png"/>
          <p:cNvPicPr>
            <a:picLocks noChangeAspect="1"/>
          </p:cNvPicPr>
          <p:nvPr/>
        </p:nvPicPr>
        <p:blipFill>
          <a:blip r:embed="rId3"/>
          <a:stretch>
            <a:fillRect/>
          </a:stretch>
        </p:blipFill>
        <p:spPr>
          <a:xfrm>
            <a:off x="3973068" y="2285061"/>
            <a:ext cx="3168395" cy="188554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61. </a:t>
            </a:r>
            <a:r>
              <a:rPr lang="es-EC" sz="1000" b="0" dirty="0">
                <a:solidFill>
                  <a:schemeClr val="accent4"/>
                </a:solidFill>
              </a:rPr>
              <a:t>Cojinetes de biela y de apoyo del cigüeñal (a) y capas metálicas de un cojinete de fricción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Medias cañas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Cada cojinete tiene dos mitades con pestaña de posicionamiento y orificio de aceite.</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Capas</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Soporte de acero, capa antifricción y una película superficial que se adapta al eje.</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Se cambian en juego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Nunca se lijan ni se suplementan; se sustituyen por la medida estándar o de rectificado.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tren alternativo · comprobaciones</a:t>
            </a:r>
            <a:endParaRPr lang="es-EC" sz="105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holgura de aceite y juego axial</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73_3e7268.png"/>
          <p:cNvPicPr>
            <a:picLocks noChangeAspect="1"/>
          </p:cNvPicPr>
          <p:nvPr/>
        </p:nvPicPr>
        <p:blipFill>
          <a:blip r:embed="rId2"/>
          <a:stretch>
            <a:fillRect/>
          </a:stretch>
        </p:blipFill>
        <p:spPr>
          <a:xfrm>
            <a:off x="676656" y="2324302"/>
            <a:ext cx="3168396" cy="1807059"/>
          </a:xfrm>
          <a:prstGeom prst="rect">
            <a:avLst/>
          </a:prstGeom>
        </p:spPr>
      </p:pic>
      <p:pic>
        <p:nvPicPr>
          <p:cNvPr id="103" name="figura" descr="9788428340106_Unidad_05_defweb_ppsx_s074_c7fb6a.png"/>
          <p:cNvPicPr>
            <a:picLocks noChangeAspect="1"/>
          </p:cNvPicPr>
          <p:nvPr/>
        </p:nvPicPr>
        <p:blipFill>
          <a:blip r:embed="rId3"/>
          <a:stretch>
            <a:fillRect/>
          </a:stretch>
        </p:blipFill>
        <p:spPr>
          <a:xfrm>
            <a:off x="3973068" y="2284823"/>
            <a:ext cx="3168396" cy="1886016"/>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62. </a:t>
            </a:r>
            <a:r>
              <a:rPr lang="es-EC" sz="1000" b="0" dirty="0">
                <a:solidFill>
                  <a:schemeClr val="accent4"/>
                </a:solidFill>
              </a:rPr>
              <a:t>Medición de la holgura de montaje con hilo calibrado Plastigage (a) y comprobación del juego axial del cigüeñal con reloj comparador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Plastigage</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coloca el hilo sobre el muñón, se aprieta al par sin girar y se mide el ancho aplastado con la escala.</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Juego axial</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empuja el cigüeñal a un extremo, se pone el reloj a cero y se empuja al otro.</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Comparar con el manual</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Holgura radial orientativa 0,02–0,06 mm; juego axial 0,05–0,25 mm según motor.</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tren alternativo · comprobaciones</a:t>
            </a:r>
            <a:endParaRPr lang="es-EC" sz="105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montaje de pistones y apriete de bancada</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86_ea9896.jpg"/>
          <p:cNvPicPr>
            <a:picLocks noChangeAspect="1"/>
          </p:cNvPicPr>
          <p:nvPr/>
        </p:nvPicPr>
        <p:blipFill>
          <a:blip r:embed="rId2"/>
          <a:stretch>
            <a:fillRect/>
          </a:stretch>
        </p:blipFill>
        <p:spPr>
          <a:xfrm>
            <a:off x="676656" y="2200679"/>
            <a:ext cx="3168396" cy="2054305"/>
          </a:xfrm>
          <a:prstGeom prst="rect">
            <a:avLst/>
          </a:prstGeom>
        </p:spPr>
      </p:pic>
      <p:pic>
        <p:nvPicPr>
          <p:cNvPr id="103" name="figura" descr="9788428340106_Unidad_05_defweb_ppsx_s089_b6cada.png"/>
          <p:cNvPicPr>
            <a:picLocks noChangeAspect="1"/>
          </p:cNvPicPr>
          <p:nvPr/>
        </p:nvPicPr>
        <p:blipFill>
          <a:blip r:embed="rId3"/>
          <a:stretch>
            <a:fillRect/>
          </a:stretch>
        </p:blipFill>
        <p:spPr>
          <a:xfrm>
            <a:off x="3973068" y="2487749"/>
            <a:ext cx="3168396" cy="1480165"/>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67. </a:t>
            </a:r>
            <a:r>
              <a:rPr lang="es-EC" sz="1000" b="0" dirty="0">
                <a:solidFill>
                  <a:schemeClr val="accent4"/>
                </a:solidFill>
              </a:rPr>
              <a:t>Introducción de los pistones con ceñidor de segmentos (a) y apriete de los tornillos de bancada con llave dinamométrica y goniómetro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Ceñidor de segmentos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Comprime los segmentos para que el pistón entre sin golpes; se empuja con el mango de un martillo.</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Orientación</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La flecha o marca del pistón hacia la distribución; puntas de segmentos desfasadas.</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Bancada al par y ángulo</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De los apoyos centrales a los extremos, en etapas, girando el cigüeñal entre etapas.</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tren alternativo · comprobaciones</a:t>
            </a:r>
            <a:endParaRPr lang="es-EC" sz="105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comprobación de segmentos</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79_4695da.png"/>
          <p:cNvPicPr>
            <a:picLocks noChangeAspect="1"/>
          </p:cNvPicPr>
          <p:nvPr/>
        </p:nvPicPr>
        <p:blipFill>
          <a:blip r:embed="rId2"/>
          <a:stretch>
            <a:fillRect/>
          </a:stretch>
        </p:blipFill>
        <p:spPr>
          <a:xfrm>
            <a:off x="676656" y="2322192"/>
            <a:ext cx="3168396" cy="1811279"/>
          </a:xfrm>
          <a:prstGeom prst="rect">
            <a:avLst/>
          </a:prstGeom>
        </p:spPr>
      </p:pic>
      <p:pic>
        <p:nvPicPr>
          <p:cNvPr id="103" name="figura" descr="9788428340106_Unidad_05_defweb_ppsx_s085_c6e285.png"/>
          <p:cNvPicPr>
            <a:picLocks noChangeAspect="1"/>
          </p:cNvPicPr>
          <p:nvPr/>
        </p:nvPicPr>
        <p:blipFill>
          <a:blip r:embed="rId3"/>
          <a:stretch>
            <a:fillRect/>
          </a:stretch>
        </p:blipFill>
        <p:spPr>
          <a:xfrm>
            <a:off x="3973068" y="2548501"/>
            <a:ext cx="3168396" cy="1358660"/>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68. </a:t>
            </a:r>
            <a:r>
              <a:rPr lang="es-EC" sz="1000" b="0" dirty="0">
                <a:solidFill>
                  <a:schemeClr val="accent4"/>
                </a:solidFill>
              </a:rPr>
              <a:t>Medición de la holgura entre puntas, del espesor y del juego en la ranura (a) y colocación de las puntas de los segmentos a 120°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Holgura entre puntas</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El segmento se introduce escuadrado en el cilindro y se mide la abertura con galgas.</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Juego en la ranura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Con el segmento en su ranura se mide el juego lateral con galga.</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Puntas desfasadas</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Se reparten a 120° y nunca sobre el eje del bulón ni en la zona de empuje.</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tren alternativo · comprobaciones</a:t>
            </a:r>
            <a:endParaRPr lang="es-EC" sz="105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rPr sz="3000" b="1"/>
              <a:t>En imagen: cierre del armado del bloque</a:t>
            </a:r>
          </a:p>
        </p:txBody>
      </p:sp>
      <p:sp>
        <p:nvSpPr>
          <p:cNvPr id="25" name="Slide Number Placeholder 0"/>
          <p:cNvSpPr>
            <a:spLocks noGrp="1"/>
          </p:cNvSpPr>
          <p:nvPr>
            <p:ph type="sldNum" sz="quarter" idx="4294967295"/>
          </p:nvPr>
        </p:nvSpPr>
        <p:spPr>
          <a:xfrm>
            <a:off x="11384280" y="6400800"/>
            <a:ext cx="41148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
        <p:nvSpPr>
          <p:cNvPr id="101" name="marco_figura"/>
          <p:cNvSpPr/>
          <p:nvPr/>
        </p:nvSpPr>
        <p:spPr>
          <a:xfrm>
            <a:off x="548640" y="1371600"/>
            <a:ext cx="6720840" cy="4224528"/>
          </a:xfrm>
          <a:prstGeom prst="roundRect">
            <a:avLst>
              <a:gd name="adj" fmla="val 1395"/>
            </a:avLst>
          </a:prstGeom>
          <a:solidFill>
            <a:schemeClr val="bg2"/>
          </a:solidFill>
          <a:ln w="12700">
            <a:solidFill>
              <a:schemeClr val="bg2"/>
            </a:solidFill>
          </a:ln>
        </p:spPr>
        <p:txBody>
          <a:bodyPr/>
          <a:p/>
        </p:txBody>
      </p:sp>
      <p:pic>
        <p:nvPicPr>
          <p:cNvPr id="102" name="figura" descr="9788428340106_Unidad_05_defweb_ppsx_s091_c5a28c.jpg"/>
          <p:cNvPicPr>
            <a:picLocks noChangeAspect="1"/>
          </p:cNvPicPr>
          <p:nvPr/>
        </p:nvPicPr>
        <p:blipFill>
          <a:blip r:embed="rId2"/>
          <a:stretch>
            <a:fillRect/>
          </a:stretch>
        </p:blipFill>
        <p:spPr>
          <a:xfrm>
            <a:off x="676656" y="2062154"/>
            <a:ext cx="3168396" cy="2331355"/>
          </a:xfrm>
          <a:prstGeom prst="rect">
            <a:avLst/>
          </a:prstGeom>
        </p:spPr>
      </p:pic>
      <p:pic>
        <p:nvPicPr>
          <p:cNvPr id="103" name="figura" descr="9788428340106_Unidad_05_defweb_ppsx_s093_4f35fa.jpg"/>
          <p:cNvPicPr>
            <a:picLocks noChangeAspect="1"/>
          </p:cNvPicPr>
          <p:nvPr/>
        </p:nvPicPr>
        <p:blipFill>
          <a:blip r:embed="rId3"/>
          <a:stretch>
            <a:fillRect/>
          </a:stretch>
        </p:blipFill>
        <p:spPr>
          <a:xfrm>
            <a:off x="3973068" y="2074512"/>
            <a:ext cx="3168396" cy="2306638"/>
          </a:xfrm>
          <a:prstGeom prst="rect">
            <a:avLst/>
          </a:prstGeom>
        </p:spPr>
      </p:pic>
      <p:sp>
        <p:nvSpPr>
          <p:cNvPr id="102" name="pie_figura"/>
          <p:cNvSpPr txBox="1"/>
          <p:nvPr/>
        </p:nvSpPr>
        <p:spPr>
          <a:xfrm>
            <a:off x="676656" y="5010912"/>
            <a:ext cx="6464808" cy="457200"/>
          </a:xfrm>
          <a:prstGeom prst="rect">
            <a:avLst/>
          </a:prstGeom>
          <a:noFill/>
          <a:ln/>
        </p:spPr>
        <p:txBody>
          <a:bodyPr wrap="square" lIns="0" tIns="0" rIns="0" bIns="0" rtlCol="0" anchor="t">
            <a:normAutofit/>
          </a:bodyPr>
          <a:lstStyle/>
          <a:p>
            <a:pPr algn="l" indent="0" marL="0">
              <a:lnSpc>
                <a:spcPct val="102000"/>
              </a:lnSpc>
              <a:buNone/>
            </a:pPr>
            <a:r>
              <a:rPr lang="es-EC" sz="1000" b="1" dirty="0">
                <a:solidFill>
                  <a:schemeClr val="accent1"/>
                </a:solidFill>
              </a:rPr>
              <a:t>Figura 78. </a:t>
            </a:r>
            <a:r>
              <a:rPr lang="es-EC" sz="1000" b="0" dirty="0">
                <a:solidFill>
                  <a:schemeClr val="accent4"/>
                </a:solidFill>
              </a:rPr>
              <a:t>Montaje del cárter con sellador (a) y montaje del volante de inercia y del piñón del cigüeñal (b). Adaptado de González Calleja, D. (2018). Motores (2.ª ed.). Paraninfo.</a:t>
            </a:r>
            <a:endParaRPr lang="es-EC" sz="1000" dirty="0"/>
          </a:p>
        </p:txBody>
      </p:sp>
      <p:sp>
        <p:nvSpPr>
          <p:cNvPr id="103" name="etiqueta"/>
          <p:cNvSpPr txBox="1"/>
          <p:nvPr/>
        </p:nvSpPr>
        <p:spPr>
          <a:xfrm>
            <a:off x="7452360" y="1371600"/>
            <a:ext cx="4160520" cy="274320"/>
          </a:xfrm>
          <a:prstGeom prst="rect">
            <a:avLst/>
          </a:prstGeom>
          <a:noFill/>
          <a:ln/>
        </p:spPr>
        <p:txBody>
          <a:bodyPr wrap="square" lIns="0" tIns="0" rIns="0" bIns="0" rtlCol="0" anchor="ctr">
            <a:normAutofit/>
          </a:bodyPr>
          <a:lstStyle/>
          <a:p>
            <a:pPr algn="l" indent="0" marL="0">
              <a:lnSpc>
                <a:spcPct val="108000"/>
              </a:lnSpc>
              <a:buNone/>
            </a:pPr>
            <a:r>
              <a:rPr lang="es-EC" sz="1100" b="1" dirty="0">
                <a:solidFill>
                  <a:schemeClr val="accent1"/>
                </a:solidFill>
              </a:rPr>
              <a:t>TEXTOS CLAVE</a:t>
            </a:r>
            <a:endParaRPr lang="es-EC" sz="1100" dirty="0"/>
          </a:p>
        </p:txBody>
      </p:sp>
      <p:sp>
        <p:nvSpPr>
          <p:cNvPr id="104" name="tarjeta_1"/>
          <p:cNvSpPr/>
          <p:nvPr/>
        </p:nvSpPr>
        <p:spPr>
          <a:xfrm>
            <a:off x="7452360" y="1700784"/>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05" name="circulo"/>
          <p:cNvSpPr/>
          <p:nvPr/>
        </p:nvSpPr>
        <p:spPr>
          <a:xfrm>
            <a:off x="7635240" y="1865376"/>
            <a:ext cx="365760" cy="365760"/>
          </a:xfrm>
          <a:prstGeom prst="ellipse">
            <a:avLst/>
          </a:prstGeom>
          <a:solidFill>
            <a:schemeClr val="accent2"/>
          </a:solidFill>
          <a:ln w="12700">
            <a:solidFill>
              <a:schemeClr val="accent2"/>
            </a:solidFill>
          </a:ln>
        </p:spPr>
        <p:txBody>
          <a:bodyPr/>
          <a:p/>
        </p:txBody>
      </p:sp>
      <p:sp>
        <p:nvSpPr>
          <p:cNvPr id="106" name="num"/>
          <p:cNvSpPr txBox="1"/>
          <p:nvPr/>
        </p:nvSpPr>
        <p:spPr>
          <a:xfrm>
            <a:off x="7635240" y="1865376"/>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1</a:t>
            </a:r>
            <a:endParaRPr lang="es-EC" sz="1300" dirty="0"/>
          </a:p>
        </p:txBody>
      </p:sp>
      <p:sp>
        <p:nvSpPr>
          <p:cNvPr id="107" name="lead"/>
          <p:cNvSpPr txBox="1"/>
          <p:nvPr/>
        </p:nvSpPr>
        <p:spPr>
          <a:xfrm>
            <a:off x="8129016" y="1828800"/>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Cárter y sellador</a:t>
            </a:r>
            <a:endParaRPr lang="es-EC" sz="1300" dirty="0"/>
          </a:p>
        </p:txBody>
      </p:sp>
      <p:sp>
        <p:nvSpPr>
          <p:cNvPr id="108" name="cuerpo"/>
          <p:cNvSpPr txBox="1"/>
          <p:nvPr/>
        </p:nvSpPr>
        <p:spPr>
          <a:xfrm>
            <a:off x="7635240" y="2304288"/>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Superficies limpias, cordón continuo del sellador indicado y apriete en el orden del manual.</a:t>
            </a:r>
            <a:endParaRPr lang="es-EC" sz="1100" dirty="0"/>
          </a:p>
        </p:txBody>
      </p:sp>
      <p:sp>
        <p:nvSpPr>
          <p:cNvPr id="109" name="tarjeta_2"/>
          <p:cNvSpPr/>
          <p:nvPr/>
        </p:nvSpPr>
        <p:spPr>
          <a:xfrm>
            <a:off x="7452360" y="3054096"/>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0" name="circulo"/>
          <p:cNvSpPr/>
          <p:nvPr/>
        </p:nvSpPr>
        <p:spPr>
          <a:xfrm>
            <a:off x="7635240" y="3218688"/>
            <a:ext cx="365760" cy="365760"/>
          </a:xfrm>
          <a:prstGeom prst="ellipse">
            <a:avLst/>
          </a:prstGeom>
          <a:solidFill>
            <a:schemeClr val="accent2"/>
          </a:solidFill>
          <a:ln w="12700">
            <a:solidFill>
              <a:schemeClr val="accent2"/>
            </a:solidFill>
          </a:ln>
        </p:spPr>
        <p:txBody>
          <a:bodyPr/>
          <a:p/>
        </p:txBody>
      </p:sp>
      <p:sp>
        <p:nvSpPr>
          <p:cNvPr id="111" name="num"/>
          <p:cNvSpPr txBox="1"/>
          <p:nvPr/>
        </p:nvSpPr>
        <p:spPr>
          <a:xfrm>
            <a:off x="7635240" y="3218688"/>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2</a:t>
            </a:r>
            <a:endParaRPr lang="es-EC" sz="1300" dirty="0"/>
          </a:p>
        </p:txBody>
      </p:sp>
      <p:sp>
        <p:nvSpPr>
          <p:cNvPr id="112" name="lead"/>
          <p:cNvSpPr txBox="1"/>
          <p:nvPr/>
        </p:nvSpPr>
        <p:spPr>
          <a:xfrm>
            <a:off x="8129016" y="3182112"/>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Volante de inercia</a:t>
            </a:r>
            <a:endParaRPr lang="es-EC" sz="1300" dirty="0"/>
          </a:p>
        </p:txBody>
      </p:sp>
      <p:sp>
        <p:nvSpPr>
          <p:cNvPr id="113" name="cuerpo"/>
          <p:cNvSpPr txBox="1"/>
          <p:nvPr/>
        </p:nvSpPr>
        <p:spPr>
          <a:xfrm>
            <a:off x="7635240" y="3657600"/>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Tornillos nuevos si son de un solo uso, fijador de rosca y apriete en cruz.</a:t>
            </a:r>
            <a:endParaRPr lang="es-EC" sz="1100" dirty="0"/>
          </a:p>
        </p:txBody>
      </p:sp>
      <p:sp>
        <p:nvSpPr>
          <p:cNvPr id="114" name="tarjeta_3"/>
          <p:cNvSpPr/>
          <p:nvPr/>
        </p:nvSpPr>
        <p:spPr>
          <a:xfrm>
            <a:off x="7452360" y="4407408"/>
            <a:ext cx="4160520" cy="1243584"/>
          </a:xfrm>
          <a:prstGeom prst="roundRect">
            <a:avLst>
              <a:gd name="adj" fmla="val 5161"/>
            </a:avLst>
          </a:prstGeom>
          <a:solidFill>
            <a:schemeClr val="bg2"/>
          </a:solidFill>
          <a:ln w="12700">
            <a:solidFill>
              <a:schemeClr val="bg2"/>
            </a:solidFill>
          </a:ln>
          <a:effectLst>
            <a:outerShdw sx="100000" sy="100000" kx="0" ky="0" algn="bl" rotWithShape="0" blurRad="101600" dist="12700" dir="5400000">
              <a:srgbClr val="1A1F26">
                <a:alpha val="10000"/>
              </a:srgbClr>
            </a:outerShdw>
          </a:effectLst>
        </p:spPr>
        <p:txBody>
          <a:bodyPr/>
          <a:p/>
        </p:txBody>
      </p:sp>
      <p:sp>
        <p:nvSpPr>
          <p:cNvPr id="115" name="circulo"/>
          <p:cNvSpPr/>
          <p:nvPr/>
        </p:nvSpPr>
        <p:spPr>
          <a:xfrm>
            <a:off x="7635240" y="4572000"/>
            <a:ext cx="365760" cy="365760"/>
          </a:xfrm>
          <a:prstGeom prst="ellipse">
            <a:avLst/>
          </a:prstGeom>
          <a:solidFill>
            <a:schemeClr val="accent2"/>
          </a:solidFill>
          <a:ln w="12700">
            <a:solidFill>
              <a:schemeClr val="accent2"/>
            </a:solidFill>
          </a:ln>
        </p:spPr>
        <p:txBody>
          <a:bodyPr/>
          <a:p/>
        </p:txBody>
      </p:sp>
      <p:sp>
        <p:nvSpPr>
          <p:cNvPr id="116" name="num"/>
          <p:cNvSpPr txBox="1"/>
          <p:nvPr/>
        </p:nvSpPr>
        <p:spPr>
          <a:xfrm>
            <a:off x="7635240" y="4572000"/>
            <a:ext cx="365760" cy="365760"/>
          </a:xfrm>
          <a:prstGeom prst="rect">
            <a:avLst/>
          </a:prstGeom>
          <a:noFill/>
          <a:ln/>
        </p:spPr>
        <p:txBody>
          <a:bodyPr wrap="square" lIns="0" tIns="0" rIns="0" bIns="0" rtlCol="0" anchor="ctr">
            <a:normAutofit/>
          </a:bodyPr>
          <a:lstStyle/>
          <a:p>
            <a:pPr algn="ctr" indent="0" marL="0">
              <a:lnSpc>
                <a:spcPct val="108000"/>
              </a:lnSpc>
              <a:buNone/>
            </a:pPr>
            <a:r>
              <a:rPr lang="es-EC" sz="1300" b="1" dirty="0">
                <a:solidFill>
                  <a:srgbClr val="FFFFFF"/>
                </a:solidFill>
              </a:rPr>
              <a:t>3</a:t>
            </a:r>
            <a:endParaRPr lang="es-EC" sz="1300" dirty="0"/>
          </a:p>
        </p:txBody>
      </p:sp>
      <p:sp>
        <p:nvSpPr>
          <p:cNvPr id="117" name="lead"/>
          <p:cNvSpPr txBox="1"/>
          <p:nvPr/>
        </p:nvSpPr>
        <p:spPr>
          <a:xfrm>
            <a:off x="8129016" y="4535424"/>
            <a:ext cx="3319272" cy="438912"/>
          </a:xfrm>
          <a:prstGeom prst="rect">
            <a:avLst/>
          </a:prstGeom>
          <a:noFill/>
          <a:ln/>
        </p:spPr>
        <p:txBody>
          <a:bodyPr wrap="square" lIns="0" tIns="0" rIns="0" bIns="0" rtlCol="0" anchor="ctr">
            <a:normAutofit/>
          </a:bodyPr>
          <a:lstStyle/>
          <a:p>
            <a:pPr algn="l" indent="0" marL="0">
              <a:lnSpc>
                <a:spcPct val="95000"/>
              </a:lnSpc>
              <a:buNone/>
            </a:pPr>
            <a:r>
              <a:rPr lang="es-EC" sz="1300" b="1" dirty="0">
                <a:solidFill>
                  <a:schemeClr val="tx1"/>
                </a:solidFill>
              </a:rPr>
              <a:t>Antes de arrancar</a:t>
            </a:r>
            <a:endParaRPr lang="es-EC" sz="1300" dirty="0"/>
          </a:p>
        </p:txBody>
      </p:sp>
      <p:sp>
        <p:nvSpPr>
          <p:cNvPr id="118" name="cuerpo"/>
          <p:cNvSpPr txBox="1"/>
          <p:nvPr/>
        </p:nvSpPr>
        <p:spPr>
          <a:xfrm>
            <a:off x="7635240" y="5010912"/>
            <a:ext cx="3813048" cy="566928"/>
          </a:xfrm>
          <a:prstGeom prst="rect">
            <a:avLst/>
          </a:prstGeom>
          <a:noFill/>
          <a:ln/>
        </p:spPr>
        <p:txBody>
          <a:bodyPr wrap="square" lIns="0" tIns="0" rIns="0" bIns="0" rtlCol="0" anchor="t">
            <a:normAutofit/>
          </a:bodyPr>
          <a:lstStyle/>
          <a:p>
            <a:pPr algn="l" indent="0" marL="0">
              <a:lnSpc>
                <a:spcPct val="108000"/>
              </a:lnSpc>
              <a:buNone/>
            </a:pPr>
            <a:r>
              <a:rPr lang="es-EC" sz="1100" b="0" dirty="0">
                <a:solidFill>
                  <a:schemeClr val="accent4"/>
                </a:solidFill>
              </a:rPr>
              <a:t>Llenar aceite, cebar la bomba, comprobar presión con el motor girando con arranque y sin encendido.</a:t>
            </a:r>
            <a:endParaRPr lang="es-EC" sz="1100" dirty="0"/>
          </a:p>
        </p:txBody>
      </p:sp>
      <p:sp>
        <p:nvSpPr>
          <p:cNvPr id="119" name="pea"/>
          <p:cNvSpPr txBox="1"/>
          <p:nvPr/>
        </p:nvSpPr>
        <p:spPr>
          <a:xfrm>
            <a:off x="548640" y="6089904"/>
            <a:ext cx="11064240" cy="256032"/>
          </a:xfrm>
          <a:prstGeom prst="rect">
            <a:avLst/>
          </a:prstGeom>
          <a:noFill/>
          <a:ln/>
        </p:spPr>
        <p:txBody>
          <a:bodyPr wrap="square" lIns="0" tIns="0" rIns="0" bIns="0" rtlCol="0" anchor="ctr">
            <a:normAutofit/>
          </a:bodyPr>
          <a:lstStyle/>
          <a:p>
            <a:pPr algn="l" indent="0" marL="0">
              <a:lnSpc>
                <a:spcPct val="108000"/>
              </a:lnSpc>
              <a:buNone/>
            </a:pPr>
            <a:r>
              <a:rPr lang="es-EC" sz="1050" b="1" dirty="0">
                <a:solidFill>
                  <a:schemeClr val="accent1"/>
                </a:solidFill>
              </a:rPr>
              <a:t>PEA  </a:t>
            </a:r>
            <a:r>
              <a:rPr lang="es-EC" sz="1050" b="0" dirty="0">
                <a:solidFill>
                  <a:schemeClr val="accent4"/>
                </a:solidFill>
              </a:rPr>
              <a:t>Conocimiento del PEA: despiece y armado del tren alternativo · comprobaciones</a:t>
            </a:r>
            <a:endParaRPr lang="es-EC" sz="1050" dirty="0"/>
          </a:p>
        </p:txBody>
      </p:sp>
    </p:spTree>
  </p:cSld>
  <p:clrMapOvr>
    <a:masterClrMapping/>
  </p:clrMapOvr>
</p:sld>
</file>

<file path=ppt/theme/theme1.xml><?xml version="1.0" encoding="utf-8"?>
<a:theme xmlns:a="http://schemas.openxmlformats.org/drawingml/2006/main" name="ISTS Mecanica Automotriz">
  <a:themeElements>
    <a:clrScheme name="ISTS Mecanica Automotriz">
      <a:dk1>
        <a:srgbClr val="1A1F26"/>
      </a:dk1>
      <a:lt1>
        <a:srgbClr val="FFFFFF"/>
      </a:lt1>
      <a:dk2>
        <a:srgbClr val="2D6079"/>
      </a:dk2>
      <a:lt2>
        <a:srgbClr val="F1F2F4"/>
      </a:lt2>
      <a:accent1>
        <a:srgbClr val="C0451C"/>
      </a:accent1>
      <a:accent2>
        <a:srgbClr val="2D6079"/>
      </a:accent2>
      <a:accent3>
        <a:srgbClr val="D9A441"/>
      </a:accent3>
      <a:accent4>
        <a:srgbClr val="5A6470"/>
      </a:accent4>
      <a:accent5>
        <a:srgbClr val="8A9099"/>
      </a:accent5>
      <a:accent6>
        <a:srgbClr val="0F1318"/>
      </a:accent6>
      <a:hlink>
        <a:srgbClr val="2D6079"/>
      </a:hlink>
      <a:folHlink>
        <a:srgbClr val="5A6470"/>
      </a:folHlink>
    </a:clrScheme>
    <a:fontScheme name="ISTS Mecanica Automotriz">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Instituto Superior Tecnológico Sudamericano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Refrigeración, lubricación y elementos del bloque motor</dc:title>
  <dc:subject>MA.02.06 Sistemas del Funcionamiento del Motor — Unidad 4</dc:subject>
  <dc:creator>Ing. Miguel Angel Minga González</dc:creator>
  <cp:lastModifiedBy>Ing. Miguel Angel Minga González</cp:lastModifiedBy>
  <cp:revision>1</cp:revision>
  <dcterms:created xsi:type="dcterms:W3CDTF">2026-10-14T05:36:56Z</dcterms:created>
  <dcterms:modified xsi:type="dcterms:W3CDTF">2026-10-14T05:36:56Z</dcterms:modified>
</cp:coreProperties>
</file>