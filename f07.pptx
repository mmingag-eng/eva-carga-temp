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2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e53f8d68-5666-2655-ec07-57553ac63033}">
          <p14:sldIdLst>
            <p14:sldId id="256"/>
            <p14:sldId id="257"/>
            <p14:sldId id="258"/>
          </p14:sldIdLst>
        </p14:section>
        <p14:section name="4.1 Geometría del motor" id="{70ec1059-2053-d03d-a832-7bfd71db52a5}">
          <p14:sldIdLst>
            <p14:sldId id="259"/>
            <p14:sldId id="260"/>
            <p14:sldId id="261"/>
            <p14:sldId id="262"/>
            <p14:sldId id="263"/>
          </p14:sldIdLst>
        </p14:section>
        <p14:section name="4.2 Parámetros de cilindrada y compresión" id="{ceb42097-f2e7-9d46-9614-50eabe504338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4.3 Características del motor" id="{7d5b4b91-6e75-76c0-a458-a445f070c056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4.4 Mecanismo biela–manivela" id="{49c6addc-50b1-c5a1-997f-e02261ba968e}">
          <p14:sldIdLst>
            <p14:sldId id="281"/>
            <p14:sldId id="282"/>
            <p14:sldId id="283"/>
            <p14:sldId id="284"/>
          </p14:sldIdLst>
        </p14:section>
        <p14:section name="4.5 Funcionamiento del motor de cuatro tiempos" id="{bcfb2e66-67a2-19d5-483f-66b498810a47}">
          <p14:sldIdLst>
            <p14:sldId id="285"/>
            <p14:sldId id="286"/>
            <p14:sldId id="287"/>
            <p14:sldId id="288"/>
          </p14:sldIdLst>
        </p14:section>
        <p14:section name="4.6 Mapa de sistemas del motor" id="{b267f628-28d8-d905-4049-722e7407a451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Cierre" id="{fd5ce0fd-0369-9ddb-0ed4-2eaa980a84b8}">
          <p14:sldIdLst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 M (N·m)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1000</c:v>
                  </c:pt>
                  <c:pt idx="1">
                    <c:v>1500</c:v>
                  </c:pt>
                  <c:pt idx="2">
                    <c:v>2000</c:v>
                  </c:pt>
                  <c:pt idx="3">
                    <c:v>2500</c:v>
                  </c:pt>
                  <c:pt idx="4">
                    <c:v>3000</c:v>
                  </c:pt>
                  <c:pt idx="5">
                    <c:v>3500</c:v>
                  </c:pt>
                  <c:pt idx="6">
                    <c:v>4000</c:v>
                  </c:pt>
                  <c:pt idx="7">
                    <c:v>4200</c:v>
                  </c:pt>
                  <c:pt idx="8">
                    <c:v>4500</c:v>
                  </c:pt>
                  <c:pt idx="9">
                    <c:v>5000</c:v>
                  </c:pt>
                  <c:pt idx="10">
                    <c:v>5500</c:v>
                  </c:pt>
                  <c:pt idx="11">
                    <c:v>6000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170</c:v>
                </c:pt>
                <c:pt idx="1">
                  <c:v>182</c:v>
                </c:pt>
                <c:pt idx="2">
                  <c:v>195</c:v>
                </c:pt>
                <c:pt idx="3">
                  <c:v>205</c:v>
                </c:pt>
                <c:pt idx="4">
                  <c:v>211</c:v>
                </c:pt>
                <c:pt idx="5">
                  <c:v>216</c:v>
                </c:pt>
                <c:pt idx="6">
                  <c:v>219</c:v>
                </c:pt>
                <c:pt idx="7">
                  <c:v>220</c:v>
                </c:pt>
                <c:pt idx="8">
                  <c:v>218</c:v>
                </c:pt>
                <c:pt idx="9">
                  <c:v>210</c:v>
                </c:pt>
                <c:pt idx="10">
                  <c:v>192</c:v>
                </c:pt>
                <c:pt idx="11">
                  <c:v>170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Potencia P (kW)</c:v>
                </c:pt>
              </c:strCache>
            </c:strRef>
          </c:tx>
          <c:spPr>
            <a:solidFill>
              <a:srgbClr val="0E7C7B"/>
            </a:solidFill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1000</c:v>
                  </c:pt>
                  <c:pt idx="1">
                    <c:v>1500</c:v>
                  </c:pt>
                  <c:pt idx="2">
                    <c:v>2000</c:v>
                  </c:pt>
                  <c:pt idx="3">
                    <c:v>2500</c:v>
                  </c:pt>
                  <c:pt idx="4">
                    <c:v>3000</c:v>
                  </c:pt>
                  <c:pt idx="5">
                    <c:v>3500</c:v>
                  </c:pt>
                  <c:pt idx="6">
                    <c:v>4000</c:v>
                  </c:pt>
                  <c:pt idx="7">
                    <c:v>4200</c:v>
                  </c:pt>
                  <c:pt idx="8">
                    <c:v>4500</c:v>
                  </c:pt>
                  <c:pt idx="9">
                    <c:v>5000</c:v>
                  </c:pt>
                  <c:pt idx="10">
                    <c:v>5500</c:v>
                  </c:pt>
                  <c:pt idx="11">
                    <c:v>6000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17.8</c:v>
                </c:pt>
                <c:pt idx="1">
                  <c:v>28.6</c:v>
                </c:pt>
                <c:pt idx="2">
                  <c:v>40.8</c:v>
                </c:pt>
                <c:pt idx="3">
                  <c:v>53.7</c:v>
                </c:pt>
                <c:pt idx="4">
                  <c:v>66.3</c:v>
                </c:pt>
                <c:pt idx="5">
                  <c:v>79.2</c:v>
                </c:pt>
                <c:pt idx="6">
                  <c:v>91.7</c:v>
                </c:pt>
                <c:pt idx="7">
                  <c:v>96.8</c:v>
                </c:pt>
                <c:pt idx="8">
                  <c:v>102.7</c:v>
                </c:pt>
                <c:pt idx="9">
                  <c:v>110</c:v>
                </c:pt>
                <c:pt idx="10">
                  <c:v>110.6</c:v>
                </c:pt>
                <c:pt idx="11">
                  <c:v>106.8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5"/>
        <c:axId val="2094734553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Régimen (rpm)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"/>
          <c:min val="15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E4572E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E4572E"/>
                    </a:solidFill>
                    <a:latin typeface="Arial"/>
                  </a:rPr>
                  <a:t>Par (N·m)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  <c:max val="120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E7C7B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E7C7B"/>
                    </a:solidFill>
                    <a:latin typeface="Arial"/>
                  </a:rPr>
                  <a:t>Potencia (kW)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3"/>
        <c:crosses val="autoZero"/>
        <c:auto val="1"/>
        <c:lblAlgn val="ctr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5233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5233F"/>
                </a:solidFill>
                <a:latin typeface="+mn-lt"/>
              </a:rPr>
              <a:t>Desplazamiento del pistón desde el PMS, x/r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Biela real (λ = 0,3)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15</c:v>
                  </c:pt>
                  <c:pt idx="2">
                    <c:v>30</c:v>
                  </c:pt>
                  <c:pt idx="3">
                    <c:v>45</c:v>
                  </c:pt>
                  <c:pt idx="4">
                    <c:v>60</c:v>
                  </c:pt>
                  <c:pt idx="5">
                    <c:v>75</c:v>
                  </c:pt>
                  <c:pt idx="6">
                    <c:v>90</c:v>
                  </c:pt>
                  <c:pt idx="7">
                    <c:v>105</c:v>
                  </c:pt>
                  <c:pt idx="8">
                    <c:v>120</c:v>
                  </c:pt>
                  <c:pt idx="9">
                    <c:v>135</c:v>
                  </c:pt>
                  <c:pt idx="10">
                    <c:v>150</c:v>
                  </c:pt>
                  <c:pt idx="11">
                    <c:v>165</c:v>
                  </c:pt>
                  <c:pt idx="12">
                    <c:v>180</c:v>
                  </c:pt>
                  <c:pt idx="13">
                    <c:v>195</c:v>
                  </c:pt>
                  <c:pt idx="14">
                    <c:v>210</c:v>
                  </c:pt>
                  <c:pt idx="15">
                    <c:v>225</c:v>
                  </c:pt>
                  <c:pt idx="16">
                    <c:v>240</c:v>
                  </c:pt>
                  <c:pt idx="17">
                    <c:v>255</c:v>
                  </c:pt>
                  <c:pt idx="18">
                    <c:v>270</c:v>
                  </c:pt>
                  <c:pt idx="19">
                    <c:v>285</c:v>
                  </c:pt>
                  <c:pt idx="20">
                    <c:v>300</c:v>
                  </c:pt>
                  <c:pt idx="21">
                    <c:v>315</c:v>
                  </c:pt>
                  <c:pt idx="22">
                    <c:v>330</c:v>
                  </c:pt>
                  <c:pt idx="23">
                    <c:v>345</c:v>
                  </c:pt>
                  <c:pt idx="24">
                    <c:v>360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0</c:v>
                </c:pt>
                <c:pt idx="1">
                  <c:v>0.044</c:v>
                </c:pt>
                <c:pt idx="2">
                  <c:v>0.172</c:v>
                </c:pt>
                <c:pt idx="3">
                  <c:v>0.369</c:v>
                </c:pt>
                <c:pt idx="4">
                  <c:v>0.614</c:v>
                </c:pt>
                <c:pt idx="5">
                  <c:v>0.884</c:v>
                </c:pt>
                <c:pt idx="6">
                  <c:v>1.154</c:v>
                </c:pt>
                <c:pt idx="7">
                  <c:v>1.402</c:v>
                </c:pt>
                <c:pt idx="8">
                  <c:v>1.614</c:v>
                </c:pt>
                <c:pt idx="9">
                  <c:v>1.783</c:v>
                </c:pt>
                <c:pt idx="10">
                  <c:v>1.904</c:v>
                </c:pt>
                <c:pt idx="11">
                  <c:v>1.976</c:v>
                </c:pt>
                <c:pt idx="12">
                  <c:v>2</c:v>
                </c:pt>
                <c:pt idx="13">
                  <c:v>1.976</c:v>
                </c:pt>
                <c:pt idx="14">
                  <c:v>1.904</c:v>
                </c:pt>
                <c:pt idx="15">
                  <c:v>1.783</c:v>
                </c:pt>
                <c:pt idx="16">
                  <c:v>1.614</c:v>
                </c:pt>
                <c:pt idx="17">
                  <c:v>1.402</c:v>
                </c:pt>
                <c:pt idx="18">
                  <c:v>1.154</c:v>
                </c:pt>
                <c:pt idx="19">
                  <c:v>0.884</c:v>
                </c:pt>
                <c:pt idx="20">
                  <c:v>0.614</c:v>
                </c:pt>
                <c:pt idx="21">
                  <c:v>0.369</c:v>
                </c:pt>
                <c:pt idx="22">
                  <c:v>0.172</c:v>
                </c:pt>
                <c:pt idx="23">
                  <c:v>0.044</c:v>
                </c:pt>
                <c:pt idx="24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Biela infinita (armónico)</c:v>
                </c:pt>
              </c:strCache>
            </c:strRef>
          </c:tx>
          <c:spPr>
            <a:solidFill>
              <a:srgbClr val="0E7C7B"/>
            </a:solidFill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15</c:v>
                  </c:pt>
                  <c:pt idx="2">
                    <c:v>30</c:v>
                  </c:pt>
                  <c:pt idx="3">
                    <c:v>45</c:v>
                  </c:pt>
                  <c:pt idx="4">
                    <c:v>60</c:v>
                  </c:pt>
                  <c:pt idx="5">
                    <c:v>75</c:v>
                  </c:pt>
                  <c:pt idx="6">
                    <c:v>90</c:v>
                  </c:pt>
                  <c:pt idx="7">
                    <c:v>105</c:v>
                  </c:pt>
                  <c:pt idx="8">
                    <c:v>120</c:v>
                  </c:pt>
                  <c:pt idx="9">
                    <c:v>135</c:v>
                  </c:pt>
                  <c:pt idx="10">
                    <c:v>150</c:v>
                  </c:pt>
                  <c:pt idx="11">
                    <c:v>165</c:v>
                  </c:pt>
                  <c:pt idx="12">
                    <c:v>180</c:v>
                  </c:pt>
                  <c:pt idx="13">
                    <c:v>195</c:v>
                  </c:pt>
                  <c:pt idx="14">
                    <c:v>210</c:v>
                  </c:pt>
                  <c:pt idx="15">
                    <c:v>225</c:v>
                  </c:pt>
                  <c:pt idx="16">
                    <c:v>240</c:v>
                  </c:pt>
                  <c:pt idx="17">
                    <c:v>255</c:v>
                  </c:pt>
                  <c:pt idx="18">
                    <c:v>270</c:v>
                  </c:pt>
                  <c:pt idx="19">
                    <c:v>285</c:v>
                  </c:pt>
                  <c:pt idx="20">
                    <c:v>300</c:v>
                  </c:pt>
                  <c:pt idx="21">
                    <c:v>315</c:v>
                  </c:pt>
                  <c:pt idx="22">
                    <c:v>330</c:v>
                  </c:pt>
                  <c:pt idx="23">
                    <c:v>345</c:v>
                  </c:pt>
                  <c:pt idx="24">
                    <c:v>360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</c:v>
                </c:pt>
                <c:pt idx="1">
                  <c:v>0.034</c:v>
                </c:pt>
                <c:pt idx="2">
                  <c:v>0.134</c:v>
                </c:pt>
                <c:pt idx="3">
                  <c:v>0.293</c:v>
                </c:pt>
                <c:pt idx="4">
                  <c:v>0.5</c:v>
                </c:pt>
                <c:pt idx="5">
                  <c:v>0.741</c:v>
                </c:pt>
                <c:pt idx="6">
                  <c:v>1</c:v>
                </c:pt>
                <c:pt idx="7">
                  <c:v>1.259</c:v>
                </c:pt>
                <c:pt idx="8">
                  <c:v>1.5</c:v>
                </c:pt>
                <c:pt idx="9">
                  <c:v>1.707</c:v>
                </c:pt>
                <c:pt idx="10">
                  <c:v>1.866</c:v>
                </c:pt>
                <c:pt idx="11">
                  <c:v>1.966</c:v>
                </c:pt>
                <c:pt idx="12">
                  <c:v>2</c:v>
                </c:pt>
                <c:pt idx="13">
                  <c:v>1.966</c:v>
                </c:pt>
                <c:pt idx="14">
                  <c:v>1.866</c:v>
                </c:pt>
                <c:pt idx="15">
                  <c:v>1.707</c:v>
                </c:pt>
                <c:pt idx="16">
                  <c:v>1.5</c:v>
                </c:pt>
                <c:pt idx="17">
                  <c:v>1.259</c:v>
                </c:pt>
                <c:pt idx="18">
                  <c:v>1</c:v>
                </c:pt>
                <c:pt idx="19">
                  <c:v>0.741</c:v>
                </c:pt>
                <c:pt idx="20">
                  <c:v>0.5</c:v>
                </c:pt>
                <c:pt idx="21">
                  <c:v>0.293</c:v>
                </c:pt>
                <c:pt idx="22">
                  <c:v>0.134</c:v>
                </c:pt>
                <c:pt idx="23">
                  <c:v>0.034</c:v>
                </c:pt>
                <c:pt idx="2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770"/>
                    </a:solidFill>
                    <a:latin typeface="Arial"/>
                  </a:rPr>
                  <a:t>Ángulo del cigüeñal θ (°)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"/>
      </c:catAx>
      <c:valAx>
        <c:axId val="2094734552"/>
        <c:scaling>
          <c:orientation val="minMax"/>
          <c:max val="2.2"/>
          <c:min val="0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B677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5B6770"/>
                    </a:solidFill>
                    <a:latin typeface="Arial"/>
                  </a:rPr>
                  <a:t>x/r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Unidad 4 del PEA: Funcionamiento del motor de combustión interna alternativo.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Texto literal del PEA (Unidad 4). Técnicas del PEA: role-playing y discusiones grupales. Recursos: ICEngines (EES) y Autodata.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seis apartados siguen el bloque de contenidos de la Unidad 4 del PEA (4.1 a 4.6).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4.1.1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4.1.2 y 4.1.3 del PEA. Se miden con calibrador, micrómetro de interiores o alexómetro; los valores nominales están en el manual del fabricante.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4.1.4 del PEA. Actividad de aprendizaje N.°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4.1.5 del PEA. Enlaza con la clasificación de la Unidad 3 (3.2.3).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4.2.1 a 4.2.3 del PEA. Notación del PEA: V_u, V_t, V_cc.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4.2.4 del PEA. Coincide con la relación r de los ciclos Otto y Diesel (Unidad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de aprendizaje N.° 1 (Cálculo de cilindrada y Rc).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de aprendizaje N.°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Hoja de cálculo «Parámetros de motores» (Luis Jaramillo). Interpretación: con una junta de 1,5 mm la Rc baja de 9,9 a 8,64; por eso se respeta el espesor especificado por el fabricante.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de aprendizaje N.° 1. Fórmula válida si la cámara se aproxima a un cilindro del mismo diámetro.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de aprendizaje N.° 1 (en la guía: η_F y V_F). El rendimiento volumétrico se amplía con la sobrealimentación (4.6).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4.2.5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4.3.2 y 4.3.3 del PEA. 9 550 ≈ 60 000/2π.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de aprendizaje N.° 1 (F_e = 10·p·A).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4.3.6 del PEA. Datos de par de un motor de gasolina de 1,6 L (actividad de clase). La potencia se calcula con P = M·n/9 550.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kW = 1,36 CV.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4.3.7 del PEA. Un motor elástico necesita menos cambios de marcha.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4.3.1 y 4.3.4 del PEA. PCI de la gasolina ≈ 44 MJ/kg; del diésel ≈ 42,5 MJ/kg.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4.3.5 del PEA. Relaciona con la PME del ciclo (Unidad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4.4 del PEA. Relaciona las partes móviles de la Unidad 3 (pistón, bulón, biela y cigüeñal).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4.4 del PEA. Curvas calculadas con λ = 0,3 (fórmula exacta). La aproximación es la de Payri y Desantes (2011), capítulo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 la fórmula exacta x90 = 46,8 mm.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4.5.1 del PEA. Un ciclo = 2 vueltas del cigüeñal (720°); el árbol de levas gira a la mitad.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Actividad de aprendizaje N.° 1 y manual técnico de parámetros de admisión. Presiones manométricas aproximadas.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4.5.2 del PEA. Ver también la comparación de ciclos en la Unidad 2 (2.6).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4.6 del PEA. Cada sistema se estudia a fondo en la asignatura Sistemas de funcionamiento del motor.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4.6.1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4.6.1.1 del PEA. Documento de apoyo: Sobrealimentación.pdf (carpeta del curso).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4.6.2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4.6.3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4.6.4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4.6.5 y 4.6.6 del PEA.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Técnica del PEA: role-playing (técnico y jefe de taller) y discusión grupal. Recursos del PEA: Autodata e ICEngines (EES).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con preguntas dirigidas antes de la autoevaluación.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Preguntas adaptadas del banco BP_U4 y del cuestionario de la Unidad 4. Respuestas: 1) Entre PMS y PMI; 2) 7,5 : 1 aprox. (Vu 269,5, Vcc 41,44); 3) disminuye; 4) Admisión, compresión, expansión, escape; 5) 2 : 1; 6) P = M·n/9 550.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Bibliografía del PEA (apartado 18) y material del docente.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256032"/>
            <a:ext cx="969264" cy="512064"/>
          </a:xfrm>
          <a:prstGeom prst="rect">
            <a:avLst/>
          </a:prstGeom>
        </p:spPr>
      </p:pic>
      <p:pic>
        <p:nvPicPr>
          <p:cNvPr id="3" name="Image 1" descr="/home/claude/img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528" y="201168"/>
            <a:ext cx="667512" cy="5669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4: Funcionamiento del MCIA</a:t>
            </a:r>
            <a:endParaRPr lang="en-US" sz="10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15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28-1.png"/><Relationship Id="rId3" Type="http://schemas.openxmlformats.org/officeDocument/2006/relationships/image" Target="../media/image-28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image" Target="../media/image-3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0175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</p:spPr>
      </p:sp>
      <p:pic>
        <p:nvPicPr>
          <p:cNvPr id="3" name="Image 0" descr="/home/claude/img/image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94360"/>
            <a:ext cx="1298448" cy="685800"/>
          </a:xfrm>
          <a:prstGeom prst="rect">
            <a:avLst/>
          </a:prstGeom>
        </p:spPr>
      </p:pic>
      <p:pic>
        <p:nvPicPr>
          <p:cNvPr id="4" name="Image 1" descr="/home/claude/img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576072"/>
            <a:ext cx="850392" cy="72237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4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2402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Funcionamiento del MCIA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200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Geometría, parámetros, curvas características y sistemas del motor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343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de Tecnología Superior en Mecánica Automotriz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Superior Tecnológico Sudamericano – Loja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 octubre 2026 – febrero 2027  ·  Primer periodo académico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669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Ing. Miguel Ángel Minga González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589520" y="822960"/>
            <a:ext cx="4023360" cy="5212080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/>
        </p:spPr>
      </p:sp>
      <p:pic>
        <p:nvPicPr>
          <p:cNvPr id="11" name="img_1" descr="/home/claude/img/u2_image1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961" y="960120"/>
            <a:ext cx="3500478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de aprendizaje de la unidad</a:t>
            </a:r>
            <a:endParaRPr lang="en-US" sz="3000" dirty="0"/>
          </a:p>
        </p:txBody>
      </p:sp>
      <p:sp>
        <p:nvSpPr>
          <p:cNvPr id="3" name="kicker_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</a:t>
            </a:r>
            <a:endParaRPr lang="en-US" sz="1100" dirty="0"/>
          </a:p>
        </p:txBody>
      </p:sp>
      <p:sp>
        <p:nvSpPr>
          <p:cNvPr id="5" name="card_3"/>
          <p:cNvSpPr/>
          <p:nvPr/>
        </p:nvSpPr>
        <p:spPr>
          <a:xfrm>
            <a:off x="548640" y="1463040"/>
            <a:ext cx="6766560" cy="2514600"/>
          </a:xfrm>
          <a:prstGeom prst="roundRect">
            <a:avLst>
              <a:gd name="adj" fmla="val 3636"/>
            </a:avLst>
          </a:prstGeom>
          <a:solidFill>
            <a:srgbClr val="15233F"/>
          </a:solidFill>
          <a:ln/>
        </p:spPr>
      </p:sp>
      <p:sp>
        <p:nvSpPr>
          <p:cNvPr id="6" name="txt_4"/>
          <p:cNvSpPr txBox="1"/>
          <p:nvPr/>
        </p:nvSpPr>
        <p:spPr>
          <a:xfrm>
            <a:off x="822960" y="1645920"/>
            <a:ext cx="6217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 APRENDIZAJE  ·  PEA</a:t>
            </a:r>
            <a:endParaRPr lang="en-US" sz="1200" dirty="0"/>
          </a:p>
        </p:txBody>
      </p:sp>
      <p:sp>
        <p:nvSpPr>
          <p:cNvPr id="7" name="txt_5"/>
          <p:cNvSpPr txBox="1"/>
          <p:nvPr/>
        </p:nvSpPr>
        <p:spPr>
          <a:xfrm>
            <a:off x="822960" y="2011680"/>
            <a:ext cx="6309360" cy="1874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y categorizar las partes que corresponden al motor de combustión interna.</a:t>
            </a:r>
            <a:endParaRPr lang="en-US" sz="17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manuales de fabricante útiles en el desarrollo práctico, para identificar el proceso de ensamblaje y desensamblaje del motor.</a:t>
            </a:r>
            <a:endParaRPr lang="en-US" sz="1700" dirty="0"/>
          </a:p>
        </p:txBody>
      </p:sp>
      <p:sp>
        <p:nvSpPr>
          <p:cNvPr id="8" name="card_6"/>
          <p:cNvSpPr/>
          <p:nvPr/>
        </p:nvSpPr>
        <p:spPr>
          <a:xfrm>
            <a:off x="548640" y="4206240"/>
            <a:ext cx="2139696" cy="2011680"/>
          </a:xfrm>
          <a:prstGeom prst="roundRect">
            <a:avLst>
              <a:gd name="adj" fmla="val 4545"/>
            </a:avLst>
          </a:prstGeom>
          <a:solidFill>
            <a:srgbClr val="F2F5F8"/>
          </a:solidFill>
          <a:ln/>
        </p:spPr>
      </p:sp>
      <p:sp>
        <p:nvSpPr>
          <p:cNvPr id="9" name="txt_7"/>
          <p:cNvSpPr txBox="1"/>
          <p:nvPr/>
        </p:nvSpPr>
        <p:spPr>
          <a:xfrm>
            <a:off x="777240" y="4343400"/>
            <a:ext cx="17373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h</a:t>
            </a:r>
            <a:endParaRPr lang="en-US" sz="3400" dirty="0"/>
          </a:p>
        </p:txBody>
      </p:sp>
      <p:sp>
        <p:nvSpPr>
          <p:cNvPr id="10" name="txt_8"/>
          <p:cNvSpPr txBox="1"/>
          <p:nvPr/>
        </p:nvSpPr>
        <p:spPr>
          <a:xfrm>
            <a:off x="777240" y="5120640"/>
            <a:ext cx="17830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Docencia en contacto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docente</a:t>
            </a:r>
            <a:endParaRPr lang="en-US" sz="1400" dirty="0"/>
          </a:p>
        </p:txBody>
      </p:sp>
      <p:sp>
        <p:nvSpPr>
          <p:cNvPr id="11" name="card_9"/>
          <p:cNvSpPr/>
          <p:nvPr/>
        </p:nvSpPr>
        <p:spPr>
          <a:xfrm>
            <a:off x="2862072" y="4206240"/>
            <a:ext cx="2139696" cy="2011680"/>
          </a:xfrm>
          <a:prstGeom prst="roundRect">
            <a:avLst>
              <a:gd name="adj" fmla="val 4545"/>
            </a:avLst>
          </a:prstGeom>
          <a:solidFill>
            <a:srgbClr val="F2F5F8"/>
          </a:solidFill>
          <a:ln/>
        </p:spPr>
      </p:sp>
      <p:sp>
        <p:nvSpPr>
          <p:cNvPr id="12" name="txt_10"/>
          <p:cNvSpPr txBox="1"/>
          <p:nvPr/>
        </p:nvSpPr>
        <p:spPr>
          <a:xfrm>
            <a:off x="3090672" y="4343400"/>
            <a:ext cx="17373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h</a:t>
            </a:r>
            <a:endParaRPr lang="en-US" sz="3400" dirty="0"/>
          </a:p>
        </p:txBody>
      </p:sp>
      <p:sp>
        <p:nvSpPr>
          <p:cNvPr id="13" name="txt_11"/>
          <p:cNvSpPr txBox="1"/>
          <p:nvPr/>
        </p:nvSpPr>
        <p:spPr>
          <a:xfrm>
            <a:off x="3090672" y="5120640"/>
            <a:ext cx="17830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práctico–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</a:t>
            </a:r>
            <a:endParaRPr lang="en-US" sz="1400" dirty="0"/>
          </a:p>
        </p:txBody>
      </p:sp>
      <p:sp>
        <p:nvSpPr>
          <p:cNvPr id="14" name="card_12"/>
          <p:cNvSpPr/>
          <p:nvPr/>
        </p:nvSpPr>
        <p:spPr>
          <a:xfrm>
            <a:off x="5175504" y="4206240"/>
            <a:ext cx="2139696" cy="2011680"/>
          </a:xfrm>
          <a:prstGeom prst="roundRect">
            <a:avLst>
              <a:gd name="adj" fmla="val 4545"/>
            </a:avLst>
          </a:prstGeom>
          <a:solidFill>
            <a:srgbClr val="F2F5F8"/>
          </a:solidFill>
          <a:ln/>
        </p:spPr>
      </p:sp>
      <p:sp>
        <p:nvSpPr>
          <p:cNvPr id="15" name="txt_13"/>
          <p:cNvSpPr txBox="1"/>
          <p:nvPr/>
        </p:nvSpPr>
        <p:spPr>
          <a:xfrm>
            <a:off x="5404104" y="4343400"/>
            <a:ext cx="17373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h</a:t>
            </a:r>
            <a:endParaRPr lang="en-US" sz="3400" dirty="0"/>
          </a:p>
        </p:txBody>
      </p:sp>
      <p:sp>
        <p:nvSpPr>
          <p:cNvPr id="16" name="txt_14"/>
          <p:cNvSpPr txBox="1"/>
          <p:nvPr/>
        </p:nvSpPr>
        <p:spPr>
          <a:xfrm>
            <a:off x="5404104" y="5120640"/>
            <a:ext cx="17830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autónomo</a:t>
            </a:r>
            <a:endParaRPr lang="en-US" sz="1400" dirty="0"/>
          </a:p>
        </p:txBody>
      </p:sp>
      <p:sp>
        <p:nvSpPr>
          <p:cNvPr id="17" name="card_15"/>
          <p:cNvSpPr/>
          <p:nvPr/>
        </p:nvSpPr>
        <p:spPr>
          <a:xfrm>
            <a:off x="7680960" y="1463040"/>
            <a:ext cx="3962095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8" name="dot_16"/>
          <p:cNvSpPr/>
          <p:nvPr/>
        </p:nvSpPr>
        <p:spPr>
          <a:xfrm>
            <a:off x="790956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9" name="ic_1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7576" y="1819656"/>
            <a:ext cx="310896" cy="310896"/>
          </a:xfrm>
          <a:prstGeom prst="rect">
            <a:avLst/>
          </a:prstGeom>
        </p:spPr>
      </p:pic>
      <p:sp>
        <p:nvSpPr>
          <p:cNvPr id="20" name="txt_18"/>
          <p:cNvSpPr txBox="1"/>
          <p:nvPr/>
        </p:nvSpPr>
        <p:spPr>
          <a:xfrm>
            <a:off x="8613648" y="1664208"/>
            <a:ext cx="28648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#4</a:t>
            </a:r>
            <a:endParaRPr lang="en-US" sz="1700" dirty="0"/>
          </a:p>
        </p:txBody>
      </p:sp>
      <p:sp>
        <p:nvSpPr>
          <p:cNvPr id="21" name="txt_19"/>
          <p:cNvSpPr txBox="1"/>
          <p:nvPr/>
        </p:nvSpPr>
        <p:spPr>
          <a:xfrm>
            <a:off x="7909560" y="2377440"/>
            <a:ext cx="3550615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del funcionamiento del MCIA: medición de geometría y parámetros con el manual del fabricante.</a:t>
            </a:r>
            <a:endParaRPr lang="en-US" sz="1500" dirty="0"/>
          </a:p>
        </p:txBody>
      </p:sp>
      <p:sp>
        <p:nvSpPr>
          <p:cNvPr id="22" name="card_20"/>
          <p:cNvSpPr/>
          <p:nvPr/>
        </p:nvSpPr>
        <p:spPr>
          <a:xfrm>
            <a:off x="7680960" y="3977640"/>
            <a:ext cx="3962095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3" name="dot_21"/>
          <p:cNvSpPr/>
          <p:nvPr/>
        </p:nvSpPr>
        <p:spPr>
          <a:xfrm>
            <a:off x="7909560" y="42062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4" name="ic_2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576" y="4334256"/>
            <a:ext cx="310896" cy="310896"/>
          </a:xfrm>
          <a:prstGeom prst="rect">
            <a:avLst/>
          </a:prstGeom>
        </p:spPr>
      </p:pic>
      <p:sp>
        <p:nvSpPr>
          <p:cNvPr id="25" name="txt_23"/>
          <p:cNvSpPr txBox="1"/>
          <p:nvPr/>
        </p:nvSpPr>
        <p:spPr>
          <a:xfrm>
            <a:off x="8613648" y="4178808"/>
            <a:ext cx="286481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</a:t>
            </a:r>
            <a:endParaRPr lang="en-US" sz="1700" dirty="0"/>
          </a:p>
        </p:txBody>
      </p:sp>
      <p:sp>
        <p:nvSpPr>
          <p:cNvPr id="26" name="txt_24"/>
          <p:cNvSpPr txBox="1"/>
          <p:nvPr/>
        </p:nvSpPr>
        <p:spPr>
          <a:xfrm>
            <a:off x="7909560" y="4892040"/>
            <a:ext cx="3550615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Trabajos autónomos, actividades prácticas, trabajos colaborativos y evaluación bimestral.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Contenidos de la unidad</a:t>
            </a:r>
            <a:endParaRPr lang="en-US" sz="3000" dirty="0"/>
          </a:p>
        </p:txBody>
      </p:sp>
      <p:sp>
        <p:nvSpPr>
          <p:cNvPr id="3" name="kicker_2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4</a:t>
            </a:r>
            <a:endParaRPr lang="en-US" sz="1100" dirty="0"/>
          </a:p>
        </p:txBody>
      </p:sp>
      <p:sp>
        <p:nvSpPr>
          <p:cNvPr id="5" name="card_26"/>
          <p:cNvSpPr/>
          <p:nvPr/>
        </p:nvSpPr>
        <p:spPr>
          <a:xfrm>
            <a:off x="548640" y="146304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2F5F8"/>
          </a:solidFill>
          <a:ln/>
        </p:spPr>
      </p:sp>
      <p:sp>
        <p:nvSpPr>
          <p:cNvPr id="6" name="Shape 3"/>
          <p:cNvSpPr/>
          <p:nvPr/>
        </p:nvSpPr>
        <p:spPr>
          <a:xfrm>
            <a:off x="777240" y="1536192"/>
            <a:ext cx="512064" cy="512064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7" name="txt_27"/>
          <p:cNvSpPr txBox="1"/>
          <p:nvPr/>
        </p:nvSpPr>
        <p:spPr>
          <a:xfrm>
            <a:off x="777240" y="15361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1400" dirty="0"/>
          </a:p>
        </p:txBody>
      </p:sp>
      <p:sp>
        <p:nvSpPr>
          <p:cNvPr id="8" name="txt_28"/>
          <p:cNvSpPr txBox="1"/>
          <p:nvPr/>
        </p:nvSpPr>
        <p:spPr>
          <a:xfrm>
            <a:off x="1554480" y="1463040"/>
            <a:ext cx="9905695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Geometría del motor</a:t>
            </a:r>
            <a:endParaRPr lang="en-US" sz="1900" dirty="0"/>
          </a:p>
        </p:txBody>
      </p:sp>
      <p:sp>
        <p:nvSpPr>
          <p:cNvPr id="9" name="card_29"/>
          <p:cNvSpPr/>
          <p:nvPr/>
        </p:nvSpPr>
        <p:spPr>
          <a:xfrm>
            <a:off x="548640" y="2267712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2F5F8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340864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xt_30"/>
          <p:cNvSpPr txBox="1"/>
          <p:nvPr/>
        </p:nvSpPr>
        <p:spPr>
          <a:xfrm>
            <a:off x="777240" y="23408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1400" dirty="0"/>
          </a:p>
        </p:txBody>
      </p:sp>
      <p:sp>
        <p:nvSpPr>
          <p:cNvPr id="12" name="txt_31"/>
          <p:cNvSpPr txBox="1"/>
          <p:nvPr/>
        </p:nvSpPr>
        <p:spPr>
          <a:xfrm>
            <a:off x="1554480" y="2267712"/>
            <a:ext cx="9905695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de cilindrada y compresión</a:t>
            </a:r>
            <a:endParaRPr lang="en-US" sz="1900" dirty="0"/>
          </a:p>
        </p:txBody>
      </p:sp>
      <p:sp>
        <p:nvSpPr>
          <p:cNvPr id="13" name="card_32"/>
          <p:cNvSpPr/>
          <p:nvPr/>
        </p:nvSpPr>
        <p:spPr>
          <a:xfrm>
            <a:off x="548640" y="3072384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2F5F8"/>
          </a:solidFill>
          <a:ln/>
        </p:spPr>
      </p:sp>
      <p:sp>
        <p:nvSpPr>
          <p:cNvPr id="14" name="Shape 11"/>
          <p:cNvSpPr/>
          <p:nvPr/>
        </p:nvSpPr>
        <p:spPr>
          <a:xfrm>
            <a:off x="777240" y="3145536"/>
            <a:ext cx="512064" cy="512064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15" name="txt_33"/>
          <p:cNvSpPr txBox="1"/>
          <p:nvPr/>
        </p:nvSpPr>
        <p:spPr>
          <a:xfrm>
            <a:off x="777240" y="3145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1400" dirty="0"/>
          </a:p>
        </p:txBody>
      </p:sp>
      <p:sp>
        <p:nvSpPr>
          <p:cNvPr id="16" name="txt_34"/>
          <p:cNvSpPr txBox="1"/>
          <p:nvPr/>
        </p:nvSpPr>
        <p:spPr>
          <a:xfrm>
            <a:off x="1554480" y="3072384"/>
            <a:ext cx="9905695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del motor</a:t>
            </a:r>
            <a:endParaRPr lang="en-US" sz="1900" dirty="0"/>
          </a:p>
        </p:txBody>
      </p:sp>
      <p:sp>
        <p:nvSpPr>
          <p:cNvPr id="17" name="card_35"/>
          <p:cNvSpPr/>
          <p:nvPr/>
        </p:nvSpPr>
        <p:spPr>
          <a:xfrm>
            <a:off x="548640" y="3877056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2F5F8"/>
          </a:solidFill>
          <a:ln/>
        </p:spPr>
      </p:sp>
      <p:sp>
        <p:nvSpPr>
          <p:cNvPr id="18" name="Shape 15"/>
          <p:cNvSpPr/>
          <p:nvPr/>
        </p:nvSpPr>
        <p:spPr>
          <a:xfrm>
            <a:off x="777240" y="3950208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xt_36"/>
          <p:cNvSpPr txBox="1"/>
          <p:nvPr/>
        </p:nvSpPr>
        <p:spPr>
          <a:xfrm>
            <a:off x="777240" y="3950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1400" dirty="0"/>
          </a:p>
        </p:txBody>
      </p:sp>
      <p:sp>
        <p:nvSpPr>
          <p:cNvPr id="20" name="txt_37"/>
          <p:cNvSpPr txBox="1"/>
          <p:nvPr/>
        </p:nvSpPr>
        <p:spPr>
          <a:xfrm>
            <a:off x="1554480" y="3877056"/>
            <a:ext cx="9905695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biela–manivela</a:t>
            </a:r>
            <a:endParaRPr lang="en-US" sz="1900" dirty="0"/>
          </a:p>
        </p:txBody>
      </p:sp>
      <p:sp>
        <p:nvSpPr>
          <p:cNvPr id="21" name="card_38"/>
          <p:cNvSpPr/>
          <p:nvPr/>
        </p:nvSpPr>
        <p:spPr>
          <a:xfrm>
            <a:off x="548640" y="4681728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2F5F8"/>
          </a:solidFill>
          <a:ln/>
        </p:spPr>
      </p:sp>
      <p:sp>
        <p:nvSpPr>
          <p:cNvPr id="22" name="Shape 19"/>
          <p:cNvSpPr/>
          <p:nvPr/>
        </p:nvSpPr>
        <p:spPr>
          <a:xfrm>
            <a:off x="777240" y="4754880"/>
            <a:ext cx="512064" cy="512064"/>
          </a:xfrm>
          <a:prstGeom prst="ellipse">
            <a:avLst/>
          </a:prstGeom>
          <a:solidFill>
            <a:srgbClr val="15233F"/>
          </a:solidFill>
          <a:ln/>
        </p:spPr>
      </p:sp>
      <p:sp>
        <p:nvSpPr>
          <p:cNvPr id="23" name="txt_39"/>
          <p:cNvSpPr txBox="1"/>
          <p:nvPr/>
        </p:nvSpPr>
        <p:spPr>
          <a:xfrm>
            <a:off x="777240" y="47548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1400" dirty="0"/>
          </a:p>
        </p:txBody>
      </p:sp>
      <p:sp>
        <p:nvSpPr>
          <p:cNvPr id="24" name="txt_40"/>
          <p:cNvSpPr txBox="1"/>
          <p:nvPr/>
        </p:nvSpPr>
        <p:spPr>
          <a:xfrm>
            <a:off x="1554480" y="4681728"/>
            <a:ext cx="9905695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Funcionamiento del motor de cuatro tiempos</a:t>
            </a:r>
            <a:endParaRPr lang="en-US" sz="1900" dirty="0"/>
          </a:p>
        </p:txBody>
      </p:sp>
      <p:sp>
        <p:nvSpPr>
          <p:cNvPr id="25" name="card_41"/>
          <p:cNvSpPr/>
          <p:nvPr/>
        </p:nvSpPr>
        <p:spPr>
          <a:xfrm>
            <a:off x="548640" y="5486400"/>
            <a:ext cx="11094415" cy="658368"/>
          </a:xfrm>
          <a:prstGeom prst="roundRect">
            <a:avLst>
              <a:gd name="adj" fmla="val 13889"/>
            </a:avLst>
          </a:prstGeom>
          <a:solidFill>
            <a:srgbClr val="F2F5F8"/>
          </a:solidFill>
          <a:ln/>
        </p:spPr>
      </p:sp>
      <p:sp>
        <p:nvSpPr>
          <p:cNvPr id="26" name="Shape 23"/>
          <p:cNvSpPr/>
          <p:nvPr/>
        </p:nvSpPr>
        <p:spPr>
          <a:xfrm>
            <a:off x="777240" y="5559552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7" name="txt_42"/>
          <p:cNvSpPr txBox="1"/>
          <p:nvPr/>
        </p:nvSpPr>
        <p:spPr>
          <a:xfrm>
            <a:off x="777240" y="55595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endParaRPr lang="en-US" sz="1400" dirty="0"/>
          </a:p>
        </p:txBody>
      </p:sp>
      <p:sp>
        <p:nvSpPr>
          <p:cNvPr id="28" name="txt_43"/>
          <p:cNvSpPr txBox="1"/>
          <p:nvPr/>
        </p:nvSpPr>
        <p:spPr>
          <a:xfrm>
            <a:off x="1554480" y="5486400"/>
            <a:ext cx="9905695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sistemas del motor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Geometría del motor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y PMI, carrera, diámetro, relación carrera–diámetro y número de cilindros.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4: Funcionamiento del MCIA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muerto superior y punto muerto inferior</a:t>
            </a:r>
            <a:endParaRPr lang="en-US" sz="3000" dirty="0"/>
          </a:p>
        </p:txBody>
      </p:sp>
      <p:sp>
        <p:nvSpPr>
          <p:cNvPr id="3" name="kicker_44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GEOMETRÍA DEL MOTOR</a:t>
            </a:r>
            <a:endParaRPr lang="en-US" sz="1100" dirty="0"/>
          </a:p>
        </p:txBody>
      </p:sp>
      <p:sp>
        <p:nvSpPr>
          <p:cNvPr id="5" name="txt_45"/>
          <p:cNvSpPr txBox="1"/>
          <p:nvPr/>
        </p:nvSpPr>
        <p:spPr>
          <a:xfrm>
            <a:off x="548640" y="1463040"/>
            <a:ext cx="51206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(punto muerto superior): posición más alta del pistón; el volumen sobre él es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PMI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(punto muerto inferior): posición más baja; el volumen es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ambos puntos la velocidad del pistón es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cambia de sentido.</a:t>
            </a:r>
            <a:endParaRPr lang="en-US" sz="17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PMS y PMI el cigüeñal gira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6" name="fig_46"/>
          <p:cNvSpPr/>
          <p:nvPr/>
        </p:nvSpPr>
        <p:spPr>
          <a:xfrm>
            <a:off x="5943600" y="1463040"/>
            <a:ext cx="3108960" cy="47548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47" descr="/home/claude/img/u2_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977797"/>
            <a:ext cx="2889504" cy="3341317"/>
          </a:xfrm>
          <a:prstGeom prst="rect">
            <a:avLst/>
          </a:prstGeom>
        </p:spPr>
      </p:pic>
      <p:sp>
        <p:nvSpPr>
          <p:cNvPr id="8" name="cap_48"/>
          <p:cNvSpPr txBox="1"/>
          <p:nvPr/>
        </p:nvSpPr>
        <p:spPr>
          <a:xfrm>
            <a:off x="6035040" y="5779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Calibre (D) y carrera (L)</a:t>
            </a:r>
            <a:endParaRPr lang="en-US" sz="1100" dirty="0"/>
          </a:p>
        </p:txBody>
      </p:sp>
      <p:sp>
        <p:nvSpPr>
          <p:cNvPr id="9" name="fig_49"/>
          <p:cNvSpPr/>
          <p:nvPr/>
        </p:nvSpPr>
        <p:spPr>
          <a:xfrm>
            <a:off x="9235440" y="1463040"/>
            <a:ext cx="2407615" cy="4754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50" descr="/home/claude/img/u34_advantage_19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168" y="1868753"/>
            <a:ext cx="2188159" cy="3559406"/>
          </a:xfrm>
          <a:prstGeom prst="rect">
            <a:avLst/>
          </a:prstGeom>
        </p:spPr>
      </p:pic>
      <p:sp>
        <p:nvSpPr>
          <p:cNvPr id="11" name="cap_51"/>
          <p:cNvSpPr txBox="1"/>
          <p:nvPr/>
        </p:nvSpPr>
        <p:spPr>
          <a:xfrm>
            <a:off x="9326880" y="5779008"/>
            <a:ext cx="2224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y PMI vistos en el motor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Carrera y diámetro (alesaje)</a:t>
            </a:r>
            <a:endParaRPr lang="en-US" sz="3000" dirty="0"/>
          </a:p>
        </p:txBody>
      </p:sp>
      <p:sp>
        <p:nvSpPr>
          <p:cNvPr id="3" name="kicker_5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GEOMETRÍA DEL MOTOR</a:t>
            </a:r>
            <a:endParaRPr lang="en-US" sz="1100" dirty="0"/>
          </a:p>
        </p:txBody>
      </p:sp>
      <p:sp>
        <p:nvSpPr>
          <p:cNvPr id="5" name="txt_53"/>
          <p:cNvSpPr txBox="1"/>
          <p:nvPr/>
        </p:nvSpPr>
        <p:spPr>
          <a:xfrm>
            <a:off x="548640" y="1463040"/>
            <a:ext cx="5486400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(L)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distancia que recorre el pistón entre PMS y PMI. Es el doble del radio de la manivela del cigüeñal.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Diámetro o alesaje (D)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diámetro interior del cilindro.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se expresan normalmente en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figuran en la ficha técnica del motor (p. ej. 84 × 81 mm significa D = 84 mm y L = 81 mm).</a:t>
            </a:r>
            <a:endParaRPr lang="en-US" sz="1600" dirty="0"/>
          </a:p>
        </p:txBody>
      </p:sp>
      <p:sp>
        <p:nvSpPr>
          <p:cNvPr id="6" name="card_54"/>
          <p:cNvSpPr/>
          <p:nvPr/>
        </p:nvSpPr>
        <p:spPr>
          <a:xfrm>
            <a:off x="548640" y="393192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D9EEEE"/>
          </a:solidFill>
          <a:ln/>
        </p:spPr>
      </p:sp>
      <p:sp>
        <p:nvSpPr>
          <p:cNvPr id="7" name="txt_55"/>
          <p:cNvSpPr txBox="1"/>
          <p:nvPr/>
        </p:nvSpPr>
        <p:spPr>
          <a:xfrm>
            <a:off x="777240" y="4096512"/>
            <a:ext cx="5029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 Y ÁREA DEL PISTÓN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cuación 8"/>
              <p:cNvSpPr txBox="1"/>
              <p:nvPr/>
            </p:nvSpPr>
            <p:spPr>
              <a:xfrm>
                <a:off x="2887980" y="4629912"/>
                <a:ext cx="807720" cy="4023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4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L</m:t>
                      </m:r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=2</m:t>
                      </m:r>
                      <m:r>
                        <a:rPr lang="es-EC" sz="24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r</m:t>
                      </m:r>
                    </m:oMath>
                  </m:oMathPara>
                </a14:m>
                <a:endParaRPr lang="es-EC" sz="2400" dirty="0"/>
              </a:p>
            </p:txBody>
          </p:sp>
        </mc:Choice>
        <mc:Fallback>
          <p:pic>
            <p:nvPicPr>
              <p:cNvPr id="8" name="EQ_8fb0240452bf_1_s1000_ctr" descr="/home/claude/u2/eq/eq_8fb0240452bf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887980" y="4629912"/>
                <a:ext cx="807720" cy="402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cuación 9"/>
              <p:cNvSpPr txBox="1"/>
              <p:nvPr/>
            </p:nvSpPr>
            <p:spPr>
              <a:xfrm>
                <a:off x="2676495" y="5181600"/>
                <a:ext cx="1230690" cy="762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s-EC" sz="23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A</m:t>
                          </m:r>
                        </m:e>
                        <m:sub>
                          <m:r>
                            <a:rPr lang="es-EC" sz="23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3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23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π</m:t>
                          </m:r>
                          <m:sSup>
                            <m:e>
                              <m:r>
                                <a:rPr lang="es-EC" sz="238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D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s-EC" sz="2381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s-EC" sz="2381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den>
                      </m:f>
                    </m:oMath>
                  </m:oMathPara>
                </a14:m>
                <a:endParaRPr lang="es-EC" sz="2381" dirty="0"/>
              </a:p>
            </p:txBody>
          </p:sp>
        </mc:Choice>
        <mc:Fallback>
          <p:pic>
            <p:nvPicPr>
              <p:cNvPr id="9" name="EQ_11747860804e_2_s992_ctr" descr="/home/claude/u2/eq/eq_11747860804e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676495" y="5181600"/>
                <a:ext cx="1230690" cy="762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fig_56"/>
          <p:cNvSpPr/>
          <p:nvPr/>
        </p:nvSpPr>
        <p:spPr>
          <a:xfrm>
            <a:off x="6309360" y="1463040"/>
            <a:ext cx="533369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g_57" descr="/home/claude/img/u4d_biela_manivel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468" y="1572768"/>
            <a:ext cx="3459480" cy="4151376"/>
          </a:xfrm>
          <a:prstGeom prst="rect">
            <a:avLst/>
          </a:prstGeom>
        </p:spPr>
      </p:pic>
      <p:sp>
        <p:nvSpPr>
          <p:cNvPr id="12" name="cap_58"/>
          <p:cNvSpPr txBox="1"/>
          <p:nvPr/>
        </p:nvSpPr>
        <p:spPr>
          <a:xfrm>
            <a:off x="6400800" y="5779008"/>
            <a:ext cx="5150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radio de la manivela  ·  L: carrera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carrera–diámetro</a:t>
            </a:r>
            <a:endParaRPr lang="en-US" sz="3000" dirty="0"/>
          </a:p>
        </p:txBody>
      </p:sp>
      <p:sp>
        <p:nvSpPr>
          <p:cNvPr id="3" name="kicker_59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GEOMETRÍA DEL MOTOR</a:t>
            </a:r>
            <a:endParaRPr lang="en-US" sz="1100" dirty="0"/>
          </a:p>
        </p:txBody>
      </p:sp>
      <p:sp>
        <p:nvSpPr>
          <p:cNvPr id="5" name="card_60"/>
          <p:cNvSpPr/>
          <p:nvPr/>
        </p:nvSpPr>
        <p:spPr>
          <a:xfrm>
            <a:off x="548640" y="146304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D9EEEE"/>
          </a:solidFill>
          <a:ln/>
        </p:spPr>
      </p:sp>
      <p:sp>
        <p:nvSpPr>
          <p:cNvPr id="6" name="txt_61"/>
          <p:cNvSpPr txBox="1"/>
          <p:nvPr/>
        </p:nvSpPr>
        <p:spPr>
          <a:xfrm>
            <a:off x="777240" y="1627632"/>
            <a:ext cx="28346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CARRERA–DIÁMETRO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cuación 7"/>
              <p:cNvSpPr txBox="1"/>
              <p:nvPr/>
            </p:nvSpPr>
            <p:spPr>
              <a:xfrm>
                <a:off x="1702308" y="2107692"/>
                <a:ext cx="984504" cy="8595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30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α</m:t>
                      </m:r>
                      <m:r>
                        <m:rPr>
                          <m:sty m:val="p"/>
                        </m:rPr>
                        <a:rPr lang="es-EC" sz="3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3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L</m:t>
                          </m:r>
                        </m:num>
                        <m:den>
                          <m:r>
                            <a:rPr lang="es-EC" sz="3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den>
                      </m:f>
                    </m:oMath>
                  </m:oMathPara>
                </a14:m>
                <a:endParaRPr lang="es-EC" sz="3000" dirty="0"/>
              </a:p>
            </p:txBody>
          </p:sp>
        </mc:Choice>
        <mc:Fallback>
          <p:pic>
            <p:nvPicPr>
              <p:cNvPr id="7" name="EQ_af6855d97268_3_s1000_ctr" descr="/home/claude/u2/eq/eq_af6855d97268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702308" y="2107692"/>
                <a:ext cx="984504" cy="859536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rd_62"/>
          <p:cNvSpPr/>
          <p:nvPr/>
        </p:nvSpPr>
        <p:spPr>
          <a:xfrm>
            <a:off x="4114800" y="1463040"/>
            <a:ext cx="7528255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9" name="dot_63"/>
          <p:cNvSpPr/>
          <p:nvPr/>
        </p:nvSpPr>
        <p:spPr>
          <a:xfrm>
            <a:off x="434340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xt_64"/>
          <p:cNvSpPr txBox="1"/>
          <p:nvPr/>
        </p:nvSpPr>
        <p:spPr>
          <a:xfrm>
            <a:off x="434340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</a:t>
            </a:r>
            <a:endParaRPr lang="en-US" sz="1800" dirty="0"/>
          </a:p>
        </p:txBody>
      </p:sp>
      <p:sp>
        <p:nvSpPr>
          <p:cNvPr id="11" name="txt_65"/>
          <p:cNvSpPr txBox="1"/>
          <p:nvPr/>
        </p:nvSpPr>
        <p:spPr>
          <a:xfrm>
            <a:off x="5047488" y="1664208"/>
            <a:ext cx="64309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Carrera corta (supercuadrado)</a:t>
            </a:r>
            <a:endParaRPr lang="en-US" sz="1700" dirty="0"/>
          </a:p>
        </p:txBody>
      </p:sp>
      <p:sp>
        <p:nvSpPr>
          <p:cNvPr id="12" name="txt_66"/>
          <p:cNvSpPr txBox="1"/>
          <p:nvPr/>
        </p:nvSpPr>
        <p:spPr>
          <a:xfrm>
            <a:off x="4343400" y="2377440"/>
            <a:ext cx="7116775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&lt; D. Pistón de gran diámetro: válvulas grandes y altas revoluciones. Típico en gasolina deportivos.</a:t>
            </a:r>
            <a:endParaRPr lang="en-US" sz="1500" dirty="0"/>
          </a:p>
        </p:txBody>
      </p:sp>
      <p:sp>
        <p:nvSpPr>
          <p:cNvPr id="13" name="card_67"/>
          <p:cNvSpPr/>
          <p:nvPr/>
        </p:nvSpPr>
        <p:spPr>
          <a:xfrm>
            <a:off x="4114800" y="3108960"/>
            <a:ext cx="7528255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14" name="dot_68"/>
          <p:cNvSpPr/>
          <p:nvPr/>
        </p:nvSpPr>
        <p:spPr>
          <a:xfrm>
            <a:off x="4343400" y="333756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txt_69"/>
          <p:cNvSpPr txBox="1"/>
          <p:nvPr/>
        </p:nvSpPr>
        <p:spPr>
          <a:xfrm>
            <a:off x="4343400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</a:t>
            </a:r>
            <a:endParaRPr lang="en-US" sz="1800" dirty="0"/>
          </a:p>
        </p:txBody>
      </p:sp>
      <p:sp>
        <p:nvSpPr>
          <p:cNvPr id="16" name="txt_70"/>
          <p:cNvSpPr txBox="1"/>
          <p:nvPr/>
        </p:nvSpPr>
        <p:spPr>
          <a:xfrm>
            <a:off x="5047488" y="3310128"/>
            <a:ext cx="64309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Cuadrado</a:t>
            </a:r>
            <a:endParaRPr lang="en-US" sz="1700" dirty="0"/>
          </a:p>
        </p:txBody>
      </p:sp>
      <p:sp>
        <p:nvSpPr>
          <p:cNvPr id="17" name="txt_71"/>
          <p:cNvSpPr txBox="1"/>
          <p:nvPr/>
        </p:nvSpPr>
        <p:spPr>
          <a:xfrm>
            <a:off x="4343400" y="4023360"/>
            <a:ext cx="7116775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D. Compromiso entre par y régimen.</a:t>
            </a:r>
            <a:endParaRPr lang="en-US" sz="1500" dirty="0"/>
          </a:p>
        </p:txBody>
      </p:sp>
      <p:sp>
        <p:nvSpPr>
          <p:cNvPr id="18" name="card_72"/>
          <p:cNvSpPr/>
          <p:nvPr/>
        </p:nvSpPr>
        <p:spPr>
          <a:xfrm>
            <a:off x="4114800" y="4754880"/>
            <a:ext cx="7528255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19" name="dot_73"/>
          <p:cNvSpPr/>
          <p:nvPr/>
        </p:nvSpPr>
        <p:spPr>
          <a:xfrm>
            <a:off x="4343400" y="498348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xt_74"/>
          <p:cNvSpPr txBox="1"/>
          <p:nvPr/>
        </p:nvSpPr>
        <p:spPr>
          <a:xfrm>
            <a:off x="4343400" y="4983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</a:t>
            </a:r>
            <a:endParaRPr lang="en-US" sz="1800" dirty="0"/>
          </a:p>
        </p:txBody>
      </p:sp>
      <p:sp>
        <p:nvSpPr>
          <p:cNvPr id="21" name="txt_75"/>
          <p:cNvSpPr txBox="1"/>
          <p:nvPr/>
        </p:nvSpPr>
        <p:spPr>
          <a:xfrm>
            <a:off x="5047488" y="4956048"/>
            <a:ext cx="6430975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Carrera larga</a:t>
            </a:r>
            <a:endParaRPr lang="en-US" sz="1700" dirty="0"/>
          </a:p>
        </p:txBody>
      </p:sp>
      <p:sp>
        <p:nvSpPr>
          <p:cNvPr id="22" name="txt_76"/>
          <p:cNvSpPr txBox="1"/>
          <p:nvPr/>
        </p:nvSpPr>
        <p:spPr>
          <a:xfrm>
            <a:off x="4343400" y="5669280"/>
            <a:ext cx="7116775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&gt; D. Más par a bajas revoluciones; menor velocidad de giro máxima. Típico en diésel.</a:t>
            </a:r>
            <a:endParaRPr lang="en-US" sz="1500" dirty="0"/>
          </a:p>
        </p:txBody>
      </p:sp>
      <p:sp>
        <p:nvSpPr>
          <p:cNvPr id="23" name="card_77"/>
          <p:cNvSpPr/>
          <p:nvPr/>
        </p:nvSpPr>
        <p:spPr>
          <a:xfrm>
            <a:off x="548640" y="3429000"/>
            <a:ext cx="3291840" cy="2788920"/>
          </a:xfrm>
          <a:prstGeom prst="roundRect">
            <a:avLst>
              <a:gd name="adj" fmla="val 3279"/>
            </a:avLst>
          </a:prstGeom>
          <a:solidFill>
            <a:srgbClr val="FCE6DF"/>
          </a:solidFill>
          <a:ln/>
        </p:spPr>
      </p:sp>
      <p:sp>
        <p:nvSpPr>
          <p:cNvPr id="24" name="dot_78"/>
          <p:cNvSpPr/>
          <p:nvPr/>
        </p:nvSpPr>
        <p:spPr>
          <a:xfrm>
            <a:off x="731520" y="454914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5" name="ic_7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4668012"/>
            <a:ext cx="310896" cy="310896"/>
          </a:xfrm>
          <a:prstGeom prst="rect">
            <a:avLst/>
          </a:prstGeom>
        </p:spPr>
      </p:pic>
      <p:sp>
        <p:nvSpPr>
          <p:cNvPr id="26" name="txt_80"/>
          <p:cNvSpPr txBox="1"/>
          <p:nvPr/>
        </p:nvSpPr>
        <p:spPr>
          <a:xfrm>
            <a:off x="1417320" y="3502152"/>
            <a:ext cx="2286000" cy="2642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carrera larga aumenta la </a:t>
            </a:r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media del pistón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igual régimen y limita las revoluciones máximas (apartado 4.4).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Número de cilindros y cilindrada total</a:t>
            </a:r>
            <a:endParaRPr lang="en-US" sz="3000" dirty="0"/>
          </a:p>
        </p:txBody>
      </p:sp>
      <p:sp>
        <p:nvSpPr>
          <p:cNvPr id="3" name="kicker_81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GEOMETRÍA DEL MOTOR</a:t>
            </a:r>
            <a:endParaRPr lang="en-US" sz="1100" dirty="0"/>
          </a:p>
        </p:txBody>
      </p:sp>
      <p:sp>
        <p:nvSpPr>
          <p:cNvPr id="5" name="txt_82"/>
          <p:cNvSpPr txBox="1"/>
          <p:nvPr/>
        </p:nvSpPr>
        <p:spPr>
          <a:xfrm>
            <a:off x="548640" y="1463040"/>
            <a:ext cx="585216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cilindrada total es la de un cilindro multiplicada por el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cilindros (i)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una misma cilindrada, más cilindros significan pistones más pequeños y ligeros: el motor puede girar más rápido y con menos vibraciones.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de encendido típico de 4 cilindros en línea: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1-3-4-2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card_83"/>
          <p:cNvSpPr/>
          <p:nvPr/>
        </p:nvSpPr>
        <p:spPr>
          <a:xfrm>
            <a:off x="548640" y="4389120"/>
            <a:ext cx="5852160" cy="1828800"/>
          </a:xfrm>
          <a:prstGeom prst="roundRect">
            <a:avLst>
              <a:gd name="adj" fmla="val 5000"/>
            </a:avLst>
          </a:prstGeom>
          <a:solidFill>
            <a:srgbClr val="D9EEEE"/>
          </a:solidFill>
          <a:ln/>
        </p:spPr>
      </p:sp>
      <p:sp>
        <p:nvSpPr>
          <p:cNvPr id="7" name="txt_84"/>
          <p:cNvSpPr txBox="1"/>
          <p:nvPr/>
        </p:nvSpPr>
        <p:spPr>
          <a:xfrm>
            <a:off x="777240" y="4553712"/>
            <a:ext cx="5394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CILINDRADA TOTAL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cuación 8"/>
              <p:cNvSpPr txBox="1"/>
              <p:nvPr/>
            </p:nvSpPr>
            <p:spPr>
              <a:xfrm>
                <a:off x="2711196" y="5260848"/>
                <a:ext cx="1527048" cy="4968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s-EC" sz="3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3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3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e>
                          <m:r>
                            <a:rPr lang="es-EC" sz="3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3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3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·</m:t>
                      </m:r>
                      <m:r>
                        <a:rPr lang="es-EC" sz="30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i</m:t>
                      </m:r>
                    </m:oMath>
                  </m:oMathPara>
                </a14:m>
                <a:endParaRPr lang="es-EC" sz="3000" dirty="0"/>
              </a:p>
            </p:txBody>
          </p:sp>
        </mc:Choice>
        <mc:Fallback>
          <p:pic>
            <p:nvPicPr>
              <p:cNvPr id="8" name="EQ_dcf7716ccf8f_4_s1000_ctr" descr="/home/claude/u2/eq/eq_dcf7716ccf8f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711196" y="5260848"/>
                <a:ext cx="1527048" cy="496824"/>
              </a:xfrm>
              <a:prstGeom prst="rect">
                <a:avLst/>
              </a:prstGeom>
            </p:spPr>
          </p:pic>
        </mc:Fallback>
      </mc:AlternateContent>
      <p:sp>
        <p:nvSpPr>
          <p:cNvPr id="9" name="fig_85"/>
          <p:cNvSpPr/>
          <p:nvPr/>
        </p:nvSpPr>
        <p:spPr>
          <a:xfrm>
            <a:off x="6675120" y="1463040"/>
            <a:ext cx="496793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86" descr="/home/claude/img/u2_image1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590" y="1572768"/>
            <a:ext cx="2942994" cy="4151376"/>
          </a:xfrm>
          <a:prstGeom prst="rect">
            <a:avLst/>
          </a:prstGeom>
        </p:spPr>
      </p:pic>
      <p:sp>
        <p:nvSpPr>
          <p:cNvPr id="11" name="cap_87"/>
          <p:cNvSpPr txBox="1"/>
          <p:nvPr/>
        </p:nvSpPr>
        <p:spPr>
          <a:xfrm>
            <a:off x="6766560" y="5779008"/>
            <a:ext cx="47850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4 cilindros en línea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Parámetros de cilindrada y compresión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Cilindrada unitaria y total, volumen de la cámara y relación de compresión.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4: Funcionamiento del MCIA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Volúmenes del cilindro</a:t>
            </a:r>
            <a:endParaRPr lang="en-US" sz="3000" dirty="0"/>
          </a:p>
        </p:txBody>
      </p:sp>
      <p:sp>
        <p:nvSpPr>
          <p:cNvPr id="3" name="kicker_88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PARÁMETROS DE CILINDRADA Y COMPRESIÓN</a:t>
            </a:r>
            <a:endParaRPr lang="en-US" sz="1100" dirty="0"/>
          </a:p>
        </p:txBody>
      </p:sp>
      <p:sp>
        <p:nvSpPr>
          <p:cNvPr id="5" name="fig_89"/>
          <p:cNvSpPr/>
          <p:nvPr/>
        </p:nvSpPr>
        <p:spPr>
          <a:xfrm>
            <a:off x="548640" y="1463040"/>
            <a:ext cx="4572000" cy="475488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g_90" descr="/home/claude/img/u2_image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943" y="1572768"/>
            <a:ext cx="4031394" cy="4151376"/>
          </a:xfrm>
          <a:prstGeom prst="rect">
            <a:avLst/>
          </a:prstGeom>
        </p:spPr>
      </p:pic>
      <p:sp>
        <p:nvSpPr>
          <p:cNvPr id="7" name="cap_91"/>
          <p:cNvSpPr txBox="1"/>
          <p:nvPr/>
        </p:nvSpPr>
        <p:spPr>
          <a:xfrm>
            <a:off x="640080" y="57790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Volumen de desplazamiento  ·  b) Volumen de la cámara</a:t>
            </a:r>
            <a:endParaRPr lang="en-US" sz="1100" dirty="0"/>
          </a:p>
        </p:txBody>
      </p:sp>
      <p:sp>
        <p:nvSpPr>
          <p:cNvPr id="8" name="card_92"/>
          <p:cNvSpPr/>
          <p:nvPr/>
        </p:nvSpPr>
        <p:spPr>
          <a:xfrm>
            <a:off x="5394960" y="1463040"/>
            <a:ext cx="6248095" cy="2377440"/>
          </a:xfrm>
          <a:prstGeom prst="roundRect">
            <a:avLst>
              <a:gd name="adj" fmla="val 3846"/>
            </a:avLst>
          </a:prstGeom>
          <a:solidFill>
            <a:srgbClr val="D9EEEE"/>
          </a:solidFill>
          <a:ln/>
        </p:spPr>
      </p:sp>
      <p:sp>
        <p:nvSpPr>
          <p:cNvPr id="9" name="txt_93"/>
          <p:cNvSpPr txBox="1"/>
          <p:nvPr/>
        </p:nvSpPr>
        <p:spPr>
          <a:xfrm>
            <a:off x="5623560" y="1627632"/>
            <a:ext cx="579089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CILINDRADA UNITARIA Y TOTAL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cuación 10"/>
              <p:cNvSpPr txBox="1"/>
              <p:nvPr/>
            </p:nvSpPr>
            <p:spPr>
              <a:xfrm>
                <a:off x="7820508" y="2156460"/>
                <a:ext cx="1397000" cy="762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s-EC" sz="23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23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3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23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π</m:t>
                          </m:r>
                          <m:sSup>
                            <m:e>
                              <m:r>
                                <a:rPr lang="es-EC" sz="238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D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s-EC" sz="2381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s-EC" sz="2381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den>
                      </m:f>
                      <m:r>
                        <a:rPr lang="es-EC" sz="2381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L</m:t>
                      </m:r>
                    </m:oMath>
                  </m:oMathPara>
                </a14:m>
                <a:endParaRPr lang="es-EC" sz="2381" dirty="0"/>
              </a:p>
            </p:txBody>
          </p:sp>
        </mc:Choice>
        <mc:Fallback>
          <p:pic>
            <p:nvPicPr>
              <p:cNvPr id="10" name="EQ_51ee5eac32a5_5_s992_ctr" descr="/home/claude/u2/eq/eq_51ee5eac32a5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820508" y="2156460"/>
                <a:ext cx="1397000" cy="7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cuación 11"/>
              <p:cNvSpPr txBox="1"/>
              <p:nvPr/>
            </p:nvSpPr>
            <p:spPr>
              <a:xfrm>
                <a:off x="7904836" y="3105912"/>
                <a:ext cx="1228344" cy="4023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·</m:t>
                      </m:r>
                      <m:r>
                        <a:rPr lang="es-EC" sz="24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i</m:t>
                      </m:r>
                    </m:oMath>
                  </m:oMathPara>
                </a14:m>
                <a:endParaRPr lang="es-EC" sz="2400" dirty="0"/>
              </a:p>
            </p:txBody>
          </p:sp>
        </mc:Choice>
        <mc:Fallback>
          <p:pic>
            <p:nvPicPr>
              <p:cNvPr id="11" name="EQ_76b6b12743a1_6_s1000_ctr" descr="/home/claude/u2/eq/eq_76b6b12743a1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04836" y="3105912"/>
                <a:ext cx="1228344" cy="402336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xt_94"/>
          <p:cNvSpPr txBox="1"/>
          <p:nvPr/>
        </p:nvSpPr>
        <p:spPr>
          <a:xfrm>
            <a:off x="5394960" y="4069080"/>
            <a:ext cx="6248095" cy="2148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volumen que barre el pistón entre PMS y PMI (cilindrada unitaria).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volumen que queda sobre el pistón en el PMS (cámara de combustión).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Unidades: 1 cm³ = 1 cc; 1 000 cm³ = 1 L. Si D y L están en cm, V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sale en cm³.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de compresión</a:t>
            </a:r>
            <a:endParaRPr lang="en-US" sz="3000" dirty="0"/>
          </a:p>
        </p:txBody>
      </p:sp>
      <p:sp>
        <p:nvSpPr>
          <p:cNvPr id="3" name="kicker_9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PARÁMETROS DE CILINDRADA Y COMPRESIÓN</a:t>
            </a:r>
            <a:endParaRPr lang="en-US" sz="1100" dirty="0"/>
          </a:p>
        </p:txBody>
      </p:sp>
      <p:sp>
        <p:nvSpPr>
          <p:cNvPr id="5" name="card_96"/>
          <p:cNvSpPr/>
          <p:nvPr/>
        </p:nvSpPr>
        <p:spPr>
          <a:xfrm>
            <a:off x="548640" y="1463040"/>
            <a:ext cx="4937760" cy="2926080"/>
          </a:xfrm>
          <a:prstGeom prst="roundRect">
            <a:avLst>
              <a:gd name="adj" fmla="val 3125"/>
            </a:avLst>
          </a:prstGeom>
          <a:solidFill>
            <a:srgbClr val="D9EEEE"/>
          </a:solidFill>
          <a:ln/>
        </p:spPr>
      </p:sp>
      <p:sp>
        <p:nvSpPr>
          <p:cNvPr id="6" name="txt_97"/>
          <p:cNvSpPr txBox="1"/>
          <p:nvPr/>
        </p:nvSpPr>
        <p:spPr>
          <a:xfrm>
            <a:off x="777240" y="1627632"/>
            <a:ext cx="44805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DE COMPRESIÓN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cuación 7"/>
              <p:cNvSpPr txBox="1"/>
              <p:nvPr/>
            </p:nvSpPr>
            <p:spPr>
              <a:xfrm>
                <a:off x="2083308" y="2249678"/>
                <a:ext cx="1868424" cy="8016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s-EC" sz="2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R</m:t>
                          </m:r>
                        </m:e>
                        <m:sub>
                          <m:r>
                            <a:rPr lang="es-EC" sz="2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sSub>
                            <m:e>
                              <m:r>
                                <a:rPr lang="es-EC" sz="26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26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u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2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+</m:t>
                          </m:r>
                          <m:sSub>
                            <m:e>
                              <m:r>
                                <a:rPr lang="es-EC" sz="26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26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cc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s-EC" sz="26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26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cc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2600" dirty="0"/>
              </a:p>
            </p:txBody>
          </p:sp>
        </mc:Choice>
        <mc:Fallback>
          <p:pic>
            <p:nvPicPr>
              <p:cNvPr id="7" name="EQ_315901647f90_7_s1000_ctr" descr="/home/claude/u2/eq/eq_315901647f90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083308" y="2249678"/>
                <a:ext cx="1868424" cy="8016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cuación 8"/>
              <p:cNvSpPr txBox="1"/>
              <p:nvPr/>
            </p:nvSpPr>
            <p:spPr>
              <a:xfrm>
                <a:off x="2167128" y="3212338"/>
                <a:ext cx="1700784" cy="8016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s-EC" sz="2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2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cc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sSub>
                            <m:e>
                              <m:r>
                                <a:rPr lang="es-EC" sz="26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26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u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s-EC" sz="26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R</m:t>
                              </m:r>
                            </m:e>
                            <m:sub>
                              <m:r>
                                <a:rPr lang="es-EC" sz="26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2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−1</m:t>
                          </m:r>
                        </m:den>
                      </m:f>
                    </m:oMath>
                  </m:oMathPara>
                </a14:m>
                <a:endParaRPr lang="es-EC" sz="2600" dirty="0"/>
              </a:p>
            </p:txBody>
          </p:sp>
        </mc:Choice>
        <mc:Fallback>
          <p:pic>
            <p:nvPicPr>
              <p:cNvPr id="8" name="EQ_904d4f83781c_8_s1000_ctr" descr="/home/claude/u2/eq/eq_904d4f83781c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167128" y="3212338"/>
                <a:ext cx="1700784" cy="801624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2" name="tbl_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463040"/>
          <a:ext cx="588233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377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típica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Gasolina atmosférico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 11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Gasolina inyección directa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 14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Diésel inyección directa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a 18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Diésel inyección indirecta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a 24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10" name="card_99"/>
          <p:cNvSpPr/>
          <p:nvPr/>
        </p:nvSpPr>
        <p:spPr>
          <a:xfrm>
            <a:off x="548640" y="4617720"/>
            <a:ext cx="4937760" cy="1600200"/>
          </a:xfrm>
          <a:prstGeom prst="roundRect">
            <a:avLst>
              <a:gd name="adj" fmla="val 5714"/>
            </a:avLst>
          </a:prstGeom>
          <a:solidFill>
            <a:srgbClr val="FCE6DF"/>
          </a:solidFill>
          <a:ln/>
        </p:spPr>
      </p:sp>
      <p:sp>
        <p:nvSpPr>
          <p:cNvPr id="11" name="dot_100"/>
          <p:cNvSpPr/>
          <p:nvPr/>
        </p:nvSpPr>
        <p:spPr>
          <a:xfrm>
            <a:off x="731520" y="514350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2" name="ic_10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5262372"/>
            <a:ext cx="310896" cy="310896"/>
          </a:xfrm>
          <a:prstGeom prst="rect">
            <a:avLst/>
          </a:prstGeom>
        </p:spPr>
      </p:pic>
      <p:sp>
        <p:nvSpPr>
          <p:cNvPr id="13" name="txt_102"/>
          <p:cNvSpPr txBox="1"/>
          <p:nvPr/>
        </p:nvSpPr>
        <p:spPr>
          <a:xfrm>
            <a:off x="1417320" y="4690872"/>
            <a:ext cx="3931920" cy="1453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cuántas veces se reduce el volumen del cilindro al pasar del PMI al PMS. Es </a:t>
            </a:r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adimensional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 escribe como 9,9 : 1.</a:t>
            </a:r>
            <a:endParaRPr lang="en-US" sz="1500" dirty="0"/>
          </a:p>
        </p:txBody>
      </p:sp>
      <p:sp>
        <p:nvSpPr>
          <p:cNvPr id="14" name="card_103"/>
          <p:cNvSpPr/>
          <p:nvPr/>
        </p:nvSpPr>
        <p:spPr>
          <a:xfrm>
            <a:off x="5760720" y="4617720"/>
            <a:ext cx="5882335" cy="1600200"/>
          </a:xfrm>
          <a:prstGeom prst="roundRect">
            <a:avLst>
              <a:gd name="adj" fmla="val 5714"/>
            </a:avLst>
          </a:prstGeom>
          <a:solidFill>
            <a:srgbClr val="FCE6DF"/>
          </a:solidFill>
          <a:ln/>
        </p:spPr>
      </p:sp>
      <p:sp>
        <p:nvSpPr>
          <p:cNvPr id="15" name="dot_104"/>
          <p:cNvSpPr/>
          <p:nvPr/>
        </p:nvSpPr>
        <p:spPr>
          <a:xfrm>
            <a:off x="5943600" y="514350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6" name="ic_10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5262372"/>
            <a:ext cx="310896" cy="310896"/>
          </a:xfrm>
          <a:prstGeom prst="rect">
            <a:avLst/>
          </a:prstGeom>
        </p:spPr>
      </p:pic>
      <p:sp>
        <p:nvSpPr>
          <p:cNvPr id="17" name="txt_106"/>
          <p:cNvSpPr txBox="1"/>
          <p:nvPr/>
        </p:nvSpPr>
        <p:spPr>
          <a:xfrm>
            <a:off x="6629400" y="4690872"/>
            <a:ext cx="4876495" cy="1453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culata, la </a:t>
            </a:r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también aporta volumen a la cámara: ver el ejemplo del Nissan Versa.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1: cilindrada unitaria</a:t>
            </a:r>
            <a:endParaRPr lang="en-US" sz="3000" dirty="0"/>
          </a:p>
        </p:txBody>
      </p:sp>
      <p:sp>
        <p:nvSpPr>
          <p:cNvPr id="3" name="kicker_10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PARÁMETROS DE CILINDRADA Y COMPRESIÓN</a:t>
            </a:r>
            <a:endParaRPr lang="en-US" sz="1100" dirty="0"/>
          </a:p>
        </p:txBody>
      </p:sp>
      <p:sp>
        <p:nvSpPr>
          <p:cNvPr id="5" name="card_108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1923"/>
            </a:avLst>
          </a:prstGeom>
          <a:solidFill>
            <a:srgbClr val="F2F5F8"/>
          </a:solidFill>
          <a:ln/>
        </p:spPr>
      </p:sp>
      <p:sp>
        <p:nvSpPr>
          <p:cNvPr id="6" name="txt_109"/>
          <p:cNvSpPr txBox="1"/>
          <p:nvPr/>
        </p:nvSpPr>
        <p:spPr>
          <a:xfrm>
            <a:off x="77724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110"/>
          <p:cNvSpPr txBox="1"/>
          <p:nvPr/>
        </p:nvSpPr>
        <p:spPr>
          <a:xfrm>
            <a:off x="777240" y="2057400"/>
            <a:ext cx="429768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monocilíndrico tiene un diámetro de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mm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una carrera de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mm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la cilindrada unitaria en cm³.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 = 6,6 cm; L = 5,8 cm.</a:t>
            </a:r>
            <a:endParaRPr lang="en-US" sz="1500" dirty="0"/>
          </a:p>
        </p:txBody>
      </p:sp>
      <p:pic>
        <p:nvPicPr>
          <p:cNvPr id="8" name="img_111" descr="/home/claude/img/u2_image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6943" y="3886200"/>
            <a:ext cx="1858274" cy="2148840"/>
          </a:xfrm>
          <a:prstGeom prst="rect">
            <a:avLst/>
          </a:prstGeom>
        </p:spPr>
      </p:pic>
      <p:sp>
        <p:nvSpPr>
          <p:cNvPr id="9" name="card_112"/>
          <p:cNvSpPr/>
          <p:nvPr/>
        </p:nvSpPr>
        <p:spPr>
          <a:xfrm>
            <a:off x="5623560" y="1463040"/>
            <a:ext cx="601949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10" name="txt_113"/>
          <p:cNvSpPr txBox="1"/>
          <p:nvPr/>
        </p:nvSpPr>
        <p:spPr>
          <a:xfrm>
            <a:off x="5852160" y="1645920"/>
            <a:ext cx="556229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cuación 11"/>
              <p:cNvSpPr txBox="1"/>
              <p:nvPr/>
            </p:nvSpPr>
            <p:spPr>
              <a:xfrm>
                <a:off x="5897880" y="2103120"/>
                <a:ext cx="1159175" cy="6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π</m:t>
                          </m:r>
                          <m:sSup>
                            <m:e>
                              <m:r>
                                <a:rPr lang="es-EC" sz="1966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D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s-EC" sz="1966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den>
                      </m:f>
                      <m:r>
                        <a:rPr lang="es-EC" sz="1966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L</m:t>
                      </m:r>
                    </m:oMath>
                  </m:oMathPara>
                </a14:m>
                <a:endParaRPr lang="es-EC" sz="1966" dirty="0"/>
              </a:p>
            </p:txBody>
          </p:sp>
        </mc:Choice>
        <mc:Fallback>
          <p:pic>
            <p:nvPicPr>
              <p:cNvPr id="11" name="EQ_e22f74d5b39c_9_s983_l" descr="/home/claude/u2/eq/eq_e22f74d5b39c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97880" y="2103120"/>
                <a:ext cx="1159175" cy="6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cuación 12"/>
              <p:cNvSpPr txBox="1"/>
              <p:nvPr/>
            </p:nvSpPr>
            <p:spPr>
              <a:xfrm>
                <a:off x="5897880" y="2847848"/>
                <a:ext cx="2510047" cy="6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π</m:t>
                          </m:r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(6</m:t>
                          </m:r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6</m:t>
                          </m:r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 cm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s-EC" sz="1966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s-EC" sz="1966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(5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8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 cm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)</m:t>
                      </m:r>
                    </m:oMath>
                  </m:oMathPara>
                </a14:m>
                <a:endParaRPr lang="es-EC" sz="1966" dirty="0"/>
              </a:p>
            </p:txBody>
          </p:sp>
        </mc:Choice>
        <mc:Fallback>
          <p:pic>
            <p:nvPicPr>
              <p:cNvPr id="12" name="EQ_3a942bcf2b77_10_s983_l" descr="/home/claude/u2/eq/eq_3a942bcf2b77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97880" y="2847848"/>
                <a:ext cx="2510047" cy="6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cuación 13"/>
              <p:cNvSpPr txBox="1"/>
              <p:nvPr/>
            </p:nvSpPr>
            <p:spPr>
              <a:xfrm>
                <a:off x="5897880" y="3631438"/>
                <a:ext cx="2575560" cy="3413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=34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21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 cm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×5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8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 cm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3" name="EQ_e37656c979a5_11_s1000_l" descr="/home/claude/u2/eq/eq_e37656c979a5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97880" y="3631438"/>
                <a:ext cx="2575560" cy="341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cuación 14"/>
              <p:cNvSpPr txBox="1"/>
              <p:nvPr/>
            </p:nvSpPr>
            <p:spPr>
              <a:xfrm>
                <a:off x="5897880" y="4160266"/>
                <a:ext cx="1618488" cy="3413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≈198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4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 cm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p>
                      </m:sSup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4" name="EQ_a74ad7bb3690_12_s1000_l" descr="/home/claude/u2/eq/eq_a74ad7bb3690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897880" y="4160266"/>
                <a:ext cx="1618488" cy="341376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2: cilindrada total y relación de compresión</a:t>
            </a:r>
            <a:endParaRPr lang="en-US" sz="3000" dirty="0"/>
          </a:p>
        </p:txBody>
      </p:sp>
      <p:sp>
        <p:nvSpPr>
          <p:cNvPr id="3" name="kicker_114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PARÁMETROS DE CILINDRADA Y COMPRESIÓN</a:t>
            </a:r>
            <a:endParaRPr lang="en-US" sz="1100" dirty="0"/>
          </a:p>
        </p:txBody>
      </p:sp>
      <p:sp>
        <p:nvSpPr>
          <p:cNvPr id="5" name="card_115"/>
          <p:cNvSpPr/>
          <p:nvPr/>
        </p:nvSpPr>
        <p:spPr>
          <a:xfrm>
            <a:off x="548640" y="1463040"/>
            <a:ext cx="4572000" cy="4754880"/>
          </a:xfrm>
          <a:prstGeom prst="roundRect">
            <a:avLst>
              <a:gd name="adj" fmla="val 2000"/>
            </a:avLst>
          </a:prstGeom>
          <a:solidFill>
            <a:srgbClr val="F2F5F8"/>
          </a:solidFill>
          <a:ln/>
        </p:spPr>
      </p:sp>
      <p:sp>
        <p:nvSpPr>
          <p:cNvPr id="6" name="txt_116"/>
          <p:cNvSpPr txBox="1"/>
          <p:nvPr/>
        </p:nvSpPr>
        <p:spPr>
          <a:xfrm>
            <a:off x="77724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117"/>
          <p:cNvSpPr txBox="1"/>
          <p:nvPr/>
        </p:nvSpPr>
        <p:spPr>
          <a:xfrm>
            <a:off x="777240" y="2057400"/>
            <a:ext cx="41148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de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cilindros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tiene D =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mm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 =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mm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un volumen de cámara V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41,44 cm³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V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R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pic>
        <p:nvPicPr>
          <p:cNvPr id="8" name="img_118" descr="/home/claude/img/u2_image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8077" y="3611880"/>
            <a:ext cx="2353126" cy="2423160"/>
          </a:xfrm>
          <a:prstGeom prst="rect">
            <a:avLst/>
          </a:prstGeom>
        </p:spPr>
      </p:pic>
      <p:sp>
        <p:nvSpPr>
          <p:cNvPr id="9" name="card_119"/>
          <p:cNvSpPr/>
          <p:nvPr/>
        </p:nvSpPr>
        <p:spPr>
          <a:xfrm>
            <a:off x="5440680" y="1463040"/>
            <a:ext cx="620237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10" name="txt_120"/>
          <p:cNvSpPr txBox="1"/>
          <p:nvPr/>
        </p:nvSpPr>
        <p:spPr>
          <a:xfrm>
            <a:off x="5669280" y="1645920"/>
            <a:ext cx="574517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cuación 11"/>
              <p:cNvSpPr txBox="1"/>
              <p:nvPr/>
            </p:nvSpPr>
            <p:spPr>
              <a:xfrm>
                <a:off x="5715000" y="2103120"/>
                <a:ext cx="3076156" cy="6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π</m:t>
                          </m:r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(7</m:t>
                          </m:r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5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s-EC" sz="1966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s-EC" sz="1966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(6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1)=269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5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 cm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p>
                      </m:sSup>
                    </m:oMath>
                  </m:oMathPara>
                </a14:m>
                <a:endParaRPr lang="es-EC" sz="1966" dirty="0"/>
              </a:p>
            </p:txBody>
          </p:sp>
        </mc:Choice>
        <mc:Fallback>
          <p:pic>
            <p:nvPicPr>
              <p:cNvPr id="11" name="EQ_7f3b1deef201_13_s983_l" descr="/home/claude/u2/eq/eq_7f3b1deef201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15000" y="2103120"/>
                <a:ext cx="3076156" cy="6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cuación 12"/>
              <p:cNvSpPr txBox="1"/>
              <p:nvPr/>
            </p:nvSpPr>
            <p:spPr>
              <a:xfrm>
                <a:off x="5715000" y="2886710"/>
                <a:ext cx="3572256" cy="3413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e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·</m:t>
                      </m:r>
                      <m:r>
                        <a:rPr lang="es-EC" sz="2000" b="0" i="1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i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=269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5×4=1 078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 cm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p>
                      </m:sSup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2" name="EQ_8d817bbcaca2_14_s1000_l" descr="/home/claude/u2/eq/eq_8d817bbcaca2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5000" y="2886710"/>
                <a:ext cx="3572256" cy="341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cuación 13"/>
              <p:cNvSpPr txBox="1"/>
              <p:nvPr/>
            </p:nvSpPr>
            <p:spPr>
              <a:xfrm>
                <a:off x="5715000" y="3376676"/>
                <a:ext cx="3162847" cy="6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1994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R</m:t>
                          </m:r>
                        </m:e>
                        <m:sub>
                          <m:r>
                            <a:rPr lang="es-EC" sz="1994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1994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sSub>
                            <m:e>
                              <m:r>
                                <a:rPr lang="es-EC" sz="1994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1994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u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+</m:t>
                          </m:r>
                          <m:sSub>
                            <m:e>
                              <m:r>
                                <a:rPr lang="es-EC" sz="1994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1994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cc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s-EC" sz="1994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1994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cc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s-EC" sz="1994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269</m:t>
                          </m:r>
                          <m:r>
                            <m:rPr>
                              <m:sty m:val="p"/>
                            </m:rP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5+41</m:t>
                          </m:r>
                          <m:r>
                            <m:rPr>
                              <m:sty m:val="p"/>
                            </m:rP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44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41</m:t>
                          </m:r>
                          <m:r>
                            <m:rPr>
                              <m:sty m:val="p"/>
                            </m:rP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1994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44</m:t>
                          </m:r>
                        </m:den>
                      </m:f>
                    </m:oMath>
                  </m:oMathPara>
                </a14:m>
                <a:endParaRPr lang="es-EC" sz="1994" dirty="0"/>
              </a:p>
            </p:txBody>
          </p:sp>
        </mc:Choice>
        <mc:Fallback>
          <p:pic>
            <p:nvPicPr>
              <p:cNvPr id="13" name="EQ_33f659fb5146_15_s997_l" descr="/home/claude/u2/eq/eq_33f659fb5146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5000" y="3376676"/>
                <a:ext cx="3162847" cy="6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cuación 14"/>
              <p:cNvSpPr txBox="1"/>
              <p:nvPr/>
            </p:nvSpPr>
            <p:spPr>
              <a:xfrm>
                <a:off x="5715000" y="4160266"/>
                <a:ext cx="1176528" cy="3413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R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≈7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5:1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4" name="EQ_60f5f16f131d_16_s1000_l" descr="/home/claude/u2/eq/eq_60f5f16f131d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5000" y="4160266"/>
                <a:ext cx="1176528" cy="341376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3: Nissan Versa (HR16DE), efecto de la junta</a:t>
            </a:r>
            <a:endParaRPr lang="en-US" sz="3000" dirty="0"/>
          </a:p>
        </p:txBody>
      </p:sp>
      <p:sp>
        <p:nvSpPr>
          <p:cNvPr id="3" name="kicker_121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PARÁMETROS DE CILINDRADA Y COMPRESIÓN</a:t>
            </a:r>
            <a:endParaRPr lang="en-US" sz="1100" dirty="0"/>
          </a:p>
        </p:txBody>
      </p:sp>
      <p:sp>
        <p:nvSpPr>
          <p:cNvPr id="5" name="card_122"/>
          <p:cNvSpPr/>
          <p:nvPr/>
        </p:nvSpPr>
        <p:spPr>
          <a:xfrm>
            <a:off x="548640" y="1463040"/>
            <a:ext cx="4206240" cy="4754880"/>
          </a:xfrm>
          <a:prstGeom prst="roundRect">
            <a:avLst>
              <a:gd name="adj" fmla="val 2174"/>
            </a:avLst>
          </a:prstGeom>
          <a:solidFill>
            <a:srgbClr val="F2F5F8"/>
          </a:solidFill>
          <a:ln/>
        </p:spPr>
      </p:sp>
      <p:sp>
        <p:nvSpPr>
          <p:cNvPr id="6" name="txt_123"/>
          <p:cNvSpPr txBox="1"/>
          <p:nvPr/>
        </p:nvSpPr>
        <p:spPr>
          <a:xfrm>
            <a:off x="777240" y="1645920"/>
            <a:ext cx="37490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124"/>
          <p:cNvSpPr txBox="1"/>
          <p:nvPr/>
        </p:nvSpPr>
        <p:spPr>
          <a:xfrm>
            <a:off x="777240" y="2057400"/>
            <a:ext cx="374904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del fabricante: D =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mm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 =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mm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4 cilindros, R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 : 1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Espesor de la junta de culata: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mm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V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el volumen de la junta V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la relación de compresión con junta R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8" name="card_125"/>
          <p:cNvSpPr/>
          <p:nvPr/>
        </p:nvSpPr>
        <p:spPr>
          <a:xfrm>
            <a:off x="5074920" y="1463040"/>
            <a:ext cx="656813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9" name="txt_126"/>
          <p:cNvSpPr txBox="1"/>
          <p:nvPr/>
        </p:nvSpPr>
        <p:spPr>
          <a:xfrm>
            <a:off x="5303520" y="1645920"/>
            <a:ext cx="611093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cuación 10"/>
              <p:cNvSpPr txBox="1"/>
              <p:nvPr/>
            </p:nvSpPr>
            <p:spPr>
              <a:xfrm>
                <a:off x="5349240" y="2103120"/>
                <a:ext cx="2917699" cy="603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1862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1862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1862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π</m:t>
                          </m:r>
                          <m:r>
                            <m:rPr>
                              <m:sty m:val="p"/>
                            </m:r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(8</m:t>
                          </m:r>
                          <m:r>
                            <m:rPr>
                              <m:sty m:val="p"/>
                            </m:r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s-EC" sz="1862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s-EC" sz="1862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(8</m:t>
                      </m:r>
                      <m:r>
                        <m:rPr>
                          <m:sty m:val="p"/>
                        </m:rP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1)=448</m:t>
                      </m:r>
                      <m:r>
                        <m:rPr>
                          <m:sty m:val="p"/>
                        </m:rP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9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 cm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p>
                      </m:sSup>
                    </m:oMath>
                  </m:oMathPara>
                </a14:m>
                <a:endParaRPr lang="es-EC" sz="1862" dirty="0"/>
              </a:p>
            </p:txBody>
          </p:sp>
        </mc:Choice>
        <mc:Fallback>
          <p:pic>
            <p:nvPicPr>
              <p:cNvPr id="10" name="EQ_3dc75bdc16f8_17_s980_l" descr="/home/claude/u2/eq/eq_3dc75bdc16f8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349240" y="2103120"/>
                <a:ext cx="2917699" cy="603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cuación 11"/>
              <p:cNvSpPr txBox="1"/>
              <p:nvPr/>
            </p:nvSpPr>
            <p:spPr>
              <a:xfrm>
                <a:off x="5349240" y="2816098"/>
                <a:ext cx="3348342" cy="603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cc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sSub>
                            <m:e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u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R</m:t>
                              </m:r>
                            </m:e>
                            <m:sub>
                              <m:r>
                                <a:rPr lang="es-EC" sz="19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−1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448</m:t>
                          </m:r>
                          <m:r>
                            <m:rPr>
                              <m:sty m:val="p"/>
                            </m:rP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9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8</m:t>
                          </m:r>
                          <m:r>
                            <m:rPr>
                              <m:sty m:val="p"/>
                            </m:rP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9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=50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44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 cm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s-EC" sz="19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p>
                      </m:sSup>
                    </m:oMath>
                  </m:oMathPara>
                </a14:m>
                <a:endParaRPr lang="es-EC" sz="1900" dirty="0"/>
              </a:p>
            </p:txBody>
          </p:sp>
        </mc:Choice>
        <mc:Fallback>
          <p:pic>
            <p:nvPicPr>
              <p:cNvPr id="11" name="EQ_7bb8f9813474_18_s1000_l" descr="/home/claude/u2/eq/eq_7bb8f9813474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49240" y="2816098"/>
                <a:ext cx="3348342" cy="603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cuación 12"/>
              <p:cNvSpPr txBox="1"/>
              <p:nvPr/>
            </p:nvSpPr>
            <p:spPr>
              <a:xfrm>
                <a:off x="5349240" y="3565081"/>
                <a:ext cx="2840736" cy="3261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19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=448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9×4=1 795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9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5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s-EC" sz="19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 cm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s-EC" sz="19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p>
                      </m:sSup>
                    </m:oMath>
                  </m:oMathPara>
                </a14:m>
                <a:endParaRPr lang="es-EC" sz="1900" dirty="0"/>
              </a:p>
            </p:txBody>
          </p:sp>
        </mc:Choice>
        <mc:Fallback>
          <p:pic>
            <p:nvPicPr>
              <p:cNvPr id="12" name="EQ_72a91538a77e_19_s1000_l" descr="/home/claude/u2/eq/eq_72a91538a77e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49240" y="3565081"/>
                <a:ext cx="2840736" cy="326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cuación 13"/>
              <p:cNvSpPr txBox="1"/>
              <p:nvPr/>
            </p:nvSpPr>
            <p:spPr>
              <a:xfrm>
                <a:off x="5349240" y="4036949"/>
                <a:ext cx="2881863" cy="603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1862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1862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1862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π</m:t>
                          </m:r>
                          <m:r>
                            <m:rPr>
                              <m:sty m:val="p"/>
                            </m:r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(8</m:t>
                          </m:r>
                          <m:r>
                            <m:rPr>
                              <m:sty m:val="p"/>
                            </m:r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s-EC" sz="1862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s-EC" sz="1862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(0</m:t>
                      </m:r>
                      <m:r>
                        <m:rPr>
                          <m:sty m:val="p"/>
                        </m:rP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15)=8</m:t>
                      </m:r>
                      <m:r>
                        <m:rPr>
                          <m:sty m:val="p"/>
                        </m:rP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862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31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 cm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s-EC" sz="1862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p>
                      </m:sSup>
                    </m:oMath>
                  </m:oMathPara>
                </a14:m>
                <a:endParaRPr lang="es-EC" sz="1862" dirty="0"/>
              </a:p>
            </p:txBody>
          </p:sp>
        </mc:Choice>
        <mc:Fallback>
          <p:pic>
            <p:nvPicPr>
              <p:cNvPr id="13" name="EQ_06ad1ad50893_20_s980_l" descr="/home/claude/u2/eq/eq_06ad1ad50893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9240" y="4036949"/>
                <a:ext cx="2881863" cy="603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cuación 14"/>
              <p:cNvSpPr txBox="1"/>
              <p:nvPr/>
            </p:nvSpPr>
            <p:spPr>
              <a:xfrm>
                <a:off x="5349240" y="4749927"/>
                <a:ext cx="3481614" cy="603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179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R</m:t>
                          </m:r>
                        </m:e>
                        <m:sub>
                          <m:r>
                            <a:rPr lang="es-EC" sz="179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cj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17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sSub>
                            <m:e>
                              <m:r>
                                <a:rPr lang="es-EC" sz="17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17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u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17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+</m:t>
                          </m:r>
                          <m:sSub>
                            <m:e>
                              <m:r>
                                <a:rPr lang="es-EC" sz="17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17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cc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17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+</m:t>
                          </m:r>
                          <m:sSub>
                            <m:e>
                              <m:r>
                                <a:rPr lang="es-EC" sz="17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17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j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s-EC" sz="17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17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cc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17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+</m:t>
                          </m:r>
                          <m:sSub>
                            <m:e>
                              <m:r>
                                <a:rPr lang="es-EC" sz="17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179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j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s-EC" sz="17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17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507</m:t>
                          </m:r>
                          <m:r>
                            <m:rPr>
                              <m:sty m:val="p"/>
                            </m:rPr>
                            <a:rPr lang="es-EC" sz="17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17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6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17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58</m:t>
                          </m:r>
                          <m:r>
                            <m:rPr>
                              <m:sty m:val="p"/>
                            </m:rPr>
                            <a:rPr lang="es-EC" sz="17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179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75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17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≈8</m:t>
                      </m:r>
                      <m:r>
                        <m:rPr>
                          <m:sty m:val="p"/>
                        </m:rPr>
                        <a:rPr lang="es-EC" sz="17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79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64:1</m:t>
                      </m:r>
                    </m:oMath>
                  </m:oMathPara>
                </a14:m>
                <a:endParaRPr lang="es-EC" sz="1790" dirty="0"/>
              </a:p>
            </p:txBody>
          </p:sp>
        </mc:Choice>
        <mc:Fallback>
          <p:pic>
            <p:nvPicPr>
              <p:cNvPr id="14" name="EQ_f0f9d2f4d49b_21_s942_l" descr="/home/claude/u2/eq/eq_f0f9d2f4d49b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49240" y="4749927"/>
                <a:ext cx="3481614" cy="60325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4: aplanado de la culata</a:t>
            </a:r>
            <a:endParaRPr lang="en-US" sz="3000" dirty="0"/>
          </a:p>
        </p:txBody>
      </p:sp>
      <p:sp>
        <p:nvSpPr>
          <p:cNvPr id="3" name="kicker_12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PARÁMETROS DE CILINDRADA Y COMPRESIÓN</a:t>
            </a:r>
            <a:endParaRPr lang="en-US" sz="1100" dirty="0"/>
          </a:p>
        </p:txBody>
      </p:sp>
      <p:sp>
        <p:nvSpPr>
          <p:cNvPr id="5" name="card_128"/>
          <p:cNvSpPr/>
          <p:nvPr/>
        </p:nvSpPr>
        <p:spPr>
          <a:xfrm>
            <a:off x="548640" y="1463040"/>
            <a:ext cx="4572000" cy="4754880"/>
          </a:xfrm>
          <a:prstGeom prst="roundRect">
            <a:avLst>
              <a:gd name="adj" fmla="val 2000"/>
            </a:avLst>
          </a:prstGeom>
          <a:solidFill>
            <a:srgbClr val="F2F5F8"/>
          </a:solidFill>
          <a:ln/>
        </p:spPr>
      </p:sp>
      <p:sp>
        <p:nvSpPr>
          <p:cNvPr id="6" name="txt_129"/>
          <p:cNvSpPr txBox="1"/>
          <p:nvPr/>
        </p:nvSpPr>
        <p:spPr>
          <a:xfrm>
            <a:off x="77724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130"/>
          <p:cNvSpPr txBox="1"/>
          <p:nvPr/>
        </p:nvSpPr>
        <p:spPr>
          <a:xfrm>
            <a:off x="777240" y="2057400"/>
            <a:ext cx="411480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con carrera L =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85,28 mm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tiene R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Se desea subirla a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rebajando la culata.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¿Cuántos milímetros se deben rebajar (X)?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expresa cada cámara como una altura equivalente de cilindro:</a:t>
            </a:r>
            <a:endParaRPr lang="en-US" sz="1500" dirty="0"/>
          </a:p>
        </p:txBody>
      </p:sp>
      <p:sp>
        <p:nvSpPr>
          <p:cNvPr id="8" name="card_131"/>
          <p:cNvSpPr/>
          <p:nvPr/>
        </p:nvSpPr>
        <p:spPr>
          <a:xfrm>
            <a:off x="5440680" y="1463040"/>
            <a:ext cx="620237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9" name="txt_132"/>
          <p:cNvSpPr txBox="1"/>
          <p:nvPr/>
        </p:nvSpPr>
        <p:spPr>
          <a:xfrm>
            <a:off x="5669280" y="1645920"/>
            <a:ext cx="574517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cuación 10"/>
              <p:cNvSpPr txBox="1"/>
              <p:nvPr/>
            </p:nvSpPr>
            <p:spPr>
              <a:xfrm>
                <a:off x="5715000" y="2103120"/>
                <a:ext cx="2387958" cy="6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C" sz="1956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  <m:r>
                        <m:rPr>
                          <m:sty m:val="p"/>
                        </m:rPr>
                        <a:rPr lang="es-EC" sz="195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195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L</m:t>
                          </m:r>
                        </m:num>
                        <m:den>
                          <m:sSub>
                            <m:e>
                              <m:r>
                                <a:rPr lang="es-EC" sz="1956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R</m:t>
                              </m:r>
                            </m:e>
                            <m:sub>
                              <m:r>
                                <a:rPr lang="es-EC" sz="1956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</m:t>
                              </m:r>
                              <m:r>
                                <m:rPr>
                                  <m:sty m:val="p"/>
                                </m:rPr>
                                <a:rPr lang="es-EC" sz="1956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,</m:t>
                              </m:r>
                              <m:r>
                                <a:rPr lang="es-EC" sz="1956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a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195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−1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195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−</m:t>
                      </m:r>
                      <m:f>
                        <m:num>
                          <m:r>
                            <a:rPr lang="es-EC" sz="195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L</m:t>
                          </m:r>
                        </m:num>
                        <m:den>
                          <m:sSub>
                            <m:e>
                              <m:r>
                                <a:rPr lang="es-EC" sz="1956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R</m:t>
                              </m:r>
                            </m:e>
                            <m:sub>
                              <m:r>
                                <a:rPr lang="es-EC" sz="1956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</m:t>
                              </m:r>
                              <m:r>
                                <m:rPr>
                                  <m:sty m:val="p"/>
                                </m:rPr>
                                <a:rPr lang="es-EC" sz="1956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,</m:t>
                              </m:r>
                              <m:r>
                                <a:rPr lang="es-EC" sz="1956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n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195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−1</m:t>
                          </m:r>
                        </m:den>
                      </m:f>
                    </m:oMath>
                  </m:oMathPara>
                </a14:m>
                <a:endParaRPr lang="es-EC" sz="1956" dirty="0"/>
              </a:p>
            </p:txBody>
          </p:sp>
        </mc:Choice>
        <mc:Fallback>
          <p:pic>
            <p:nvPicPr>
              <p:cNvPr id="10" name="EQ_68c1a32503d9_22_s978_l" descr="/home/claude/u2/eq/eq_68c1a32503d9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715000" y="2103120"/>
                <a:ext cx="2387958" cy="6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cuación 11"/>
              <p:cNvSpPr txBox="1"/>
              <p:nvPr/>
            </p:nvSpPr>
            <p:spPr>
              <a:xfrm>
                <a:off x="5715000" y="2849880"/>
                <a:ext cx="2249424" cy="6309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C" sz="20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85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28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9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2−1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−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85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28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9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5−1</m:t>
                          </m:r>
                        </m:den>
                      </m:f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1" name="EQ_6d41f5042f58_23_s1000_l" descr="/home/claude/u2/eq/eq_6d41f5042f58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15000" y="2849880"/>
                <a:ext cx="2249424" cy="6309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cuación 12"/>
              <p:cNvSpPr txBox="1"/>
              <p:nvPr/>
            </p:nvSpPr>
            <p:spPr>
              <a:xfrm>
                <a:off x="5715000" y="3599688"/>
                <a:ext cx="2142744" cy="3413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C" sz="20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=10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400−10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033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2" name="EQ_15f2e4673c5b_24_s1000_l" descr="/home/claude/u2/eq/eq_15f2e4673c5b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5000" y="3599688"/>
                <a:ext cx="2142744" cy="341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cuación 13"/>
              <p:cNvSpPr txBox="1"/>
              <p:nvPr/>
            </p:nvSpPr>
            <p:spPr>
              <a:xfrm>
                <a:off x="5715000" y="4065016"/>
                <a:ext cx="1371600" cy="3413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C" sz="2000" b="0" i="1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≈0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37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 mm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3" name="EQ_decc4a49ab89_25_s1000_l" descr="/home/claude/u2/eq/eq_decc4a49ab89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5000" y="4065016"/>
                <a:ext cx="1371600" cy="341376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xt_133"/>
          <p:cNvSpPr txBox="1"/>
          <p:nvPr/>
        </p:nvSpPr>
        <p:spPr>
          <a:xfrm>
            <a:off x="5715000" y="4523232"/>
            <a:ext cx="565373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Rebajar la culata aumenta R</a:t>
            </a:r>
            <a:pPr algn="l" indent="0" marL="0">
              <a:buNone/>
            </a:pP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l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el riesgo de detonación; verifique el límite del fabricante.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5: relación carrera–diámetro y llenado</a:t>
            </a:r>
            <a:endParaRPr lang="en-US" sz="3000" dirty="0"/>
          </a:p>
        </p:txBody>
      </p:sp>
      <p:sp>
        <p:nvSpPr>
          <p:cNvPr id="3" name="kicker_134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PARÁMETROS DE CILINDRADA Y COMPRESIÓN</a:t>
            </a:r>
            <a:endParaRPr lang="en-US" sz="1100" dirty="0"/>
          </a:p>
        </p:txBody>
      </p:sp>
      <p:sp>
        <p:nvSpPr>
          <p:cNvPr id="5" name="card_135"/>
          <p:cNvSpPr/>
          <p:nvPr/>
        </p:nvSpPr>
        <p:spPr>
          <a:xfrm>
            <a:off x="548640" y="1463040"/>
            <a:ext cx="4389120" cy="4754880"/>
          </a:xfrm>
          <a:prstGeom prst="roundRect">
            <a:avLst>
              <a:gd name="adj" fmla="val 2083"/>
            </a:avLst>
          </a:prstGeom>
          <a:solidFill>
            <a:srgbClr val="F2F5F8"/>
          </a:solidFill>
          <a:ln/>
        </p:spPr>
      </p:sp>
      <p:sp>
        <p:nvSpPr>
          <p:cNvPr id="6" name="txt_136"/>
          <p:cNvSpPr txBox="1"/>
          <p:nvPr/>
        </p:nvSpPr>
        <p:spPr>
          <a:xfrm>
            <a:off x="777240" y="1645920"/>
            <a:ext cx="39319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137"/>
          <p:cNvSpPr txBox="1"/>
          <p:nvPr/>
        </p:nvSpPr>
        <p:spPr>
          <a:xfrm>
            <a:off x="777240" y="2057400"/>
            <a:ext cx="393192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4 cilindros: D =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 =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66,8 mm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rendimiento volumétrico η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76 %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rpm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V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</a:t>
            </a:r>
            <a:pPr algn="l" indent="0" marL="0">
              <a:spcAft>
                <a:spcPts val="6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α y el caudal de aire aspirado (4T: un llenado cada 2 vueltas).</a:t>
            </a:r>
            <a:endParaRPr lang="en-US" sz="1500" dirty="0"/>
          </a:p>
        </p:txBody>
      </p:sp>
      <p:sp>
        <p:nvSpPr>
          <p:cNvPr id="8" name="card_138"/>
          <p:cNvSpPr/>
          <p:nvPr/>
        </p:nvSpPr>
        <p:spPr>
          <a:xfrm>
            <a:off x="5257800" y="1463040"/>
            <a:ext cx="638525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9" name="txt_139"/>
          <p:cNvSpPr txBox="1"/>
          <p:nvPr/>
        </p:nvSpPr>
        <p:spPr>
          <a:xfrm>
            <a:off x="5486400" y="1645920"/>
            <a:ext cx="592805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cuación 10"/>
              <p:cNvSpPr txBox="1"/>
              <p:nvPr/>
            </p:nvSpPr>
            <p:spPr>
              <a:xfrm>
                <a:off x="5532120" y="2103120"/>
                <a:ext cx="3016250" cy="6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π</m:t>
                          </m:r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(9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s-EC" sz="1966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s-EC" sz="1966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(6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68)=425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0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 cm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p>
                      </m:sSup>
                    </m:oMath>
                  </m:oMathPara>
                </a14:m>
                <a:endParaRPr lang="es-EC" sz="1966" dirty="0"/>
              </a:p>
            </p:txBody>
          </p:sp>
        </mc:Choice>
        <mc:Fallback>
          <p:pic>
            <p:nvPicPr>
              <p:cNvPr id="10" name="EQ_6fa3f86f38d2_26_s983_l" descr="/home/claude/u2/eq/eq_6fa3f86f38d2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532120" y="2103120"/>
                <a:ext cx="3016250" cy="6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cuación 11"/>
              <p:cNvSpPr txBox="1"/>
              <p:nvPr/>
            </p:nvSpPr>
            <p:spPr>
              <a:xfrm>
                <a:off x="5532120" y="2886710"/>
                <a:ext cx="2987040" cy="3413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=425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0×4=1 699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9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 cm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3</m:t>
                          </m:r>
                        </m:sup>
                      </m:sSup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1" name="EQ_92ee25bf4285_27_s1000_l" descr="/home/claude/u2/eq/eq_92ee25bf4285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532120" y="2886710"/>
                <a:ext cx="2987040" cy="341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cuación 12"/>
              <p:cNvSpPr txBox="1"/>
              <p:nvPr/>
            </p:nvSpPr>
            <p:spPr>
              <a:xfrm>
                <a:off x="5532120" y="3393948"/>
                <a:ext cx="3782568" cy="6004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C" sz="2000" b="0" i="1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α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L</m:t>
                          </m:r>
                        </m:num>
                        <m:den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66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8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90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=0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742 (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carrera corta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)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2" name="EQ_87bae265df2f_28_s1000_l" descr="/home/claude/u2/eq/eq_87bae265df2f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32120" y="3393948"/>
                <a:ext cx="3782568" cy="600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cuación 13"/>
              <p:cNvSpPr txBox="1"/>
              <p:nvPr/>
            </p:nvSpPr>
            <p:spPr>
              <a:xfrm>
                <a:off x="5532120" y="4143248"/>
                <a:ext cx="3377184" cy="5913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a:rPr lang="es-EC" sz="20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</m:acc>
                        </m:e>
                        <m:sub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η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sSub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f>
                        <m:num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=0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76(1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70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 L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)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2 000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den>
                      </m:f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3" name="EQ_4013f956c505_29_s1000_l" descr="/home/claude/u2/eq/eq_4013f956c505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32120" y="4143248"/>
                <a:ext cx="3377184" cy="5913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cuación 14"/>
              <p:cNvSpPr txBox="1"/>
              <p:nvPr/>
            </p:nvSpPr>
            <p:spPr>
              <a:xfrm>
                <a:off x="5532120" y="4904994"/>
                <a:ext cx="1807464" cy="3413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acc>
                            <m:accPr>
                              <m:chr m:val="̇"/>
                            </m:accPr>
                            <m:e>
                              <m:r>
                                <a:rPr lang="es-EC" sz="2000" b="0" i="1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</m:acc>
                        </m:e>
                        <m:sub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a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≈1 292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 L/min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4" name="EQ_4eb86101dfca_30_s1000_l" descr="/home/claude/u2/eq/eq_4eb86101dfca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32120" y="4904994"/>
                <a:ext cx="1807464" cy="341376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entre parámetros y comportamiento</a:t>
            </a:r>
            <a:endParaRPr lang="en-US" sz="3000" dirty="0"/>
          </a:p>
        </p:txBody>
      </p:sp>
      <p:sp>
        <p:nvSpPr>
          <p:cNvPr id="3" name="kicker_140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PARÁMETROS DE CILINDRADA Y COMPRESIÓN</a:t>
            </a:r>
            <a:endParaRPr lang="en-US" sz="1100" dirty="0"/>
          </a:p>
        </p:txBody>
      </p:sp>
      <p:graphicFrame>
        <p:nvGraphicFramePr>
          <p:cNvPr id="18" name="tbl_1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377647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 aumenta…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 en el motor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 o inconveniente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cilindrada V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aire por ciclo: más par y potencia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consumo, peso y tamaño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relación de compresión R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rendimiento térmico (ciclo Otto/Diesel)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Detonación en gasolina; esfuerzos mecánicos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= L/D (carrera larga)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par a bajo régimen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régimen máximo (velocidad del pistón)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número de cilindros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Marcha más regular, más régimen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piezas, coste y fricción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rendimiento volumétrico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masa de aire: más potencia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sobrealimentación o buena distribución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rd_142"/>
          <p:cNvSpPr/>
          <p:nvPr/>
        </p:nvSpPr>
        <p:spPr>
          <a:xfrm>
            <a:off x="548640" y="534924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CE6DF"/>
          </a:solidFill>
          <a:ln/>
        </p:spPr>
      </p:sp>
      <p:sp>
        <p:nvSpPr>
          <p:cNvPr id="7" name="dot_143"/>
          <p:cNvSpPr/>
          <p:nvPr/>
        </p:nvSpPr>
        <p:spPr>
          <a:xfrm>
            <a:off x="731520" y="550926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c_14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5628132"/>
            <a:ext cx="310896" cy="310896"/>
          </a:xfrm>
          <a:prstGeom prst="rect">
            <a:avLst/>
          </a:prstGeom>
        </p:spPr>
      </p:pic>
      <p:sp>
        <p:nvSpPr>
          <p:cNvPr id="9" name="txt_145"/>
          <p:cNvSpPr txBox="1"/>
          <p:nvPr/>
        </p:nvSpPr>
        <p:spPr>
          <a:xfrm>
            <a:off x="1417320" y="5422392"/>
            <a:ext cx="10088575" cy="7223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Downsizing: motores de menor V</a:t>
            </a:r>
            <a:pPr algn="l" indent="0" marL="0"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turbo y alta R</a:t>
            </a:r>
            <a:pPr algn="l" indent="0" marL="0"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la potencia de uno mayor con menos consumo.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del motor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Rendimiento, par, potencia, consumo específico, PME, curvas y elasticidad.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4: Funcionamiento del MCIA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motor y potencia</a:t>
            </a:r>
            <a:endParaRPr lang="en-US" sz="3000" dirty="0"/>
          </a:p>
        </p:txBody>
      </p:sp>
      <p:sp>
        <p:nvSpPr>
          <p:cNvPr id="3" name="kicker_146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CARACTERÍSTICAS DEL MOTOR</a:t>
            </a:r>
            <a:endParaRPr lang="en-US" sz="1100" dirty="0"/>
          </a:p>
        </p:txBody>
      </p:sp>
      <p:sp>
        <p:nvSpPr>
          <p:cNvPr id="5" name="txt_147"/>
          <p:cNvSpPr txBox="1"/>
          <p:nvPr/>
        </p:nvSpPr>
        <p:spPr>
          <a:xfrm>
            <a:off x="548640" y="1463040"/>
            <a:ext cx="51206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motor (M)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esfuerzo de giro en el cigüeñal, en N·m. Depende de la fuerza de los gases y del radio de la manivela.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(P)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trabajo por unidad de tiempo, en kW. Depende del par y del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régimen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 (rpm).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CV = 0,7355 kW;  1 HP = 0,7457 kW.</a:t>
            </a:r>
            <a:endParaRPr lang="en-US" sz="1600" dirty="0"/>
          </a:p>
        </p:txBody>
      </p:sp>
      <p:sp>
        <p:nvSpPr>
          <p:cNvPr id="6" name="card_148"/>
          <p:cNvSpPr/>
          <p:nvPr/>
        </p:nvSpPr>
        <p:spPr>
          <a:xfrm>
            <a:off x="5943600" y="1463040"/>
            <a:ext cx="569945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7" name="txt_149"/>
          <p:cNvSpPr txBox="1"/>
          <p:nvPr/>
        </p:nvSpPr>
        <p:spPr>
          <a:xfrm>
            <a:off x="6172200" y="1627632"/>
            <a:ext cx="524225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FUERZA, PAR Y POTENCIA (P en kW, M en N·m, n en rpm)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cuación 8"/>
              <p:cNvSpPr txBox="1"/>
              <p:nvPr/>
            </p:nvSpPr>
            <p:spPr>
              <a:xfrm>
                <a:off x="8131912" y="3039618"/>
                <a:ext cx="1322832" cy="45110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6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s-EC" sz="2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r>
                        <a:rPr lang="es-EC" sz="26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s-EC" sz="2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·</m:t>
                      </m:r>
                      <m:sSub>
                        <m:e>
                          <m:r>
                            <a:rPr lang="es-EC" sz="2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A</m:t>
                          </m:r>
                        </m:e>
                        <m:sub>
                          <m:r>
                            <a:rPr lang="es-EC" sz="2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p</m:t>
                          </m:r>
                        </m:sub>
                      </m:sSub>
                    </m:oMath>
                  </m:oMathPara>
                </a14:m>
                <a:endParaRPr lang="es-EC" sz="2600" dirty="0"/>
              </a:p>
            </p:txBody>
          </p:sp>
        </mc:Choice>
        <mc:Fallback>
          <p:pic>
            <p:nvPicPr>
              <p:cNvPr id="8" name="EQ_86d6c85bd92c_31_s1000_ctr" descr="/home/claude/u2/eq/eq_86d6c85bd92c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8131912" y="3039618"/>
                <a:ext cx="1322832" cy="4511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cuación 9"/>
              <p:cNvSpPr txBox="1"/>
              <p:nvPr/>
            </p:nvSpPr>
            <p:spPr>
              <a:xfrm>
                <a:off x="8179156" y="3687953"/>
                <a:ext cx="1228344" cy="43586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6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M</m:t>
                      </m:r>
                      <m:r>
                        <m:rPr>
                          <m:sty m:val="p"/>
                        </m:rPr>
                        <a:rPr lang="es-EC" sz="2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r>
                        <a:rPr lang="es-EC" sz="26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s-EC" sz="2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·</m:t>
                      </m:r>
                      <m:r>
                        <a:rPr lang="es-EC" sz="26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r</m:t>
                      </m:r>
                    </m:oMath>
                  </m:oMathPara>
                </a14:m>
                <a:endParaRPr lang="es-EC" sz="2600" dirty="0"/>
              </a:p>
            </p:txBody>
          </p:sp>
        </mc:Choice>
        <mc:Fallback>
          <p:pic>
            <p:nvPicPr>
              <p:cNvPr id="9" name="EQ_13ff28b10408_32_s1000_ctr" descr="/home/claude/u2/eq/eq_13ff28b10408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179156" y="3687953"/>
                <a:ext cx="1228344" cy="435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cuación 10"/>
              <p:cNvSpPr txBox="1"/>
              <p:nvPr/>
            </p:nvSpPr>
            <p:spPr>
              <a:xfrm>
                <a:off x="7657948" y="4307459"/>
                <a:ext cx="2270760" cy="75895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6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s-EC" sz="2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r>
                        <a:rPr lang="es-EC" sz="26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M</m:t>
                      </m:r>
                      <m:r>
                        <m:rPr>
                          <m:sty m:val="p"/>
                        </m:rPr>
                        <a:rPr lang="es-EC" sz="2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 </m:t>
                      </m:r>
                      <m:r>
                        <a:rPr lang="es-EC" sz="26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ω</m:t>
                      </m:r>
                      <m:r>
                        <m:rPr>
                          <m:sty m:val="p"/>
                        </m:rPr>
                        <a:rPr lang="es-EC" sz="26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2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  <m:r>
                            <m:rPr>
                              <m:sty m:val="p"/>
                            </m:rPr>
                            <a:rPr lang="es-EC" sz="2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·</m:t>
                          </m:r>
                          <m:r>
                            <a:rPr lang="es-EC" sz="26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6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9 550</m:t>
                          </m:r>
                        </m:den>
                      </m:f>
                    </m:oMath>
                  </m:oMathPara>
                </a14:m>
                <a:endParaRPr lang="es-EC" sz="2600" dirty="0"/>
              </a:p>
            </p:txBody>
          </p:sp>
        </mc:Choice>
        <mc:Fallback>
          <p:pic>
            <p:nvPicPr>
              <p:cNvPr id="10" name="EQ_c4ae4960b8ac_33_s1000_ctr" descr="/home/claude/u2/eq/eq_c4ae4960b8ac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57948" y="4307459"/>
                <a:ext cx="2270760" cy="758952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6: fuerza sobre el pistón</a:t>
            </a:r>
            <a:endParaRPr lang="en-US" sz="3000" dirty="0"/>
          </a:p>
        </p:txBody>
      </p:sp>
      <p:sp>
        <p:nvSpPr>
          <p:cNvPr id="3" name="kicker_150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CARACTERÍSTICAS DEL MOTOR</a:t>
            </a:r>
            <a:endParaRPr lang="en-US" sz="1100" dirty="0"/>
          </a:p>
        </p:txBody>
      </p:sp>
      <p:sp>
        <p:nvSpPr>
          <p:cNvPr id="5" name="card_151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1923"/>
            </a:avLst>
          </a:prstGeom>
          <a:solidFill>
            <a:srgbClr val="F2F5F8"/>
          </a:solidFill>
          <a:ln/>
        </p:spPr>
      </p:sp>
      <p:sp>
        <p:nvSpPr>
          <p:cNvPr id="6" name="txt_152"/>
          <p:cNvSpPr txBox="1"/>
          <p:nvPr/>
        </p:nvSpPr>
        <p:spPr>
          <a:xfrm>
            <a:off x="77724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153"/>
          <p:cNvSpPr txBox="1"/>
          <p:nvPr/>
        </p:nvSpPr>
        <p:spPr>
          <a:xfrm>
            <a:off x="777240" y="2057400"/>
            <a:ext cx="429768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motor de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83,5 mm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presión máxima de combustión es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bar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el área del pistón y la fuerza que recibe.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Recuerde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 bar = 10 N/cm²  →  F (N) = 10 · p (bar) · A (cm²).</a:t>
            </a:r>
            <a:endParaRPr lang="en-US" sz="1500" dirty="0"/>
          </a:p>
        </p:txBody>
      </p:sp>
      <p:sp>
        <p:nvSpPr>
          <p:cNvPr id="8" name="card_154"/>
          <p:cNvSpPr/>
          <p:nvPr/>
        </p:nvSpPr>
        <p:spPr>
          <a:xfrm>
            <a:off x="5623560" y="1463040"/>
            <a:ext cx="601949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9" name="txt_155"/>
          <p:cNvSpPr txBox="1"/>
          <p:nvPr/>
        </p:nvSpPr>
        <p:spPr>
          <a:xfrm>
            <a:off x="5852160" y="1645920"/>
            <a:ext cx="556229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cuación 10"/>
              <p:cNvSpPr txBox="1"/>
              <p:nvPr/>
            </p:nvSpPr>
            <p:spPr>
              <a:xfrm>
                <a:off x="5897880" y="2103120"/>
                <a:ext cx="3091132" cy="635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A</m:t>
                          </m:r>
                        </m:e>
                        <m:sub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1966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π</m:t>
                          </m:r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(8</m:t>
                          </m:r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35</m:t>
                          </m:r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 cm</m:t>
                          </m:r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s-EC" sz="1966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)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s-EC" sz="1966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=54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1966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76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 cm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s-EC" sz="1966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p>
                    </m:oMath>
                  </m:oMathPara>
                </a14:m>
                <a:endParaRPr lang="es-EC" sz="1966" dirty="0"/>
              </a:p>
            </p:txBody>
          </p:sp>
        </mc:Choice>
        <mc:Fallback>
          <p:pic>
            <p:nvPicPr>
              <p:cNvPr id="10" name="EQ_5949e57710c9_34_s983_l" descr="/home/claude/u2/eq/eq_5949e57710c9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897880" y="2103120"/>
                <a:ext cx="3091132" cy="6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cuación 11"/>
              <p:cNvSpPr txBox="1"/>
              <p:nvPr/>
            </p:nvSpPr>
            <p:spPr>
              <a:xfrm>
                <a:off x="5897880" y="2879090"/>
                <a:ext cx="3148584" cy="35661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C" sz="20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=10·</m:t>
                      </m:r>
                      <m:r>
                        <a:rPr lang="es-EC" sz="20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·</m:t>
                      </m:r>
                      <m:sSub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A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p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=10(46)(54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76)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1" name="EQ_f89fd81bb5e4_35_s1000_l" descr="/home/claude/u2/eq/eq_f89fd81bb5e4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97880" y="2879090"/>
                <a:ext cx="3148584" cy="3566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cuación 12"/>
              <p:cNvSpPr txBox="1"/>
              <p:nvPr/>
            </p:nvSpPr>
            <p:spPr>
              <a:xfrm>
                <a:off x="5897880" y="3383788"/>
                <a:ext cx="2359152" cy="3413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C" sz="2000" b="0" i="1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≈25 190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 N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 (≈2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6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 t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)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2" name="EQ_9e5c538e6543_36_s1000_l" descr="/home/claude/u2/eq/eq_9e5c538e6543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97880" y="3383788"/>
                <a:ext cx="2359152" cy="341376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xt_156"/>
          <p:cNvSpPr txBox="1"/>
          <p:nvPr/>
        </p:nvSpPr>
        <p:spPr>
          <a:xfrm>
            <a:off x="5897880" y="3842004"/>
            <a:ext cx="547085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fuerza llega al bulón, la biela y el cigüeñal: de ahí la robustez de las partes móviles (Unidad 3).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Curvas características del motor</a:t>
            </a:r>
            <a:endParaRPr lang="en-US" sz="3000" dirty="0"/>
          </a:p>
        </p:txBody>
      </p:sp>
      <p:sp>
        <p:nvSpPr>
          <p:cNvPr id="3" name="kicker_15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CARACTERÍSTICAS DEL MOTOR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463040"/>
          <a:ext cx="722376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xt_158"/>
          <p:cNvSpPr txBox="1"/>
          <p:nvPr/>
        </p:nvSpPr>
        <p:spPr>
          <a:xfrm>
            <a:off x="8046720" y="1463040"/>
            <a:ext cx="3596335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máximo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220 N·m a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4 200 rpm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 máxima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110,6 kW a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5 500 rpm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ambos regímenes está la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utilización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recomendada.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encima de 5 500 rpm el par cae más rápido de lo que sube n: la potencia disminuye (peor llenado y más fricción).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7: potencia a partir del par</a:t>
            </a:r>
            <a:endParaRPr lang="en-US" sz="3000" dirty="0"/>
          </a:p>
        </p:txBody>
      </p:sp>
      <p:sp>
        <p:nvSpPr>
          <p:cNvPr id="3" name="kicker_159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CARACTERÍSTICAS DEL MOTOR</a:t>
            </a:r>
            <a:endParaRPr lang="en-US" sz="1100" dirty="0"/>
          </a:p>
        </p:txBody>
      </p:sp>
      <p:sp>
        <p:nvSpPr>
          <p:cNvPr id="5" name="card_160"/>
          <p:cNvSpPr/>
          <p:nvPr/>
        </p:nvSpPr>
        <p:spPr>
          <a:xfrm>
            <a:off x="548640" y="1463040"/>
            <a:ext cx="4754880" cy="4754880"/>
          </a:xfrm>
          <a:prstGeom prst="roundRect">
            <a:avLst>
              <a:gd name="adj" fmla="val 1923"/>
            </a:avLst>
          </a:prstGeom>
          <a:solidFill>
            <a:srgbClr val="F2F5F8"/>
          </a:solidFill>
          <a:ln/>
        </p:spPr>
      </p:sp>
      <p:sp>
        <p:nvSpPr>
          <p:cNvPr id="6" name="txt_161"/>
          <p:cNvSpPr txBox="1"/>
          <p:nvPr/>
        </p:nvSpPr>
        <p:spPr>
          <a:xfrm>
            <a:off x="77724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162"/>
          <p:cNvSpPr txBox="1"/>
          <p:nvPr/>
        </p:nvSpPr>
        <p:spPr>
          <a:xfrm>
            <a:off x="777240" y="2057400"/>
            <a:ext cx="4297680" cy="3977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curva de par de la diapositiva anterior, calcule la potencia a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4 200 rpm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 máximo) y a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5 500 rpm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 = 220 N·m a 4 200 rpm; M = 192 N·m a 5 500 rpm.</a:t>
            </a:r>
            <a:endParaRPr lang="en-US" sz="1500" dirty="0"/>
          </a:p>
        </p:txBody>
      </p:sp>
      <p:sp>
        <p:nvSpPr>
          <p:cNvPr id="8" name="card_163"/>
          <p:cNvSpPr/>
          <p:nvPr/>
        </p:nvSpPr>
        <p:spPr>
          <a:xfrm>
            <a:off x="5623560" y="1463040"/>
            <a:ext cx="601949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9" name="txt_164"/>
          <p:cNvSpPr txBox="1"/>
          <p:nvPr/>
        </p:nvSpPr>
        <p:spPr>
          <a:xfrm>
            <a:off x="5852160" y="1645920"/>
            <a:ext cx="556229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cuación 10"/>
              <p:cNvSpPr txBox="1"/>
              <p:nvPr/>
            </p:nvSpPr>
            <p:spPr>
              <a:xfrm>
                <a:off x="5897880" y="2124964"/>
                <a:ext cx="1051560" cy="5913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C" sz="20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·</m:t>
                          </m:r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9 550</m:t>
                          </m:r>
                        </m:den>
                      </m:f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0" name="EQ_fd6744dc344c_37_s1000_l" descr="/home/claude/u2/eq/eq_fd6744dc344c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897880" y="2124964"/>
                <a:ext cx="1051560" cy="5913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cuación 11"/>
              <p:cNvSpPr txBox="1"/>
              <p:nvPr/>
            </p:nvSpPr>
            <p:spPr>
              <a:xfrm>
                <a:off x="5897880" y="2866644"/>
                <a:ext cx="3118104" cy="59740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4200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220(4 200)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9 550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≈96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8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 kW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1" name="EQ_a25c15d7d28f_38_s1000_l" descr="/home/claude/u2/eq/eq_a25c15d7d28f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97880" y="2866644"/>
                <a:ext cx="3118104" cy="5974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cuación 12"/>
              <p:cNvSpPr txBox="1"/>
              <p:nvPr/>
            </p:nvSpPr>
            <p:spPr>
              <a:xfrm>
                <a:off x="5897880" y="3609848"/>
                <a:ext cx="3246120" cy="6004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5500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192(5 500)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9 550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≈110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6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 kW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2" name="EQ_2439c95b212c_39_s1000_l" descr="/home/claude/u2/eq/eq_2439c95b212c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97880" y="3609848"/>
                <a:ext cx="3246120" cy="600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cuación 13"/>
              <p:cNvSpPr txBox="1"/>
              <p:nvPr/>
            </p:nvSpPr>
            <p:spPr>
              <a:xfrm>
                <a:off x="5897880" y="4344416"/>
                <a:ext cx="2822448" cy="3413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110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6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 kW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×1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36=150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 CV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3" name="EQ_31b08a232aec_40_s1000_l" descr="/home/claude/u2/eq/eq_31b08a232aec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97880" y="4344416"/>
                <a:ext cx="2822448" cy="341376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Elasticidad del motor</a:t>
            </a:r>
            <a:endParaRPr lang="en-US" sz="3000" dirty="0"/>
          </a:p>
        </p:txBody>
      </p:sp>
      <p:sp>
        <p:nvSpPr>
          <p:cNvPr id="3" name="kicker_16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CARACTERÍSTICAS DEL MOTOR</a:t>
            </a:r>
            <a:endParaRPr lang="en-US" sz="1100" dirty="0"/>
          </a:p>
        </p:txBody>
      </p:sp>
      <p:sp>
        <p:nvSpPr>
          <p:cNvPr id="5" name="card_166"/>
          <p:cNvSpPr/>
          <p:nvPr/>
        </p:nvSpPr>
        <p:spPr>
          <a:xfrm>
            <a:off x="548640" y="1463040"/>
            <a:ext cx="5120640" cy="1920240"/>
          </a:xfrm>
          <a:prstGeom prst="roundRect">
            <a:avLst>
              <a:gd name="adj" fmla="val 4762"/>
            </a:avLst>
          </a:prstGeom>
          <a:solidFill>
            <a:srgbClr val="D9EEEE"/>
          </a:solidFill>
          <a:ln/>
        </p:spPr>
      </p:sp>
      <p:sp>
        <p:nvSpPr>
          <p:cNvPr id="6" name="txt_167"/>
          <p:cNvSpPr txBox="1"/>
          <p:nvPr/>
        </p:nvSpPr>
        <p:spPr>
          <a:xfrm>
            <a:off x="777240" y="1627632"/>
            <a:ext cx="46634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 (M_P: par a potencia máxima)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cuación 7"/>
              <p:cNvSpPr txBox="1"/>
              <p:nvPr/>
            </p:nvSpPr>
            <p:spPr>
              <a:xfrm>
                <a:off x="2057400" y="2199132"/>
                <a:ext cx="2103120" cy="8595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8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s-EC" sz="28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sSub>
                            <m:e>
                              <m:r>
                                <a:rPr lang="es-EC" sz="28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</m:t>
                              </m:r>
                            </m:e>
                            <m:sub>
                              <m:r>
                                <a:rPr lang="es-EC" sz="28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max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s-EC" sz="28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</m:t>
                              </m:r>
                            </m:e>
                            <m:sub>
                              <m:r>
                                <a:rPr lang="es-EC" sz="28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P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s-EC" sz="28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·</m:t>
                      </m:r>
                      <m:f>
                        <m:num>
                          <m:sSub>
                            <m:e>
                              <m:r>
                                <a:rPr lang="es-EC" sz="28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n</m:t>
                              </m:r>
                            </m:e>
                            <m:sub>
                              <m:r>
                                <a:rPr lang="es-EC" sz="28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P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s-EC" sz="28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n</m:t>
                              </m:r>
                            </m:e>
                            <m:sub>
                              <m:r>
                                <a:rPr lang="es-EC" sz="28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2800" dirty="0"/>
              </a:p>
            </p:txBody>
          </p:sp>
        </mc:Choice>
        <mc:Fallback>
          <p:pic>
            <p:nvPicPr>
              <p:cNvPr id="7" name="EQ_f6e84cebba0f_41_s1000_ctr" descr="/home/claude/u2/eq/eq_f6e84cebba0f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057400" y="2199132"/>
                <a:ext cx="2103120" cy="859536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xt_168"/>
          <p:cNvSpPr txBox="1"/>
          <p:nvPr/>
        </p:nvSpPr>
        <p:spPr>
          <a:xfrm>
            <a:off x="548640" y="3611880"/>
            <a:ext cx="5120640" cy="2606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capacidad del motor de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régimen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cambiar de marcha cuando aumenta la carga.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la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 de par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la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régimen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Gasolina atmosférico: E ≈ 1,5 a 2,5. Diésel turbo con par plano: valores mayores.</a:t>
            </a:r>
            <a:endParaRPr lang="en-US" sz="1500" dirty="0"/>
          </a:p>
        </p:txBody>
      </p:sp>
      <p:sp>
        <p:nvSpPr>
          <p:cNvPr id="9" name="card_169"/>
          <p:cNvSpPr/>
          <p:nvPr/>
        </p:nvSpPr>
        <p:spPr>
          <a:xfrm>
            <a:off x="5943600" y="1463040"/>
            <a:ext cx="569945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10" name="txt_170"/>
          <p:cNvSpPr txBox="1"/>
          <p:nvPr/>
        </p:nvSpPr>
        <p:spPr>
          <a:xfrm>
            <a:off x="617220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 LA CURVA ANTERIOR</a:t>
            </a:r>
            <a:endParaRPr lang="en-US" sz="1200" dirty="0"/>
          </a:p>
        </p:txBody>
      </p:sp>
      <p:sp>
        <p:nvSpPr>
          <p:cNvPr id="11" name="txt_171"/>
          <p:cNvSpPr txBox="1"/>
          <p:nvPr/>
        </p:nvSpPr>
        <p:spPr>
          <a:xfrm>
            <a:off x="6217920" y="2103120"/>
            <a:ext cx="515081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algn="l" indent="0" marL="0">
              <a:buNone/>
            </a:pP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pPr algn="l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220 N·m a n</a:t>
            </a:r>
            <a:pPr algn="l" indent="0" marL="0">
              <a:buNone/>
            </a:pP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algn="l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4 200 rpm; M</a:t>
            </a:r>
            <a:pPr algn="l" indent="0" marL="0">
              <a:buNone/>
            </a:pP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algn="l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192 N·m a n</a:t>
            </a:r>
            <a:pPr algn="l" indent="0" marL="0">
              <a:buNone/>
            </a:pP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algn="l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5 500 rpm.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cuación 12"/>
              <p:cNvSpPr txBox="1"/>
              <p:nvPr/>
            </p:nvSpPr>
            <p:spPr>
              <a:xfrm>
                <a:off x="6217920" y="2811272"/>
                <a:ext cx="1956816" cy="7132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C" sz="24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220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192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·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5 500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4 200</m:t>
                          </m:r>
                        </m:den>
                      </m:f>
                    </m:oMath>
                  </m:oMathPara>
                </a14:m>
                <a:endParaRPr lang="es-EC" sz="2400" dirty="0"/>
              </a:p>
            </p:txBody>
          </p:sp>
        </mc:Choice>
        <mc:Fallback>
          <p:pic>
            <p:nvPicPr>
              <p:cNvPr id="12" name="EQ_120b03f86aca_42_s1000_l" descr="/home/claude/u2/eq/eq_120b03f86aca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17920" y="2811272"/>
                <a:ext cx="1956816" cy="713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cuación 13"/>
              <p:cNvSpPr txBox="1"/>
              <p:nvPr/>
            </p:nvSpPr>
            <p:spPr>
              <a:xfrm>
                <a:off x="6217920" y="3670808"/>
                <a:ext cx="2243328" cy="4023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C" sz="24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=1</m:t>
                      </m:r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146×1</m:t>
                      </m:r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310</m:t>
                      </m:r>
                    </m:oMath>
                  </m:oMathPara>
                </a14:m>
                <a:endParaRPr lang="es-EC" sz="2400" dirty="0"/>
              </a:p>
            </p:txBody>
          </p:sp>
        </mc:Choice>
        <mc:Fallback>
          <p:pic>
            <p:nvPicPr>
              <p:cNvPr id="13" name="EQ_d52661ab3439_43_s1000_l" descr="/home/claude/u2/eq/eq_d52661ab3439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7920" y="3670808"/>
                <a:ext cx="2243328" cy="4023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cuación 14"/>
              <p:cNvSpPr txBox="1"/>
              <p:nvPr/>
            </p:nvSpPr>
            <p:spPr>
              <a:xfrm>
                <a:off x="6217920" y="4207256"/>
                <a:ext cx="1088136" cy="40233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C" sz="2400" b="0" i="1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≈1</m:t>
                      </m:r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50</m:t>
                      </m:r>
                    </m:oMath>
                  </m:oMathPara>
                </a14:m>
                <a:endParaRPr lang="es-EC" sz="2400" dirty="0"/>
              </a:p>
            </p:txBody>
          </p:sp>
        </mc:Choice>
        <mc:Fallback>
          <p:pic>
            <p:nvPicPr>
              <p:cNvPr id="14" name="EQ_0c9da4d2d54e_44_s1000_l" descr="/home/claude/u2/eq/eq_0c9da4d2d54e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17920" y="4207256"/>
                <a:ext cx="1088136" cy="402336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 y consumo específico</a:t>
            </a:r>
            <a:endParaRPr lang="en-US" sz="3000" dirty="0"/>
          </a:p>
        </p:txBody>
      </p:sp>
      <p:sp>
        <p:nvSpPr>
          <p:cNvPr id="3" name="kicker_17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CARACTERÍSTICAS DEL MOTOR</a:t>
            </a:r>
            <a:endParaRPr lang="en-US" sz="1100" dirty="0"/>
          </a:p>
        </p:txBody>
      </p:sp>
      <p:sp>
        <p:nvSpPr>
          <p:cNvPr id="5" name="card_173"/>
          <p:cNvSpPr/>
          <p:nvPr/>
        </p:nvSpPr>
        <p:spPr>
          <a:xfrm>
            <a:off x="548640" y="1463040"/>
            <a:ext cx="5486400" cy="2651760"/>
          </a:xfrm>
          <a:prstGeom prst="roundRect">
            <a:avLst>
              <a:gd name="adj" fmla="val 3448"/>
            </a:avLst>
          </a:prstGeom>
          <a:solidFill>
            <a:srgbClr val="D9EEEE"/>
          </a:solidFill>
          <a:ln/>
        </p:spPr>
      </p:sp>
      <p:sp>
        <p:nvSpPr>
          <p:cNvPr id="6" name="txt_174"/>
          <p:cNvSpPr txBox="1"/>
          <p:nvPr/>
        </p:nvSpPr>
        <p:spPr>
          <a:xfrm>
            <a:off x="777240" y="1627632"/>
            <a:ext cx="50292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ESPECÍFICO Y RENDIMIENTO EFECTIVO (g_e en g/kWh, PCI en MJ/kg)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cuación 7"/>
              <p:cNvSpPr txBox="1"/>
              <p:nvPr/>
            </p:nvSpPr>
            <p:spPr>
              <a:xfrm>
                <a:off x="2831592" y="2232406"/>
                <a:ext cx="920496" cy="68884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g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sSub>
                            <m:e>
                              <m:acc>
                                <m:accPr>
                                  <m:chr m:val="̇"/>
                                </m:accPr>
                                <m:e>
                                  <m:r>
                                    <a:rPr lang="es-EC" sz="2200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m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e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EC" sz="2200" dirty="0"/>
              </a:p>
            </p:txBody>
          </p:sp>
        </mc:Choice>
        <mc:Fallback>
          <p:pic>
            <p:nvPicPr>
              <p:cNvPr id="7" name="EQ_12bf88651be2_45_s1000_ctr" descr="/home/claude/u2/eq/eq_12bf88651be2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831592" y="2232406"/>
                <a:ext cx="920496" cy="6888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cuación 8"/>
              <p:cNvSpPr txBox="1"/>
              <p:nvPr/>
            </p:nvSpPr>
            <p:spPr>
              <a:xfrm>
                <a:off x="1927816" y="3063240"/>
                <a:ext cx="2728047" cy="6985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s-EC" sz="216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η</m:t>
                          </m:r>
                        </m:e>
                        <m:sub>
                          <m:r>
                            <a:rPr lang="es-EC" sz="216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165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sSub>
                            <m:e>
                              <m:r>
                                <a:rPr lang="es-EC" sz="2165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a:rPr lang="es-EC" sz="2165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e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acc>
                                <m:accPr>
                                  <m:chr m:val="̇"/>
                                </m:accPr>
                                <m:e>
                                  <m:r>
                                    <a:rPr lang="es-EC" sz="2165" b="0" i="1" dirty="0">
                                      <a:solidFill>
                                        <a:srgbClr val="15233F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m</m:t>
                                  </m:r>
                                </m:e>
                              </m:acc>
                            </m:e>
                            <m:sub>
                              <m:r>
                                <a:rPr lang="es-EC" sz="2165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2165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·</m:t>
                          </m:r>
                          <m:r>
                            <a:rPr lang="es-EC" sz="216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PCI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165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165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3 600</m:t>
                          </m:r>
                        </m:num>
                        <m:den>
                          <m:sSub>
                            <m:e>
                              <m:r>
                                <a:rPr lang="es-EC" sz="2165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g</m:t>
                              </m:r>
                            </m:e>
                            <m:sub>
                              <m:r>
                                <a:rPr lang="es-EC" sz="2165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e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2165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·</m:t>
                          </m:r>
                          <m:r>
                            <a:rPr lang="es-EC" sz="216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PCI</m:t>
                          </m:r>
                        </m:den>
                      </m:f>
                    </m:oMath>
                  </m:oMathPara>
                </a14:m>
                <a:endParaRPr lang="es-EC" sz="2165" dirty="0"/>
              </a:p>
            </p:txBody>
          </p:sp>
        </mc:Choice>
        <mc:Fallback>
          <p:pic>
            <p:nvPicPr>
              <p:cNvPr id="8" name="EQ_bd1b920282e4_46_s984_ctr" descr="/home/claude/u2/eq/eq_bd1b920282e4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27816" y="3063240"/>
                <a:ext cx="2728047" cy="6985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xt_175"/>
          <p:cNvSpPr txBox="1"/>
          <p:nvPr/>
        </p:nvSpPr>
        <p:spPr>
          <a:xfrm>
            <a:off x="548640" y="4297680"/>
            <a:ext cx="548640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gramos de combustible por cada kWh entregado. Cuanto menor, más eficiente es el motor.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Gasolina: 250–350 g/kWh; diésel: 190–260 g/kWh (mínimos en la zona de par máximo).</a:t>
            </a:r>
            <a:endParaRPr lang="en-US" sz="1500" dirty="0"/>
          </a:p>
        </p:txBody>
      </p:sp>
      <p:sp>
        <p:nvSpPr>
          <p:cNvPr id="10" name="card_176"/>
          <p:cNvSpPr/>
          <p:nvPr/>
        </p:nvSpPr>
        <p:spPr>
          <a:xfrm>
            <a:off x="6309360" y="1463040"/>
            <a:ext cx="5333695" cy="4754880"/>
          </a:xfrm>
          <a:prstGeom prst="roundRect">
            <a:avLst>
              <a:gd name="adj" fmla="val 1923"/>
            </a:avLst>
          </a:prstGeom>
          <a:solidFill>
            <a:srgbClr val="F2F5F8"/>
          </a:solidFill>
          <a:ln/>
        </p:spPr>
      </p:sp>
      <p:sp>
        <p:nvSpPr>
          <p:cNvPr id="11" name="txt_177"/>
          <p:cNvSpPr txBox="1"/>
          <p:nvPr/>
        </p:nvSpPr>
        <p:spPr>
          <a:xfrm>
            <a:off x="653796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8</a:t>
            </a:r>
            <a:endParaRPr lang="en-US" sz="1200" dirty="0"/>
          </a:p>
        </p:txBody>
      </p:sp>
      <p:sp>
        <p:nvSpPr>
          <p:cNvPr id="12" name="txt_178"/>
          <p:cNvSpPr txBox="1"/>
          <p:nvPr/>
        </p:nvSpPr>
        <p:spPr>
          <a:xfrm>
            <a:off x="6583680" y="2103120"/>
            <a:ext cx="478505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motor de gasolina entrega 85 kW consumiendo 25 kg/h.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cuación 13"/>
              <p:cNvSpPr txBox="1"/>
              <p:nvPr/>
            </p:nvSpPr>
            <p:spPr>
              <a:xfrm>
                <a:off x="6583680" y="2806319"/>
                <a:ext cx="3191256" cy="62788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1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g</m:t>
                          </m:r>
                        </m:e>
                        <m:sub>
                          <m:r>
                            <a:rPr lang="es-EC" sz="21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1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1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25 000</m:t>
                          </m:r>
                          <m:r>
                            <m:rPr>
                              <m:sty m:val="p"/>
                            </m:rPr>
                            <a:rPr lang="es-EC" sz="21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 g/h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1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85</m:t>
                          </m:r>
                          <m:r>
                            <m:rPr>
                              <m:sty m:val="p"/>
                            </m:rPr>
                            <a:rPr lang="es-EC" sz="21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 kW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1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≈294</m:t>
                      </m:r>
                      <m:r>
                        <m:rPr>
                          <m:sty m:val="p"/>
                        </m:rPr>
                        <a:rPr lang="es-EC" sz="21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 g/kWh</m:t>
                      </m:r>
                    </m:oMath>
                  </m:oMathPara>
                </a14:m>
                <a:endParaRPr lang="es-EC" sz="2100" dirty="0"/>
              </a:p>
            </p:txBody>
          </p:sp>
        </mc:Choice>
        <mc:Fallback>
          <p:pic>
            <p:nvPicPr>
              <p:cNvPr id="13" name="EQ_a6220ea3f5d3_47_s1000_l" descr="/home/claude/u2/eq/eq_a6220ea3f5d3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83680" y="2806319"/>
                <a:ext cx="3191256" cy="6278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cuación 14"/>
              <p:cNvSpPr txBox="1"/>
              <p:nvPr/>
            </p:nvSpPr>
            <p:spPr>
              <a:xfrm>
                <a:off x="6583680" y="3563366"/>
                <a:ext cx="2303318" cy="6667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08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η</m:t>
                          </m:r>
                        </m:e>
                        <m:sub>
                          <m:r>
                            <a:rPr lang="es-EC" sz="2087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8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087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3 600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087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294(44)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08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≈0</m:t>
                      </m:r>
                      <m:r>
                        <m:rPr>
                          <m:sty m:val="p"/>
                        </m:rPr>
                        <a:rPr lang="es-EC" sz="208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87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278</m:t>
                      </m:r>
                    </m:oMath>
                  </m:oMathPara>
                </a14:m>
                <a:endParaRPr lang="es-EC" sz="2087" dirty="0"/>
              </a:p>
            </p:txBody>
          </p:sp>
        </mc:Choice>
        <mc:Fallback>
          <p:pic>
            <p:nvPicPr>
              <p:cNvPr id="14" name="EQ_aea2baa1167a_48_s994_l" descr="/home/claude/u2/eq/eq_aea2baa1167a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83680" y="3563366"/>
                <a:ext cx="2303318" cy="666750"/>
              </a:xfrm>
              <a:prstGeom prst="rect">
                <a:avLst/>
              </a:prstGeom>
            </p:spPr>
          </p:pic>
        </mc:Fallback>
      </mc:AlternateContent>
      <p:sp>
        <p:nvSpPr>
          <p:cNvPr id="15" name="txt_179"/>
          <p:cNvSpPr txBox="1"/>
          <p:nvPr/>
        </p:nvSpPr>
        <p:spPr>
          <a:xfrm>
            <a:off x="6583680" y="4339844"/>
            <a:ext cx="4785055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27,8 % de la energía del combustible llega al cigüeñal.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Presión media efectiva (PME)</a:t>
            </a:r>
            <a:endParaRPr lang="en-US" sz="3000" dirty="0"/>
          </a:p>
        </p:txBody>
      </p:sp>
      <p:sp>
        <p:nvSpPr>
          <p:cNvPr id="3" name="kicker_180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·  CARACTERÍSTICAS DEL MOTOR</a:t>
            </a:r>
            <a:endParaRPr lang="en-US" sz="1100" dirty="0"/>
          </a:p>
        </p:txBody>
      </p:sp>
      <p:sp>
        <p:nvSpPr>
          <p:cNvPr id="5" name="txt_181"/>
          <p:cNvSpPr txBox="1"/>
          <p:nvPr/>
        </p:nvSpPr>
        <p:spPr>
          <a:xfrm>
            <a:off x="548640" y="1463040"/>
            <a:ext cx="530352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ficticia que, actuando sobre el pistón durante la carrera de expansión, produciría el mismo trabajo efectivo del ciclo.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comparar motores de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distinta cilindrada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indica cuánto trabajo obtiene el motor de cada litro.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Gasolina atmosférico: 8–12 bar; turboalimentado: 15–25 bar.</a:t>
            </a:r>
            <a:endParaRPr lang="en-US" sz="1500" dirty="0"/>
          </a:p>
        </p:txBody>
      </p:sp>
      <p:sp>
        <p:nvSpPr>
          <p:cNvPr id="6" name="card_182"/>
          <p:cNvSpPr/>
          <p:nvPr/>
        </p:nvSpPr>
        <p:spPr>
          <a:xfrm>
            <a:off x="548640" y="429768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D9EEEE"/>
          </a:solidFill>
          <a:ln/>
        </p:spPr>
      </p:sp>
      <p:sp>
        <p:nvSpPr>
          <p:cNvPr id="7" name="txt_183"/>
          <p:cNvSpPr txBox="1"/>
          <p:nvPr/>
        </p:nvSpPr>
        <p:spPr>
          <a:xfrm>
            <a:off x="777240" y="4462272"/>
            <a:ext cx="48463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4T: P en kW, V_t en m³, n en rpm → p_me en kPa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cuación 8"/>
              <p:cNvSpPr txBox="1"/>
              <p:nvPr/>
            </p:nvSpPr>
            <p:spPr>
              <a:xfrm>
                <a:off x="2255520" y="5027676"/>
                <a:ext cx="1889760" cy="87172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s-EC" sz="28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p</m:t>
                          </m:r>
                        </m:e>
                        <m:sub>
                          <m:r>
                            <a:rPr lang="es-EC" sz="28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me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8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8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120 </m:t>
                          </m:r>
                          <m:sSub>
                            <m:e>
                              <m:r>
                                <a:rPr lang="es-EC" sz="28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a:rPr lang="es-EC" sz="28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e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s-EC" sz="28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28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28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es-EC" sz="28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den>
                      </m:f>
                    </m:oMath>
                  </m:oMathPara>
                </a14:m>
                <a:endParaRPr lang="es-EC" sz="2800" dirty="0"/>
              </a:p>
            </p:txBody>
          </p:sp>
        </mc:Choice>
        <mc:Fallback>
          <p:pic>
            <p:nvPicPr>
              <p:cNvPr id="8" name="EQ_d3ddadc95578_49_s1000_ctr" descr="/home/claude/u2/eq/eq_d3ddadc95578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2255520" y="5027676"/>
                <a:ext cx="1889760" cy="871728"/>
              </a:xfrm>
              <a:prstGeom prst="rect">
                <a:avLst/>
              </a:prstGeom>
            </p:spPr>
          </p:pic>
        </mc:Fallback>
      </mc:AlternateContent>
      <p:sp>
        <p:nvSpPr>
          <p:cNvPr id="9" name="card_184"/>
          <p:cNvSpPr/>
          <p:nvPr/>
        </p:nvSpPr>
        <p:spPr>
          <a:xfrm>
            <a:off x="6126480" y="1463040"/>
            <a:ext cx="5516575" cy="4754880"/>
          </a:xfrm>
          <a:prstGeom prst="roundRect">
            <a:avLst>
              <a:gd name="adj" fmla="val 1923"/>
            </a:avLst>
          </a:prstGeom>
          <a:solidFill>
            <a:srgbClr val="F2F5F8"/>
          </a:solidFill>
          <a:ln/>
        </p:spPr>
      </p:sp>
      <p:sp>
        <p:nvSpPr>
          <p:cNvPr id="10" name="txt_185"/>
          <p:cNvSpPr txBox="1"/>
          <p:nvPr/>
        </p:nvSpPr>
        <p:spPr>
          <a:xfrm>
            <a:off x="6355080" y="1645920"/>
            <a:ext cx="45720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9</a:t>
            </a:r>
            <a:endParaRPr lang="en-US" sz="1200" dirty="0"/>
          </a:p>
        </p:txBody>
      </p:sp>
      <p:sp>
        <p:nvSpPr>
          <p:cNvPr id="11" name="txt_186"/>
          <p:cNvSpPr txBox="1"/>
          <p:nvPr/>
        </p:nvSpPr>
        <p:spPr>
          <a:xfrm>
            <a:off x="6400800" y="2103120"/>
            <a:ext cx="496793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4T de 1,6 L que entrega 85 kW a 6 000 rpm.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cuación 12"/>
              <p:cNvSpPr txBox="1"/>
              <p:nvPr/>
            </p:nvSpPr>
            <p:spPr>
              <a:xfrm>
                <a:off x="6400800" y="2522728"/>
                <a:ext cx="2610644" cy="73025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29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p</m:t>
                          </m:r>
                        </m:e>
                        <m:sub>
                          <m:r>
                            <a:rPr lang="es-EC" sz="2295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me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295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295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120(85)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295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(0</m:t>
                          </m:r>
                          <m:r>
                            <m:rPr>
                              <m:sty m:val="p"/>
                            </m:rPr>
                            <a:rPr lang="es-EC" sz="2295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2295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0016)(6 000)</m:t>
                          </m:r>
                        </m:den>
                      </m:f>
                    </m:oMath>
                  </m:oMathPara>
                </a14:m>
                <a:endParaRPr lang="es-EC" sz="2295" dirty="0"/>
              </a:p>
            </p:txBody>
          </p:sp>
        </mc:Choice>
        <mc:Fallback>
          <p:pic>
            <p:nvPicPr>
              <p:cNvPr id="12" name="EQ_4d7c75a61c96_50_s998_l" descr="/home/claude/u2/eq/eq_4d7c75a61c96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400800" y="2522728"/>
                <a:ext cx="2610644" cy="7302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cuación 13"/>
              <p:cNvSpPr txBox="1"/>
              <p:nvPr/>
            </p:nvSpPr>
            <p:spPr>
              <a:xfrm>
                <a:off x="6400800" y="3410140"/>
                <a:ext cx="3392424" cy="38709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3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p</m:t>
                          </m:r>
                        </m:e>
                        <m:sub>
                          <m:r>
                            <a:rPr lang="es-EC" sz="23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me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3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≈1 062</m:t>
                      </m:r>
                      <m:r>
                        <m:rPr>
                          <m:sty m:val="p"/>
                        </m:rPr>
                        <a:rPr lang="es-EC" sz="23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3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5</m:t>
                      </m:r>
                      <m:r>
                        <m:rPr>
                          <m:sty m:val="p"/>
                        </m:rPr>
                        <a:rPr lang="es-EC" sz="23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 kPa</m:t>
                      </m:r>
                      <m:r>
                        <m:rPr>
                          <m:sty m:val="p"/>
                        </m:rPr>
                        <a:rPr lang="es-EC" sz="23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≈10</m:t>
                      </m:r>
                      <m:r>
                        <m:rPr>
                          <m:sty m:val="p"/>
                        </m:rPr>
                        <a:rPr lang="es-EC" sz="23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3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6</m:t>
                      </m:r>
                      <m:r>
                        <m:rPr>
                          <m:sty m:val="p"/>
                        </m:rPr>
                        <a:rPr lang="es-EC" sz="23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 bar</m:t>
                      </m:r>
                    </m:oMath>
                  </m:oMathPara>
                </a14:m>
                <a:endParaRPr lang="es-EC" sz="2300" dirty="0"/>
              </a:p>
            </p:txBody>
          </p:sp>
        </mc:Choice>
        <mc:Fallback>
          <p:pic>
            <p:nvPicPr>
              <p:cNvPr id="13" name="EQ_89b640009b32_51_s1000_l" descr="/home/claude/u2/eq/eq_89b640009b32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0800" y="3410140"/>
                <a:ext cx="3392424" cy="387096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biela–manivela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movimiento lineal del pistón se convierte en giro del cigüeñal.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4: Funcionamiento del MCIA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mecanismo biela–manivela</a:t>
            </a:r>
            <a:endParaRPr lang="en-US" sz="3000" dirty="0"/>
          </a:p>
        </p:txBody>
      </p:sp>
      <p:sp>
        <p:nvSpPr>
          <p:cNvPr id="3" name="kicker_18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·  MECANISMO BIELA–MANIVELA</a:t>
            </a:r>
            <a:endParaRPr lang="en-US" sz="1100" dirty="0"/>
          </a:p>
        </p:txBody>
      </p:sp>
      <p:sp>
        <p:nvSpPr>
          <p:cNvPr id="5" name="txt_188"/>
          <p:cNvSpPr txBox="1"/>
          <p:nvPr/>
        </p:nvSpPr>
        <p:spPr>
          <a:xfrm>
            <a:off x="548640" y="1463040"/>
            <a:ext cx="457200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Pistón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(corredera): movimiento rectilíneo alternativo.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Biela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(longitud l): transmite la fuerza.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Manivela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(radio r, codo del cigüeñal): movimiento circular.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θ: ángulo de giro del cigüeñal medido desde el PMS.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r/l: relación manivela–biela, entre 0,25 y 0,35 en automoción.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fuerza de la biela tiene una componente lateral que apoya el pistón contra el cilindro (empuje lateral).</a:t>
            </a:r>
            <a:endParaRPr lang="en-US" sz="1500" dirty="0"/>
          </a:p>
        </p:txBody>
      </p:sp>
      <p:sp>
        <p:nvSpPr>
          <p:cNvPr id="6" name="fig_189"/>
          <p:cNvSpPr/>
          <p:nvPr/>
        </p:nvSpPr>
        <p:spPr>
          <a:xfrm>
            <a:off x="5394960" y="1463040"/>
            <a:ext cx="3200400" cy="47548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190" descr="/home/claude/img/u4d_biela_manive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1859890"/>
            <a:ext cx="2980944" cy="3577133"/>
          </a:xfrm>
          <a:prstGeom prst="rect">
            <a:avLst/>
          </a:prstGeom>
        </p:spPr>
      </p:pic>
      <p:sp>
        <p:nvSpPr>
          <p:cNvPr id="8" name="cap_191"/>
          <p:cNvSpPr txBox="1"/>
          <p:nvPr/>
        </p:nvSpPr>
        <p:spPr>
          <a:xfrm>
            <a:off x="5486400" y="57790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del mecanismo</a:t>
            </a:r>
            <a:endParaRPr lang="en-US" sz="1100" dirty="0"/>
          </a:p>
        </p:txBody>
      </p:sp>
      <p:sp>
        <p:nvSpPr>
          <p:cNvPr id="9" name="fig_192"/>
          <p:cNvSpPr/>
          <p:nvPr/>
        </p:nvSpPr>
        <p:spPr>
          <a:xfrm>
            <a:off x="8778240" y="1463040"/>
            <a:ext cx="2864815" cy="4754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193" descr="/home/claude/img/u2_image13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1971298"/>
            <a:ext cx="2645359" cy="3354315"/>
          </a:xfrm>
          <a:prstGeom prst="rect">
            <a:avLst/>
          </a:prstGeom>
        </p:spPr>
      </p:pic>
      <p:sp>
        <p:nvSpPr>
          <p:cNvPr id="11" name="cap_194"/>
          <p:cNvSpPr txBox="1"/>
          <p:nvPr/>
        </p:nvSpPr>
        <p:spPr>
          <a:xfrm>
            <a:off x="8869680" y="5779008"/>
            <a:ext cx="2681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Biela–manivela en un diésel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Cinemática del pistón</a:t>
            </a:r>
            <a:endParaRPr lang="en-US" sz="3000" dirty="0"/>
          </a:p>
        </p:txBody>
      </p:sp>
      <p:sp>
        <p:nvSpPr>
          <p:cNvPr id="3" name="kicker_195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·  MECANISMO BIELA–MANIVELA</a:t>
            </a:r>
            <a:endParaRPr lang="en-US" sz="1100" dirty="0"/>
          </a:p>
        </p:txBody>
      </p:sp>
      <p:graphicFrame>
        <p:nvGraphicFramePr>
          <p:cNvPr id="5" name="chart_196" descr=""/>
          <p:cNvGraphicFramePr/>
          <p:nvPr/>
        </p:nvGraphicFramePr>
        <p:xfrm>
          <a:off x="548640" y="146304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_197"/>
          <p:cNvSpPr/>
          <p:nvPr/>
        </p:nvSpPr>
        <p:spPr>
          <a:xfrm>
            <a:off x="6858000" y="1463040"/>
            <a:ext cx="4785055" cy="2468880"/>
          </a:xfrm>
          <a:prstGeom prst="roundRect">
            <a:avLst>
              <a:gd name="adj" fmla="val 3704"/>
            </a:avLst>
          </a:prstGeom>
          <a:solidFill>
            <a:srgbClr val="D9EEEE"/>
          </a:solidFill>
          <a:ln/>
        </p:spPr>
      </p:sp>
      <p:sp>
        <p:nvSpPr>
          <p:cNvPr id="7" name="txt_198"/>
          <p:cNvSpPr txBox="1"/>
          <p:nvPr/>
        </p:nvSpPr>
        <p:spPr>
          <a:xfrm>
            <a:off x="7086600" y="1627632"/>
            <a:ext cx="4327855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Y VELOCIDAD MEDIA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Ecuación 8"/>
              <p:cNvSpPr txBox="1"/>
              <p:nvPr/>
            </p:nvSpPr>
            <p:spPr>
              <a:xfrm>
                <a:off x="7697572" y="2160778"/>
                <a:ext cx="3105912" cy="649224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2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x</m:t>
                      </m:r>
                      <m:r>
                        <m:rPr>
                          <m:sty m:val="p"/>
                        </m:rP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≈</m:t>
                      </m:r>
                      <m:r>
                        <a:rPr lang="es-EC" sz="22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r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r>
                            <m:rPr>
                              <m:sty m:val="p"/>
                            </m:rP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(1−</m:t>
                          </m:r>
                          <m:r>
                            <m:rPr>
                              <m:sty m:val="p"/>
                            </m:rP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cos</m:t>
                          </m:r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θ</m:t>
                          </m:r>
                          <m:r>
                            <m:rPr>
                              <m:sty m:val="p"/>
                            </m:rP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)+</m:t>
                          </m:r>
                          <m:f>
                            <m:num>
                              <m:r>
                                <a:rPr lang="es-EC" sz="22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λ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den>
                          </m:f>
                          <m:sSup>
                            <m:e>
                              <m:r>
                                <m:rPr>
                                  <m:sty m:val="p"/>
                                </m:rP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sin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s-EC" sz="2200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θ</m:t>
                          </m:r>
                        </m:e>
                      </m:d>
                    </m:oMath>
                  </m:oMathPara>
                </a14:m>
                <a:endParaRPr lang="es-EC" sz="2200" dirty="0"/>
              </a:p>
            </p:txBody>
          </p:sp>
        </mc:Choice>
        <mc:Fallback>
          <p:pic>
            <p:nvPicPr>
              <p:cNvPr id="8" name="EQ_e9f13599ba97_52_s1000_ctr" descr="/home/claude/u2/eq/eq_e9f13599ba97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697572" y="2160778"/>
                <a:ext cx="3105912" cy="6492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cuación 9"/>
              <p:cNvSpPr txBox="1"/>
              <p:nvPr/>
            </p:nvSpPr>
            <p:spPr>
              <a:xfrm>
                <a:off x="8139532" y="2994914"/>
                <a:ext cx="2221992" cy="65227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2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λ</m:t>
                      </m:r>
                      <m:r>
                        <m:rPr>
                          <m:sty m:val="p"/>
                        </m:rP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r</m:t>
                          </m:r>
                        </m:num>
                        <m:den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l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  </m:t>
                      </m:r>
                      <m:sSub>
                        <m:e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2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  <m:r>
                            <a:rPr lang="es-EC" sz="22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Ln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2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60</m:t>
                          </m:r>
                        </m:den>
                      </m:f>
                    </m:oMath>
                  </m:oMathPara>
                </a14:m>
                <a:endParaRPr lang="es-EC" sz="2200" dirty="0"/>
              </a:p>
            </p:txBody>
          </p:sp>
        </mc:Choice>
        <mc:Fallback>
          <p:pic>
            <p:nvPicPr>
              <p:cNvPr id="9" name="EQ_c34ae0593b0d_53_s1000_ctr" descr="/home/claude/u2/eq/eq_c34ae0593b0d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39532" y="2994914"/>
                <a:ext cx="2221992" cy="652272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xt_199"/>
          <p:cNvSpPr txBox="1"/>
          <p:nvPr/>
        </p:nvSpPr>
        <p:spPr>
          <a:xfrm>
            <a:off x="6858000" y="4160520"/>
            <a:ext cx="4785055" cy="2057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pistón ya recorrió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la mitad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carrera, por la oblicuidad de la biela.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velocidad media del pistón (m/s); en turismos de 10 a 20 m/s.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10: biela–manivela</a:t>
            </a:r>
            <a:endParaRPr lang="en-US" sz="3000" dirty="0"/>
          </a:p>
        </p:txBody>
      </p:sp>
      <p:sp>
        <p:nvSpPr>
          <p:cNvPr id="3" name="kicker_200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·  MECANISMO BIELA–MANIVELA</a:t>
            </a:r>
            <a:endParaRPr lang="en-US" sz="1100" dirty="0"/>
          </a:p>
        </p:txBody>
      </p:sp>
      <p:sp>
        <p:nvSpPr>
          <p:cNvPr id="5" name="card_201"/>
          <p:cNvSpPr/>
          <p:nvPr/>
        </p:nvSpPr>
        <p:spPr>
          <a:xfrm>
            <a:off x="548640" y="1463040"/>
            <a:ext cx="4572000" cy="4754880"/>
          </a:xfrm>
          <a:prstGeom prst="roundRect">
            <a:avLst>
              <a:gd name="adj" fmla="val 2000"/>
            </a:avLst>
          </a:prstGeom>
          <a:solidFill>
            <a:srgbClr val="F2F5F8"/>
          </a:solidFill>
          <a:ln/>
        </p:spPr>
      </p:sp>
      <p:sp>
        <p:nvSpPr>
          <p:cNvPr id="6" name="txt_202"/>
          <p:cNvSpPr txBox="1"/>
          <p:nvPr/>
        </p:nvSpPr>
        <p:spPr>
          <a:xfrm>
            <a:off x="777240" y="1645920"/>
            <a:ext cx="41148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400" dirty="0"/>
          </a:p>
        </p:txBody>
      </p:sp>
      <p:sp>
        <p:nvSpPr>
          <p:cNvPr id="7" name="txt_203"/>
          <p:cNvSpPr txBox="1"/>
          <p:nvPr/>
        </p:nvSpPr>
        <p:spPr>
          <a:xfrm>
            <a:off x="777240" y="2057400"/>
            <a:ext cx="41148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con L =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mm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 = 40,5 mm), biela de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135 mm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 </a:t>
            </a:r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6 000 rpm</a:t>
            </a:r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λ, la posición del pistón a θ = 90° y la velocidad media del pistón.</a:t>
            </a:r>
            <a:endParaRPr lang="en-US" sz="1500" dirty="0"/>
          </a:p>
        </p:txBody>
      </p:sp>
      <p:pic>
        <p:nvPicPr>
          <p:cNvPr id="8" name="img_204" descr="/home/claude/img/u4d_biela_manive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6890" y="3520440"/>
            <a:ext cx="2095500" cy="2514600"/>
          </a:xfrm>
          <a:prstGeom prst="rect">
            <a:avLst/>
          </a:prstGeom>
        </p:spPr>
      </p:pic>
      <p:sp>
        <p:nvSpPr>
          <p:cNvPr id="9" name="card_205"/>
          <p:cNvSpPr/>
          <p:nvPr/>
        </p:nvSpPr>
        <p:spPr>
          <a:xfrm>
            <a:off x="5440680" y="1463040"/>
            <a:ext cx="6202375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10" name="txt_206"/>
          <p:cNvSpPr txBox="1"/>
          <p:nvPr/>
        </p:nvSpPr>
        <p:spPr>
          <a:xfrm>
            <a:off x="5669280" y="1645920"/>
            <a:ext cx="5745175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Ecuación 11"/>
              <p:cNvSpPr txBox="1"/>
              <p:nvPr/>
            </p:nvSpPr>
            <p:spPr>
              <a:xfrm>
                <a:off x="5715000" y="2120392"/>
                <a:ext cx="2033016" cy="6004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s-EC" sz="20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λ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r</m:t>
                          </m:r>
                        </m:num>
                        <m:den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l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40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5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135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=0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30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1" name="EQ_1ffffedd860e_54_s1000_l" descr="/home/claude/u2/eq/eq_1ffffedd860e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15000" y="2120392"/>
                <a:ext cx="2033016" cy="600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cuación 12"/>
              <p:cNvSpPr txBox="1"/>
              <p:nvPr/>
            </p:nvSpPr>
            <p:spPr>
              <a:xfrm>
                <a:off x="5715000" y="2869692"/>
                <a:ext cx="3346704" cy="5913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90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≈40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5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1+</m:t>
                          </m:r>
                          <m:f>
                            <m:num>
                              <m:r>
                                <m:rPr>
                                  <m:sty m:val="p"/>
                                </m:rPr>
                                <a:rPr lang="es-EC" sz="200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0</m:t>
                              </m:r>
                              <m:r>
                                <m:rPr>
                                  <m:sty m:val="p"/>
                                </m:rPr>
                                <a:rPr lang="es-EC" sz="200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,</m:t>
                              </m:r>
                              <m:r>
                                <m:rPr>
                                  <m:sty m:val="p"/>
                                </m:rPr>
                                <a:rPr lang="es-EC" sz="200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30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s-EC" sz="2000" b="0" i="0" dirty="0">
                                  <a:solidFill>
                                    <a:srgbClr val="E4572E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=46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6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 mm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2" name="EQ_ba557d0d85b6_55_s1000_l" descr="/home/claude/u2/eq/eq_ba557d0d85b6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5000" y="2869692"/>
                <a:ext cx="3346704" cy="591312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xt_207"/>
          <p:cNvSpPr txBox="1"/>
          <p:nvPr/>
        </p:nvSpPr>
        <p:spPr>
          <a:xfrm>
            <a:off x="5715000" y="3592576"/>
            <a:ext cx="5653735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más de la mitad de la carrera (40,5 mm).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Ecuación 14"/>
              <p:cNvSpPr txBox="1"/>
              <p:nvPr/>
            </p:nvSpPr>
            <p:spPr>
              <a:xfrm>
                <a:off x="5715000" y="4029456"/>
                <a:ext cx="2447544" cy="6004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2(0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,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081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 m</m:t>
                          </m:r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)(6 000)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0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60</m:t>
                          </m:r>
                        </m:den>
                      </m:f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4" name="EQ_b57612f3aef7_56_s1000_l" descr="/home/claude/u2/eq/eq_b57612f3aef7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15000" y="4029456"/>
                <a:ext cx="2447544" cy="600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Ecuación 15"/>
              <p:cNvSpPr txBox="1"/>
              <p:nvPr/>
            </p:nvSpPr>
            <p:spPr>
              <a:xfrm>
                <a:off x="5715000" y="4795774"/>
                <a:ext cx="1441704" cy="3413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e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e>
                        <m:sub>
                          <m:r>
                            <a:rPr lang="es-EC" sz="2000" b="0" i="1" dirty="0">
                              <a:solidFill>
                                <a:srgbClr val="E4572E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=16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2</m:t>
                      </m:r>
                      <m:r>
                        <m:rPr>
                          <m:sty m:val="p"/>
                        </m:rPr>
                        <a:rPr lang="es-EC" sz="2000" b="0" i="0" dirty="0">
                          <a:solidFill>
                            <a:srgbClr val="E4572E"/>
                          </a:solidFill>
                          <a:latin typeface="Cambria Math" panose="02040503050406030204" pitchFamily="18" charset="0"/>
                        </a:rPr>
                        <m:t xml:space="preserve"> m/s</m:t>
                      </m:r>
                    </m:oMath>
                  </m:oMathPara>
                </a14:m>
                <a:endParaRPr lang="es-EC" sz="2000" dirty="0"/>
              </a:p>
            </p:txBody>
          </p:sp>
        </mc:Choice>
        <mc:Fallback>
          <p:pic>
            <p:nvPicPr>
              <p:cNvPr id="15" name="EQ_4c9a60232fad_57_s1000_l" descr="/home/claude/u2/eq/eq_4c9a60232fad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15000" y="4795774"/>
                <a:ext cx="1441704" cy="341376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Funcionamiento del motor de cuatro tiempos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Admisión, compresión, expansión y escape; diferencias entre Otto y Diesel.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4: Funcionamiento del MCIA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cuatro tiempos</a:t>
            </a:r>
            <a:endParaRPr lang="en-US" sz="3000" dirty="0"/>
          </a:p>
        </p:txBody>
      </p:sp>
      <p:sp>
        <p:nvSpPr>
          <p:cNvPr id="3" name="kicker_208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 ·  FUNCIONAMIENTO DEL MOTOR DE CUATRO TIEMPOS</a:t>
            </a:r>
            <a:endParaRPr lang="en-US" sz="1100" dirty="0"/>
          </a:p>
        </p:txBody>
      </p:sp>
      <p:sp>
        <p:nvSpPr>
          <p:cNvPr id="5" name="fig_209"/>
          <p:cNvSpPr/>
          <p:nvPr/>
        </p:nvSpPr>
        <p:spPr>
          <a:xfrm>
            <a:off x="548640" y="1463040"/>
            <a:ext cx="3108960" cy="47548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g_210" descr="/home/claude/img/u2_image23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066" y="1572768"/>
            <a:ext cx="1914107" cy="4151376"/>
          </a:xfrm>
          <a:prstGeom prst="rect">
            <a:avLst/>
          </a:prstGeom>
        </p:spPr>
      </p:pic>
      <p:sp>
        <p:nvSpPr>
          <p:cNvPr id="7" name="cap_211"/>
          <p:cNvSpPr txBox="1"/>
          <p:nvPr/>
        </p:nvSpPr>
        <p:spPr>
          <a:xfrm>
            <a:off x="640080" y="5779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4T en funcionamiento</a:t>
            </a:r>
            <a:endParaRPr lang="en-US" sz="1100" dirty="0"/>
          </a:p>
        </p:txBody>
      </p:sp>
      <p:sp>
        <p:nvSpPr>
          <p:cNvPr id="8" name="card_212"/>
          <p:cNvSpPr/>
          <p:nvPr/>
        </p:nvSpPr>
        <p:spPr>
          <a:xfrm>
            <a:off x="3931920" y="1463040"/>
            <a:ext cx="3741268" cy="2263140"/>
          </a:xfrm>
          <a:prstGeom prst="roundRect">
            <a:avLst>
              <a:gd name="adj" fmla="val 4040"/>
            </a:avLst>
          </a:prstGeom>
          <a:solidFill>
            <a:srgbClr val="F2F5F8"/>
          </a:solidFill>
          <a:ln/>
        </p:spPr>
      </p:sp>
      <p:sp>
        <p:nvSpPr>
          <p:cNvPr id="9" name="dot_213"/>
          <p:cNvSpPr/>
          <p:nvPr/>
        </p:nvSpPr>
        <p:spPr>
          <a:xfrm>
            <a:off x="416052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xt_214"/>
          <p:cNvSpPr txBox="1"/>
          <p:nvPr/>
        </p:nvSpPr>
        <p:spPr>
          <a:xfrm>
            <a:off x="416052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xt_215"/>
          <p:cNvSpPr txBox="1"/>
          <p:nvPr/>
        </p:nvSpPr>
        <p:spPr>
          <a:xfrm>
            <a:off x="4864608" y="1664208"/>
            <a:ext cx="264398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Admisión  (0–180°)</a:t>
            </a:r>
            <a:endParaRPr lang="en-US" sz="1700" dirty="0"/>
          </a:p>
        </p:txBody>
      </p:sp>
      <p:sp>
        <p:nvSpPr>
          <p:cNvPr id="12" name="txt_216"/>
          <p:cNvSpPr txBox="1"/>
          <p:nvPr/>
        </p:nvSpPr>
        <p:spPr>
          <a:xfrm>
            <a:off x="4160520" y="2377440"/>
            <a:ext cx="3329788" cy="12573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 de admisión abierta; el pistón baja del PMS al PMI y aspira aire o mezcla.</a:t>
            </a:r>
            <a:endParaRPr lang="en-US" sz="1500" dirty="0"/>
          </a:p>
        </p:txBody>
      </p:sp>
      <p:sp>
        <p:nvSpPr>
          <p:cNvPr id="13" name="card_217"/>
          <p:cNvSpPr/>
          <p:nvPr/>
        </p:nvSpPr>
        <p:spPr>
          <a:xfrm>
            <a:off x="7901788" y="1463040"/>
            <a:ext cx="3741268" cy="2263140"/>
          </a:xfrm>
          <a:prstGeom prst="roundRect">
            <a:avLst>
              <a:gd name="adj" fmla="val 4040"/>
            </a:avLst>
          </a:prstGeom>
          <a:solidFill>
            <a:srgbClr val="F2F5F8"/>
          </a:solidFill>
          <a:ln/>
        </p:spPr>
      </p:sp>
      <p:sp>
        <p:nvSpPr>
          <p:cNvPr id="14" name="dot_218"/>
          <p:cNvSpPr/>
          <p:nvPr/>
        </p:nvSpPr>
        <p:spPr>
          <a:xfrm>
            <a:off x="8130388" y="1691640"/>
            <a:ext cx="566928" cy="566928"/>
          </a:xfrm>
          <a:prstGeom prst="ellipse">
            <a:avLst/>
          </a:prstGeom>
          <a:solidFill>
            <a:srgbClr val="22345A"/>
          </a:solidFill>
          <a:ln/>
        </p:spPr>
      </p:sp>
      <p:sp>
        <p:nvSpPr>
          <p:cNvPr id="15" name="txt_219"/>
          <p:cNvSpPr txBox="1"/>
          <p:nvPr/>
        </p:nvSpPr>
        <p:spPr>
          <a:xfrm>
            <a:off x="8130388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xt_220"/>
          <p:cNvSpPr txBox="1"/>
          <p:nvPr/>
        </p:nvSpPr>
        <p:spPr>
          <a:xfrm>
            <a:off x="8834476" y="1664208"/>
            <a:ext cx="264398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Compresión  (180–360°)</a:t>
            </a:r>
            <a:endParaRPr lang="en-US" sz="1700" dirty="0"/>
          </a:p>
        </p:txBody>
      </p:sp>
      <p:sp>
        <p:nvSpPr>
          <p:cNvPr id="17" name="txt_221"/>
          <p:cNvSpPr txBox="1"/>
          <p:nvPr/>
        </p:nvSpPr>
        <p:spPr>
          <a:xfrm>
            <a:off x="8130388" y="2377440"/>
            <a:ext cx="3329788" cy="12573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Válvulas cerradas; el pistón sube y comprime. Al final: chispa (Otto) o inyección (Diesel).</a:t>
            </a:r>
            <a:endParaRPr lang="en-US" sz="1500" dirty="0"/>
          </a:p>
        </p:txBody>
      </p:sp>
      <p:sp>
        <p:nvSpPr>
          <p:cNvPr id="18" name="card_222"/>
          <p:cNvSpPr/>
          <p:nvPr/>
        </p:nvSpPr>
        <p:spPr>
          <a:xfrm>
            <a:off x="3931920" y="3954780"/>
            <a:ext cx="3741268" cy="2263140"/>
          </a:xfrm>
          <a:prstGeom prst="roundRect">
            <a:avLst>
              <a:gd name="adj" fmla="val 4040"/>
            </a:avLst>
          </a:prstGeom>
          <a:solidFill>
            <a:srgbClr val="F2F5F8"/>
          </a:solidFill>
          <a:ln/>
        </p:spPr>
      </p:sp>
      <p:sp>
        <p:nvSpPr>
          <p:cNvPr id="19" name="dot_223"/>
          <p:cNvSpPr/>
          <p:nvPr/>
        </p:nvSpPr>
        <p:spPr>
          <a:xfrm>
            <a:off x="4160520" y="418338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xt_224"/>
          <p:cNvSpPr txBox="1"/>
          <p:nvPr/>
        </p:nvSpPr>
        <p:spPr>
          <a:xfrm>
            <a:off x="4160520" y="41833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xt_225"/>
          <p:cNvSpPr txBox="1"/>
          <p:nvPr/>
        </p:nvSpPr>
        <p:spPr>
          <a:xfrm>
            <a:off x="4864608" y="4155948"/>
            <a:ext cx="264398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Expansión  (360–540°)</a:t>
            </a:r>
            <a:endParaRPr lang="en-US" sz="1700" dirty="0"/>
          </a:p>
        </p:txBody>
      </p:sp>
      <p:sp>
        <p:nvSpPr>
          <p:cNvPr id="22" name="txt_226"/>
          <p:cNvSpPr txBox="1"/>
          <p:nvPr/>
        </p:nvSpPr>
        <p:spPr>
          <a:xfrm>
            <a:off x="4160520" y="4869180"/>
            <a:ext cx="3329788" cy="12573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gases empujan el pistón hacia el PMI: única carrera que produce trabajo.</a:t>
            </a:r>
            <a:endParaRPr lang="en-US" sz="1500" dirty="0"/>
          </a:p>
        </p:txBody>
      </p:sp>
      <p:sp>
        <p:nvSpPr>
          <p:cNvPr id="23" name="card_227"/>
          <p:cNvSpPr/>
          <p:nvPr/>
        </p:nvSpPr>
        <p:spPr>
          <a:xfrm>
            <a:off x="7901788" y="3954780"/>
            <a:ext cx="3741268" cy="2263140"/>
          </a:xfrm>
          <a:prstGeom prst="roundRect">
            <a:avLst>
              <a:gd name="adj" fmla="val 4040"/>
            </a:avLst>
          </a:prstGeom>
          <a:solidFill>
            <a:srgbClr val="F2F5F8"/>
          </a:solidFill>
          <a:ln/>
        </p:spPr>
      </p:sp>
      <p:sp>
        <p:nvSpPr>
          <p:cNvPr id="24" name="dot_228"/>
          <p:cNvSpPr/>
          <p:nvPr/>
        </p:nvSpPr>
        <p:spPr>
          <a:xfrm>
            <a:off x="8130388" y="418338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5" name="txt_229"/>
          <p:cNvSpPr txBox="1"/>
          <p:nvPr/>
        </p:nvSpPr>
        <p:spPr>
          <a:xfrm>
            <a:off x="8130388" y="41833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xt_230"/>
          <p:cNvSpPr txBox="1"/>
          <p:nvPr/>
        </p:nvSpPr>
        <p:spPr>
          <a:xfrm>
            <a:off x="8834476" y="4155948"/>
            <a:ext cx="264398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Escape  (540–720°)</a:t>
            </a:r>
            <a:endParaRPr lang="en-US" sz="1700" dirty="0"/>
          </a:p>
        </p:txBody>
      </p:sp>
      <p:sp>
        <p:nvSpPr>
          <p:cNvPr id="27" name="txt_231"/>
          <p:cNvSpPr txBox="1"/>
          <p:nvPr/>
        </p:nvSpPr>
        <p:spPr>
          <a:xfrm>
            <a:off x="8130388" y="4869180"/>
            <a:ext cx="3329788" cy="12573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 de escape abierta; el pistón sube y expulsa los gases quemados.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Presiones típicas en cada tiempo</a:t>
            </a:r>
            <a:endParaRPr lang="en-US" sz="3000" dirty="0"/>
          </a:p>
        </p:txBody>
      </p:sp>
      <p:sp>
        <p:nvSpPr>
          <p:cNvPr id="3" name="kicker_23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 ·  FUNCIONAMIENTO DEL MOTOR DE CUATRO TIEMPOS</a:t>
            </a:r>
            <a:endParaRPr lang="en-US" sz="1100" dirty="0"/>
          </a:p>
        </p:txBody>
      </p:sp>
      <p:graphicFrame>
        <p:nvGraphicFramePr>
          <p:cNvPr id="33" name="tbl_2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192024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Otto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Motor Diesel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Admisión (depresión)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 a −0,2 bar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−0,1 a −0,2 bar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de compresión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a 18 bar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a 35 bar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Presión máxima de combustión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a 60 bar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a 90 bar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Escape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0,5 bar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0,5 bar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card_234"/>
          <p:cNvSpPr/>
          <p:nvPr/>
        </p:nvSpPr>
        <p:spPr>
          <a:xfrm>
            <a:off x="548640" y="5166360"/>
            <a:ext cx="6583680" cy="1051560"/>
          </a:xfrm>
          <a:prstGeom prst="roundRect">
            <a:avLst>
              <a:gd name="adj" fmla="val 8696"/>
            </a:avLst>
          </a:prstGeom>
          <a:solidFill>
            <a:srgbClr val="FCE6DF"/>
          </a:solidFill>
          <a:ln/>
        </p:spPr>
      </p:sp>
      <p:sp>
        <p:nvSpPr>
          <p:cNvPr id="7" name="dot_235"/>
          <p:cNvSpPr/>
          <p:nvPr/>
        </p:nvSpPr>
        <p:spPr>
          <a:xfrm>
            <a:off x="731520" y="541782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c_23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5536692"/>
            <a:ext cx="310896" cy="310896"/>
          </a:xfrm>
          <a:prstGeom prst="rect">
            <a:avLst/>
          </a:prstGeom>
        </p:spPr>
      </p:pic>
      <p:sp>
        <p:nvSpPr>
          <p:cNvPr id="9" name="txt_237"/>
          <p:cNvSpPr txBox="1"/>
          <p:nvPr/>
        </p:nvSpPr>
        <p:spPr>
          <a:xfrm>
            <a:off x="1417320" y="5239512"/>
            <a:ext cx="5577840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compresión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(Práctica #4) compara la presión al final de la compresión de cada cilindro con el valor del manual: diferencias mayores al 10 % indican fugas por segmentos, válvulas o junta.</a:t>
            </a:r>
            <a:endParaRPr lang="en-US" sz="1500" dirty="0"/>
          </a:p>
        </p:txBody>
      </p:sp>
      <p:sp>
        <p:nvSpPr>
          <p:cNvPr id="10" name="fig_238"/>
          <p:cNvSpPr/>
          <p:nvPr/>
        </p:nvSpPr>
        <p:spPr>
          <a:xfrm>
            <a:off x="7406640" y="1463040"/>
            <a:ext cx="4236415" cy="4754880"/>
          </a:xfrm>
          <a:prstGeom prst="roundRect">
            <a:avLst>
              <a:gd name="adj" fmla="val 172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g_239" descr="/home/claude/img/u2d_otto_r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2156443"/>
            <a:ext cx="4016959" cy="2984027"/>
          </a:xfrm>
          <a:prstGeom prst="rect">
            <a:avLst/>
          </a:prstGeom>
        </p:spPr>
      </p:pic>
      <p:sp>
        <p:nvSpPr>
          <p:cNvPr id="12" name="cap_240"/>
          <p:cNvSpPr txBox="1"/>
          <p:nvPr/>
        </p:nvSpPr>
        <p:spPr>
          <a:xfrm>
            <a:off x="7498080" y="5779008"/>
            <a:ext cx="4053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P–v real frente al ideal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 Otto frente a motor Diesel</a:t>
            </a:r>
            <a:endParaRPr lang="en-US" sz="3000" dirty="0"/>
          </a:p>
        </p:txBody>
      </p:sp>
      <p:sp>
        <p:nvSpPr>
          <p:cNvPr id="3" name="kicker_241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 ·  FUNCIONAMIENTO DEL MOTOR DE CUATRO TIEMPOS</a:t>
            </a:r>
            <a:endParaRPr lang="en-US" sz="1100" dirty="0"/>
          </a:p>
        </p:txBody>
      </p:sp>
      <p:graphicFrame>
        <p:nvGraphicFramePr>
          <p:cNvPr id="34" name="tbl_2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834640"/>
                <a:gridCol w="28346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Otto (MEP)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Diesel (MEC)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Admisión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Mezcla aire–combustible (o aire con inyección directa)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 aire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Encendido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Chispa de la bujía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Autoencendido por compresión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Relación de compresión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 14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a 24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de carga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Mariposa de aceleración (cantidad)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 de combustible inyectado (calidad)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Régimen máximo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(6 000–7 000 rpm)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(4 000–5 000 rpm)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específico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(más rendimiento)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Construcción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ligera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robusta y pesada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ig_243"/>
          <p:cNvSpPr/>
          <p:nvPr/>
        </p:nvSpPr>
        <p:spPr>
          <a:xfrm>
            <a:off x="8686800" y="1463040"/>
            <a:ext cx="2956255" cy="47548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244" descr="/home/claude/img/u2_image5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28" y="2553736"/>
            <a:ext cx="2736799" cy="2189439"/>
          </a:xfrm>
          <a:prstGeom prst="rect">
            <a:avLst/>
          </a:prstGeom>
        </p:spPr>
      </p:pic>
      <p:sp>
        <p:nvSpPr>
          <p:cNvPr id="8" name="cap_245"/>
          <p:cNvSpPr txBox="1"/>
          <p:nvPr/>
        </p:nvSpPr>
        <p:spPr>
          <a:xfrm>
            <a:off x="8778240" y="5779008"/>
            <a:ext cx="2773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Gasolina: chispa  ·  Diésel: inyector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554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7863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sistemas del motor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5262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auxiliares que hacen funcionar el motor.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052560" y="2011680"/>
            <a:ext cx="2377440" cy="2377440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606040"/>
            <a:ext cx="1188720" cy="11887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Motores (MA.01.04)  ·  Unidad 4: Funcionamiento del MCIA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sistemas del motor</a:t>
            </a:r>
            <a:endParaRPr lang="en-US" sz="3000" dirty="0"/>
          </a:p>
        </p:txBody>
      </p:sp>
      <p:sp>
        <p:nvSpPr>
          <p:cNvPr id="3" name="kicker_246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 ·  MAPA DE SISTEMAS DEL MOTOR</a:t>
            </a:r>
            <a:endParaRPr lang="en-US" sz="1100" dirty="0"/>
          </a:p>
        </p:txBody>
      </p:sp>
      <p:sp>
        <p:nvSpPr>
          <p:cNvPr id="5" name="card_247"/>
          <p:cNvSpPr/>
          <p:nvPr/>
        </p:nvSpPr>
        <p:spPr>
          <a:xfrm>
            <a:off x="548640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6" name="dot_248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c_24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310896" cy="310896"/>
          </a:xfrm>
          <a:prstGeom prst="rect">
            <a:avLst/>
          </a:prstGeom>
        </p:spPr>
      </p:pic>
      <p:sp>
        <p:nvSpPr>
          <p:cNvPr id="8" name="txt_250"/>
          <p:cNvSpPr txBox="1"/>
          <p:nvPr/>
        </p:nvSpPr>
        <p:spPr>
          <a:xfrm>
            <a:off x="1481328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4.6.1  Alimentación</a:t>
            </a:r>
            <a:endParaRPr lang="en-US" sz="1700" dirty="0"/>
          </a:p>
        </p:txBody>
      </p:sp>
      <p:sp>
        <p:nvSpPr>
          <p:cNvPr id="9" name="txt_251"/>
          <p:cNvSpPr txBox="1"/>
          <p:nvPr/>
        </p:nvSpPr>
        <p:spPr>
          <a:xfrm>
            <a:off x="777240" y="23774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 y combustible en la proporción correcta; sobrealimentación.</a:t>
            </a:r>
            <a:endParaRPr lang="en-US" sz="1500" dirty="0"/>
          </a:p>
        </p:txBody>
      </p:sp>
      <p:sp>
        <p:nvSpPr>
          <p:cNvPr id="10" name="card_252"/>
          <p:cNvSpPr/>
          <p:nvPr/>
        </p:nvSpPr>
        <p:spPr>
          <a:xfrm>
            <a:off x="4338218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1" name="dot_253"/>
          <p:cNvSpPr/>
          <p:nvPr/>
        </p:nvSpPr>
        <p:spPr>
          <a:xfrm>
            <a:off x="4566818" y="16916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2" name="ic_25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34" y="1819656"/>
            <a:ext cx="310896" cy="310896"/>
          </a:xfrm>
          <a:prstGeom prst="rect">
            <a:avLst/>
          </a:prstGeom>
        </p:spPr>
      </p:pic>
      <p:sp>
        <p:nvSpPr>
          <p:cNvPr id="13" name="txt_255"/>
          <p:cNvSpPr txBox="1"/>
          <p:nvPr/>
        </p:nvSpPr>
        <p:spPr>
          <a:xfrm>
            <a:off x="5270906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4.6.2  Encendido</a:t>
            </a:r>
            <a:endParaRPr lang="en-US" sz="1700" dirty="0"/>
          </a:p>
        </p:txBody>
      </p:sp>
      <p:sp>
        <p:nvSpPr>
          <p:cNvPr id="14" name="txt_256"/>
          <p:cNvSpPr txBox="1"/>
          <p:nvPr/>
        </p:nvSpPr>
        <p:spPr>
          <a:xfrm>
            <a:off x="4566818" y="23774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Chispa en la bujía en el momento preciso (motores Otto).</a:t>
            </a:r>
            <a:endParaRPr lang="en-US" sz="1500" dirty="0"/>
          </a:p>
        </p:txBody>
      </p:sp>
      <p:sp>
        <p:nvSpPr>
          <p:cNvPr id="15" name="card_257"/>
          <p:cNvSpPr/>
          <p:nvPr/>
        </p:nvSpPr>
        <p:spPr>
          <a:xfrm>
            <a:off x="8127797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6" name="dot_258"/>
          <p:cNvSpPr/>
          <p:nvPr/>
        </p:nvSpPr>
        <p:spPr>
          <a:xfrm>
            <a:off x="8356397" y="1691640"/>
            <a:ext cx="566928" cy="566928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17" name="ic_25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413" y="1819656"/>
            <a:ext cx="310896" cy="310896"/>
          </a:xfrm>
          <a:prstGeom prst="rect">
            <a:avLst/>
          </a:prstGeom>
        </p:spPr>
      </p:pic>
      <p:sp>
        <p:nvSpPr>
          <p:cNvPr id="18" name="txt_260"/>
          <p:cNvSpPr txBox="1"/>
          <p:nvPr/>
        </p:nvSpPr>
        <p:spPr>
          <a:xfrm>
            <a:off x="9060485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4.6.3  Lubricación</a:t>
            </a:r>
            <a:endParaRPr lang="en-US" sz="1700" dirty="0"/>
          </a:p>
        </p:txBody>
      </p:sp>
      <p:sp>
        <p:nvSpPr>
          <p:cNvPr id="19" name="txt_261"/>
          <p:cNvSpPr txBox="1"/>
          <p:nvPr/>
        </p:nvSpPr>
        <p:spPr>
          <a:xfrm>
            <a:off x="8356397" y="23774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Aceite a presión para reducir fricción y desgaste.</a:t>
            </a:r>
            <a:endParaRPr lang="en-US" sz="1500" dirty="0"/>
          </a:p>
        </p:txBody>
      </p:sp>
      <p:sp>
        <p:nvSpPr>
          <p:cNvPr id="20" name="card_262"/>
          <p:cNvSpPr/>
          <p:nvPr/>
        </p:nvSpPr>
        <p:spPr>
          <a:xfrm>
            <a:off x="548640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1" name="dot_263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2" name="ic_26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34256"/>
            <a:ext cx="310896" cy="310896"/>
          </a:xfrm>
          <a:prstGeom prst="rect">
            <a:avLst/>
          </a:prstGeom>
        </p:spPr>
      </p:pic>
      <p:sp>
        <p:nvSpPr>
          <p:cNvPr id="23" name="txt_265"/>
          <p:cNvSpPr txBox="1"/>
          <p:nvPr/>
        </p:nvSpPr>
        <p:spPr>
          <a:xfrm>
            <a:off x="1481328" y="41788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4.6.4  Refrigeración</a:t>
            </a:r>
            <a:endParaRPr lang="en-US" sz="1700" dirty="0"/>
          </a:p>
        </p:txBody>
      </p:sp>
      <p:sp>
        <p:nvSpPr>
          <p:cNvPr id="24" name="txt_266"/>
          <p:cNvSpPr txBox="1"/>
          <p:nvPr/>
        </p:nvSpPr>
        <p:spPr>
          <a:xfrm>
            <a:off x="777240" y="48920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 temperatura de trabajo (≈ 90 °C).</a:t>
            </a:r>
            <a:endParaRPr lang="en-US" sz="1500" dirty="0"/>
          </a:p>
        </p:txBody>
      </p:sp>
      <p:sp>
        <p:nvSpPr>
          <p:cNvPr id="25" name="card_267"/>
          <p:cNvSpPr/>
          <p:nvPr/>
        </p:nvSpPr>
        <p:spPr>
          <a:xfrm>
            <a:off x="4338218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6" name="dot_268"/>
          <p:cNvSpPr/>
          <p:nvPr/>
        </p:nvSpPr>
        <p:spPr>
          <a:xfrm>
            <a:off x="4566818" y="42062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7" name="ic_26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834" y="4334256"/>
            <a:ext cx="310896" cy="310896"/>
          </a:xfrm>
          <a:prstGeom prst="rect">
            <a:avLst/>
          </a:prstGeom>
        </p:spPr>
      </p:pic>
      <p:sp>
        <p:nvSpPr>
          <p:cNvPr id="28" name="txt_270"/>
          <p:cNvSpPr txBox="1"/>
          <p:nvPr/>
        </p:nvSpPr>
        <p:spPr>
          <a:xfrm>
            <a:off x="5270906" y="41788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4.6.5  Admisión y escape</a:t>
            </a:r>
            <a:endParaRPr lang="en-US" sz="1700" dirty="0"/>
          </a:p>
        </p:txBody>
      </p:sp>
      <p:sp>
        <p:nvSpPr>
          <p:cNvPr id="29" name="txt_271"/>
          <p:cNvSpPr txBox="1"/>
          <p:nvPr/>
        </p:nvSpPr>
        <p:spPr>
          <a:xfrm>
            <a:off x="4566818" y="48920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Conduce el aire al cilindro y los gases al exterior.</a:t>
            </a:r>
            <a:endParaRPr lang="en-US" sz="1500" dirty="0"/>
          </a:p>
        </p:txBody>
      </p:sp>
      <p:sp>
        <p:nvSpPr>
          <p:cNvPr id="30" name="card_272"/>
          <p:cNvSpPr/>
          <p:nvPr/>
        </p:nvSpPr>
        <p:spPr>
          <a:xfrm>
            <a:off x="8127797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31" name="dot_273"/>
          <p:cNvSpPr/>
          <p:nvPr/>
        </p:nvSpPr>
        <p:spPr>
          <a:xfrm>
            <a:off x="8356397" y="4206240"/>
            <a:ext cx="566928" cy="566928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32" name="ic_27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4413" y="4334256"/>
            <a:ext cx="310896" cy="310896"/>
          </a:xfrm>
          <a:prstGeom prst="rect">
            <a:avLst/>
          </a:prstGeom>
        </p:spPr>
      </p:pic>
      <p:sp>
        <p:nvSpPr>
          <p:cNvPr id="33" name="txt_275"/>
          <p:cNvSpPr txBox="1"/>
          <p:nvPr/>
        </p:nvSpPr>
        <p:spPr>
          <a:xfrm>
            <a:off x="9060485" y="41788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4.6.6  Distribución</a:t>
            </a:r>
            <a:endParaRPr lang="en-US" sz="1700" dirty="0"/>
          </a:p>
        </p:txBody>
      </p:sp>
      <p:sp>
        <p:nvSpPr>
          <p:cNvPr id="34" name="txt_276"/>
          <p:cNvSpPr txBox="1"/>
          <p:nvPr/>
        </p:nvSpPr>
        <p:spPr>
          <a:xfrm>
            <a:off x="8356397" y="48920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y cierra las válvulas sincronizadas con el cigüeñal.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alimentación</a:t>
            </a:r>
            <a:endParaRPr lang="en-US" sz="3000" dirty="0"/>
          </a:p>
        </p:txBody>
      </p:sp>
      <p:sp>
        <p:nvSpPr>
          <p:cNvPr id="3" name="kicker_27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 ·  MAPA DE SISTEMAS DEL MOTOR</a:t>
            </a:r>
            <a:endParaRPr lang="en-US" sz="1100" dirty="0"/>
          </a:p>
        </p:txBody>
      </p:sp>
      <p:sp>
        <p:nvSpPr>
          <p:cNvPr id="5" name="txt_278"/>
          <p:cNvSpPr txBox="1"/>
          <p:nvPr/>
        </p:nvSpPr>
        <p:spPr>
          <a:xfrm>
            <a:off x="548640" y="1463040"/>
            <a:ext cx="512064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de aire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filtro, caudalímetro o sensor MAP, cuerpo de aceleración y colector de admisión.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de combustible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depósito, bomba, filtro, regulador de presión, riel e inyectores.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 calcula el tiempo de inyección para la relación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estequiométrica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(14,7 : 1 en gasolina).</a:t>
            </a:r>
            <a:endParaRPr lang="en-US" sz="1600" dirty="0"/>
          </a:p>
        </p:txBody>
      </p:sp>
      <p:sp>
        <p:nvSpPr>
          <p:cNvPr id="6" name="fig_279"/>
          <p:cNvSpPr/>
          <p:nvPr/>
        </p:nvSpPr>
        <p:spPr>
          <a:xfrm>
            <a:off x="5943600" y="1463040"/>
            <a:ext cx="569945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280" descr="/home/claude/img/u34_u4sist_3_0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9963" y="1572768"/>
            <a:ext cx="5446730" cy="4151376"/>
          </a:xfrm>
          <a:prstGeom prst="rect">
            <a:avLst/>
          </a:prstGeom>
        </p:spPr>
      </p:pic>
      <p:sp>
        <p:nvSpPr>
          <p:cNvPr id="8" name="cap_281"/>
          <p:cNvSpPr txBox="1"/>
          <p:nvPr/>
        </p:nvSpPr>
        <p:spPr>
          <a:xfrm>
            <a:off x="6035040" y="5779008"/>
            <a:ext cx="55165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de aire y combustible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Sobrealimentación</a:t>
            </a:r>
            <a:endParaRPr lang="en-US" sz="3000" dirty="0"/>
          </a:p>
        </p:txBody>
      </p:sp>
      <p:sp>
        <p:nvSpPr>
          <p:cNvPr id="3" name="kicker_28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 ·  MAPA DE SISTEMAS DEL MOTOR</a:t>
            </a:r>
            <a:endParaRPr lang="en-US" sz="1100" dirty="0"/>
          </a:p>
        </p:txBody>
      </p:sp>
      <p:sp>
        <p:nvSpPr>
          <p:cNvPr id="5" name="card_283"/>
          <p:cNvSpPr/>
          <p:nvPr/>
        </p:nvSpPr>
        <p:spPr>
          <a:xfrm>
            <a:off x="548640" y="1463040"/>
            <a:ext cx="6035040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6" name="dot_284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c_28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819656"/>
            <a:ext cx="310896" cy="310896"/>
          </a:xfrm>
          <a:prstGeom prst="rect">
            <a:avLst/>
          </a:prstGeom>
        </p:spPr>
      </p:pic>
      <p:sp>
        <p:nvSpPr>
          <p:cNvPr id="8" name="txt_286"/>
          <p:cNvSpPr txBox="1"/>
          <p:nvPr/>
        </p:nvSpPr>
        <p:spPr>
          <a:xfrm>
            <a:off x="1481328" y="1664208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Turbocompresor</a:t>
            </a:r>
            <a:endParaRPr lang="en-US" sz="1700" dirty="0"/>
          </a:p>
        </p:txBody>
      </p:sp>
      <p:sp>
        <p:nvSpPr>
          <p:cNvPr id="9" name="txt_287"/>
          <p:cNvSpPr txBox="1"/>
          <p:nvPr/>
        </p:nvSpPr>
        <p:spPr>
          <a:xfrm>
            <a:off x="777240" y="2377440"/>
            <a:ext cx="5623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turbina, movida por los gases de escape, acciona el compresor.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 de descarga (wastegate) limita la presión.</a:t>
            </a:r>
            <a:endParaRPr lang="en-US" sz="1400" dirty="0"/>
          </a:p>
        </p:txBody>
      </p:sp>
      <p:sp>
        <p:nvSpPr>
          <p:cNvPr id="10" name="card_288"/>
          <p:cNvSpPr/>
          <p:nvPr/>
        </p:nvSpPr>
        <p:spPr>
          <a:xfrm>
            <a:off x="548640" y="3108960"/>
            <a:ext cx="6035040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11" name="dot_289"/>
          <p:cNvSpPr/>
          <p:nvPr/>
        </p:nvSpPr>
        <p:spPr>
          <a:xfrm>
            <a:off x="777240" y="333756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2" name="ic_29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465576"/>
            <a:ext cx="310896" cy="310896"/>
          </a:xfrm>
          <a:prstGeom prst="rect">
            <a:avLst/>
          </a:prstGeom>
        </p:spPr>
      </p:pic>
      <p:sp>
        <p:nvSpPr>
          <p:cNvPr id="13" name="txt_291"/>
          <p:cNvSpPr txBox="1"/>
          <p:nvPr/>
        </p:nvSpPr>
        <p:spPr>
          <a:xfrm>
            <a:off x="1481328" y="3310128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Compresor volumétrico</a:t>
            </a:r>
            <a:endParaRPr lang="en-US" sz="1700" dirty="0"/>
          </a:p>
        </p:txBody>
      </p:sp>
      <p:sp>
        <p:nvSpPr>
          <p:cNvPr id="14" name="txt_292"/>
          <p:cNvSpPr txBox="1"/>
          <p:nvPr/>
        </p:nvSpPr>
        <p:spPr>
          <a:xfrm>
            <a:off x="777240" y="4023360"/>
            <a:ext cx="5623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Accionado por el cigüeñal (Roots, tornillo).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inmediata; consume potencia.</a:t>
            </a:r>
            <a:endParaRPr lang="en-US" sz="1400" dirty="0"/>
          </a:p>
        </p:txBody>
      </p:sp>
      <p:sp>
        <p:nvSpPr>
          <p:cNvPr id="15" name="card_293"/>
          <p:cNvSpPr/>
          <p:nvPr/>
        </p:nvSpPr>
        <p:spPr>
          <a:xfrm>
            <a:off x="548640" y="4754880"/>
            <a:ext cx="6035040" cy="1463040"/>
          </a:xfrm>
          <a:prstGeom prst="roundRect">
            <a:avLst>
              <a:gd name="adj" fmla="val 6250"/>
            </a:avLst>
          </a:prstGeom>
          <a:solidFill>
            <a:srgbClr val="F2F5F8"/>
          </a:solidFill>
          <a:ln/>
        </p:spPr>
      </p:sp>
      <p:sp>
        <p:nvSpPr>
          <p:cNvPr id="16" name="dot_294"/>
          <p:cNvSpPr/>
          <p:nvPr/>
        </p:nvSpPr>
        <p:spPr>
          <a:xfrm>
            <a:off x="777240" y="4983480"/>
            <a:ext cx="566928" cy="566928"/>
          </a:xfrm>
          <a:prstGeom prst="ellipse">
            <a:avLst/>
          </a:prstGeom>
          <a:solidFill>
            <a:srgbClr val="22345A"/>
          </a:solidFill>
          <a:ln/>
        </p:spPr>
      </p:sp>
      <p:pic>
        <p:nvPicPr>
          <p:cNvPr id="17" name="ic_29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5111496"/>
            <a:ext cx="310896" cy="310896"/>
          </a:xfrm>
          <a:prstGeom prst="rect">
            <a:avLst/>
          </a:prstGeom>
        </p:spPr>
      </p:pic>
      <p:sp>
        <p:nvSpPr>
          <p:cNvPr id="18" name="txt_296"/>
          <p:cNvSpPr txBox="1"/>
          <p:nvPr/>
        </p:nvSpPr>
        <p:spPr>
          <a:xfrm>
            <a:off x="1481328" y="4956048"/>
            <a:ext cx="49377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Intercooler</a:t>
            </a:r>
            <a:endParaRPr lang="en-US" sz="1700" dirty="0"/>
          </a:p>
        </p:txBody>
      </p:sp>
      <p:sp>
        <p:nvSpPr>
          <p:cNvPr id="19" name="txt_297"/>
          <p:cNvSpPr txBox="1"/>
          <p:nvPr/>
        </p:nvSpPr>
        <p:spPr>
          <a:xfrm>
            <a:off x="777240" y="5669280"/>
            <a:ext cx="5623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Enfría el aire comprimido: más denso, más masa por ciclo.</a:t>
            </a:r>
            <a:endParaRPr lang="en-US" sz="1400" dirty="0"/>
          </a:p>
          <a:p>
            <a:pPr algn="l"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detonación.</a:t>
            </a:r>
            <a:endParaRPr lang="en-US" sz="1400" dirty="0"/>
          </a:p>
        </p:txBody>
      </p:sp>
      <p:sp>
        <p:nvSpPr>
          <p:cNvPr id="20" name="fig_298"/>
          <p:cNvSpPr/>
          <p:nvPr/>
        </p:nvSpPr>
        <p:spPr>
          <a:xfrm>
            <a:off x="6858000" y="1463040"/>
            <a:ext cx="478505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1" name="img_299" descr="/home/claude/img/u34_advantage_10_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2019773"/>
            <a:ext cx="4565599" cy="3257367"/>
          </a:xfrm>
          <a:prstGeom prst="rect">
            <a:avLst/>
          </a:prstGeom>
        </p:spPr>
      </p:pic>
      <p:sp>
        <p:nvSpPr>
          <p:cNvPr id="22" name="cap_300"/>
          <p:cNvSpPr txBox="1"/>
          <p:nvPr/>
        </p:nvSpPr>
        <p:spPr>
          <a:xfrm>
            <a:off x="6949440" y="5779008"/>
            <a:ext cx="4602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Turbocompresor: turbina (gases de escape) y compresor (aire)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encendido</a:t>
            </a:r>
            <a:endParaRPr lang="en-US" sz="3000" dirty="0"/>
          </a:p>
        </p:txBody>
      </p:sp>
      <p:sp>
        <p:nvSpPr>
          <p:cNvPr id="3" name="kicker_301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 ·  MAPA DE SISTEMAS DEL MOTOR</a:t>
            </a:r>
            <a:endParaRPr lang="en-US" sz="1100" dirty="0"/>
          </a:p>
        </p:txBody>
      </p:sp>
      <p:sp>
        <p:nvSpPr>
          <p:cNvPr id="5" name="txt_302"/>
          <p:cNvSpPr txBox="1"/>
          <p:nvPr/>
        </p:nvSpPr>
        <p:spPr>
          <a:xfrm>
            <a:off x="548640" y="1463040"/>
            <a:ext cx="548640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la alta tensión (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20 000 a 40 000 V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que produce la chispa en la bujía.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Evolución: platinos y distribuidor → electrónico →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(sin distribuidor) → bobina individual por cilindro (COP).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ECU ajusta el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según régimen, carga y sensor de detonación.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motores diésel no usan encendido: tienen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bujías de precalentamiento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el arranque en frío.</a:t>
            </a:r>
            <a:endParaRPr lang="en-US" sz="1600" dirty="0"/>
          </a:p>
        </p:txBody>
      </p:sp>
      <p:sp>
        <p:nvSpPr>
          <p:cNvPr id="6" name="fig_303"/>
          <p:cNvSpPr/>
          <p:nvPr/>
        </p:nvSpPr>
        <p:spPr>
          <a:xfrm>
            <a:off x="6309360" y="1463040"/>
            <a:ext cx="5333695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304" descr="/home/claude/img/u34_u4sist_235_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2221037"/>
            <a:ext cx="5114239" cy="2854838"/>
          </a:xfrm>
          <a:prstGeom prst="rect">
            <a:avLst/>
          </a:prstGeom>
        </p:spPr>
      </p:pic>
      <p:sp>
        <p:nvSpPr>
          <p:cNvPr id="8" name="cap_305"/>
          <p:cNvSpPr txBox="1"/>
          <p:nvPr/>
        </p:nvSpPr>
        <p:spPr>
          <a:xfrm>
            <a:off x="6400800" y="5779008"/>
            <a:ext cx="51508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Encendido DIS en el vano motor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lubricación</a:t>
            </a:r>
            <a:endParaRPr lang="en-US" sz="3000" dirty="0"/>
          </a:p>
        </p:txBody>
      </p:sp>
      <p:sp>
        <p:nvSpPr>
          <p:cNvPr id="3" name="kicker_306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 ·  MAPA DE SISTEMAS DEL MOTOR</a:t>
            </a:r>
            <a:endParaRPr lang="en-US" sz="1100" dirty="0"/>
          </a:p>
        </p:txBody>
      </p:sp>
      <p:sp>
        <p:nvSpPr>
          <p:cNvPr id="5" name="txt_307"/>
          <p:cNvSpPr txBox="1"/>
          <p:nvPr/>
        </p:nvSpPr>
        <p:spPr>
          <a:xfrm>
            <a:off x="548640" y="1463040"/>
            <a:ext cx="457200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reducir la fricción, refrigerar, limpiar, sellar y proteger de la corrosión.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cárter → chupador → bomba → filtro → galería principal → bancadas, bielas, árbol de levas.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válvula de alivio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limita la presión; el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manocontacto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enciende el testigo si la presión es baja.</a:t>
            </a:r>
            <a:endParaRPr lang="en-US" sz="1600" dirty="0"/>
          </a:p>
        </p:txBody>
      </p:sp>
      <p:sp>
        <p:nvSpPr>
          <p:cNvPr id="6" name="fig_308"/>
          <p:cNvSpPr/>
          <p:nvPr/>
        </p:nvSpPr>
        <p:spPr>
          <a:xfrm>
            <a:off x="5394960" y="1463040"/>
            <a:ext cx="3566160" cy="4754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309" descr="/home/claude/img/u34_u4sist_305_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2392131"/>
            <a:ext cx="3346704" cy="2512651"/>
          </a:xfrm>
          <a:prstGeom prst="rect">
            <a:avLst/>
          </a:prstGeom>
        </p:spPr>
      </p:pic>
      <p:sp>
        <p:nvSpPr>
          <p:cNvPr id="8" name="cap_310"/>
          <p:cNvSpPr txBox="1"/>
          <p:nvPr/>
        </p:nvSpPr>
        <p:spPr>
          <a:xfrm>
            <a:off x="5486400" y="57790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de lubricación</a:t>
            </a:r>
            <a:endParaRPr lang="en-US" sz="1100" dirty="0"/>
          </a:p>
        </p:txBody>
      </p:sp>
      <p:sp>
        <p:nvSpPr>
          <p:cNvPr id="9" name="fig_311"/>
          <p:cNvSpPr/>
          <p:nvPr/>
        </p:nvSpPr>
        <p:spPr>
          <a:xfrm>
            <a:off x="9144000" y="1463040"/>
            <a:ext cx="2499055" cy="47548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312" descr="/home/claude/img/u34_u4sist_321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8" y="1915653"/>
            <a:ext cx="2279599" cy="3465607"/>
          </a:xfrm>
          <a:prstGeom prst="rect">
            <a:avLst/>
          </a:prstGeom>
        </p:spPr>
      </p:pic>
      <p:sp>
        <p:nvSpPr>
          <p:cNvPr id="11" name="cap_313"/>
          <p:cNvSpPr txBox="1"/>
          <p:nvPr/>
        </p:nvSpPr>
        <p:spPr>
          <a:xfrm>
            <a:off x="9235440" y="5779008"/>
            <a:ext cx="23161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aceite (corte)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refrigeración</a:t>
            </a:r>
            <a:endParaRPr lang="en-US" sz="3000" dirty="0"/>
          </a:p>
        </p:txBody>
      </p:sp>
      <p:sp>
        <p:nvSpPr>
          <p:cNvPr id="3" name="kicker_314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 ·  MAPA DE SISTEMAS DEL MOTOR</a:t>
            </a:r>
            <a:endParaRPr lang="en-US" sz="1100" dirty="0"/>
          </a:p>
        </p:txBody>
      </p:sp>
      <p:sp>
        <p:nvSpPr>
          <p:cNvPr id="5" name="txt_315"/>
          <p:cNvSpPr txBox="1"/>
          <p:nvPr/>
        </p:nvSpPr>
        <p:spPr>
          <a:xfrm>
            <a:off x="548640" y="1463040"/>
            <a:ext cx="457200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Evacúa cerca de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tercio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energía del combustible para evitar el sobrecalentamiento.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bomba de agua, termostato, radiador, electroventilador, vaso de expansión y sensor de temperatura.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termostato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permanece cerrado en frío (calentamiento rápido) y abre a ≈ 85–90 °C.</a:t>
            </a:r>
            <a:endParaRPr lang="en-US" sz="1600" dirty="0"/>
          </a:p>
        </p:txBody>
      </p:sp>
      <p:sp>
        <p:nvSpPr>
          <p:cNvPr id="6" name="fig_316"/>
          <p:cNvSpPr/>
          <p:nvPr/>
        </p:nvSpPr>
        <p:spPr>
          <a:xfrm>
            <a:off x="5394960" y="1463040"/>
            <a:ext cx="3840480" cy="47548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317" descr="/home/claude/img/u34_u4sist_364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4688" y="2438667"/>
            <a:ext cx="3621024" cy="2419578"/>
          </a:xfrm>
          <a:prstGeom prst="rect">
            <a:avLst/>
          </a:prstGeom>
        </p:spPr>
      </p:pic>
      <p:sp>
        <p:nvSpPr>
          <p:cNvPr id="8" name="cap_318"/>
          <p:cNvSpPr txBox="1"/>
          <p:nvPr/>
        </p:nvSpPr>
        <p:spPr>
          <a:xfrm>
            <a:off x="5486400" y="57790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del circuito</a:t>
            </a:r>
            <a:endParaRPr lang="en-US" sz="1100" dirty="0"/>
          </a:p>
        </p:txBody>
      </p:sp>
      <p:sp>
        <p:nvSpPr>
          <p:cNvPr id="9" name="fig_319"/>
          <p:cNvSpPr/>
          <p:nvPr/>
        </p:nvSpPr>
        <p:spPr>
          <a:xfrm>
            <a:off x="9418320" y="1463040"/>
            <a:ext cx="2224735" cy="47548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320" descr="/home/claude/img/u34_u4sist_373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2981245"/>
            <a:ext cx="2005279" cy="1334422"/>
          </a:xfrm>
          <a:prstGeom prst="rect">
            <a:avLst/>
          </a:prstGeom>
        </p:spPr>
      </p:pic>
      <p:sp>
        <p:nvSpPr>
          <p:cNvPr id="11" name="cap_321"/>
          <p:cNvSpPr txBox="1"/>
          <p:nvPr/>
        </p:nvSpPr>
        <p:spPr>
          <a:xfrm>
            <a:off x="9509760" y="5779008"/>
            <a:ext cx="2041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Termostato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Admisión, escape y distribución</a:t>
            </a:r>
            <a:endParaRPr lang="en-US" sz="3000" dirty="0"/>
          </a:p>
        </p:txBody>
      </p:sp>
      <p:sp>
        <p:nvSpPr>
          <p:cNvPr id="3" name="kicker_322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 ·  MAPA DE SISTEMAS DEL MOTOR</a:t>
            </a:r>
            <a:endParaRPr lang="en-US" sz="1100" dirty="0"/>
          </a:p>
        </p:txBody>
      </p:sp>
      <p:sp>
        <p:nvSpPr>
          <p:cNvPr id="5" name="txt_323"/>
          <p:cNvSpPr txBox="1"/>
          <p:nvPr/>
        </p:nvSpPr>
        <p:spPr>
          <a:xfrm>
            <a:off x="548640" y="1463040"/>
            <a:ext cx="43891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Admisión y escape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colectores, catalizador, silenciador y sonda lambda.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cigüeñal mueve el árbol de levas (relación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: 1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por correa, cadena o engranajes.</a:t>
            </a:r>
            <a:endParaRPr lang="en-US" sz="1500" dirty="0"/>
          </a:p>
          <a:p>
            <a:pPr algn="l"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OHV</a:t>
            </a:r>
            <a:pPr algn="l"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levas en el bloque, varillas y balancines.</a:t>
            </a:r>
            <a:endParaRPr lang="en-US" sz="1500" dirty="0"/>
          </a:p>
          <a:p>
            <a:pPr algn="l"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SOHC / DOHC</a:t>
            </a:r>
            <a:pPr algn="l" lvl="1" marL="4064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uno o dos árboles de levas en la culata.</a:t>
            </a:r>
            <a:endParaRPr lang="en-US" sz="1500" dirty="0"/>
          </a:p>
          <a:p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de sincronización</a:t>
            </a:r>
            <a:pPr algn="l"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manual deben coincidir al montar la correa o la cadena.</a:t>
            </a:r>
            <a:endParaRPr lang="en-US" sz="1500" dirty="0"/>
          </a:p>
        </p:txBody>
      </p:sp>
      <p:sp>
        <p:nvSpPr>
          <p:cNvPr id="6" name="fig_324"/>
          <p:cNvSpPr/>
          <p:nvPr/>
        </p:nvSpPr>
        <p:spPr>
          <a:xfrm>
            <a:off x="5212080" y="1463040"/>
            <a:ext cx="3291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g_325" descr="/home/claude/img/u34_u4sist_7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9408" y="1572768"/>
            <a:ext cx="2777183" cy="1773936"/>
          </a:xfrm>
          <a:prstGeom prst="rect">
            <a:avLst/>
          </a:prstGeom>
        </p:spPr>
      </p:pic>
      <p:sp>
        <p:nvSpPr>
          <p:cNvPr id="8" name="cap_326"/>
          <p:cNvSpPr txBox="1"/>
          <p:nvPr/>
        </p:nvSpPr>
        <p:spPr>
          <a:xfrm>
            <a:off x="5303520" y="34015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OHV</a:t>
            </a:r>
            <a:endParaRPr lang="en-US" sz="1100" dirty="0"/>
          </a:p>
        </p:txBody>
      </p:sp>
      <p:sp>
        <p:nvSpPr>
          <p:cNvPr id="9" name="fig_327"/>
          <p:cNvSpPr/>
          <p:nvPr/>
        </p:nvSpPr>
        <p:spPr>
          <a:xfrm>
            <a:off x="5212080" y="4069080"/>
            <a:ext cx="32918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img_328" descr="/home/claude/img/u34_advantage_27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2933" y="4178808"/>
            <a:ext cx="1110134" cy="1545336"/>
          </a:xfrm>
          <a:prstGeom prst="rect">
            <a:avLst/>
          </a:prstGeom>
        </p:spPr>
      </p:pic>
      <p:sp>
        <p:nvSpPr>
          <p:cNvPr id="11" name="cap_329"/>
          <p:cNvSpPr txBox="1"/>
          <p:nvPr/>
        </p:nvSpPr>
        <p:spPr>
          <a:xfrm>
            <a:off x="5303520" y="57790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Accionamiento de una válvula</a:t>
            </a:r>
            <a:endParaRPr lang="en-US" sz="1100" dirty="0"/>
          </a:p>
        </p:txBody>
      </p:sp>
      <p:sp>
        <p:nvSpPr>
          <p:cNvPr id="12" name="fig_330"/>
          <p:cNvSpPr/>
          <p:nvPr/>
        </p:nvSpPr>
        <p:spPr>
          <a:xfrm>
            <a:off x="8686800" y="1463040"/>
            <a:ext cx="2956255" cy="475488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9525">
            <a:solidFill>
              <a:srgbClr val="D5DC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mg_331" descr="/home/claude/img/u34_u4sist_73_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2147175"/>
            <a:ext cx="2736799" cy="3002563"/>
          </a:xfrm>
          <a:prstGeom prst="rect">
            <a:avLst/>
          </a:prstGeom>
        </p:spPr>
      </p:pic>
      <p:sp>
        <p:nvSpPr>
          <p:cNvPr id="14" name="cap_332"/>
          <p:cNvSpPr txBox="1"/>
          <p:nvPr/>
        </p:nvSpPr>
        <p:spPr>
          <a:xfrm>
            <a:off x="8778240" y="5779008"/>
            <a:ext cx="27733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SOHC por correa dentada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Práctica #4: revisión del funcionamiento del MCIA</a:t>
            </a:r>
            <a:endParaRPr lang="en-US" sz="3000" dirty="0"/>
          </a:p>
        </p:txBody>
      </p:sp>
      <p:sp>
        <p:nvSpPr>
          <p:cNvPr id="3" name="kicker_333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 ·  MAPA DE SISTEMAS DEL MOTOR</a:t>
            </a:r>
            <a:endParaRPr lang="en-US" sz="1100" dirty="0"/>
          </a:p>
        </p:txBody>
      </p:sp>
      <p:sp>
        <p:nvSpPr>
          <p:cNvPr id="5" name="card_334"/>
          <p:cNvSpPr/>
          <p:nvPr/>
        </p:nvSpPr>
        <p:spPr>
          <a:xfrm>
            <a:off x="548640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6" name="dot_335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xt_336"/>
          <p:cNvSpPr txBox="1"/>
          <p:nvPr/>
        </p:nvSpPr>
        <p:spPr>
          <a:xfrm>
            <a:off x="7772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xt_337"/>
          <p:cNvSpPr txBox="1"/>
          <p:nvPr/>
        </p:nvSpPr>
        <p:spPr>
          <a:xfrm>
            <a:off x="1481328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Consulte el manual</a:t>
            </a:r>
            <a:endParaRPr lang="en-US" sz="1700" dirty="0"/>
          </a:p>
        </p:txBody>
      </p:sp>
      <p:sp>
        <p:nvSpPr>
          <p:cNvPr id="9" name="txt_338"/>
          <p:cNvSpPr txBox="1"/>
          <p:nvPr/>
        </p:nvSpPr>
        <p:spPr>
          <a:xfrm>
            <a:off x="777240" y="23774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Autodata o manual del fabricante: D, L, R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par de apriete, espesor de junta y orden de encendido.</a:t>
            </a:r>
            <a:endParaRPr lang="en-US" sz="1500" dirty="0"/>
          </a:p>
        </p:txBody>
      </p:sp>
      <p:sp>
        <p:nvSpPr>
          <p:cNvPr id="10" name="card_339"/>
          <p:cNvSpPr/>
          <p:nvPr/>
        </p:nvSpPr>
        <p:spPr>
          <a:xfrm>
            <a:off x="4338218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1" name="dot_340"/>
          <p:cNvSpPr/>
          <p:nvPr/>
        </p:nvSpPr>
        <p:spPr>
          <a:xfrm>
            <a:off x="4566818" y="16916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2" name="txt_341"/>
          <p:cNvSpPr txBox="1"/>
          <p:nvPr/>
        </p:nvSpPr>
        <p:spPr>
          <a:xfrm>
            <a:off x="4566818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xt_342"/>
          <p:cNvSpPr txBox="1"/>
          <p:nvPr/>
        </p:nvSpPr>
        <p:spPr>
          <a:xfrm>
            <a:off x="5270906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Mida</a:t>
            </a:r>
            <a:endParaRPr lang="en-US" sz="1700" dirty="0"/>
          </a:p>
        </p:txBody>
      </p:sp>
      <p:sp>
        <p:nvSpPr>
          <p:cNvPr id="14" name="txt_343"/>
          <p:cNvSpPr txBox="1"/>
          <p:nvPr/>
        </p:nvSpPr>
        <p:spPr>
          <a:xfrm>
            <a:off x="4566818" y="23774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Diámetro (alexómetro), carrera (PMS–PMI con reloj comparador) y volumen de cámara (bureta).</a:t>
            </a:r>
            <a:endParaRPr lang="en-US" sz="1500" dirty="0"/>
          </a:p>
        </p:txBody>
      </p:sp>
      <p:sp>
        <p:nvSpPr>
          <p:cNvPr id="15" name="card_344"/>
          <p:cNvSpPr/>
          <p:nvPr/>
        </p:nvSpPr>
        <p:spPr>
          <a:xfrm>
            <a:off x="8127797" y="14630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16" name="dot_345"/>
          <p:cNvSpPr/>
          <p:nvPr/>
        </p:nvSpPr>
        <p:spPr>
          <a:xfrm>
            <a:off x="8356397" y="1691640"/>
            <a:ext cx="566928" cy="566928"/>
          </a:xfrm>
          <a:prstGeom prst="ellipse">
            <a:avLst/>
          </a:prstGeom>
          <a:solidFill>
            <a:srgbClr val="22345A"/>
          </a:solidFill>
          <a:ln/>
        </p:spPr>
      </p:sp>
      <p:sp>
        <p:nvSpPr>
          <p:cNvPr id="17" name="txt_346"/>
          <p:cNvSpPr txBox="1"/>
          <p:nvPr/>
        </p:nvSpPr>
        <p:spPr>
          <a:xfrm>
            <a:off x="8356397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xt_347"/>
          <p:cNvSpPr txBox="1"/>
          <p:nvPr/>
        </p:nvSpPr>
        <p:spPr>
          <a:xfrm>
            <a:off x="9060485" y="16642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Calcule</a:t>
            </a:r>
            <a:endParaRPr lang="en-US" sz="1700" dirty="0"/>
          </a:p>
        </p:txBody>
      </p:sp>
      <p:sp>
        <p:nvSpPr>
          <p:cNvPr id="19" name="txt_348"/>
          <p:cNvSpPr txBox="1"/>
          <p:nvPr/>
        </p:nvSpPr>
        <p:spPr>
          <a:xfrm>
            <a:off x="8356397" y="23774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</a:t>
            </a:r>
            <a:pPr algn="l" indent="0" marL="0">
              <a:spcAft>
                <a:spcPts val="400"/>
              </a:spcAft>
              <a:buNone/>
            </a:pPr>
            <a:r>
              <a:rPr lang="en-US" sz="15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α; compare con el manual.</a:t>
            </a:r>
            <a:endParaRPr lang="en-US" sz="1500" dirty="0"/>
          </a:p>
        </p:txBody>
      </p:sp>
      <p:sp>
        <p:nvSpPr>
          <p:cNvPr id="20" name="card_349"/>
          <p:cNvSpPr/>
          <p:nvPr/>
        </p:nvSpPr>
        <p:spPr>
          <a:xfrm>
            <a:off x="548640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1" name="dot_350"/>
          <p:cNvSpPr/>
          <p:nvPr/>
        </p:nvSpPr>
        <p:spPr>
          <a:xfrm>
            <a:off x="777240" y="420624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2" name="txt_351"/>
          <p:cNvSpPr txBox="1"/>
          <p:nvPr/>
        </p:nvSpPr>
        <p:spPr>
          <a:xfrm>
            <a:off x="77724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xt_352"/>
          <p:cNvSpPr txBox="1"/>
          <p:nvPr/>
        </p:nvSpPr>
        <p:spPr>
          <a:xfrm>
            <a:off x="1481328" y="41788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Verifique</a:t>
            </a:r>
            <a:endParaRPr lang="en-US" sz="1700" dirty="0"/>
          </a:p>
        </p:txBody>
      </p:sp>
      <p:sp>
        <p:nvSpPr>
          <p:cNvPr id="24" name="txt_353"/>
          <p:cNvSpPr txBox="1"/>
          <p:nvPr/>
        </p:nvSpPr>
        <p:spPr>
          <a:xfrm>
            <a:off x="777240" y="48920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compresión por cilindro y orden de encendido 1-3-4-2.</a:t>
            </a:r>
            <a:endParaRPr lang="en-US" sz="1500" dirty="0"/>
          </a:p>
        </p:txBody>
      </p:sp>
      <p:sp>
        <p:nvSpPr>
          <p:cNvPr id="25" name="card_354"/>
          <p:cNvSpPr/>
          <p:nvPr/>
        </p:nvSpPr>
        <p:spPr>
          <a:xfrm>
            <a:off x="4338218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26" name="dot_355"/>
          <p:cNvSpPr/>
          <p:nvPr/>
        </p:nvSpPr>
        <p:spPr>
          <a:xfrm>
            <a:off x="4566818" y="4206240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7" name="txt_356"/>
          <p:cNvSpPr txBox="1"/>
          <p:nvPr/>
        </p:nvSpPr>
        <p:spPr>
          <a:xfrm>
            <a:off x="4566818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xt_357"/>
          <p:cNvSpPr txBox="1"/>
          <p:nvPr/>
        </p:nvSpPr>
        <p:spPr>
          <a:xfrm>
            <a:off x="5270906" y="41788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Identifique</a:t>
            </a:r>
            <a:endParaRPr lang="en-US" sz="1700" dirty="0"/>
          </a:p>
        </p:txBody>
      </p:sp>
      <p:sp>
        <p:nvSpPr>
          <p:cNvPr id="29" name="txt_358"/>
          <p:cNvSpPr txBox="1"/>
          <p:nvPr/>
        </p:nvSpPr>
        <p:spPr>
          <a:xfrm>
            <a:off x="4566818" y="48920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4.6.1 a 4.6.6 en la maqueta y su función.</a:t>
            </a:r>
            <a:endParaRPr lang="en-US" sz="1500" dirty="0"/>
          </a:p>
        </p:txBody>
      </p:sp>
      <p:sp>
        <p:nvSpPr>
          <p:cNvPr id="30" name="card_359"/>
          <p:cNvSpPr/>
          <p:nvPr/>
        </p:nvSpPr>
        <p:spPr>
          <a:xfrm>
            <a:off x="8127797" y="3977640"/>
            <a:ext cx="3515258" cy="2240280"/>
          </a:xfrm>
          <a:prstGeom prst="roundRect">
            <a:avLst>
              <a:gd name="adj" fmla="val 4082"/>
            </a:avLst>
          </a:prstGeom>
          <a:solidFill>
            <a:srgbClr val="F2F5F8"/>
          </a:solidFill>
          <a:ln/>
        </p:spPr>
      </p:sp>
      <p:sp>
        <p:nvSpPr>
          <p:cNvPr id="31" name="dot_360"/>
          <p:cNvSpPr/>
          <p:nvPr/>
        </p:nvSpPr>
        <p:spPr>
          <a:xfrm>
            <a:off x="8356397" y="4206240"/>
            <a:ext cx="566928" cy="566928"/>
          </a:xfrm>
          <a:prstGeom prst="ellipse">
            <a:avLst/>
          </a:prstGeom>
          <a:solidFill>
            <a:srgbClr val="22345A"/>
          </a:solidFill>
          <a:ln/>
        </p:spPr>
      </p:sp>
      <p:sp>
        <p:nvSpPr>
          <p:cNvPr id="32" name="txt_361"/>
          <p:cNvSpPr txBox="1"/>
          <p:nvPr/>
        </p:nvSpPr>
        <p:spPr>
          <a:xfrm>
            <a:off x="8356397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xt_362"/>
          <p:cNvSpPr txBox="1"/>
          <p:nvPr/>
        </p:nvSpPr>
        <p:spPr>
          <a:xfrm>
            <a:off x="9060485" y="4178808"/>
            <a:ext cx="2417978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</a:t>
            </a:r>
            <a:endParaRPr lang="en-US" sz="1700" dirty="0"/>
          </a:p>
        </p:txBody>
      </p:sp>
      <p:sp>
        <p:nvSpPr>
          <p:cNvPr id="34" name="txt_363"/>
          <p:cNvSpPr txBox="1"/>
          <p:nvPr/>
        </p:nvSpPr>
        <p:spPr>
          <a:xfrm>
            <a:off x="8356397" y="4892040"/>
            <a:ext cx="3103778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resultados, diferencias con el manual y conclusiones.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Ideas clave</a:t>
            </a:r>
            <a:endParaRPr lang="en-US" sz="3000" dirty="0"/>
          </a:p>
        </p:txBody>
      </p:sp>
      <p:sp>
        <p:nvSpPr>
          <p:cNvPr id="3" name="kicker_364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5" name="card_365"/>
          <p:cNvSpPr/>
          <p:nvPr/>
        </p:nvSpPr>
        <p:spPr>
          <a:xfrm>
            <a:off x="548640" y="1463040"/>
            <a:ext cx="5852160" cy="4754880"/>
          </a:xfrm>
          <a:prstGeom prst="roundRect">
            <a:avLst>
              <a:gd name="adj" fmla="val 1923"/>
            </a:avLst>
          </a:prstGeom>
          <a:solidFill>
            <a:srgbClr val="D9EEEE"/>
          </a:solidFill>
          <a:ln/>
        </p:spPr>
      </p:sp>
      <p:sp>
        <p:nvSpPr>
          <p:cNvPr id="6" name="txt_366"/>
          <p:cNvSpPr txBox="1"/>
          <p:nvPr/>
        </p:nvSpPr>
        <p:spPr>
          <a:xfrm>
            <a:off x="777240" y="1627632"/>
            <a:ext cx="53949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DE LA UNIDAD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Ecuación 7"/>
              <p:cNvSpPr txBox="1"/>
              <p:nvPr/>
            </p:nvSpPr>
            <p:spPr>
              <a:xfrm>
                <a:off x="1882684" y="2766060"/>
                <a:ext cx="3184071" cy="76200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s-EC" sz="23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23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3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23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π</m:t>
                          </m:r>
                          <m:sSup>
                            <m:e>
                              <m:r>
                                <a:rPr lang="es-EC" sz="2381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D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s-EC" sz="2381" b="0" i="0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num>
                        <m:den>
                          <m:r>
                            <m:rPr>
                              <m:sty m:val="p"/>
                            </m:rPr>
                            <a:rPr lang="es-EC" sz="2381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4</m:t>
                          </m:r>
                        </m:den>
                      </m:f>
                      <m:r>
                        <a:rPr lang="es-EC" sz="2381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L</m:t>
                      </m:r>
                      <m:r>
                        <m:rPr>
                          <m:sty m:val="p"/>
                        </m:rPr>
                        <a:rPr lang="es-EC" sz="23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  </m:t>
                      </m:r>
                      <m:sSub>
                        <m:e>
                          <m:r>
                            <a:rPr lang="es-EC" sz="23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23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3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sSub>
                        <m:e>
                          <m:r>
                            <a:rPr lang="es-EC" sz="23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V</m:t>
                          </m:r>
                        </m:e>
                        <m:sub>
                          <m:r>
                            <a:rPr lang="es-EC" sz="2381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u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381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·</m:t>
                      </m:r>
                      <m:r>
                        <a:rPr lang="es-EC" sz="2381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i</m:t>
                      </m:r>
                    </m:oMath>
                  </m:oMathPara>
                </a14:m>
                <a:endParaRPr lang="es-EC" sz="2381" dirty="0"/>
              </a:p>
            </p:txBody>
          </p:sp>
        </mc:Choice>
        <mc:Fallback>
          <p:pic>
            <p:nvPicPr>
              <p:cNvPr id="7" name="EQ_44e5aaa0e057_58_s992_ctr" descr="/home/claude/u2/eq/eq_44e5aaa0e057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1882684" y="2766060"/>
                <a:ext cx="3184071" cy="7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Ecuación 8"/>
              <p:cNvSpPr txBox="1"/>
              <p:nvPr/>
            </p:nvSpPr>
            <p:spPr>
              <a:xfrm>
                <a:off x="1927860" y="3674364"/>
                <a:ext cx="3093720" cy="74371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R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c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sSub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u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+</m:t>
                          </m:r>
                          <m:sSub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cc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cc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  </m:t>
                      </m:r>
                      <m:r>
                        <a:rPr lang="es-EC" sz="24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α</m:t>
                      </m:r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L</m:t>
                          </m:r>
                        </m:num>
                        <m:den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D</m:t>
                          </m:r>
                        </m:den>
                      </m:f>
                    </m:oMath>
                  </m:oMathPara>
                </a14:m>
                <a:endParaRPr lang="es-EC" sz="2400" dirty="0"/>
              </a:p>
            </p:txBody>
          </p:sp>
        </mc:Choice>
        <mc:Fallback>
          <p:pic>
            <p:nvPicPr>
              <p:cNvPr id="8" name="EQ_7d130e5ec6d9_59_s1000_ctr" descr="/home/claude/u2/eq/eq_7d130e5ec6d9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27860" y="3674364"/>
                <a:ext cx="3093720" cy="7437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Ecuación 9"/>
              <p:cNvSpPr txBox="1"/>
              <p:nvPr/>
            </p:nvSpPr>
            <p:spPr>
              <a:xfrm>
                <a:off x="1749552" y="4568952"/>
                <a:ext cx="3450336" cy="75285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s-EC" sz="2400" b="0" i="1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  <m:r>
                            <m:rPr>
                              <m:sty m:val="p"/>
                            </m:rP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·</m:t>
                          </m:r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9 550</m:t>
                          </m:r>
                        </m:den>
                      </m:f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  </m:t>
                      </m:r>
                      <m:sSub>
                        <m:e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p</m:t>
                          </m:r>
                        </m:e>
                        <m:sub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me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s-EC" sz="2400" b="0" i="0" dirty="0">
                          <a:solidFill>
                            <a:srgbClr val="15233F"/>
                          </a:solidFill>
                          <a:latin typeface="Cambria Math" panose="02040503050406030204" pitchFamily="18" charset="0"/>
                        </a:rPr>
                        <m:t xml:space="preserve">=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120 </m:t>
                          </m:r>
                          <m:sSub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e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V</m:t>
                              </m:r>
                            </m:e>
                            <m:sub>
                              <m:r>
                                <a:rPr lang="es-EC" sz="2400" b="0" i="1" dirty="0">
                                  <a:solidFill>
                                    <a:srgbClr val="15233F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s-EC" sz="2400" b="0" i="0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 </m:t>
                          </m:r>
                          <m:r>
                            <a:rPr lang="es-EC" sz="2400" b="0" i="1" dirty="0">
                              <a:solidFill>
                                <a:srgbClr val="15233F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den>
                      </m:f>
                    </m:oMath>
                  </m:oMathPara>
                </a14:m>
                <a:endParaRPr lang="es-EC" sz="2400" dirty="0"/>
              </a:p>
            </p:txBody>
          </p:sp>
        </mc:Choice>
        <mc:Fallback>
          <p:pic>
            <p:nvPicPr>
              <p:cNvPr id="9" name="EQ_98f8f4981fc5_60_s1000_ctr" descr="/home/claude/u2/eq/eq_98f8f4981fc5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49552" y="4568952"/>
                <a:ext cx="3450336" cy="752856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xt_367"/>
          <p:cNvSpPr txBox="1"/>
          <p:nvPr/>
        </p:nvSpPr>
        <p:spPr>
          <a:xfrm>
            <a:off x="6675120" y="1463040"/>
            <a:ext cx="4967935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geometría (D, L, PMS, PMI) define el tamaño del motor.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R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determinan su comportamiento.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Las curvas de par y potencia muestran dónde rinde mejor.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biela–manivela convierte el movimiento lineal en giro.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tiempos en 720°; Otto por chispa, Diesel por compresión.</a:t>
            </a:r>
            <a:endParaRPr lang="en-US" sz="1600" dirty="0"/>
          </a:p>
          <a:p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</a:t>
            </a:r>
            <a:pPr algn="l"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Seis sistemas auxiliares permiten que el motor funcione.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Autoevaluación</a:t>
            </a:r>
            <a:endParaRPr lang="en-US" sz="3000" dirty="0"/>
          </a:p>
        </p:txBody>
      </p:sp>
      <p:sp>
        <p:nvSpPr>
          <p:cNvPr id="3" name="kicker_368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5" name="card_369"/>
          <p:cNvSpPr/>
          <p:nvPr/>
        </p:nvSpPr>
        <p:spPr>
          <a:xfrm>
            <a:off x="548640" y="146304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F2F5F8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55448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7" name="txt_370"/>
          <p:cNvSpPr txBox="1"/>
          <p:nvPr/>
        </p:nvSpPr>
        <p:spPr>
          <a:xfrm>
            <a:off x="73152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xt_371"/>
          <p:cNvSpPr txBox="1"/>
          <p:nvPr/>
        </p:nvSpPr>
        <p:spPr>
          <a:xfrm>
            <a:off x="1463040" y="1463040"/>
            <a:ext cx="999713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distancia se denomina carrera del pistón?</a:t>
            </a:r>
            <a:endParaRPr lang="en-US" sz="1700" dirty="0"/>
          </a:p>
        </p:txBody>
      </p:sp>
      <p:sp>
        <p:nvSpPr>
          <p:cNvPr id="9" name="card_372"/>
          <p:cNvSpPr/>
          <p:nvPr/>
        </p:nvSpPr>
        <p:spPr>
          <a:xfrm>
            <a:off x="548640" y="228600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F2F5F8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xt_373"/>
          <p:cNvSpPr txBox="1"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xt_374"/>
          <p:cNvSpPr txBox="1"/>
          <p:nvPr/>
        </p:nvSpPr>
        <p:spPr>
          <a:xfrm>
            <a:off x="1463040" y="2286000"/>
            <a:ext cx="999713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R</a:t>
            </a:r>
            <a:pPr algn="l" indent="0" marL="0">
              <a:buNone/>
            </a:pPr>
            <a:r>
              <a:rPr lang="en-US" sz="17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V</a:t>
            </a:r>
            <a:pPr algn="l" indent="0" marL="0">
              <a:buNone/>
            </a:pPr>
            <a:r>
              <a:rPr lang="en-US" sz="17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269,5 cm³ y V</a:t>
            </a:r>
            <a:pPr algn="l" indent="0" marL="0">
              <a:buNone/>
            </a:pPr>
            <a:r>
              <a:rPr lang="en-US" sz="17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41,44 cm³.</a:t>
            </a:r>
            <a:endParaRPr lang="en-US" sz="1700" dirty="0"/>
          </a:p>
        </p:txBody>
      </p:sp>
      <p:sp>
        <p:nvSpPr>
          <p:cNvPr id="13" name="card_375"/>
          <p:cNvSpPr/>
          <p:nvPr/>
        </p:nvSpPr>
        <p:spPr>
          <a:xfrm>
            <a:off x="548640" y="310896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F2F5F8"/>
          </a:solidFill>
          <a:ln/>
        </p:spPr>
      </p:sp>
      <p:sp>
        <p:nvSpPr>
          <p:cNvPr id="14" name="Shape 11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5" name="txt_376"/>
          <p:cNvSpPr txBox="1"/>
          <p:nvPr/>
        </p:nvSpPr>
        <p:spPr>
          <a:xfrm>
            <a:off x="73152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xt_377"/>
          <p:cNvSpPr txBox="1"/>
          <p:nvPr/>
        </p:nvSpPr>
        <p:spPr>
          <a:xfrm>
            <a:off x="1463040" y="3108960"/>
            <a:ext cx="999713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le pasa a R</a:t>
            </a:r>
            <a:pPr algn="l" indent="0" marL="0">
              <a:buNone/>
            </a:pPr>
            <a:r>
              <a:rPr lang="en-US" sz="1700" baseline="-40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 se monta una junta de culata más gruesa?</a:t>
            </a:r>
            <a:endParaRPr lang="en-US" sz="1700" dirty="0"/>
          </a:p>
        </p:txBody>
      </p:sp>
      <p:sp>
        <p:nvSpPr>
          <p:cNvPr id="17" name="card_378"/>
          <p:cNvSpPr/>
          <p:nvPr/>
        </p:nvSpPr>
        <p:spPr>
          <a:xfrm>
            <a:off x="548640" y="393192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F2F5F8"/>
          </a:solidFill>
          <a:ln/>
        </p:spPr>
      </p:sp>
      <p:sp>
        <p:nvSpPr>
          <p:cNvPr id="18" name="Shape 15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9" name="txt_379"/>
          <p:cNvSpPr txBox="1"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xt_380"/>
          <p:cNvSpPr txBox="1"/>
          <p:nvPr/>
        </p:nvSpPr>
        <p:spPr>
          <a:xfrm>
            <a:off x="1463040" y="3931920"/>
            <a:ext cx="999713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Ordene los cuatro tiempos del ciclo y diga cuál produce trabajo.</a:t>
            </a:r>
            <a:endParaRPr lang="en-US" sz="1700" dirty="0"/>
          </a:p>
        </p:txBody>
      </p:sp>
      <p:sp>
        <p:nvSpPr>
          <p:cNvPr id="21" name="card_381"/>
          <p:cNvSpPr/>
          <p:nvPr/>
        </p:nvSpPr>
        <p:spPr>
          <a:xfrm>
            <a:off x="548640" y="475488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F2F5F8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" y="4846320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3" name="txt_382"/>
          <p:cNvSpPr txBox="1"/>
          <p:nvPr/>
        </p:nvSpPr>
        <p:spPr>
          <a:xfrm>
            <a:off x="73152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xt_383"/>
          <p:cNvSpPr txBox="1"/>
          <p:nvPr/>
        </p:nvSpPr>
        <p:spPr>
          <a:xfrm>
            <a:off x="1463040" y="4754880"/>
            <a:ext cx="999713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relación de giro entre cigüeñal y árbol de levas?</a:t>
            </a:r>
            <a:endParaRPr lang="en-US" sz="1700" dirty="0"/>
          </a:p>
        </p:txBody>
      </p:sp>
      <p:sp>
        <p:nvSpPr>
          <p:cNvPr id="25" name="card_384"/>
          <p:cNvSpPr/>
          <p:nvPr/>
        </p:nvSpPr>
        <p:spPr>
          <a:xfrm>
            <a:off x="548640" y="5577840"/>
            <a:ext cx="11094415" cy="685800"/>
          </a:xfrm>
          <a:prstGeom prst="roundRect">
            <a:avLst>
              <a:gd name="adj" fmla="val 13333"/>
            </a:avLst>
          </a:prstGeom>
          <a:solidFill>
            <a:srgbClr val="F2F5F8"/>
          </a:solidFill>
          <a:ln/>
        </p:spPr>
      </p:sp>
      <p:sp>
        <p:nvSpPr>
          <p:cNvPr id="26" name="Shape 23"/>
          <p:cNvSpPr/>
          <p:nvPr/>
        </p:nvSpPr>
        <p:spPr>
          <a:xfrm>
            <a:off x="731520" y="566928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7" name="txt_385"/>
          <p:cNvSpPr txBox="1"/>
          <p:nvPr/>
        </p:nvSpPr>
        <p:spPr>
          <a:xfrm>
            <a:off x="731520" y="5669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xt_386"/>
          <p:cNvSpPr txBox="1"/>
          <p:nvPr/>
        </p:nvSpPr>
        <p:spPr>
          <a:xfrm>
            <a:off x="1463040" y="5577840"/>
            <a:ext cx="9997135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calcula la potencia a partir del par y del régimen?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title" hasCustomPrompt="1"/>
          </p:nvPr>
        </p:nvSpPr>
        <p:spPr>
          <a:xfrm>
            <a:off x="548640" y="45720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Bibliografía</a:t>
            </a:r>
            <a:endParaRPr lang="en-US" sz="3000" dirty="0"/>
          </a:p>
        </p:txBody>
      </p:sp>
      <p:sp>
        <p:nvSpPr>
          <p:cNvPr id="3" name="kicker_387"/>
          <p:cNvSpPr txBox="1"/>
          <p:nvPr/>
        </p:nvSpPr>
        <p:spPr>
          <a:xfrm>
            <a:off x="54864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5" name="txt_388"/>
          <p:cNvSpPr txBox="1"/>
          <p:nvPr/>
        </p:nvSpPr>
        <p:spPr>
          <a:xfrm>
            <a:off x="548640" y="1463040"/>
            <a:ext cx="80467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Básica (PEA)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Minga, M. A. (2026).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Introducción a motores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ISTS.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Escudero Fernández, S., González González, J., Rivas Cuadrado, J. L., y Suárez Linares, A. (2011).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Macmillan Iberia.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Escudero, S., González, J., y Rivas, J. L. (2024).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Motores: Cuaderno de prácticas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Macmillan Iberia.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Gil Martínez, H. (2015).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manual práctico del automóvil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Cultural.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Complementaria y de consulta (PEA)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Payri González, F., y Desantes Fernández, J. M. (2023).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Motores de combustión interna alternativos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Universitat Politècnica de València.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Rueda Santander, J. R. (2010).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en mecánica y electrónica automotriz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(2.ª ed.). Diseli.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Macmillan Profesional (2009). </a:t>
            </a:r>
            <a:pPr algn="l" indent="0" marL="0">
              <a:spcAft>
                <a:spcPts val="500"/>
              </a:spcAft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auxiliares del motor</a:t>
            </a:r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(grado medio).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clase</a:t>
            </a:r>
            <a:endParaRPr lang="en-US" sz="14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de aprendizaje N.° 1 (cilindrada y Rc); hoja «Parámetros de motores»; Sobrealimentación; Manual técnico de parámetros de admisión; diapositivas Unidad 4 Sistemas auxiliares.</a:t>
            </a:r>
            <a:endParaRPr lang="en-US" sz="1400" dirty="0"/>
          </a:p>
        </p:txBody>
      </p:sp>
      <p:sp>
        <p:nvSpPr>
          <p:cNvPr id="6" name="card_389"/>
          <p:cNvSpPr/>
          <p:nvPr/>
        </p:nvSpPr>
        <p:spPr>
          <a:xfrm>
            <a:off x="8961120" y="1463040"/>
            <a:ext cx="2681935" cy="1737360"/>
          </a:xfrm>
          <a:prstGeom prst="roundRect">
            <a:avLst>
              <a:gd name="adj" fmla="val 5263"/>
            </a:avLst>
          </a:prstGeom>
          <a:solidFill>
            <a:srgbClr val="FCE6DF"/>
          </a:solidFill>
          <a:ln/>
        </p:spPr>
      </p:sp>
      <p:sp>
        <p:nvSpPr>
          <p:cNvPr id="7" name="dot_390"/>
          <p:cNvSpPr/>
          <p:nvPr/>
        </p:nvSpPr>
        <p:spPr>
          <a:xfrm>
            <a:off x="9144000" y="205740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8" name="ic_39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2176272"/>
            <a:ext cx="310896" cy="310896"/>
          </a:xfrm>
          <a:prstGeom prst="rect">
            <a:avLst/>
          </a:prstGeom>
        </p:spPr>
      </p:pic>
      <p:sp>
        <p:nvSpPr>
          <p:cNvPr id="9" name="txt_392"/>
          <p:cNvSpPr txBox="1"/>
          <p:nvPr/>
        </p:nvSpPr>
        <p:spPr>
          <a:xfrm>
            <a:off x="9829800" y="1536192"/>
            <a:ext cx="1676095" cy="15910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del PEA: </a:t>
            </a:r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ICEngines (EES)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simular el ciclo y </a:t>
            </a:r>
            <a:pPr algn="l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Autodata</a:t>
            </a:r>
            <a:pPr algn="l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datos técnicos.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modinamica ISTS">
  <a:themeElements>
    <a:clrScheme name="Termodinamica ISTS">
      <a:dk1>
        <a:srgbClr val="1F2933"/>
      </a:dk1>
      <a:lt1>
        <a:srgbClr val="FFFFFF"/>
      </a:lt1>
      <a:dk2>
        <a:srgbClr val="15233F"/>
      </a:dk2>
      <a:lt2>
        <a:srgbClr val="F2F5F8"/>
      </a:lt2>
      <a:accent1>
        <a:srgbClr val="0E7C7B"/>
      </a:accent1>
      <a:accent2>
        <a:srgbClr val="E4572E"/>
      </a:accent2>
      <a:accent3>
        <a:srgbClr val="22345A"/>
      </a:accent3>
      <a:accent4>
        <a:srgbClr val="F2A541"/>
      </a:accent4>
      <a:accent5>
        <a:srgbClr val="5B6770"/>
      </a:accent5>
      <a:accent6>
        <a:srgbClr val="7FB7B6"/>
      </a:accent6>
      <a:hlink>
        <a:srgbClr val="0E7C7B"/>
      </a:hlink>
      <a:folHlink>
        <a:srgbClr val="5B6770"/>
      </a:folHlink>
    </a:clrScheme>
    <a:fontScheme name="Termodinamica IS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Instituto Superior Tecnológico Sudamericano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4 – Funcionamiento del MCIA</dc:title>
  <dc:subject>PptxGenJS Presentation</dc:subject>
  <dc:creator>ISTS – Mecánica Automotriz</dc:creator>
  <cp:lastModifiedBy>ISTS – Mecánica Automotriz</cp:lastModifiedBy>
  <cp:revision>1</cp:revision>
  <dcterms:created xsi:type="dcterms:W3CDTF">2026-10-12T14:06:38Z</dcterms:created>
  <dcterms:modified xsi:type="dcterms:W3CDTF">2026-10-12T14:06:38Z</dcterms:modified>
</cp:coreProperties>
</file>