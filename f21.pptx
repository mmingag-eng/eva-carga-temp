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56" r:id="rId107"/>
    <p:sldId id="271" r:id="rId17"/>
    <p:sldId id="357" r:id="rId108"/>
    <p:sldId id="272" r:id="rId18"/>
    <p:sldId id="273" r:id="rId19"/>
    <p:sldId id="274" r:id="rId20"/>
    <p:sldId id="275" r:id="rId21"/>
    <p:sldId id="276" r:id="rId22"/>
    <p:sldId id="277" r:id="rId23"/>
    <p:sldId id="278" r:id="rId24"/>
    <p:sldId id="279" r:id="rId25"/>
    <p:sldId id="358" r:id="rId109"/>
    <p:sldId id="280" r:id="rId26"/>
    <p:sldId id="282" r:id="rId28"/>
    <p:sldId id="283" r:id="rId29"/>
    <p:sldId id="359" r:id="rId110"/>
    <p:sldId id="284" r:id="rId30"/>
    <p:sldId id="285" r:id="rId31"/>
    <p:sldId id="286" r:id="rId32"/>
    <p:sldId id="287" r:id="rId33"/>
    <p:sldId id="281" r:id="rId27"/>
    <p:sldId id="288" r:id="rId34"/>
    <p:sldId id="289" r:id="rId35"/>
    <p:sldId id="290" r:id="rId36"/>
    <p:sldId id="291" r:id="rId37"/>
    <p:sldId id="360" r:id="rId111"/>
    <p:sldId id="292" r:id="rId38"/>
    <p:sldId id="293" r:id="rId39"/>
    <p:sldId id="361" r:id="rId112"/>
    <p:sldId id="294" r:id="rId40"/>
    <p:sldId id="295" r:id="rId41"/>
    <p:sldId id="296" r:id="rId42"/>
    <p:sldId id="297" r:id="rId43"/>
    <p:sldId id="362" r:id="rId113"/>
    <p:sldId id="298" r:id="rId44"/>
    <p:sldId id="299" r:id="rId45"/>
    <p:sldId id="363" r:id="rId114"/>
    <p:sldId id="300" r:id="rId46"/>
    <p:sldId id="301" r:id="rId47"/>
    <p:sldId id="303" r:id="rId49"/>
    <p:sldId id="364" r:id="rId115"/>
    <p:sldId id="304" r:id="rId50"/>
    <p:sldId id="305" r:id="rId51"/>
    <p:sldId id="365" r:id="rId116"/>
    <p:sldId id="306" r:id="rId52"/>
    <p:sldId id="307" r:id="rId53"/>
    <p:sldId id="308" r:id="rId54"/>
    <p:sldId id="302" r:id="rId48"/>
    <p:sldId id="309" r:id="rId55"/>
    <p:sldId id="310" r:id="rId56"/>
    <p:sldId id="311" r:id="rId57"/>
    <p:sldId id="312" r:id="rId58"/>
    <p:sldId id="313" r:id="rId59"/>
    <p:sldId id="314" r:id="rId60"/>
    <p:sldId id="315" r:id="rId61"/>
    <p:sldId id="316" r:id="rId62"/>
    <p:sldId id="317" r:id="rId63"/>
    <p:sldId id="366" r:id="rId117"/>
    <p:sldId id="318" r:id="rId64"/>
    <p:sldId id="319" r:id="rId65"/>
    <p:sldId id="320" r:id="rId66"/>
    <p:sldId id="367" r:id="rId118"/>
    <p:sldId id="321" r:id="rId67"/>
    <p:sldId id="323" r:id="rId69"/>
    <p:sldId id="324" r:id="rId70"/>
    <p:sldId id="368" r:id="rId119"/>
    <p:sldId id="325" r:id="rId71"/>
    <p:sldId id="326" r:id="rId72"/>
    <p:sldId id="322" r:id="rId68"/>
    <p:sldId id="327" r:id="rId73"/>
    <p:sldId id="328" r:id="rId74"/>
    <p:sldId id="329" r:id="rId75"/>
    <p:sldId id="330" r:id="rId76"/>
    <p:sldId id="369" r:id="rId120"/>
    <p:sldId id="331" r:id="rId77"/>
    <p:sldId id="370" r:id="rId121"/>
    <p:sldId id="332" r:id="rId78"/>
    <p:sldId id="371" r:id="rId122"/>
    <p:sldId id="333" r:id="rId79"/>
    <p:sldId id="372" r:id="rId123"/>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73" r:id="rId124"/>
    <p:sldId id="351" r:id="rId97"/>
    <p:sldId id="352" r:id="rId98"/>
    <p:sldId id="374" r:id="rId125"/>
    <p:sldId id="353" r:id="rId99"/>
    <p:sldId id="354" r:id="rId100"/>
    <p:sldId id="355" r:id="rId101"/>
  </p:sldIdLst>
  <p:notesMasterIdLst>
    <p:notesMasterId r:id="rId10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cuadre curricular · PEA" id="{18ce9349-3ec1-0de4-f9be-c362423f58b6}">
          <p14:sldIdLst>
            <p14:sldId id="256"/>
            <p14:sldId id="257"/>
            <p14:sldId id="258"/>
            <p14:sldId id="259"/>
            <p14:sldId id="260"/>
            <p14:sldId id="261"/>
            <p14:sldId id="262"/>
            <p14:sldId id="263"/>
            <p14:sldId id="264"/>
          </p14:sldIdLst>
        </p14:section>
        <p14:section name="Clase 3.1 · El sistema de distribución" id="{06ac880a-20a9-59c3-e255-90500e10abd5}">
          <p14:sldIdLst>
            <p14:sldId id="265"/>
            <p14:sldId id="266"/>
            <p14:sldId id="267"/>
            <p14:sldId id="268"/>
            <p14:sldId id="269"/>
            <p14:sldId id="270"/>
          </p14:sldIdLst>
        </p14:section>
        <p14:section name="Clase 3.1 · Arquitecturas y accionamientos" id="{47017b4c-2add-eaa4-a8c8-5c0df5529f5e}">
          <p14:sldIdLst>
            <p14:sldId id="271"/>
            <p14:sldId id="272"/>
            <p14:sldId id="273"/>
            <p14:sldId id="274"/>
            <p14:sldId id="275"/>
            <p14:sldId id="276"/>
          </p14:sldIdLst>
        </p14:section>
        <p14:section name="Clase 3.1 · Profundización" id="{513fe18d-3433-e8b9-c74c-79ac90793ac8}">
          <p14:sldIdLst>
            <p14:sldId id="277"/>
            <p14:sldId id="278"/>
            <p14:sldId id="279"/>
            <p14:sldId id="280"/>
            <p14:sldId id="281"/>
            <p14:sldId id="282"/>
          </p14:sldIdLst>
        </p14:section>
        <p14:section name="Clase 3.1 · Cálculos de la distribución" id="{cabbbb3f-9af1-016e-5f97-1ab130bddda6}">
          <p14:sldIdLst>
            <p14:sldId id="283"/>
            <p14:sldId id="284"/>
            <p14:sldId id="285"/>
            <p14:sldId id="286"/>
            <p14:sldId id="287"/>
          </p14:sldIdLst>
        </p14:section>
        <p14:section name="Clase 3.2 · Despiece y armado de la distribución" id="{97c4a5c0-6cd1-38ac-cb41-a07dc73ef7bb}">
          <p14:sldIdLst>
            <p14:sldId id="288"/>
            <p14:sldId id="289"/>
            <p14:sldId id="290"/>
            <p14:sldId id="291"/>
            <p14:sldId id="292"/>
            <p14:sldId id="293"/>
          </p14:sldIdLst>
        </p14:section>
        <p14:section name="Clase 3.2 · Sin marcas, tensión y averías" id="{4842e73e-b76a-171d-715d-9d6602d54b9d}">
          <p14:sldIdLst>
            <p14:sldId id="294"/>
            <p14:sldId id="295"/>
            <p14:sldId id="296"/>
            <p14:sldId id="297"/>
          </p14:sldIdLst>
        </p14:section>
        <p14:section name="Clase 3.2 · Profundización" id="{23bde208-4d90-9c43-4717-d280dc41f63c}">
          <p14:sldIdLst>
            <p14:sldId id="298"/>
            <p14:sldId id="299"/>
            <p14:sldId id="300"/>
            <p14:sldId id="301"/>
            <p14:sldId id="302"/>
            <p14:sldId id="303"/>
          </p14:sldIdLst>
        </p14:section>
        <p14:section name="Clase 3.2 · Casos particulares" id="{8d13dfaf-c1b9-c5c4-8381-52d65db27070}">
          <p14:sldIdLst>
            <p14:sldId id="304"/>
            <p14:sldId id="305"/>
            <p14:sldId id="306"/>
            <p14:sldId id="307"/>
            <p14:sldId id="308"/>
          </p14:sldIdLst>
        </p14:section>
        <p14:section name="Clase 3.3 · El cabezote" id="{2435496d-6d0c-9436-7a01-ec5b73d8ba50}">
          <p14:sldIdLst>
            <p14:sldId id="309"/>
            <p14:sldId id="310"/>
            <p14:sldId id="311"/>
            <p14:sldId id="312"/>
            <p14:sldId id="313"/>
            <p14:sldId id="314"/>
          </p14:sldIdLst>
        </p14:section>
        <p14:section name="Clase 3.3 · Guías, asientos y despiece" id="{84be2079-fa77-87ab-827d-b5eee12a5655}">
          <p14:sldIdLst>
            <p14:sldId id="315"/>
            <p14:sldId id="316"/>
            <p14:sldId id="317"/>
            <p14:sldId id="318"/>
          </p14:sldIdLst>
        </p14:section>
        <p14:section name="Clase 3.3 · Profundización" id="{7ca6e74d-c68e-582c-6c14-ea8047cc2429}">
          <p14:sldIdLst>
            <p14:sldId id="319"/>
            <p14:sldId id="320"/>
            <p14:sldId id="321"/>
            <p14:sldId id="322"/>
          </p14:sldIdLst>
        </p14:section>
        <p14:section name="Clase 3.3 · Empaque y tornillería" id="{9be94d98-9815-6b23-5255-ce37f0030207}">
          <p14:sldIdLst>
            <p14:sldId id="323"/>
            <p14:sldId id="324"/>
            <p14:sldId id="325"/>
            <p14:sldId id="326"/>
          </p14:sldIdLst>
        </p14:section>
        <p14:section name="Clase 3.4 · Comprobaciones del cabezote" id="{a0b7d9d0-d48b-2a78-ce9d-511bf3679798}">
          <p14:sldIdLst>
            <p14:sldId id="327"/>
            <p14:sldId id="328"/>
            <p14:sldId id="329"/>
            <p14:sldId id="330"/>
            <p14:sldId id="331"/>
            <p14:sldId id="332"/>
          </p14:sldIdLst>
        </p14:section>
        <p14:section name="Clase 3.4 · Pruebas y casos" id="{b7a9f1bb-6aa5-d6e9-f633-5fb9dfd1b03a}">
          <p14:sldIdLst>
            <p14:sldId id="333"/>
            <p14:sldId id="334"/>
            <p14:sldId id="335"/>
            <p14:sldId id="336"/>
          </p14:sldIdLst>
        </p14:section>
        <p14:section name="Clase 3.4 · Averías y evaluación" id="{5e253a7f-1580-3e92-0688-ae88bda1862b}">
          <p14:sldIdLst>
            <p14:sldId id="337"/>
            <p14:sldId id="338"/>
            <p14:sldId id="339"/>
            <p14:sldId id="340"/>
          </p14:sldIdLst>
        </p14:section>
        <p14:section name="Anexo · Prácticas del cabezote" id="{93996650-9222-8130-0361-03b276122dd8}">
          <p14:sldIdLst>
            <p14:sldId id="341"/>
            <p14:sldId id="342"/>
            <p14:sldId id="343"/>
            <p14:sldId id="344"/>
            <p14:sldId id="345"/>
            <p14:sldId id="346"/>
            <p14:sldId id="347"/>
            <p14:sldId id="348"/>
          </p14:sldIdLst>
        </p14:section>
        <p14:section name="Clase 3.4 · Armado y cierre de unidad" id="{47f844ed-f02b-def8-e66d-e379ecc7b81b}">
          <p14:sldIdLst>
            <p14:sldId id="349"/>
            <p14:sldId id="350"/>
            <p14:sldId id="351"/>
            <p14:sldId id="352"/>
            <p14:sldId id="353"/>
            <p14:sldId id="354"/>
            <p14:sldId id="35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notesMaster" Target="notesMasters/notesMaster1.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 unidad situándola en el recorrido de la asignatura. En la Unidad 1 se estudió qué piezas tiene el motor y cómo se miden; en la Unidad 2, cómo entra la mezcla, cómo se enciende y cómo salen los gases. Esta unidad responde a la pregunta que quedó abierta: quién abre y cierra las puertas por las que la mezcla entra y los gases salen, y con qué precisión tiene que hacerlo.
Anunciar que esta es la unidad con más carga práctica de toda la asignatura: catorce horas práctico-experimentales, frente a las trece de las dos primeras. La razón es que el despiece y armado de la distribución y del cabezote son los trabajos que más procedimiento exigen y los que más consecuencias tienen si se hacen mal.
Advertir desde el primer minuto de la idea que gobierna toda la unidad: un error de una sola muesca en la puesta a punto de la distribución puede significar que los pistones golpeen las válvulas y que el motor quede destruido en el primer arranque. En ningún otro trabajo del taller la precisión del procedimiento tiene una consecuencia tan inmediata y tan cara.
Mencionar el calendario: la unidad ocupa diciembre y enero, de modo que queda partida por el receso. Conviene planificar que la práctica no quede cortada por la mitad.
Recordar que el PEA declara para esta unidad, además de las habilidades blandas habituales, un componente ambiental explícito: la ética ambiental. Se trabajará con la gestión de los residuos del taller, que en esta unidad son abundantes.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el encuadre administrativo de la unidad y conviene proyectarla al inicio para que los estudiantes sepan exactamente qué se espera de ellos y con cuánto tiempo cuentan.
Recorrer la tabla campo por campo. Señalar el periodo: diciembre y enero, de modo que la unidad queda partida por el receso académico y conviene organizar la práctica para que no quede interrumpida a media ejecución.
Detenerse en el reparto de horas, que es el dato más informativo: nueve de docencia, catorce práctico-experimentales y nueve autónomas. Hacer notar que es la unidad con más horas de taller de toda la asignatura, una más que las dos anteriores, y explicar por qué: el despiece y armado de la distribución y del cabezote implica más piezas, más comprobaciones instrumentadas y, sobre todo, más consecuencias si algo se hace mal.
Insistir en la idea del recuadro, que marca el tono de la unidad: las nueve horas de teoría existen para que las catorce de taller se hagan con criterio. Quien llega al laboratorio sin entender por qué las marcas de la distribución tienen que coincidir, copia gestos sin saber qué está haciendo, y ese es exactamente el perfil de técnico que destruye motores.
Mencionar que la evaluación de cierre es prueba de unidad, no examen bimestral: el segundo bimestre cierra con la Unidad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resultado de aprendizaje tal como lo declara el PEA y traducirlo de inmediato, porque su redacción es amplia y conviene aterrizarla.
Señalar las dos exigencias que contiene. La primera es el uso de manuales, que aparece expresamente en el texto: el resultado no pide memorizar valores, pide saber buscarlos. Esto es exactamente lo que se hace en el taller real, donde ningún técnico recuerda la holgura de válvula de todos los motores que pasan por sus manos, pero todos saben consultarla. El PEA declara Autodata como recurso para eso.
La segunda exigencia es detectar el desgaste en piezas móviles y fijas. En esta unidad las piezas concretas son las válvulas, sus guías, sus asientos, los muelles, el árbol de levas y el plano de apoyo del cabezote. Cada una tiene su comprobación y su criterio.
Hacer explícita la traducción del recuadro, que es la competencia que se evaluará: desarmar registrando el orden, medir contra el manual, decidir reparación o sustitución, y armar dejando el motor sincronizado y funcionando. Las cuatro cosas cuentan, y la última es inapelable: el motor arranca o no arranca.
Mostrar la progresión de las tres unidades: en la primera se midió el bloque, en esta se mide el cabezote y en la cuarta se cierra con el tren alternativo, que es donde el resultado se evalúa por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evidencia de cobertura curricular de la unidad y conviene conservarla en el portafolio docente, igual que sus equivalentes de las unidades anteriores.
Recorrer la tabla mostrando la correspondencia uno a uno entre los conocimientos declarados y las clases. Los cinco conocimientos del PEA son sistema de distribución, despiece y armado de la distribución, cabezote, despiece y armado del cabezote, y comprobaciones del cabezote. Las clases 3.3 y 3.4 absorben tres de ellos porque el despiece del cabezote y sus comprobaciones son en la práctica un mismo trabajo continuado.
Explicar la secuencia didáctica del párrafo, que no es arbitraria: no se puede poner a punto una distribución sin entender antes qué sincroniza, ni comprobar un cabezote sin haberlo desarmado correctamente.
Destacar la segunda tarjeta, porque es específica de esta unidad: la ética ambiental aparece declarada aquí y no en las otras. Se trabajará sobre los residuos concretos de estos trabajos, que son abundantes: aceite, refrigerante, disolventes, empaques y piezas metálicas.
Anunciar el puente con la Unidad 4: al terminar esta unidad el cabezote está fuera y el bloque queda a la vista, que es justamente donde empieza la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desarrolla el componente del PEA que es propio de esta unidad y que suele despacharse en una línea.
Recorrer la tabla de habilidades blandas mostrando que no son declaraciones abstractas, sino cosas que efectivamente ocurren en el taller. El trabajo en equipo es literal: el despiece de un cabezote necesita al menos tres funciones simultáneas, uno que desmonte, otro que registre y otro que ordene. La resolución de conflictos aparece de forma natural cuando el armado no cuadra y hay que decidir qué se hace. Y el liderazgo ético tiene aquí una forma muy concreta: reconocer un error propio antes de que tenga consecuencias.
Detenerse en esa última. Explicar por qué importa tanto en este trabajo: si alguien se da cuenta de que montó una pieza mal y calla, el motor puede destruirse en el primer arranque. Declarar el error a tiempo cuesta media hora de trabajo; callarlo puede costar un motor. En el taller real, esa misma decisión se repite con el dinero del cliente de por medio.
Desarrollar la ética ambiental con los tres casos concretos. Insistir en los trapos impregnados, que casi nunca se tratan como lo que son: residuo peligroso con riesgo de combustión espontánea si se amontonan.
Anunciar que la práctica incluye una lista de verificación ambiental que se entrega con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cómo se concretan en esta unidad los métodos que el PEA declara, porque la relación entre método y actividad concreta no siempre es evidente.
El método inductivo se aplica partiendo del motor del laboratorio: se observa cómo está montada su distribución, qué tipo de accionamiento tiene, dónde están sus marcas, y a partir de ese caso se generaliza al resto de arquitecturas. Es el camino de lo particular a lo general.
El método deductivo opera en sentido inverso y es imprescindible aquí: del principio de que el árbol de levas debe girar a la mitad del régimen del cigüeñal y en una posición angular determinada, se deduce qué tiene que cumplirse en cualquier motor, lleve piñones, cadena o correa. Ese principio es el que permite poner a punto un motor que nunca se ha visto.
De las tres técnicas declaradas, el aprendizaje basado en proyectos es el que mejor describe la unidad, y conviene decirlo: hay un producto final tangible y verificable. El motor arranca o no arranca. Esa verificación objetiva es rara en la enseñanza y aquí está disponible.
El aprendizaje basado en problemas se usa en los casos de apertura de cada clase, y el análisis de casos en la comparación de procedimientos reales de puesta a punto de varios vehículos distintos, tomados del material de la carrera.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Revisar los recursos declarados y, sobre todo, comprobar antes de empezar que el laboratorio dispone del material que la práctica exige.
Detenerse en Autodata, porque en esta unidad su papel cambia de naturaleza. En las unidades anteriores era una fuente de consulta útil; aquí es imprescindible. Sin manual no se puede saber el orden ni el par de apriete de los tornillos del cabezote, que varían por modelo y cuyo incumplimiento deforma la pieza; no se puede saber la holgura de válvulas; y no se puede conocer el procedimiento de puesta a punto del motor concreto. Decirlo con claridad: aquí el manual es una herramienta, como la llave dinamométrica.
Repasar la lista de material de laboratorio y comprobar su disponibilidad con antelación. Hay dos elementos que suelen faltar y sin los cuales la práctica queda incompleta: el compresor de muelles de válvula, que es imprescindible para desmontar las válvulas sin dañar nada, y la llave dinamométrica, sin la cual el armado del cabezote no se puede hacer correctamente.
Mencionar el material complementario, en especial los cabezotes de corte, que son el mejor recurso didáctico disponible para explicar la geometría interna, y las válvulas con distintos grados de desgaste, que permiten comparar en la mano lo que después habrá que juzgar.
Recordar el equipo de protección personal: gafas obligatorias al trabajar con muelles comprimidos.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la evaluación clara desde el principio para que los estudiantes puedan planificar su trabajo.
Explicar el reparto del bimestre y hacer notar que la suma de la prueba de unidad y el examen bimestral representa el sesenta por ciento. Esta unidad cierra con prueba de unidad; el examen bimestral llegará al cierre de la Unidad 4 y evaluará ambas.
Recorrer las cuatro tarjetas que concretan cada componente. El trabajo autónomo es el que declara el PEA literalmente: lectura y repaso de la guía didáctica de la unidad 3 y resolución del cuestionario. El trabajo colaborativo se concreta en dos productos de grupo: el cuadro comparativo de procedimientos de puesta a punto y la ficha de comprobaciones del cabezote. El práctico-experimental es la práctica completa con su informe y su lista de verificación ambiental. Y la prueba de unidad tiene parte conceptual y parte de interpretación de casos.
Recordar la escala institucional y, en particular, dónde está el límite de aprobación, para que nadie descubra tarde dónde se encuentra.
Mencionar los instrumentos que el PEA declara —participación, lecciones orales y escritas, taller en clase, cumplimiento de tareas y resolución de ejercicios— y explicar cómo se distribuyen entre los componentes.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bloque de encuadre con la hoja de ruta, para que el grupo sepa qué viene y pueda organizar su estudio.
Recorrer las cuatro clases señalando la lógica de la secuencia. La 3.1 construye el concepto: qué sincroniza la distribución y por qué esa sincronización es crítica. La 3.2 lo convierte en procedimiento: cómo se desarma y, sobre todo, cómo se vuelve a sincronizar. La 3.3 abre el cabezote, que es la pieza sobre la que la distribución actúa. Y la 3.4 cierra con las comprobaciones y el armado.
Señalar que la clase 3.2 incluye el montaje sin marcas con reloj comparador, que es el procedimiento que distingue a un técnico capaz de resolver un motor del que solo sabe copiar marcas. Es contenido exigente y conviene anunciarlo.
Insistir en el criterio de logro del recuadro, que es el que debe orientar el estudio: poner a punto la distribución de un motor que no se ha visto antes, consultando el manual. No se trata de memorizar el procedimiento de un motor, sino de dominar el principio y saber buscar el resto.
Recordar que la unidad queda partida por el receso de fin de año y pedir que organicen el trabajo autónomo en consecuencia.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 clase recuperando lo que quedó pendiente en las unidades anteriores. En la Unidad 1 se estudiaron las cuatro carreras del ciclo y se vio el diagrama de distribución sin profundizar. En la Unidad 2 se estudió cómo se prepara la mezcla y cómo se enciende. Lo que falta es quién abre y cierra las puertas por las que la mezcla entra y los gases salen, y con qué precisión.
Plantear la magnitud del problema con un dato: a tres mil revoluciones por minuto, cada válvula de un motor de cuatro tiempos abre y cierra veinticinco veces por segundo. Tiene que hacerlo en el momento exacto, abrir lo suficiente, mantenerse abierta el tiempo justo y cerrar herméticamente, miles de veces por minuto, durante cientos de miles de kilómetros. Es el conjunto mecánico más exigido del motor después del tren alternativo.
Anunciar el recorrido: primero qué hace la distribución y de qué está hecha; después el diagrama de distribución y el cruce de válvulas, que es el concepto que más cuesta y el que más explica; luego las arquitecturas, de la más antigua a la actual; y por último los tres accionamientos y sus diferencias.
Advertir que esta clase es conceptual y que la siguiente es procedimental. Sin lo de hoy, la puesta a punto de la clase 3.2 se convierte en copiar marcas sin saber qué se está haciendo.
Pedir que tengan a mano el diagrama de distribución de la Unidad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objetivo a la escena profesional que lo hace concreto: llega un vehículo al taller y el cliente pide presupuesto de cambio de distribución. Antes de dar un número hay que saber si lleva correa o cadena, si es de un árbol o de dos, y si el motor es de los que se destruyen cuando la correa rompe. Esas tres preguntas se responden mirando el motor y consultando el manual, y de ellas depende el presupuesto entero.
Hacer explícito el valor de la clase: lo que se aprende hoy no es una lista de nombres, es la capacidad de leer la arquitectura de un motor que no se conoce y anticipar qué mantenimiento necesita.
Aclarar el alcance: hoy se construye el mapa completo del sistema. El procedimiento concreto de desmontaje y puesta a punto es la clase siguiente, y las comprobaciones del cabezote son las clases 3.3 y 3.4.
Señalar la evidencia colaborativa: cada grupo elaborará el diagrama de distribución del motor del laboratorio y un cuadro comparativo de arquitecturas. El diagrama no se copia del libro; se construye a partir del motor que se tiene delante, girando el cigüeñal y observando cuándo abre cada válvula.
Anunciar los cinco bloques 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describe una correa montada con las marcas desplazadas: el árbol de levas queda adelantado o retrasado respecto al cigüeñal, de modo que las válvulas abren y cierran fuera de tiempo. Es la avería más característica de este trabajo y la que más veces se repite en el taller.
Guiar el razonamiento con la primera pregunta, que es la clave del diagnóstico: cuando un síntoma afecta a los cuatro cilindros por igual, la causa está en algo común a todos ellos. Un problema de bujía, de inyector o de segmento afectaría a uno. Lo que comparten los cuatro cilindros es el cigüeñal, el árbol de levas y la correa que los une.
Con la segunda pregunta se completa el razonamiento: para que haya combustión hacen falta mezcla, chispa y compresión. Hay chispa y hay combustible, de modo que lo que falta es compresión. Y si la compresión falta en los cuatro, las válvulas no están cerrando cuando deberían.
La tercera pregunta cierra el círculo señalando lo que se acaba de tocar. Es un principio de diagnóstico que conviene enunciar explícitamente: cuando una avería aparece inmediatamente después de una intervención, la intervención es la primera sospechosa.
No resolver todavía. Anunciar que la clase dará las herramientas para explicar exactamente qué pasó, y que el caso se retoma al estudiar el diagrama de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Enunciar la misión de la distribución y, sobre todo, la condición que impone, que es lo que convierte este sistema en crítico.
Explicar la relación de giro y de dónde sale, porque es el primer dato que hay que tener claro: en un motor de cuatro tiempos el ciclo completo ocupa dos vueltas de cigüeñal, y en ese ciclo cada válvula abre una sola vez. Por tanto el árbol de levas tiene que dar una vuelta por cada dos del cigüeñal, es decir, gira a la mitad del régimen. De ahí que el piñón del árbol de levas tenga el doble de dientes que el del cigüeñal.
Insistir en que no basta con que la relación sea correcta: además, la posición angular relativa tiene que ser la que marca el fabricante. Dos piezas pueden girar en la relación dos a uno y estar completamente desfasadas. Esa posición relativa es lo que fijan las marcas de calado.
Desarrollar el concepto de motor interferente, que es el que da gravedad a todo lo demás: en la mayoría de los motores modernos, si la distribución se sale de punto, el pistón sube hasta un punto que la válvula abierta ocupa, y la golpea. El resultado son válvulas dobladas, y en casos graves pistón y culata dañados. La razón de que casi todos sean interferentes es la relación de compresión alta, que obliga a reducir el volumen de la cámara y, con ello, la distancia entre pistón y válvulas.
Decirlo con claridad: en este sistema no hay margen de error tolerable.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los elementos con la figura y, si es posible, con un cabezote de corte y piezas sueltas en la mano.
Empezar por el árbol de levas y dejar claro que es la pieza que gobierna todo: lleva una leva por válvula y el perfil de cada leva contiene tres informaciones a la vez: cuándo empieza a abrir, cuánto se levanta la válvula y durante cuántos grados permanece abierta. Esas tres cosas juntas definen el carácter del motor.
Explicar el taqué o empujador y por qué existe: la leva empuja de forma oblicua, con una componente lateral importante. Si esa componente llegase directamente al vástago de la válvula, lo doblaría. El taqué la absorbe.
Señalar que la varilla empujadora solo existe en la arquitectura OHV, donde el árbol de levas está en el bloque y hay que llevar el movimiento hasta la culata. Es el elemento que desaparece en los sistemas modernos.
Detenerse en el muelle, con el énfasis del recuadro. Su función es devolver la válvula al asiento, pero sobre todo mantenerla permanentemente en contacto con la leva. Cuando pierde fuerza, o cuando el régimen es tan alto que la inercia supera lo que el muelle puede controlar, la válvula deja de seguir el perfil y queda flotando. Esa flotación es la que pone el techo al régimen de cualquier motor convencional, y es el problema que resuelve el mando desmodrómico.
Mencionar la guía: mantiene el vástago alineado para que la válvula asiente centrada. Su desgaste es una de las comprobaciones de la clase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concepto central de la clase y el que más cuesta. Conviene desarrollarlo despacio y apoyarse en el diagrama de distribución de la Unidad 1.
Partir de una pregunta: si el ciclo teórico dice que la admisión abre en el punto muerto superior y cierra en el inferior, ¿por qué ningún motor real hace eso? La respuesta tiene dos partes, y conviene separarlas porque son razones distintas.
La primera es mecánica: una válvula no abre instantáneamente. El perfil de la leva la levanta de forma progresiva, y si empezara a abrir justo en el punto muerto superior, estaría casi cerrada durante el primer tramo de la carrera de admisión, que es cuando más caudal se necesita. Por eso se adelanta la apertura.
La segunda es de inercia de los gases, y es la más importante: la columna de aire que entra por el conducto tiene masa y, una vez en movimiento, sigue entrando aunque el pistón haya empezado a subir. Cerrar la admisión en el punto muerto inferior sería desperdiciar ese llenado gratuito. De ahí el retraso al cierre, que en motores de alto régimen puede ser considerable.
El mismo razonamiento explica el escape: los gases quemados todavía tienen presión en el punto muerto inferior, de modo que abrir antes permite que salgan solos, lo que cuesta menos trabajo que empujarlos con el pistón.
Insistir en el recuadro: estos ángulos están labrados en la leva. No se ajustan en el 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cruce de válvulas es el concepto que más veces se enuncia sin explicarse, y es de los más útiles para entender por qué los motores se comportan como se comportan.
Definirlo con precisión: hacia el final de la carrera de escape, la válvula de escape todavía no ha cerrado —ese es el retraso al cierre de escape— y la de admisión ya ha abierto —ese es el avance a la apertura de admisión—. Durante ese intervalo, alrededor del punto muerto superior, las dos están abiertas a la vez.
Explicar para qué sirve, que es lo que lo justifica: la columna de gases que está saliendo por el escape tiene inercia y, al pasar frente a la válvula de admisión recién abierta, genera una depresión que ayuda a entrar a la carga fresca y arrastra consigo los residuos quemados del cilindro. Es el barrido, y mejora el llenado sin coste alguno.
Explicar ahora por qué no se hace el cruce todo lo amplio que se quiera. A bajo régimen la velocidad de los gases es pequeña y la inercia es débil, de modo que el barrido no funciona: lo que ocurre es que parte de la mezcla fresca se escapa directamente por el escape y parte de los gases quemados vuelve al cilindro. El resultado es ralentí irregular, consumo y emisiones.
Usar el recuadro como anécdota explicativa, porque es la que mejor se recuerda: el ralentí característico de un motor deportivo no es un defecto de puesta a punto, es la consecuencia audible de un cruce amplio.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las arquitecturas en orden histórico, porque así se entiende que cada una resuelve el problema que dejó abierto la anterior.
El sistema SV colocaba las válvulas en el bloque, al lado del cilindro. Su gran virtud era la sencillez: el árbol de levas estaba junto a las válvulas y la transmisión desde el cigüeñal era mínima. Su defecto es grave y es el que lo condenó: la cámara de combustión resultante es ancha y plana, con una relación superficie-volumen muy mala, lo que limita la relación de compresión y empeora el rendimiento. Hoy solo se encuentra en motores estacionarios antiguos.
El OHV sube las válvulas a la culata y deja el árbol en el bloque. La cámara mejora mucho, pero aparece el precio: hay que llevar el movimiento desde el bloque hasta la culata, y eso introduce taqués, varillas y balancines. Son muchos elementos con masa, y esa masa es la que limita el régimen y produce ruido.
El OHC resuelve eso subiendo el árbol a la culata. Entre la leva y la válvula queda casi nada, de modo que la inercia baja y el motor puede girar más. El precio es que ahora la transmisión desde el cigüeñal es larga, y de ahí las correas y cadenas que exigen mantenimiento.
El DOHC lleva dos árboles, uno por fila de válvulas, lo que permite cuatro válvulas por cilindro y control independiente. Es la arquitectura dominante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Desarrollar el OHV con las dos figuras porque es la arquitectura que más elementos tiene y la que mejor permite entender la cadena cinemática completa.
Recorrer el camino del movimiento con el puntero: la leva empuja el taqué, el taqué empuja la varilla, la varilla empuja un extremo del balancín, y el balancín, pivotando, empuja la válvula con el otro extremo. Hacer notar que el balancín invierte el sentido del movimiento, que es justamente lo que se necesita: la leva empuja hacia arriba y la válvula debe abrirse hacia abajo.
Señalar que cada eslabón de esa cadena añade dos cosas: masa, que hay que acelerar y frenar miles de veces por minuto, y una holgura que se suma a las demás. Esa acumulación es la que explica el ruido característico de los OHV y la necesidad de un reglaje periódico de la holgura de válvulas.
Explicar la ventaja compensatoria, que es real y es la razón de que el sistema haya sobrevivido tanto: con el árbol de levas en el bloque, justo encima del cigüeñal, la transmisión entre ambos es cortísima. Se puede hacer con un par de piñones o con una cadena corta, y eso dura prácticamente lo que el motor, sin mantenimiento.
Mencionar dónde sobrevive: motores de gran cilindrada y bajo régimen, donde la limitación de revoluciones no es un problema y la durabilidad sí es una virtud.
Preguntar al grupo qué motores del laboratorio son OHV.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Desarrollar las variantes modernas, que son las que los estudiantes encontrarán en el taller.
Explicar primero la diferencia entre las dos formas de accionar la válvula desde un árbol en la culata. Con balancín de palanca, la leva empuja un balancín corto que a su vez empuja la válvula; tiene algo más de masa pero permite un reglaje de holgura sencillo mediante un tornillo. Con empujador de vaso invertido, la leva actúa directamente sobre un vaso que cubre el extremo de la válvula; tiene la mínima masa posible y permite los regímenes más altos, pero el reglaje exige cambiar pastillas calibradas de distinto espesor, que es un trabajo más laborioso.
Explicar la diferencia entre SOHC y DOHC: un solo árbol tiene que accionar las válvulas de admisión y las de escape, lo que obliga a un compromiso en sus ángulos; con dos árboles, cada fila se optimiza por separado.
Desarrollar el recuadro con cuidado porque contiene las dos razones reales del dominio del DOHC de cuatro válvulas. La primera es de área: dos válvulas pequeñas inscritas en el mismo círculo dejan más área de paso que una grande, de modo que el motor respira mejor. La segunda es de posición de la bujía: con cuatro válvulas queda sitio en el centro de la cámara, que es la posición ideal porque acorta el recorrido del frente de llama en todas direcciones.
Conectar esto último con la clase 2.3, donde se estudió el avance al encendido.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los dos primeros mandos y dejar la correa para la diapositiva siguiente, porque es la que más consecuencias prácticas tiene.
El mando por engranajes aparece cuando el árbol de levas está muy cerca del cigüeñal, es decir, en los OHV. Dos o tres piñones bastan para llevar el movimiento. Su gran virtud es que duran lo que el motor, no necesitan mantenimiento y la sincronización es exacta. Su defecto es el ruido, porque el engrane de dientes rectos es ruidoso, y que solo sirven para distancias cortas: cubrir medio metro con una cascada de piñones sería absurdo.
La cadena de rodillos es la solución para distancias medias y largas. Explicar que necesita dos elementos auxiliares que conviene no olvidar: un tensor, que mantiene la tensión correcta a medida que la cadena se alarga, y unos patines guía, que evitan que la cadena oscile entre los piñones.
Desarrollar el recuadro con detalle porque es un criterio de diagnóstico valioso: la cadena no se rompe de golpe. Se alarga de forma progresiva por el desgaste de sus eslabones, y ese alargamiento hace que el árbol de levas se retrase unos grados respecto al cigüeñal. El motor pierde prestaciones poco a poco y aparece un ruido metálico característico en los primeros segundos tras el arranque en frío, cuando el tensor hidráulico aún no tiene presión. Esos síntomas dan aviso mucho antes de que ocurra nada grave.
Mencionar que el tensor suele ser hidráulico y depende de la presión de aceite, lo que conecta con la Unidad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correa dentada es el mando que más consecuencias prácticas tiene para el técnico, y conviene tratarla con el detalle que merece.
Explicar por qué se impuso: es silenciosa, lo que resolvió el problema de ruido de piñones y cadena; es ligera; es barata; y, sobre todo, no necesita lubricación, de modo que puede ir fuera del motor, en un cárter seco, lo que simplifica mucho el diseño y abarata la sustitución.
Explicar su estructura con la figura, porque aclara un malentendido frecuente: la correa no trabaja a tracción por el caucho. El caucho da forma a los dientes y protege el conjunto, pero la tracción la soportan unas fibras de vidrio o de aramida embebidas longitudinalmente. Son esas fibras las que evitan que la correa se alargue, a diferencia de la cadena. Por eso una correa no se destensa progresivamente: aguanta y después falla.
Desarrollar el riesgo con claridad, porque es lo que el técnico tiene que saber transmitir al cliente: la correa falla de forma súbita, sin aviso previo. En un motor interferente —que es la mayoría— eso significa que los pistones golpean las válvulas abiertas y el motor queda destruido.
Insistir en el criterio del recuadro, que es el que más veces se incumple: la correa se cambia por tiempo además de por kilometraje. El caucho envejece por oxidación aunque el vehículo esté parado. Un vehículo de poco uso con una correa antigua es un riesgo real.
Mencionar que se sustituyen a la vez los rodillos tensor y guía, y a menudo la bomba de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ordena las variantes que el estudiante va a encontrar físicamente al abrir un motor, y le da el criterio para identificarlas de un vistazo.
Recorrer la tabla de arriba abajo, que está ordenada de más antigua a más moderna, y hacer notar la tendencia: en cada paso desaparece un eslabón entre la leva y la válvula.
Explicar el balancín de rodillo, que es la solución más extendida hoy y que no siempre se menciona: el balancín lleva un pequeño rodillo donde apoya la leva, de modo que el contacto es de rodadura y no de deslizamiento. Eso reduce mucho el rozamiento, y como el tren de válvulas es uno de los grandes consumidores de potencia interna del motor, se traduce en menos consumo.
Insistir en la idea del recuadro, que resume toda la evolución: cada variante quita masa. Menos masa significa que el muelle controla mejor la válvula, y eso permite perfiles de leva más agresivos y regímenes más altos sin flotación. Conectar con lo que se verá sobre los muelles en la clase 3.3.
Desarrollar los dos puntos finales como guía de reconocimiento práctico. Es un ejercicio que conviene hacer sobre los motores del laboratorio: abrir la tapa de balancines y clasificar lo que se ve. La variante determina cómo se regla ese motor, que es un dato operativo inmediato.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convierte el concepto de la relación de giro en algo comprobable con las manos, que es lo que lo fija.
Partir de lo ya visto: el árbol de levas gira a la mitad del régimen del cigüeñal. De ahí se deduce inmediatamente la relación de dientes: para que el árbol gire la mitad de deprisa, su piñón debe tener el doble de dientes.
Hacer notar que esa relación es visible a simple vista en cualquier motor abierto: el piñón del árbol de levas es claramente mayor, de aproximadamente el doble de diámetro. Es una comprobación visual inmediata que permite confirmar que se está mirando un motor de cuatro tiempos.
Conectar con la verificación del calado, que es la aplicación práctica del recuadro: precisamente porque la relación es de dos a uno, las marcas de ambos piñones solo vuelven a coincidir simultáneamente cada dos vueltas de cigüeñal. Una sola vuelta deja el árbol a media vuelta de su posición, con sus marcas enfrentadas al lado opuesto. Esta es la explicación de por qué la verificación son dos vueltas, y conviene darla aquí para que no se memorice como una regla arbitraria.
Mencionar el caso de varios árboles: cada uno gira a la mitad del régimen del cigüeñal, de modo que entre ellos la relación es de uno a uno.
Proponer el ejercicio de contar dientes en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distribución variable como la consecuencia lógica de todo lo estudiado sobre el diagrama, y no como una tecnología suelta.
Recuperar el compromiso que quedó planteado: los avances y retrasos que optimizan el llenado dependen del régimen. Un cruce amplio es excelente arriba y malo abajo; un cierre de admisión muy retrasado aprovecha la inercia a alto régimen pero devuelve mezcla al colector a bajo régimen. Con una leva de perfil fijo hay que elegir, y esa elección es la que define el carácter del motor.
Plantear entonces la idea: si los ángulos óptimos cambian con el régimen, hágase que los ángulos cambien con el régimen. Esa frase es la distribución variable entera.
Explicar las dos familias. La variación de fase es la más extendida y la más sencilla: un actuador, normalmente hidráulico y alimentado por la presión de aceite, gira ligeramente el árbol de levas respecto a su piñón. Eso adelanta o retrasa todos sus ángulos a la vez. La variación de alzada es más compleja: hay dos perfiles de leva distintos por válvula y un mecanismo que conmuta entre ellos a partir de cierto régimen.
Recorrer la tabla de consecuencias y conectar con lo que los estudiantes perciben al conducir: un motor con distribución variable tiene par disponible desde muy abajo y sigue respondiendo arriba.
Mencionar que el actuador depende de la presión de aceite, lo que anticipa la Unidad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bloque de arquitecturas con las dos soluciones que marcan los extremos: una mecánica llevada al límite y otra que sustituye la mecánica por electrónica.
Explicar el mando desmodrómico recuperando el problema de la flotación: si el muelle es lo que limita el régimen, suprímase el muelle. En lugar de que la válvula cierre empujada por un resorte, cierra arrastrada mecánicamente por una segunda leva. La válvula está así controlada en todo momento, tanto al abrir como al cerrar, y la flotación deja de existir.
Explicar por qué no se generalizó: el costo de fabricación es muy alto, el ajuste es complejo y el mantenimiento exigente. Solo se justifica cuando el régimen máximo es determinante, es decir, en competición.
Presentar los sistemas sin árbol de levas y desarrollar el recuadro, que es la idea conceptualmente más interesante de la diapositiva: si cada válvula tiene su propio actuador y su propio sensor, el diagrama de distribución deja de estar labrado en metal. Pasa a ser una decisión de software, que puede cambiar en cada ciclo y ser distinta para cada cilindro. Todo lo que se ha estudiado sobre avances, retrasos y cruce sigue siendo válido conceptualmente, pero deja de ser una propiedad fija del motor.
Acotar el alcance con el párrafo final, para que nadie confunda contexto con contenido evaluable: lo que se desarma y se pone a punto en la práctica es el sistema convencional.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las seis ideas y dedicar unos minutos a la pregunta de autoevaluación, que tiene una respuesta clara y una aplicación profesional inmediata.
La respuesta esperada: la correa se sustituye por kilometraje o por tiempo, lo que ocurra primero, porque el caucho envejece por oxidación aunque el vehículo no circule. Una correa de nueve años está endurecida y agrietada aunque haya recorrido pocos kilómetros. En un motor interferente, su rotura significa válvulas dobladas y una reparación de coste muy superior al de la correa. El argumento al cliente es ese: el riesgo no es proporcional al uso, y la consecuencia del fallo es desproporcionada respecto al costo de la prevención.
Aprovechar la pregunta para hablar de algo que rara vez se enseña y que es parte del oficio: saber explicar al cliente por qué un trabajo es necesario. Un técnico que no sabe argumentar una recomendación no la consigue, y el vehículo sale del taller con el riesgo intacto.
Repasar brevemente las seis ideas, deteniéndose en la primera, que es la que sostiene toda la clase siguiente, y en la tercera, que es la que más cuesta.
Anunciar la clase 3.2: todo lo de hoy se convierte en procedimiento.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ejercicio convierte la clase teórica en una actividad de taller breve y es el producto colaborativo declarado para la clase 3.1.
Explicar la mecánica: cada grupo recorre los motores disponibles en el laboratorio y, para cada uno, determina las seis cosas de la tabla. No se trata de un cuestionario, sino de una observación guiada.
Insistir en el criterio de evaluación del segundo punto final, que es el que da valor al ejercicio: lo que se evalúa no es acertar la arquitectura, sino poder justificar cómo se llegó a esa conclusión. Decir que un motor es OHV no vale nada; decir que es OHV porque el árbol está en el bloque y hay varillas que suben a los balancines, sí.
Señalar que la sexta determinación —el tipo de reglaje— no se observa directamente, se deduce de las anteriores. Es el paso que exige razonamiento y el que mejor distingue a quien ha entendido la clase.
Recordar la seguridad con la seriedad necesaria: motores fríos, asegurados, sin posibilidad de giro accidental, y nunca los dedos entre correas y poleas. Si hay que girar un motor para observar algo, se hace con la herramienta adecuada y avisando al resto del grupo.
Recoger el cuadro comparativo al final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ordena las fórmulas con las que se trabaja un diagrama de distribución y que se usarán en los ejercicios siguientes.
Explicar la primera: la duración de la admisión es la suma del avance a la apertura, los ciento ochenta grados de la carrera descendente, y el retraso al cierre. Es simplemente contar desde que abre hasta que cierra. Lo mismo para el escape.
Hacer notar que esas duraciones suelen superar bastante los ciento ochenta grados teóricos, lo que vuelve a recordar que los tiempos reales no coinciden con los del ciclo ideal.
Explicar el cruce: es la suma del retraso al cierre de escape y del avance a la apertura de admisión, porque ambos se miden desde el mismo punto muerto superior, uno hacia atrás y otro hacia adelante.
Desarrollar la cuarta fórmula con el recuadro, que es el error más frecuente y el que conviene prevenir ahora: todos los ángulos del diagrama se dan en grados de cigüeñal. Si se mide sobre el árbol de levas, la cifra es la mitad. Confundir ambas escalas lleva a desplazar el calado al doble o a la mitad de lo pretendido.
Recordar la equivalencia del párrafo final: setecientos veinte grados de cigüeñal equivalen a trescientos sesenta de árbol de levas, que es una vuelta completa del árbol.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Resolver el ejercicio en la pizarra pidiendo a los estudiantes que hagan las operaciones, que son sencillas. El valor está en la interpretación.
Los pasos uno a tres son sumas directas. Conviene detenerse un momento en el resultado del paso uno: doscientos cuarenta grados de duración frente a los ciento ochenta del ciclo teórico. Esa diferencia de sesenta grados es el aprovechamiento de la inercia de los gases que se explicó en la clase.
El paso cuatro practica la conversión entre escalas, que es donde más se equivocan. Veintidós grados de cigüeñal son once de árbol de levas; doscientos cuarenta de cigüeñal son ciento veinte de árbol.
El paso cinco es el formativo y merece el énfasis del recuadro: los números no dicen nada por sí solos. Un cruce de veintidós grados describe un motor de uso general; uno de sesenta, un motor de competición con ralentí irregular. El cálculo se convierte en criterio cuando se compara con lo esperable.
Proponer como trabajo autónomo buscar los cuatro ángulos del motor del laboratorio en Autodata o en su manual, calcular las tres magnitudes y clasificar el motor según la tabla.
Advertir de que los valores concretos varían mucho entre motores y que la tabla es orientativa.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ejercicio es el que mejor transmite la gravedad de un error de montaje, porque pone un número a algo que de otro modo suena abstracto.
Plantear la pregunta antes de calcular: si al montar la correa el piñón del árbol de levas queda desplazado un solo diente, ¿cuánto se ha movido realmente el diagrama de distribución? La intuición dice que poco; el cálculo dice otra cosa.
Resolverlo paso a paso. Un piñón de cuarenta dientes reparte los trescientos sesenta grados de su vuelta en cuarenta partes, de modo que cada diente son nueve grados de árbol de levas. Y como el árbol gira a la mitad del régimen del cigüeñal, esos nueve grados de árbol equivalen a dieciocho de cigüeñal.
Desarrollar la interpretación del paso tres, que es la que impresiona: dieciocho grados es casi tanto como todo el cruce de válvulas del ejercicio anterior, que eran veintidós. Es decir, un solo diente de error altera el diagrama de distribución de forma comparable a la diferencia entre un motor de turismo y uno modificado.
Cerrar con el recuadro y con la consecuencia práctica: por eso la verificación de dos vueltas no admite aproximaciones. Si las marcas no coinciden exactamente, el montaje está mal, aunque visualmente parezca casi bien.
Proponer repetir el cálculo con el número real de dientes del motor del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ejercicio da la escala temporal del problema y explica de golpe varias cosas que hasta ahora se han enunciado por separado.
Resolver el cálculo despacio. A tres mil revoluciones por minuto, el cigüeñal da cincuenta vueltas por segundo, de modo que cada vuelta dura veinte milisegundos. Si la admisión está abierta doscientos cuarenta grados, es decir dos tercios de vuelta, dispone de unos trece milisegundos.
Doblar el régimen a seis mil reduce ese tiempo a la mitad: menos de siete milisegundos para que la válvula se levante, deje pasar la carga y vuelva a cerrar herméticamente. Y eso se repite veinticinco veces por segundo en cada válvula.
Desarrollar el recuadro, que es la síntesis de toda la clase: ese es el motivo físico por el que importa todo lo estudiado. La masa de las piezas importa porque hay que acelerarlas y frenarlas en milisegundos. La fuerza del muelle importa porque tiene que vencer esa inercia. El perfil de la leva importa porque decide cómo se reparte el movimiento en ese tiempo tan breve.
Cerrar con el párrafo final, que conecta con el rendimiento volumétrico de la Unidad 2: la válvula abre los mismos grados a cualquier régimen, pero el tiempo real disponible se reduce. Por eso el llenado cae a alto régimen y por eso la curva de par tiene la forma que 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ejercicios concretan parte del trabajo autónomo que el PEA declara para la unidad.
Los tres primeros son repeticiones de los ejercicios resueltos en clase, con datos distintos, de modo que los estudiantes puedan comprobar si han entendido el procedimiento.
El cuarto es cualitativamente distinto y merece el énfasis del recuadro: obliga a buscar los datos en Autodata, que es la fuente real. El resultado de aprendizaje de la unidad menciona expresamente el uso de manuales, de modo que este ejercicio es el que más directamente lo construye. Además, comparar el resultado con el del ejercicio uno les hace ver que los valores reales de un motor concreto pueden ser muy distintos de los de un ejemplo de libro.
Insistir en la forma de entrega: planteamiento, fórmula, sustitución y resultado con unidades. Es el formato que se exigirá también en la prueba de unidad, donde se valora el razonamiento del procedimiento tanto como el número final.
Recordar que el trabajo autónomo declarado en el PEA incluye además la lectura y el repaso de la guía didáctica de la unidad 3 y la resolución de su cuestionario, y que estos ejercicios se suman a eso.
Fijar la fecha de entrega con el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Anunciar que esta es la clase más procedimental de la asignatura y la que más directamente prepara el trabajo de laboratorio.
Plantear la idea que la ordena: poner a punto una distribución consiste en una sola cosa, dejar el árbol de levas en la posición angular correcta respecto al cigüeñal. Todo lo demás —desmontar cubiertas, aflojar tensores, retirar poleas— es trabajo de acceso. La operación crítica cabe en una frase, y de ella depende el motor.
Explicar el plan de la clase. Primero las marcas de calado: qué son, dónde se buscan y por qué son fiables. Después el procedimiento general, que es el mismo para cualquier motor. Luego seis procedimientos reales de vehículos distintos, tomados del material de la carrera, para que se vea qué cambia y qué no. Después el montaje cuando no hay marcas, con reloj comparador, que es el método que resuelve los casos difíciles. Y por último la tensión de la correa y las averías.
Insistir en una advertencia que se repetirá durante toda la clase: el cigüeñal nunca se gira en sentido contrario al de funcionamiento, y nunca se gira con la correa quitada en un motor interferente. Los dos errores son fáciles de cometer y caros de pagar.
Pedir que traigan la guía de prácticas, porque la ficha de puesta a punto se completa en esta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objetivo a la situación profesional real, que es muy frecuente: llega un motor desarmado, o un vehículo al que hay que cambiar la correa, y es un modelo que el técnico no ha tocado nunca. No puede saberse de memoria el procedimiento de todos los motores que existen; lo que tiene que saber es el principio y dónde buscar el detalle.
Hacer explícita esa distinción, porque es la clave de la clase: hay una parte del conocimiento que es general y se aprende una vez —qué es una marca de calado, por qué el árbol gira a la mitad, cómo se verifica el punto—, y una parte que es particular de cada motor y se consulta —dónde están las marcas, qué par llevan los tornillos, cuántas vueltas hay que dar antes de comprobar—. Confundir ambas es el error típico del principiante, que intenta memorizar lo que debería consultar.
Señalar el recurso que el PEA declara para la parte consultable: Autodata.
Explicar la evidencia colaborativa: cada grupo completa la ficha de puesta a punto de un motor concreto, con las marcas localizadas y fotografiadas. Esas fotografías son después la referencia del armado en la práctica.
Anunciar los cinco bloques y recordar que el montaje sin marcas es contenido exigente, pero que es lo que distingue a un técnico capaz de resolver un motor cualquiera.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establece la referencia de todo el trabajo de la clase, y conviene que quede muy clara.
Definir qué es una marca de calado: una señal física —un punto grabado, una muesca, una flecha, una línea pintada— que el fabricante pone en las piezas móviles y en una referencia fija. Cuando todas esas señales están alineadas simultáneamente, el motor está en la posición de calado, que normalmente es el punto muerto superior del primer cilindro en final de compresión.
Recorrer las tres figuras mostrando que las marcas tienen aspecto distinto según el mando, pero cumplen la misma función: puntos grabados en los engranajes, eslabones de color distinto en la cadena, flechas en las poleas enfrentadas a un resalte de la carcasa.
Explicar la verificación y por qué son dos vueltas y no una. El ciclo completo de cuatro tiempos ocupa dos vueltas de cigüeñal, durante las cuales el árbol de levas da una sola. Si se gira una vuelta, el árbol habrá dado media y sus marcas quedarán enfrentadas al lado contrario, lo que no demuestra nada. Solo al cabo de dos vueltas completas todas las marcas deben volver a coincidir simultáneamente.
Insistir en el recuadro, que evita un susto habitual: muchas correas y cadenas nuevas traen marcas pintadas para facilitar el montaje. Esas marcas no vuelven a coincidir después de girar el motor, porque el número de dientes de la correa y el de los piñones no son múltiplos. Es normal y no indica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procedimiento que los estudiantes deben interiorizar, porque sirve para cualquier motor. Conviene que lo copien y que lo lleven al taller.
El paso uno es el que más se salta y el que más problemas evita. Consultar el manual antes de tocar nada permite saber tres cosas que pueden cambiar todo el trabajo: cuál es la posición exacta de calado de ese motor, si hace falta alguna herramienta especial de bloqueo —que en muchos motores modernos es imprescindible— y qué tornillos son de un solo uso.
El paso dos contiene la advertencia más repetida de la clase: el cigüeñal se gira siempre en el sentido de funcionamiento del motor. Girar al revés puede hacer que la correa salte un diente sobre el ramal flojo o que el tensor no responda como debe.
El paso tres parece burocrático y resuelve más dudas que ninguna otra cosa: fotografiar las marcas coincidentes desde varios ángulos antes de desmontar. En el armado, esa fotografía responde en segundos a dudas que de otro modo exigen volver a empezar.
En el paso seis, explicar por qué se empieza por el piñón del cigüeñal y se mantiene tenso el ramal de arrastre: el ramal que trabaja es el que va del cigüeñal al árbol de levas por el lado contrario al tensor. Si queda flojo durante el montaje, el árbol puede desplazarse un diente sin que se note.
Insistir en el paso ocho con la gravedad del recuadro.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y la siguiente desarrollan la técnica de análisis de casos que el PEA declara para la unidad, usando procedimientos reales del material de la carrera.
Presentar el propósito del ejercicio antes de entrar en los casos: no se trata de memorizar seis procedimientos, sino de ver qué cambia y qué permanece. Lo que permanece es el principio y la secuencia general de la diapositiva anterior. Lo que cambia es el detalle: dónde están las marcas, cómo se tensa, qué hay que desmontar para llegar y cuál es la posición de calado.
El caso del Suzuki Alto enseña el tensado manual, que es el más antiguo y el que más depende del criterio del operario: se afloja el tornillo del tensor, se deja que el muelle actúe por sí solo y se vuelve a apretar. Si se fuerza a mano se tensa de más.
El caso del Aveo enseña algo que los estudiantes descubren con sorpresa en el taller: en muchos vehículos modernos la mayor parte del tiempo se va en acceder. Desmontar rueda, guardabarros, soportes y accesorios puede ocupar más que la operación de distribución propiamente dicha. Eso tiene consecuencias en el presupuesto que se da al cliente.
El caso de la Nissan recuerda que la posición de calado se consulta: aquí es el punto muerto superior del cilindro uno en compresión, pero no todos los motores usan esa referencia.
Pedir a los grupos que localicen estos procedimientos en Autodata.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Completar el análisis de casos con los cuatro restantes, que introducen las situaciones más complejas.
El caso del Ford Explorer enseña una práctica profesional muy valiosa y poco habitual: comprobar que las marcas coinciden antes de desmontar nada. Si no coinciden, el motor ya venía fuera de punto, y eso cambia el diagnóstico por completo: puede explicar la falta de potencia por la que el cliente trajo el vehículo.
El caso del Hyundai introduce el tensor hidráulico con pasador, que merece el énfasis del recuadro. Funciona así: el tensor se comprime fuera del motor, se le atraviesa un pasador que lo mantiene retraído, se monta así, y solo cuando todo está en su sitio se retira el pasador para que actúe. Si alguien retira el pasador antes de tiempo, el tensor se extiende y no hay forma de volver a comprimirlo sin desmontarlo del motor y repetir el proceso entero.
El caso del Land Cruiser de 1999 muestra otra solución al mismo problema: retener el vástago con una llave Allen por un orificio previsto. La enseñanza es que cada fabricante lo resuelve a su manera y que no hay forma de adivinarlo.
El Land Cruiser V8 introduce la complicación de los motores en V: dos cadenas, una por bancada, cada una con sus marcas. Hay que sincronizar dos conjuntos, no uno.
Cerrar con la conclusión de los tres puntos finales, que es el mensaje 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contenido más exigente de la clase y el que distingue a un técnico capaz de resolver cualquier motor del que solo sabe copiar marcas. Conviene desarrollarlo con calma.
Plantear primero cuándo se necesita: cuando las marcas se han borrado por corrosión o por un mecanizado, cuando se ha sustituido un piñón por otro sin marcar, cuando se trabaja con un motor del que no se dispone de manual, o cuando hay dudas de que las marcas existentes sean las originales.
Explicar el fundamento con el recuadro, porque es lo que hace comprensible el procedimiento: no necesitamos las marcas del fabricante si somos capaces de generar nuestras propias referencias. Y podemos: el punto muerto superior se puede localizar físicamente con un comparador, y sabemos que en ese punto, al final de la carrera de escape, el cilindro está en cruce de válvulas.
Detallar el paso dos, porque tiene una sutileza: al acercarse al punto muerto superior, el pistón se mueve muy poco por mucho que gire el cigüeñal, de modo que localizar el máximo exacto a ojo es impreciso. El método correcto es tomar dos posiciones simétricas, una antes y otra después, en las que el comparador marque lo mismo, y situar el punto muerto superior en el punto medio entre ambas.
Explicar el paso cuatro: con el motor en esa posición, se gira el árbol de levas hasta que las dos válvulas del primer cilindro queden parcialmente abiertas, que es la posición de cruce. Ahí es donde el árbol debe quedar.
Advertir que en motores interferentes este trabajo se hace con precaución extrema.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Completar el método sin marcas con la verificación, que es lo que lo convierte en un procedimiento cerrado y comprobable.
Explicar la lógica: una vez montado el conjunto, se puede comprobar si el calado es correcto midiendo directamente cuándo abre la válvula de admisión del primer cilindro. Se apoya el comparador sobre la cabeza de la válvula o sobre el platillo, se gira el cigüeñal lentamente y se anota el grado de la polea en que la válvula empieza a levantarse. Ese grado debe ser el avance a la apertura de admisión que figura en el manual.
Es un control directo: no depende de marcas, no depende de la correa, mide lo que realmente importa. Conectar con el diagrama de distribución de la clase 3.1, porque es ahí donde esos ángulos tienen sentido.
Explicar la corrección: si no coincide, se desplaza el árbol de levas un diente y se vuelve a medir. En motores con piñón de ranura regulable, el ajuste es fino y continuo.
Mencionar el caso de los motores en V con doble árbol, que es el más laborioso: hace falta un comparador central para fijar el punto muerto superior y después comprobar cada bancada por separado, porque cada una tiene su propio árbol.
Recorrer la tabla de interpretación, que es útil también como diagnóstico de un motor en servicio: un árbol retrasado de unos pocos grados es el cuadro típico de una cadena alargada por desgaste.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tensión es el segundo punto crítico del montaje, después del calado, y el que más se hace por intuición.
Explicar las dos desviaciones y sus consecuencias, que son distintas y conviene no mezclar. Una correa demasiado tensa no se rompe inmediatamente: lo que hace es trabajar con una carga permanente que acorta su vida y, sobre todo, sobrecargar los rodamientos del tensor, de los rodillos guía y de la bomba de agua. En la práctica, con tensión excesiva suele fallar antes un rodamiento que la propia correa, y cuando un rodillo se agarrota, la correa se destruye en segundos. El silbido agudo es la señal audible.
Una correa floja tiene un riesgo distinto: puede saltar dientes sobre el piñón, especialmente en las aceleraciones y deceleraciones bruscas, donde la inercia del árbol de levas es mayor. Saltar un diente descalibra el motor; salirse de las poleas lo destruye.
Recorrer los tres métodos de tensado. Insistir en el del tensor automático, que es el más extendido: tiene su propia marca o ventana de referencia, y el montaje es correcto cuando el indicador queda dentro del rango marcado, ni antes ni después.
Terminar con la regla de oro. Decir explícitamente que la prueba de torcer la correa noventa grados con los dedos, que todos han visto hacer, no es un procedimiento: es una estimación grosera que no sustituye al método del fabricante.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resuelve el caso de apertura y ordena las averías de la distribución con el formato de diagnóstico habitual.
Resolver el caso paso a paso. Al montar la correa, el árbol de levas quedó desplazado uno o varios dientes respecto al cigüeñal. En consecuencia, las válvulas abren y cierran fuera de tiempo: en el momento de la compresión, alguna sigue abierta, de modo que el cilindro no comprime. Como el desfase afecta al árbol entero, los cuatro cilindros lo sufren simultáneamente, que es exactamente lo que decía el caso. Hay chispa y hay combustible, pero falta compresión.
Hacer explícito el principio de diagnóstico que el caso enseña: un síntoma que afecta a todos los cilindros por igual apunta a algo común a todos ellos. Esa regla vale para muchas otras averías.
Recorrer la tabla. Detenerse en la segunda y tercera filas, que son las dos caras de la cadena alargada: el ruido en frío es el aviso temprano, y la pérdida progresiva de prestaciones es la consecuencia instalada. Insistir en que la cadena se sustituye como conjunto, con su tensor y sus patines: montar una cadena nueva sobre patines desgastados es trabajo perdido.
Terminar con la advertencia del primer paso final: si un motor interferente llegó a girar con la distribución fuera de punto, hay que abrir y comprobar. Calar de nuevo y arrancar sin revisar es exponerse a un daño mayor.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resuelve la pregunta práctica más inmediata del trabajo: dónde se mira.
Recorrer la tabla por tipo de mando. En los engranajes, las marcas son puntos o muescas grabados en dientes concretos de ambos piñones; se alinea el diente marcado de uno con el hueco marcado del otro. Advertir de que estas marcas se borran con el uso y con la suciedad acumulada, y que a veces hay que limpiar la zona para encontrarlas.
En la cadena, hay dos sistemas combinados: eslabones de color distinto en la propia cadena y marcas en los piñones. Explicar una trampa frecuente: los eslabones de color se descoloran con el aceite y el uso, de modo que en una cadena usada pueden no verse. Las marcas de los piñones, en cambio, siguen ahí. Por eso las de los piñones son las fiables.
En la correa, las marcas están en las poleas y hay que alinearlas con una referencia fija de la carcasa o de la tapa.
Desarrollar el recuadro, que es un error real y difícil de detectar: una misma polea de distribución puede llevar varias marcas, porque el fabricante usa la misma pieza en versiones distintas del motor. Si se monta guiándose por la marca de otra versión, el motor queda fuera de punto y todo parece correcto. Solo el manual dice cuál es la marca que corresponde.
Recordar el método sin marcas como recurso cuando hay dudas.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cubre algo que no aparece en los libros clásicos y que es imprescindible en los motores actuales.
Explicar el cambio de paradigma: en los motores antiguos, la posición de calado se definía con marcas visibles. En muchos motores modernos no hay marcas útiles: la posición se define exclusivamente mediante útiles de bloqueo que fijan físicamente el cigüeñal y los árboles de levas en su posición. Sin esos útiles, el motor no se puede calar.
Describir los tres tipos. El pasador de volante o de cigüeñal entra por un orificio del bloque previsto para ello y encaja en una perforación del volante o del contrapeso. La regla de árboles de levas se inserta en unas ranuras mecanizadas en el extremo de los árboles, que solo quedan alineadas en la posición correcta. Y el útil de retención del tensor mantiene comprimido el tensor hasta el final.
Insistir en el último punto de la lista, que tiene consecuencias organizativas: hay que consultar antes de empezar si el motor exige útiles especiales y si se dispone de ellos. Descubrirlo con el motor ya desarmado deja el vehículo inmovilizado en el taller hasta conseguir la herramienta.
Desarrollar el recuadro con el énfasis que merece: girar el motor con un pasador puesto es un error que se comete por despiste y que destruye el alojamiento del pasador, es decir, el bloque o el volante. El pasador es de acero templado; el alojamiento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Entregar esta ficha impresa y explicar que es el producto colaborativo de la clase 3.2 y la preparación obligatoria de la práctica.
Hacer explícito el propósito, que es más formativo que documental: rellenar la ficha obliga a hacer dos cosas que previenen los errores típicos. La primera es consultar el manual antes de empezar, que es el paso uno del procedimiento general y el que más se salta. La segunda es mirar el motor con atención suficiente para responder a las preguntas de observación directa.
Detenerse en la cuarta fila, que es la que más consecuencias tiene: saber si el motor es interferente cambia por completo el nivel de precaución del trabajo. En un motor no interferente, un error de calado se corrige y no pasa nada. En uno interferente, el mismo error puede destruir el motor en el primer arranque.
Señalar la sexta fila: la ubicación de las marcas se registra con croquis o fotografía. Esa fotografía es la referencia del armado, y es la que resuelve las dudas cuando el conjunto ya está desmontado.
Explicar la séptima: averiguar si hacen falta útiles especiales antes de empezar. Es el dato que puede impedir el trabajo si falta.
La última fila se completa al terminar y es la verificación. Sin ella, el trabajo no está acabado.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momento crítico de todo el trabajo y conviene demostrarlo antes de que los grupos lo hagan.
El paso uno evita un error frecuente: durante el desmontaje de poleas y accesorios es fácil que algún eje se mueva, especialmente el árbol de levas, que tiende a girar solo por efecto de los muelles de válvula. Antes de colocar la correa hay que comprobar que todo sigue en calado.
Desarrollar los pasos dos y tres juntos, porque son el concepto clave del montaje y el que más se hace mal. Al colocar la correa, la holgura total tiene que quedar concentrada en el ramal donde actuará el tensor. Si se reparte la holgura entre los dos ramales, al tensar se recoge solo la de un lado y el otro se mueve, desplazando el calado. Por eso se empieza por el piñón del cigüeñal y se va recorriendo el camino manteniendo tenso el ramal de arrastre, dejando el flojo para el final.
En el paso cuatro, recordar que el tensor tiene su propio indicador y su rango, y que el montaje es correcto cuando queda dentro de él.
El paso cinco es el que más se olvida y el que más daños causa: retirar todos los útiles de bloqueo antes de girar. Comprobarlo expresamente, en voz alta, es una buena costumbre de taller.
El paso seis es la verificación. Girar siempre a mano, con llave en el tornillo del cigüeñal, y en el sentido de giro del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las seis ideas y trabajar la pregunta de autoevaluación, que aborda una duda real que aparece en el taller y que hace dudar a muchos principiantes.
La respuesta: el trabajo está bien. Las marcas pintadas en la correa nueva sirven únicamente para facilitar el montaje inicial, y dejan de coincidir en cuanto el motor gira, porque el número de dientes de la correa y el de los piñones no guardan una relación entera. Lo que tiene que coincidir después de dos vueltas son las marcas de las poleas con sus referencias fijas, y eso es lo que confirma el calado.
Aprovechar para insistir en que la verificación válida es la de las marcas permanentes, no la de las provisionales.
Repasar las seis ideas, deteniéndose en la quinta, que es la más técnica y la que más errores silenciosos produce: una correa montada con la holgura repartida entre los dos ramales puede parecer perfectamente calada por las marcas y quedar desplazada al tensar.
Recordar la sexta con la gravedad que merece y anunciar que en la práctica se exigirá la verificación de dos vueltas antes de dar por terminado cualquier montaje.
Anunciar la clase 3.3: se abre el cabezote.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aborda el criterio profesional y económico del trabajo, que no aparece en los manuales técnicos pero decide la calidad del servicio.
Explicar el razonamiento común a los cuatro elementos: todos ellos han trabajado exactamente el mismo tiempo y el mismo kilometraje que la correa que se está sustituyendo. Si la correa ha llegado al final de su vida útil, sus rodamientos también.
Desarrollar el caso del rodillo tensor con el énfasis del recuadro, porque es el que más daño causa: cuando un rodamiento se agarrota, el rodillo deja de girar y la correa se destruye contra él en cuestión de segundos. La correa es nueva y el motor se para igual, con todas las consecuencias.
Explicar el caso de la bomba de agua con el argumento económico, que es el que convence al cliente: el acceso ya está abierto. Sustituirla ahora cuesta el precio de la pieza; sustituirla dentro de seis meses cuesta repetir el trabajo entero de desmontaje.
Explicar el caso de los retenes con un dato técnico concreto: el aceite ataca el caucho de la correa, que se hincha y pierde propiedades. Una fuga pequeña de retén arruina una correa nueva en pocos miles de kilómetros.
Terminar con el tercer punto final, que es una habilidad profesional: presentar el trabajo como un conjunto y saber explicar por qué, en lugar de dar un presupuesto de piezas sueltas que el cliente intentará recortar.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cascada de piñones es poco frecuente en turismos y muy frecuente en los vehículos de trabajo que los estudiantes encontrarán en Loja.
Explicar cuándo se emplea: cuando la fiabilidad es prioritaria y la distancia entre ejes lo permite. Es la solución típica de motores industriales y de muchos diésel de trabajo, donde una rotura de distribución en servicio es inaceptable.
Desarrollar el segundo punto, que es la particularidad más importante: en muchos diésel, la misma cascada que mueve el árbol de levas mueve también la bomba de inyección y la bomba de aceite. Eso significa que el calado de esa cascada no afecta solo a las válvulas: afecta al instante de inyección, que es para un diésel lo que el avance al encendido para un gasolina.
Insistir en el recuadro con esa consecuencia: un piñón intermedio mal calado desincroniza dos sistemas a la vez. El motor puede arrancar y funcionar mal sin que sea evidente que el problema es de distribución.
Explicar la comprobación del juego entre dientes, que es propia de este mando: con el comparador apoyado en un diente y moviendo el piñón a mano sin girar el otro, se mide cuánto puede desplazarse. Un juego excesivo introduce imprecisión en el calado y produce ruido.
Mencionar que el engrane de dientes helicoidales es más silencioso que el de dientes rectos.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motores en V aparecen en el parque automotor de la zona y conviene que los estudiantes sepan qué los distingue antes de encontrarse con uno.
Recorrer las cuatro dificultades de la tabla. La primera es la más evidente: hay que sincronizar dos o cuatro árboles con un solo cigüeñal, en lugar de uno o dos.
La segunda introduce una complicación organizativa: cuando hay una transmisión independiente por bancada, cada una tiene su tensor y su procedimiento, y a menudo deben calarse en un orden determinado.
La tercera es una fuente de errores difíciles de detectar: las marcas de ambas bancadas no son simétricas. Lo que vale para la izquierda no vale para la derecha, y una fotografía mal identificada lleva a montar al revés.
La cuarta es práctica y afecta al presupuesto: la V deja poco espacio y suele obligar a desmontar el colector de admisión y buena parte de los accesorios. El tiempo de acceso puede superar al del trabajo propiamente dicho.
Conectar con el caso del Land Cruiser V8 del material de la carrera, que reúne todas estas dificultades, y pedir que localicen su procedimiento.
Insistir en los cuatro puntos finales, especialmente en el registro fotográfico duplicado e identificado.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Aunque la asignatura se centra en el motor de gasolina, el parque de vehículos de trabajo de la zona es mayoritariamente diésel y conviene señalar las diferencias.
La primera y más importante es que la distribución de un diésel suele arrastrar más elementos: además del árbol de levas, la bomba de inyección y, en muchos casos, la bomba de vacío que alimenta el servofreno.
Desarrollar la consecuencia con el recuadro: en un diésel, la distribución y la inyección son el mismo trabajo. El instante de inyección cumple en un diésel el papel que el avance al encendido cumple en un gasolina —decide cuándo empieza la combustión— y ese instante depende del calado. Por eso el procedimiento incluye referencias de la bomba además de las del árbol.
Explicar la tercera diferencia: las presiones de combustión de un diésel son muy superiores, de modo que las solicitaciones sobre la distribución también lo son. Los mandos se dimensionan en consecuencia, y por eso predominan la cadena y los engranajes frente a la correa.
Insistir en la cuarta: la relación de compresión muy alta implica que el pistón sube casi hasta tocar la culata, de modo que la holgura con las válvulas es mínima. Prácticamente todos los diésel son interferentes, y un salto de distribución dobla válvulas con seguridad.
Recorrer la tabla de síntomas como anticipo de asignaturas posteriores.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aborda el mantenimiento preventivo, que es donde el técnico aporta más valor y donde el conocimiento de la unidad se traduce en servicio al cliente.
Recorrer la tabla por mando. La correa tiene intervalo fijo, por kilometraje o por tiempo, y el conjunto que se sustituye incluye siempre los rodillos. La cadena no tiene intervalo: se sustituye por estado, y sus señales de alerta —ruido metálico en frío y pérdida progresiva de prestaciones— son las que permiten anticiparse. Los engranajes no tienen intervalo.
Desarrollar las señales de alerta de la correa con el recuadro, porque es una inspección que puede hacerse en cualquier mantenimiento y que salva motores: grietas transversales en la base de los dientes, que indican fatiga; cantos deshilachados, que indican desalineación de alguna polea; y aspecto brillante o hinchado, que indica contacto con aceite de una fuga de retén.
Insistir en los dos primeros puntos finales, que son hábitos profesionales poco extendidos y de enorme valor: anotar fecha y kilometraje de la sustitución en el historial y en una etiqueta bajo el capó. Dentro de cinco años, esa etiqueta es la única fuente de información fiable sobre cuándo se hizo el trabajo.
Terminar con la recomendación al cliente y con lo que se comprueba en cada mantenimiento.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cuadro recoge los siete casos estudiados y es el producto colaborativo declarado para la clase 3.2.
Recorrerlo rápidamente, porque cada caso ya se explicó, y centrarse en la columna de la derecha, que es la que recoge lo que enseña cada uno. Esa columna es el verdadero contenido de la clase: no los siete procedimientos, sino las siete lecciones que extraen de ellos.
Desarrollar el recuadro, que es la conclusión de toda la clase 3.2 y conviene que quede dicha con claridad: siete procedimientos muy distintos y un solo principio. Las diferencias están en el acceso, en el método de tensado y en la ubicación de las marcas. Lo que hay que conseguir es siempre lo mismo.
Explicar la tarea: cada grupo añade una fila con el motor que se le ha asignado, obteniendo sus datos de Autodata. Así el cuadro crece con casos reales trabajados por ellos.
Señalar que este cuadro, junto con la ficha de puesta a punto, es lo que se exige antes de la sesión de taller.
Recordar que el cuadro se conserva: es material de estudio para la prueba de unidad y para la parte de procedimiento del 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cabezote como la pieza que cierra el motor por arriba y que, por ello, concentra las condiciones más duras de todo el conjunto.
Enunciar lo que tiene que hacer a la vez, porque esa acumulación de exigencias explica todo su diseño: cerrar herméticamente la cámara de combustión frente a presiones muy altas; alojar las válvulas y sus asientos, que trabajan al rojo; alojar la bujía; conducir la mezcla hacia dentro y los gases hacia fuera; dejar pasar el refrigerante y el aceite; y soportar el apriete de los tornillos sin deformarse. Todo eso en una sola pieza fundida.
Anunciar el recorrido: primero qué hace y de qué está hecho; después la cámara de combustión y los criterios que gobiernan su forma, que se adelantaron en la Unidad 1 y aquí se completan; luego las válvulas con sus guías, asientos y muelles; y por último el despiece ordenado, que es la preparación directa de la práctica.
Advertir sobre el trabajo de la clase siguiente: lo que hoy se desarma, mañana se comprueba. El orden con que se desarme decide si las comprobaciones podrán hacerse con sentido, porque cada válvula debe volver a su propio asiento.
Mencionar el riesgo de seguridad específico de esta clase: los muelles de válvula están comprimidos y almacenan energía. Gafas obligatorias.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objetivo a la escena de taller: llega un cabezote a la mesa, desmontado del motor, y hay que decidir qué se hace con él. Antes de medir nada hay que saber qué se está mirando y hay que desarmarlo sin perder la información de dónde estaba cada pieza.
Insistir en esa segunda parte, porque es lo que marca la diferencia entre un trabajo útil y uno inútil: si las válvulas se mezclan, las comprobaciones de la clase siguiente pierden casi todo su valor. Cada válvula ha estado asentando sobre su propio asiento durante toda la vida del motor y ambos se han desgastado juntos, adaptándose entre sí. Mezclarlas obliga a rehacer el ajuste de todas.
Aclarar el alcance: hoy se desarma y se identifica; mañana se mide y se decide. Las dos clases forman un solo trabajo continuado, y así se hará también en el laboratorio.
Señalar la evidencia colaborativa: el despiece con inventario, registro fotográfico y piezas identificadas por cilindro. El inventario es importante: antes de empezar a limpiar hay que saber cuántas piezas debería haber y comprobar que están todas.
Recordar la seguridad con los muelles comprimidos antes de pasar al contenido.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Enumerar las seis exigencias y hacer notar que no son alternativas: el cabezote tiene que cumplirlas todas simultáneamente, en una sola pieza fundida, durante toda la vida del motor.
Desarrollar la primera con un dato que impresiona y que conviene dar: la presión en la cámara durante la combustión es muy superior a la de cualquier otra zona del motor, y el cabezote la contiene mediante el apriete de sus tornillos sobre un empaque de pocos milímetros.
Señalar la tercera, que suele pasarse por alto: los conductos de admisión y escape están labrados dentro del cabezote, y su forma y acabado afectan directamente al llenado. Conectar con el rendimiento volumétrico de la Unidad 2.
Desarrollar el recuadro con detenimiento porque es la idea que más consecuencias prácticas tiene: el empaque de culata tiene que sellar a la vez tres cosas distintas —gases de combustión a altísima presión, refrigerante y aceite— que circulan por conductos separados apenas por unos milímetros. Si falla entre la cámara y el conducto de refrigerante, entra refrigerante al cilindro y aparece humo blanco; si falla entre la cámara y el exterior, se oyen fugas de compresión; si falla entre aceite y refrigerante, ambos se mezclan.
De ahí las dos reglas del párrafo final: el plano se comprueba siempre que se desmonta, y el empaque nunca se reutiliza. Las dos se cumplirán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evolución de materiales, que no es un dato histórico sino la clave de una consecuencia práctica muy importante.
Empezar por la fundición de hierro, que fue el material original. Es pesada y conduce el calor peor, pero es extraordinariamente estable: resiste el apriete y el ciclo térmico sin deformarse, y perdona un recalentamiento que arruinaría una culata de aluminio.
Explicar por qué se pasó al aluminio, y aquí está la conexión conceptual importante: el aluminio conduce el calor mucho mejor, de modo que evacúa más deprisa el calor de la cámara de combustión. Una cámara más fría es una cámara con menos riesgo de detonación, y menos riesgo de detonación permite subir la relación de compresión. Conectar explícitamente con la clase 2.3, donde se estudió la detonación y el avance al encendido. El aluminio no se adoptó solo por ligereza: permitió mejorar el rendimiento.
Explicar ahora el precio, que es el dato que el técnico necesita: el aluminio se dilata más y se deforma con facilidad. Un motor que se recalienta seriamente, aunque solo sea unos minutos, puede quedar con el plano del cabezote alabeado. Por eso en cualquier motor que haya sufrido recalentamiento, la comprobación de planitud es obligatoria antes de volver a montar.
Mencionar la figura de los machos de fundición, que explica cómo se generan los conductos interiores: son moldes de arena que se destruyen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recupera y completa lo que se adelantó en la Unidad 1 sobre la cámara de combustión, ahora con los cuatro criterios de diseño explicados.
El primer criterio es de rendimiento térmico: cuanta más superficie tenga la cámara en relación con su volumen, más calor se pierde hacia las paredes y hacia el refrigerante en lugar de convertirse en trabajo. Una cámara compacta, próxima a la esfera, es térmicamente más eficiente.
El segundo y el tercero están los dos relacionados con la detonación, y conviene conectarlos explícitamente con la clase 2.3. La bujía centrada hace que el frente de llama recorra distancias parecidas en todas direcciones, de modo que la combustión termina antes. Y el punto más alejado de la bujía —que es el último en quemarse y, por tanto, el que más tiempo pasa comprimido y caliente— debe estar en una zona refrigerada, para que no alcance por sí solo su temperatura de autoencendido. Si lo hace, detona.
El cuarto criterio es de llenado y entra en conflicto con el primero, como señala el recuadro: una cámara compacta deja poco sitio para válvulas grandes. La solución moderna es la cámara en techo con cuatro válvulas, que resuelve el conflicto por partida doble: dos válvulas pequeñas inscritas en el mismo espacio dan más área de paso que una grande, y al repartirse dejan el centro libre para la bujía.
Pedir que relacionen estos criterios con las cámaras de los motores del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explica por qué la válvula de escape concentra la mayor parte de las averías del cabezote.
Empezar por la comparación de la tabla. La válvula de admisión está permanentemente refrigerada por la mezcla fresca que pasa sobre ella, de modo que trabaja relativamente fría. La de escape, en cambio, es atravesada por los gases quemados que salen del cilindro, a temperaturas muy elevadas. Es, con diferencia, la pieza que más calor recibe del motor.
Explicar la diferencia de diámetro: la de admisión es mayor porque el llenado depende de ella y la mezcla entra solo por la depresión que crea el pistón. Los gases de escape, en cambio, salen impulsados por su propia presión residual, de modo que necesitan menos sección.
Desarrollar el recuadro, que es el concepto clave: la válvula de escape solo tiene dos caminos para evacuar su calor. El principal es el contacto de su cara cónica con el asiento mientras está cerrada, que es cuando conduce el calor al cabezote y de ahí al refrigerante. El secundario es el contacto del vástago con la guía.
De ahí la espiral del primer punto final, que conviene enunciar despacio porque explica muchas averías: si la válvula no asienta bien, pierde su vía principal de refrigeración; al refrigerar peor se calienta más; al calentarse más se deforma; y al deformarse asienta todavía peor. El proceso se acelera solo hasta que la válvula se quema.
Terminar con la regla de identificación: cada válvula vuelve a su asiento.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tres elementos son los que deciden si la válvula trabaja bien, y los tres se comprueban en la clase siguiente.
Explicar la guía: es un casquillo, a veces postizo y a veces labrado en el propio material, que rodea el vástago de la válvula. Hace dos cosas: mantiene el vástago alineado, de modo que la cabeza baje y suba siempre por el mismo eje y asiente centrada; y conduce al cabezote parte del calor de la válvula.
Desarrollar el círculo vicioso del primer punto final, porque es el concepto que justifica medir siempre la guía: cuando la guía tiene holgura, la válvula cabecea ligeramente al cerrar y no apoya centrada sobre su asiento. El apoyo descentrado desgasta el asiento de forma irregular, y un asiento irregular hace que el cierre sea aún peor. Por eso rectificar un asiento sin haber corregido antes la guía es trabajo perdido: a los pocos miles de kilómetros vuelve a estar como antes.
Explicar la recesión del asiento: el martilleo continuo de la válvula contra el asiento va hundiendo la cabeza en él. El efecto medible es que la holgura de válvula disminuye progresivamente, hasta que llega un punto en que la válvula no apoya del todo y deja de cerrar. Conectar con la clase 2.2, donde se mencionó la recesión como razón de ciertos aditivos de la gasolina.
Usar el recuadro como diagnóstico memorable: el humo azul breve al arrancar tras una parada larga delata los sellos de vástago.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muelles parecen el elemento más simple del cabezote y encierran uno de los conceptos más interesantes del motor.
Corregir de entrada la idea intuitiva: la función del muelle no es cerrar la válvula, o no solo. Su función es mantener la válvula pegada a la leva en todo momento, también mientras la leva la está dejando bajar. Si el muelle no consigue que la válvula siga el perfil descendente, la válvula se separa de la leva y pierde el control de su movimiento.
Explicar la flotación con ese planteamiento: a medida que sube el régimen, las aceleraciones a que se somete la válvula crecen con el cuadrado de la velocidad de giro, mientras que la fuerza del muelle es la misma. Llega un régimen en el que la inercia de la válvula supera lo que el muelle puede controlar: la válvula se despega de la leva, rebota y deja de cerrar correctamente.
Insistir en la idea del recuadro, que suele sorprender: el régimen máximo de un motor convencional no lo pone el cigüeñal ni la combustión, lo ponen las válvulas. Y de ahí las tres soluciones: muelles más fuertes, que a su vez aumentan el rozamiento y el consumo; válvulas más ligeras, con materiales caros; o el mando desmodrómico, que cierra la válvula mecánicamente con una segunda leva y suprime el muelle por completo.
Presentar las dos comprobaciones de la tabla, que se ejecutarán en la clase siguiente: longitud libre y perpendicularidad.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Dedicar tiempo real a la preparación antes de que nadie toque el cabezote, igual que se hizo con el carburador en la Unidad 2.
Revisar la herramienta y comprobar que cada puesto la tiene completa. Dos elementos son imprescindibles y suelen faltar: el compresor de muelles, sin el cual las válvulas no se pueden desmontar sin dañar nada, y la llave dinamométrica.
Desarrollar las advertencias de seguridad con seriedad. La primera es la más importante: los muelles de válvula están fuertemente comprimidos en su posición de montaje y almacenan una energía considerable. Si el compresor resbala o no está bien centrado, el muelle se libera de golpe y los seguros cónicos salen proyectados a gran velocidad. Es un accidente ocular clásico del taller. Gafas obligatorias, sin excepción.
Insistir en el orden con el mismo énfasis que en la práctica del carburador, pero con un motivo distinto y más fuerte: aquí no se trata solo de no perder piezas, sino de que cada válvula y cada muelle vuelvan exactamente a la posición de la que salieron, porque se han desgastado adaptándose a ella.
Explicar el párrafo final, que tiene consecuencia económica: muchos motores modernos llevan tornillos de culata de apriete angular que son de un solo uso, porque se deforman plásticamente al apretarse. Reutilizarlos es garantizar una fuga. Hay que saberlo antes de empezar para tener los nuevos disponibles.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este procedimiento en demostración antes de que los grupos lo hagan, porque varios pasos tienen una técnica concreta que no se deduce leyendo.
El paso dos merece el énfasis del recuadro. Los sombreretes que sujetan el árbol de levas lo mantienen recto; si se afloja uno del todo mientras los otros siguen apretados, el árbol queda apoyado de forma desigual y se flexiona. En un árbol de fundición eso puede llegar a partirlo. El procedimiento correcto es aflojar todos en orden cruzado, desde los extremos hacia el centro o según indique el manual, en varias pasadas sucesivas de poco apriete cada una.
En el paso cuatro, explicar la técnica del compresor: debe apoyar centrado sobre el platillo y perpendicular al eje de la válvula. Se comprime solo lo necesario para que los seguros queden libres, no más: comprimir en exceso somete al muelle a un esfuerzo innecesario.
En el paso cinco, advertir sobre los seguros cónicos. Son dos piezas pequeñas por válvula, en forma de media luna, y se pierden con una facilidad asombrosa. Un imán de varilla es la herramienta ideal.
En el paso seis, insistir en llevar platillo, muelle y válvula juntos a la misma casilla, sin mezclarlos con los de otra posición.
El paso ocho recuerda que los sellos de vástago siempre se sustituyen, nunca se reutilizan.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empaque de culata es la avería más conocida del motor y la que más veces se repara mal, de modo que merece una diapositiva propia.
Recordar lo que tiene que sellar: gases de combustión a altísima presión, refrigerante y aceite, con conductos separados por milímetros. Según por dónde ceda, el síntoma es completamente distinto, y de ahí la tabla.
Recorrer los cuatro modos de fallo. El primero, entre cámara y refrigerante, es el que resolvió el caso A: el refrigerante pasa a la cámara, se quema y sale como vapor de agua. El segundo, hacia el exterior, produce un soplido audible. El cuarto, entre aceite y refrigerante, produce la emulsión lechosa en la tapa de llenado que todos han visto alguna vez.
Detenerse en el tercero, que merece el recuadro, porque es un patrón de diagnóstico excepcionalmente fiable: cuando el empaque cede entre dos cilindros contiguos, ambos comparten la fuga y ambos pierden compresión en medida parecida. Una prueba de compresión que dé dos cilindros vecinos bajos y de valor similar, con los demás normales, es prácticamente concluyente. Ninguna otra avería dibuja ese patrón.
Terminar con los tres puntos finales y, sobre todo, con el error habitual: el empaque casi siempre falla porque el motor se recalentó. Sustituirlo sin averiguar por qué se recalentó garantiza que vuelva a fallar. Esto conecta directamente con la Unidad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árbol de levas suele darse por bueno sin comprobarlo, y es una de las piezas donde un desgaste pequeño tiene efectos desproporcionados.
Explicar la medición de altura de leva, que es la comprobación más informativa: se mide con micrómetro la distancia entre el vértice de la leva y su base circular. Esa dimensión es la que determina cuánto se levanta la válvula. Una leva desgastada unas décimas abre menos de lo previsto, y ese cilindro admite o evacúa menos que los demás.
Desarrollar el recuadro, porque describe una avería escurridiza: un motor con una leva desgastada funciona irregularmente, pero todas las pruebas de encendido y de alimentación salen normales, porque el problema no está ahí. Solo se descubre midiendo el árbol. Es un ejemplo de por qué la metrología forma parte del diagnóstico y no solo de la reparación.
Explicar las causas del desgaste y conectarlas con la Unidad 4: la leva y su taqué trabajan en condiciones de lubricación difíciles, con presión de contacto muy alta y película de aceite fina. El aceite sucio o pasado de intervalo es la causa más común. Una holgura de reglaje excesiva también contribuye, porque aumenta el impacto en cada apertura.
Explicar la decisión: un árbol con una leva desgastada se sustituye completo, y se revisa el taqué o balancín correspondiente, que casi siempre está dañado también.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cierra el estudio del cabezote como pieza y conecta varias cosas ya vistas.
Empezar por los conductos, que suelen ignorarse: su sección y su forma deciden cuánto caudal puede pasar. Es exactamente el rendimiento volumétrico de la Unidad 2, visto desde dentro de la culata.
Desarrollar la carbonilla con sus tres efectos distintos, que conviene no mezclar. En la cámara, una capa gruesa ocupa volumen y, al reducir el volumen de la cámara, sube la relación de compresión real por encima de la de diseño; el motor se acerca a la detonación sin que nada haya cambiado en la gasolina ni en el encendido. Conectar explícitamente con la Unidad 1 y con la clase 2.3.
En el conducto de admisión, la carbonilla estrecha el paso y empeora el llenado. Es frecuente en motores de uso urbano corto, donde el motor rara vez alcanza temperatura de régimen.
En el asiento, impide el apoyo correcto de la válvula, que pierde su vía de refrigeración principal y entra en la espiral de deterioro que se explicó en la clase anterior.
Insistir en el recuadro sobre la técnica de limpieza: el objetivo es retirar el depósito, no rebajar el material. Y nunca herramienta de acero sobre aluminio.
Terminar con la observación profesional, que convierte la limpieza en una oportunidad de diagnóstico: comparar las cuatro cámaras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las seis ideas y la pregunta de autoevaluación, que es el caso C de la clase siguiente y sirve de puente.
La respuesta esperada: sellos de vástago endurecidos o guías con holgura excesiva. El síntoma aparece solo tras el reposo porque el aceite necesita horas para filtrarse por las guías hasta la cámara de combustión; en el primer arranque se quema todo el acumulado de golpe, lo que produce la bocanada azul, y después el consumo continúa pero es mucho menos visible.
Aprovechar para señalar la lógica del razonamiento, que es generalizable: cuando un síntoma aparece solo tras un reposo largo, hay que preguntarse qué puede ocurrir lentamente mientras el motor está parado. Casi siempre la respuesta es un fluido que se desplaza por gravedad.
Repasar las seis ideas, deteniéndose en la cuarta y la quinta, que son las dos de mayor consecuencia práctica. La cuarta explica por qué las averías del cabezote se concentran en el escape. La quinta es el criterio que ordena la reparación.
Recordar el trabajo pendiente: el despiece ordenado con inventario y registro fotográfico, que es lo que se exige antes de la clase siguiente.
Anunciar la clase 3.4: lo que hoy se desarmó, mañana se mide y se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empaque de culata merece una diapositiva propia porque es la pieza que más veces se monta mal y la que peores consecuencias tiene cuando eso ocurre.
Recorrer los tres tipos de la tabla. El compuesto con alma metálica es el clásico: capas de material de relleno sobre una chapa, con anillos metálicos reforzando el borde de los cilindros. Se monta seco, y conviene decirlo expresamente porque la tentación de añadir pasta selladora es frecuente y casi siempre perjudicial: la pasta impide que el empaque asiente correctamente.
El multicapa metálico es el estándar actual: varias láminas finas de acero con resaltes elásticos que sellan por deformación. Es muy duradero pero menos tolerante al alabeo, de modo que exige planos en buen estado.
El tercero introduce un concepto poco conocido: algunos motores usan empaques de distinto espesor, identificados con muescas, y el espesor correcto se elige en función de cuánto sobresalen los pistones del bloque. No son intercambiables, y montar uno de espesor equivocado cambia la relación de compresión.
Insistir en el recuadro: el empaque tiene una sola posición correcta. Montarlo girado tapa conductos y destruye el motor en minutos.
Explicar por qué no se reutiliza: se deforma plásticamente y no recupera espesor.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tornillería del cabezote es un contenido técnico que suele quedar fuera de los programas y que tiene consecuencias prácticas inmediatas.
Explicar la diferencia entre apriete por par y apriete angular, que es conceptualmente interesante. Cuando se aprieta a un par determinado, buena parte de ese par se consume venciendo el rozamiento de la rosca y de la cabeza, y ese rozamiento varía mucho según el estado de la rosca, la limpieza y la lubricación. El resultado es que dos tornillos apretados al mismo par pueden quedar con fuerzas de apriete bastante distintas.
El apriete angular resuelve eso: tras un par inicial que asienta las piezas, se gira el tornillo un número determinado de grados. Como el avance de la rosca por vuelta es conocido, girar tantos grados equivale a alargar el tornillo una cantidad determinada, y el alargamiento sí determina directamente la fuerza. El rozamiento deja de importar.
Explicar por qué eso obliga a tornillos de un solo uso: el método lleva el tornillo más allá de su límite elástico, de modo que queda permanentemente alargado. Reutilizarlo partiendo de una longitud distinta ya no da la misma fuerza.
Desarrollar el recuadro, que describe una avería real y poco conocida: líquido atrapado en un agujero ciego. Los líquidos no se comprimen, y la presión fisura el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cubre los elementos que van montados sobre el cabezote y que hay que retirar y volver a montar en la práctica.
Recorrer la tabla. La tapa de balancines es la fuente más común de fugas de aceite en la parte alta del motor; su junta se endurece con el calor y deja de sellar, con el resultado característico de aceite escurriendo por los laterales de la culata.
El colector de admisión conecta con la Unidad 2: su junta soplada produce entrada de aire falso y el ralentí alto e inestable que no responde al tornillo de riqueza.
El colector de escape sufre fatiga térmica porque se calienta y enfría en cada uso; sus fisuras y sus juntas sopladas producen el soplido rítmico característico.
Desarrollar el recuadro sobre la rosca de bujía, que es una avería cara, frecuente y completamente evitable. El procedimiento correcto es montar la bujía a mano hasta que apoye, y solo entonces apretar con llave al par. Si no entra a mano con facilidad, está cruzada o la rosca está dañada, y forzarla con la llave arruina la rosca de la culata. Mencionar que existen reparaciones con casquillo roscado, pero que son un remedio y no una solución limpia.
Recordar el apriete en orden cruzado de los colectores.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organiza la práctica más larga de la asignatura y aborda un problema real que se da en todos los laboratorios.
Presentar el reparto en cuatro sesiones como propuesta orientativa, ajustable al calendario del grupo y al receso de fin de año. Lo importante no es el reparto exacto, sino que cada sesión tenga un punto de parada definido.
Desarrollar el recuadro, que es el mensaje de la diapositiva: un cabezote a medio desarmar, con las piezas sueltas sobre el banco y sin identificar, pierde en una semana toda la información que se había registrado. Las válvulas se mezclan, los seguros desaparecen y el trabajo de la sesión anterior se vuelve inútil.
Explicar la rutina de cierre de sesión: fotografiar el estado, cubrir las piezas, tapar los conductos abiertos contra el polvo y anotar en la ficha en qué punto se quedó. Lleva cinco minutos y ahorra una sesión entera.
Explicar la rutina de apertura: revisar la fotografía y el inventario antes de tocar nada. Si falta una pieza, es mejor descubrirlo al principio que a mitad del armado.
Terminar con el tercer punto, que conecta con la habilidad blanda de trabajo en equipo declarada en el PEA: el puesto se deja ordenado aunque la sesión termine con prisa, porque otro grupo trabajará sobre lo que este deje.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clase como la que convierte el despiece en un trabajo técnico: hasta ahora se desarmó, ahora se mide y se decide.
Enunciar el criterio que gobierna la clase entera, que es el mismo de toda la asignatura pero aquí se aplica a siete comprobaciones distintas: medir no es leer un número, es comparar ese número con el del fabricante y tomar una decisión. Cada comprobación de hoy tiene su criterio de aceptación y su decisión asociada: aceptar, reparar o sustituir.
Anunciar el recorrido en el orden en que se ejecuta en el taller: primero lo que afecta al cabezote como pieza —planitud y fisuras—, porque si falla ahí no tiene sentido seguir; después lo que afecta a cada válvula —guía, asiento, estanqueidad—; luego los muelles; y por último el armado con el reglaje de válvulas y el apriete al par.
Hacer explícito un orden lógico que los estudiantes suelen invertir: la guía se comprueba antes que el asiento, porque una guía holgada invalida cualquier trabajo sobre el asiento. Es la jerarquía que decide en qué orden se repara.
Recordar que esta clase cierra la unidad y que incluye la síntesis y el repaso para la prueba de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objetivo a la decisión profesional que resume todo el trabajo: un cabezote llega a la mesa y hay que decir qué se hace con él. Hay tres respuestas posibles —apto, reparable con tal trabajo, o rechazado— y cada una tiene consecuencias económicas para el cliente.
Hacer explícito el orden jerárquico de las comprobaciones, que es lo que estructura la clase. Primero se comprueba el cabezote como pieza: si tiene una fisura en el plano de apoyo, se rechaza y no hay nada más que medir. Si el plano está alabeado por encima de lo rectificable, lo mismo. Solo cuando la pieza es viable tiene sentido comprobar cada válvula.
Dentro de cada válvula, insistir en el orden guía-asiento, que ya se adelantó: la guía primero, porque una guía con holgura invalida el trabajo sobre el asiento.
Señalar la evidencia de la clase: la ficha completa con valor del fabricante, valor medido y decisión justificada. Es el mismo formato de las unidades anteriores, aplicado ahora a siete comprobaciones.
Recordar que la prueba de unidad incluirá interpretación de casos a partir de fichas como 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casos cubren las tres fugas características del cabezote y se resolverán a lo largo de la clase.
El caso A es un empaque de culata soplado entre la cámara y un conducto de refrigeración, o bien una fisura en el plano. El refrigerante pasa a la cámara, se quema con la mezcla y sale por el escape convertido en vapor de agua, que es el humo blanco denso. La clave diagnóstica está en que no hay fuga externa: el refrigerante no desaparece, cambia de circuito.
El caso B es una válvula que no cierra, por asiento quemado o por recesión. Lo que lo distingue de un problema de segmentos es la prueba del aceite, que conviene explicar con detalle porque es un recurso de diagnóstico excelente: si se echan unas gotas de aceite por el orificio de la bujía y se vuelve a medir la compresión, el aceite sella temporalmente la holgura de los segmentos. Si la compresión mejora, la fuga era por los segmentos; si no mejora, la fuga está arriba, en las válvulas o en el empaque.
El caso C son sellos de vástago o guías desgastadas, como se vio en la clase anterior. El detalle del reposo nocturno es la clave: el aceite necesita horas para filtrarse por las guías hasta la cámara.
No resolver ahora. Pedir que cada grupo anote su hipótesis y la contraste al final 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comprobación es idéntica en método a la del bloque de la Unidad 1, y conviene decirlo: el estudiante ya sabe hacerla. Lo nuevo es la decisión que se toma con ella.
Recordar el método de pasa o no pasa: no se mide el hueco, se intenta pasar la galga del valor límite bajo la regla. Si no pasa en ninguna posición, el plano es aceptable.
Explicar la decisión del rectificado plano y sus consecuencias, que son importantes y suelen olvidarse: al rectificar se quita material del plano, de modo que el cabezote baja. Eso reduce el volumen de la cámara y, por tanto, aumenta la relación de compresión, lo que puede llevar a detonación. Además, en motores de distribución por correa, la distancia entre el cigüeñal y el árbol de levas cambia ligeramente. Por eso el manual da una altura mínima del cabezote por debajo de la cual ya no se puede rectificar.
Explicar la inspección de fisuras y dónde buscarlas: en el plano de apoyo, entre asientos de válvula contiguos y alrededor de los alojamientos de bujía. Son las zonas más calientes y las que más ciclo térmico sufren. Se busca con luz rasante, que es la que revela los defectos de superficie.
Mencionar que existen métodos de detección por líquidos penetrantes y por presión, y que la inspección visual es el primer filtro, no el único.
Resolver el caso A con el recuadro.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método del comparador con detalle porque es el que se usará en la práctica y tiene una sutileza importante.
El procedimiento es el siguiente: se monta la válvula en su propia guía y se levanta ligeramente, de modo que la cabeza quede separada unos milímetros del asiento y no apoye. Se coloca el palpador del comparador contra el borde de la cabeza y se mueve la válvula lateralmente de un extremo al otro. La lectura es el juego total medido en la cabeza.
Advertir de la sutileza: lo que se mide no es la holgura entre vástago y guía, sino su efecto amplificado en la cabeza, que es mucho mayor porque la cabeza está lejos del punto de apoyo. Por eso el valor del manual se refiere siempre a un punto concreto de medición, y hay que medir donde el manual dice.
Explicar el método alternativo con micrómetro y por qué se mide el vástago en varios puntos: el desgaste no es uniforme a lo largo del vástago. Hay zonas que rozan constantemente contra la guía en los extremos del recorrido y se desgastan más. Una sola medida tomada en una zona poco castigada daría un resultado engañosamente bueno.
Insistir en la jerarquía del recuadro, que es el criterio profesional más importante de esta diapositiva y uno de los más repetidos de la unidad: primero la guía, después el asiento. Siempre en ese 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cubre la reparación más frecuente del cabezote y resuelve dos de los tres casos de apertura.
Explicar el concepto de franja de contacto, que es la clave para juzgar un asiento: la válvula no apoya en toda su cara cónica, sino en una franja estrecha. Esa franja tiene un ancho óptimo que da el manual, y las dos desviaciones tienen consecuencias opuestas. Demasiado estrecha, la válvula no evacúa bien su calor al cabezote y acaba quemándose. Demasiado ancha, la presión de cierre se reparte en mucha superficie y el sellado es peor, además de acumular carbonilla con más facilidad.
Explicar la técnica del esmerilado: pasta abrasiva entre la válvula y el asiento, ventosa en la cabeza, y movimiento alterno de giro en ambos sentidos, levantando la válvula cada cierto tiempo para redistribuir la pasta. No se gira siempre en el mismo sentido, porque eso labra surcos.
Insistir en el paso cuatro con toda la seriedad, porque es un error que destruye motores: la pasta de esmerilar es un abrasivo. Cualquier resto que quede en el conducto o en el vástago acabará en el cilindro o en la guía y actuará como lija. La limpieza posterior al esmerilado tiene que ser exhaustiva.
Explicar la prueba de estanqueidad con combustible, que es sencilla y concluyente, y advertir de hacerla con ventilación y sin fuentes de ignición.
Resolver los casos B y C con los dos últimos puntos.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comprobación es rápida y suele saltarse, y conviene explicar por qué merece hacerse.
Explicar la medición de longitud libre: el muelle sin comprimir tiene una longitud nominal que da el manual. Un muelle que ha cedido es más corto y, por tanto, entrega menos fuerza en su posición de montaje. Esa pérdida de fuerza acerca el régimen de flotación, de modo que el motor empieza a fallar arriba antes de lo que debería.
Explicar la perpendicularidad y por qué importa: un muelle torcido no empuja a lo largo del eje de la válvula, sino con una componente lateral. Esa componente carga el vástago contra un lado de la guía y acelera el desgaste de ambos. Es una de las causas de que una guía se desgaste prematuramente aunque el motor esté bien lubricado.
Insistir en el criterio del recuadro, que es el que más se incumple: los muelles se juzgan y se sustituyen en conjunto. Montar un muelle nuevo entre siete viejos crea una válvula que se comporta de forma distinta a las demás. El motor funciona irregularmente y la causa es casi imposible de localizar si no se sabe que ocurrió.
Terminar con el dato práctico: aprovechar que el motor está abierto. Comprobar los muelles cuesta minutos; volver a abrir el motor para cambiarlos cuesta un trabajo entero.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prueba de compresión es la herramienta de diagnóstico más usada del taller y la que más veces se hace mal, de modo que conviene detallar su procedimiento.
Explicar por qué cada una de las condiciones previas importa. El motor caliente: en frío las holguras son mayores y los valores salen bajos en todos los cilindros, lo que puede hacer pensar en un problema de distribución inexistente. Todas las bujías retiradas: si solo se retira una, el motor tiene que comprimir en los demás cilindros y el arranque lo gira despacio, de modo que el cilindro medido no alcanza su valor. Acelerador a fondo: con la mariposa cerrada entra poco aire y el cilindro no se llena, de modo que la lectura es menor de la real.
Insistir en el punto cinco, que es el criterio de interpretación: lo valioso de esta prueba no es el valor absoluto, sino la comparación entre cilindros. Un motor cuyos cuatro cilindros dan valores parecidos está sano aunque esos valores no sean altísimos; un motor con un cilindro un veinte por ciento por debajo de los demás tiene un problema concreto aunque todos los valores parezcan aceptables.
Desarrollar la prueba del aceite con detalle, porque es el complemento que convierte la prueba en diagnóstico y es muy elegante: el aceite sella temporalmente la holgura de los segmentos, pero no puede sellar una válvula que no cierra ni un empaque soplado. Por eso la mejora o la ausencia de mejora separa limpiamente las dos familias de causas.
Recorrer la tabla con los tres patrones.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ensayo de fugas es la prueba complementaria de la compresión y resuelve lo que la compresión deja abierto.
Explicar la diferencia de fondo, que es la del recuadro: la prueba de compresión mide cuánta presión alcanza el cilindro y, por tanto, dice si pierde; pero no dice por dónde. El ensayo de fugas introduce aire a presión constante y permite escuchar por dónde se escapa. Entre las dos pruebas se resuelve prácticamente cualquier pérdida de compresión sin desarmar nada, lo que es de enorme valor práctico: permite dar al cliente un diagnóstico fundado antes de abrir el motor.
Recorrer la tabla, que es la clave de la interpretación y es completamente lógica: el aire sale por donde hay un camino abierto. Si sale por el colector de admisión, la válvula de admisión no cierra. Si sale por el escape, es la de escape. Si sale por la boca de llenado de aceite, el aire está pasando al cárter por los segmentos. Si aparecen burbujas en el refrigerante, hay comunicación entre cámara y circuito de refrigeración.
Insistir en la precaución: con el cilindro en punto muerto superior y aire a presión dentro, el motor tiende a girar. Hay que bloquearlo, con la marcha engranada y el freno puesto o con el útil adecuado. Un giro brusco con una llave puesta en el tornillo del cigüeñal puede lesionar.
Recordar que lo valioso del ensayo es el punto por el que se escucha, no solo el porcentaje.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ejercicio integrador de la unidad y conviene trabajarlo en grupos, repartiendo un caso a cada uno para que expongan su razonamiento.
Recorrer los casos uno a uno. El primero es el caso de apertura de la clase 3.2, ahora con una vuelta de tuerca importante: una vez verificadas las marcas, si el motor es interferente y llegó a girar fuera de punto, hay que comprobar que las válvulas no se hayan doblado. Calar de nuevo y arrancar sin comprobarlo puede agravar el daño.
El segundo y el tercero son los casos de la clase 3.4 y se resuelven con las pruebas que acaban de verse.
El quinto es especialmente formativo porque no tiene un síntoma llamativo: el cliente solo dice que el coche ya no va como antes. Dos causas posibles y ambas se detectan midiendo, no escuchando.
Insistir en el patrón del recuadro, que es el principio de diagnóstico más útil de la unidad y que conviene que quede memorizado: todos los cilindros apunta al tiempo; un cilindro apunta a ese cilindro; dos vecinos apunta a lo que comparten, que es el empaque entre ellos.
Terminar con el orden de las pruebas y su justificación económica: un diagnóstico fundado antes de desarmar permite presupuestar con precisión y evita abrir motores que no hacía falta abrir.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recoge el conjunto de averías del cabezote con el formato de diagnóstico de toda la asignatura, y sirve de material de estudio para la prueba de unidad.
Recorrerla fila por fila, pero sin detenerse demasiado: cada una se ha explicado ya en su contexto. Lo que aporta la tabla es la visión de conjunto y la posibilidad de compararlas entre sí.
Dedicar en cambio tiempo al recuadro, que es el mensaje de la diapositiva: casi todas estas averías tienen una causa común aguas arriba, que es el recalentamiento. El empaque sopla porque el plano se alabeó; el plano se alabeó porque el motor se recalentó. La válvula se quemó porque trabajaba más caliente de lo previsto. Reparar el síntoma sin corregir la causa es un error profesional caro.
Desarrollar el primer punto final como lista de verificación: termostato bloqueado cerrado, bomba de agua con el rodete deteriorado, electroventilador que no arranca, radiador obstruido por fuera o por dentro, o nivel bajo por una fuga pequeña y persistente.
Explicar el segundo punto, que justifica el orden del PEA: el cabezote es donde el recalentamiento se manifiesta, pero la causa está en el sistema de refrigeración, que es contenido de la Unidad 4. Las dos unidades están encadenadas.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las seis ideas y la pregunta de autoevaluación, que tiene una respuesta muy clara y es un buen ejemplo de diagnóstico por patrón.
La respuesta esperada: dos cilindros contiguos con compresión baja y de valor parecido es la firma del empaque de culata soplado entre ambos. Para confirmarlo, el ensayo de fugas introduciendo aire en el cilindro 2 y escuchando si sale por la bujía del cilindro 3, que es la comprobación concluyente. También puede comprobarse si hay burbujas en el depósito de refrigerante, por si el empaque ha cedido además hacia el circuito.
Aprovechar para recordar por qué ese patrón es tan fiable: ninguna otra avería afecta exactamente a dos cilindros vecinos en medida parecida. Un problema de válvulas afectaría a uno; uno de distribución, a los cuatro.
Repasar las seis ideas, deteniéndose en la primera y la segunda, que son las que ordenan el trabajo, y en la quinta, que es la que más valor profesional tiene porque permite diagnosticar sin desarmar.
Anunciar que lo que viene es el cierre de la unidad con su síntesis, el repaso para la prueba de unidad y la bibliografía.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formato de la prueba con antelación suficiente para que puedan organizar el estudio.
Describir las cuatro partes y el peso aproximado de cada una según se haya acordado. La parte conceptual cubre el diagrama, las arquitecturas, los accionamientos y los elementos del cabezote. La de cálculo utiliza las fórmulas de los ejercicios resueltos. La de procedimiento pide ordenar una secuencia o detectar el error en una dada, que es una forma eficaz de evaluar si se ha entendido el porqué de cada paso. Y la de casos pide interpretar síntomas.
Recorrer la tabla de criterios y, sobre todo, la columna de errores frecuentes, porque es la que más ayuda. Memorizar listas sin entender la razón se detecta de inmediato en la parte de procedimiento. Dar un número sin el procedimiento no obtiene la puntuación completa. Y decidir sin comparar con el valor del manual es el error de criterio técnico más grave, porque es el que en el taller produce reparaciones innecesarias o insuficientes.
Dar el consejo de estudio del recuadro, que es una guía operativa: para cada comprobación de la unidad, saber qué se mide, con qué, contra qué valor y qué se decide. Son cuatro preguntas por comprobación y cubren todo lo evaluable.
Fijar fecha, duración y material permitido, y ofrecer una sesión de consulta previa.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Concretar el trabajo autónomo, porque el PEA lo declara en términos generales y los estudiantes necesitan saber qué se espera exactamente.
La primera actividad es la que el PEA declara literalmente: lectura y repaso de la guía didáctica de la unidad 3 y resolución del cuestionario correspondiente.
Las otras tres concretan ese tiempo en productos verificables. Los ejercicios de cálculo son los propuestos en la clase 3.1. La consulta en Autodata construye directamente el resultado de aprendizaje de la unidad, que menciona el uso de manuales. Y la ficha de puesta a punto prepara la práctica.
Desarrollar el primer punto final, que es un criterio de organización del trabajo que vale también para el taller real: la consulta del manual se hace antes, con calma. Consultar con el motor desarmado, el cliente esperando y el tiempo encima es la mejor forma de pasar por alto un detalle.
Explicar el segundo punto, que es un hábito profesional poco enseñado: citar la fuente de un dato técnico. Permite comprobarlo si algo no cuadra y permite que otro técnico lo verifique.
Dar el reparto orientativo de las nueve horas para que puedan planificarse, y recordar que la unidad queda partida por el receso.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este bloque como el puente entre la teoría de la unidad y lo que se ejecuta en el laboratorio, siguiendo el cuaderno de prácticas de la asignatura.
Explicar el orden de trabajo, que reproduce el de las clases: primero la distribución, con su desmontaje y su tensado; después el cabezote como pieza, con la planitud; luego cada válvula con su guía y su asiento; después el árbol de levas; y por último el armado con el reglaje y el orden de apriete.
Recordar el criterio que gobierna todo el bloque: cada comprobación tiene su valor de referencia en el manual y su decisión asociada. La guía de prácticas incluye las fichas de registro, que deben completarse durante la ejecución.
Advertir que esta es la práctica más larga de la asignatura, con catorce horas asignadas, y que conviene planificarla en sesiones con un punto de parada definido: no se deja un cabezote a medio armar entre sesiones sin dejarlo documentado y protegido.
Recordar la seguridad: gafas al trabajar con muelles comprimidos y con aire a presión, guantes con los bordes de la culata, y el motor frío antes de aflojar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primera parte de la práctica y la que más consecuencias tiene si se hace mal.
Insistir en el paso uno: la ficha de puesta a punto se completa antes de desmontar, no después. Es el trabajo preparatorio que evita la mayor parte de los errores.
En el paso dos, explicar por qué importa la herramienta: los tensores tienen un alojamiento previsto para aflojarlos, y usar una palanca improvisada puede deformar el cuerpo o dañar el rodamiento. Además, muchos tensores automáticos llevan un indicador de posición que se desajusta si se fuerza.
En el paso tres, advertir sobre un detalle práctico: el árbol de levas tiende a girar solo en cuanto queda libre, por efecto de los muelles de válvula, que lo empujan hacia la posición de menor energía. Es normal, y la solución es volver a llevarlo a calado, no intentar sujetarlo a la fuerza.
En el paso cuatro, pedir que comprueben cada rodillo girándolo a mano antes de sustituirlo, aunque después se sustituya igualmente: es la forma de aprender a reconocer un rodamiento que empieza a fallar. Debe girar suave, silencioso y sin juego lateral.
Recordar el registro obligatorio y el criterio de aceptación de los tres puntos.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comprobación repite el método aprendido en la Unidad 1, aplicado ahora al cabezote, y añade una medición nueva.
Presentar los dos métodos y explicar en qué se diferencian. El de regla y galga es rápido y responde a una pregunta binaria: ¿está dentro del límite o no? El de comparador con base deslizante es más lento pero da el perfil completo de la deformación, es decir, dice dónde está el alabeo y de qué forma es. Esa información es útil para el rectificador.
Explicar la medición de altura, que es la aportación nueva de esta práctica y la que merece el recuadro: se mide la distancia entre el plano de apoyo y la cara superior del cabezote, y se compara con la altura mínima que da el manual. Si el cabezote ya fue rectificado en una reparación anterior, puede estar cerca de esa altura mínima y no admitir otra pasada.
Desarrollar la consecuencia de rectificar: al bajar el plano, el volumen de la cámara disminuye y la relación de compresión sube. Un aumento pequeño es tolerable; uno grande acerca el motor a la detonación. Además, en motores de correa, la distancia entre cigüeñal y árbol de levas cambia ligeramente, lo que en algunos motores obliga a usar una correa o un tensor específico.
Recordar que el plano se limpia completamente antes de 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sustitución de guías es un trabajo de taller especializado y conviene al menos demostrarlo, aunque no todos los grupos lleguen a ejecutarlo.
Insistir en el paso uno, que es la jerarquía de la unidad: medir el juego antes de decidir. Nunca se sustituye una guía porque sí, ni se trabaja un asiento sin haber medido antes su guía.
En el paso dos, explicar la importancia del botador específico: el alojamiento de la guía en el cabezote es una perforación de precisión. Un botador de diámetro incorrecto, o golpear directamente sobre la guía, deforma ese alojamiento y arruina la zona, con lo que la guía nueva ya no queda bien apretada.
Desarrollar el paso tres con el recuadro, porque es la consecuencia menos evidente del trabajo: la guía tiene que quedar a una profundidad exacta porque el sello de vástago apoya sobre su extremo. Si la guía queda hundida, el sello no apoya bien; si queda salida, el platillo del muelle puede llegar a tocarla. En ambos casos el resultado es consumo de aceite, que es justamente lo que se pretendía corregir.
Mencionar el escariado: algunas guías se suministran con sobremedida interior y se llevan a su diámetro final una vez montadas, porque el montaje a presión las contrae ligeramente.
El paso cinco cierra el trabajo: se vuelve a medir para confirmar.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reparación central de la práctica y la que más técnica exige.
Explicar los ángulos con las dos figuras, porque es un concepto que no se entiende sin dibujo. La cara de la válvula y el asiento se mecanizan a un ángulo de trabajo, habitualmente cuarenta y cinco grados. Si solo existiera ese ángulo, la franja de contacto ocuparía toda la altura del asiento, que sería demasiado ancha. Por eso se mecanizan ángulos adicionales por encima y por debajo —típicamente más abiertos y más cerrados— que recortan la franja por arriba y por abajo y la dejan del ancho correcto y en la posición correcta.
Hacer explícito el criterio: la franja debe quedar centrada en la cara de la válvula, uniforme en todo el contorno, y con el ancho del manual. Demasiado estrecha no evacúa calor; demasiado ancha no sella bien.
Explicar el límite del esmerilado: solo resuelve daños superficiales. Insistir en que esmerilar con más fuerza o durante más tiempo una válvula quemada no la recupera; solo rebaja el asiento y empeora la geometría.
Terminar con la advertencia del recuadro, que merece repetirse: la pasta de esmerilar es abrasiva y cualquier resto acabará en el cilindro o en la guía. La limpieza posterior es parte de la reparación, no un añadido.
Verificar siempre con la prueba de estanqueidad.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cubre dos trabajos que suelen hacerse seguidos en la práctica.
Recorrer las cuatro comprobaciones del árbol de levas. La altura de leva es la más informativa y conviene medirlas todas, no una de muestra: lo que se busca es tanto el valor absoluto como la diferencia entre ellas. Un árbol con una leva más baja que las demás tiene un cilindro que respira peor.
El diámetro de los muñones se mide en dos direcciones perpendiculares para detectar ovalización, igual que se hizo con los cilindros en la Unidad 1. Un muñón ovalizado produce holgura excesiva y, con ella, caída de presión de aceite.
La rectitud se comprueba apoyando el árbol por sus extremos y midiendo con comparador en el muñón central mientras se gira. Un árbol flexado agarrota en sus apoyos y los desgasta rápidamente.
El juego axial se mide con el árbol montado, desplazándolo en la dirección de su eje. Un juego excesivo produce golpeteo y, en motores con distribución variable, puede afectar al funcionamiento del actuador.
Sobre la limpieza, insistir en el recuadro: todos los conductos de aceite deben quedar libres. Un conducto obstruido deja sin lubricación a un apoyo del árbol, y ese apoyo se destruye en poco tiempo. Y aire a presión siempre con gafas.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cierra la práctica con las dos operaciones finales, que son las que deciden si el trabajo sella y si el motor suena bien.
Explicar el orden de apriete con la figura y con su razón física, que es la que hace que se recuerde: al apretar, el cabezote se deforma elásticamente. Si se empieza por un extremo, esa deformación se acumula hacia el otro y el empaque queda comprimido de forma desigual. Partiendo del centro y avanzando en espiral hacia los extremos, la deformación se reparte de manera simétrica y el empaque asienta por igual en toda su superficie.
Explicar las pasadas sucesivas con el mismo razonamiento: si un tornillo se lleva al par final mientras los vecinos están flojos, se concentra toda la carga en ese punto. Dos o tres pasadas progresivas evitan esa concentración.
Explicar el apriete angular, que es el estándar actual: un par inicial moderado y después un giro medido en grados. El tornillo trabaja más allá de su límite elástico, lo que garantiza una fuerza de apriete muy uniforme, y por eso suele ser de un solo uso.
Advertir con el recuadro: el patrón en espiral es el general, pero el orden concreto lo numera el manual para cada motor.
Recordar el registro y la comprobación final: dos vueltas a mano antes de arrancar, siempre.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Entregar las dos fichas impresas y explicar que ambas forman parte de la evaluación de la práctica.
La ficha técnica recoge las diez comprobaciones que la práctica exige y funciona como lista de control: ninguna se da por hecha. Señalar que algunas filas, como el juego de guía o la franja de contacto, se repiten por válvula, de modo que la ficha real es más larga.
La lista ambiental es la novedad de esta unidad y conviene explicar por qué existe y cómo se evalúa. No es un trámite: recoge qué residuos se generaron y dónde terminó cada uno. El PEA declara la ética ambiental como componente de esta unidad, y la forma de evaluar algo así es comprobar que efectivamente se hizo.
Detenerse en las dos últimas filas de la lista ambiental, que son las que más se olvidan: el estado del puesto de trabajo al terminar y el uso de absorbente si hubo derrame. Un derrame de aceite no recogido no es solo desorden, es una fuente de resbalones y un residuo que acabará en el desagüe al limpiar el suelo con agua.
Recordar los plazos de entrega del informe y el formato acordado con el grupo.
Anunciar que el informe se cierra con la decisión técnica sobre el cabezote y con las conclusiones del grupo, incluidos los errores cometidos y cómo se resolvieron.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armado es donde se comprueba si el despiece se hizo bien. Si cada pieza está identificada, el armado es rápido; si no, empiezan las dudas.
El paso uno no es una formalidad: cualquier resto de pasta de esmerilar que quede en un conducto acabará en el cilindro y actuará como abrasivo. La limpieza se comprueba, no se da por hecha.
El paso cinco merece explicación porque es un truco profesional que evita averías graves: una vez montados los seguros cónicos, se golpea suavemente cada platillo con un mazo de nailon. Si un seguro no estaba correctamente asentado, se desplaza y se nota en ese momento. Si no se hace esa comprobación, el seguro mal puesto se saldrá con el motor en marcha, la válvula caerá dentro del cilindro y el motor quedará destruido. Treinta segundos de comprobación evitan esa avería.
El paso seis recuerda que los sombreretes del árbol de levas van en su posición y su orientación originales: están mecanizados junto con el cabezote y no son intercambiables.
Desarrollar el paso ocho con el énfasis del recuadro. El orden de apriete del centro hacia los extremos reparte la deformación de manera uniforme; apretar de un extremo al otro, o de una sola pasada, deforma la pieza. En los motores con apriete angular, el procedimiento es par inicial más un giro en grados, y los tornillos suelen ser de un solo uso porque se deforman plásticamente.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reglaje de válvulas es la operación de mantenimiento más característica del cabezote y la que mejor resume la unidad.
Explicar por qué existe la holgura, que es la pregunta que los estudiantes hacen siempre: el tren de válvulas se dilata al calentarse, y la válvula, que es la pieza más caliente, es la que más se alarga. Si en frío no hubiera holgura, al calentarse el conjunto la válvula quedaría empujada permanentemente contra la leva y no llegaría a cerrar.
Desarrollar las dos desviaciones y, sobre todo, la asimetría entre ellas, que es el criterio práctico del recuadro. Una holgura excesiva produce ruido, apertura algo tardía y menor levantamiento: el motor suena mal y pierde un poco de rendimiento, pero no se daña. Una holgura insuficiente hace que la válvula no cierre del todo en caliente; al no apoyar sobre su asiento, pierde su vía principal de evacuación de calor, se sobrecalienta y se quema. Por eso, ante la duda, nunca se deja apretada.
Explicar la técnica de la galga: debe entrar con una ligera resistencia, no suelta y no forzada. Es un tacto que se aprende con repetición.
Recordar que cada válvula se regla con su leva en la posición de reposo, es decir, con esa válvula completamente cerrada, y que el orden lo da el manual, apoyado en la misma separación angular entre cilindros que se estudió en la clase 2.3.
Explicar por qué un taqué hidráulico que golpetea es un problema de aceite.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Entregar la ficha impresa a cada grupo y recordar que se completa durante la práctica, no después.
Explicar la estructura de cuatro columnas, que a estas alturas ya debe ser automática: qué se comprueba, qué dice el fabricante, qué se midió y si es conforme. Es la misma de la ficha del bloque de la Unidad 1 y la del carburador de la Unidad 2.
Señalar que las filas de juego de guía y de franja de contacto se repiten para cada válvula, de modo que la ficha real es más larga de lo que muestra esta diapositiva. Conviene preparar una fila por válvula.
Destacar la fila de altura del cabezote, que es nueva respecto a lo visto: se mide porque, si el cabezote ya fue rectificado antes, puede no quedar material suficiente para rectificarlo de nuevo. El manual da la altura mínima.
Recordar que las dos últimas filas se completan con el cabezote ya armado y montado: la holgura de válvulas y el par aplicado. Registrar el par aplicado es una buena práctica profesional que permite rastrear el trabajo si después aparece una fuga.
Insistir en el recuadro: el informe termina con una decisión justificada. Es lo que distingue un trabajo técnico de una recogida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desarrolla el componente ambiental que el PEA declara expresamente para esta unidad y que no aparece en las otras.
Empezar justificando por qué está aquí y no en otro sitio: el despiece de la distribución y del cabezote obliga a vaciar aceite y refrigerante, a usar disolventes y a sustituir piezas. Es el trabajo de toda la asignatura que más residuos peligrosos genera.
Recorrer la tabla dando los datos que hacen tangible el problema. El aceite usado contiene metales pesados y compuestos generados en la combustión; un solo litro vertido contamina un volumen de agua enorme. El etilenglicol del refrigerante es tóxico por ingestión y tiene sabor dulce, lo que explica los envenenamientos de animales domésticos cuando se vierte en el suelo del taller.
Detenerse en los trapos impregnados, porque casi nunca se tratan como lo que son. Son residuo peligroso, no basura común, y además, amontonados en un rincón, pueden entrar en combustión espontánea por oxidación. Van en contenedor metálico con tapa.
Desarrollar el recuadro con honestidad, porque es el mensaje formativo de la diapositiva: la decisión de gestionar correctamente un residuo se toma siempre cuando nadie mira. No hay examen que la mida. Lo único que la sostiene es el criterio profesional de quien la toma.
Explicar la lista de verificación ambiental que se entrega con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Proyectar esta diapositiva al empezar el repaso para la prueba de unidad, porque muestra el hilo que une las cuatro clases.
Recorrer la tabla insistiendo en la columna de la derecha, que recoge la idea que debe quedar de cada clase. De la 3.1, que el árbol de levas gira a la mitad del régimen y en una posición angular exacta. De la 3.2, que el principio se domina y el detalle se consulta, y que la verificación de dos vueltas no es opcional. De la 3.3, que cada pieza vuelve a su posición. De la 3.4, que medir es comparar con el manual y decidir, y que la guía va siempre antes que el asiento.
Hacer explícito el hilo del recuadro, que es la razón de que el PEA agrupe distribución y cabezote en una misma unidad: no son dos temas independientes. La distribución decide cuándo abren las válvulas y el cabezote decide si cierran bien. Entre las dos cosas se juega la compresión, que es la condición sin la cual no hay combustión. Por eso van juntas.
Recordar las tres tarjetas que vinculan la unidad con el PEA y señalar que la evaluación de esta unidad cierra con prueba de unidad, no con examen bimestral: el examen llegará al final de la Unidad 4 y evaluará ambas.
Pedir que repasen con esta diapositiva delante y que sepan enunciar las cuatro ideas sin leerlas.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unidad con el repaso y la bibliografía, dejando claro qué se evalúa y de dónde sale el contenido.
Recorrer los seis puntos evaluables y comentar brevemente qué tipo de pregunta puede corresponder a cada uno. Los puntos uno a tres son conceptuales y se evalúan con preguntas de explicación y comparación. El cuatro es procedimental y se evalúa pidiendo que ordenen una secuencia o que detecten el error en una secuencia dada. Los puntos cinco y seis se evalúan con interpretación de casos y de fichas de comprobación.
Insistir en que el punto cuatro incluye el concepto de motor interferente y sus consecuencias, porque es el que más veces aparece mal entendido.
Señalar la bibliografía y recordar que el cuaderno de prácticas es el que contiene las fichas de registro que deben completar, y que conviene llevarlo al taller.
Recordar una vez más el papel de Autodata en esta unidad: no es una consulta opcional, es la fuente de los valores sin los cuales el trabajo no se puede hacer.
Anunciar la Unidad 4: con el cabezote fuera, el bloque queda a la vista. Lubricación, refrigeración, bloque motor y tren alternativo son el contenido siguiente, y cierran la asignatura con el examen bimestral que evalúa las unidades 3 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unidad recordando lo que viene y lo que queda pendiente.
Lo que viene: la Unidad 4 estudia los sistemas de refrigeración y lubricación, el bloque motor y el tren alternativo. Es la unidad que cierra la asignatura, y en ella se completa el despiece del motor que esta unidad dejó a medias.
Lo que queda pendiente de esta unidad: la práctica de despiece, comprobaciones y armado de la distribución y del cabezote, con su informe y su lista de verificación ambiental; el trabajo autónomo declarado, que es la lectura de la guía didáctica de la unidad 3 y su cuestionario; y la prueba de unidad.
Recordar que la unidad queda partida por el receso y pedir que organicen el trabajo autónomo en consecuencia.
Agradecer la participación y recordar el horario de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los dos diagramas de la figura (a): el teórico divide el ciclo en cuatro sectores iguales de 180°, mientras el real muestra el adelanto de apertura de admisión (AAA), el retraso de cierre de admisión (RCA), el adelanto de apertura de escape (AAE) y el retraso de cierre de escape (RCE). Con la figura (b) explique cómo se dibuja el diagrama circular: se parte del PMS, se marcan los ángulos en el sentido de giro y se colorea cada tiempo. Insista en que los ángulos se expresan en grados de cigüeñal. Pregunta de control: si el RCA es de 50°, ¿cuántos grados dura la admisión con un AAA de 10°? 10 + 180 + 50 = 240°.</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figura (a) explique que la alzada real no es un escalón: la válvula sube y baja siguiendo el perfil de la leva, por eso se adelantan aperturas y se retrasan cierres. El área sombreada entre la curva de escape y la de admisión es el cruce: ambas válvulas abiertas cerca del PMS. Use la figura (b) para comparar diagramas. Explique las consecuencias prácticas: un árbol de levas “deportivo” con mucho cruce da potencia arriba pero ralentí inestable y más emisiones de HC. Conecte con la distribución variable de la clase: modificar la fase o la alzada permite tener poco cruce a bajo régimen y mucho a alto régimen. Pregunta: ¿qué pasa con el cruce si la correa salta un diente?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figura (a) muestre que en un DOHC la cadena une ambos árboles y un actuador desplaza angularmente el de admisión; así se modifica el cruce. La figura (b) compara el diagrama del sistema Variocam en reposo (poco cruce, ralentí estable) y en funcionamiento (más cruce, más llenado a medio régimen). Relacione con la lubricación de la Unidad 4: estos sistemas dependen de la presión de aceite, por lo que un cambio de aceite con viscosidad equivocada o filtros saturados provoca fallas. En el taller, el variador se bloquea con su útil durante el calado; nunca se fuerza. Mencione VVT-i de Toyota y VTEC de Honda como ejemplos que el estudiante encontrará en el parque local.</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une la geometría de la leva con los cálculos del diagrama. En la figura (a) identifique el círculo base, los flancos y la cresta, y su correspondencia con la curva de alzada. En la figura (b) se aprecia el perfil completo y las rampas de apertura y cierre. Recuerde la relación de transmisión 2:1: el árbol de levas gira a la mitad que el cigüeñal, por eso un ángulo de 120° de leva equivale a 240° de cigüeñal. Ejercicio: si la duración de admisión medida en el cigüeñal es de 236°, ¿cuántos grados ocupa la leva? 118°. Este razonamiento se usa en los ejercicios resueltos que siguen.</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Recorra el procedimiento general sobre las imágenes reales. En la figura (a) se ven los pasadores o útiles de bloqueo insertados en el cigüeñal y en la polea del árbol de levas: con ellos el motor no puede girar mientras se cambia la correa. En la figura (b), en un mando por cadena con dos árboles, las marcas de los piñones deben quedar alineadas con la referencia de la culata. Insista en las dos vueltas de verificación girando a mano con llave en el tornillo del cigüeñal: si se nota un tope, una válvula está tocando el pistón y no se debe forzar. Este paso evita la avería más costosa del motor de interferencia.</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la figura (a) para mostrar los elementos de un mando por cadena: piñón del cigüeñal, ruedas de los árboles, patines guía, patín tensor y tensor. En la figura (b) se ve un tensor hidráulico con su émbolo y muelle: antes de montarlo se comprime y se bloquea con un pasador, que se retira al final. Diagnóstico: ruido metálico de cadena en los primeros segundos tras el arranque indica tensor sin presión o cadena estirada; se confirma con el manual (alargamiento medido o posición del émbolo). Recalque la relación con el mantenimiento del aceite: los cambios a tiempo prolongan la vida de la cadena. En motores en V se verifican las dos bancadas.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Proyecte las dos fotografías y pida que los estudiantes describan los defectos visibles. En la figura (a) se doblan los dientes de la correa para ver grietas en la base; cualquier contaminación con aceite o refrigerante obliga a cambiarla y a reparar la fuga que la contaminó. En la figura (b) se aprecia una cadena con desgaste en los rodillos. Recuerde al estudiante que la correa se cambia por intervalo de kilómetros o de años (lo que ocurra primero), y que en motores de interferencia su rotura destruye válvulas. Ética profesional: informar al cliente del intervalo y registrar en la ficha la fecha y el kilometraje del cambio.</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se ve un útil de tensado: un peso o dinamómetro que aplica una fuerza conocida para comprobar la flecha de la correa; en tensores automáticos se alinea la aguja con la marca del soporte. En la figura (b) se muestra la horquilla que sujeta la polea del árbol de levas para aflojar su tornillo, junto al retén que conviene sustituir. Explique por qué las herramientas de bloqueo son obligatorias: sin ellas, el par de apriete del tornillo de la polea gira el árbol y se pierde la puesta en fase. Si el taller no dispone del útil específico, se consulta Autodata para el método alternativo aprobado, nunca se improvisa.</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figura (a) muestre la marca de sentido de giro que se hace antes de desmontar una correa; aunque la recomendación es sustituirla, la marca sirve si se desmonta temporalmente para otra reparación. En la figura (b) se ve una bomba de agua de rodete plástico, frecuente en motores donde la correa de distribución la acciona. Explique el criterio económico y técnico: el costo principal es la mano de obra; reemplazar bomba, tensor y rodillos en la misma intervención evita que una pieza vieja falle y arruine la correa nueva. Comunique este criterio al cliente con transparencia, como pide la habilidad deontológica de integridad profesional del PEA.</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Muestre en la figura el recorrido de la correa o cadena que une el cigüeñal con los árboles de ambas bancadas. Explique que el procedimiento es el mismo que en un motor en línea, pero con el doble de marcas que verificar: cilindro 1 en PMS, marcas de la bancada derecha, marcas de la bancada izquierda y tensado final. Recomiende fotografiar la posición de las marcas antes de desmontar. En los motores en V es habitual que el fabricante exija útiles de bloqueo para cada árbol. Pregunta: ¿qué ocurre si una bancada queda desfasada un diente? Ralentí irregular, pérdida de potencia y posibles códigos de falla de correlación entre sensores.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 la herramienta antes del despiece. En la figura (a) se ve el compresor en arco con adaptadores para distintos diámetros de platillo. En la figura (b) se aprecia montado sobre el cabezote: la parte fija apoya en la cabeza de la válvula y la móvil comprime el muelle. Seguridad: el muelle almacena energía; si el compresor resbala, las chavetas salen proyectadas. Use gafas de protección. Organización: un tablero con agujeros numerados permite guardar cada válvula en el orden de su posición, para volver a montarla en su asiento si no se sustituye. Este orden es parte de la evaluación de la práctica.</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Muestre en la figura (a) el montaje entre puntos o sobre prismas en V y el reloj comparador en el apoyo central; la lectura total del reloj dividida por dos es la excentricidad. En la figura (b) se miden los apoyos con micrómetro en dos direcciones para detectar ovalización. Recuerde medir también la altura de cada leva: una leva gastada reduce la alzada y la potencia, y suele acompañarse de desgaste en el taqué o balancín correspondiente. Todas las lecturas van a la ficha de comprobaciones del cabezote. Relacione con la metrología de la Unidad 1: los mismos instrumentos, ahora aplicados a una pieza real.</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figura (a) explique la secuencia de apriete: se empieza por los tornillos centrales y se avanza en espiral hacia los extremos; para aflojar se sigue el orden inverso. En la figura (b) se ve la llave dinamométrica y el goniómetro para el apriete angular. Recalque que los valores dependen del motor y se consultan siempre en el manual o en Autodata: por ejemplo 30 N·m, luego 60 N·m y después 90° + 90°. Explique por qué los tornillos de estiramiento no se reutilizan: ya trabajaron en su zona plástica y no garantizan la fuerza de sujeción. Los hilos del bloque se limpian con macho y se lubrican los tornillos solo si el fabricante lo indica.</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se ve la regla de filo sobre el plano de junta de la culata y la galga buscando la mayor holgura. Se mide en seis direcciones y además en el plano de los colectores. En la figura (b) se muestra la cota entre el plato de la válvula y el plano de junta: si la culata o los asientos se rectifican demasiado, la válvula queda hundida y en motores diésel puede tocar el pistón. Vincule con la Unidad 1: rectificar la culata reduce el volumen de la cámara y aumenta la relación de compresión. La decisión de rectificar o sustituir se toma con el manual: si el alabeo supera el límite, se rectifica; si queda por debajo de la altura mínima, se cambia la culata.</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Recuerde primero cómo se mide la holgura entre vástago y guía: la válvula se levanta unos milímetros de su asiento y se mueve lateralmente frente al reloj comparador. En la figura (a) se ve la extracción y el montaje de la guía con botador y martillo, siempre desde el lado indicado por el fabricante. En la figura (b) la culata de aluminio se calienta en un baño de aceite para dilatar el alojamiento y montar la guía sin dañarlo. Después de cambiar guías siempre se rectifican los asientos, porque el centro de la guía nueva no coincide exactamente con el anterior. Relacione con el diagnóstico de consumo de aceite: humo azul tras un período en ralentí suele venir de guías o retenes de válvula, no de segmentos.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se ve el rectificado del asiento con fresas de distintos ángulos: la de 45° forma la superficie de contacto, y las de 30° y 60° ajustan su anchura y posición sobre la cara de la válvula. En la figura (b) se explica el ángulo de interferencia de aproximadamente 1°: el contacto inicial es una línea que asienta rápido y sella mejor. Tras el rectificado o el esmerilado, se comprueba la huella con tinta: debe ser continua, de anchura uniforme y en el centro de la cara de la válvula. La estanqueidad final se prueba llenando la cámara con gasolina o limpiador y observando que no aparezcan gotas en los conductos.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se ven las tres comprobaciones del muelle: longitud libre, escuadrado y fuerza en el comprobador a una longitud determinada. Un muelle cansado no cierra la válvula a tiempo a alto régimen y provoca flotación: pérdida de potencia, ruido y riesgo de contacto entre válvula y pistón. En la figura (b) se comparan muelles de paso constante, de paso variable y dobles concéntricos con espiras en sentido contrario. En los de paso variable, el extremo de espiras juntas va hacia la culata. Registre los valores de todos los muelles en la ficha: si uno está fuera de especificación, se recomienda sustituir el juego completo.</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figura (a) explique el reglaje en motores con balancines: el cilindro en PMS de compresión, la galga entre balancín y vástago, el tornillo de ajuste y la contratuerca. En la figura (b) se ve un taqué mecánico con pastilla calibrada: si la holgura no es correcta se calcula el espesor nuevo con la fórmula: pastilla nueva = pastilla actual + (holgura medida − holgura especificada). Ejemplo: pastilla 2,60 mm, holgura medida 0,15 mm, especificada 0,25 mm; nueva pastilla 2,50 mm. Recuerde que la holgura de escape suele ser mayor que la de admisión porque la válvula de escape se calienta y dilata más. Una holgura insuficiente quema la válvula; una excesiva produce ruido y menor alzada.</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apoya el componente ambiental que el PEA declara para la Unidad 3. En la figura (a) repase los pictogramas de peligro más frecuentes en el taller: inflamable, corrosivo, nocivo y peligroso para el medio ambiente. En la figura (b) muestre la ficha de datos de seguridad de la gasolina y dónde encontrar la información de primeros auxilios y de derrames. Relacione con la práctica del cabezote: el limpiador de carburación y el disolvente de desengrase se usan con gafas, guantes de nitrilo y ventilación; los trapos impregnados no van a la basura común. Pregunta de reflexión: ¿qué costo ambiental tiene un litro de aceite usado vertido al suelo? Puede contaminar hasta un millón de litros de agua.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51560"/>
            <a:ext cx="10698480" cy="365760"/>
          </a:xfrm>
          <a:prstGeom prst="rect">
            <a:avLst/>
          </a:prstGeom>
          <a:noFill/>
          <a:ln/>
        </p:spPr>
        <p:txBody>
          <a:bodyPr wrap="square" rtlCol="0"/>
          <a:lstStyle>
            <a:lvl1pPr indent="0" marL="0">
              <a:buNone/>
              <a:defRPr lang="en-US" sz="1500" b="1" spc="200" kern="0" dirty="0">
                <a:solidFill>
                  <a:schemeClr val="accent1"/>
                </a:solidFill>
              </a:defRPr>
            </a:lvl1pPr>
          </a:lstStyle>
          <a:p>
            <a:pPr indent="0" marL="0">
              <a:buNone/>
            </a:pPr>
            <a:r>
              <a:rPr lang="en-US" sz="1500" b="1" spc="200" kern="0" dirty="0">
                <a:solidFill>
                  <a:schemeClr val="accent1"/>
                </a:solidFill>
              </a:rPr>
              <a:t> </a:t>
            </a:r>
            <a:endParaRPr lang="en-US" sz="1500" dirty="0"/>
          </a:p>
        </p:txBody>
      </p:sp>
      <p:sp>
        <p:nvSpPr>
          <p:cNvPr id="3" name="Text 0"/>
          <p:cNvSpPr/>
          <p:nvPr>
            <p:ph idx="101" type="title" hasCustomPrompt="1"/>
          </p:nvPr>
        </p:nvSpPr>
        <p:spPr>
          <a:xfrm>
            <a:off x="731520" y="1508760"/>
            <a:ext cx="10698480" cy="1920240"/>
          </a:xfrm>
          <a:prstGeom prst="rect">
            <a:avLst/>
          </a:prstGeom>
          <a:noFill/>
          <a:ln/>
        </p:spPr>
        <p:txBody>
          <a:bodyPr wrap="square" rtlCol="0"/>
          <a:lstStyle>
            <a:lvl1pPr indent="0" marL="0">
              <a:buNone/>
              <a:defRPr lang="en-US" sz="4800" b="1" dirty="0">
                <a:solidFill>
                  <a:schemeClr val="bg1"/>
                </a:solidFill>
              </a:defRPr>
            </a:lvl1pPr>
          </a:lstStyle>
          <a:p>
            <a:pPr indent="0" marL="0">
              <a:buNone/>
            </a:pPr>
            <a:r>
              <a:rPr lang="en-US" sz="4800" b="1" dirty="0">
                <a:solidFill>
                  <a:schemeClr val="bg1"/>
                </a:solidFill>
              </a:rPr>
              <a:t> </a:t>
            </a:r>
            <a:endParaRPr lang="en-US" sz="4800" dirty="0"/>
          </a:p>
        </p:txBody>
      </p:sp>
      <p:sp>
        <p:nvSpPr>
          <p:cNvPr id="4" name="Text 0"/>
          <p:cNvSpPr/>
          <p:nvPr>
            <p:ph idx="102" type="body" hasCustomPrompt="1"/>
          </p:nvPr>
        </p:nvSpPr>
        <p:spPr>
          <a:xfrm>
            <a:off x="731520" y="3611880"/>
            <a:ext cx="10058400" cy="822960"/>
          </a:xfrm>
          <a:prstGeom prst="rect">
            <a:avLst/>
          </a:prstGeom>
          <a:noFill/>
          <a:ln/>
        </p:spPr>
        <p:txBody>
          <a:bodyPr wrap="square" rtlCol="0"/>
          <a:lstStyle>
            <a:lvl1pPr indent="0" marL="0">
              <a:buNone/>
              <a:defRPr lang="en-US" sz="2000" dirty="0">
                <a:solidFill>
                  <a:schemeClr val="accent5"/>
                </a:solidFill>
              </a:defRPr>
            </a:lvl1pPr>
          </a:lstStyle>
          <a:p>
            <a:pPr indent="0" marL="0">
              <a:buNone/>
            </a:pPr>
            <a:r>
              <a:rPr lang="en-US" sz="2000" dirty="0">
                <a:solidFill>
                  <a:schemeClr val="accent5"/>
                </a:solidFill>
              </a:rPr>
              <a:t> </a:t>
            </a:r>
            <a:endParaRPr lang="en-US" sz="2000" dirty="0"/>
          </a:p>
        </p:txBody>
      </p:sp>
      <p:sp>
        <p:nvSpPr>
          <p:cNvPr id="5" name="Text 0"/>
          <p:cNvSpPr/>
          <p:nvPr>
            <p:ph idx="103" type="body" hasCustomPrompt="1"/>
          </p:nvPr>
        </p:nvSpPr>
        <p:spPr>
          <a:xfrm>
            <a:off x="731520" y="4892040"/>
            <a:ext cx="10698480" cy="1280160"/>
          </a:xfrm>
          <a:prstGeom prst="rect">
            <a:avLst/>
          </a:prstGeom>
          <a:noFill/>
          <a:ln/>
        </p:spPr>
        <p:txBody>
          <a:bodyPr wrap="square" rtlCol="0"/>
          <a:lstStyle>
            <a:lvl1pPr indent="0" marL="0">
              <a:buNone/>
              <a:defRPr lang="en-US" sz="1400" dirty="0">
                <a:solidFill>
                  <a:schemeClr val="accent5"/>
                </a:solidFill>
              </a:defRPr>
            </a:lvl1pPr>
          </a:lstStyle>
          <a:p>
            <a:pPr indent="0" marL="0">
              <a:buNone/>
            </a:pPr>
            <a:r>
              <a:rPr lang="en-US" sz="1400" dirty="0">
                <a:solidFill>
                  <a:schemeClr val="accent5"/>
                </a:solidFill>
              </a:rPr>
              <a:t> </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SO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rtlCol="0"/>
          <a:lstStyle>
            <a:lvl1pPr indent="0" marL="0">
              <a:buNone/>
              <a:defRPr lang="en-US" sz="1500" b="1" spc="200" kern="0" dirty="0">
                <a:solidFill>
                  <a:schemeClr val="accent1"/>
                </a:solidFill>
              </a:defRPr>
            </a:lvl1pPr>
          </a:lstStyle>
          <a:p>
            <a:pPr indent="0" marL="0">
              <a:buNone/>
            </a:pPr>
            <a:r>
              <a:rPr lang="en-US" sz="1500" b="1" spc="200" kern="0" dirty="0">
                <a:solidFill>
                  <a:schemeClr val="accent1"/>
                </a:solidFill>
              </a:rPr>
              <a:t> </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r>
              <a:rPr lang="en-US" sz="4000" b="1" dirty="0">
                <a:solidFill>
                  <a:schemeClr val="bg1"/>
                </a:solidFill>
              </a:rPr>
              <a:t> </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rtlCol="0"/>
          <a:lstStyle>
            <a:lvl1pPr indent="0" marL="0">
              <a:buNone/>
              <a:defRPr lang="en-US" sz="1700" dirty="0">
                <a:solidFill>
                  <a:schemeClr val="accent5"/>
                </a:solidFill>
              </a:defRPr>
            </a:lvl1pPr>
          </a:lstStyle>
          <a:p>
            <a:pPr indent="0" marL="0">
              <a:buNone/>
            </a:pPr>
            <a:r>
              <a:rPr lang="en-US" sz="1700" dirty="0">
                <a:solidFill>
                  <a:schemeClr val="accent5"/>
                </a:solidFill>
              </a:rPr>
              <a:t> </a:t>
            </a:r>
            <a:endParaRPr lang="en-US" sz="1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3: Sistema de distribución y elementos del cabezote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IDO_TEX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p:nvPr>
            <p:ph idx="101" type="body" hasCustomPrompt="1"/>
          </p:nvPr>
        </p:nvSpPr>
        <p:spPr>
          <a:xfrm>
            <a:off x="548640" y="1371600"/>
            <a:ext cx="11064240" cy="4754880"/>
          </a:xfrm>
          <a:prstGeom prst="rect">
            <a:avLst/>
          </a:prstGeom>
          <a:noFill/>
          <a:ln/>
        </p:spPr>
        <p:txBody>
          <a:bodyPr wrap="square" rtlCol="0"/>
          <a:lstStyle>
            <a:lvl1pPr indent="0" marL="0">
              <a:buNone/>
              <a:defRPr lang="en-US" sz="1600" dirty="0">
                <a:solidFill>
                  <a:schemeClr val="tx1"/>
                </a:solidFill>
              </a:defRPr>
            </a:lvl1pPr>
          </a:lstStyle>
          <a:p>
            <a:pPr indent="0" marL="0">
              <a:buNone/>
            </a:pPr>
            <a:r>
              <a:rPr lang="en-US" sz="1600" dirty="0">
                <a:solidFill>
                  <a:schemeClr val="tx1"/>
                </a:solidFill>
              </a:rPr>
              <a:t> </a:t>
            </a:r>
            <a:endParaRPr lang="en-US" sz="1600" dirty="0"/>
          </a:p>
        </p:txBody>
      </p:sp>
      <p:sp>
        <p:nvSpPr>
          <p:cNvPr id="4"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3: Sistema de distribución y elementos del cabezote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RAFIC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p:nvPr>
            <p:ph idx="101" type="chart" hasCustomPrompt="1"/>
          </p:nvPr>
        </p:nvSpPr>
        <p:spPr>
          <a:xfrm>
            <a:off x="548640" y="1371600"/>
            <a:ext cx="7406640" cy="4480560"/>
          </a:xfrm>
          <a:prstGeom prst="rect">
            <a:avLst/>
          </a:prstGeom>
          <a:noFill/>
          <a:ln/>
        </p:spPr>
        <p:txBody>
          <a:bodyPr wrap="square" rtlCol="0"/>
          <a:lstStyle>
            <a:lvl1pPr indent="0" marL="0">
              <a:buNone/>
              <a:defRPr lang="en-US" dirty="0">
                <a:solidFill>
                  <a:schemeClr val="tx1"/>
                </a:solidFill>
              </a:defRPr>
            </a:lvl1pPr>
          </a:lstStyle>
          <a:p>
            <a:pPr indent="0" marL="0">
              <a:buNone/>
            </a:pPr>
            <a:r>
              <a:rPr lang="en-US" dirty="0">
                <a:solidFill>
                  <a:schemeClr val="tx1"/>
                </a:solidFill>
              </a:rPr>
              <a:t> </a:t>
            </a:r>
            <a:endParaRPr lang="en-US" dirty="0"/>
          </a:p>
        </p:txBody>
      </p:sp>
      <p:sp>
        <p:nvSpPr>
          <p:cNvPr id="4" name="Text 0"/>
          <p:cNvSpPr/>
          <p:nvPr>
            <p:ph idx="102" type="body" hasCustomPrompt="1"/>
          </p:nvPr>
        </p:nvSpPr>
        <p:spPr>
          <a:xfrm>
            <a:off x="8183880" y="1371600"/>
            <a:ext cx="3429000" cy="4480560"/>
          </a:xfrm>
          <a:prstGeom prst="rect">
            <a:avLst/>
          </a:prstGeom>
          <a:noFill/>
          <a:ln/>
        </p:spPr>
        <p:txBody>
          <a:bodyPr wrap="square" rtlCol="0"/>
          <a:lstStyle>
            <a:lvl1pPr indent="0" marL="0">
              <a:buNone/>
              <a:defRPr lang="en-US" sz="1400" dirty="0">
                <a:solidFill>
                  <a:schemeClr val="tx1"/>
                </a:solidFill>
              </a:defRPr>
            </a:lvl1pPr>
          </a:lstStyle>
          <a:p>
            <a:pPr indent="0" marL="0">
              <a:buNone/>
            </a:pPr>
            <a:r>
              <a:rPr lang="en-US" sz="1400" dirty="0">
                <a:solidFill>
                  <a:schemeClr val="tx1"/>
                </a:solidFill>
              </a:rPr>
              <a:t> </a:t>
            </a:r>
            <a:endParaRPr lang="en-US" sz="1400" dirty="0"/>
          </a:p>
        </p:txBody>
      </p:sp>
      <p:sp>
        <p:nvSpPr>
          <p:cNvPr id="5"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3: Sistema de distribución y elementos del cabezote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indent="0" marL="0">
              <a:buNone/>
              <a:defRPr lang="en-US" sz="3400" b="1" dirty="0">
                <a:solidFill>
                  <a:schemeClr val="bg1"/>
                </a:solidFill>
              </a:defRPr>
            </a:lvl1pPr>
          </a:lstStyle>
          <a:p>
            <a:pPr indent="0" marL="0">
              <a:buNone/>
            </a:pPr>
            <a:r>
              <a:rPr lang="en-US" sz="3400" b="1" dirty="0">
                <a:solidFill>
                  <a:schemeClr val="bg1"/>
                </a:solidFill>
              </a:rPr>
              <a:t> </a:t>
            </a:r>
            <a:endParaRPr lang="en-US" sz="3400" dirty="0"/>
          </a:p>
        </p:txBody>
      </p:sp>
      <p:sp>
        <p:nvSpPr>
          <p:cNvPr id="3" name="Text 0"/>
          <p:cNvSpPr txBox="1"/>
          <p:nvPr/>
        </p:nvSpPr>
        <p:spPr>
          <a:xfrm>
            <a:off x="731520" y="6400800"/>
            <a:ext cx="10058400" cy="256032"/>
          </a:xfrm>
          <a:prstGeom prst="rect">
            <a:avLst/>
          </a:prstGeom>
          <a:noFill/>
          <a:ln/>
        </p:spPr>
        <p:txBody>
          <a:bodyPr wrap="square" lIns="0" tIns="0" rIns="0" bIns="0" rtlCol="0" anchor="ctr"/>
          <a:lstStyle/>
          <a:p>
            <a:pPr indent="0" marL="0">
              <a:buNone/>
            </a:pPr>
            <a:r>
              <a:rPr lang="en-US" sz="950" dirty="0">
                <a:solidFill>
                  <a:schemeClr val="accent4"/>
                </a:solidFill>
              </a:rPr>
              <a:t>Sistemas del Funcionamiento del Motor  ·  MA.02.06  ·  Unidad 3: Sistema de distribución y elementos del cabezote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5-2.jpg"/><Relationship Id="rId3" Type="http://schemas.openxmlformats.org/officeDocument/2006/relationships/image" Target="../media/image-35-3.jp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37-2.jpg"/><Relationship Id="rId3" Type="http://schemas.openxmlformats.org/officeDocument/2006/relationships/slideLayout" Target="../slideLayouts/slideLayout4.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image" Target="../media/image-39-2.jpg"/><Relationship Id="rId3" Type="http://schemas.openxmlformats.org/officeDocument/2006/relationships/image" Target="../media/image-39-3.jp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image" Target="../media/image-43-2.jpg"/><Relationship Id="rId3" Type="http://schemas.openxmlformats.org/officeDocument/2006/relationships/image" Target="../media/image-43-3.jpg"/><Relationship Id="rId4" Type="http://schemas.openxmlformats.org/officeDocument/2006/relationships/slideLayout" Target="../slideLayouts/slideLayout4.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image" Target="../media/image-46-2.jpg"/><Relationship Id="rId3" Type="http://schemas.openxmlformats.org/officeDocument/2006/relationships/image" Target="../media/image-46-3.jpg"/><Relationship Id="rId4" Type="http://schemas.openxmlformats.org/officeDocument/2006/relationships/slideLayout" Target="../slideLayouts/slideLayout4.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image" Target="../media/image-57-2.jpg"/><Relationship Id="rId3" Type="http://schemas.openxmlformats.org/officeDocument/2006/relationships/image" Target="../media/image-57-3.jpg"/><Relationship Id="rId4" Type="http://schemas.openxmlformats.org/officeDocument/2006/relationships/slideLayout" Target="../slideLayouts/slideLayout4.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4.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4.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4.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4.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4.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4.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4.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image" Target="../media/image-88-2.jpg"/><Relationship Id="rId3" Type="http://schemas.openxmlformats.org/officeDocument/2006/relationships/slideLayout" Target="../slideLayouts/slideLayout4.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image" Target="../media/image-89-2.jpg"/><Relationship Id="rId3" Type="http://schemas.openxmlformats.org/officeDocument/2006/relationships/slideLayout" Target="../slideLayouts/slideLayout4.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image" Target="../media/image-90-2.jpg"/><Relationship Id="rId3" Type="http://schemas.openxmlformats.org/officeDocument/2006/relationships/image" Target="../media/image-90-3.jpg"/><Relationship Id="rId4" Type="http://schemas.openxmlformats.org/officeDocument/2006/relationships/slideLayout" Target="../slideLayouts/slideLayout4.xml"/><Relationship Id="rId5"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image" Target="../media/image-91-2.jpg"/><Relationship Id="rId3" Type="http://schemas.openxmlformats.org/officeDocument/2006/relationships/slideLayout" Target="../slideLayouts/slideLayout4.xm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slideLayout" Target="../slideLayouts/slideLayout4.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image" Target="../media/image14.jpg"/><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jpg"/><Relationship Id="rId3" Type="http://schemas.openxmlformats.org/officeDocument/2006/relationships/image" Target="../media/image21.png"/><Relationship Id="rId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jpg"/><Relationship Id="rId3" Type="http://schemas.openxmlformats.org/officeDocument/2006/relationships/image" Target="../media/image25.png"/><Relationship Id="rId4"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jpg"/><Relationship Id="rId3" Type="http://schemas.openxmlformats.org/officeDocument/2006/relationships/image" Target="../media/image27.png"/><Relationship Id="rId4"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1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051560"/>
            <a:ext cx="106984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INSTITUTO SUPERIOR TECNOLÓGICO SUDAMERICANO</a:t>
            </a:r>
            <a:endParaRPr lang="en-US" sz="1500" dirty="0"/>
          </a:p>
        </p:txBody>
      </p:sp>
      <p:sp>
        <p:nvSpPr>
          <p:cNvPr id="3" name="Text 0"/>
          <p:cNvSpPr/>
          <p:nvPr>
            <p:ph idx="101" type="title" hasCustomPrompt="1"/>
          </p:nvPr>
        </p:nvSpPr>
        <p:spPr>
          <a:xfrm>
            <a:off x="731520" y="1508760"/>
            <a:ext cx="10698480" cy="1920240"/>
          </a:xfrm>
          <a:prstGeom prst="rect">
            <a:avLst/>
          </a:prstGeom>
          <a:noFill/>
          <a:ln/>
        </p:spPr>
        <p:txBody>
          <a:bodyPr wrap="square" lIns="0" tIns="0" rIns="0" bIns="0" rtlCol="0" anchor="t"/>
          <a:lstStyle/>
          <a:p>
            <a:pPr indent="0" marL="0">
              <a:buNone/>
            </a:pPr>
            <a:r>
              <a:rPr lang="en-US" sz="3800" b="1" dirty="0">
                <a:solidFill>
                  <a:schemeClr val="bg1"/>
                </a:solidFill>
              </a:rPr>
              <a:t>Unidad 3</a:t>
            </a:r>
            <a:endParaRPr lang="en-US" sz="4800" dirty="0"/>
          </a:p>
          <a:p>
            <a:pPr indent="0" marL="0">
              <a:buNone/>
            </a:pPr>
            <a:r>
              <a:rPr lang="en-US" sz="3800" b="1" dirty="0">
                <a:solidFill>
                  <a:schemeClr val="bg1"/>
                </a:solidFill>
              </a:rPr>
              <a:t>Sistema de distribución</a:t>
            </a:r>
            <a:endParaRPr lang="en-US" sz="4800" dirty="0"/>
          </a:p>
          <a:p>
            <a:pPr indent="0" marL="0">
              <a:buNone/>
            </a:pPr>
            <a:r>
              <a:rPr lang="en-US" sz="3800" b="1" dirty="0">
                <a:solidFill>
                  <a:schemeClr val="bg1"/>
                </a:solidFill>
              </a:rPr>
              <a:t>y elementos del cabezote</a:t>
            </a:r>
            <a:endParaRPr lang="en-US" sz="4800" dirty="0"/>
          </a:p>
        </p:txBody>
      </p:sp>
      <p:sp>
        <p:nvSpPr>
          <p:cNvPr id="4" name="Text 0"/>
          <p:cNvSpPr/>
          <p:nvPr>
            <p:ph idx="102" type="body" hasCustomPrompt="1"/>
          </p:nvPr>
        </p:nvSpPr>
        <p:spPr>
          <a:xfrm>
            <a:off x="731520" y="3611880"/>
            <a:ext cx="10058400" cy="822960"/>
          </a:xfrm>
          <a:prstGeom prst="rect">
            <a:avLst/>
          </a:prstGeom>
          <a:noFill/>
          <a:ln/>
        </p:spPr>
        <p:txBody>
          <a:bodyPr wrap="square" lIns="0" tIns="0" rIns="0" bIns="0" rtlCol="0" anchor="t"/>
          <a:lstStyle/>
          <a:p>
            <a:pPr indent="0" marL="0">
              <a:buNone/>
            </a:pPr>
            <a:r>
              <a:rPr lang="en-US" sz="2000" dirty="0">
                <a:solidFill>
                  <a:schemeClr val="accent5"/>
                </a:solidFill>
              </a:rPr>
              <a:t>Sistemas del Funcionamiento del Motor  ·  MA.02.06  ·  Segundo período académico</a:t>
            </a:r>
            <a:endParaRPr lang="en-US" sz="2000" dirty="0"/>
          </a:p>
        </p:txBody>
      </p:sp>
      <p:sp>
        <p:nvSpPr>
          <p:cNvPr id="5" name="Text 3"/>
          <p:cNvSpPr/>
          <p:nvPr/>
        </p:nvSpPr>
        <p:spPr>
          <a:xfrm>
            <a:off x="0" y="0"/>
            <a:ext cx="9144000" cy="0"/>
          </a:xfrm>
          <a:prstGeom prst="rect">
            <a:avLst/>
          </a:prstGeom>
          <a:noFill/>
          <a:ln/>
        </p:spPr>
        <p:txBody>
          <a:bodyPr wrap="square" rtlCol="0"/>
          <a:lstStyle/>
          <a:p>
            <a:pPr indent="0" marL="0">
              <a:buNone/>
            </a:pPr>
            <a:r>
              <a:rPr lang="en-US" dirty="0"/>
              <a:t>Carrera: Tecnología Superior en Mecánica Automotriz  ·  Modalidad presencial  ·  Sección Diurno A</a:t>
            </a:r>
            <a:endParaRPr lang="en-US" dirty="0"/>
          </a:p>
          <a:p>
            <a:pPr indent="0" marL="0">
              <a:buNone/>
            </a:pPr>
            <a:r>
              <a:rPr lang="en-US" dirty="0"/>
              <a:t>Docente: Ing. Miguel Angel Minga González  ·  maminga@ists.edu.ec</a:t>
            </a:r>
            <a:endParaRPr lang="en-US" dirty="0"/>
          </a:p>
          <a:p>
            <a:pPr indent="0" marL="0">
              <a:buNone/>
            </a:pPr>
            <a:r>
              <a:rPr lang="en-US" dirty="0"/>
              <a:t>Tiempo asignado en el cronograma: Diciembre 2026 – Enero 2027  ·  Loja, Ecuador</a:t>
            </a:r>
            <a:endParaRPr lang="en-US" dirty="0"/>
          </a:p>
        </p:txBody>
      </p:sp>
      <p:sp>
        <p:nvSpPr>
          <p:cNvPr id="7" name="Text 0"/>
          <p:cNvSpPr/>
          <p:nvPr>
            <p:ph idx="103" type="body" hasCustomPrompt="1"/>
          </p:nvPr>
        </p:nvSpPr>
        <p:spPr>
          <a:xfrm>
            <a:off x="731520" y="4892040"/>
            <a:ext cx="10698480" cy="1280160"/>
          </a:xfrm>
          <a:prstGeom prst="rect">
            <a:avLst/>
          </a:prstGeom>
          <a:noFill/>
          <a:ln/>
        </p:spPr>
        <p:txBody>
          <a:bodyPr wrap="square" lIns="0" tIns="0" rIns="0" bIns="0" rtlCol="0" anchor="t"/>
          <a:lstStyle/>
          <a:p>
            <a:pPr indent="0" marL="0">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Unidad 3 dentro de la asignatura</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2377440"/>
                <a:gridCol w="4297680"/>
              </a:tblGrid>
              <a:tr h="384048">
                <a:tc>
                  <a:txBody>
                    <a:bodyPr/>
                    <a:lstStyle/>
                    <a:p>
                      <a:pPr indent="0" marL="0">
                        <a:buNone/>
                      </a:pPr>
                      <a:r>
                        <a:rPr lang="en-US" sz="1300" b="1" dirty="0">
                          <a:solidFill>
                            <a:srgbClr val="FFFFFF"/>
                          </a:solidFill>
                        </a:rPr>
                        <a:t>Campo del PEA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declarado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50" b="1" dirty="0">
                          <a:solidFill>
                            <a:schemeClr val="tx1"/>
                          </a:solidFill>
                        </a:rPr>
                        <a:t>Unidad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Nro. 3 — Sistema de distribución y elementos del cabezote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Tiempo en el cronograma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Diciembre 2026 – Enero 2027</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Horas con docente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Horas práctico-experimentales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14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Horas de aprendizaje autónomo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Actividad práctica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Despiece, comprobaciones y armado de la distribución y elementos del cabezote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Evaluación de cierre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Prueba de unidad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7498080" y="1371600"/>
            <a:ext cx="411480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5" name="Text 2"/>
          <p:cNvSpPr txBox="1"/>
          <p:nvPr/>
        </p:nvSpPr>
        <p:spPr>
          <a:xfrm>
            <a:off x="7699248" y="1517904"/>
            <a:ext cx="3712464" cy="523037"/>
          </a:xfrm>
          <a:prstGeom prst="rect">
            <a:avLst/>
          </a:prstGeom>
          <a:noFill/>
          <a:ln/>
        </p:spPr>
        <p:txBody>
          <a:bodyPr wrap="square" lIns="0" tIns="0" rIns="0" bIns="0" rtlCol="0" anchor="ctr"/>
          <a:lstStyle/>
          <a:p>
            <a:pPr indent="0" marL="0">
              <a:buNone/>
            </a:pPr>
            <a:r>
              <a:rPr lang="en-US" sz="3400" b="1" dirty="0">
                <a:solidFill>
                  <a:schemeClr val="accent1"/>
                </a:solidFill>
              </a:rPr>
              <a:t>32 h</a:t>
            </a:r>
            <a:endParaRPr lang="en-US" sz="3400" dirty="0"/>
          </a:p>
        </p:txBody>
      </p:sp>
      <p:sp>
        <p:nvSpPr>
          <p:cNvPr id="6" name="Text 3"/>
          <p:cNvSpPr txBox="1"/>
          <p:nvPr/>
        </p:nvSpPr>
        <p:spPr>
          <a:xfrm>
            <a:off x="7699248" y="1995221"/>
            <a:ext cx="3712464" cy="321869"/>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Horas totales de la unidad, de las 126 de la asignatura</a:t>
            </a:r>
            <a:endParaRPr lang="en-US" sz="1300" dirty="0"/>
          </a:p>
        </p:txBody>
      </p:sp>
      <p:sp>
        <p:nvSpPr>
          <p:cNvPr id="7" name="tarjeta_1"/>
          <p:cNvSpPr/>
          <p:nvPr/>
        </p:nvSpPr>
        <p:spPr>
          <a:xfrm>
            <a:off x="7498080" y="2514600"/>
            <a:ext cx="1298448"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5"/>
          <p:cNvSpPr txBox="1"/>
          <p:nvPr/>
        </p:nvSpPr>
        <p:spPr>
          <a:xfrm>
            <a:off x="7754112" y="2734056"/>
            <a:ext cx="786384" cy="457200"/>
          </a:xfrm>
          <a:prstGeom prst="rect">
            <a:avLst/>
          </a:prstGeom>
          <a:noFill/>
          <a:ln/>
        </p:spPr>
        <p:txBody>
          <a:bodyPr wrap="square" lIns="0" tIns="0" rIns="0" bIns="0" rtlCol="0" anchor="ctr"/>
          <a:lstStyle/>
          <a:p>
            <a:pPr indent="0" marL="0">
              <a:buNone/>
            </a:pPr>
            <a:r>
              <a:rPr lang="en-US" sz="2200" b="1" dirty="0">
                <a:solidFill>
                  <a:schemeClr val="tx1"/>
                </a:solidFill>
              </a:rPr>
              <a:t>9</a:t>
            </a:r>
            <a:endParaRPr lang="en-US" sz="2200" dirty="0"/>
          </a:p>
        </p:txBody>
      </p:sp>
      <p:sp>
        <p:nvSpPr>
          <p:cNvPr id="9" name="Text 6"/>
          <p:cNvSpPr txBox="1"/>
          <p:nvPr/>
        </p:nvSpPr>
        <p:spPr>
          <a:xfrm>
            <a:off x="7754112" y="3264408"/>
            <a:ext cx="786384"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Docencia</a:t>
            </a:r>
            <a:endParaRPr lang="en-US" sz="1050" dirty="0"/>
          </a:p>
        </p:txBody>
      </p:sp>
      <p:sp>
        <p:nvSpPr>
          <p:cNvPr id="10" name="tarjeta_2"/>
          <p:cNvSpPr/>
          <p:nvPr/>
        </p:nvSpPr>
        <p:spPr>
          <a:xfrm>
            <a:off x="8906256" y="2514600"/>
            <a:ext cx="1298448"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Text 8"/>
          <p:cNvSpPr txBox="1"/>
          <p:nvPr/>
        </p:nvSpPr>
        <p:spPr>
          <a:xfrm>
            <a:off x="9162288" y="2734056"/>
            <a:ext cx="786384" cy="457200"/>
          </a:xfrm>
          <a:prstGeom prst="rect">
            <a:avLst/>
          </a:prstGeom>
          <a:noFill/>
          <a:ln/>
        </p:spPr>
        <p:txBody>
          <a:bodyPr wrap="square" lIns="0" tIns="0" rIns="0" bIns="0" rtlCol="0" anchor="ctr"/>
          <a:lstStyle/>
          <a:p>
            <a:pPr indent="0" marL="0">
              <a:buNone/>
            </a:pPr>
            <a:r>
              <a:rPr lang="en-US" sz="2200" b="1" dirty="0">
                <a:solidFill>
                  <a:schemeClr val="tx1"/>
                </a:solidFill>
              </a:rPr>
              <a:t>14</a:t>
            </a:r>
            <a:endParaRPr lang="en-US" sz="2200" dirty="0"/>
          </a:p>
        </p:txBody>
      </p:sp>
      <p:sp>
        <p:nvSpPr>
          <p:cNvPr id="12" name="Text 9"/>
          <p:cNvSpPr txBox="1"/>
          <p:nvPr/>
        </p:nvSpPr>
        <p:spPr>
          <a:xfrm>
            <a:off x="9162288" y="3264408"/>
            <a:ext cx="786384"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Práctico</a:t>
            </a:r>
            <a:endParaRPr lang="en-US" sz="1050" dirty="0"/>
          </a:p>
        </p:txBody>
      </p:sp>
      <p:sp>
        <p:nvSpPr>
          <p:cNvPr id="13" name="tarjeta_3"/>
          <p:cNvSpPr/>
          <p:nvPr/>
        </p:nvSpPr>
        <p:spPr>
          <a:xfrm>
            <a:off x="10314432" y="2514600"/>
            <a:ext cx="1298448"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Text 11"/>
          <p:cNvSpPr txBox="1"/>
          <p:nvPr/>
        </p:nvSpPr>
        <p:spPr>
          <a:xfrm>
            <a:off x="10570464" y="2734056"/>
            <a:ext cx="786384" cy="457200"/>
          </a:xfrm>
          <a:prstGeom prst="rect">
            <a:avLst/>
          </a:prstGeom>
          <a:noFill/>
          <a:ln/>
        </p:spPr>
        <p:txBody>
          <a:bodyPr wrap="square" lIns="0" tIns="0" rIns="0" bIns="0" rtlCol="0" anchor="ctr"/>
          <a:lstStyle/>
          <a:p>
            <a:pPr indent="0" marL="0">
              <a:buNone/>
            </a:pPr>
            <a:r>
              <a:rPr lang="en-US" sz="2200" b="1" dirty="0">
                <a:solidFill>
                  <a:schemeClr val="tx1"/>
                </a:solidFill>
              </a:rPr>
              <a:t>9</a:t>
            </a:r>
            <a:endParaRPr lang="en-US" sz="2200" dirty="0"/>
          </a:p>
        </p:txBody>
      </p:sp>
      <p:sp>
        <p:nvSpPr>
          <p:cNvPr id="15" name="Text 12"/>
          <p:cNvSpPr txBox="1"/>
          <p:nvPr/>
        </p:nvSpPr>
        <p:spPr>
          <a:xfrm>
            <a:off x="10570464" y="3264408"/>
            <a:ext cx="786384"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Autónomo</a:t>
            </a:r>
            <a:endParaRPr lang="en-US" sz="1050" dirty="0"/>
          </a:p>
        </p:txBody>
      </p:sp>
      <p:sp>
        <p:nvSpPr>
          <p:cNvPr id="16" name="Text 13"/>
          <p:cNvSpPr txBox="1"/>
          <p:nvPr/>
        </p:nvSpPr>
        <p:spPr>
          <a:xfrm>
            <a:off x="7498080" y="3611880"/>
            <a:ext cx="4114800" cy="1463040"/>
          </a:xfrm>
          <a:prstGeom prst="rect">
            <a:avLst/>
          </a:prstGeom>
          <a:noFill/>
          <a:ln/>
        </p:spPr>
        <p:txBody>
          <a:bodyPr wrap="square" lIns="0" tIns="0" rIns="0" bIns="0" rtlCol="0" anchor="t"/>
          <a:lstStyle/>
          <a:p>
            <a:pPr algn="l" indent="0" marL="0">
              <a:lnSpc>
                <a:spcPct val="110000"/>
              </a:lnSpc>
              <a:buNone/>
            </a:pPr>
            <a:r>
              <a:rPr lang="en-US" sz="1200" dirty="0">
                <a:solidFill>
                  <a:schemeClr val="accent4"/>
                </a:solidFill>
              </a:rPr>
              <a:t>Es la unidad con más horas práctico-experimentales de la asignatura. El PEA le asigna una hora más que a las unidades 1 y 2, y esa hora adicional responde a que el despiece y armado de la distribución y del cabezote exige más procedimiento, más comprobaciones instrumentadas y más cuidado que los conjuntos trabajados hasta ahora.</a:t>
            </a:r>
            <a:endParaRPr lang="en-US" sz="1200" dirty="0"/>
          </a:p>
        </p:txBody>
      </p:sp>
      <p:sp>
        <p:nvSpPr>
          <p:cNvPr id="17" name="Shape 14"/>
          <p:cNvSpPr/>
          <p:nvPr/>
        </p:nvSpPr>
        <p:spPr>
          <a:xfrm>
            <a:off x="548640" y="5212080"/>
            <a:ext cx="11064240" cy="731520"/>
          </a:xfrm>
          <a:prstGeom prst="roundRect">
            <a:avLst>
              <a:gd name="adj" fmla="val 7500"/>
            </a:avLst>
          </a:prstGeom>
          <a:solidFill>
            <a:schemeClr val="bg2"/>
          </a:solidFill>
          <a:ln w="12700">
            <a:solidFill>
              <a:schemeClr val="bg2"/>
            </a:solidFill>
            <a:prstDash val="solid"/>
          </a:ln>
        </p:spPr>
        <p:txBody>
          <a:bodyPr/>
          <a:p/>
        </p:txBody>
      </p:sp>
      <p:sp>
        <p:nvSpPr>
          <p:cNvPr id="18" name="Shape 15"/>
          <p:cNvSpPr/>
          <p:nvPr/>
        </p:nvSpPr>
        <p:spPr>
          <a:xfrm>
            <a:off x="786384" y="5394960"/>
            <a:ext cx="365760" cy="365760"/>
          </a:xfrm>
          <a:prstGeom prst="ellipse">
            <a:avLst/>
          </a:prstGeom>
          <a:solidFill>
            <a:schemeClr val="accent1"/>
          </a:solidFill>
          <a:ln w="12700">
            <a:solidFill>
              <a:schemeClr val="accent1"/>
            </a:solidFill>
            <a:prstDash val="solid"/>
          </a:ln>
        </p:spPr>
        <p:txBody>
          <a:bodyPr/>
          <a:p/>
        </p:txBody>
      </p:sp>
      <p:sp>
        <p:nvSpPr>
          <p:cNvPr id="19" name="Text 16"/>
          <p:cNvSpPr txBox="1"/>
          <p:nvPr/>
        </p:nvSpPr>
        <p:spPr>
          <a:xfrm>
            <a:off x="786384" y="53949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0" name="Text 17"/>
          <p:cNvSpPr txBox="1"/>
          <p:nvPr/>
        </p:nvSpPr>
        <p:spPr>
          <a:xfrm>
            <a:off x="1298448" y="5303520"/>
            <a:ext cx="10058400" cy="54864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reparto de horas dice qué se espera: esta unidad se aprende con las manos. La teoría de las nueve horas de docencia existe para que las catorce de taller se hagan con criterio, no por imitación.</a:t>
            </a:r>
            <a:endParaRPr lang="en-US" sz="1250" dirty="0"/>
          </a:p>
        </p:txBody>
      </p:sp>
      <p:sp>
        <p:nvSpPr>
          <p:cNvPr id="21" name="Text 1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Programa curricular por unidades didácticas, Unidad Nro.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resultado de aprendizaje construye esta unidad</a:t>
            </a:r>
            <a:endParaRPr lang="en-US" sz="3200" dirty="0"/>
          </a:p>
        </p:txBody>
      </p:sp>
      <p:sp>
        <p:nvSpPr>
          <p:cNvPr id="3" name="tarjeta_1"/>
          <p:cNvSpPr/>
          <p:nvPr/>
        </p:nvSpPr>
        <p:spPr>
          <a:xfrm>
            <a:off x="54864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El que declara el PEA</a:t>
            </a:r>
            <a:endParaRPr lang="en-US" sz="1700" dirty="0"/>
          </a:p>
        </p:txBody>
      </p:sp>
      <p:sp>
        <p:nvSpPr>
          <p:cNvPr id="7" name="Text 5"/>
          <p:cNvSpPr txBox="1"/>
          <p:nvPr/>
        </p:nvSpPr>
        <p:spPr>
          <a:xfrm>
            <a:off x="804672" y="2167128"/>
            <a:ext cx="2993136" cy="14996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«Integra el correcto diagnóstico del bloque de cilindros, tren alternativo y bloque motor mediante el uso de manuales».</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«Detectar el desgaste producido en las piezas móviles y fijas del motor de combustión interna».</a:t>
            </a:r>
            <a:endParaRPr lang="en-US" sz="1100" dirty="0"/>
          </a:p>
        </p:txBody>
      </p:sp>
      <p:sp>
        <p:nvSpPr>
          <p:cNvPr id="8" name="Text 6"/>
          <p:cNvSpPr txBox="1"/>
          <p:nvPr/>
        </p:nvSpPr>
        <p:spPr>
          <a:xfrm>
            <a:off x="804672" y="348386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Tabla 5 del PEA</a:t>
            </a:r>
            <a:endParaRPr lang="en-US" sz="1200" dirty="0"/>
          </a:p>
        </p:txBody>
      </p:sp>
      <p:sp>
        <p:nvSpPr>
          <p:cNvPr id="9" name="tarjeta_2"/>
          <p:cNvSpPr/>
          <p:nvPr/>
        </p:nvSpPr>
        <p:spPr>
          <a:xfrm>
            <a:off x="432816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Lo que exige: el manual</a:t>
            </a:r>
            <a:endParaRPr lang="en-US" sz="1700" dirty="0"/>
          </a:p>
        </p:txBody>
      </p:sp>
      <p:sp>
        <p:nvSpPr>
          <p:cNvPr id="13" name="Text 11"/>
          <p:cNvSpPr txBox="1"/>
          <p:nvPr/>
        </p:nvSpPr>
        <p:spPr>
          <a:xfrm>
            <a:off x="4584192" y="2167128"/>
            <a:ext cx="2993136" cy="14996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El resultado nombra expresamente el uso de manuales. No se trata de recordar valores, sino de saber buscarlos, interpretarlos y aplicarlos al motor concreto que se tiene delante.</a:t>
            </a:r>
            <a:endParaRPr lang="en-US" sz="1100" dirty="0"/>
          </a:p>
        </p:txBody>
      </p:sp>
      <p:sp>
        <p:nvSpPr>
          <p:cNvPr id="14" name="Text 12"/>
          <p:cNvSpPr txBox="1"/>
          <p:nvPr/>
        </p:nvSpPr>
        <p:spPr>
          <a:xfrm>
            <a:off x="4584192" y="348386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Recurso declarado: Autodata</a:t>
            </a:r>
            <a:endParaRPr lang="en-US" sz="1200" dirty="0"/>
          </a:p>
        </p:txBody>
      </p:sp>
      <p:sp>
        <p:nvSpPr>
          <p:cNvPr id="15" name="tarjeta_3"/>
          <p:cNvSpPr/>
          <p:nvPr/>
        </p:nvSpPr>
        <p:spPr>
          <a:xfrm>
            <a:off x="810768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Lo que exige: el desgaste</a:t>
            </a:r>
            <a:endParaRPr lang="en-US" sz="1700" dirty="0"/>
          </a:p>
        </p:txBody>
      </p:sp>
      <p:sp>
        <p:nvSpPr>
          <p:cNvPr id="19" name="Text 17"/>
          <p:cNvSpPr txBox="1"/>
          <p:nvPr/>
        </p:nvSpPr>
        <p:spPr>
          <a:xfrm>
            <a:off x="8363712" y="2167128"/>
            <a:ext cx="2993136" cy="14996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Detectar el desgaste en piezas móviles y fijas. En esta unidad las piezas son las válvulas, sus guías, sus asientos, los muelles, el árbol de levas y el plano del cabezote.</a:t>
            </a:r>
            <a:endParaRPr lang="en-US" sz="1100" dirty="0"/>
          </a:p>
        </p:txBody>
      </p:sp>
      <p:sp>
        <p:nvSpPr>
          <p:cNvPr id="20" name="Text 18"/>
          <p:cNvSpPr txBox="1"/>
          <p:nvPr/>
        </p:nvSpPr>
        <p:spPr>
          <a:xfrm>
            <a:off x="8363712" y="348386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Comprobaciones del cabezote</a:t>
            </a:r>
            <a:endParaRPr lang="en-US" sz="1200" dirty="0"/>
          </a:p>
        </p:txBody>
      </p:sp>
      <p:sp>
        <p:nvSpPr>
          <p:cNvPr id="21" name="Shape 19"/>
          <p:cNvSpPr/>
          <p:nvPr/>
        </p:nvSpPr>
        <p:spPr>
          <a:xfrm>
            <a:off x="548640" y="4041648"/>
            <a:ext cx="11064240" cy="777240"/>
          </a:xfrm>
          <a:prstGeom prst="roundRect">
            <a:avLst>
              <a:gd name="adj" fmla="val 7059"/>
            </a:avLst>
          </a:prstGeom>
          <a:solidFill>
            <a:schemeClr val="bg2"/>
          </a:solidFill>
          <a:ln w="12700">
            <a:solidFill>
              <a:schemeClr val="bg2"/>
            </a:solidFill>
            <a:prstDash val="solid"/>
          </a:ln>
        </p:spPr>
        <p:txBody>
          <a:bodyPr/>
          <a:p/>
        </p:txBody>
      </p:sp>
      <p:sp>
        <p:nvSpPr>
          <p:cNvPr id="22" name="Shape 20"/>
          <p:cNvSpPr/>
          <p:nvPr/>
        </p:nvSpPr>
        <p:spPr>
          <a:xfrm>
            <a:off x="786384" y="4247388"/>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42473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4133088"/>
            <a:ext cx="10058400" cy="59436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Traducción a lo que se exige en el laboratorio: el estudiante debe desarmar la distribución y el cabezote registrando el orden, medir cada elemento contra el valor del manual, decidir qué se repara y qué se sustituye, y armar dejando el motor sincronizado y funcionando.</a:t>
            </a:r>
            <a:endParaRPr lang="en-US" sz="1250" dirty="0"/>
          </a:p>
        </p:txBody>
      </p:sp>
      <p:sp>
        <p:nvSpPr>
          <p:cNvPr id="25" name="Shape 23"/>
          <p:cNvSpPr/>
          <p:nvPr/>
        </p:nvSpPr>
        <p:spPr>
          <a:xfrm>
            <a:off x="548640" y="4992624"/>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992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7" name="Text 25"/>
          <p:cNvSpPr txBox="1"/>
          <p:nvPr/>
        </p:nvSpPr>
        <p:spPr>
          <a:xfrm>
            <a:off x="1078992" y="495604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Unidad 1. </a:t>
            </a:r>
            <a:pPr indent="0" marL="0">
              <a:lnSpc>
                <a:spcPct val="106000"/>
              </a:lnSpc>
              <a:buNone/>
            </a:pPr>
            <a:r>
              <a:rPr lang="en-US" sz="1200" dirty="0">
                <a:solidFill>
                  <a:schemeClr val="accent4"/>
                </a:solidFill>
              </a:rPr>
              <a:t>se midió el bloque y el cilindro: diámetro, ovalización, conicidad, planitud</a:t>
            </a:r>
            <a:endParaRPr lang="en-US" sz="1200" dirty="0"/>
          </a:p>
        </p:txBody>
      </p:sp>
      <p:sp>
        <p:nvSpPr>
          <p:cNvPr id="28" name="Shape 26"/>
          <p:cNvSpPr/>
          <p:nvPr/>
        </p:nvSpPr>
        <p:spPr>
          <a:xfrm>
            <a:off x="548640" y="5294376"/>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294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0" name="Text 28"/>
          <p:cNvSpPr txBox="1"/>
          <p:nvPr/>
        </p:nvSpPr>
        <p:spPr>
          <a:xfrm>
            <a:off x="1078992" y="525780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Unidad 3. </a:t>
            </a:r>
            <a:pPr indent="0" marL="0">
              <a:lnSpc>
                <a:spcPct val="106000"/>
              </a:lnSpc>
              <a:buNone/>
            </a:pPr>
            <a:r>
              <a:rPr lang="en-US" sz="1200" dirty="0">
                <a:solidFill>
                  <a:schemeClr val="accent4"/>
                </a:solidFill>
              </a:rPr>
              <a:t>se mide el cabezote y sus elementos: planitud, guías, asientos, muelles, altura de válvula</a:t>
            </a:r>
            <a:endParaRPr lang="en-US" sz="1200" dirty="0"/>
          </a:p>
        </p:txBody>
      </p:sp>
      <p:sp>
        <p:nvSpPr>
          <p:cNvPr id="31" name="Shape 29"/>
          <p:cNvSpPr/>
          <p:nvPr/>
        </p:nvSpPr>
        <p:spPr>
          <a:xfrm>
            <a:off x="548640" y="5596128"/>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596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3" name="Text 31"/>
          <p:cNvSpPr txBox="1"/>
          <p:nvPr/>
        </p:nvSpPr>
        <p:spPr>
          <a:xfrm>
            <a:off x="1078992" y="555955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Unidad 4. </a:t>
            </a:r>
            <a:pPr indent="0" marL="0">
              <a:lnSpc>
                <a:spcPct val="106000"/>
              </a:lnSpc>
              <a:buNone/>
            </a:pPr>
            <a:r>
              <a:rPr lang="en-US" sz="1200" dirty="0">
                <a:solidFill>
                  <a:schemeClr val="accent4"/>
                </a:solidFill>
              </a:rPr>
              <a:t>se cierra con el tren alternativo y el bloque completo, que es donde el RdA se evalúa por entero</a:t>
            </a:r>
            <a:endParaRPr lang="en-US" sz="1200" dirty="0"/>
          </a:p>
        </p:txBody>
      </p:sp>
      <p:sp>
        <p:nvSpPr>
          <p:cNvPr id="34" name="Text 3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Apartados 6 y 7 del PEA — Resultados de aprendizaje · Tabla 5 — RdA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cinco conocimientos del PEA en cuatro clases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468880"/>
                <a:gridCol w="4297680"/>
                <a:gridCol w="4297680"/>
              </a:tblGrid>
              <a:tr h="475488">
                <a:tc>
                  <a:txBody>
                    <a:bodyPr/>
                    <a:lstStyle/>
                    <a:p>
                      <a:pPr indent="0" marL="0">
                        <a:buNone/>
                      </a:pPr>
                      <a:r>
                        <a:rPr lang="en-US" sz="1300" b="1" dirty="0">
                          <a:solidFill>
                            <a:srgbClr val="FFFFFF"/>
                          </a:solidFill>
                        </a:rPr>
                        <a:t>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Conocimientos del PEA que cubre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Producto de la 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150" b="1" dirty="0">
                          <a:solidFill>
                            <a:schemeClr val="tx1"/>
                          </a:solidFill>
                        </a:rPr>
                        <a:t>3.1 La distribución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Sistema de distribución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Diagrama de distribución del motor del laboratorio y cuadro comparativo SV / OHV / OHC / DOHC</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chemeClr val="tx1"/>
                          </a:solidFill>
                        </a:rPr>
                        <a:t>3.2 Puesta a punto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Despiece y armado de la distribución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Ficha de puesta a punto de un motor concreto, con las marcas localizadas y fotografiadas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150" b="1" dirty="0">
                          <a:solidFill>
                            <a:schemeClr val="tx1"/>
                          </a:solidFill>
                        </a:rPr>
                        <a:t>3.3 El cabezote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Cabezote · Despiece y armado del cabezote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Despiece ordenado del cabezote con inventario y registro fotográfico por pasos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chemeClr val="tx1"/>
                          </a:solidFill>
                        </a:rPr>
                        <a:t>3.4 Comprobaciones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Comprobaciones del cabezote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Ficha de comprobaciones completa con la decisión técnica sobre cada elemento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1188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379476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3794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0332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cinco conocimientos que el PEA lista para la Unidad 3 quedan íntegramente cubiertos por las cuatro clases, sin contenidos añadidos fuera del programa y sin apartados sin desarrollar.</a:t>
            </a:r>
            <a:endParaRPr lang="en-US" sz="1450" dirty="0"/>
          </a:p>
        </p:txBody>
      </p:sp>
      <p:sp>
        <p:nvSpPr>
          <p:cNvPr id="8" name="Text 5"/>
          <p:cNvSpPr txBox="1"/>
          <p:nvPr/>
        </p:nvSpPr>
        <p:spPr>
          <a:xfrm>
            <a:off x="548640" y="4462272"/>
            <a:ext cx="11064240" cy="50292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Secuencia didáctica: primero se entiende qué hace la distribución y por qué debe estar sincronizada (3.1); después se aprende a desarmarla y a volver a sincronizarla (3.2); luego se abre el cabezote, que es la pieza que la distribución acciona (3.3); y por último se comprueba y se decide sobre cada uno de sus elementos (3.4).</a:t>
            </a:r>
            <a:endParaRPr lang="en-US" sz="1250" dirty="0"/>
          </a:p>
        </p:txBody>
      </p:sp>
      <p:sp>
        <p:nvSpPr>
          <p:cNvPr id="9" name="tarjeta_1"/>
          <p:cNvSpPr/>
          <p:nvPr/>
        </p:nvSpPr>
        <p:spPr>
          <a:xfrm>
            <a:off x="54864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7"/>
          <p:cNvSpPr/>
          <p:nvPr/>
        </p:nvSpPr>
        <p:spPr>
          <a:xfrm>
            <a:off x="804672" y="5266944"/>
            <a:ext cx="420624" cy="420624"/>
          </a:xfrm>
          <a:prstGeom prst="ellipse">
            <a:avLst/>
          </a:prstGeom>
          <a:solidFill>
            <a:schemeClr val="accent1"/>
          </a:solidFill>
          <a:ln w="12700">
            <a:solidFill>
              <a:schemeClr val="accent1"/>
            </a:solidFill>
            <a:prstDash val="solid"/>
          </a:ln>
        </p:spPr>
        <p:txBody>
          <a:bodyPr/>
          <a:p/>
        </p:txBody>
      </p:sp>
      <p:sp>
        <p:nvSpPr>
          <p:cNvPr id="11" name="Text 8"/>
          <p:cNvSpPr txBox="1"/>
          <p:nvPr/>
        </p:nvSpPr>
        <p:spPr>
          <a:xfrm>
            <a:off x="80467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2" name="Text 9"/>
          <p:cNvSpPr txBox="1"/>
          <p:nvPr/>
        </p:nvSpPr>
        <p:spPr>
          <a:xfrm>
            <a:off x="1353312" y="524865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La práctica declarada</a:t>
            </a:r>
            <a:endParaRPr lang="en-US" sz="1300" dirty="0"/>
          </a:p>
        </p:txBody>
      </p:sp>
      <p:sp>
        <p:nvSpPr>
          <p:cNvPr id="13" name="Text 10"/>
          <p:cNvSpPr txBox="1"/>
          <p:nvPr/>
        </p:nvSpPr>
        <p:spPr>
          <a:xfrm>
            <a:off x="80467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Despiece, comprobaciones y armado de la distribución y de los elementos del cabezote, dentro de las 14 horas práctico-experimentales.</a:t>
            </a:r>
            <a:endParaRPr lang="en-US" sz="1050" dirty="0"/>
          </a:p>
        </p:txBody>
      </p:sp>
      <p:sp>
        <p:nvSpPr>
          <p:cNvPr id="14" name="tarjeta_2"/>
          <p:cNvSpPr/>
          <p:nvPr/>
        </p:nvSpPr>
        <p:spPr>
          <a:xfrm>
            <a:off x="432816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Shape 12"/>
          <p:cNvSpPr/>
          <p:nvPr/>
        </p:nvSpPr>
        <p:spPr>
          <a:xfrm>
            <a:off x="4584192" y="5266944"/>
            <a:ext cx="420624" cy="420624"/>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458419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7" name="Text 14"/>
          <p:cNvSpPr txBox="1"/>
          <p:nvPr/>
        </p:nvSpPr>
        <p:spPr>
          <a:xfrm>
            <a:off x="5132832" y="524865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El componente ambiental</a:t>
            </a:r>
            <a:endParaRPr lang="en-US" sz="1300" dirty="0"/>
          </a:p>
        </p:txBody>
      </p:sp>
      <p:sp>
        <p:nvSpPr>
          <p:cNvPr id="18" name="Text 15"/>
          <p:cNvSpPr txBox="1"/>
          <p:nvPr/>
        </p:nvSpPr>
        <p:spPr>
          <a:xfrm>
            <a:off x="458419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La ética ambiental está declarada expresamente en esta unidad y se trabaja sobre la gestión de los residuos del taller.</a:t>
            </a:r>
            <a:endParaRPr lang="en-US" sz="1050" dirty="0"/>
          </a:p>
        </p:txBody>
      </p:sp>
      <p:sp>
        <p:nvSpPr>
          <p:cNvPr id="19" name="tarjeta_3"/>
          <p:cNvSpPr/>
          <p:nvPr/>
        </p:nvSpPr>
        <p:spPr>
          <a:xfrm>
            <a:off x="810768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0" name="Shape 17"/>
          <p:cNvSpPr/>
          <p:nvPr/>
        </p:nvSpPr>
        <p:spPr>
          <a:xfrm>
            <a:off x="8363712" y="5266944"/>
            <a:ext cx="420624" cy="420624"/>
          </a:xfrm>
          <a:prstGeom prst="ellipse">
            <a:avLst/>
          </a:prstGeom>
          <a:solidFill>
            <a:schemeClr val="accent3"/>
          </a:solidFill>
          <a:ln w="12700">
            <a:solidFill>
              <a:schemeClr val="accent3"/>
            </a:solidFill>
            <a:prstDash val="solid"/>
          </a:ln>
        </p:spPr>
        <p:txBody>
          <a:bodyPr/>
          <a:p/>
        </p:txBody>
      </p:sp>
      <p:sp>
        <p:nvSpPr>
          <p:cNvPr id="21" name="Text 18"/>
          <p:cNvSpPr txBox="1"/>
          <p:nvPr/>
        </p:nvSpPr>
        <p:spPr>
          <a:xfrm>
            <a:off x="836371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2" name="Text 19"/>
          <p:cNvSpPr txBox="1"/>
          <p:nvPr/>
        </p:nvSpPr>
        <p:spPr>
          <a:xfrm>
            <a:off x="8912352" y="524865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El puente a la Unidad 4</a:t>
            </a:r>
            <a:endParaRPr lang="en-US" sz="1300" dirty="0"/>
          </a:p>
        </p:txBody>
      </p:sp>
      <p:sp>
        <p:nvSpPr>
          <p:cNvPr id="23" name="Text 20"/>
          <p:cNvSpPr txBox="1"/>
          <p:nvPr/>
        </p:nvSpPr>
        <p:spPr>
          <a:xfrm>
            <a:off x="836371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Con el cabezote fuera queda el bloque a la vista: lubricación, refrigeración y tren alternativo son ya la unidad siguiente.</a:t>
            </a:r>
            <a:endParaRPr lang="en-US" sz="1050" dirty="0"/>
          </a:p>
        </p:txBody>
      </p:sp>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3 del PEA — Bloque de contenidos · Tabla 5 — Conocimientos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Habilidades blandas y componente ambiental</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846320"/>
                <a:gridCol w="3474720"/>
              </a:tblGrid>
              <a:tr h="420624">
                <a:tc>
                  <a:txBody>
                    <a:bodyPr/>
                    <a:lstStyle/>
                    <a:p>
                      <a:pPr indent="0" marL="0">
                        <a:buNone/>
                      </a:pPr>
                      <a:r>
                        <a:rPr lang="en-US" sz="1300" b="1" dirty="0">
                          <a:solidFill>
                            <a:srgbClr val="FFFFFF"/>
                          </a:solidFill>
                        </a:rPr>
                        <a:t>Habilidad declarada en el PEA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desarrolla en la Unidad 3</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Herramienta de evaluación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150" b="1" dirty="0">
                          <a:solidFill>
                            <a:schemeClr val="tx1"/>
                          </a:solidFill>
                        </a:rPr>
                        <a:t>Trabajo en equipo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El despiece del cabezote no se hace solo: uno desmonta, otro registra y un tercero ordena las piezas por cilindro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Evaluación entre pares y observación en taller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50" b="1" dirty="0">
                          <a:solidFill>
                            <a:schemeClr val="tx1"/>
                          </a:solidFill>
                        </a:rPr>
                        <a:t>Resolución de conflictos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Cuando el armado no cuadra, el grupo debe acordar si se vuelve atrás o se busca el error, sin culpar a nadie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Observación y autoevaluación del grupo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1"/>
                          </a:solidFill>
                        </a:rPr>
                        <a:t>Liderazgo ético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Reconocer y declarar un error propio en el procedimiento antes de que tenga consecuencias sobre el motor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Informe de práctica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50" b="1" dirty="0">
                          <a:solidFill>
                            <a:schemeClr val="tx1"/>
                          </a:solidFill>
                        </a:rPr>
                        <a:t>Ética ambiental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Gestión de los residuos del trabajo: aceite, refrigerante, disolventes, empaques y piezas metálicas sustituidas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Lista de verificación ambiental de la práctica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520440"/>
            <a:ext cx="11064240" cy="822960"/>
          </a:xfrm>
          <a:prstGeom prst="roundRect">
            <a:avLst>
              <a:gd name="adj" fmla="val 6667"/>
            </a:avLst>
          </a:prstGeom>
          <a:solidFill>
            <a:schemeClr val="bg2"/>
          </a:solidFill>
          <a:ln w="12700">
            <a:solidFill>
              <a:schemeClr val="bg2"/>
            </a:solidFill>
            <a:prstDash val="solid"/>
          </a:ln>
        </p:spPr>
        <p:txBody>
          <a:bodyPr/>
          <a:p/>
        </p:txBody>
      </p:sp>
      <p:sp>
        <p:nvSpPr>
          <p:cNvPr id="5" name="Shape 2"/>
          <p:cNvSpPr/>
          <p:nvPr/>
        </p:nvSpPr>
        <p:spPr>
          <a:xfrm>
            <a:off x="786384" y="374904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3749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6118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ética ambiental está declarada únicamente en esta unidad, y no es un añadido formal: el despiece de un cabezote genera aceite usado, refrigerante, disolventes y empaques. Dónde terminan esos residuos es parte del ejercicio profesional y se evalúa.</a:t>
            </a:r>
            <a:endParaRPr lang="en-US" sz="1450" dirty="0"/>
          </a:p>
        </p:txBody>
      </p:sp>
      <p:sp>
        <p:nvSpPr>
          <p:cNvPr id="8" name="tarjeta_1"/>
          <p:cNvSpPr/>
          <p:nvPr/>
        </p:nvSpPr>
        <p:spPr>
          <a:xfrm>
            <a:off x="548640" y="4480560"/>
            <a:ext cx="350520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4718304"/>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47183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47000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Aceite y refrigerante</a:t>
            </a:r>
            <a:endParaRPr lang="en-US" sz="1700" dirty="0"/>
          </a:p>
        </p:txBody>
      </p:sp>
      <p:sp>
        <p:nvSpPr>
          <p:cNvPr id="12" name="Text 9"/>
          <p:cNvSpPr txBox="1"/>
          <p:nvPr/>
        </p:nvSpPr>
        <p:spPr>
          <a:xfrm>
            <a:off x="804672" y="5230368"/>
            <a:ext cx="2993136" cy="44805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Se recogen en recipientes identificados y se entregan a gestor autorizado. Un litro de aceite usado contamina un volumen enorme de agua.</a:t>
            </a:r>
            <a:endParaRPr lang="en-US" sz="1100" dirty="0"/>
          </a:p>
        </p:txBody>
      </p:sp>
      <p:sp>
        <p:nvSpPr>
          <p:cNvPr id="13" name="tarjeta_2"/>
          <p:cNvSpPr/>
          <p:nvPr/>
        </p:nvSpPr>
        <p:spPr>
          <a:xfrm>
            <a:off x="4328160" y="4480560"/>
            <a:ext cx="350520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4718304"/>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47183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47000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Disolventes y trapos</a:t>
            </a:r>
            <a:endParaRPr lang="en-US" sz="1700" dirty="0"/>
          </a:p>
        </p:txBody>
      </p:sp>
      <p:sp>
        <p:nvSpPr>
          <p:cNvPr id="17" name="Text 14"/>
          <p:cNvSpPr txBox="1"/>
          <p:nvPr/>
        </p:nvSpPr>
        <p:spPr>
          <a:xfrm>
            <a:off x="4584192" y="5230368"/>
            <a:ext cx="2993136" cy="44805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Los trapos impregnados son residuo peligroso, no basura común, y además presentan riesgo de combustión espontánea si se acumulan.</a:t>
            </a:r>
            <a:endParaRPr lang="en-US" sz="1100" dirty="0"/>
          </a:p>
        </p:txBody>
      </p:sp>
      <p:sp>
        <p:nvSpPr>
          <p:cNvPr id="18" name="tarjeta_3"/>
          <p:cNvSpPr/>
          <p:nvPr/>
        </p:nvSpPr>
        <p:spPr>
          <a:xfrm>
            <a:off x="8107680" y="4480560"/>
            <a:ext cx="350520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4718304"/>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47183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47000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Piezas metálicas</a:t>
            </a:r>
            <a:endParaRPr lang="en-US" sz="1700" dirty="0"/>
          </a:p>
        </p:txBody>
      </p:sp>
      <p:sp>
        <p:nvSpPr>
          <p:cNvPr id="22" name="Text 19"/>
          <p:cNvSpPr txBox="1"/>
          <p:nvPr/>
        </p:nvSpPr>
        <p:spPr>
          <a:xfrm>
            <a:off x="8363712" y="5230368"/>
            <a:ext cx="2993136" cy="44805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Válvulas, muelles y empaques sustituidos van a reciclaje de metales, separados del residuo general del taller.</a:t>
            </a:r>
            <a:endParaRPr lang="en-US" sz="11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Habilidades blandas, deontológicas y medioambientales · componente ambiental: ética ambiental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Metodología del PEA aplicada a esta unidad</a:t>
            </a:r>
            <a:endParaRPr lang="en-US" sz="3200" dirty="0"/>
          </a:p>
        </p:txBody>
      </p:sp>
      <p:sp>
        <p:nvSpPr>
          <p:cNvPr id="3" name="tarjeta_1"/>
          <p:cNvSpPr/>
          <p:nvPr/>
        </p:nvSpPr>
        <p:spPr>
          <a:xfrm>
            <a:off x="54864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I</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Método inductivo</a:t>
            </a:r>
            <a:endParaRPr lang="en-US" sz="1700" dirty="0"/>
          </a:p>
        </p:txBody>
      </p:sp>
      <p:sp>
        <p:nvSpPr>
          <p:cNvPr id="7" name="Text 5"/>
          <p:cNvSpPr txBox="1"/>
          <p:nvPr/>
        </p:nvSpPr>
        <p:spPr>
          <a:xfrm>
            <a:off x="804672" y="2167128"/>
            <a:ext cx="2993136" cy="13167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Observación, análisis y comparación.</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Se parte del motor del laboratorio: se observa cómo está montada su distribución y a partir de ahí se generaliza.</a:t>
            </a:r>
            <a:endParaRPr lang="en-US" sz="1150" dirty="0"/>
          </a:p>
        </p:txBody>
      </p:sp>
      <p:sp>
        <p:nvSpPr>
          <p:cNvPr id="8" name="tarjeta_2"/>
          <p:cNvSpPr/>
          <p:nvPr/>
        </p:nvSpPr>
        <p:spPr>
          <a:xfrm>
            <a:off x="432816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Método deductivo</a:t>
            </a:r>
            <a:endParaRPr lang="en-US" sz="1700" dirty="0"/>
          </a:p>
        </p:txBody>
      </p:sp>
      <p:sp>
        <p:nvSpPr>
          <p:cNvPr id="12" name="Text 10"/>
          <p:cNvSpPr txBox="1"/>
          <p:nvPr/>
        </p:nvSpPr>
        <p:spPr>
          <a:xfrm>
            <a:off x="4584192" y="2167128"/>
            <a:ext cx="2993136" cy="13167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Síntesis, esquema, repetición y razonamiento.</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Del principio de sincronización se deduce qué debe cumplirse en cualquier motor, sea cual sea su accionamiento.</a:t>
            </a:r>
            <a:endParaRPr lang="en-US" sz="1150" dirty="0"/>
          </a:p>
        </p:txBody>
      </p:sp>
      <p:sp>
        <p:nvSpPr>
          <p:cNvPr id="13" name="tarjeta_3"/>
          <p:cNvSpPr/>
          <p:nvPr/>
        </p:nvSpPr>
        <p:spPr>
          <a:xfrm>
            <a:off x="810768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T</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Técnicas de enseñanza</a:t>
            </a:r>
            <a:endParaRPr lang="en-US" sz="1700" dirty="0"/>
          </a:p>
        </p:txBody>
      </p:sp>
      <p:sp>
        <p:nvSpPr>
          <p:cNvPr id="17" name="Text 15"/>
          <p:cNvSpPr txBox="1"/>
          <p:nvPr/>
        </p:nvSpPr>
        <p:spPr>
          <a:xfrm>
            <a:off x="8363712" y="2167128"/>
            <a:ext cx="2993136" cy="13167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Aprendizaje basado en proyectos, aprendizaje basado en problemas y análisis de casos.</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Las tres están declaradas para esta unidad.</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11064240" cy="914400"/>
        </p:xfrm>
        <a:graphic>
          <a:graphicData uri="http://schemas.openxmlformats.org/drawingml/2006/table">
            <a:tbl>
              <a:tblPr/>
              <a:tblGrid>
                <a:gridCol w="3108960"/>
                <a:gridCol w="4114800"/>
                <a:gridCol w="3840480"/>
              </a:tblGrid>
              <a:tr h="402336">
                <a:tc>
                  <a:txBody>
                    <a:bodyPr/>
                    <a:lstStyle/>
                    <a:p>
                      <a:pPr indent="0" marL="0">
                        <a:buNone/>
                      </a:pPr>
                      <a:r>
                        <a:rPr lang="en-US" sz="1300" b="1" dirty="0">
                          <a:solidFill>
                            <a:srgbClr val="FFFFFF"/>
                          </a:solidFill>
                        </a:rPr>
                        <a:t>Técnica declarada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Dónde se aplica en la unidad</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produce el estudiante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02336">
                <a:tc>
                  <a:txBody>
                    <a:bodyPr/>
                    <a:lstStyle/>
                    <a:p>
                      <a:pPr indent="0" marL="0">
                        <a:buNone/>
                      </a:pPr>
                      <a:r>
                        <a:rPr lang="en-US" sz="1150" b="1" dirty="0">
                          <a:solidFill>
                            <a:schemeClr val="tx1"/>
                          </a:solidFill>
                        </a:rPr>
                        <a:t>Aprendizaje basado en proyectos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La práctica completa: desarmar, comprobar y armar dejando el motor funcionando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Motor sincronizado e informe de práctica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chemeClr val="tx1"/>
                          </a:solidFill>
                        </a:rPr>
                        <a:t>Aprendizaje basado en problemas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Casos de apertura de cada clase: un motor que no arranca tras un cambio de correa, un motor que pierde compresión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Hipótesis, comprobación y conclusión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1"/>
                          </a:solidFill>
                        </a:rPr>
                        <a:t>Análisis de casos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Procedimientos reales de puesta a punto de seis vehículos distintos del material de la carrera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Cuadro comparativo de procedimientos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0" name="Shape 17"/>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21" name="Text 18"/>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El aprendizaje basado en proyectos es el que mejor describe esta unidad: hay un producto final tangible y verificable, que es el motor armado y funcionando. Esa verificación objetiva es lo que hace valiosa la práctica.</a:t>
            </a:r>
            <a:endParaRPr lang="en-US" sz="12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Metodología: formas de trabajo y métodos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Recursos declarados en el PEA para la Unidad 3</a:t>
            </a:r>
            <a:endParaRPr lang="en-US" sz="3200" dirty="0"/>
          </a:p>
        </p:txBody>
      </p:sp>
      <p:sp>
        <p:nvSpPr>
          <p:cNvPr id="3" name="tarjeta_1"/>
          <p:cNvSpPr/>
          <p:nvPr/>
        </p:nvSpPr>
        <p:spPr>
          <a:xfrm>
            <a:off x="54864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H</a:t>
            </a:r>
            <a:endParaRPr lang="en-US" sz="1400" dirty="0"/>
          </a:p>
        </p:txBody>
      </p:sp>
      <p:sp>
        <p:nvSpPr>
          <p:cNvPr id="6" name="Text 4"/>
          <p:cNvSpPr txBox="1"/>
          <p:nvPr/>
        </p:nvSpPr>
        <p:spPr>
          <a:xfrm>
            <a:off x="135331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Humanos</a:t>
            </a:r>
            <a:endParaRPr lang="en-US" sz="1700" dirty="0"/>
          </a:p>
        </p:txBody>
      </p:sp>
      <p:sp>
        <p:nvSpPr>
          <p:cNvPr id="7" name="Text 5"/>
          <p:cNvSpPr txBox="1"/>
          <p:nvPr/>
        </p:nvSpPr>
        <p:spPr>
          <a:xfrm>
            <a:off x="804672" y="2167128"/>
            <a:ext cx="204825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Docente y estudiantes.</a:t>
            </a:r>
            <a:endParaRPr lang="en-US" sz="1100" dirty="0"/>
          </a:p>
        </p:txBody>
      </p:sp>
      <p:sp>
        <p:nvSpPr>
          <p:cNvPr id="8" name="tarjeta_2"/>
          <p:cNvSpPr/>
          <p:nvPr/>
        </p:nvSpPr>
        <p:spPr>
          <a:xfrm>
            <a:off x="338328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363931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36393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T</a:t>
            </a:r>
            <a:endParaRPr lang="en-US" sz="1400" dirty="0"/>
          </a:p>
        </p:txBody>
      </p:sp>
      <p:sp>
        <p:nvSpPr>
          <p:cNvPr id="11" name="Text 9"/>
          <p:cNvSpPr txBox="1"/>
          <p:nvPr/>
        </p:nvSpPr>
        <p:spPr>
          <a:xfrm>
            <a:off x="418795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Tecnológicos institucionales</a:t>
            </a:r>
            <a:endParaRPr lang="en-US" sz="1700" dirty="0"/>
          </a:p>
        </p:txBody>
      </p:sp>
      <p:sp>
        <p:nvSpPr>
          <p:cNvPr id="12" name="Text 10"/>
          <p:cNvSpPr txBox="1"/>
          <p:nvPr/>
        </p:nvSpPr>
        <p:spPr>
          <a:xfrm>
            <a:off x="3639312" y="2167128"/>
            <a:ext cx="204825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Entorno Virtual de Aprendizaje (EVA)</a:t>
            </a:r>
            <a:endParaRPr lang="en-US" sz="1100" dirty="0"/>
          </a:p>
          <a:p>
            <a:pPr indent="0" marL="0">
              <a:lnSpc>
                <a:spcPct val="108000"/>
              </a:lnSpc>
              <a:buNone/>
            </a:pPr>
            <a:r>
              <a:rPr lang="en-US" sz="1100" dirty="0">
                <a:solidFill>
                  <a:schemeClr val="accent4"/>
                </a:solidFill>
              </a:rPr>
              <a:t>Proyector</a:t>
            </a:r>
            <a:endParaRPr lang="en-US" sz="1100" dirty="0"/>
          </a:p>
          <a:p>
            <a:pPr indent="0" marL="0">
              <a:lnSpc>
                <a:spcPct val="108000"/>
              </a:lnSpc>
              <a:buNone/>
            </a:pPr>
            <a:r>
              <a:rPr lang="en-US" sz="1100" dirty="0">
                <a:solidFill>
                  <a:schemeClr val="accent4"/>
                </a:solidFill>
              </a:rPr>
              <a:t>Biblioteca virtual</a:t>
            </a:r>
            <a:endParaRPr lang="en-US" sz="1100" dirty="0"/>
          </a:p>
        </p:txBody>
      </p:sp>
      <p:sp>
        <p:nvSpPr>
          <p:cNvPr id="13" name="tarjeta_3"/>
          <p:cNvSpPr/>
          <p:nvPr/>
        </p:nvSpPr>
        <p:spPr>
          <a:xfrm>
            <a:off x="621792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647395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M</a:t>
            </a:r>
            <a:endParaRPr lang="en-US" sz="1400" dirty="0"/>
          </a:p>
        </p:txBody>
      </p:sp>
      <p:sp>
        <p:nvSpPr>
          <p:cNvPr id="16" name="Text 14"/>
          <p:cNvSpPr txBox="1"/>
          <p:nvPr/>
        </p:nvSpPr>
        <p:spPr>
          <a:xfrm>
            <a:off x="702259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Tecnológicos de la materia</a:t>
            </a:r>
            <a:endParaRPr lang="en-US" sz="1700" dirty="0"/>
          </a:p>
        </p:txBody>
      </p:sp>
      <p:sp>
        <p:nvSpPr>
          <p:cNvPr id="17" name="Text 15"/>
          <p:cNvSpPr txBox="1"/>
          <p:nvPr/>
        </p:nvSpPr>
        <p:spPr>
          <a:xfrm>
            <a:off x="6473952" y="2167128"/>
            <a:ext cx="204825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Software de manuales automotrices — Autodata.</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Es el recurso que da los valores de reglaje, los pares de apriete y los procedimientos de puesta a punto.</a:t>
            </a:r>
            <a:endParaRPr lang="en-US" sz="1100" dirty="0"/>
          </a:p>
        </p:txBody>
      </p:sp>
      <p:sp>
        <p:nvSpPr>
          <p:cNvPr id="18" name="tarjeta_4"/>
          <p:cNvSpPr/>
          <p:nvPr/>
        </p:nvSpPr>
        <p:spPr>
          <a:xfrm>
            <a:off x="905256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9308592" y="1655064"/>
            <a:ext cx="420624" cy="420624"/>
          </a:xfrm>
          <a:prstGeom prst="ellipse">
            <a:avLst/>
          </a:prstGeom>
          <a:solidFill>
            <a:schemeClr val="accent4"/>
          </a:solidFill>
          <a:ln w="12700">
            <a:solidFill>
              <a:schemeClr val="accent4"/>
            </a:solidFill>
            <a:prstDash val="solid"/>
          </a:ln>
        </p:spPr>
        <p:txBody>
          <a:bodyPr/>
          <a:p/>
        </p:txBody>
      </p:sp>
      <p:sp>
        <p:nvSpPr>
          <p:cNvPr id="20" name="Text 18"/>
          <p:cNvSpPr txBox="1"/>
          <p:nvPr/>
        </p:nvSpPr>
        <p:spPr>
          <a:xfrm>
            <a:off x="93085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21" name="Text 19"/>
          <p:cNvSpPr txBox="1"/>
          <p:nvPr/>
        </p:nvSpPr>
        <p:spPr>
          <a:xfrm>
            <a:off x="985723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Materiales</a:t>
            </a:r>
            <a:endParaRPr lang="en-US" sz="1700" dirty="0"/>
          </a:p>
        </p:txBody>
      </p:sp>
      <p:sp>
        <p:nvSpPr>
          <p:cNvPr id="22" name="Text 20"/>
          <p:cNvSpPr txBox="1"/>
          <p:nvPr/>
        </p:nvSpPr>
        <p:spPr>
          <a:xfrm>
            <a:off x="9308592" y="2167128"/>
            <a:ext cx="204825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Pizarrón</a:t>
            </a:r>
            <a:endParaRPr lang="en-US" sz="1100" dirty="0"/>
          </a:p>
          <a:p>
            <a:pPr indent="0" marL="0">
              <a:lnSpc>
                <a:spcPct val="108000"/>
              </a:lnSpc>
              <a:buNone/>
            </a:pPr>
            <a:r>
              <a:rPr lang="en-US" sz="1100" dirty="0">
                <a:solidFill>
                  <a:schemeClr val="accent4"/>
                </a:solidFill>
              </a:rPr>
              <a:t>Marcadores y borrador</a:t>
            </a:r>
            <a:endParaRPr lang="en-US" sz="1100" dirty="0"/>
          </a:p>
          <a:p>
            <a:pPr indent="0" marL="0">
              <a:lnSpc>
                <a:spcPct val="108000"/>
              </a:lnSpc>
              <a:buNone/>
            </a:pPr>
            <a:r>
              <a:rPr lang="en-US" sz="1100" dirty="0">
                <a:solidFill>
                  <a:schemeClr val="accent4"/>
                </a:solidFill>
              </a:rPr>
              <a:t>Diapositivas</a:t>
            </a:r>
            <a:endParaRPr lang="en-US" sz="1100" dirty="0"/>
          </a:p>
          <a:p>
            <a:pPr indent="0" marL="0">
              <a:lnSpc>
                <a:spcPct val="108000"/>
              </a:lnSpc>
              <a:buNone/>
            </a:pPr>
            <a:r>
              <a:rPr lang="en-US" sz="1100" dirty="0">
                <a:solidFill>
                  <a:schemeClr val="accent4"/>
                </a:solidFill>
              </a:rPr>
              <a:t>Plan de clase</a:t>
            </a:r>
            <a:endParaRPr lang="en-US" sz="1100" dirty="0"/>
          </a:p>
          <a:p>
            <a:pPr indent="0" marL="0">
              <a:lnSpc>
                <a:spcPct val="108000"/>
              </a:lnSpc>
              <a:buNone/>
            </a:pPr>
            <a:r>
              <a:rPr lang="en-US" sz="1100" dirty="0">
                <a:solidFill>
                  <a:schemeClr val="accent4"/>
                </a:solidFill>
              </a:rPr>
              <a:t>Laboratorios</a:t>
            </a:r>
            <a:endParaRPr lang="en-US" sz="1100" dirty="0"/>
          </a:p>
        </p:txBody>
      </p:sp>
      <p:sp>
        <p:nvSpPr>
          <p:cNvPr id="23" name="Shape 21"/>
          <p:cNvSpPr/>
          <p:nvPr/>
        </p:nvSpPr>
        <p:spPr>
          <a:xfrm>
            <a:off x="548640" y="3886200"/>
            <a:ext cx="11064240" cy="822960"/>
          </a:xfrm>
          <a:prstGeom prst="roundRect">
            <a:avLst>
              <a:gd name="adj" fmla="val 6667"/>
            </a:avLst>
          </a:prstGeom>
          <a:solidFill>
            <a:schemeClr val="bg2"/>
          </a:solidFill>
          <a:ln w="12700">
            <a:solidFill>
              <a:schemeClr val="bg2"/>
            </a:solidFill>
            <a:prstDash val="solid"/>
          </a:ln>
        </p:spPr>
        <p:txBody>
          <a:bodyPr/>
          <a:p/>
        </p:txBody>
      </p:sp>
      <p:sp>
        <p:nvSpPr>
          <p:cNvPr id="24" name="Shape 22"/>
          <p:cNvSpPr/>
          <p:nvPr/>
        </p:nvSpPr>
        <p:spPr>
          <a:xfrm>
            <a:off x="786384" y="4114800"/>
            <a:ext cx="365760" cy="365760"/>
          </a:xfrm>
          <a:prstGeom prst="ellipse">
            <a:avLst/>
          </a:prstGeom>
          <a:solidFill>
            <a:schemeClr val="accent1"/>
          </a:solidFill>
          <a:ln w="12700">
            <a:solidFill>
              <a:schemeClr val="accent1"/>
            </a:solidFill>
            <a:prstDash val="solid"/>
          </a:ln>
        </p:spPr>
        <p:txBody>
          <a:bodyPr/>
          <a:p/>
        </p:txBody>
      </p:sp>
      <p:sp>
        <p:nvSpPr>
          <p:cNvPr id="25" name="Text 23"/>
          <p:cNvSpPr txBox="1"/>
          <p:nvPr/>
        </p:nvSpPr>
        <p:spPr>
          <a:xfrm>
            <a:off x="786384" y="4114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4"/>
          <p:cNvSpPr txBox="1"/>
          <p:nvPr/>
        </p:nvSpPr>
        <p:spPr>
          <a:xfrm>
            <a:off x="1298448" y="397764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Autodata no es un recurso accesorio en esta unidad: sin él no hay forma de saber el orden y el par de apriete del cabezote, la holgura de válvulas ni el procedimiento de puesta a punto del motor concreto. Aquí el manual es una herramienta, no una consulta opcional.</a:t>
            </a:r>
            <a:endParaRPr lang="en-US" sz="1450" dirty="0"/>
          </a:p>
        </p:txBody>
      </p:sp>
      <p:sp>
        <p:nvSpPr>
          <p:cNvPr id="27" name="Shape 25"/>
          <p:cNvSpPr/>
          <p:nvPr/>
        </p:nvSpPr>
        <p:spPr>
          <a:xfrm>
            <a:off x="548640" y="4882896"/>
            <a:ext cx="384048" cy="384048"/>
          </a:xfrm>
          <a:prstGeom prst="ellipse">
            <a:avLst/>
          </a:prstGeom>
          <a:solidFill>
            <a:schemeClr val="accent2"/>
          </a:solidFill>
          <a:ln w="12700">
            <a:solidFill>
              <a:schemeClr val="accent2"/>
            </a:solidFill>
            <a:prstDash val="solid"/>
          </a:ln>
        </p:spPr>
        <p:txBody>
          <a:bodyPr/>
          <a:p/>
        </p:txBody>
      </p:sp>
      <p:sp>
        <p:nvSpPr>
          <p:cNvPr id="28" name="Text 26"/>
          <p:cNvSpPr txBox="1"/>
          <p:nvPr/>
        </p:nvSpPr>
        <p:spPr>
          <a:xfrm>
            <a:off x="548640" y="4882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9" name="Text 27"/>
          <p:cNvSpPr txBox="1"/>
          <p:nvPr/>
        </p:nvSpPr>
        <p:spPr>
          <a:xfrm>
            <a:off x="1078992" y="4846320"/>
            <a:ext cx="10533888" cy="3154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Material de laboratorio que exige la práctica. </a:t>
            </a:r>
            <a:pPr indent="0" marL="0">
              <a:lnSpc>
                <a:spcPct val="106000"/>
              </a:lnSpc>
              <a:buNone/>
            </a:pPr>
            <a:r>
              <a:rPr lang="en-US" sz="1150" dirty="0">
                <a:solidFill>
                  <a:schemeClr val="accent4"/>
                </a:solidFill>
              </a:rPr>
              <a:t>motor de prácticas, juego de llaves y dados, llave dinamométrica, compresor de muelles de válvula, reloj comparador con base magnética, regla de precisión, juego de galgas, pasta de esmerilar y ventosa</a:t>
            </a:r>
            <a:endParaRPr lang="en-US" sz="1150" dirty="0"/>
          </a:p>
        </p:txBody>
      </p:sp>
      <p:sp>
        <p:nvSpPr>
          <p:cNvPr id="30" name="Shape 28"/>
          <p:cNvSpPr/>
          <p:nvPr/>
        </p:nvSpPr>
        <p:spPr>
          <a:xfrm>
            <a:off x="548640" y="5253228"/>
            <a:ext cx="384048" cy="384048"/>
          </a:xfrm>
          <a:prstGeom prst="ellipse">
            <a:avLst/>
          </a:prstGeom>
          <a:solidFill>
            <a:schemeClr val="accent2"/>
          </a:solidFill>
          <a:ln w="12700">
            <a:solidFill>
              <a:schemeClr val="accent2"/>
            </a:solidFill>
            <a:prstDash val="solid"/>
          </a:ln>
        </p:spPr>
        <p:txBody>
          <a:bodyPr/>
          <a:p/>
        </p:txBody>
      </p:sp>
      <p:sp>
        <p:nvSpPr>
          <p:cNvPr id="31" name="Text 29"/>
          <p:cNvSpPr txBox="1"/>
          <p:nvPr/>
        </p:nvSpPr>
        <p:spPr>
          <a:xfrm>
            <a:off x="548640" y="52532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2" name="Text 30"/>
          <p:cNvSpPr txBox="1"/>
          <p:nvPr/>
        </p:nvSpPr>
        <p:spPr>
          <a:xfrm>
            <a:off x="1078992" y="5216652"/>
            <a:ext cx="10533888" cy="3154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Material complementario del docente. </a:t>
            </a:r>
            <a:pPr indent="0" marL="0">
              <a:lnSpc>
                <a:spcPct val="106000"/>
              </a:lnSpc>
              <a:buNone/>
            </a:pPr>
            <a:r>
              <a:rPr lang="en-US" sz="1150" dirty="0">
                <a:solidFill>
                  <a:schemeClr val="accent4"/>
                </a:solidFill>
              </a:rPr>
              <a:t>cabezotes de corte y despiece, correas y cadenas de muestra, árboles de levas sueltos y válvulas con distintos grados de desgaste para comparación</a:t>
            </a:r>
            <a:endParaRPr lang="en-US" sz="1150" dirty="0"/>
          </a:p>
        </p:txBody>
      </p:sp>
      <p:sp>
        <p:nvSpPr>
          <p:cNvPr id="33" name="Shape 31"/>
          <p:cNvSpPr/>
          <p:nvPr/>
        </p:nvSpPr>
        <p:spPr>
          <a:xfrm>
            <a:off x="548640" y="5623560"/>
            <a:ext cx="384048" cy="384048"/>
          </a:xfrm>
          <a:prstGeom prst="ellipse">
            <a:avLst/>
          </a:prstGeom>
          <a:solidFill>
            <a:schemeClr val="accent2"/>
          </a:solidFill>
          <a:ln w="12700">
            <a:solidFill>
              <a:schemeClr val="accent2"/>
            </a:solidFill>
            <a:prstDash val="solid"/>
          </a:ln>
        </p:spPr>
        <p:txBody>
          <a:bodyPr/>
          <a:p/>
        </p:txBody>
      </p:sp>
      <p:sp>
        <p:nvSpPr>
          <p:cNvPr id="34" name="Text 32"/>
          <p:cNvSpPr txBox="1"/>
          <p:nvPr/>
        </p:nvSpPr>
        <p:spPr>
          <a:xfrm>
            <a:off x="548640" y="5623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5" name="Text 33"/>
          <p:cNvSpPr txBox="1"/>
          <p:nvPr/>
        </p:nvSpPr>
        <p:spPr>
          <a:xfrm>
            <a:off x="1078992" y="5586984"/>
            <a:ext cx="10533888" cy="3154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Material del estudiante. </a:t>
            </a:r>
            <a:pPr indent="0" marL="0">
              <a:lnSpc>
                <a:spcPct val="106000"/>
              </a:lnSpc>
              <a:buNone/>
            </a:pPr>
            <a:r>
              <a:rPr lang="en-US" sz="1150" dirty="0">
                <a:solidFill>
                  <a:schemeClr val="accent4"/>
                </a:solidFill>
              </a:rPr>
              <a:t>guía de prácticas de la asignatura, cuaderno de registro, cámara o teléfono para el registro fotográfico y equipo de protección personal</a:t>
            </a:r>
            <a:endParaRPr lang="en-US" sz="1150" dirty="0"/>
          </a:p>
        </p:txBody>
      </p:sp>
      <p:sp>
        <p:nvSpPr>
          <p:cNvPr id="36" name="Text 3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Recursos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Cómo se evalúa la Unidad 3</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669280" cy="914400"/>
        </p:xfrm>
        <a:graphic>
          <a:graphicData uri="http://schemas.openxmlformats.org/drawingml/2006/table">
            <a:tbl>
              <a:tblPr/>
              <a:tblGrid>
                <a:gridCol w="2926080"/>
                <a:gridCol w="1371600"/>
                <a:gridCol w="1371600"/>
              </a:tblGrid>
              <a:tr h="402336">
                <a:tc>
                  <a:txBody>
                    <a:bodyPr/>
                    <a:lstStyle/>
                    <a:p>
                      <a:pPr indent="0" marL="0">
                        <a:buNone/>
                      </a:pPr>
                      <a:r>
                        <a:rPr lang="en-US" sz="1300" b="1" dirty="0">
                          <a:solidFill>
                            <a:srgbClr val="FFFFFF"/>
                          </a:solidFill>
                        </a:rPr>
                        <a:t>Componente del bimestre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Porcentaje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Puntaje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50" b="1" dirty="0">
                          <a:solidFill>
                            <a:schemeClr val="tx1"/>
                          </a:solidFill>
                        </a:rPr>
                        <a:t>Trabajos autónomos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20 %</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chemeClr val="tx1"/>
                          </a:solidFill>
                        </a:rPr>
                        <a:t>Trabajos colaborativos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10 %</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2</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1"/>
                          </a:solidFill>
                        </a:rPr>
                        <a:t>Trabajo práctico-experimental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10 %</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2</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chemeClr val="tx1"/>
                          </a:solidFill>
                        </a:rPr>
                        <a:t>Pruebas de unidad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30 %</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6</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1"/>
                          </a:solidFill>
                        </a:rPr>
                        <a:t>Examen bimestral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30 %</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6</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92240" y="1371600"/>
          <a:ext cx="5120640" cy="914400"/>
        </p:xfrm>
        <a:graphic>
          <a:graphicData uri="http://schemas.openxmlformats.org/drawingml/2006/table">
            <a:tbl>
              <a:tblPr/>
              <a:tblGrid>
                <a:gridCol w="2651760"/>
                <a:gridCol w="2468880"/>
              </a:tblGrid>
              <a:tr h="402336">
                <a:tc>
                  <a:txBody>
                    <a:bodyPr/>
                    <a:lstStyle/>
                    <a:p>
                      <a:pPr indent="0" marL="0">
                        <a:buNone/>
                      </a:pPr>
                      <a:r>
                        <a:rPr lang="en-US" sz="1300" b="1" dirty="0">
                          <a:solidFill>
                            <a:srgbClr val="FFFFFF"/>
                          </a:solidFill>
                        </a:rPr>
                        <a:t>Escala institucional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Equivalencia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02336">
                <a:tc>
                  <a:txBody>
                    <a:bodyPr/>
                    <a:lstStyle/>
                    <a:p>
                      <a:pPr indent="0" marL="0">
                        <a:buNone/>
                      </a:pPr>
                      <a:r>
                        <a:rPr lang="en-US" sz="1150" b="1" dirty="0">
                          <a:solidFill>
                            <a:schemeClr val="tx1"/>
                          </a:solidFill>
                        </a:rPr>
                        <a:t>19,00 a 20,00</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Excelente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chemeClr val="tx1"/>
                          </a:solidFill>
                        </a:rPr>
                        <a:t>16,00 a 18,99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Muy bueno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1"/>
                          </a:solidFill>
                        </a:rPr>
                        <a:t>12,00 a 15,99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Bueno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chemeClr val="tx1"/>
                          </a:solidFill>
                        </a:rPr>
                        <a:t>10,00 a 11,99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Regular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1"/>
                          </a:solidFill>
                        </a:rPr>
                        <a:t>0,00 a 9,99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Deficiente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arjeta_1"/>
          <p:cNvSpPr/>
          <p:nvPr/>
        </p:nvSpPr>
        <p:spPr>
          <a:xfrm>
            <a:off x="548640" y="3657600"/>
            <a:ext cx="256032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6" name="Shape 2"/>
          <p:cNvSpPr/>
          <p:nvPr/>
        </p:nvSpPr>
        <p:spPr>
          <a:xfrm>
            <a:off x="804672" y="3895344"/>
            <a:ext cx="420624" cy="420624"/>
          </a:xfrm>
          <a:prstGeom prst="ellipse">
            <a:avLst/>
          </a:prstGeom>
          <a:solidFill>
            <a:schemeClr val="accent1"/>
          </a:solidFill>
          <a:ln w="12700">
            <a:solidFill>
              <a:schemeClr val="accent1"/>
            </a:solidFill>
            <a:prstDash val="solid"/>
          </a:ln>
        </p:spPr>
        <p:txBody>
          <a:bodyPr/>
          <a:p/>
        </p:txBody>
      </p:sp>
      <p:sp>
        <p:nvSpPr>
          <p:cNvPr id="7" name="Text 3"/>
          <p:cNvSpPr txBox="1"/>
          <p:nvPr/>
        </p:nvSpPr>
        <p:spPr>
          <a:xfrm>
            <a:off x="804672" y="3895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4"/>
          <p:cNvSpPr txBox="1"/>
          <p:nvPr/>
        </p:nvSpPr>
        <p:spPr>
          <a:xfrm>
            <a:off x="1353312" y="387705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Trabajo autónomo</a:t>
            </a:r>
            <a:endParaRPr lang="en-US" sz="1700" dirty="0"/>
          </a:p>
        </p:txBody>
      </p:sp>
      <p:sp>
        <p:nvSpPr>
          <p:cNvPr id="9" name="Text 5"/>
          <p:cNvSpPr txBox="1"/>
          <p:nvPr/>
        </p:nvSpPr>
        <p:spPr>
          <a:xfrm>
            <a:off x="804672" y="4407408"/>
            <a:ext cx="2048256" cy="5852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Lectura y repaso de la guía didáctica de la asignatura, unidad 3, y resolución del cuestionario correspondiente.</a:t>
            </a:r>
            <a:endParaRPr lang="en-US" sz="1050" dirty="0"/>
          </a:p>
        </p:txBody>
      </p:sp>
      <p:sp>
        <p:nvSpPr>
          <p:cNvPr id="10" name="Text 6"/>
          <p:cNvSpPr txBox="1"/>
          <p:nvPr/>
        </p:nvSpPr>
        <p:spPr>
          <a:xfrm>
            <a:off x="804672" y="4809744"/>
            <a:ext cx="2048256" cy="274320"/>
          </a:xfrm>
          <a:prstGeom prst="rect">
            <a:avLst/>
          </a:prstGeom>
          <a:noFill/>
          <a:ln/>
        </p:spPr>
        <p:txBody>
          <a:bodyPr wrap="square" lIns="0" tIns="0" rIns="0" bIns="0" rtlCol="0" anchor="ctr"/>
          <a:lstStyle/>
          <a:p>
            <a:pPr indent="0" marL="0">
              <a:buNone/>
            </a:pPr>
            <a:r>
              <a:rPr lang="en-US" sz="1200" b="1" dirty="0">
                <a:solidFill>
                  <a:schemeClr val="accent1"/>
                </a:solidFill>
              </a:rPr>
              <a:t>Declarado en el PEA</a:t>
            </a:r>
            <a:endParaRPr lang="en-US" sz="1200" dirty="0"/>
          </a:p>
        </p:txBody>
      </p:sp>
      <p:sp>
        <p:nvSpPr>
          <p:cNvPr id="11" name="tarjeta_2"/>
          <p:cNvSpPr/>
          <p:nvPr/>
        </p:nvSpPr>
        <p:spPr>
          <a:xfrm>
            <a:off x="3383280" y="3657600"/>
            <a:ext cx="256032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Shape 8"/>
          <p:cNvSpPr/>
          <p:nvPr/>
        </p:nvSpPr>
        <p:spPr>
          <a:xfrm>
            <a:off x="3639312" y="3895344"/>
            <a:ext cx="420624" cy="420624"/>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3639312" y="3895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0"/>
          <p:cNvSpPr txBox="1"/>
          <p:nvPr/>
        </p:nvSpPr>
        <p:spPr>
          <a:xfrm>
            <a:off x="4187952" y="387705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Trabajo colaborativo</a:t>
            </a:r>
            <a:endParaRPr lang="en-US" sz="1700" dirty="0"/>
          </a:p>
        </p:txBody>
      </p:sp>
      <p:sp>
        <p:nvSpPr>
          <p:cNvPr id="15" name="Text 11"/>
          <p:cNvSpPr txBox="1"/>
          <p:nvPr/>
        </p:nvSpPr>
        <p:spPr>
          <a:xfrm>
            <a:off x="3639312" y="4407408"/>
            <a:ext cx="2048256" cy="5852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Cuadro comparativo de procedimientos de puesta a punto y ficha de comprobaciones del cabezote, elaborados en grupo.</a:t>
            </a:r>
            <a:endParaRPr lang="en-US" sz="1050" dirty="0"/>
          </a:p>
        </p:txBody>
      </p:sp>
      <p:sp>
        <p:nvSpPr>
          <p:cNvPr id="16" name="Text 12"/>
          <p:cNvSpPr txBox="1"/>
          <p:nvPr/>
        </p:nvSpPr>
        <p:spPr>
          <a:xfrm>
            <a:off x="3639312" y="4809744"/>
            <a:ext cx="2048256" cy="274320"/>
          </a:xfrm>
          <a:prstGeom prst="rect">
            <a:avLst/>
          </a:prstGeom>
          <a:noFill/>
          <a:ln/>
        </p:spPr>
        <p:txBody>
          <a:bodyPr wrap="square" lIns="0" tIns="0" rIns="0" bIns="0" rtlCol="0" anchor="ctr"/>
          <a:lstStyle/>
          <a:p>
            <a:pPr indent="0" marL="0">
              <a:buNone/>
            </a:pPr>
            <a:r>
              <a:rPr lang="en-US" sz="1200" b="1" dirty="0">
                <a:solidFill>
                  <a:schemeClr val="accent2"/>
                </a:solidFill>
              </a:rPr>
              <a:t>Taller en clase</a:t>
            </a:r>
            <a:endParaRPr lang="en-US" sz="1200" dirty="0"/>
          </a:p>
        </p:txBody>
      </p:sp>
      <p:sp>
        <p:nvSpPr>
          <p:cNvPr id="17" name="tarjeta_3"/>
          <p:cNvSpPr/>
          <p:nvPr/>
        </p:nvSpPr>
        <p:spPr>
          <a:xfrm>
            <a:off x="6217920" y="3657600"/>
            <a:ext cx="256032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8" name="Shape 14"/>
          <p:cNvSpPr/>
          <p:nvPr/>
        </p:nvSpPr>
        <p:spPr>
          <a:xfrm>
            <a:off x="6473952" y="3895344"/>
            <a:ext cx="420624" cy="420624"/>
          </a:xfrm>
          <a:prstGeom prst="ellipse">
            <a:avLst/>
          </a:prstGeom>
          <a:solidFill>
            <a:schemeClr val="accent3"/>
          </a:solidFill>
          <a:ln w="12700">
            <a:solidFill>
              <a:schemeClr val="accent3"/>
            </a:solidFill>
            <a:prstDash val="solid"/>
          </a:ln>
        </p:spPr>
        <p:txBody>
          <a:bodyPr/>
          <a:p/>
        </p:txBody>
      </p:sp>
      <p:sp>
        <p:nvSpPr>
          <p:cNvPr id="19" name="Text 15"/>
          <p:cNvSpPr txBox="1"/>
          <p:nvPr/>
        </p:nvSpPr>
        <p:spPr>
          <a:xfrm>
            <a:off x="6473952" y="3895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0" name="Text 16"/>
          <p:cNvSpPr txBox="1"/>
          <p:nvPr/>
        </p:nvSpPr>
        <p:spPr>
          <a:xfrm>
            <a:off x="7022592" y="387705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Práctico-experimental</a:t>
            </a:r>
            <a:endParaRPr lang="en-US" sz="1700" dirty="0"/>
          </a:p>
        </p:txBody>
      </p:sp>
      <p:sp>
        <p:nvSpPr>
          <p:cNvPr id="21" name="Text 17"/>
          <p:cNvSpPr txBox="1"/>
          <p:nvPr/>
        </p:nvSpPr>
        <p:spPr>
          <a:xfrm>
            <a:off x="6473952" y="4407408"/>
            <a:ext cx="2048256" cy="5852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Despiece, comprobaciones y armado de la distribución y del cabezote, con informe y lista ambiental.</a:t>
            </a:r>
            <a:endParaRPr lang="en-US" sz="1050" dirty="0"/>
          </a:p>
        </p:txBody>
      </p:sp>
      <p:sp>
        <p:nvSpPr>
          <p:cNvPr id="22" name="Text 18"/>
          <p:cNvSpPr txBox="1"/>
          <p:nvPr/>
        </p:nvSpPr>
        <p:spPr>
          <a:xfrm>
            <a:off x="6473952" y="4809744"/>
            <a:ext cx="2048256" cy="274320"/>
          </a:xfrm>
          <a:prstGeom prst="rect">
            <a:avLst/>
          </a:prstGeom>
          <a:noFill/>
          <a:ln/>
        </p:spPr>
        <p:txBody>
          <a:bodyPr wrap="square" lIns="0" tIns="0" rIns="0" bIns="0" rtlCol="0" anchor="ctr"/>
          <a:lstStyle/>
          <a:p>
            <a:pPr indent="0" marL="0">
              <a:buNone/>
            </a:pPr>
            <a:r>
              <a:rPr lang="en-US" sz="1200" b="1" dirty="0">
                <a:solidFill>
                  <a:schemeClr val="accent3"/>
                </a:solidFill>
              </a:rPr>
              <a:t>14 horas de laboratorio</a:t>
            </a:r>
            <a:endParaRPr lang="en-US" sz="1200" dirty="0"/>
          </a:p>
        </p:txBody>
      </p:sp>
      <p:sp>
        <p:nvSpPr>
          <p:cNvPr id="23" name="tarjeta_4"/>
          <p:cNvSpPr/>
          <p:nvPr/>
        </p:nvSpPr>
        <p:spPr>
          <a:xfrm>
            <a:off x="9052560" y="3657600"/>
            <a:ext cx="256032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4" name="Shape 20"/>
          <p:cNvSpPr/>
          <p:nvPr/>
        </p:nvSpPr>
        <p:spPr>
          <a:xfrm>
            <a:off x="9308592" y="3895344"/>
            <a:ext cx="420624" cy="420624"/>
          </a:xfrm>
          <a:prstGeom prst="ellipse">
            <a:avLst/>
          </a:prstGeom>
          <a:solidFill>
            <a:schemeClr val="accent4"/>
          </a:solidFill>
          <a:ln w="12700">
            <a:solidFill>
              <a:schemeClr val="accent4"/>
            </a:solidFill>
            <a:prstDash val="solid"/>
          </a:ln>
        </p:spPr>
        <p:txBody>
          <a:bodyPr/>
          <a:p/>
        </p:txBody>
      </p:sp>
      <p:sp>
        <p:nvSpPr>
          <p:cNvPr id="25" name="Text 21"/>
          <p:cNvSpPr txBox="1"/>
          <p:nvPr/>
        </p:nvSpPr>
        <p:spPr>
          <a:xfrm>
            <a:off x="9308592" y="3895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6" name="Text 22"/>
          <p:cNvSpPr txBox="1"/>
          <p:nvPr/>
        </p:nvSpPr>
        <p:spPr>
          <a:xfrm>
            <a:off x="9857232" y="387705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Prueba de unidad</a:t>
            </a:r>
            <a:endParaRPr lang="en-US" sz="1700" dirty="0"/>
          </a:p>
        </p:txBody>
      </p:sp>
      <p:sp>
        <p:nvSpPr>
          <p:cNvPr id="27" name="Text 23"/>
          <p:cNvSpPr txBox="1"/>
          <p:nvPr/>
        </p:nvSpPr>
        <p:spPr>
          <a:xfrm>
            <a:off x="9308592" y="4407408"/>
            <a:ext cx="2048256" cy="5852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Evaluación escrita al cierre de la unidad, con parte conceptual y parte de interpretación de casos.</a:t>
            </a:r>
            <a:endParaRPr lang="en-US" sz="1050" dirty="0"/>
          </a:p>
        </p:txBody>
      </p:sp>
      <p:sp>
        <p:nvSpPr>
          <p:cNvPr id="28" name="Text 24"/>
          <p:cNvSpPr txBox="1"/>
          <p:nvPr/>
        </p:nvSpPr>
        <p:spPr>
          <a:xfrm>
            <a:off x="9308592" y="4809744"/>
            <a:ext cx="2048256" cy="274320"/>
          </a:xfrm>
          <a:prstGeom prst="rect">
            <a:avLst/>
          </a:prstGeom>
          <a:noFill/>
          <a:ln/>
        </p:spPr>
        <p:txBody>
          <a:bodyPr wrap="square" lIns="0" tIns="0" rIns="0" bIns="0" rtlCol="0" anchor="ctr"/>
          <a:lstStyle/>
          <a:p>
            <a:pPr indent="0" marL="0">
              <a:buNone/>
            </a:pPr>
            <a:r>
              <a:rPr lang="en-US" sz="1200" b="1" dirty="0">
                <a:solidFill>
                  <a:schemeClr val="accent4"/>
                </a:solidFill>
              </a:rPr>
              <a:t>Cierre de la unidad</a:t>
            </a:r>
            <a:endParaRPr lang="en-US" sz="1200" dirty="0"/>
          </a:p>
        </p:txBody>
      </p:sp>
      <p:sp>
        <p:nvSpPr>
          <p:cNvPr id="29" name="Text 25"/>
          <p:cNvSpPr txBox="1"/>
          <p:nvPr/>
        </p:nvSpPr>
        <p:spPr>
          <a:xfrm>
            <a:off x="548640" y="5349240"/>
            <a:ext cx="11064240" cy="548640"/>
          </a:xfrm>
          <a:prstGeom prst="rect">
            <a:avLst/>
          </a:prstGeom>
          <a:noFill/>
          <a:ln/>
        </p:spPr>
        <p:txBody>
          <a:bodyPr wrap="square" lIns="0" tIns="0" rIns="0" bIns="0" rtlCol="0" anchor="t"/>
          <a:lstStyle/>
          <a:p>
            <a:pPr algn="l" indent="0" marL="0">
              <a:lnSpc>
                <a:spcPct val="110000"/>
              </a:lnSpc>
              <a:buNone/>
            </a:pPr>
            <a:r>
              <a:rPr lang="en-US" sz="1200" dirty="0">
                <a:solidFill>
                  <a:schemeClr val="accent4"/>
                </a:solidFill>
              </a:rPr>
              <a:t>Participación, lecciones orales y escritas, taller en clase, cumplimiento de tareas y resolución de ejercicios son los instrumentos que el PEA declara para esta unidad, y se reparten entre los componentes de la tabla.</a:t>
            </a:r>
            <a:endParaRPr lang="en-US" sz="1200" dirty="0"/>
          </a:p>
        </p:txBody>
      </p:sp>
      <p:sp>
        <p:nvSpPr>
          <p:cNvPr id="30"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Apartados 9 y 10 del PEA — Sistema de evaluación institucional y método de calificación · Tabla 5 — Evaluación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Hoja de ruta de la unidad</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6784848" cy="8595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Clase 3.1 — El sistema de distribución. </a:t>
            </a:r>
            <a:pPr indent="0" marL="0">
              <a:lnSpc>
                <a:spcPct val="106000"/>
              </a:lnSpc>
              <a:buNone/>
            </a:pPr>
            <a:r>
              <a:rPr lang="en-US" sz="1250" dirty="0">
                <a:solidFill>
                  <a:schemeClr val="accent4"/>
                </a:solidFill>
              </a:rPr>
              <a:t>qué sincroniza, el diagrama de distribución, el cruce de válvulas, las arquitecturas SV, OHV, OHC, SOHC y DOHC y sus accionamientos</a:t>
            </a:r>
            <a:endParaRPr lang="en-US" sz="1250" dirty="0"/>
          </a:p>
        </p:txBody>
      </p:sp>
      <p:sp>
        <p:nvSpPr>
          <p:cNvPr id="6" name="Shape 4"/>
          <p:cNvSpPr/>
          <p:nvPr/>
        </p:nvSpPr>
        <p:spPr>
          <a:xfrm>
            <a:off x="548640" y="2368296"/>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368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331720"/>
            <a:ext cx="6784848" cy="8595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Clase 3.2 — Despiece y armado de la distribución. </a:t>
            </a:r>
            <a:pPr indent="0" marL="0">
              <a:lnSpc>
                <a:spcPct val="106000"/>
              </a:lnSpc>
              <a:buNone/>
            </a:pPr>
            <a:r>
              <a:rPr lang="en-US" sz="1250" dirty="0">
                <a:solidFill>
                  <a:schemeClr val="accent4"/>
                </a:solidFill>
              </a:rPr>
              <a:t>marcas de calado, puesta a punto, procedimientos reales de varios vehículos, montaje sin marcas con reloj comparador, tensión de correa y averías</a:t>
            </a:r>
            <a:endParaRPr lang="en-US" sz="1250" dirty="0"/>
          </a:p>
        </p:txBody>
      </p:sp>
      <p:sp>
        <p:nvSpPr>
          <p:cNvPr id="9" name="Shape 7"/>
          <p:cNvSpPr/>
          <p:nvPr/>
        </p:nvSpPr>
        <p:spPr>
          <a:xfrm>
            <a:off x="548640" y="3282696"/>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3282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3246120"/>
            <a:ext cx="6784848" cy="8595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Clase 3.3 — El cabezote. </a:t>
            </a:r>
            <a:pPr indent="0" marL="0">
              <a:lnSpc>
                <a:spcPct val="106000"/>
              </a:lnSpc>
              <a:buNone/>
            </a:pPr>
            <a:r>
              <a:rPr lang="en-US" sz="1250" dirty="0">
                <a:solidFill>
                  <a:schemeClr val="accent4"/>
                </a:solidFill>
              </a:rPr>
              <a:t>función, materiales, cámaras de combustión, válvulas, guías, asientos, muelles y árbol de levas; despiece ordenado con su herramienta</a:t>
            </a:r>
            <a:endParaRPr lang="en-US" sz="1250" dirty="0"/>
          </a:p>
        </p:txBody>
      </p:sp>
      <p:sp>
        <p:nvSpPr>
          <p:cNvPr id="12" name="Shape 10"/>
          <p:cNvSpPr/>
          <p:nvPr/>
        </p:nvSpPr>
        <p:spPr>
          <a:xfrm>
            <a:off x="548640" y="4197096"/>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4197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4160520"/>
            <a:ext cx="6784848" cy="8595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Clase 3.4 — Comprobaciones del cabezote. </a:t>
            </a:r>
            <a:pPr indent="0" marL="0">
              <a:lnSpc>
                <a:spcPct val="106000"/>
              </a:lnSpc>
              <a:buNone/>
            </a:pPr>
            <a:r>
              <a:rPr lang="en-US" sz="1250" dirty="0">
                <a:solidFill>
                  <a:schemeClr val="accent4"/>
                </a:solidFill>
              </a:rPr>
              <a:t>planitud, fisuras, holgura de guías, estanqueidad de asientos, esmerilado, muelles, reglaje de válvulas y armado con par</a:t>
            </a:r>
            <a:endParaRPr lang="en-US" sz="1250" dirty="0"/>
          </a:p>
        </p:txBody>
      </p:sp>
      <p:sp>
        <p:nvSpPr>
          <p:cNvPr id="15" name="Shape 13"/>
          <p:cNvSpPr/>
          <p:nvPr/>
        </p:nvSpPr>
        <p:spPr>
          <a:xfrm>
            <a:off x="8138160" y="1417320"/>
            <a:ext cx="347472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Text 14"/>
          <p:cNvSpPr txBox="1"/>
          <p:nvPr/>
        </p:nvSpPr>
        <p:spPr>
          <a:xfrm>
            <a:off x="8339328" y="1563624"/>
            <a:ext cx="3072384" cy="570586"/>
          </a:xfrm>
          <a:prstGeom prst="rect">
            <a:avLst/>
          </a:prstGeom>
          <a:noFill/>
          <a:ln/>
        </p:spPr>
        <p:txBody>
          <a:bodyPr wrap="square" lIns="0" tIns="0" rIns="0" bIns="0" rtlCol="0" anchor="ctr"/>
          <a:lstStyle/>
          <a:p>
            <a:pPr indent="0" marL="0">
              <a:buNone/>
            </a:pPr>
            <a:r>
              <a:rPr lang="en-US" sz="4000" b="1" dirty="0">
                <a:solidFill>
                  <a:schemeClr val="accent2"/>
                </a:solidFill>
              </a:rPr>
              <a:t>4</a:t>
            </a:r>
            <a:endParaRPr lang="en-US" sz="4000" dirty="0"/>
          </a:p>
        </p:txBody>
      </p:sp>
      <p:sp>
        <p:nvSpPr>
          <p:cNvPr id="17" name="Text 15"/>
          <p:cNvSpPr txBox="1"/>
          <p:nvPr/>
        </p:nvSpPr>
        <p:spPr>
          <a:xfrm>
            <a:off x="8339328" y="2097634"/>
            <a:ext cx="3072384" cy="351130"/>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Clases de la unidad, dentro de las 9 horas de docencia</a:t>
            </a:r>
            <a:endParaRPr lang="en-US" sz="1300" dirty="0"/>
          </a:p>
        </p:txBody>
      </p:sp>
      <p:sp>
        <p:nvSpPr>
          <p:cNvPr id="18" name="Shape 16"/>
          <p:cNvSpPr/>
          <p:nvPr/>
        </p:nvSpPr>
        <p:spPr>
          <a:xfrm>
            <a:off x="8138160" y="2697480"/>
            <a:ext cx="347472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Text 17"/>
          <p:cNvSpPr txBox="1"/>
          <p:nvPr/>
        </p:nvSpPr>
        <p:spPr>
          <a:xfrm>
            <a:off x="8339328" y="2843784"/>
            <a:ext cx="3072384" cy="570586"/>
          </a:xfrm>
          <a:prstGeom prst="rect">
            <a:avLst/>
          </a:prstGeom>
          <a:noFill/>
          <a:ln/>
        </p:spPr>
        <p:txBody>
          <a:bodyPr wrap="square" lIns="0" tIns="0" rIns="0" bIns="0" rtlCol="0" anchor="ctr"/>
          <a:lstStyle/>
          <a:p>
            <a:pPr indent="0" marL="0">
              <a:buNone/>
            </a:pPr>
            <a:r>
              <a:rPr lang="en-US" sz="4000" b="1" dirty="0">
                <a:solidFill>
                  <a:schemeClr val="accent1"/>
                </a:solidFill>
              </a:rPr>
              <a:t>1</a:t>
            </a:r>
            <a:endParaRPr lang="en-US" sz="4000" dirty="0"/>
          </a:p>
        </p:txBody>
      </p:sp>
      <p:sp>
        <p:nvSpPr>
          <p:cNvPr id="20" name="Text 18"/>
          <p:cNvSpPr txBox="1"/>
          <p:nvPr/>
        </p:nvSpPr>
        <p:spPr>
          <a:xfrm>
            <a:off x="8339328" y="3377794"/>
            <a:ext cx="3072384" cy="351130"/>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Práctica declarada: despiece, comprobaciones y armado de distribución y cabezote</a:t>
            </a:r>
            <a:endParaRPr lang="en-US" sz="1300" dirty="0"/>
          </a:p>
        </p:txBody>
      </p:sp>
      <p:sp>
        <p:nvSpPr>
          <p:cNvPr id="21" name="Shape 19"/>
          <p:cNvSpPr/>
          <p:nvPr/>
        </p:nvSpPr>
        <p:spPr>
          <a:xfrm>
            <a:off x="8138160" y="3977640"/>
            <a:ext cx="347472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2" name="Text 20"/>
          <p:cNvSpPr txBox="1"/>
          <p:nvPr/>
        </p:nvSpPr>
        <p:spPr>
          <a:xfrm>
            <a:off x="8339328" y="4123944"/>
            <a:ext cx="3072384" cy="570586"/>
          </a:xfrm>
          <a:prstGeom prst="rect">
            <a:avLst/>
          </a:prstGeom>
          <a:noFill/>
          <a:ln/>
        </p:spPr>
        <p:txBody>
          <a:bodyPr wrap="square" lIns="0" tIns="0" rIns="0" bIns="0" rtlCol="0" anchor="ctr"/>
          <a:lstStyle/>
          <a:p>
            <a:pPr indent="0" marL="0">
              <a:buNone/>
            </a:pPr>
            <a:r>
              <a:rPr lang="en-US" sz="4000" b="1" dirty="0">
                <a:solidFill>
                  <a:schemeClr val="accent3"/>
                </a:solidFill>
              </a:rPr>
              <a:t>5</a:t>
            </a:r>
            <a:endParaRPr lang="en-US" sz="4000" dirty="0"/>
          </a:p>
        </p:txBody>
      </p:sp>
      <p:sp>
        <p:nvSpPr>
          <p:cNvPr id="23" name="Text 21"/>
          <p:cNvSpPr txBox="1"/>
          <p:nvPr/>
        </p:nvSpPr>
        <p:spPr>
          <a:xfrm>
            <a:off x="8339328" y="4657954"/>
            <a:ext cx="3072384" cy="351130"/>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Conocimientos del PEA cubiertos íntegramente</a:t>
            </a:r>
            <a:endParaRPr lang="en-US" sz="1300" dirty="0"/>
          </a:p>
        </p:txBody>
      </p:sp>
      <p:sp>
        <p:nvSpPr>
          <p:cNvPr id="24" name="Shape 22"/>
          <p:cNvSpPr/>
          <p:nvPr/>
        </p:nvSpPr>
        <p:spPr>
          <a:xfrm>
            <a:off x="548640" y="5257800"/>
            <a:ext cx="11064240" cy="685800"/>
          </a:xfrm>
          <a:prstGeom prst="roundRect">
            <a:avLst>
              <a:gd name="adj" fmla="val 8000"/>
            </a:avLst>
          </a:prstGeom>
          <a:solidFill>
            <a:schemeClr val="bg2"/>
          </a:solidFill>
          <a:ln w="12700">
            <a:solidFill>
              <a:schemeClr val="bg2"/>
            </a:solidFill>
            <a:prstDash val="solid"/>
          </a:ln>
        </p:spPr>
        <p:txBody>
          <a:bodyPr/>
          <a:p/>
        </p:txBody>
      </p:sp>
      <p:sp>
        <p:nvSpPr>
          <p:cNvPr id="25" name="Shape 23"/>
          <p:cNvSpPr/>
          <p:nvPr/>
        </p:nvSpPr>
        <p:spPr>
          <a:xfrm>
            <a:off x="786384" y="5417820"/>
            <a:ext cx="365760" cy="365760"/>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786384" y="54178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5"/>
          <p:cNvSpPr txBox="1"/>
          <p:nvPr/>
        </p:nvSpPr>
        <p:spPr>
          <a:xfrm>
            <a:off x="1298448" y="5349240"/>
            <a:ext cx="10058400" cy="5029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Al terminar la unidad el estudiante debe ser capaz de poner a punto la distribución de un motor que no ha visto antes, consultando el manual, y de decidir sobre el estado de un cabezote con las comprobaciones hechas y registradas.</a:t>
            </a:r>
            <a:endParaRPr lang="en-US" sz="1250" dirty="0"/>
          </a:p>
        </p:txBody>
      </p:sp>
      <p:sp>
        <p:nvSpPr>
          <p:cNvPr id="28"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Secuencia construida sobre la Tabla 5 del PEA y el cronograma del SGA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3.1  ·  2 HORAS DE DOCENCIA  ·  ABRE LA UNIDAD</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El sistema</a:t>
            </a:r>
            <a:endParaRPr lang="en-US" sz="4000" dirty="0"/>
          </a:p>
          <a:p>
            <a:pPr indent="0" marL="0">
              <a:buNone/>
            </a:pPr>
            <a:r>
              <a:rPr lang="en-US" sz="4000" b="1" dirty="0">
                <a:solidFill>
                  <a:schemeClr val="bg1"/>
                </a:solidFill>
              </a:rPr>
              <a:t>de distribución</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Misión · Constitución · Diagrama de distribución · Cruce de válvulas · SV, OHV, OHC, SOHC y DOHC · Accionamientos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Explicar qué sincroniza el sistema de distribución, interpretar un diagrama de distribución y reconocer la arquitectura y el accionamiento de un motor concreto.</a:t>
            </a:r>
            <a:endParaRPr lang="en-US" sz="1200" dirty="0"/>
          </a:p>
        </p:txBody>
      </p:sp>
      <p:sp>
        <p:nvSpPr>
          <p:cNvPr id="8" name="Text 6"/>
          <p:cNvSpPr txBox="1"/>
          <p:nvPr/>
        </p:nvSpPr>
        <p:spPr>
          <a:xfrm>
            <a:off x="804672" y="320954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3</a:t>
            </a:r>
            <a:endParaRPr lang="en-US" sz="1200" dirty="0"/>
          </a:p>
        </p:txBody>
      </p:sp>
      <p:sp>
        <p:nvSpPr>
          <p:cNvPr id="9"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 del PEA</a:t>
            </a:r>
            <a:endParaRPr lang="en-US" sz="1700" dirty="0"/>
          </a:p>
        </p:txBody>
      </p:sp>
      <p:sp>
        <p:nvSpPr>
          <p:cNvPr id="13" name="Text 11"/>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Sistema de distribución.</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Es el primero de los cinco conocimientos declarados para la unidad.</a:t>
            </a:r>
            <a:endParaRPr lang="en-US" sz="1200" dirty="0"/>
          </a:p>
        </p:txBody>
      </p:sp>
      <p:sp>
        <p:nvSpPr>
          <p:cNvPr id="14" name="Text 12"/>
          <p:cNvSpPr txBox="1"/>
          <p:nvPr/>
        </p:nvSpPr>
        <p:spPr>
          <a:xfrm>
            <a:off x="4584192" y="320954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1 de los 5 conocimientos</a:t>
            </a:r>
            <a:endParaRPr lang="en-US" sz="1200" dirty="0"/>
          </a:p>
        </p:txBody>
      </p:sp>
      <p:sp>
        <p:nvSpPr>
          <p:cNvPr id="15"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Diagrama de distribución del motor del laboratorio y cuadro comparativo de arquitecturas, elaborado en grupo.</a:t>
            </a:r>
            <a:endParaRPr lang="en-US" sz="1200" dirty="0"/>
          </a:p>
        </p:txBody>
      </p:sp>
      <p:sp>
        <p:nvSpPr>
          <p:cNvPr id="20" name="Text 18"/>
          <p:cNvSpPr txBox="1"/>
          <p:nvPr/>
        </p:nvSpPr>
        <p:spPr>
          <a:xfrm>
            <a:off x="8363712" y="320954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Trabajo colaborativo</a:t>
            </a:r>
            <a:endParaRPr lang="en-US" sz="1200" dirty="0"/>
          </a:p>
        </p:txBody>
      </p:sp>
      <p:sp>
        <p:nvSpPr>
          <p:cNvPr id="21" name="Text 19"/>
          <p:cNvSpPr txBox="1"/>
          <p:nvPr/>
        </p:nvSpPr>
        <p:spPr>
          <a:xfrm>
            <a:off x="548640" y="3749040"/>
            <a:ext cx="11064240" cy="5029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Competencia concreta que se evalúa:  ante un motor abierto, el estudiante debe poder decir qué arquitectura de distribución tiene, cómo se acciona su árbol de levas y qué consecuencias de mantenimiento tiene esa elección.</a:t>
            </a:r>
            <a:endParaRPr lang="en-US" sz="1400" dirty="0"/>
          </a:p>
        </p:txBody>
      </p:sp>
      <p:sp>
        <p:nvSpPr>
          <p:cNvPr id="22" name="Shape 20"/>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31596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sincroniza. </a:t>
            </a:r>
            <a:pPr indent="0" marL="0">
              <a:lnSpc>
                <a:spcPct val="106000"/>
              </a:lnSpc>
              <a:buNone/>
            </a:pPr>
            <a:r>
              <a:rPr lang="en-US" sz="1200" dirty="0">
                <a:solidFill>
                  <a:schemeClr val="accent4"/>
                </a:solidFill>
              </a:rPr>
              <a:t>la apertura de las válvulas con la posición del pistón, y por qué eso es crítico</a:t>
            </a:r>
            <a:endParaRPr lang="en-US" sz="1200" dirty="0"/>
          </a:p>
        </p:txBody>
      </p:sp>
      <p:sp>
        <p:nvSpPr>
          <p:cNvPr id="25" name="Shape 23"/>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61772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De qué está hecha. </a:t>
            </a:r>
            <a:pPr indent="0" marL="0">
              <a:lnSpc>
                <a:spcPct val="106000"/>
              </a:lnSpc>
              <a:buNone/>
            </a:pPr>
            <a:r>
              <a:rPr lang="en-US" sz="1200" dirty="0">
                <a:solidFill>
                  <a:schemeClr val="accent4"/>
                </a:solidFill>
              </a:rPr>
              <a:t>árbol de levas, taqués, varillas, balancines, válvulas, muelles y su accionamiento</a:t>
            </a:r>
            <a:endParaRPr lang="en-US" sz="1200" dirty="0"/>
          </a:p>
        </p:txBody>
      </p:sp>
      <p:sp>
        <p:nvSpPr>
          <p:cNvPr id="28" name="Shape 26"/>
          <p:cNvSpPr/>
          <p:nvPr/>
        </p:nvSpPr>
        <p:spPr>
          <a:xfrm>
            <a:off x="548640" y="495604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491947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diagrama de distribución. </a:t>
            </a:r>
            <a:pPr indent="0" marL="0">
              <a:lnSpc>
                <a:spcPct val="106000"/>
              </a:lnSpc>
              <a:buNone/>
            </a:pPr>
            <a:r>
              <a:rPr lang="en-US" sz="1200" dirty="0">
                <a:solidFill>
                  <a:schemeClr val="accent4"/>
                </a:solidFill>
              </a:rPr>
              <a:t>avances y retrasos, cruce de válvulas y por qué no coinciden con los tiempos teóricos</a:t>
            </a:r>
            <a:endParaRPr lang="en-US" sz="1200" dirty="0"/>
          </a:p>
        </p:txBody>
      </p:sp>
      <p:sp>
        <p:nvSpPr>
          <p:cNvPr id="31" name="Shape 29"/>
          <p:cNvSpPr/>
          <p:nvPr/>
        </p:nvSpPr>
        <p:spPr>
          <a:xfrm>
            <a:off x="548640" y="525780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221224"/>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Las arquitecturas. </a:t>
            </a:r>
            <a:pPr indent="0" marL="0">
              <a:lnSpc>
                <a:spcPct val="106000"/>
              </a:lnSpc>
              <a:buNone/>
            </a:pPr>
            <a:r>
              <a:rPr lang="en-US" sz="1200" dirty="0">
                <a:solidFill>
                  <a:schemeClr val="accent4"/>
                </a:solidFill>
              </a:rPr>
              <a:t>SV, OHV, OHC, SOHC y DOHC: qué resuelve cada una y qué complica</a:t>
            </a:r>
            <a:endParaRPr lang="en-US" sz="1200" dirty="0"/>
          </a:p>
        </p:txBody>
      </p:sp>
      <p:sp>
        <p:nvSpPr>
          <p:cNvPr id="34" name="Shape 32"/>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522976"/>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Los accionamientos. </a:t>
            </a:r>
            <a:pPr indent="0" marL="0">
              <a:lnSpc>
                <a:spcPct val="106000"/>
              </a:lnSpc>
              <a:buNone/>
            </a:pPr>
            <a:r>
              <a:rPr lang="en-US" sz="1200" dirty="0">
                <a:solidFill>
                  <a:schemeClr val="accent4"/>
                </a:solidFill>
              </a:rPr>
              <a:t>piñones, cadena y correa dentada: duración, ruido, mantenimiento y consecuencia de un fallo</a:t>
            </a:r>
            <a:endParaRPr lang="en-US" sz="120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Conocimientos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Activación: el motor que no volvió a arrancar</a:t>
            </a:r>
            <a:endParaRPr lang="en-US" sz="3200" dirty="0"/>
          </a:p>
        </p:txBody>
      </p:sp>
      <p:sp>
        <p:nvSpPr>
          <p:cNvPr id="3" name="Shape 1"/>
          <p:cNvSpPr/>
          <p:nvPr/>
        </p:nvSpPr>
        <p:spPr>
          <a:xfrm>
            <a:off x="548640" y="1371600"/>
            <a:ext cx="11064240" cy="1051560"/>
          </a:xfrm>
          <a:prstGeom prst="roundRect">
            <a:avLst>
              <a:gd name="adj" fmla="val 6957"/>
            </a:avLst>
          </a:prstGeom>
          <a:solidFill>
            <a:schemeClr val="accent6"/>
          </a:solidFill>
          <a:ln w="12700">
            <a:solidFill>
              <a:schemeClr val="accent6"/>
            </a:solidFill>
            <a:prstDash val="solid"/>
          </a:ln>
        </p:spPr>
        <p:txBody>
          <a:bodyPr/>
          <a:p/>
        </p:txBody>
      </p:sp>
      <p:sp>
        <p:nvSpPr>
          <p:cNvPr id="4" name="Text 2"/>
          <p:cNvSpPr txBox="1"/>
          <p:nvPr/>
        </p:nvSpPr>
        <p:spPr>
          <a:xfrm>
            <a:off x="914400" y="1572768"/>
            <a:ext cx="10332720" cy="640080"/>
          </a:xfrm>
          <a:prstGeom prst="rect">
            <a:avLst/>
          </a:prstGeom>
          <a:noFill/>
          <a:ln/>
        </p:spPr>
        <p:txBody>
          <a:bodyPr wrap="square" lIns="0" tIns="0" rIns="0" bIns="0" rtlCol="0" anchor="ctr"/>
          <a:lstStyle/>
          <a:p>
            <a:pPr indent="0" marL="0">
              <a:buNone/>
            </a:pPr>
            <a:r>
              <a:rPr lang="en-US" sz="1600" b="1" dirty="0">
                <a:solidFill>
                  <a:srgbClr val="FFFFFF"/>
                </a:solidFill>
              </a:rPr>
              <a:t>A un vehículo se le cambió la correa de distribución. Al terminar, el motor gira con el arranque pero no enciende. Se comprueba que hay chispa y que hay combustible. La compresión, medida en los cuatro cilindros, es muy baja en todos ellos.</a:t>
            </a:r>
            <a:endParaRPr lang="en-US" sz="1600" dirty="0"/>
          </a:p>
        </p:txBody>
      </p:sp>
      <p:sp>
        <p:nvSpPr>
          <p:cNvPr id="5" name="tarjeta_1"/>
          <p:cNvSpPr/>
          <p:nvPr/>
        </p:nvSpPr>
        <p:spPr>
          <a:xfrm>
            <a:off x="548640" y="2651760"/>
            <a:ext cx="350520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6" name="Shape 4"/>
          <p:cNvSpPr/>
          <p:nvPr/>
        </p:nvSpPr>
        <p:spPr>
          <a:xfrm>
            <a:off x="804672" y="2889504"/>
            <a:ext cx="420624" cy="420624"/>
          </a:xfrm>
          <a:prstGeom prst="ellipse">
            <a:avLst/>
          </a:prstGeom>
          <a:solidFill>
            <a:schemeClr val="accent1"/>
          </a:solidFill>
          <a:ln w="12700">
            <a:solidFill>
              <a:schemeClr val="accent1"/>
            </a:solidFill>
            <a:prstDash val="solid"/>
          </a:ln>
        </p:spPr>
        <p:txBody>
          <a:bodyPr/>
          <a:p/>
        </p:txBody>
      </p:sp>
      <p:sp>
        <p:nvSpPr>
          <p:cNvPr id="7" name="Text 5"/>
          <p:cNvSpPr txBox="1"/>
          <p:nvPr/>
        </p:nvSpPr>
        <p:spPr>
          <a:xfrm>
            <a:off x="804672" y="2889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8" name="Text 6"/>
          <p:cNvSpPr txBox="1"/>
          <p:nvPr/>
        </p:nvSpPr>
        <p:spPr>
          <a:xfrm>
            <a:off x="1353312" y="28712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1</a:t>
            </a:r>
            <a:endParaRPr lang="en-US" sz="1700" dirty="0"/>
          </a:p>
        </p:txBody>
      </p:sp>
      <p:sp>
        <p:nvSpPr>
          <p:cNvPr id="9" name="Text 7"/>
          <p:cNvSpPr txBox="1"/>
          <p:nvPr/>
        </p:nvSpPr>
        <p:spPr>
          <a:xfrm>
            <a:off x="804672" y="3401568"/>
            <a:ext cx="2993136" cy="104241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¿Por qué la compresión es baja en los cuatro cilindros a la vez y no solo en uno?</a:t>
            </a:r>
            <a:endParaRPr lang="en-US" sz="1350" dirty="0"/>
          </a:p>
        </p:txBody>
      </p:sp>
      <p:sp>
        <p:nvSpPr>
          <p:cNvPr id="10" name="tarjeta_2"/>
          <p:cNvSpPr/>
          <p:nvPr/>
        </p:nvSpPr>
        <p:spPr>
          <a:xfrm>
            <a:off x="4328160" y="2651760"/>
            <a:ext cx="350520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Shape 9"/>
          <p:cNvSpPr/>
          <p:nvPr/>
        </p:nvSpPr>
        <p:spPr>
          <a:xfrm>
            <a:off x="4584192" y="2889504"/>
            <a:ext cx="420624" cy="420624"/>
          </a:xfrm>
          <a:prstGeom prst="ellipse">
            <a:avLst/>
          </a:prstGeom>
          <a:solidFill>
            <a:schemeClr val="accent2"/>
          </a:solidFill>
          <a:ln w="12700">
            <a:solidFill>
              <a:schemeClr val="accent2"/>
            </a:solidFill>
            <a:prstDash val="solid"/>
          </a:ln>
        </p:spPr>
        <p:txBody>
          <a:bodyPr/>
          <a:p/>
        </p:txBody>
      </p:sp>
      <p:sp>
        <p:nvSpPr>
          <p:cNvPr id="12" name="Text 10"/>
          <p:cNvSpPr txBox="1"/>
          <p:nvPr/>
        </p:nvSpPr>
        <p:spPr>
          <a:xfrm>
            <a:off x="4584192" y="2889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3" name="Text 11"/>
          <p:cNvSpPr txBox="1"/>
          <p:nvPr/>
        </p:nvSpPr>
        <p:spPr>
          <a:xfrm>
            <a:off x="5132832" y="28712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2</a:t>
            </a:r>
            <a:endParaRPr lang="en-US" sz="1700" dirty="0"/>
          </a:p>
        </p:txBody>
      </p:sp>
      <p:sp>
        <p:nvSpPr>
          <p:cNvPr id="14" name="Text 12"/>
          <p:cNvSpPr txBox="1"/>
          <p:nvPr/>
        </p:nvSpPr>
        <p:spPr>
          <a:xfrm>
            <a:off x="4584192" y="3401568"/>
            <a:ext cx="2993136" cy="104241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Si hay chispa y hay combustible, ¿qué falta para que haya combustión?</a:t>
            </a:r>
            <a:endParaRPr lang="en-US" sz="1350" dirty="0"/>
          </a:p>
        </p:txBody>
      </p:sp>
      <p:sp>
        <p:nvSpPr>
          <p:cNvPr id="15" name="tarjeta_3"/>
          <p:cNvSpPr/>
          <p:nvPr/>
        </p:nvSpPr>
        <p:spPr>
          <a:xfrm>
            <a:off x="8107680" y="2651760"/>
            <a:ext cx="350520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288950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2889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8" name="Text 16"/>
          <p:cNvSpPr txBox="1"/>
          <p:nvPr/>
        </p:nvSpPr>
        <p:spPr>
          <a:xfrm>
            <a:off x="8912352" y="28712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3</a:t>
            </a:r>
            <a:endParaRPr lang="en-US" sz="1700" dirty="0"/>
          </a:p>
        </p:txBody>
      </p:sp>
      <p:sp>
        <p:nvSpPr>
          <p:cNvPr id="19" name="Text 17"/>
          <p:cNvSpPr txBox="1"/>
          <p:nvPr/>
        </p:nvSpPr>
        <p:spPr>
          <a:xfrm>
            <a:off x="8363712" y="3401568"/>
            <a:ext cx="2993136" cy="104241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¿Qué pudo cambiar durante el montaje de la correa que afecte a todos los cilindros por igual?</a:t>
            </a:r>
            <a:endParaRPr lang="en-US" sz="1350" dirty="0"/>
          </a:p>
        </p:txBody>
      </p:sp>
      <p:sp>
        <p:nvSpPr>
          <p:cNvPr id="20" name="Shape 18"/>
          <p:cNvSpPr/>
          <p:nvPr/>
        </p:nvSpPr>
        <p:spPr>
          <a:xfrm>
            <a:off x="548640" y="4846320"/>
            <a:ext cx="11064240" cy="731520"/>
          </a:xfrm>
          <a:prstGeom prst="roundRect">
            <a:avLst>
              <a:gd name="adj" fmla="val 7500"/>
            </a:avLst>
          </a:prstGeom>
          <a:solidFill>
            <a:schemeClr val="bg2"/>
          </a:solidFill>
          <a:ln w="12700">
            <a:solidFill>
              <a:schemeClr val="bg2"/>
            </a:solidFill>
            <a:prstDash val="solid"/>
          </a:ln>
        </p:spPr>
        <p:txBody>
          <a:bodyPr/>
          <a:p/>
        </p:txBody>
      </p:sp>
      <p:sp>
        <p:nvSpPr>
          <p:cNvPr id="21" name="Shape 19"/>
          <p:cNvSpPr/>
          <p:nvPr/>
        </p:nvSpPr>
        <p:spPr>
          <a:xfrm>
            <a:off x="786384" y="5029200"/>
            <a:ext cx="365760" cy="365760"/>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786384" y="5029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1"/>
          <p:cNvSpPr txBox="1"/>
          <p:nvPr/>
        </p:nvSpPr>
        <p:spPr>
          <a:xfrm>
            <a:off x="1298448" y="493776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Pista: todo lo que falla afecta a los cuatro cilindros simultáneamente. En un motor, muy pocas cosas pueden hacer eso, y una de ellas es la pieza que se acaba de tocar.</a:t>
            </a:r>
            <a:endParaRPr lang="en-US" sz="1450" dirty="0"/>
          </a:p>
        </p:txBody>
      </p:sp>
      <p:sp>
        <p:nvSpPr>
          <p:cNvPr id="24"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declarada en el PEA: aprendizaje basado en problemas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hace la distribución y por qué es crítica</a:t>
            </a:r>
            <a:endParaRPr lang="en-US" sz="3200" dirty="0"/>
          </a:p>
        </p:txBody>
      </p:sp>
      <p:sp>
        <p:nvSpPr>
          <p:cNvPr id="3" name="marco_figura"/>
          <p:cNvSpPr/>
          <p:nvPr/>
        </p:nvSpPr>
        <p:spPr>
          <a:xfrm>
            <a:off x="548640" y="1371600"/>
            <a:ext cx="5120640" cy="3218688"/>
          </a:xfrm>
          <a:prstGeom prst="roundRect">
            <a:avLst>
              <a:gd name="adj" fmla="val 1705"/>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tren_valvulas.jpg">    </p:cNvPr>
          <p:cNvPicPr>
            <a:picLocks noChangeAspect="1"/>
          </p:cNvPicPr>
          <p:nvPr/>
        </p:nvPicPr>
        <p:blipFill>
          <a:blip r:embed="rId1"/>
          <a:srcRect l="0" r="0" t="0" b="0"/>
          <a:stretch/>
        </p:blipFill>
        <p:spPr>
          <a:xfrm>
            <a:off x="658368" y="1481328"/>
            <a:ext cx="4901184" cy="2615184"/>
          </a:xfrm>
          <a:prstGeom prst="rect">
            <a:avLst/>
          </a:prstGeom>
        </p:spPr>
      </p:pic>
      <p:sp>
        <p:nvSpPr>
          <p:cNvPr id="5" name="Text 2"/>
          <p:cNvSpPr txBox="1"/>
          <p:nvPr/>
        </p:nvSpPr>
        <p:spPr>
          <a:xfrm>
            <a:off x="658368" y="4206240"/>
            <a:ext cx="49011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 </a:t>
            </a:r>
            <a:pPr indent="0" marL="0">
              <a:lnSpc>
                <a:spcPct val="102000"/>
              </a:lnSpc>
              <a:buNone/>
            </a:pPr>
            <a:r>
              <a:rPr lang="en-US" sz="1000" dirty="0">
                <a:solidFill>
                  <a:schemeClr val="accent4"/>
                </a:solidFill>
              </a:rPr>
              <a:t>Conjunto de la distribución: árbol de levas, empujadores y válvulas. Adaptado de Fernández, J. (s. f.). La distribución [diapositivas]. ISTS.</a:t>
            </a:r>
            <a:endParaRPr lang="en-US" sz="1000" dirty="0"/>
          </a:p>
        </p:txBody>
      </p:sp>
      <p:sp>
        <p:nvSpPr>
          <p:cNvPr id="6" name="Shape 3"/>
          <p:cNvSpPr/>
          <p:nvPr/>
        </p:nvSpPr>
        <p:spPr>
          <a:xfrm>
            <a:off x="60350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0350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565392" y="1463040"/>
            <a:ext cx="5047488" cy="65836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Su misión. </a:t>
            </a:r>
            <a:pPr indent="0" marL="0">
              <a:lnSpc>
                <a:spcPct val="106000"/>
              </a:lnSpc>
              <a:buNone/>
            </a:pPr>
            <a:r>
              <a:rPr lang="en-US" sz="1200" dirty="0">
                <a:solidFill>
                  <a:schemeClr val="accent4"/>
                </a:solidFill>
              </a:rPr>
              <a:t>abrir y cerrar las válvulas de admisión y de escape en el momento exacto del ciclo y durante el tiempo justo</a:t>
            </a:r>
            <a:endParaRPr lang="en-US" sz="1200" dirty="0"/>
          </a:p>
        </p:txBody>
      </p:sp>
      <p:sp>
        <p:nvSpPr>
          <p:cNvPr id="9" name="Shape 6"/>
          <p:cNvSpPr/>
          <p:nvPr/>
        </p:nvSpPr>
        <p:spPr>
          <a:xfrm>
            <a:off x="6035040" y="2212848"/>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035040" y="2212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565392" y="2176272"/>
            <a:ext cx="5047488" cy="65836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 condición que impone. </a:t>
            </a:r>
            <a:pPr indent="0" marL="0">
              <a:lnSpc>
                <a:spcPct val="106000"/>
              </a:lnSpc>
              <a:buNone/>
            </a:pPr>
            <a:r>
              <a:rPr lang="en-US" sz="1200" dirty="0">
                <a:solidFill>
                  <a:schemeClr val="accent4"/>
                </a:solidFill>
              </a:rPr>
              <a:t>el árbol de levas debe girar sincronizado con el cigüeñal y en una posición angular determinada; no basta con que gire</a:t>
            </a:r>
            <a:endParaRPr lang="en-US" sz="1200" dirty="0"/>
          </a:p>
        </p:txBody>
      </p:sp>
      <p:sp>
        <p:nvSpPr>
          <p:cNvPr id="12" name="Shape 9"/>
          <p:cNvSpPr/>
          <p:nvPr/>
        </p:nvSpPr>
        <p:spPr>
          <a:xfrm>
            <a:off x="6035040" y="2926080"/>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03504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565392" y="2889504"/>
            <a:ext cx="5047488" cy="65836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 relación de giro. </a:t>
            </a:r>
            <a:pPr indent="0" marL="0">
              <a:lnSpc>
                <a:spcPct val="106000"/>
              </a:lnSpc>
              <a:buNone/>
            </a:pPr>
            <a:r>
              <a:rPr lang="en-US" sz="1200" dirty="0">
                <a:solidFill>
                  <a:schemeClr val="accent4"/>
                </a:solidFill>
              </a:rPr>
              <a:t>en cuatro tiempos el ciclo dura dos vueltas de cigüeñal y cada válvula abre una vez, de modo que el árbol gira a la mitad</a:t>
            </a:r>
            <a:endParaRPr lang="en-US" sz="1200" dirty="0"/>
          </a:p>
        </p:txBody>
      </p:sp>
      <p:sp>
        <p:nvSpPr>
          <p:cNvPr id="15" name="Shape 12"/>
          <p:cNvSpPr/>
          <p:nvPr/>
        </p:nvSpPr>
        <p:spPr>
          <a:xfrm>
            <a:off x="6035040" y="3639312"/>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035040" y="3639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565392" y="3602736"/>
            <a:ext cx="5047488" cy="65836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 que está en juego. </a:t>
            </a:r>
            <a:pPr indent="0" marL="0">
              <a:lnSpc>
                <a:spcPct val="106000"/>
              </a:lnSpc>
              <a:buNone/>
            </a:pPr>
            <a:r>
              <a:rPr lang="en-US" sz="1200" dirty="0">
                <a:solidFill>
                  <a:schemeClr val="accent4"/>
                </a:solidFill>
              </a:rPr>
              <a:t>si la sincronización se pierde, las válvulas abren a destiempo; en muchos motores el pistón las golpea y las dobla</a:t>
            </a:r>
            <a:endParaRPr lang="en-US" sz="1200" dirty="0"/>
          </a:p>
        </p:txBody>
      </p:sp>
      <p:sp>
        <p:nvSpPr>
          <p:cNvPr id="18" name="Shape 15"/>
          <p:cNvSpPr/>
          <p:nvPr/>
        </p:nvSpPr>
        <p:spPr>
          <a:xfrm>
            <a:off x="6035040" y="4480560"/>
            <a:ext cx="55778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Text 16"/>
          <p:cNvSpPr txBox="1"/>
          <p:nvPr/>
        </p:nvSpPr>
        <p:spPr>
          <a:xfrm>
            <a:off x="6272784" y="4663440"/>
            <a:ext cx="5102352" cy="384048"/>
          </a:xfrm>
          <a:prstGeom prst="rect">
            <a:avLst/>
          </a:prstGeom>
          <a:noFill/>
          <a:ln/>
        </p:spPr>
        <p:txBody>
          <a:bodyPr wrap="square" lIns="0" tIns="0" rIns="0" bIns="0" rtlCol="0" anchor="ctr"/>
          <a:lstStyle/>
          <a:p>
            <a:pPr indent="0" marL="0">
              <a:buNone/>
            </a:pPr>
            <a:r>
              <a:rPr lang="en-US" sz="1700" b="1" dirty="0">
                <a:solidFill>
                  <a:schemeClr val="tx1"/>
                </a:solidFill>
              </a:rPr>
              <a:t>Relación de giro de la distribución</a:t>
            </a:r>
            <a:endParaRPr lang="en-US" sz="1700" dirty="0"/>
          </a:p>
        </p:txBody>
      </p:sp>
      <mc:AlternateContent xmlns:mc="http://schemas.openxmlformats.org/markup-compatibility/2006" xmlns:a14="http://schemas.microsoft.com/office/drawing/2010/main">
        <mc:Choice Requires="a14">
          <p:sp>
            <p:nvSpPr>
              <p:cNvPr id="20" name="Text 17"/>
              <p:cNvSpPr txBox="1"/>
              <p:nvPr/>
            </p:nvSpPr>
            <p:spPr>
              <a:xfrm>
                <a:off x="6272784" y="5102352"/>
                <a:ext cx="510235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n</m:t>
                          </m:r>
                        </m:e>
                        <m:sub>
                          <m:r>
                            <a:rPr lang="es-EC" sz="2400" b="1" dirty="0" i="0">
                              <a:solidFill>
                                <a:srgbClr val="C0451C"/>
                              </a:solidFill>
                              <a:latin typeface="Cambria Math" panose="02040503050406030204" pitchFamily="18" charset="0"/>
                            </a:rPr>
                            <m:t xml:space="preserve">d</m:t>
                          </m:r>
                        </m:sub>
                      </m:sSub>
                      <m:r>
                        <a:rPr lang="es-EC" sz="2400" b="1" dirty="0" i="0">
                          <a:solidFill>
                            <a:srgbClr val="C0451C"/>
                          </a:solidFill>
                          <a:latin typeface="Cambria Math" panose="02040503050406030204" pitchFamily="18" charset="0"/>
                        </a:rPr>
                        <m:t xml:space="preserve"> = </m:t>
                      </m:r>
                      <m:f>
                        <m:fPr>
                          <m:ctrlPr>
                            <a:rPr lang="es-EC" sz="2400" b="1" dirty="0" i="1">
                              <a:solidFill>
                                <a:srgbClr val="C0451C"/>
                              </a:solidFill>
                              <a:latin typeface="Cambria Math" panose="02040503050406030204" pitchFamily="18" charset="0"/>
                            </a:rPr>
                          </m:ctrlPr>
                        </m:fPr>
                        <m:num>
                          <m:r>
                            <a:rPr lang="es-EC" sz="2400" b="1" dirty="0" i="1">
                              <a:solidFill>
                                <a:srgbClr val="C0451C"/>
                              </a:solidFill>
                              <a:latin typeface="Cambria Math" panose="02040503050406030204" pitchFamily="18" charset="0"/>
                            </a:rPr>
                            <m:t xml:space="preserve">n</m:t>
                          </m:r>
                        </m:num>
                        <m:den>
                          <m:r>
                            <a:rPr lang="es-EC" sz="2400" b="1" dirty="0" i="0">
                              <a:solidFill>
                                <a:srgbClr val="C0451C"/>
                              </a:solidFill>
                              <a:latin typeface="Cambria Math" panose="02040503050406030204" pitchFamily="18" charset="0"/>
                            </a:rPr>
                            <m:t xml:space="preserve">2</m:t>
                          </m:r>
                        </m:den>
                      </m:f>
                    </m:oMath>
                  </m:oMathPara>
                </a14:m>
                <a:endParaRPr lang="es-EC" sz="2400" dirty="0"/>
              </a:p>
            </p:txBody>
          </p:sp>
        </mc:Choice>
        <mc:Fallback xmlns="">
          <p:sp>
            <p:nvSpPr>
              <p:cNvPr id="20" name="Text 17"/>
              <p:cNvSpPr txBox="1"/>
              <p:nvPr/>
            </p:nvSpPr>
            <p:spPr>
              <a:xfrm>
                <a:off x="6272784" y="5102352"/>
                <a:ext cx="5102352" cy="658368"/>
              </a:xfrm>
              <a:prstGeom prst="rect">
                <a:avLst/>
              </a:prstGeom>
              <a:noFill/>
              <a:ln/>
            </p:spPr>
            <p:txBody>
              <a:bodyPr wrap="square" lIns="0" tIns="0" rIns="0" bIns="0" rtlCol="0" anchor="ctr"/>
              <a:lstStyle/>
              <a:p>
                <a:pPr algn="l"/>
                <a:r>
                  <a:rPr lang="es-EC" sz="2400" b="1" dirty="0">
                    <a:solidFill>
                      <a:srgbClr val="C0451C"/>
                    </a:solidFill>
                  </a:rPr>
                  <a:t xml:space="preserve">n</a:t>
                </a:r>
                <a:r>
                  <a:rPr lang="es-EC" sz="2400" b="1" baseline="-25000" dirty="0">
                    <a:solidFill>
                      <a:srgbClr val="C0451C"/>
                    </a:solidFill>
                  </a:rPr>
                  <a:t xml:space="preserve">d</a:t>
                </a:r>
                <a:r>
                  <a:rPr lang="es-EC" sz="2400" b="1" dirty="0">
                    <a:solidFill>
                      <a:srgbClr val="C0451C"/>
                    </a:solidFill>
                  </a:rPr>
                  <a:t xml:space="preserve"> = </a:t>
                </a:r>
                <a:r>
                  <a:rPr lang="es-EC" sz="2400" b="1" dirty="0">
                    <a:solidFill>
                      <a:srgbClr val="C0451C"/>
                    </a:solidFill>
                  </a:rPr>
                  <a:t xml:space="preserve">n</a:t>
                </a:r>
                <a:r>
                  <a:rPr lang="es-EC" sz="2400" b="1" dirty="0">
                    <a:solidFill>
                      <a:srgbClr val="C0451C"/>
                    </a:solidFill>
                  </a:rPr>
                  <a:t xml:space="preserve"> / </a:t>
                </a:r>
                <a:r>
                  <a:rPr lang="es-EC" sz="2400" b="1" dirty="0">
                    <a:solidFill>
                      <a:srgbClr val="C0451C"/>
                    </a:solidFill>
                  </a:rPr>
                  <a:t xml:space="preserve">2</a:t>
                </a:r>
              </a:p>
            </p:txBody>
          </p:sp>
        </mc:Fallback>
      </mc:AlternateContent>
      <p:sp>
        <p:nvSpPr>
          <p:cNvPr id="21" name="Text 18"/>
          <p:cNvSpPr txBox="1"/>
          <p:nvPr/>
        </p:nvSpPr>
        <p:spPr>
          <a:xfrm>
            <a:off x="6272784" y="5815584"/>
            <a:ext cx="5102352" cy="-192024"/>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El árbol de levas gira a la mitad del régimen del cigüeñal en todo motor de cuatro tiempos.</a:t>
            </a:r>
            <a:endParaRPr lang="en-US" sz="1300" dirty="0"/>
          </a:p>
        </p:txBody>
      </p:sp>
      <p:sp>
        <p:nvSpPr>
          <p:cNvPr id="22" name="Shape 19"/>
          <p:cNvSpPr/>
          <p:nvPr/>
        </p:nvSpPr>
        <p:spPr>
          <a:xfrm>
            <a:off x="548640" y="4663440"/>
            <a:ext cx="5120640" cy="1143000"/>
          </a:xfrm>
          <a:prstGeom prst="roundRect">
            <a:avLst>
              <a:gd name="adj" fmla="val 4800"/>
            </a:avLst>
          </a:prstGeom>
          <a:solidFill>
            <a:schemeClr val="bg2"/>
          </a:solidFill>
          <a:ln w="12700">
            <a:solidFill>
              <a:schemeClr val="bg2"/>
            </a:solidFill>
            <a:prstDash val="solid"/>
          </a:ln>
        </p:spPr>
        <p:txBody>
          <a:bodyPr/>
          <a:p/>
        </p:txBody>
      </p:sp>
      <p:sp>
        <p:nvSpPr>
          <p:cNvPr id="23" name="Shape 20"/>
          <p:cNvSpPr/>
          <p:nvPr/>
        </p:nvSpPr>
        <p:spPr>
          <a:xfrm>
            <a:off x="786384" y="5052060"/>
            <a:ext cx="365760" cy="365760"/>
          </a:xfrm>
          <a:prstGeom prst="ellipse">
            <a:avLst/>
          </a:prstGeom>
          <a:solidFill>
            <a:schemeClr val="accent1"/>
          </a:solidFill>
          <a:ln w="12700">
            <a:solidFill>
              <a:schemeClr val="accent1"/>
            </a:solidFill>
            <a:prstDash val="solid"/>
          </a:ln>
        </p:spPr>
        <p:txBody>
          <a:bodyPr/>
          <a:p/>
        </p:txBody>
      </p:sp>
      <p:sp>
        <p:nvSpPr>
          <p:cNvPr id="24" name="Text 21"/>
          <p:cNvSpPr txBox="1"/>
          <p:nvPr/>
        </p:nvSpPr>
        <p:spPr>
          <a:xfrm>
            <a:off x="786384" y="50520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5" name="Text 22"/>
          <p:cNvSpPr txBox="1"/>
          <p:nvPr/>
        </p:nvSpPr>
        <p:spPr>
          <a:xfrm>
            <a:off x="1298448" y="4754880"/>
            <a:ext cx="4114800" cy="96012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Un motor interferente es aquel en el que, con la distribución fuera de punto, el pistón y la válvula ocupan el mismo espacio. La mayoría de los motores modernos lo son, porque la relación de compresión alta obliga a acercar el pistón a la culata.</a:t>
            </a:r>
            <a:endParaRPr lang="en-US" sz="1150" dirty="0"/>
          </a:p>
        </p:txBody>
      </p:sp>
      <p:sp>
        <p:nvSpPr>
          <p:cNvPr id="26"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 qué está hecha la distribución</a:t>
            </a:r>
            <a:endParaRPr lang="en-US" sz="3200" dirty="0"/>
          </a:p>
        </p:txBody>
      </p:sp>
      <p:sp>
        <p:nvSpPr>
          <p:cNvPr id="3" name="marco_figura"/>
          <p:cNvSpPr/>
          <p:nvPr/>
        </p:nvSpPr>
        <p:spPr>
          <a:xfrm>
            <a:off x="548640" y="1371600"/>
            <a:ext cx="4937760" cy="3310128"/>
          </a:xfrm>
          <a:prstGeom prst="roundRect">
            <a:avLst>
              <a:gd name="adj" fmla="val 165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constitucion.jpg">    </p:cNvPr>
          <p:cNvPicPr>
            <a:picLocks noChangeAspect="1"/>
          </p:cNvPicPr>
          <p:nvPr/>
        </p:nvPicPr>
        <p:blipFill>
          <a:blip r:embed="rId1"/>
          <a:srcRect l="0" r="0" t="0" b="0"/>
          <a:stretch/>
        </p:blipFill>
        <p:spPr>
          <a:xfrm>
            <a:off x="658368" y="1481328"/>
            <a:ext cx="4718304" cy="2706624"/>
          </a:xfrm>
          <a:prstGeom prst="rect">
            <a:avLst/>
          </a:prstGeom>
        </p:spPr>
      </p:pic>
      <p:sp>
        <p:nvSpPr>
          <p:cNvPr id="5" name="Text 2"/>
          <p:cNvSpPr txBox="1"/>
          <p:nvPr/>
        </p:nvSpPr>
        <p:spPr>
          <a:xfrm>
            <a:off x="658368" y="429768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 </a:t>
            </a:r>
            <a:pPr indent="0" marL="0">
              <a:lnSpc>
                <a:spcPct val="102000"/>
              </a:lnSpc>
              <a:buNone/>
            </a:pPr>
            <a:r>
              <a:rPr lang="en-US" sz="1000" dirty="0">
                <a:solidFill>
                  <a:schemeClr val="accent4"/>
                </a:solidFill>
              </a:rPr>
              <a:t>Elementos del accionamiento de válvulas: leva, taqué, varilla, balancín, válvula y muelle. Adaptado de Fernández, J. (s. f.). La distribución [diapositivas]. ISTS.</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852160" y="1371600"/>
          <a:ext cx="5760720" cy="914400"/>
        </p:xfrm>
        <a:graphic>
          <a:graphicData uri="http://schemas.openxmlformats.org/drawingml/2006/table">
            <a:tbl>
              <a:tblPr/>
              <a:tblGrid>
                <a:gridCol w="1920240"/>
                <a:gridCol w="3840480"/>
              </a:tblGrid>
              <a:tr h="384048">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hace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00" b="1" dirty="0">
                          <a:solidFill>
                            <a:schemeClr val="tx1"/>
                          </a:solidFill>
                        </a:rPr>
                        <a:t>Árbol de levas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Lleva una leva por válvula; su perfil fija cuándo, cuánto y durante cuánto tiempo abre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Taqué o empujador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Transmite el movimiento de la leva, absorbiendo el empuje lateral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Varilla empujadora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Solo en OHV: lleva el movimiento desde el bloque hasta la culata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Balancín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Invierte y amplifica el movimiento para empujar la válvula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Válvula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Abre y cierra el conducto; apoya sobre su asiento para sellar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Muelle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Devuelve la válvula a su asiento y la mantiene en contacto con la leva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Guía de válvula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Mantiene el vástago alineado para que la válvula asiente centrada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70916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91490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9149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800600"/>
            <a:ext cx="10058400" cy="59436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muelle no es un accesorio: es lo que garantiza que la válvula siga el perfil de la leva. Si pierde fuerza, a alto régimen la válvula deja de seguirla y queda flotando, sin cerrar. Esa flotación es la que limita el régimen máximo de un motor convencional.</a:t>
            </a:r>
            <a:endParaRPr lang="en-US" sz="1250" dirty="0"/>
          </a:p>
        </p:txBody>
      </p:sp>
      <p:sp>
        <p:nvSpPr>
          <p:cNvPr id="11" name="Text 7"/>
          <p:cNvSpPr txBox="1"/>
          <p:nvPr/>
        </p:nvSpPr>
        <p:spPr>
          <a:xfrm>
            <a:off x="548640" y="5577840"/>
            <a:ext cx="11064240" cy="36576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La leva es la pieza que contiene toda la información del comportamiento del motor: su perfil decide el instante de apertura, la altura que alcanza la válvula y los grados durante los que permanece abierta. Cambiar el árbol de levas cambia por completo el carácter del motor.</a:t>
            </a:r>
            <a:endParaRPr lang="en-US" sz="1150" dirty="0"/>
          </a:p>
        </p:txBody>
      </p:sp>
      <p:sp>
        <p:nvSpPr>
          <p:cNvPr id="12" name="Text 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diagrama de distribución: por qué los tiempos reales no son los teóricos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60320"/>
                <a:gridCol w="2834640"/>
                <a:gridCol w="2834640"/>
                <a:gridCol w="2834640"/>
              </a:tblGrid>
              <a:tr h="457200">
                <a:tc>
                  <a:txBody>
                    <a:bodyPr/>
                    <a:lstStyle/>
                    <a:p>
                      <a:pPr indent="0" marL="0">
                        <a:buNone/>
                      </a:pPr>
                      <a:r>
                        <a:rPr lang="en-US" sz="1300" b="1" dirty="0">
                          <a:solidFill>
                            <a:srgbClr val="FFFFFF"/>
                          </a:solidFill>
                        </a:rPr>
                        <a:t>Suceso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 el ciclo teórico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 el motor real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Por qué</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50" b="1" dirty="0">
                          <a:solidFill>
                            <a:schemeClr val="tx1"/>
                          </a:solidFill>
                        </a:rPr>
                        <a:t>Avance a la apertura de admisión (AAA)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La admisión abre en el PMS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Abre algunos grados antes del PMS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La válvula necesita tiempo para abrir; cuando el pistón empieza a bajar ya debe estar abierta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Retraso al cierre de admisión (RCA)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Cierra en el PMI</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Cierra bastantes grados después del PMI</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La columna de gas que entra tiene inercia y sigue llenando el cilindro aunque el pistón ya suba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Avance a la apertura de escape (AAE)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Abre en el PMI</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Abre bastantes grados antes del PMI</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Los gases quemados aún tienen presión: dejarlos salir antes cuesta menos trabajo que empujarlos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Retraso al cierre de escape (RCE)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Cierra en el PMS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Cierra algunos grados después del PMS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La inercia de los gases salientes sigue arrastrando los residuos fuera del cilindro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52044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370332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3703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61188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perfil de la leva es quien impone estos avances y retrasos. No son un ajuste del taller: están labrados en el metal del árbol de levas y solo cambian si se cambia el árbol.</a:t>
            </a:r>
            <a:endParaRPr lang="en-US" sz="1450" dirty="0"/>
          </a:p>
        </p:txBody>
      </p:sp>
      <p:sp>
        <p:nvSpPr>
          <p:cNvPr id="8" name="Shape 5"/>
          <p:cNvSpPr/>
          <p:nvPr/>
        </p:nvSpPr>
        <p:spPr>
          <a:xfrm>
            <a:off x="548640" y="442569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425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38912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1 — el llenado mejora. </a:t>
            </a:r>
            <a:pPr indent="0" marL="0">
              <a:lnSpc>
                <a:spcPct val="106000"/>
              </a:lnSpc>
              <a:buNone/>
            </a:pPr>
            <a:r>
              <a:rPr lang="en-US" sz="1150" dirty="0">
                <a:solidFill>
                  <a:schemeClr val="accent4"/>
                </a:solidFill>
              </a:rPr>
              <a:t>aprovechar la inercia de los gases permite meter más mezcla de la que el pistón aspiraría por sí solo, sobre todo a alto régimen</a:t>
            </a:r>
            <a:endParaRPr lang="en-US" sz="1150" dirty="0"/>
          </a:p>
        </p:txBody>
      </p:sp>
      <p:sp>
        <p:nvSpPr>
          <p:cNvPr id="11" name="Shape 8"/>
          <p:cNvSpPr/>
          <p:nvPr/>
        </p:nvSpPr>
        <p:spPr>
          <a:xfrm>
            <a:off x="548640" y="480974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4809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477316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2 — hay un régimen de diseño. </a:t>
            </a:r>
            <a:pPr indent="0" marL="0">
              <a:lnSpc>
                <a:spcPct val="106000"/>
              </a:lnSpc>
              <a:buNone/>
            </a:pPr>
            <a:r>
              <a:rPr lang="en-US" sz="1150" dirty="0">
                <a:solidFill>
                  <a:schemeClr val="accent4"/>
                </a:solidFill>
              </a:rPr>
              <a:t>esos avances y retrasos están calculados para una zona de régimen; fuera de ella el llenado empeora, y de ahí la forma de la curva de par</a:t>
            </a:r>
            <a:endParaRPr lang="en-US" sz="1150" dirty="0"/>
          </a:p>
        </p:txBody>
      </p:sp>
      <p:sp>
        <p:nvSpPr>
          <p:cNvPr id="14" name="Shape 11"/>
          <p:cNvSpPr/>
          <p:nvPr/>
        </p:nvSpPr>
        <p:spPr>
          <a:xfrm>
            <a:off x="548640" y="519379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193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157216"/>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3 — existe el cruce de válvulas. </a:t>
            </a:r>
            <a:pPr indent="0" marL="0">
              <a:lnSpc>
                <a:spcPct val="106000"/>
              </a:lnSpc>
              <a:buNone/>
            </a:pPr>
            <a:r>
              <a:rPr lang="en-US" sz="1150" dirty="0">
                <a:solidFill>
                  <a:schemeClr val="accent4"/>
                </a:solidFill>
              </a:rPr>
              <a:t>el RCE y el AAA se solapan: hay un intervalo en el que las dos válvulas están abiertas a la vez</a:t>
            </a:r>
            <a:endParaRPr lang="en-US" sz="1150" dirty="0"/>
          </a:p>
        </p:txBody>
      </p:sp>
      <p:sp>
        <p:nvSpPr>
          <p:cNvPr id="17" name="Shape 14"/>
          <p:cNvSpPr/>
          <p:nvPr/>
        </p:nvSpPr>
        <p:spPr>
          <a:xfrm>
            <a:off x="548640" y="5577840"/>
            <a:ext cx="384048" cy="384048"/>
          </a:xfrm>
          <a:prstGeom prst="ellipse">
            <a:avLst/>
          </a:prstGeom>
          <a:solidFill>
            <a:schemeClr val="accent2"/>
          </a:solidFill>
          <a:ln w="12700">
            <a:solidFill>
              <a:schemeClr val="accent2"/>
            </a:solidFill>
            <a:prstDash val="solid"/>
          </a:ln>
        </p:spPr>
        <p:txBody>
          <a:bodyPr/>
          <a:p/>
        </p:txBody>
      </p:sp>
      <p:sp>
        <p:nvSpPr>
          <p:cNvPr id="18" name="Text 15"/>
          <p:cNvSpPr txBox="1"/>
          <p:nvPr/>
        </p:nvSpPr>
        <p:spPr>
          <a:xfrm>
            <a:off x="548640" y="5577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9" name="Text 16"/>
          <p:cNvSpPr txBox="1"/>
          <p:nvPr/>
        </p:nvSpPr>
        <p:spPr>
          <a:xfrm>
            <a:off x="1078992" y="5541264"/>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4 — la distribución variable. </a:t>
            </a:r>
            <a:pPr indent="0" marL="0">
              <a:lnSpc>
                <a:spcPct val="106000"/>
              </a:lnSpc>
              <a:buNone/>
            </a:pPr>
            <a:r>
              <a:rPr lang="en-US" sz="1150" dirty="0">
                <a:solidFill>
                  <a:schemeClr val="accent4"/>
                </a:solidFill>
              </a:rPr>
              <a:t>los motores modernos modifican estos ángulos según el régimen, lo que explica su mejor par a bajo y a alto a la vez</a:t>
            </a:r>
            <a:endParaRPr lang="en-US" sz="1150" dirty="0"/>
          </a:p>
        </p:txBody>
      </p:sp>
      <p:sp>
        <p:nvSpPr>
          <p:cNvPr id="20" name="Text 17"/>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 · enlaza con el ciclo de trabajo de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cruce de válvulas: el instante en que ambas están abiertas</a:t>
            </a:r>
            <a:endParaRPr lang="en-US" sz="3200" dirty="0"/>
          </a:p>
        </p:txBody>
      </p:sp>
      <p:sp>
        <p:nvSpPr>
          <p:cNvPr id="3" name="Shape 1"/>
          <p:cNvSpPr/>
          <p:nvPr/>
        </p:nvSpPr>
        <p:spPr>
          <a:xfrm>
            <a:off x="548640" y="1371600"/>
            <a:ext cx="54864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5010912" cy="384048"/>
          </a:xfrm>
          <a:prstGeom prst="rect">
            <a:avLst/>
          </a:prstGeom>
          <a:noFill/>
          <a:ln/>
        </p:spPr>
        <p:txBody>
          <a:bodyPr wrap="square" lIns="0" tIns="0" rIns="0" bIns="0" rtlCol="0" anchor="ctr"/>
          <a:lstStyle/>
          <a:p>
            <a:pPr indent="0" marL="0">
              <a:buNone/>
            </a:pPr>
            <a:r>
              <a:rPr lang="en-US" sz="1700" b="1" dirty="0">
                <a:solidFill>
                  <a:schemeClr val="tx1"/>
                </a:solidFill>
              </a:rPr>
              <a:t>Duración del cruce</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501091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α</m:t>
                          </m:r>
                        </m:e>
                        <m:sub>
                          <m:r>
                            <a:rPr lang="es-EC" sz="2400" b="1" dirty="0" i="0">
                              <a:solidFill>
                                <a:srgbClr val="C0451C"/>
                              </a:solidFill>
                              <a:latin typeface="Cambria Math" panose="02040503050406030204" pitchFamily="18" charset="0"/>
                            </a:rPr>
                            <m:t xml:space="preserve">c</m:t>
                          </m:r>
                        </m:sub>
                      </m:sSub>
                      <m:r>
                        <a:rPr lang="es-EC" sz="2400" b="1" dirty="0" i="0">
                          <a:solidFill>
                            <a:srgbClr val="C0451C"/>
                          </a:solidFill>
                          <a:latin typeface="Cambria Math" panose="02040503050406030204" pitchFamily="18" charset="0"/>
                        </a:rPr>
                        <m:t xml:space="preserve"> = </m:t>
                      </m:r>
                      <m:r>
                        <a:rPr lang="es-EC" sz="2400" b="1" dirty="0" i="1">
                          <a:solidFill>
                            <a:srgbClr val="C0451C"/>
                          </a:solidFill>
                          <a:latin typeface="Cambria Math" panose="02040503050406030204" pitchFamily="18" charset="0"/>
                        </a:rPr>
                        <m:t xml:space="preserve">RCE</m:t>
                      </m:r>
                      <m:r>
                        <a:rPr lang="es-EC" sz="2400" b="1" dirty="0" i="0">
                          <a:solidFill>
                            <a:srgbClr val="C0451C"/>
                          </a:solidFill>
                          <a:latin typeface="Cambria Math" panose="02040503050406030204" pitchFamily="18" charset="0"/>
                        </a:rPr>
                        <m:t xml:space="preserve"> + </m:t>
                      </m:r>
                      <m:r>
                        <a:rPr lang="es-EC" sz="2400" b="1" dirty="0" i="1">
                          <a:solidFill>
                            <a:srgbClr val="C0451C"/>
                          </a:solidFill>
                          <a:latin typeface="Cambria Math" panose="02040503050406030204" pitchFamily="18" charset="0"/>
                        </a:rPr>
                        <m:t xml:space="preserve">AAA</m:t>
                      </m:r>
                    </m:oMath>
                  </m:oMathPara>
                </a14:m>
                <a:endParaRPr lang="es-EC" sz="2400" dirty="0"/>
              </a:p>
            </p:txBody>
          </p:sp>
        </mc:Choice>
        <mc:Fallback xmlns="">
          <p:sp>
            <p:nvSpPr>
              <p:cNvPr id="5" name="Text 3"/>
              <p:cNvSpPr txBox="1"/>
              <p:nvPr/>
            </p:nvSpPr>
            <p:spPr>
              <a:xfrm>
                <a:off x="786384" y="1993392"/>
                <a:ext cx="5010912" cy="658368"/>
              </a:xfrm>
              <a:prstGeom prst="rect">
                <a:avLst/>
              </a:prstGeom>
              <a:noFill/>
              <a:ln/>
            </p:spPr>
            <p:txBody>
              <a:bodyPr wrap="square" lIns="0" tIns="0" rIns="0" bIns="0" rtlCol="0" anchor="ctr"/>
              <a:lstStyle/>
              <a:p>
                <a:pPr algn="l"/>
                <a:r>
                  <a:rPr lang="es-EC" sz="2400" b="1" dirty="0">
                    <a:solidFill>
                      <a:srgbClr val="C0451C"/>
                    </a:solidFill>
                  </a:rPr>
                  <a:t xml:space="preserve">α</a:t>
                </a:r>
                <a:r>
                  <a:rPr lang="es-EC" sz="2400" b="1" baseline="-25000" dirty="0">
                    <a:solidFill>
                      <a:srgbClr val="C0451C"/>
                    </a:solidFill>
                  </a:rPr>
                  <a:t xml:space="preserve">c</a:t>
                </a:r>
                <a:r>
                  <a:rPr lang="es-EC" sz="2400" b="1" dirty="0">
                    <a:solidFill>
                      <a:srgbClr val="C0451C"/>
                    </a:solidFill>
                  </a:rPr>
                  <a:t xml:space="preserve"> = </a:t>
                </a:r>
                <a:r>
                  <a:rPr lang="es-EC" sz="2400" b="1" dirty="0">
                    <a:solidFill>
                      <a:srgbClr val="C0451C"/>
                    </a:solidFill>
                  </a:rPr>
                  <a:t xml:space="preserve">RCE</a:t>
                </a:r>
                <a:r>
                  <a:rPr lang="es-EC" sz="2400" b="1" dirty="0">
                    <a:solidFill>
                      <a:srgbClr val="C0451C"/>
                    </a:solidFill>
                  </a:rPr>
                  <a:t xml:space="preserve"> + </a:t>
                </a:r>
                <a:r>
                  <a:rPr lang="es-EC" sz="2400" b="1" dirty="0">
                    <a:solidFill>
                      <a:srgbClr val="C0451C"/>
                    </a:solidFill>
                  </a:rPr>
                  <a:t xml:space="preserve">AAA</a:t>
                </a:r>
              </a:p>
            </p:txBody>
          </p:sp>
        </mc:Fallback>
      </mc:AlternateContent>
      <p:sp>
        <p:nvSpPr>
          <p:cNvPr id="6" name="Text 4"/>
          <p:cNvSpPr txBox="1"/>
          <p:nvPr/>
        </p:nvSpPr>
        <p:spPr>
          <a:xfrm>
            <a:off x="786384" y="2706624"/>
            <a:ext cx="5010912" cy="-54864"/>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Suma del retraso al cierre de escape y del avance a la apertura de admisión, en grados de cigüeñal.</a:t>
            </a:r>
            <a:endParaRPr lang="en-US" sz="1300" dirty="0"/>
          </a:p>
        </p:txBody>
      </p:sp>
      <p:sp>
        <p:nvSpPr>
          <p:cNvPr id="7" name="Shape 5"/>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839712" y="1463040"/>
            <a:ext cx="4773168" cy="6583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es. </a:t>
            </a:r>
            <a:pPr indent="0" marL="0">
              <a:lnSpc>
                <a:spcPct val="106000"/>
              </a:lnSpc>
              <a:buNone/>
            </a:pPr>
            <a:r>
              <a:rPr lang="en-US" sz="1150" dirty="0">
                <a:solidFill>
                  <a:schemeClr val="accent4"/>
                </a:solidFill>
              </a:rPr>
              <a:t>el intervalo, alrededor del PMS de escape, en el que la válvula de escape aún no ha cerrado y la de admisión ya ha abierto</a:t>
            </a:r>
            <a:endParaRPr lang="en-US" sz="1150" dirty="0"/>
          </a:p>
        </p:txBody>
      </p:sp>
      <p:sp>
        <p:nvSpPr>
          <p:cNvPr id="10" name="Shape 8"/>
          <p:cNvSpPr/>
          <p:nvPr/>
        </p:nvSpPr>
        <p:spPr>
          <a:xfrm>
            <a:off x="6309360" y="2212848"/>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309360" y="2212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839712" y="2176272"/>
            <a:ext cx="4773168" cy="6583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Para qué sirve. </a:t>
            </a:r>
            <a:pPr indent="0" marL="0">
              <a:lnSpc>
                <a:spcPct val="106000"/>
              </a:lnSpc>
              <a:buNone/>
            </a:pPr>
            <a:r>
              <a:rPr lang="en-US" sz="1150" dirty="0">
                <a:solidFill>
                  <a:schemeClr val="accent4"/>
                </a:solidFill>
              </a:rPr>
              <a:t>los gases que salen arrastran por inercia los residuos del cilindro y ayudan a entrar a la carga fresca: es el barrido</a:t>
            </a:r>
            <a:endParaRPr lang="en-US" sz="1150" dirty="0"/>
          </a:p>
        </p:txBody>
      </p:sp>
      <p:sp>
        <p:nvSpPr>
          <p:cNvPr id="13" name="Shape 11"/>
          <p:cNvSpPr/>
          <p:nvPr/>
        </p:nvSpPr>
        <p:spPr>
          <a:xfrm>
            <a:off x="6309360" y="2926080"/>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30936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839712" y="2889504"/>
            <a:ext cx="4773168" cy="6583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Cruce amplio. </a:t>
            </a:r>
            <a:pPr indent="0" marL="0">
              <a:lnSpc>
                <a:spcPct val="106000"/>
              </a:lnSpc>
              <a:buNone/>
            </a:pPr>
            <a:r>
              <a:rPr lang="en-US" sz="1150" dirty="0">
                <a:solidFill>
                  <a:schemeClr val="accent4"/>
                </a:solidFill>
              </a:rPr>
              <a:t>mejora el llenado a alto régimen, pero a bajo régimen deja escapar mezcla fresca y entrar gases quemados: ralentí irregular</a:t>
            </a:r>
            <a:endParaRPr lang="en-US" sz="1150" dirty="0"/>
          </a:p>
        </p:txBody>
      </p:sp>
      <p:sp>
        <p:nvSpPr>
          <p:cNvPr id="16" name="Shape 14"/>
          <p:cNvSpPr/>
          <p:nvPr/>
        </p:nvSpPr>
        <p:spPr>
          <a:xfrm>
            <a:off x="6309360" y="3639312"/>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6309360" y="3639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txBox="1"/>
          <p:nvPr/>
        </p:nvSpPr>
        <p:spPr>
          <a:xfrm>
            <a:off x="6839712" y="3602736"/>
            <a:ext cx="4773168" cy="6583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Cruce reducido. </a:t>
            </a:r>
            <a:pPr indent="0" marL="0">
              <a:lnSpc>
                <a:spcPct val="106000"/>
              </a:lnSpc>
              <a:buNone/>
            </a:pPr>
            <a:r>
              <a:rPr lang="en-US" sz="1150" dirty="0">
                <a:solidFill>
                  <a:schemeClr val="accent4"/>
                </a:solidFill>
              </a:rPr>
              <a:t>da buen ralentí y buen par abajo, pero limita el llenado arriba</a:t>
            </a:r>
            <a:endParaRPr lang="en-US" sz="1150" dirty="0"/>
          </a:p>
        </p:txBody>
      </p:sp>
      <p:sp>
        <p:nvSpPr>
          <p:cNvPr id="19" name="Shape 17"/>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20" name="Shape 18"/>
          <p:cNvSpPr/>
          <p:nvPr/>
        </p:nvSpPr>
        <p:spPr>
          <a:xfrm>
            <a:off x="786384" y="4434840"/>
            <a:ext cx="365760" cy="365760"/>
          </a:xfrm>
          <a:prstGeom prst="ellipse">
            <a:avLst/>
          </a:prstGeom>
          <a:solidFill>
            <a:schemeClr val="accent2"/>
          </a:solidFill>
          <a:ln w="12700">
            <a:solidFill>
              <a:schemeClr val="accent2"/>
            </a:solidFill>
            <a:prstDash val="solid"/>
          </a:ln>
        </p:spPr>
        <p:txBody>
          <a:bodyPr/>
          <a:p/>
        </p:txBody>
      </p:sp>
      <p:sp>
        <p:nvSpPr>
          <p:cNvPr id="21" name="Text 19"/>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20"/>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cruce explica el sonido característico de un motor deportivo: su ralentí suena irregular porque el cruce amplio que le da potencia arriba hace que, a bajo régimen, parte de la carga se pierda y parte de los gases vuelva. No es un defecto, es el precio de su diseño.</a:t>
            </a:r>
            <a:endParaRPr lang="en-US" sz="14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5120640"/>
          <a:ext cx="11064240" cy="914400"/>
        </p:xfrm>
        <a:graphic>
          <a:graphicData uri="http://schemas.openxmlformats.org/drawingml/2006/table">
            <a:tbl>
              <a:tblPr/>
              <a:tblGrid>
                <a:gridCol w="3108960"/>
                <a:gridCol w="3931920"/>
                <a:gridCol w="4023360"/>
              </a:tblGrid>
              <a:tr h="347472">
                <a:tc>
                  <a:txBody>
                    <a:bodyPr/>
                    <a:lstStyle/>
                    <a:p>
                      <a:pPr indent="0" marL="0">
                        <a:buNone/>
                      </a:pPr>
                      <a:r>
                        <a:rPr lang="en-US" sz="1300" b="1" dirty="0">
                          <a:solidFill>
                            <a:srgbClr val="FFFFFF"/>
                          </a:solidFill>
                        </a:rPr>
                        <a:t>Tipo de motor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Cruce típico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Comportamiento que produce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47472">
                <a:tc>
                  <a:txBody>
                    <a:bodyPr/>
                    <a:lstStyle/>
                    <a:p>
                      <a:pPr indent="0" marL="0">
                        <a:buNone/>
                      </a:pPr>
                      <a:r>
                        <a:rPr lang="en-US" sz="1150" b="1" dirty="0">
                          <a:solidFill>
                            <a:schemeClr val="tx1"/>
                          </a:solidFill>
                        </a:rPr>
                        <a:t>Motor de uso general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Moderado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Ralentí estable y par disponible en todo el rango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chemeClr val="tx1"/>
                          </a:solidFill>
                        </a:rPr>
                        <a:t>Motor de altas prestaciones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Amplio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Ralentí irregular, poco par abajo, gran llenado arriba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Las arquitecturas de distribución</a:t>
            </a:r>
            <a:endParaRPr lang="en-US" sz="3200" dirty="0"/>
          </a:p>
        </p:txBody>
      </p:sp>
      <p:sp>
        <p:nvSpPr>
          <p:cNvPr id="3" name="marco_figura"/>
          <p:cNvSpPr/>
          <p:nvPr/>
        </p:nvSpPr>
        <p:spPr>
          <a:xfrm>
            <a:off x="548640" y="1371600"/>
            <a:ext cx="576072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tipos_comparacion.jpg">    </p:cNvPr>
          <p:cNvPicPr>
            <a:picLocks noChangeAspect="1"/>
          </p:cNvPicPr>
          <p:nvPr/>
        </p:nvPicPr>
        <p:blipFill>
          <a:blip r:embed="rId1"/>
          <a:srcRect l="0" r="0" t="0" b="0"/>
          <a:stretch/>
        </p:blipFill>
        <p:spPr>
          <a:xfrm>
            <a:off x="658368" y="1481328"/>
            <a:ext cx="5541264" cy="2249424"/>
          </a:xfrm>
          <a:prstGeom prst="rect">
            <a:avLst/>
          </a:prstGeom>
        </p:spPr>
      </p:pic>
      <p:sp>
        <p:nvSpPr>
          <p:cNvPr id="5" name="Text 2"/>
          <p:cNvSpPr txBox="1"/>
          <p:nvPr/>
        </p:nvSpPr>
        <p:spPr>
          <a:xfrm>
            <a:off x="658368" y="3840480"/>
            <a:ext cx="5541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 </a:t>
            </a:r>
            <a:pPr indent="0" marL="0">
              <a:lnSpc>
                <a:spcPct val="102000"/>
              </a:lnSpc>
              <a:buNone/>
            </a:pPr>
            <a:r>
              <a:rPr lang="en-US" sz="1000" dirty="0">
                <a:solidFill>
                  <a:schemeClr val="accent4"/>
                </a:solidFill>
              </a:rPr>
              <a:t>Posición del árbol de levas y de las válvulas en los sistemas SV, OHV y OHC. Adaptado de Fernández, J. (s. f.). La distribución [diapositivas]. ISTS.</a:t>
            </a:r>
            <a:endParaRPr lang="en-US" sz="1000" dirty="0"/>
          </a:p>
        </p:txBody>
      </p:sp>
      <p:sp>
        <p:nvSpPr>
          <p:cNvPr id="6" name="Shape 3"/>
          <p:cNvSpPr/>
          <p:nvPr/>
        </p:nvSpPr>
        <p:spPr>
          <a:xfrm>
            <a:off x="667512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6751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205472" y="1463040"/>
            <a:ext cx="4407408" cy="658368"/>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SV — válvulas laterales. </a:t>
            </a:r>
            <a:pPr indent="0" marL="0">
              <a:lnSpc>
                <a:spcPct val="106000"/>
              </a:lnSpc>
              <a:buNone/>
            </a:pPr>
            <a:r>
              <a:rPr lang="en-US" sz="1100" dirty="0">
                <a:solidFill>
                  <a:schemeClr val="accent4"/>
                </a:solidFill>
              </a:rPr>
              <a:t>árbol y válvulas en el bloque; cámara ancha y poco compacta, relación de compresión baja; obsoleto</a:t>
            </a:r>
            <a:endParaRPr lang="en-US" sz="1100" dirty="0"/>
          </a:p>
        </p:txBody>
      </p:sp>
      <p:sp>
        <p:nvSpPr>
          <p:cNvPr id="9" name="Shape 6"/>
          <p:cNvSpPr/>
          <p:nvPr/>
        </p:nvSpPr>
        <p:spPr>
          <a:xfrm>
            <a:off x="6675120" y="2212848"/>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675120" y="2212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205472" y="2176272"/>
            <a:ext cx="4407408" cy="658368"/>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OHV — válvulas en culata. </a:t>
            </a:r>
            <a:pPr indent="0" marL="0">
              <a:lnSpc>
                <a:spcPct val="106000"/>
              </a:lnSpc>
              <a:buNone/>
            </a:pPr>
            <a:r>
              <a:rPr lang="en-US" sz="1100" dirty="0">
                <a:solidFill>
                  <a:schemeClr val="accent4"/>
                </a:solidFill>
              </a:rPr>
              <a:t>árbol en el bloque, válvulas arriba; aparecen varillas y balancines, con muchos elementos en movimiento</a:t>
            </a:r>
            <a:endParaRPr lang="en-US" sz="1100" dirty="0"/>
          </a:p>
        </p:txBody>
      </p:sp>
      <p:sp>
        <p:nvSpPr>
          <p:cNvPr id="12" name="Shape 9"/>
          <p:cNvSpPr/>
          <p:nvPr/>
        </p:nvSpPr>
        <p:spPr>
          <a:xfrm>
            <a:off x="6675120" y="2926080"/>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67512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205472" y="2889504"/>
            <a:ext cx="4407408" cy="658368"/>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OHC — árbol en culata. </a:t>
            </a:r>
            <a:pPr indent="0" marL="0">
              <a:lnSpc>
                <a:spcPct val="106000"/>
              </a:lnSpc>
              <a:buNone/>
            </a:pPr>
            <a:r>
              <a:rPr lang="en-US" sz="1100" dirty="0">
                <a:solidFill>
                  <a:schemeClr val="accent4"/>
                </a:solidFill>
              </a:rPr>
              <a:t>el árbol sube a la culata y desaparecen las varillas: menos masa en movimiento y mejor comportamiento a alto régimen</a:t>
            </a:r>
            <a:endParaRPr lang="en-US" sz="1100" dirty="0"/>
          </a:p>
        </p:txBody>
      </p:sp>
      <p:sp>
        <p:nvSpPr>
          <p:cNvPr id="15" name="Shape 12"/>
          <p:cNvSpPr/>
          <p:nvPr/>
        </p:nvSpPr>
        <p:spPr>
          <a:xfrm>
            <a:off x="6675120" y="3639312"/>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675120" y="3639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7205472" y="3602736"/>
            <a:ext cx="4407408" cy="658368"/>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SOHC y DOHC. </a:t>
            </a:r>
            <a:pPr indent="0" marL="0">
              <a:lnSpc>
                <a:spcPct val="106000"/>
              </a:lnSpc>
              <a:buNone/>
            </a:pPr>
            <a:r>
              <a:rPr lang="en-US" sz="1100" dirty="0">
                <a:solidFill>
                  <a:schemeClr val="accent4"/>
                </a:solidFill>
              </a:rPr>
              <a:t>un solo árbol que acciona ambas válvulas, o dos árboles independientes para admisión y escape</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64240" cy="914400"/>
        </p:xfrm>
        <a:graphic>
          <a:graphicData uri="http://schemas.openxmlformats.org/drawingml/2006/table">
            <a:tbl>
              <a:tblPr/>
              <a:tblGrid>
                <a:gridCol w="1737360"/>
                <a:gridCol w="3017520"/>
                <a:gridCol w="3108960"/>
                <a:gridCol w="3200400"/>
              </a:tblGrid>
              <a:tr h="384048">
                <a:tc>
                  <a:txBody>
                    <a:bodyPr/>
                    <a:lstStyle/>
                    <a:p>
                      <a:pPr indent="0" marL="0">
                        <a:buNone/>
                      </a:pPr>
                      <a:r>
                        <a:rPr lang="en-US" sz="1300" b="1" dirty="0">
                          <a:solidFill>
                            <a:srgbClr val="FFFFFF"/>
                          </a:solidFill>
                        </a:rPr>
                        <a:t>Sistema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Dónde está el árbol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Ventaja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Inconveniente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00" b="1" dirty="0">
                          <a:solidFill>
                            <a:schemeClr val="tx1"/>
                          </a:solidFill>
                        </a:rPr>
                        <a:t>SV</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En el bloque, junto a las válvulas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Transmisión muy sencilla y sin mantenimiento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Cámara poco compacta: limita la compresión y el rendimiento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OHV</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En el bloque; válvulas en la culata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Transmisión corta y duradera; motor compacto en altura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Muchos elementos móviles: inercia, ruido y flotación a alto régimen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OHC / SOHC</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En la culata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Pocos elementos entre leva y válvula; buen régimen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La transmisión hasta la culata es larga y necesita mantenimiento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DOHC</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Dos en la culata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Control independiente de admisión y escape; 4 válvulas por cilindro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Mayor costo, más peso en la culata y transmisión más compleja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9" name="Text 1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sistema OHV por dentro</a:t>
            </a:r>
            <a:endParaRPr lang="en-US" sz="3200" dirty="0"/>
          </a:p>
        </p:txBody>
      </p:sp>
      <p:sp>
        <p:nvSpPr>
          <p:cNvPr id="3" name="marco_figura"/>
          <p:cNvSpPr/>
          <p:nvPr/>
        </p:nvSpPr>
        <p:spPr>
          <a:xfrm>
            <a:off x="548640" y="1371600"/>
            <a:ext cx="5394960" cy="3218688"/>
          </a:xfrm>
          <a:prstGeom prst="roundRect">
            <a:avLst>
              <a:gd name="adj" fmla="val 1705"/>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ohv_esquema.jpg">    </p:cNvPr>
          <p:cNvPicPr>
            <a:picLocks noChangeAspect="1"/>
          </p:cNvPicPr>
          <p:nvPr/>
        </p:nvPicPr>
        <p:blipFill>
          <a:blip r:embed="rId1"/>
          <a:srcRect l="0" r="0" t="0" b="0"/>
          <a:stretch/>
        </p:blipFill>
        <p:spPr>
          <a:xfrm>
            <a:off x="658368" y="1481328"/>
            <a:ext cx="5175504" cy="2615184"/>
          </a:xfrm>
          <a:prstGeom prst="rect">
            <a:avLst/>
          </a:prstGeom>
        </p:spPr>
      </p:pic>
      <p:sp>
        <p:nvSpPr>
          <p:cNvPr id="5" name="Text 2"/>
          <p:cNvSpPr txBox="1"/>
          <p:nvPr/>
        </p:nvSpPr>
        <p:spPr>
          <a:xfrm>
            <a:off x="658368" y="4206240"/>
            <a:ext cx="51755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 </a:t>
            </a:r>
            <a:pPr indent="0" marL="0">
              <a:lnSpc>
                <a:spcPct val="102000"/>
              </a:lnSpc>
              <a:buNone/>
            </a:pPr>
            <a:r>
              <a:rPr lang="en-US" sz="1000" dirty="0">
                <a:solidFill>
                  <a:schemeClr val="accent4"/>
                </a:solidFill>
              </a:rPr>
              <a:t>Sistema de distribución OHV: árbol de levas en el bloque, varilla empujadora y balancín. Adaptado de Minga González, M. A. (s. f.). Sistemas auxiliares del motor [diapositivas]. ISTS.</a:t>
            </a:r>
            <a:endParaRPr lang="en-US" sz="1000" dirty="0"/>
          </a:p>
        </p:txBody>
      </p:sp>
      <p:sp>
        <p:nvSpPr>
          <p:cNvPr id="6" name="marco_figura"/>
          <p:cNvSpPr/>
          <p:nvPr/>
        </p:nvSpPr>
        <p:spPr>
          <a:xfrm>
            <a:off x="6217920" y="1371600"/>
            <a:ext cx="5394960" cy="3218688"/>
          </a:xfrm>
          <a:prstGeom prst="roundRect">
            <a:avLst>
              <a:gd name="adj" fmla="val 1705"/>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d_ohv.jpg">    </p:cNvPr>
          <p:cNvPicPr>
            <a:picLocks noChangeAspect="1"/>
          </p:cNvPicPr>
          <p:nvPr/>
        </p:nvPicPr>
        <p:blipFill>
          <a:blip r:embed="rId2"/>
          <a:srcRect l="0" r="0" t="0" b="0"/>
          <a:stretch/>
        </p:blipFill>
        <p:spPr>
          <a:xfrm>
            <a:off x="6327648" y="1481328"/>
            <a:ext cx="5175504" cy="2615184"/>
          </a:xfrm>
          <a:prstGeom prst="rect">
            <a:avLst/>
          </a:prstGeom>
        </p:spPr>
      </p:pic>
      <p:sp>
        <p:nvSpPr>
          <p:cNvPr id="8" name="Text 4"/>
          <p:cNvSpPr txBox="1"/>
          <p:nvPr/>
        </p:nvSpPr>
        <p:spPr>
          <a:xfrm>
            <a:off x="6327648" y="4206240"/>
            <a:ext cx="51755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 </a:t>
            </a:r>
            <a:pPr indent="0" marL="0">
              <a:lnSpc>
                <a:spcPct val="102000"/>
              </a:lnSpc>
              <a:buNone/>
            </a:pPr>
            <a:r>
              <a:rPr lang="en-US" sz="1000" dirty="0">
                <a:solidFill>
                  <a:schemeClr val="accent4"/>
                </a:solidFill>
              </a:rPr>
              <a:t>Cadena de mando y tren de válvulas de un motor OHV. Adaptado de Fernández, J. (s. f.). La distribución [diapositivas]. ISTS.</a:t>
            </a:r>
            <a:endParaRPr lang="en-US" sz="1000" dirty="0"/>
          </a:p>
        </p:txBody>
      </p:sp>
      <p:sp>
        <p:nvSpPr>
          <p:cNvPr id="9" name="Shape 5"/>
          <p:cNvSpPr/>
          <p:nvPr/>
        </p:nvSpPr>
        <p:spPr>
          <a:xfrm>
            <a:off x="548640" y="460857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548640" y="4608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1078992" y="4572000"/>
            <a:ext cx="10533888" cy="2834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recorrido del movimiento. </a:t>
            </a:r>
            <a:pPr indent="0" marL="0">
              <a:lnSpc>
                <a:spcPct val="106000"/>
              </a:lnSpc>
              <a:buNone/>
            </a:pPr>
            <a:r>
              <a:rPr lang="en-US" sz="1150" dirty="0">
                <a:solidFill>
                  <a:schemeClr val="accent4"/>
                </a:solidFill>
              </a:rPr>
              <a:t>leva → taqué → varilla empujadora → balancín → válvula; cada eslabón añade masa y holgura</a:t>
            </a:r>
            <a:endParaRPr lang="en-US" sz="1150" dirty="0"/>
          </a:p>
        </p:txBody>
      </p:sp>
      <p:sp>
        <p:nvSpPr>
          <p:cNvPr id="12" name="Shape 8"/>
          <p:cNvSpPr/>
          <p:nvPr/>
        </p:nvSpPr>
        <p:spPr>
          <a:xfrm>
            <a:off x="548640" y="4946904"/>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548640" y="4946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1078992" y="4910328"/>
            <a:ext cx="10533888" cy="2834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Su gran ventaja. </a:t>
            </a:r>
            <a:pPr indent="0" marL="0">
              <a:lnSpc>
                <a:spcPct val="106000"/>
              </a:lnSpc>
              <a:buNone/>
            </a:pPr>
            <a:r>
              <a:rPr lang="en-US" sz="1150" dirty="0">
                <a:solidFill>
                  <a:schemeClr val="accent4"/>
                </a:solidFill>
              </a:rPr>
              <a:t>la distancia entre cigüeñal y árbol de levas es corta, de modo que la transmisión es por piñones o cadena corta: muy duradera y prácticamente sin mantenimiento</a:t>
            </a:r>
            <a:endParaRPr lang="en-US" sz="1150" dirty="0"/>
          </a:p>
        </p:txBody>
      </p:sp>
      <p:sp>
        <p:nvSpPr>
          <p:cNvPr id="15" name="Shape 11"/>
          <p:cNvSpPr/>
          <p:nvPr/>
        </p:nvSpPr>
        <p:spPr>
          <a:xfrm>
            <a:off x="548640" y="5285232"/>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548640" y="5285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1078992" y="5248656"/>
            <a:ext cx="10533888" cy="2834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Su inconveniente. </a:t>
            </a:r>
            <a:pPr indent="0" marL="0">
              <a:lnSpc>
                <a:spcPct val="106000"/>
              </a:lnSpc>
              <a:buNone/>
            </a:pPr>
            <a:r>
              <a:rPr lang="en-US" sz="1150" dirty="0">
                <a:solidFill>
                  <a:schemeClr val="accent4"/>
                </a:solidFill>
              </a:rPr>
              <a:t>la masa de varillas y balancines produce inercia, ruido y flotación de válvulas a alto régimen; además hay más puntos de desgaste</a:t>
            </a:r>
            <a:endParaRPr lang="en-US" sz="1150" dirty="0"/>
          </a:p>
        </p:txBody>
      </p:sp>
      <p:sp>
        <p:nvSpPr>
          <p:cNvPr id="18" name="Shape 14"/>
          <p:cNvSpPr/>
          <p:nvPr/>
        </p:nvSpPr>
        <p:spPr>
          <a:xfrm>
            <a:off x="548640" y="5623560"/>
            <a:ext cx="384048" cy="384048"/>
          </a:xfrm>
          <a:prstGeom prst="ellipse">
            <a:avLst/>
          </a:prstGeom>
          <a:solidFill>
            <a:schemeClr val="accent2"/>
          </a:solidFill>
          <a:ln w="12700">
            <a:solidFill>
              <a:schemeClr val="accent2"/>
            </a:solidFill>
            <a:prstDash val="solid"/>
          </a:ln>
        </p:spPr>
        <p:txBody>
          <a:bodyPr/>
          <a:p/>
        </p:txBody>
      </p:sp>
      <p:sp>
        <p:nvSpPr>
          <p:cNvPr id="19" name="Text 15"/>
          <p:cNvSpPr txBox="1"/>
          <p:nvPr/>
        </p:nvSpPr>
        <p:spPr>
          <a:xfrm>
            <a:off x="548640" y="5623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6"/>
          <p:cNvSpPr txBox="1"/>
          <p:nvPr/>
        </p:nvSpPr>
        <p:spPr>
          <a:xfrm>
            <a:off x="1078992" y="5586984"/>
            <a:ext cx="10533888" cy="2834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Dónde sobrevive. </a:t>
            </a:r>
            <a:pPr indent="0" marL="0">
              <a:lnSpc>
                <a:spcPct val="106000"/>
              </a:lnSpc>
              <a:buNone/>
            </a:pPr>
            <a:r>
              <a:rPr lang="en-US" sz="1150" dirty="0">
                <a:solidFill>
                  <a:schemeClr val="accent4"/>
                </a:solidFill>
              </a:rPr>
              <a:t>motores de gran cilindrada y bajo régimen, donde la limitación de régimen no importa y la durabilidad sí</a:t>
            </a:r>
            <a:endParaRPr lang="en-US" sz="1150" dirty="0"/>
          </a:p>
        </p:txBody>
      </p:sp>
      <p:sp>
        <p:nvSpPr>
          <p:cNvPr id="21" name="Text 17"/>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OHC, SOHC y DOHC: el árbol sube a la culata</a:t>
            </a:r>
            <a:endParaRPr lang="en-US" sz="3200" dirty="0"/>
          </a:p>
        </p:txBody>
      </p:sp>
      <p:sp>
        <p:nvSpPr>
          <p:cNvPr id="3" name="marco_figura"/>
          <p:cNvSpPr/>
          <p:nvPr/>
        </p:nvSpPr>
        <p:spPr>
          <a:xfrm>
            <a:off x="548640" y="1371600"/>
            <a:ext cx="3657600" cy="2761488"/>
          </a:xfrm>
          <a:prstGeom prst="roundRect">
            <a:avLst>
              <a:gd name="adj" fmla="val 198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ohc.jpg">    </p:cNvPr>
          <p:cNvPicPr>
            <a:picLocks noChangeAspect="1"/>
          </p:cNvPicPr>
          <p:nvPr/>
        </p:nvPicPr>
        <p:blipFill>
          <a:blip r:embed="rId1"/>
          <a:srcRect l="0" r="0" t="0" b="0"/>
          <a:stretch/>
        </p:blipFill>
        <p:spPr>
          <a:xfrm>
            <a:off x="658368" y="1481328"/>
            <a:ext cx="3438144" cy="2157984"/>
          </a:xfrm>
          <a:prstGeom prst="rect">
            <a:avLst/>
          </a:prstGeom>
        </p:spPr>
      </p:pic>
      <p:sp>
        <p:nvSpPr>
          <p:cNvPr id="5" name="Text 2"/>
          <p:cNvSpPr txBox="1"/>
          <p:nvPr/>
        </p:nvSpPr>
        <p:spPr>
          <a:xfrm>
            <a:off x="658368" y="374904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8. </a:t>
            </a:r>
            <a:pPr indent="0" marL="0">
              <a:lnSpc>
                <a:spcPct val="102000"/>
              </a:lnSpc>
              <a:buNone/>
            </a:pPr>
            <a:r>
              <a:rPr lang="en-US" sz="1000" dirty="0">
                <a:solidFill>
                  <a:schemeClr val="accent4"/>
                </a:solidFill>
              </a:rPr>
              <a:t>Distribución OHC accionada por correa dentada. Adaptado de Fernández, J. (s. f.). La distribución [diapositivas]. ISTS.</a:t>
            </a:r>
            <a:endParaRPr lang="en-US" sz="1000" dirty="0"/>
          </a:p>
        </p:txBody>
      </p:sp>
      <p:sp>
        <p:nvSpPr>
          <p:cNvPr id="6" name="marco_figura"/>
          <p:cNvSpPr/>
          <p:nvPr/>
        </p:nvSpPr>
        <p:spPr>
          <a:xfrm>
            <a:off x="4480560" y="1371600"/>
            <a:ext cx="3474720" cy="2761488"/>
          </a:xfrm>
          <a:prstGeom prst="roundRect">
            <a:avLst>
              <a:gd name="adj" fmla="val 1987"/>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u_sohc.jpg">    </p:cNvPr>
          <p:cNvPicPr>
            <a:picLocks noChangeAspect="1"/>
          </p:cNvPicPr>
          <p:nvPr/>
        </p:nvPicPr>
        <p:blipFill>
          <a:blip r:embed="rId2"/>
          <a:srcRect l="0" r="0" t="0" b="0"/>
          <a:stretch/>
        </p:blipFill>
        <p:spPr>
          <a:xfrm>
            <a:off x="4590288" y="1481328"/>
            <a:ext cx="3255264" cy="2157984"/>
          </a:xfrm>
          <a:prstGeom prst="rect">
            <a:avLst/>
          </a:prstGeom>
        </p:spPr>
      </p:pic>
      <p:sp>
        <p:nvSpPr>
          <p:cNvPr id="8" name="Text 4"/>
          <p:cNvSpPr txBox="1"/>
          <p:nvPr/>
        </p:nvSpPr>
        <p:spPr>
          <a:xfrm>
            <a:off x="4590288" y="374904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9. </a:t>
            </a:r>
            <a:pPr indent="0" marL="0">
              <a:lnSpc>
                <a:spcPct val="102000"/>
              </a:lnSpc>
              <a:buNone/>
            </a:pPr>
            <a:r>
              <a:rPr lang="en-US" sz="1000" dirty="0">
                <a:solidFill>
                  <a:schemeClr val="accent4"/>
                </a:solidFill>
              </a:rPr>
              <a:t>Sistema SOHC: un solo árbol acciona admisión y escape. Adaptado de Minga González, M. A. (s. f.). Sistemas auxiliares del motor [diapositivas]. ISTS.</a:t>
            </a:r>
            <a:endParaRPr lang="en-US" sz="1000" dirty="0"/>
          </a:p>
        </p:txBody>
      </p:sp>
      <p:sp>
        <p:nvSpPr>
          <p:cNvPr id="9" name="marco_figura"/>
          <p:cNvSpPr/>
          <p:nvPr/>
        </p:nvSpPr>
        <p:spPr>
          <a:xfrm>
            <a:off x="8229600" y="1371600"/>
            <a:ext cx="3383280" cy="2761488"/>
          </a:xfrm>
          <a:prstGeom prst="roundRect">
            <a:avLst>
              <a:gd name="adj" fmla="val 1987"/>
            </a:avLst>
          </a:prstGeom>
          <a:solidFill>
            <a:schemeClr val="bg2"/>
          </a:solidFill>
          <a:ln w="12700">
            <a:solidFill>
              <a:schemeClr val="bg2"/>
            </a:solidFill>
            <a:prstDash val="solid"/>
          </a:ln>
        </p:spPr>
        <p:txBody>
          <a:bodyPr/>
          <a:p/>
        </p:txBody>
      </p:sp>
      <p:pic>
        <p:nvPicPr>
          <p:cNvPr id="10" name="figura" descr="/tmp/claude-0/-home-claude/ae7ea666-008e-5687-a756-06b9100bd0c6/scratchpad/sfm/u3/media/d_dohc.jpg">    </p:cNvPr>
          <p:cNvPicPr>
            <a:picLocks noChangeAspect="1"/>
          </p:cNvPicPr>
          <p:nvPr/>
        </p:nvPicPr>
        <p:blipFill>
          <a:blip r:embed="rId3"/>
          <a:srcRect l="0" r="0" t="0" b="0"/>
          <a:stretch/>
        </p:blipFill>
        <p:spPr>
          <a:xfrm>
            <a:off x="8339328" y="1481328"/>
            <a:ext cx="3163824" cy="2157984"/>
          </a:xfrm>
          <a:prstGeom prst="rect">
            <a:avLst/>
          </a:prstGeom>
        </p:spPr>
      </p:pic>
      <p:sp>
        <p:nvSpPr>
          <p:cNvPr id="11" name="Text 6"/>
          <p:cNvSpPr txBox="1"/>
          <p:nvPr/>
        </p:nvSpPr>
        <p:spPr>
          <a:xfrm>
            <a:off x="8339328" y="374904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10. </a:t>
            </a:r>
            <a:pPr indent="0" marL="0">
              <a:lnSpc>
                <a:spcPct val="102000"/>
              </a:lnSpc>
              <a:buNone/>
            </a:pPr>
            <a:r>
              <a:rPr lang="en-US" sz="1000" dirty="0">
                <a:solidFill>
                  <a:schemeClr val="accent4"/>
                </a:solidFill>
              </a:rPr>
              <a:t>Culata DOHC con dos árboles de levas. Adaptado de Fernández, J. (s. f.). La distribución [diapositivas]. ISTS.</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11064240" cy="914400"/>
        </p:xfrm>
        <a:graphic>
          <a:graphicData uri="http://schemas.openxmlformats.org/drawingml/2006/table">
            <a:tbl>
              <a:tblPr/>
              <a:tblGrid>
                <a:gridCol w="2377440"/>
                <a:gridCol w="2926080"/>
                <a:gridCol w="2926080"/>
                <a:gridCol w="2834640"/>
              </a:tblGrid>
              <a:tr h="402336">
                <a:tc>
                  <a:txBody>
                    <a:bodyPr/>
                    <a:lstStyle/>
                    <a:p>
                      <a:pPr indent="0" marL="0">
                        <a:buNone/>
                      </a:pPr>
                      <a:r>
                        <a:rPr lang="en-US" sz="1300" b="1" dirty="0">
                          <a:solidFill>
                            <a:srgbClr val="FFFFFF"/>
                          </a:solidFill>
                        </a:rPr>
                        <a:t>Variante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Accionamiento de la válvula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Ventaja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exige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00" b="1" dirty="0">
                          <a:solidFill>
                            <a:schemeClr val="tx1"/>
                          </a:solidFill>
                        </a:rPr>
                        <a:t>OHC con balancín de palanca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La leva empuja un balancín que abre la válvula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Permite reglaje sencillo de la holgura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Reglaje periódico y control del desgaste del balancín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OHC con empujador de vaso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La leva empuja directamente un vaso invertido sobre la válvula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Mínima masa en movimiento; muy alto régimen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El reglaje se hace cambiando pastillas calibradas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SOHC</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Un árbol acciona las válvulas de admisión y de escape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Solución económica y compacta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Compromiso en los ángulos: no se pueden optimizar por separado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DOHC</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Dos árboles independientes, uno por fila de válvulas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Permite 4 válvulas por cilindro y bujía centrada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Transmisión más compleja y mayor costo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3" name="Shape 7"/>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14" name="Shape 8"/>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15" name="Text 9"/>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6" name="Text 10"/>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El DOHC con cuatro válvulas por cilindro es hoy la arquitectura dominante por dos razones: dos válvulas pequeñas dejan pasar más caudal que una grande del mismo espacio, y dejan sitio para colocar la bujía en el centro de la cámara, que es donde conviene.</a:t>
            </a:r>
            <a:endParaRPr lang="en-US" sz="1200" dirty="0"/>
          </a:p>
        </p:txBody>
      </p:sp>
      <p:sp>
        <p:nvSpPr>
          <p:cNvPr id="17"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mando de la distribución: piñones y cadena</a:t>
            </a:r>
            <a:endParaRPr lang="en-US" sz="3200" dirty="0"/>
          </a:p>
        </p:txBody>
      </p:sp>
      <p:sp>
        <p:nvSpPr>
          <p:cNvPr id="3" name="marco_figura"/>
          <p:cNvSpPr/>
          <p:nvPr/>
        </p:nvSpPr>
        <p:spPr>
          <a:xfrm>
            <a:off x="548640" y="1371600"/>
            <a:ext cx="365760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piniones2.jpg">    </p:cNvPr>
          <p:cNvPicPr>
            <a:picLocks noChangeAspect="1"/>
          </p:cNvPicPr>
          <p:nvPr/>
        </p:nvPicPr>
        <p:blipFill>
          <a:blip r:embed="rId1"/>
          <a:srcRect l="0" r="0" t="0" b="0"/>
          <a:stretch/>
        </p:blipFill>
        <p:spPr>
          <a:xfrm>
            <a:off x="658368" y="1481328"/>
            <a:ext cx="3438144" cy="2249424"/>
          </a:xfrm>
          <a:prstGeom prst="rect">
            <a:avLst/>
          </a:prstGeom>
        </p:spPr>
      </p:pic>
      <p:sp>
        <p:nvSpPr>
          <p:cNvPr id="5" name="Text 2"/>
          <p:cNvSpPr txBox="1"/>
          <p:nvPr/>
        </p:nvSpPr>
        <p:spPr>
          <a:xfrm>
            <a:off x="658368" y="384048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11. </a:t>
            </a:r>
            <a:pPr indent="0" marL="0">
              <a:lnSpc>
                <a:spcPct val="102000"/>
              </a:lnSpc>
              <a:buNone/>
            </a:pPr>
            <a:r>
              <a:rPr lang="en-US" sz="1000" dirty="0">
                <a:solidFill>
                  <a:schemeClr val="accent4"/>
                </a:solidFill>
              </a:rPr>
              <a:t>Mando por engranajes: usado cuando la distancia entre cigüeñal y árbol de levas es corta. Adaptado de Fernández, J. (s. f.). La distribución [diapositivas]. ISTS.</a:t>
            </a:r>
            <a:endParaRPr lang="en-US" sz="1000" dirty="0"/>
          </a:p>
        </p:txBody>
      </p:sp>
      <p:sp>
        <p:nvSpPr>
          <p:cNvPr id="6" name="marco_figura"/>
          <p:cNvSpPr/>
          <p:nvPr/>
        </p:nvSpPr>
        <p:spPr>
          <a:xfrm>
            <a:off x="4480560" y="1371600"/>
            <a:ext cx="3474720" cy="2852928"/>
          </a:xfrm>
          <a:prstGeom prst="roundRect">
            <a:avLst>
              <a:gd name="adj" fmla="val 1923"/>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u_cadena_esquema.jpg">    </p:cNvPr>
          <p:cNvPicPr>
            <a:picLocks noChangeAspect="1"/>
          </p:cNvPicPr>
          <p:nvPr/>
        </p:nvPicPr>
        <p:blipFill>
          <a:blip r:embed="rId2"/>
          <a:srcRect l="0" r="0" t="0" b="0"/>
          <a:stretch/>
        </p:blipFill>
        <p:spPr>
          <a:xfrm>
            <a:off x="4590288" y="1481328"/>
            <a:ext cx="3255264" cy="2249424"/>
          </a:xfrm>
          <a:prstGeom prst="rect">
            <a:avLst/>
          </a:prstGeom>
        </p:spPr>
      </p:pic>
      <p:sp>
        <p:nvSpPr>
          <p:cNvPr id="8" name="Text 4"/>
          <p:cNvSpPr txBox="1"/>
          <p:nvPr/>
        </p:nvSpPr>
        <p:spPr>
          <a:xfrm>
            <a:off x="4590288" y="384048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12. </a:t>
            </a:r>
            <a:pPr indent="0" marL="0">
              <a:lnSpc>
                <a:spcPct val="102000"/>
              </a:lnSpc>
              <a:buNone/>
            </a:pPr>
            <a:r>
              <a:rPr lang="en-US" sz="1000" dirty="0">
                <a:solidFill>
                  <a:schemeClr val="accent4"/>
                </a:solidFill>
              </a:rPr>
              <a:t>Mando por cadena con tensor y patines guía. Adaptado de Minga González, M. A. (s. f.). Sistemas auxiliares del motor [diapositivas]. ISTS.</a:t>
            </a:r>
            <a:endParaRPr lang="en-US" sz="1000" dirty="0"/>
          </a:p>
        </p:txBody>
      </p:sp>
      <p:sp>
        <p:nvSpPr>
          <p:cNvPr id="9" name="marco_figura"/>
          <p:cNvSpPr/>
          <p:nvPr/>
        </p:nvSpPr>
        <p:spPr>
          <a:xfrm>
            <a:off x="8229600" y="1371600"/>
            <a:ext cx="3383280" cy="2852928"/>
          </a:xfrm>
          <a:prstGeom prst="roundRect">
            <a:avLst>
              <a:gd name="adj" fmla="val 1923"/>
            </a:avLst>
          </a:prstGeom>
          <a:solidFill>
            <a:schemeClr val="bg2"/>
          </a:solidFill>
          <a:ln w="12700">
            <a:solidFill>
              <a:schemeClr val="bg2"/>
            </a:solidFill>
            <a:prstDash val="solid"/>
          </a:ln>
        </p:spPr>
        <p:txBody>
          <a:bodyPr/>
          <a:p/>
        </p:txBody>
      </p:sp>
      <p:pic>
        <p:nvPicPr>
          <p:cNvPr id="10" name="figura" descr="/tmp/claude-0/-home-claude/ae7ea666-008e-5687-a756-06b9100bd0c6/scratchpad/sfm/u3/media/d_tensor_cadena.jpg">    </p:cNvPr>
          <p:cNvPicPr>
            <a:picLocks noChangeAspect="1"/>
          </p:cNvPicPr>
          <p:nvPr/>
        </p:nvPicPr>
        <p:blipFill>
          <a:blip r:embed="rId3"/>
          <a:srcRect l="0" r="0" t="0" b="0"/>
          <a:stretch/>
        </p:blipFill>
        <p:spPr>
          <a:xfrm>
            <a:off x="8339328" y="1481328"/>
            <a:ext cx="3163824" cy="2249424"/>
          </a:xfrm>
          <a:prstGeom prst="rect">
            <a:avLst/>
          </a:prstGeom>
        </p:spPr>
      </p:pic>
      <p:sp>
        <p:nvSpPr>
          <p:cNvPr id="11" name="Text 6"/>
          <p:cNvSpPr txBox="1"/>
          <p:nvPr/>
        </p:nvSpPr>
        <p:spPr>
          <a:xfrm>
            <a:off x="8339328" y="384048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13. </a:t>
            </a:r>
            <a:pPr indent="0" marL="0">
              <a:lnSpc>
                <a:spcPct val="102000"/>
              </a:lnSpc>
              <a:buNone/>
            </a:pPr>
            <a:r>
              <a:rPr lang="en-US" sz="1000" dirty="0">
                <a:solidFill>
                  <a:schemeClr val="accent4"/>
                </a:solidFill>
              </a:rPr>
              <a:t>Tensor de cadena: mantiene la tensión y absorbe el alargamiento por desgaste. Adaptado de Fernández, J. (s. f.). La distribución [diapositivas]. ISTS.</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64240" cy="914400"/>
        </p:xfrm>
        <a:graphic>
          <a:graphicData uri="http://schemas.openxmlformats.org/drawingml/2006/table">
            <a:tbl>
              <a:tblPr/>
              <a:tblGrid>
                <a:gridCol w="2194560"/>
                <a:gridCol w="2926080"/>
                <a:gridCol w="2926080"/>
                <a:gridCol w="3017520"/>
              </a:tblGrid>
              <a:tr h="402336">
                <a:tc>
                  <a:txBody>
                    <a:bodyPr/>
                    <a:lstStyle/>
                    <a:p>
                      <a:pPr indent="0" marL="0">
                        <a:buNone/>
                      </a:pPr>
                      <a:r>
                        <a:rPr lang="en-US" sz="1300" b="1" dirty="0">
                          <a:solidFill>
                            <a:srgbClr val="FFFFFF"/>
                          </a:solidFill>
                        </a:rPr>
                        <a:t>Mando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Cuándo se usa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Ventajas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Inconvenientes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00" b="1" dirty="0">
                          <a:solidFill>
                            <a:schemeClr val="tx1"/>
                          </a:solidFill>
                        </a:rPr>
                        <a:t>Piñones o engranajes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Cuando la distancia entre cigüeñal y árbol es corta, típicamente en OHV</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Duración prácticamente ilimitada; sin mantenimiento; sincronización exacta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Ruidoso; necesita lubricación; solo válido para distancias cortas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Cadena de rodillos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Distancias medias y largas; muy usada en motores actuales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Larga duración, mantenimiento escaso, no se rompe de forma súbita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Se alarga con el desgaste y desplaza el punto; exige tensor y patines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3" name="Shape 7"/>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14" name="Shape 8"/>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15" name="Text 9"/>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6" name="Text 10"/>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Una cadena no falla de golpe: se alarga progresivamente y el árbol de levas se va retrasando unos grados. El síntoma es pérdida de prestaciones y ruido metálico en frío, mucho antes de que ocurra nada grave. Esa progresividad es su gran ventaja de seguridad.</a:t>
            </a:r>
            <a:endParaRPr lang="en-US" sz="1200" dirty="0"/>
          </a:p>
        </p:txBody>
      </p:sp>
      <p:sp>
        <p:nvSpPr>
          <p:cNvPr id="17"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mando por correa dentada</a:t>
            </a:r>
            <a:endParaRPr lang="en-US" sz="3200" dirty="0"/>
          </a:p>
        </p:txBody>
      </p:sp>
      <p:sp>
        <p:nvSpPr>
          <p:cNvPr id="3" name="marco_figura"/>
          <p:cNvSpPr/>
          <p:nvPr/>
        </p:nvSpPr>
        <p:spPr>
          <a:xfrm>
            <a:off x="548640" y="1371600"/>
            <a:ext cx="3657600" cy="2761488"/>
          </a:xfrm>
          <a:prstGeom prst="roundRect">
            <a:avLst>
              <a:gd name="adj" fmla="val 198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correa.jpg">    </p:cNvPr>
          <p:cNvPicPr>
            <a:picLocks noChangeAspect="1"/>
          </p:cNvPicPr>
          <p:nvPr/>
        </p:nvPicPr>
        <p:blipFill>
          <a:blip r:embed="rId1"/>
          <a:srcRect l="0" r="0" t="0" b="0"/>
          <a:stretch/>
        </p:blipFill>
        <p:spPr>
          <a:xfrm>
            <a:off x="658368" y="1481328"/>
            <a:ext cx="3438144" cy="2157984"/>
          </a:xfrm>
          <a:prstGeom prst="rect">
            <a:avLst/>
          </a:prstGeom>
        </p:spPr>
      </p:pic>
      <p:sp>
        <p:nvSpPr>
          <p:cNvPr id="5" name="Text 2"/>
          <p:cNvSpPr txBox="1"/>
          <p:nvPr/>
        </p:nvSpPr>
        <p:spPr>
          <a:xfrm>
            <a:off x="658368" y="374904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14. </a:t>
            </a:r>
            <a:pPr indent="0" marL="0">
              <a:lnSpc>
                <a:spcPct val="102000"/>
              </a:lnSpc>
              <a:buNone/>
            </a:pPr>
            <a:r>
              <a:rPr lang="en-US" sz="1000" dirty="0">
                <a:solidFill>
                  <a:schemeClr val="accent4"/>
                </a:solidFill>
              </a:rPr>
              <a:t>Correa dentada montada sobre los piñones de cigüeñal y árbol de levas. Adaptado de Fernández, J. (s. f.). La distribución [diapositivas]. ISTS.</a:t>
            </a:r>
            <a:endParaRPr lang="en-US" sz="1000" dirty="0"/>
          </a:p>
        </p:txBody>
      </p:sp>
      <p:sp>
        <p:nvSpPr>
          <p:cNvPr id="6" name="marco_figura"/>
          <p:cNvSpPr/>
          <p:nvPr/>
        </p:nvSpPr>
        <p:spPr>
          <a:xfrm>
            <a:off x="4480560" y="1371600"/>
            <a:ext cx="3474720" cy="2761488"/>
          </a:xfrm>
          <a:prstGeom prst="roundRect">
            <a:avLst>
              <a:gd name="adj" fmla="val 1987"/>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d_correa_estructura.jpg">    </p:cNvPr>
          <p:cNvPicPr>
            <a:picLocks noChangeAspect="1"/>
          </p:cNvPicPr>
          <p:nvPr/>
        </p:nvPicPr>
        <p:blipFill>
          <a:blip r:embed="rId2"/>
          <a:srcRect l="0" r="0" t="0" b="0"/>
          <a:stretch/>
        </p:blipFill>
        <p:spPr>
          <a:xfrm>
            <a:off x="4590288" y="1481328"/>
            <a:ext cx="3255264" cy="2157984"/>
          </a:xfrm>
          <a:prstGeom prst="rect">
            <a:avLst/>
          </a:prstGeom>
        </p:spPr>
      </p:pic>
      <p:sp>
        <p:nvSpPr>
          <p:cNvPr id="8" name="Text 4"/>
          <p:cNvSpPr txBox="1"/>
          <p:nvPr/>
        </p:nvSpPr>
        <p:spPr>
          <a:xfrm>
            <a:off x="4590288" y="374904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15. </a:t>
            </a:r>
            <a:pPr indent="0" marL="0">
              <a:lnSpc>
                <a:spcPct val="102000"/>
              </a:lnSpc>
              <a:buNone/>
            </a:pPr>
            <a:r>
              <a:rPr lang="en-US" sz="1000" dirty="0">
                <a:solidFill>
                  <a:schemeClr val="accent4"/>
                </a:solidFill>
              </a:rPr>
              <a:t>Estructura interna de la correa: fibras de tracción embebidas en caucho sintético. Adaptado de Fernández, J. (s. f.). La distribución [diapositivas]. ISTS.</a:t>
            </a:r>
            <a:endParaRPr lang="en-US" sz="1000" dirty="0"/>
          </a:p>
        </p:txBody>
      </p:sp>
      <p:sp>
        <p:nvSpPr>
          <p:cNvPr id="9" name="marco_figura"/>
          <p:cNvSpPr/>
          <p:nvPr/>
        </p:nvSpPr>
        <p:spPr>
          <a:xfrm>
            <a:off x="8229600" y="1371600"/>
            <a:ext cx="3383280" cy="2761488"/>
          </a:xfrm>
          <a:prstGeom prst="roundRect">
            <a:avLst>
              <a:gd name="adj" fmla="val 1987"/>
            </a:avLst>
          </a:prstGeom>
          <a:solidFill>
            <a:schemeClr val="bg2"/>
          </a:solidFill>
          <a:ln w="12700">
            <a:solidFill>
              <a:schemeClr val="bg2"/>
            </a:solidFill>
            <a:prstDash val="solid"/>
          </a:ln>
        </p:spPr>
        <p:txBody>
          <a:bodyPr/>
          <a:p/>
        </p:txBody>
      </p:sp>
      <p:pic>
        <p:nvPicPr>
          <p:cNvPr id="10" name="figura" descr="/tmp/claude-0/-home-claude/ae7ea666-008e-5687-a756-06b9100bd0c6/scratchpad/sfm/u3/media/d_correa_dientes.jpg">    </p:cNvPr>
          <p:cNvPicPr>
            <a:picLocks noChangeAspect="1"/>
          </p:cNvPicPr>
          <p:nvPr/>
        </p:nvPicPr>
        <p:blipFill>
          <a:blip r:embed="rId3"/>
          <a:srcRect l="0" r="0" t="0" b="0"/>
          <a:stretch/>
        </p:blipFill>
        <p:spPr>
          <a:xfrm>
            <a:off x="8339328" y="1481328"/>
            <a:ext cx="3163824" cy="2157984"/>
          </a:xfrm>
          <a:prstGeom prst="rect">
            <a:avLst/>
          </a:prstGeom>
        </p:spPr>
      </p:pic>
      <p:sp>
        <p:nvSpPr>
          <p:cNvPr id="11" name="Text 6"/>
          <p:cNvSpPr txBox="1"/>
          <p:nvPr/>
        </p:nvSpPr>
        <p:spPr>
          <a:xfrm>
            <a:off x="8339328" y="374904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16. </a:t>
            </a:r>
            <a:pPr indent="0" marL="0">
              <a:lnSpc>
                <a:spcPct val="102000"/>
              </a:lnSpc>
              <a:buNone/>
            </a:pPr>
            <a:r>
              <a:rPr lang="en-US" sz="1000" dirty="0">
                <a:solidFill>
                  <a:schemeClr val="accent4"/>
                </a:solidFill>
              </a:rPr>
              <a:t>Perfiles de diente redondeado y trapezoidal. Adaptado de Fernández, J. (s. f.). La distribución [diapositivas]. ISTS.</a:t>
            </a:r>
            <a:endParaRPr lang="en-US" sz="1000" dirty="0"/>
          </a:p>
        </p:txBody>
      </p:sp>
      <p:sp>
        <p:nvSpPr>
          <p:cNvPr id="12" name="Shape 7"/>
          <p:cNvSpPr/>
          <p:nvPr/>
        </p:nvSpPr>
        <p:spPr>
          <a:xfrm>
            <a:off x="548640" y="4151376"/>
            <a:ext cx="384048" cy="384048"/>
          </a:xfrm>
          <a:prstGeom prst="ellipse">
            <a:avLst/>
          </a:prstGeom>
          <a:solidFill>
            <a:schemeClr val="accent2"/>
          </a:solidFill>
          <a:ln w="12700">
            <a:solidFill>
              <a:schemeClr val="accent2"/>
            </a:solidFill>
            <a:prstDash val="solid"/>
          </a:ln>
        </p:spPr>
        <p:txBody>
          <a:bodyPr/>
          <a:p/>
        </p:txBody>
      </p:sp>
      <p:sp>
        <p:nvSpPr>
          <p:cNvPr id="13" name="Text 8"/>
          <p:cNvSpPr txBox="1"/>
          <p:nvPr/>
        </p:nvSpPr>
        <p:spPr>
          <a:xfrm>
            <a:off x="548640" y="4151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9"/>
          <p:cNvSpPr txBox="1"/>
          <p:nvPr/>
        </p:nvSpPr>
        <p:spPr>
          <a:xfrm>
            <a:off x="1078992" y="411480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se impuso. </a:t>
            </a:r>
            <a:pPr indent="0" marL="0">
              <a:lnSpc>
                <a:spcPct val="106000"/>
              </a:lnSpc>
              <a:buNone/>
            </a:pPr>
            <a:r>
              <a:rPr lang="en-US" sz="1150" dirty="0">
                <a:solidFill>
                  <a:schemeClr val="accent4"/>
                </a:solidFill>
              </a:rPr>
              <a:t>es silenciosa, ligera, barata y no necesita lubricación, de modo que puede ir fuera del motor en un cárter seco</a:t>
            </a:r>
            <a:endParaRPr lang="en-US" sz="1150" dirty="0"/>
          </a:p>
        </p:txBody>
      </p:sp>
      <p:sp>
        <p:nvSpPr>
          <p:cNvPr id="15" name="Shape 10"/>
          <p:cNvSpPr/>
          <p:nvPr/>
        </p:nvSpPr>
        <p:spPr>
          <a:xfrm>
            <a:off x="548640" y="4517136"/>
            <a:ext cx="384048" cy="384048"/>
          </a:xfrm>
          <a:prstGeom prst="ellipse">
            <a:avLst/>
          </a:prstGeom>
          <a:solidFill>
            <a:schemeClr val="accent2"/>
          </a:solidFill>
          <a:ln w="12700">
            <a:solidFill>
              <a:schemeClr val="accent2"/>
            </a:solidFill>
            <a:prstDash val="solid"/>
          </a:ln>
        </p:spPr>
        <p:txBody>
          <a:bodyPr/>
          <a:p/>
        </p:txBody>
      </p:sp>
      <p:sp>
        <p:nvSpPr>
          <p:cNvPr id="16" name="Text 11"/>
          <p:cNvSpPr txBox="1"/>
          <p:nvPr/>
        </p:nvSpPr>
        <p:spPr>
          <a:xfrm>
            <a:off x="548640" y="4517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2"/>
          <p:cNvSpPr txBox="1"/>
          <p:nvPr/>
        </p:nvSpPr>
        <p:spPr>
          <a:xfrm>
            <a:off x="1078992" y="448056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De qué está hecha. </a:t>
            </a:r>
            <a:pPr indent="0" marL="0">
              <a:lnSpc>
                <a:spcPct val="106000"/>
              </a:lnSpc>
              <a:buNone/>
            </a:pPr>
            <a:r>
              <a:rPr lang="en-US" sz="1150" dirty="0">
                <a:solidFill>
                  <a:schemeClr val="accent4"/>
                </a:solidFill>
              </a:rPr>
              <a:t>caucho sintético con fibras de vidrio o aramida embebidas, que son las que soportan la tracción y evitan el alargamiento</a:t>
            </a:r>
            <a:endParaRPr lang="en-US" sz="1150" dirty="0"/>
          </a:p>
        </p:txBody>
      </p:sp>
      <p:sp>
        <p:nvSpPr>
          <p:cNvPr id="18" name="Shape 13"/>
          <p:cNvSpPr/>
          <p:nvPr/>
        </p:nvSpPr>
        <p:spPr>
          <a:xfrm>
            <a:off x="548640" y="4882896"/>
            <a:ext cx="384048" cy="384048"/>
          </a:xfrm>
          <a:prstGeom prst="ellipse">
            <a:avLst/>
          </a:prstGeom>
          <a:solidFill>
            <a:schemeClr val="accent2"/>
          </a:solidFill>
          <a:ln w="12700">
            <a:solidFill>
              <a:schemeClr val="accent2"/>
            </a:solidFill>
            <a:prstDash val="solid"/>
          </a:ln>
        </p:spPr>
        <p:txBody>
          <a:bodyPr/>
          <a:p/>
        </p:txBody>
      </p:sp>
      <p:sp>
        <p:nvSpPr>
          <p:cNvPr id="19" name="Text 14"/>
          <p:cNvSpPr txBox="1"/>
          <p:nvPr/>
        </p:nvSpPr>
        <p:spPr>
          <a:xfrm>
            <a:off x="548640" y="4882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5"/>
          <p:cNvSpPr txBox="1"/>
          <p:nvPr/>
        </p:nvSpPr>
        <p:spPr>
          <a:xfrm>
            <a:off x="1078992" y="484632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Su riesgo. </a:t>
            </a:r>
            <a:pPr indent="0" marL="0">
              <a:lnSpc>
                <a:spcPct val="106000"/>
              </a:lnSpc>
              <a:buNone/>
            </a:pPr>
            <a:r>
              <a:rPr lang="en-US" sz="1150" dirty="0">
                <a:solidFill>
                  <a:schemeClr val="accent4"/>
                </a:solidFill>
              </a:rPr>
              <a:t>a diferencia de la cadena, falla de forma súbita y sin aviso; en un motor interferente eso significa válvulas dobladas</a:t>
            </a:r>
            <a:endParaRPr lang="en-US" sz="1150" dirty="0"/>
          </a:p>
        </p:txBody>
      </p:sp>
      <p:sp>
        <p:nvSpPr>
          <p:cNvPr id="21" name="Shape 16"/>
          <p:cNvSpPr/>
          <p:nvPr/>
        </p:nvSpPr>
        <p:spPr>
          <a:xfrm>
            <a:off x="548640" y="5248656"/>
            <a:ext cx="384048" cy="384048"/>
          </a:xfrm>
          <a:prstGeom prst="ellipse">
            <a:avLst/>
          </a:prstGeom>
          <a:solidFill>
            <a:schemeClr val="accent2"/>
          </a:solidFill>
          <a:ln w="12700">
            <a:solidFill>
              <a:schemeClr val="accent2"/>
            </a:solidFill>
            <a:prstDash val="solid"/>
          </a:ln>
        </p:spPr>
        <p:txBody>
          <a:bodyPr/>
          <a:p/>
        </p:txBody>
      </p:sp>
      <p:sp>
        <p:nvSpPr>
          <p:cNvPr id="22" name="Text 17"/>
          <p:cNvSpPr txBox="1"/>
          <p:nvPr/>
        </p:nvSpPr>
        <p:spPr>
          <a:xfrm>
            <a:off x="548640" y="5248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8"/>
          <p:cNvSpPr txBox="1"/>
          <p:nvPr/>
        </p:nvSpPr>
        <p:spPr>
          <a:xfrm>
            <a:off x="1078992" y="521208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Su exigencia. </a:t>
            </a:r>
            <a:pPr indent="0" marL="0">
              <a:lnSpc>
                <a:spcPct val="106000"/>
              </a:lnSpc>
              <a:buNone/>
            </a:pPr>
            <a:r>
              <a:rPr lang="en-US" sz="1150" dirty="0">
                <a:solidFill>
                  <a:schemeClr val="accent4"/>
                </a:solidFill>
              </a:rPr>
              <a:t>sustitución por kilometraje o por tiempo, lo que ocurra antes: el caucho envejece aunque el vehículo no circule</a:t>
            </a:r>
            <a:endParaRPr lang="en-US" sz="1150" dirty="0"/>
          </a:p>
        </p:txBody>
      </p:sp>
      <p:sp>
        <p:nvSpPr>
          <p:cNvPr id="24" name="Shape 19"/>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5" name="Shape 20"/>
          <p:cNvSpPr/>
          <p:nvPr/>
        </p:nvSpPr>
        <p:spPr>
          <a:xfrm>
            <a:off x="786384" y="5600700"/>
            <a:ext cx="365760" cy="365760"/>
          </a:xfrm>
          <a:prstGeom prst="ellipse">
            <a:avLst/>
          </a:prstGeom>
          <a:solidFill>
            <a:schemeClr val="accent1"/>
          </a:solidFill>
          <a:ln w="12700">
            <a:solidFill>
              <a:schemeClr val="accent1"/>
            </a:solidFill>
            <a:prstDash val="solid"/>
          </a:ln>
        </p:spPr>
        <p:txBody>
          <a:bodyPr/>
          <a:p/>
        </p:txBody>
      </p:sp>
      <p:sp>
        <p:nvSpPr>
          <p:cNvPr id="26" name="Text 21"/>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2"/>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La correa se cambia por tiempo además de por kilometraje. Un vehículo poco usado con una correa de ocho años tiene un riesgo real aunque apenas haya recorrido kilómetros: el caucho se endurece y agrieta por envejecimiento, no solo por uso.</a:t>
            </a:r>
            <a:endParaRPr lang="en-US" sz="1200" dirty="0"/>
          </a:p>
        </p:txBody>
      </p:sp>
      <p:sp>
        <p:nvSpPr>
          <p:cNvPr id="28"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Cómo la leva llega a la válvula: cuatro variantes</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accionamiento.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17. </a:t>
            </a:r>
            <a:pPr indent="0" marL="0">
              <a:lnSpc>
                <a:spcPct val="102000"/>
              </a:lnSpc>
              <a:buNone/>
            </a:pPr>
            <a:r>
              <a:rPr lang="en-US" sz="1000" dirty="0">
                <a:solidFill>
                  <a:schemeClr val="accent4"/>
                </a:solidFill>
              </a:rPr>
              <a:t>Distintas formas de accionar las válvulas según la posición del árbol de levas. Adaptado de Fernández, J. (s. f.). La distribución [diapositivas]. ISTS.</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852160" y="1371600"/>
          <a:ext cx="5760720" cy="914400"/>
        </p:xfrm>
        <a:graphic>
          <a:graphicData uri="http://schemas.openxmlformats.org/drawingml/2006/table">
            <a:tbl>
              <a:tblPr/>
              <a:tblGrid>
                <a:gridCol w="1828800"/>
                <a:gridCol w="1920240"/>
                <a:gridCol w="2011680"/>
              </a:tblGrid>
              <a:tr h="475488">
                <a:tc>
                  <a:txBody>
                    <a:bodyPr/>
                    <a:lstStyle/>
                    <a:p>
                      <a:pPr indent="0" marL="0">
                        <a:buNone/>
                      </a:pPr>
                      <a:r>
                        <a:rPr lang="en-US" sz="1300" b="1" dirty="0">
                          <a:solidFill>
                            <a:srgbClr val="FFFFFF"/>
                          </a:solidFill>
                        </a:rPr>
                        <a:t>Variante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transmite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implica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050" b="1" dirty="0">
                          <a:solidFill>
                            <a:schemeClr val="tx1"/>
                          </a:solidFill>
                        </a:rPr>
                        <a:t>Árbol en bloque, varilla y balancín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Leva, taqué, varilla, balancín, válvula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Mucha masa y holguras acumuladas; reglaje frecuente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Árbol en culata, balancín de palanca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La leva empuja un balancín que abre la válvula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Reglaje sencillo con tornillo; algo de masa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050" b="1" dirty="0">
                          <a:solidFill>
                            <a:schemeClr val="tx1"/>
                          </a:solidFill>
                        </a:rPr>
                        <a:t>Árbol en culata, vaso invertido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La leva actúa directamente sobre un vaso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Mínima masa; reglaje con pastillas calibradas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Árbol en culata, balancín de rodillo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Balancín con rodillo apoyado en la leva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Menor rozamiento y menor consumo; muy extendido hoy</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251960"/>
            <a:ext cx="11064240" cy="731520"/>
          </a:xfrm>
          <a:prstGeom prst="roundRect">
            <a:avLst>
              <a:gd name="adj" fmla="val 7500"/>
            </a:avLst>
          </a:prstGeom>
          <a:solidFill>
            <a:schemeClr val="bg2"/>
          </a:solidFill>
          <a:ln w="12700">
            <a:solidFill>
              <a:schemeClr val="bg2"/>
            </a:solidFill>
            <a:prstDash val="solid"/>
          </a:ln>
        </p:spPr>
        <p:txBody>
          <a:bodyPr/>
          <a:p/>
        </p:txBody>
      </p:sp>
      <p:sp>
        <p:nvSpPr>
          <p:cNvPr id="8" name="Shape 4"/>
          <p:cNvSpPr/>
          <p:nvPr/>
        </p:nvSpPr>
        <p:spPr>
          <a:xfrm>
            <a:off x="786384" y="4434840"/>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34340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Toda la evolución de la distribución persigue lo mismo: quitar masa entre la leva y la válvula. Menos masa significa que la válvula puede seguir perfiles más agresivos a mayor régimen sin flotar.</a:t>
            </a:r>
            <a:endParaRPr lang="en-US" sz="1450" dirty="0"/>
          </a:p>
        </p:txBody>
      </p:sp>
      <p:sp>
        <p:nvSpPr>
          <p:cNvPr id="11" name="Shape 7"/>
          <p:cNvSpPr/>
          <p:nvPr/>
        </p:nvSpPr>
        <p:spPr>
          <a:xfrm>
            <a:off x="548640" y="5157216"/>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12064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mirar en el taller para identificar la variante. </a:t>
            </a:r>
            <a:pPr indent="0" marL="0">
              <a:lnSpc>
                <a:spcPct val="106000"/>
              </a:lnSpc>
              <a:buNone/>
            </a:pPr>
            <a:r>
              <a:rPr lang="en-US" sz="1150" dirty="0">
                <a:solidFill>
                  <a:schemeClr val="accent4"/>
                </a:solidFill>
              </a:rPr>
              <a:t>si hay varillas subiendo desde el bloque, es OHV; si el árbol está sobre la culata y hay vasos cilíndricos, es de empujador directo; si hay balancines cortos con rodillo, es la solución moderna</a:t>
            </a:r>
            <a:endParaRPr lang="en-US" sz="1150" dirty="0"/>
          </a:p>
        </p:txBody>
      </p:sp>
      <p:sp>
        <p:nvSpPr>
          <p:cNvPr id="14" name="Shape 10"/>
          <p:cNvSpPr/>
          <p:nvPr/>
        </p:nvSpPr>
        <p:spPr>
          <a:xfrm>
            <a:off x="548640" y="554126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541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50468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importa identificarla. </a:t>
            </a:r>
            <a:pPr indent="0" marL="0">
              <a:lnSpc>
                <a:spcPct val="106000"/>
              </a:lnSpc>
              <a:buNone/>
            </a:pPr>
            <a:r>
              <a:rPr lang="en-US" sz="1150" dirty="0">
                <a:solidFill>
                  <a:schemeClr val="accent4"/>
                </a:solidFill>
              </a:rPr>
              <a:t>determina si el motor admite reglaje con tornillo, si exige pastillas calibradas o si lleva taqués hidráulicos que no se reglan</a:t>
            </a:r>
            <a:endParaRPr lang="en-US" sz="1150" dirty="0"/>
          </a:p>
        </p:txBody>
      </p:sp>
      <p:sp>
        <p:nvSpPr>
          <p:cNvPr id="17" name="Text 1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relación de transmisión y lo que la hace visible</a:t>
            </a:r>
            <a:endParaRPr lang="en-US" sz="3200" dirty="0"/>
          </a:p>
        </p:txBody>
      </p:sp>
      <p:sp>
        <p:nvSpPr>
          <p:cNvPr id="3" name="marco_figura"/>
          <p:cNvSpPr/>
          <p:nvPr/>
        </p:nvSpPr>
        <p:spPr>
          <a:xfrm>
            <a:off x="548640" y="1371600"/>
            <a:ext cx="475488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mando.jpg">    </p:cNvPr>
          <p:cNvPicPr>
            <a:picLocks noChangeAspect="1"/>
          </p:cNvPicPr>
          <p:nvPr/>
        </p:nvPicPr>
        <p:blipFill>
          <a:blip r:embed="rId1"/>
          <a:srcRect l="0" r="0" t="0" b="0"/>
          <a:stretch/>
        </p:blipFill>
        <p:spPr>
          <a:xfrm>
            <a:off x="658368" y="1481328"/>
            <a:ext cx="4535424" cy="2340864"/>
          </a:xfrm>
          <a:prstGeom prst="rect">
            <a:avLst/>
          </a:prstGeom>
        </p:spPr>
      </p:pic>
      <p:sp>
        <p:nvSpPr>
          <p:cNvPr id="5" name="Text 2"/>
          <p:cNvSpPr txBox="1"/>
          <p:nvPr/>
        </p:nvSpPr>
        <p:spPr>
          <a:xfrm>
            <a:off x="658368" y="393192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18. </a:t>
            </a:r>
            <a:pPr indent="0" marL="0">
              <a:lnSpc>
                <a:spcPct val="102000"/>
              </a:lnSpc>
              <a:buNone/>
            </a:pPr>
            <a:r>
              <a:rPr lang="en-US" sz="1000" dirty="0">
                <a:solidFill>
                  <a:schemeClr val="accent4"/>
                </a:solidFill>
              </a:rPr>
              <a:t>Mando de la distribución desde el cigüeñal al árbol de levas. Adaptado de Fernández, J. (s. f.). La distribución [diapositivas]. ISTS.</a:t>
            </a:r>
            <a:endParaRPr lang="en-US" sz="1000" dirty="0"/>
          </a:p>
        </p:txBody>
      </p:sp>
      <p:sp>
        <p:nvSpPr>
          <p:cNvPr id="6" name="Shape 3"/>
          <p:cNvSpPr/>
          <p:nvPr/>
        </p:nvSpPr>
        <p:spPr>
          <a:xfrm>
            <a:off x="5669280" y="1371600"/>
            <a:ext cx="59436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Text 4"/>
          <p:cNvSpPr txBox="1"/>
          <p:nvPr/>
        </p:nvSpPr>
        <p:spPr>
          <a:xfrm>
            <a:off x="5907024" y="1554480"/>
            <a:ext cx="5468112" cy="384048"/>
          </a:xfrm>
          <a:prstGeom prst="rect">
            <a:avLst/>
          </a:prstGeom>
          <a:noFill/>
          <a:ln/>
        </p:spPr>
        <p:txBody>
          <a:bodyPr wrap="square" lIns="0" tIns="0" rIns="0" bIns="0" rtlCol="0" anchor="ctr"/>
          <a:lstStyle/>
          <a:p>
            <a:pPr indent="0" marL="0">
              <a:buNone/>
            </a:pPr>
            <a:r>
              <a:rPr lang="en-US" sz="1700" b="1" dirty="0">
                <a:solidFill>
                  <a:schemeClr val="tx1"/>
                </a:solidFill>
              </a:rPr>
              <a:t>Relación entre piñones</a:t>
            </a:r>
            <a:endParaRPr lang="en-US" sz="1700" dirty="0"/>
          </a:p>
        </p:txBody>
      </p:sp>
      <mc:AlternateContent xmlns:mc="http://schemas.openxmlformats.org/markup-compatibility/2006" xmlns:a14="http://schemas.microsoft.com/office/drawing/2010/main">
        <mc:Choice Requires="a14">
          <p:sp>
            <p:nvSpPr>
              <p:cNvPr id="8" name="Text 5"/>
              <p:cNvSpPr txBox="1"/>
              <p:nvPr/>
            </p:nvSpPr>
            <p:spPr>
              <a:xfrm>
                <a:off x="5907024" y="1993392"/>
                <a:ext cx="546811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Z</m:t>
                          </m:r>
                        </m:e>
                        <m:sub>
                          <m:r>
                            <a:rPr lang="es-EC" sz="2400" b="1" dirty="0" i="0">
                              <a:solidFill>
                                <a:srgbClr val="C0451C"/>
                              </a:solidFill>
                              <a:latin typeface="Cambria Math" panose="02040503050406030204" pitchFamily="18" charset="0"/>
                            </a:rPr>
                            <m:t xml:space="preserve">a</m:t>
                          </m:r>
                        </m:sub>
                      </m:sSub>
                      <m:r>
                        <a:rPr lang="es-EC" sz="2400" b="1" dirty="0" i="0">
                          <a:solidFill>
                            <a:srgbClr val="C0451C"/>
                          </a:solidFill>
                          <a:latin typeface="Cambria Math" panose="02040503050406030204" pitchFamily="18" charset="0"/>
                        </a:rPr>
                        <m:t xml:space="preserve"> = </m:t>
                      </m:r>
                      <m:r>
                        <a:rPr lang="es-EC" sz="2400" b="1" dirty="0" i="0">
                          <a:solidFill>
                            <a:srgbClr val="C0451C"/>
                          </a:solidFill>
                          <a:latin typeface="Cambria Math" panose="02040503050406030204" pitchFamily="18" charset="0"/>
                        </a:rPr>
                        <m:t xml:space="preserve">2</m:t>
                      </m:r>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Z</m:t>
                          </m:r>
                        </m:e>
                        <m:sub>
                          <m:r>
                            <a:rPr lang="es-EC" sz="2400" b="1" dirty="0" i="0">
                              <a:solidFill>
                                <a:srgbClr val="C0451C"/>
                              </a:solidFill>
                              <a:latin typeface="Cambria Math" panose="02040503050406030204" pitchFamily="18" charset="0"/>
                            </a:rPr>
                            <m:t xml:space="preserve">c</m:t>
                          </m:r>
                        </m:sub>
                      </m:sSub>
                    </m:oMath>
                  </m:oMathPara>
                </a14:m>
                <a:endParaRPr lang="es-EC" sz="2400" dirty="0"/>
              </a:p>
            </p:txBody>
          </p:sp>
        </mc:Choice>
        <mc:Fallback xmlns="">
          <p:sp>
            <p:nvSpPr>
              <p:cNvPr id="8" name="Text 5"/>
              <p:cNvSpPr txBox="1"/>
              <p:nvPr/>
            </p:nvSpPr>
            <p:spPr>
              <a:xfrm>
                <a:off x="5907024" y="1993392"/>
                <a:ext cx="5468112" cy="658368"/>
              </a:xfrm>
              <a:prstGeom prst="rect">
                <a:avLst/>
              </a:prstGeom>
              <a:noFill/>
              <a:ln/>
            </p:spPr>
            <p:txBody>
              <a:bodyPr wrap="square" lIns="0" tIns="0" rIns="0" bIns="0" rtlCol="0" anchor="ctr"/>
              <a:lstStyle/>
              <a:p>
                <a:pPr algn="l"/>
                <a:r>
                  <a:rPr lang="es-EC" sz="2400" b="1" dirty="0">
                    <a:solidFill>
                      <a:srgbClr val="C0451C"/>
                    </a:solidFill>
                  </a:rPr>
                  <a:t xml:space="preserve">Z</a:t>
                </a:r>
                <a:r>
                  <a:rPr lang="es-EC" sz="2400" b="1" baseline="-25000" dirty="0">
                    <a:solidFill>
                      <a:srgbClr val="C0451C"/>
                    </a:solidFill>
                  </a:rPr>
                  <a:t xml:space="preserve">a</a:t>
                </a:r>
                <a:r>
                  <a:rPr lang="es-EC" sz="2400" b="1" dirty="0">
                    <a:solidFill>
                      <a:srgbClr val="C0451C"/>
                    </a:solidFill>
                  </a:rPr>
                  <a:t xml:space="preserve"> = </a:t>
                </a:r>
                <a:r>
                  <a:rPr lang="es-EC" sz="2400" b="1" dirty="0">
                    <a:solidFill>
                      <a:srgbClr val="C0451C"/>
                    </a:solidFill>
                  </a:rPr>
                  <a:t xml:space="preserve">2</a:t>
                </a:r>
                <a:r>
                  <a:rPr lang="es-EC" sz="2400" b="1" dirty="0">
                    <a:solidFill>
                      <a:srgbClr val="C0451C"/>
                    </a:solidFill>
                  </a:rPr>
                  <a:t xml:space="preserve"> · </a:t>
                </a:r>
                <a:r>
                  <a:rPr lang="es-EC" sz="2400" b="1" dirty="0">
                    <a:solidFill>
                      <a:srgbClr val="C0451C"/>
                    </a:solidFill>
                  </a:rPr>
                  <a:t xml:space="preserve">Z</a:t>
                </a:r>
                <a:r>
                  <a:rPr lang="es-EC" sz="2400" b="1" baseline="-25000" dirty="0">
                    <a:solidFill>
                      <a:srgbClr val="C0451C"/>
                    </a:solidFill>
                  </a:rPr>
                  <a:t xml:space="preserve">c</a:t>
                </a:r>
              </a:p>
            </p:txBody>
          </p:sp>
        </mc:Fallback>
      </mc:AlternateContent>
      <p:sp>
        <p:nvSpPr>
          <p:cNvPr id="9" name="Text 6"/>
          <p:cNvSpPr txBox="1"/>
          <p:nvPr/>
        </p:nvSpPr>
        <p:spPr>
          <a:xfrm>
            <a:off x="5907024" y="2706624"/>
            <a:ext cx="5468112" cy="-54864"/>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El piñón del árbol de levas tiene el doble de dientes que el del cigüeñal.</a:t>
            </a:r>
            <a:endParaRPr lang="en-US" sz="1300" dirty="0"/>
          </a:p>
        </p:txBody>
      </p:sp>
      <p:sp>
        <p:nvSpPr>
          <p:cNvPr id="10" name="Shape 7"/>
          <p:cNvSpPr/>
          <p:nvPr/>
        </p:nvSpPr>
        <p:spPr>
          <a:xfrm>
            <a:off x="5669280" y="3054096"/>
            <a:ext cx="384048" cy="384048"/>
          </a:xfrm>
          <a:prstGeom prst="ellipse">
            <a:avLst/>
          </a:prstGeom>
          <a:solidFill>
            <a:schemeClr val="accent2"/>
          </a:solidFill>
          <a:ln w="12700">
            <a:solidFill>
              <a:schemeClr val="accent2"/>
            </a:solidFill>
            <a:prstDash val="solid"/>
          </a:ln>
        </p:spPr>
        <p:txBody>
          <a:bodyPr/>
          <a:p/>
        </p:txBody>
      </p:sp>
      <p:sp>
        <p:nvSpPr>
          <p:cNvPr id="11" name="Text 8"/>
          <p:cNvSpPr txBox="1"/>
          <p:nvPr/>
        </p:nvSpPr>
        <p:spPr>
          <a:xfrm>
            <a:off x="5669280" y="3054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2" name="Text 9"/>
          <p:cNvSpPr txBox="1"/>
          <p:nvPr/>
        </p:nvSpPr>
        <p:spPr>
          <a:xfrm>
            <a:off x="6199632" y="3017520"/>
            <a:ext cx="5413248" cy="42062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comprueba a simple vista. </a:t>
            </a:r>
            <a:pPr indent="0" marL="0">
              <a:lnSpc>
                <a:spcPct val="106000"/>
              </a:lnSpc>
              <a:buNone/>
            </a:pPr>
            <a:r>
              <a:rPr lang="en-US" sz="1150" dirty="0">
                <a:solidFill>
                  <a:schemeClr val="accent4"/>
                </a:solidFill>
              </a:rPr>
              <a:t>el piñón del árbol de levas es visiblemente mayor que el del cigüeñal: aproximadamente el doble de diámetro</a:t>
            </a:r>
            <a:endParaRPr lang="en-US" sz="1150" dirty="0"/>
          </a:p>
        </p:txBody>
      </p:sp>
      <p:sp>
        <p:nvSpPr>
          <p:cNvPr id="13" name="Shape 10"/>
          <p:cNvSpPr/>
          <p:nvPr/>
        </p:nvSpPr>
        <p:spPr>
          <a:xfrm>
            <a:off x="5669280" y="3529584"/>
            <a:ext cx="384048" cy="384048"/>
          </a:xfrm>
          <a:prstGeom prst="ellipse">
            <a:avLst/>
          </a:prstGeom>
          <a:solidFill>
            <a:schemeClr val="accent2"/>
          </a:solidFill>
          <a:ln w="12700">
            <a:solidFill>
              <a:schemeClr val="accent2"/>
            </a:solidFill>
            <a:prstDash val="solid"/>
          </a:ln>
        </p:spPr>
        <p:txBody>
          <a:bodyPr/>
          <a:p/>
        </p:txBody>
      </p:sp>
      <p:sp>
        <p:nvSpPr>
          <p:cNvPr id="14" name="Text 11"/>
          <p:cNvSpPr txBox="1"/>
          <p:nvPr/>
        </p:nvSpPr>
        <p:spPr>
          <a:xfrm>
            <a:off x="5669280" y="3529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2"/>
          <p:cNvSpPr txBox="1"/>
          <p:nvPr/>
        </p:nvSpPr>
        <p:spPr>
          <a:xfrm>
            <a:off x="6199632" y="3493008"/>
            <a:ext cx="5413248" cy="42062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permite deducir. </a:t>
            </a:r>
            <a:pPr indent="0" marL="0">
              <a:lnSpc>
                <a:spcPct val="106000"/>
              </a:lnSpc>
              <a:buNone/>
            </a:pPr>
            <a:r>
              <a:rPr lang="en-US" sz="1150" dirty="0">
                <a:solidFill>
                  <a:schemeClr val="accent4"/>
                </a:solidFill>
              </a:rPr>
              <a:t>si los dos piñones fueran iguales, el motor sería de dos tiempos o la distribución estaría mal concebida</a:t>
            </a:r>
            <a:endParaRPr lang="en-US" sz="1150" dirty="0"/>
          </a:p>
        </p:txBody>
      </p:sp>
      <p:sp>
        <p:nvSpPr>
          <p:cNvPr id="16" name="Shape 13"/>
          <p:cNvSpPr/>
          <p:nvPr/>
        </p:nvSpPr>
        <p:spPr>
          <a:xfrm>
            <a:off x="5669280" y="4005072"/>
            <a:ext cx="384048" cy="384048"/>
          </a:xfrm>
          <a:prstGeom prst="ellipse">
            <a:avLst/>
          </a:prstGeom>
          <a:solidFill>
            <a:schemeClr val="accent2"/>
          </a:solidFill>
          <a:ln w="12700">
            <a:solidFill>
              <a:schemeClr val="accent2"/>
            </a:solidFill>
            <a:prstDash val="solid"/>
          </a:ln>
        </p:spPr>
        <p:txBody>
          <a:bodyPr/>
          <a:p/>
        </p:txBody>
      </p:sp>
      <p:sp>
        <p:nvSpPr>
          <p:cNvPr id="17" name="Text 14"/>
          <p:cNvSpPr txBox="1"/>
          <p:nvPr/>
        </p:nvSpPr>
        <p:spPr>
          <a:xfrm>
            <a:off x="5669280" y="4005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5"/>
          <p:cNvSpPr txBox="1"/>
          <p:nvPr/>
        </p:nvSpPr>
        <p:spPr>
          <a:xfrm>
            <a:off x="6199632" y="3968496"/>
            <a:ext cx="5413248" cy="42062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En motores de varios árboles. </a:t>
            </a:r>
            <a:pPr indent="0" marL="0">
              <a:lnSpc>
                <a:spcPct val="106000"/>
              </a:lnSpc>
              <a:buNone/>
            </a:pPr>
            <a:r>
              <a:rPr lang="en-US" sz="1150" dirty="0">
                <a:solidFill>
                  <a:schemeClr val="accent4"/>
                </a:solidFill>
              </a:rPr>
              <a:t>cada árbol gira a la mitad del régimen del cigüeñal; entre árboles la relación es de uno a uno</a:t>
            </a:r>
            <a:endParaRPr lang="en-US" sz="1150" dirty="0"/>
          </a:p>
        </p:txBody>
      </p:sp>
      <p:sp>
        <p:nvSpPr>
          <p:cNvPr id="19" name="Shape 16"/>
          <p:cNvSpPr/>
          <p:nvPr/>
        </p:nvSpPr>
        <p:spPr>
          <a:xfrm>
            <a:off x="548640" y="4572000"/>
            <a:ext cx="11064240" cy="731520"/>
          </a:xfrm>
          <a:prstGeom prst="roundRect">
            <a:avLst>
              <a:gd name="adj" fmla="val 7500"/>
            </a:avLst>
          </a:prstGeom>
          <a:solidFill>
            <a:schemeClr val="bg2"/>
          </a:solidFill>
          <a:ln w="12700">
            <a:solidFill>
              <a:schemeClr val="bg2"/>
            </a:solidFill>
            <a:prstDash val="solid"/>
          </a:ln>
        </p:spPr>
        <p:txBody>
          <a:bodyPr/>
          <a:p/>
        </p:txBody>
      </p:sp>
      <p:sp>
        <p:nvSpPr>
          <p:cNvPr id="20" name="Shape 17"/>
          <p:cNvSpPr/>
          <p:nvPr/>
        </p:nvSpPr>
        <p:spPr>
          <a:xfrm>
            <a:off x="786384" y="4754880"/>
            <a:ext cx="365760" cy="365760"/>
          </a:xfrm>
          <a:prstGeom prst="ellipse">
            <a:avLst/>
          </a:prstGeom>
          <a:solidFill>
            <a:schemeClr val="accent2"/>
          </a:solidFill>
          <a:ln w="12700">
            <a:solidFill>
              <a:schemeClr val="accent2"/>
            </a:solidFill>
            <a:prstDash val="solid"/>
          </a:ln>
        </p:spPr>
        <p:txBody>
          <a:bodyPr/>
          <a:p/>
        </p:txBody>
      </p:sp>
      <p:sp>
        <p:nvSpPr>
          <p:cNvPr id="21" name="Text 18"/>
          <p:cNvSpPr txBox="1"/>
          <p:nvPr/>
        </p:nvSpPr>
        <p:spPr>
          <a:xfrm>
            <a:off x="786384" y="4754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466344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Ese doble de dientes es también la razón de que las marcas solo vuelvan a coincidir cada dos vueltas de cigüeñal, y de que la verificación del calado exija precisamente dos vueltas y no una.</a:t>
            </a:r>
            <a:endParaRPr lang="en-US" sz="1450" dirty="0"/>
          </a:p>
        </p:txBody>
      </p:sp>
      <p:sp>
        <p:nvSpPr>
          <p:cNvPr id="23" name="Text 20"/>
          <p:cNvSpPr txBox="1"/>
          <p:nvPr/>
        </p:nvSpPr>
        <p:spPr>
          <a:xfrm>
            <a:off x="548640" y="544068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Ejercicio para la clase:  contar los dientes de ambos piñones en el motor del laboratorio y comprobar la relación. Es una verificación de un minuto que confirma el concepto con la pieza en la mano.</a:t>
            </a:r>
            <a:endParaRPr lang="en-US" sz="1200" dirty="0"/>
          </a:p>
        </p:txBody>
      </p:sp>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 · habilidad de cálculo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Distribución variable: resolver el compromiso del diagrama</a:t>
            </a:r>
            <a:endParaRPr lang="en-US" sz="3200" dirty="0"/>
          </a:p>
        </p:txBody>
      </p:sp>
      <p:sp>
        <p:nvSpPr>
          <p:cNvPr id="3" name="tarjeta_1"/>
          <p:cNvSpPr/>
          <p:nvPr/>
        </p:nvSpPr>
        <p:spPr>
          <a:xfrm>
            <a:off x="54864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El problema que resuelve</a:t>
            </a:r>
            <a:endParaRPr lang="en-US" sz="1700" dirty="0"/>
          </a:p>
        </p:txBody>
      </p:sp>
      <p:sp>
        <p:nvSpPr>
          <p:cNvPr id="7" name="Text 5"/>
          <p:cNvSpPr txBox="1"/>
          <p:nvPr/>
        </p:nvSpPr>
        <p:spPr>
          <a:xfrm>
            <a:off x="804672" y="2167128"/>
            <a:ext cx="2993136" cy="13167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Un diagrama de distribución fijo obliga a elegir: o par a bajo régimen o potencia a alto. No se pueden tener ambos con una leva de perfil fijo.</a:t>
            </a:r>
            <a:endParaRPr lang="en-US" sz="1150" dirty="0"/>
          </a:p>
        </p:txBody>
      </p:sp>
      <p:sp>
        <p:nvSpPr>
          <p:cNvPr id="8" name="tarjeta_2"/>
          <p:cNvSpPr/>
          <p:nvPr/>
        </p:nvSpPr>
        <p:spPr>
          <a:xfrm>
            <a:off x="432816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Variación de fase</a:t>
            </a:r>
            <a:endParaRPr lang="en-US" sz="1700" dirty="0"/>
          </a:p>
        </p:txBody>
      </p:sp>
      <p:sp>
        <p:nvSpPr>
          <p:cNvPr id="12" name="Text 10"/>
          <p:cNvSpPr txBox="1"/>
          <p:nvPr/>
        </p:nvSpPr>
        <p:spPr>
          <a:xfrm>
            <a:off x="4584192" y="2167128"/>
            <a:ext cx="2993136" cy="13167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Un actuador gira ligeramente el árbol de levas respecto a su piñón, adelantando o retrasando todos sus ángulos según el régimen y la carga.</a:t>
            </a:r>
            <a:endParaRPr lang="en-US" sz="1150" dirty="0"/>
          </a:p>
        </p:txBody>
      </p:sp>
      <p:sp>
        <p:nvSpPr>
          <p:cNvPr id="13" name="tarjeta_3"/>
          <p:cNvSpPr/>
          <p:nvPr/>
        </p:nvSpPr>
        <p:spPr>
          <a:xfrm>
            <a:off x="810768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Variación de alzada</a:t>
            </a:r>
            <a:endParaRPr lang="en-US" sz="1700" dirty="0"/>
          </a:p>
        </p:txBody>
      </p:sp>
      <p:sp>
        <p:nvSpPr>
          <p:cNvPr id="17" name="Text 15"/>
          <p:cNvSpPr txBox="1"/>
          <p:nvPr/>
        </p:nvSpPr>
        <p:spPr>
          <a:xfrm>
            <a:off x="8363712" y="2167128"/>
            <a:ext cx="2993136" cy="13167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Sistemas con dos perfiles de leva por válvula: uno suave para bajo régimen y otro agresivo que entra a partir de cierto punto.</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11064240" cy="914400"/>
        </p:xfrm>
        <a:graphic>
          <a:graphicData uri="http://schemas.openxmlformats.org/drawingml/2006/table">
            <a:tbl>
              <a:tblPr/>
              <a:tblGrid>
                <a:gridCol w="2926080"/>
                <a:gridCol w="4023360"/>
                <a:gridCol w="4114800"/>
              </a:tblGrid>
              <a:tr h="402336">
                <a:tc>
                  <a:txBody>
                    <a:bodyPr/>
                    <a:lstStyle/>
                    <a:p>
                      <a:pPr indent="0" marL="0">
                        <a:buNone/>
                      </a:pPr>
                      <a:r>
                        <a:rPr lang="en-US" sz="1300" b="1" dirty="0">
                          <a:solidFill>
                            <a:srgbClr val="FFFFFF"/>
                          </a:solidFill>
                        </a:rPr>
                        <a:t>Consecuencia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A bajo régimen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A alto régimen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02336">
                <a:tc>
                  <a:txBody>
                    <a:bodyPr/>
                    <a:lstStyle/>
                    <a:p>
                      <a:pPr indent="0" marL="0">
                        <a:buNone/>
                      </a:pPr>
                      <a:r>
                        <a:rPr lang="en-US" sz="1100" b="1" dirty="0">
                          <a:solidFill>
                            <a:schemeClr val="tx1"/>
                          </a:solidFill>
                        </a:rPr>
                        <a:t>Cruce de válvulas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Se reduce: ralentí estable y buen par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Se amplía: mejor barrido y mejor llenado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Cierre de la admisión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Se adelanta: aprovecha mejor la poca inercia del gas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Se retrasa: aprovecha la inercia alta de la columna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Resultado perceptible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Par disponible desde muy abajo, consumo contenido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Potencia máxima sin sacrificar lo anterior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0" name="Shape 17"/>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21" name="Text 18"/>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La distribución variable es la respuesta al compromiso que se planteó al estudiar el diagrama de distribución: si los ángulos óptimos dependen del régimen, hágase que los ángulos cambien con el régimen.</a:t>
            </a:r>
            <a:endParaRPr lang="en-US" sz="11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 · contexto de los sistemas actuales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Dos soluciones extremas: desmodrómico y sin árbol de levas</a:t>
            </a:r>
            <a:endParaRPr lang="en-US" sz="3200" dirty="0"/>
          </a:p>
        </p:txBody>
      </p:sp>
      <p:sp>
        <p:nvSpPr>
          <p:cNvPr id="3" name="marco_figura"/>
          <p:cNvSpPr/>
          <p:nvPr/>
        </p:nvSpPr>
        <p:spPr>
          <a:xfrm>
            <a:off x="548640" y="1371600"/>
            <a:ext cx="493776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freevalve.jpg">    </p:cNvPr>
          <p:cNvPicPr>
            <a:picLocks noChangeAspect="1"/>
          </p:cNvPicPr>
          <p:nvPr/>
        </p:nvPicPr>
        <p:blipFill>
          <a:blip r:embed="rId1"/>
          <a:srcRect l="0" r="0" t="0" b="0"/>
          <a:stretch/>
        </p:blipFill>
        <p:spPr>
          <a:xfrm>
            <a:off x="658368" y="1481328"/>
            <a:ext cx="4718304" cy="2340864"/>
          </a:xfrm>
          <a:prstGeom prst="rect">
            <a:avLst/>
          </a:prstGeom>
        </p:spPr>
      </p:pic>
      <p:sp>
        <p:nvSpPr>
          <p:cNvPr id="5" name="Text 2"/>
          <p:cNvSpPr txBox="1"/>
          <p:nvPr/>
        </p:nvSpPr>
        <p:spPr>
          <a:xfrm>
            <a:off x="658368" y="393192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20. </a:t>
            </a:r>
            <a:pPr indent="0" marL="0">
              <a:lnSpc>
                <a:spcPct val="102000"/>
              </a:lnSpc>
              <a:buNone/>
            </a:pPr>
            <a:r>
              <a:rPr lang="en-US" sz="1000" dirty="0">
                <a:solidFill>
                  <a:schemeClr val="accent4"/>
                </a:solidFill>
              </a:rPr>
              <a:t>Sistema sin árbol de levas: actuador neumático y sensor de posición por válvula. Adaptado de Minga González, M. A. (s. f.). Sistemas auxiliares del motor [diapositivas]. ISTS.</a:t>
            </a:r>
            <a:endParaRPr lang="en-US" sz="1000" dirty="0"/>
          </a:p>
        </p:txBody>
      </p:sp>
      <p:sp>
        <p:nvSpPr>
          <p:cNvPr id="6" name="Shape 3"/>
          <p:cNvSpPr/>
          <p:nvPr/>
        </p:nvSpPr>
        <p:spPr>
          <a:xfrm>
            <a:off x="58521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8521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382512" y="1463040"/>
            <a:ext cx="523036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Mando desmodrómico. </a:t>
            </a:r>
            <a:pPr indent="0" marL="0">
              <a:lnSpc>
                <a:spcPct val="106000"/>
              </a:lnSpc>
              <a:buNone/>
            </a:pPr>
            <a:r>
              <a:rPr lang="en-US" sz="1150" dirty="0">
                <a:solidFill>
                  <a:schemeClr val="accent4"/>
                </a:solidFill>
              </a:rPr>
              <a:t>suprime el muelle: una segunda leva cierra la válvula mecánicamente, de modo que la flotación desaparece por completo</a:t>
            </a:r>
            <a:endParaRPr lang="en-US" sz="1150" dirty="0"/>
          </a:p>
        </p:txBody>
      </p:sp>
      <p:sp>
        <p:nvSpPr>
          <p:cNvPr id="9" name="Shape 6"/>
          <p:cNvSpPr/>
          <p:nvPr/>
        </p:nvSpPr>
        <p:spPr>
          <a:xfrm>
            <a:off x="585216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85216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382512" y="2121408"/>
            <a:ext cx="523036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permite. </a:t>
            </a:r>
            <a:pPr indent="0" marL="0">
              <a:lnSpc>
                <a:spcPct val="106000"/>
              </a:lnSpc>
              <a:buNone/>
            </a:pPr>
            <a:r>
              <a:rPr lang="en-US" sz="1150" dirty="0">
                <a:solidFill>
                  <a:schemeClr val="accent4"/>
                </a:solidFill>
              </a:rPr>
              <a:t>regímenes muy superiores a los de un motor con muelle, porque ya no hay un límite impuesto por la inercia de la válvula</a:t>
            </a:r>
            <a:endParaRPr lang="en-US" sz="1150" dirty="0"/>
          </a:p>
        </p:txBody>
      </p:sp>
      <p:sp>
        <p:nvSpPr>
          <p:cNvPr id="12" name="Shape 9"/>
          <p:cNvSpPr/>
          <p:nvPr/>
        </p:nvSpPr>
        <p:spPr>
          <a:xfrm>
            <a:off x="585216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85216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382512" y="2779776"/>
            <a:ext cx="523036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no se generalizó. </a:t>
            </a:r>
            <a:pPr indent="0" marL="0">
              <a:lnSpc>
                <a:spcPct val="106000"/>
              </a:lnSpc>
              <a:buNone/>
            </a:pPr>
            <a:r>
              <a:rPr lang="en-US" sz="1150" dirty="0">
                <a:solidFill>
                  <a:schemeClr val="accent4"/>
                </a:solidFill>
              </a:rPr>
              <a:t>costo de fabricación muy alto, ajuste complejo y mantenimiento exigente; solo se justifica en competición</a:t>
            </a:r>
            <a:endParaRPr lang="en-US" sz="1150" dirty="0"/>
          </a:p>
        </p:txBody>
      </p:sp>
      <p:sp>
        <p:nvSpPr>
          <p:cNvPr id="15" name="Shape 12"/>
          <p:cNvSpPr/>
          <p:nvPr/>
        </p:nvSpPr>
        <p:spPr>
          <a:xfrm>
            <a:off x="585216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85216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382512" y="3438144"/>
            <a:ext cx="523036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Sistemas sin árbol de levas. </a:t>
            </a:r>
            <a:pPr indent="0" marL="0">
              <a:lnSpc>
                <a:spcPct val="106000"/>
              </a:lnSpc>
              <a:buNone/>
            </a:pPr>
            <a:r>
              <a:rPr lang="en-US" sz="1150" dirty="0">
                <a:solidFill>
                  <a:schemeClr val="accent4"/>
                </a:solidFill>
              </a:rPr>
              <a:t>cada válvula lleva su propio actuador y su sensor; el instante, la alzada y la duración se deciden por software en cada ciclo</a:t>
            </a:r>
            <a:endParaRPr lang="en-US" sz="1150" dirty="0"/>
          </a:p>
        </p:txBody>
      </p:sp>
      <p:sp>
        <p:nvSpPr>
          <p:cNvPr id="18" name="Shape 15"/>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19" name="Shape 16"/>
          <p:cNvSpPr/>
          <p:nvPr/>
        </p:nvSpPr>
        <p:spPr>
          <a:xfrm>
            <a:off x="786384" y="4434840"/>
            <a:ext cx="365760" cy="365760"/>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sistemas sin árbol de levas llevan la distribución variable hasta su conclusión: si cada válvula tiene su propio actuador, el diagrama de distribución deja de ser una propiedad del motor y pasa a ser una decisión del programa, cilindro a cilindro y ciclo a ciclo.</a:t>
            </a:r>
            <a:endParaRPr lang="en-US" sz="1450" dirty="0"/>
          </a:p>
        </p:txBody>
      </p:sp>
      <p:sp>
        <p:nvSpPr>
          <p:cNvPr id="22" name="Text 19"/>
          <p:cNvSpPr txBox="1"/>
          <p:nvPr/>
        </p:nvSpPr>
        <p:spPr>
          <a:xfrm>
            <a:off x="548640" y="5120640"/>
            <a:ext cx="11064240" cy="640080"/>
          </a:xfrm>
          <a:prstGeom prst="rect">
            <a:avLst/>
          </a:prstGeom>
          <a:noFill/>
          <a:ln/>
        </p:spPr>
        <p:txBody>
          <a:bodyPr wrap="square" lIns="0" tIns="0" rIns="0" bIns="0" rtlCol="0" anchor="t"/>
          <a:lstStyle/>
          <a:p>
            <a:pPr algn="l" indent="0" marL="0">
              <a:lnSpc>
                <a:spcPct val="110000"/>
              </a:lnSpc>
              <a:buNone/>
            </a:pPr>
            <a:r>
              <a:rPr lang="en-US" sz="1200" dirty="0">
                <a:solidFill>
                  <a:schemeClr val="accent4"/>
                </a:solidFill>
              </a:rPr>
              <a:t>Alcance en esta asignatura:  ambos sistemas se presentan como contexto tecnológico. El PEA declara el estudio del sistema de distribución convencional, que es el que se desarma y se pone a punto en la práctica. Conocer hacia dónde evoluciona la tecnología forma parte de la formación profesional, pero no sustituye al dominio del sistema que hay en el taller.</a:t>
            </a:r>
            <a:endParaRPr lang="en-US" sz="12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 · contexto tecnológico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clase 3.1</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distribución sincroniza, no solo abre. </a:t>
            </a:r>
            <a:pPr indent="0" marL="0">
              <a:lnSpc>
                <a:spcPct val="106000"/>
              </a:lnSpc>
              <a:buNone/>
            </a:pPr>
            <a:r>
              <a:rPr lang="en-US" sz="1250" dirty="0">
                <a:solidFill>
                  <a:schemeClr val="accent4"/>
                </a:solidFill>
              </a:rPr>
              <a:t>el árbol de levas debe girar a la mitad del régimen del cigüeñal y, además, en una posición angular exacta; esa posición es lo que se pierde cuando un motor queda fuera de punto</a:t>
            </a:r>
            <a:endParaRPr lang="en-US" sz="1250" dirty="0"/>
          </a:p>
        </p:txBody>
      </p:sp>
      <p:sp>
        <p:nvSpPr>
          <p:cNvPr id="6" name="Shape 4"/>
          <p:cNvSpPr/>
          <p:nvPr/>
        </p:nvSpPr>
        <p:spPr>
          <a:xfrm>
            <a:off x="548640" y="211226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75688"/>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perfil de la leva contiene el diagrama. </a:t>
            </a:r>
            <a:pPr indent="0" marL="0">
              <a:lnSpc>
                <a:spcPct val="106000"/>
              </a:lnSpc>
              <a:buNone/>
            </a:pPr>
            <a:r>
              <a:rPr lang="en-US" sz="1250" dirty="0">
                <a:solidFill>
                  <a:schemeClr val="accent4"/>
                </a:solidFill>
              </a:rPr>
              <a:t>instante de apertura, alzada y duración están labrados en el metal; los avances y retrasos no se ajustan en el taller</a:t>
            </a:r>
            <a:endParaRPr lang="en-US" sz="1250" dirty="0"/>
          </a:p>
        </p:txBody>
      </p:sp>
      <p:sp>
        <p:nvSpPr>
          <p:cNvPr id="9" name="Shape 7"/>
          <p:cNvSpPr/>
          <p:nvPr/>
        </p:nvSpPr>
        <p:spPr>
          <a:xfrm>
            <a:off x="548640" y="27706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34056"/>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Los tiempos reales no son los teóricos. </a:t>
            </a:r>
            <a:pPr indent="0" marL="0">
              <a:lnSpc>
                <a:spcPct val="106000"/>
              </a:lnSpc>
              <a:buNone/>
            </a:pPr>
            <a:r>
              <a:rPr lang="en-US" sz="1250" dirty="0">
                <a:solidFill>
                  <a:schemeClr val="accent4"/>
                </a:solidFill>
              </a:rPr>
              <a:t>porque la válvula necesita tiempo para abrir y porque los gases tienen inercia; de ahí los avances, los retrasos y el cruce</a:t>
            </a:r>
            <a:endParaRPr lang="en-US" sz="1250" dirty="0"/>
          </a:p>
        </p:txBody>
      </p:sp>
      <p:sp>
        <p:nvSpPr>
          <p:cNvPr id="12" name="Shape 10"/>
          <p:cNvSpPr/>
          <p:nvPr/>
        </p:nvSpPr>
        <p:spPr>
          <a:xfrm>
            <a:off x="548640" y="342900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392424"/>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cruce de válvulas tiene un precio. </a:t>
            </a:r>
            <a:pPr indent="0" marL="0">
              <a:lnSpc>
                <a:spcPct val="106000"/>
              </a:lnSpc>
              <a:buNone/>
            </a:pPr>
            <a:r>
              <a:rPr lang="en-US" sz="1250" dirty="0">
                <a:solidFill>
                  <a:schemeClr val="accent4"/>
                </a:solidFill>
              </a:rPr>
              <a:t>amplio mejora el llenado arriba y arruina el ralentí; reducido da buen ralentí y limita arriba; la distribución variable resuelve el compromiso</a:t>
            </a:r>
            <a:endParaRPr lang="en-US" sz="1250" dirty="0"/>
          </a:p>
        </p:txBody>
      </p:sp>
      <p:sp>
        <p:nvSpPr>
          <p:cNvPr id="15" name="Shape 13"/>
          <p:cNvSpPr/>
          <p:nvPr/>
        </p:nvSpPr>
        <p:spPr>
          <a:xfrm>
            <a:off x="548640" y="4087368"/>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4050792"/>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Cada arquitectura resuelve y complica. </a:t>
            </a:r>
            <a:pPr indent="0" marL="0">
              <a:lnSpc>
                <a:spcPct val="106000"/>
              </a:lnSpc>
              <a:buNone/>
            </a:pPr>
            <a:r>
              <a:rPr lang="en-US" sz="1250" dirty="0">
                <a:solidFill>
                  <a:schemeClr val="accent4"/>
                </a:solidFill>
              </a:rPr>
              <a:t>subir el árbol a la culata quita masa y permite más régimen, pero alarga la transmisión y le añade mantenimiento</a:t>
            </a:r>
            <a:endParaRPr lang="en-US" sz="1250" dirty="0"/>
          </a:p>
        </p:txBody>
      </p:sp>
      <p:sp>
        <p:nvSpPr>
          <p:cNvPr id="18" name="Shape 16"/>
          <p:cNvSpPr/>
          <p:nvPr/>
        </p:nvSpPr>
        <p:spPr>
          <a:xfrm>
            <a:off x="548640" y="474573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470916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accionamiento decide el mantenimiento. </a:t>
            </a:r>
            <a:pPr indent="0" marL="0">
              <a:lnSpc>
                <a:spcPct val="106000"/>
              </a:lnSpc>
              <a:buNone/>
            </a:pPr>
            <a:r>
              <a:rPr lang="en-US" sz="1250" dirty="0">
                <a:solidFill>
                  <a:schemeClr val="accent4"/>
                </a:solidFill>
              </a:rPr>
              <a:t>piñones y cadena duran y avisan; la correa es silenciosa y barata pero falla de golpe y se cambia por tiempo además de por kilometraje</a:t>
            </a:r>
            <a:endParaRPr lang="en-US" sz="1250" dirty="0"/>
          </a:p>
        </p:txBody>
      </p:sp>
      <p:sp>
        <p:nvSpPr>
          <p:cNvPr id="21" name="Shape 19"/>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2" name="Shape 20"/>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Pregunta de autoevaluación: un motor con correa de distribución tiene nueve años y cuarenta mil kilómetros. El cliente dice que no hace falta cambiarla porque apenas la ha usado. ¿Qué le responde y con qué argumento?</a:t>
            </a:r>
            <a:endParaRPr lang="en-US" sz="1250" dirty="0"/>
          </a:p>
        </p:txBody>
      </p:sp>
      <p:sp>
        <p:nvSpPr>
          <p:cNvPr id="25"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cierre del conocimiento 1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Ejercicio de reconocimiento en el laboratorio</a:t>
            </a:r>
            <a:endParaRPr lang="en-US" sz="3200" dirty="0"/>
          </a:p>
        </p:txBody>
      </p:sp>
      <p:sp>
        <p:nvSpPr>
          <p:cNvPr id="3" name="marco_figura"/>
          <p:cNvSpPr/>
          <p:nvPr/>
        </p:nvSpPr>
        <p:spPr>
          <a:xfrm>
            <a:off x="548640" y="1371600"/>
            <a:ext cx="475488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motor_corte.jpg">    </p:cNvPr>
          <p:cNvPicPr>
            <a:picLocks noChangeAspect="1"/>
          </p:cNvPicPr>
          <p:nvPr/>
        </p:nvPicPr>
        <p:blipFill>
          <a:blip r:embed="rId1"/>
          <a:srcRect l="0" r="0" t="0" b="0"/>
          <a:stretch/>
        </p:blipFill>
        <p:spPr>
          <a:xfrm>
            <a:off x="658368" y="1481328"/>
            <a:ext cx="4535424" cy="2340864"/>
          </a:xfrm>
          <a:prstGeom prst="rect">
            <a:avLst/>
          </a:prstGeom>
        </p:spPr>
      </p:pic>
      <p:sp>
        <p:nvSpPr>
          <p:cNvPr id="5" name="Text 2"/>
          <p:cNvSpPr txBox="1"/>
          <p:nvPr/>
        </p:nvSpPr>
        <p:spPr>
          <a:xfrm>
            <a:off x="658368" y="393192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21. </a:t>
            </a:r>
            <a:pPr indent="0" marL="0">
              <a:lnSpc>
                <a:spcPct val="102000"/>
              </a:lnSpc>
              <a:buNone/>
            </a:pPr>
            <a:r>
              <a:rPr lang="en-US" sz="1000" dirty="0">
                <a:solidFill>
                  <a:schemeClr val="accent4"/>
                </a:solidFill>
              </a:rPr>
              <a:t>Motor seccionado: árbol de levas, correa y tren alternativo a la vista. Adaptado de Minga González, M. A. (s. f.). Sistemas auxiliares del motor [diapositivas]. ISTS.</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0" y="1371600"/>
          <a:ext cx="5943600" cy="914400"/>
        </p:xfrm>
        <a:graphic>
          <a:graphicData uri="http://schemas.openxmlformats.org/drawingml/2006/table">
            <a:tbl>
              <a:tblPr/>
              <a:tblGrid>
                <a:gridCol w="2926080"/>
                <a:gridCol w="3017520"/>
              </a:tblGrid>
              <a:tr h="384048">
                <a:tc>
                  <a:txBody>
                    <a:bodyPr/>
                    <a:lstStyle/>
                    <a:p>
                      <a:pPr indent="0" marL="0">
                        <a:buNone/>
                      </a:pPr>
                      <a:r>
                        <a:rPr lang="en-US" sz="1300" b="1" dirty="0">
                          <a:solidFill>
                            <a:srgbClr val="FFFFFF"/>
                          </a:solidFill>
                        </a:rPr>
                        <a:t>Qué hay que determinar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determina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00" b="1" dirty="0">
                          <a:solidFill>
                            <a:schemeClr val="tx1"/>
                          </a:solidFill>
                        </a:rPr>
                        <a:t>Arquitectura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Mirar dónde está el árbol de levas y si hay varillas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Número de árboles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Contar los ejes sobre la culata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Válvulas por cilindro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Contar los vástagos de un cilindro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Tipo de accionamiento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Retirar la cubierta y ver si hay correa, cadena o piñones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Forma de accionar la válvula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Observar si hay balancines, vasos o rodillos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Tipo de reglaje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Deducirlo de lo anterior: tornillo, pastilla o hidráulico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206240"/>
            <a:ext cx="11064240" cy="731520"/>
          </a:xfrm>
          <a:prstGeom prst="roundRect">
            <a:avLst>
              <a:gd name="adj" fmla="val 7500"/>
            </a:avLst>
          </a:prstGeom>
          <a:solidFill>
            <a:schemeClr val="bg2"/>
          </a:solidFill>
          <a:ln w="12700">
            <a:solidFill>
              <a:schemeClr val="bg2"/>
            </a:solidFill>
            <a:prstDash val="solid"/>
          </a:ln>
        </p:spPr>
        <p:txBody>
          <a:bodyPr/>
          <a:p/>
        </p:txBody>
      </p:sp>
      <p:sp>
        <p:nvSpPr>
          <p:cNvPr id="8" name="Shape 4"/>
          <p:cNvSpPr/>
          <p:nvPr/>
        </p:nvSpPr>
        <p:spPr>
          <a:xfrm>
            <a:off x="786384" y="4389120"/>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786384"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9768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Este ejercicio se hace sobre cada motor disponible en el laboratorio y su resultado se recoge en el cuadro comparativo, que es el producto colaborativo de la clase 3.1.</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se entrega. </a:t>
            </a:r>
            <a:pPr indent="0" marL="0">
              <a:lnSpc>
                <a:spcPct val="106000"/>
              </a:lnSpc>
              <a:buNone/>
            </a:pPr>
            <a:r>
              <a:rPr lang="en-US" sz="1150" dirty="0">
                <a:solidFill>
                  <a:schemeClr val="accent4"/>
                </a:solidFill>
              </a:rPr>
              <a:t>una ficha por motor con las seis determinaciones, fotografiada y acompañada de una justificación breve de cada una</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se evalúa. </a:t>
            </a:r>
            <a:pPr indent="0" marL="0">
              <a:lnSpc>
                <a:spcPct val="106000"/>
              </a:lnSpc>
              <a:buNone/>
            </a:pPr>
            <a:r>
              <a:rPr lang="en-US" sz="1150" dirty="0">
                <a:solidFill>
                  <a:schemeClr val="accent4"/>
                </a:solidFill>
              </a:rPr>
              <a:t>no acertar la respuesta, sino justificarla: qué se miró para llegar a esa conclusión</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Seguridad. </a:t>
            </a:r>
            <a:pPr indent="0" marL="0">
              <a:lnSpc>
                <a:spcPct val="106000"/>
              </a:lnSpc>
              <a:buNone/>
            </a:pPr>
            <a:r>
              <a:rPr lang="en-US" sz="1150" dirty="0">
                <a:solidFill>
                  <a:schemeClr val="accent4"/>
                </a:solidFill>
              </a:rPr>
              <a:t>motores fríos, asegurados y sin posibilidad de giro accidental; nunca introducir los dedos entre correas y poleas</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 trabajo colaborativo declarado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Las magnitudes del diagrama y cómo se calculan</a:t>
            </a:r>
            <a:endParaRPr lang="en-US" sz="3200" dirty="0"/>
          </a:p>
        </p:txBody>
      </p:sp>
      <p:sp>
        <p:nvSpPr>
          <p:cNvPr id="3" name="Shape 1"/>
          <p:cNvSpPr/>
          <p:nvPr/>
        </p:nvSpPr>
        <p:spPr>
          <a:xfrm>
            <a:off x="548640" y="1371600"/>
            <a:ext cx="53949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Duración de la admisión</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α</m:t>
                          </m:r>
                        </m:e>
                        <m:sub>
                          <m:r>
                            <a:rPr lang="es-EC" sz="2400" b="1" dirty="0" i="0">
                              <a:solidFill>
                                <a:srgbClr val="C0451C"/>
                              </a:solidFill>
                              <a:latin typeface="Cambria Math" panose="02040503050406030204" pitchFamily="18" charset="0"/>
                            </a:rPr>
                            <m:t xml:space="preserve">a</m:t>
                          </m:r>
                        </m:sub>
                      </m:sSub>
                      <m:r>
                        <a:rPr lang="es-EC" sz="2400" b="1" dirty="0" i="0">
                          <a:solidFill>
                            <a:srgbClr val="C0451C"/>
                          </a:solidFill>
                          <a:latin typeface="Cambria Math" panose="02040503050406030204" pitchFamily="18" charset="0"/>
                        </a:rPr>
                        <m:t xml:space="preserve"> = </m:t>
                      </m:r>
                      <m:r>
                        <a:rPr lang="es-EC" sz="2400" b="1" dirty="0" i="1">
                          <a:solidFill>
                            <a:srgbClr val="C0451C"/>
                          </a:solidFill>
                          <a:latin typeface="Cambria Math" panose="02040503050406030204" pitchFamily="18" charset="0"/>
                        </a:rPr>
                        <m:t xml:space="preserve">AAA</m:t>
                      </m:r>
                      <m:r>
                        <a:rPr lang="es-EC" sz="2400" b="1" dirty="0" i="0">
                          <a:solidFill>
                            <a:srgbClr val="C0451C"/>
                          </a:solidFill>
                          <a:latin typeface="Cambria Math" panose="02040503050406030204" pitchFamily="18" charset="0"/>
                        </a:rPr>
                        <m:t xml:space="preserve"> + </m:t>
                      </m:r>
                      <m:r>
                        <a:rPr lang="es-EC" sz="2400" b="1" dirty="0" i="0">
                          <a:solidFill>
                            <a:srgbClr val="C0451C"/>
                          </a:solidFill>
                          <a:latin typeface="Cambria Math" panose="02040503050406030204" pitchFamily="18" charset="0"/>
                        </a:rPr>
                        <m:t xml:space="preserve">180</m:t>
                      </m:r>
                      <m:r>
                        <a:rPr lang="es-EC" sz="2400" b="1" dirty="0" i="0">
                          <a:solidFill>
                            <a:srgbClr val="C0451C"/>
                          </a:solidFill>
                          <a:latin typeface="Cambria Math" panose="02040503050406030204" pitchFamily="18" charset="0"/>
                        </a:rPr>
                        <m:t xml:space="preserve"> + </m:t>
                      </m:r>
                      <m:r>
                        <a:rPr lang="es-EC" sz="2400" b="1" dirty="0" i="1">
                          <a:solidFill>
                            <a:srgbClr val="C0451C"/>
                          </a:solidFill>
                          <a:latin typeface="Cambria Math" panose="02040503050406030204" pitchFamily="18" charset="0"/>
                        </a:rPr>
                        <m:t xml:space="preserve">RCA</m:t>
                      </m:r>
                    </m:oMath>
                  </m:oMathPara>
                </a14:m>
                <a:endParaRPr lang="es-EC" sz="24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400" b="1" dirty="0">
                    <a:solidFill>
                      <a:srgbClr val="C0451C"/>
                    </a:solidFill>
                  </a:rPr>
                  <a:t xml:space="preserve">α</a:t>
                </a:r>
                <a:r>
                  <a:rPr lang="es-EC" sz="2400" b="1" baseline="-25000" dirty="0">
                    <a:solidFill>
                      <a:srgbClr val="C0451C"/>
                    </a:solidFill>
                  </a:rPr>
                  <a:t xml:space="preserve">a</a:t>
                </a:r>
                <a:r>
                  <a:rPr lang="es-EC" sz="2400" b="1" dirty="0">
                    <a:solidFill>
                      <a:srgbClr val="C0451C"/>
                    </a:solidFill>
                  </a:rPr>
                  <a:t xml:space="preserve"> = </a:t>
                </a:r>
                <a:r>
                  <a:rPr lang="es-EC" sz="2400" b="1" dirty="0">
                    <a:solidFill>
                      <a:srgbClr val="C0451C"/>
                    </a:solidFill>
                  </a:rPr>
                  <a:t xml:space="preserve">AAA</a:t>
                </a:r>
                <a:r>
                  <a:rPr lang="es-EC" sz="2400" b="1" dirty="0">
                    <a:solidFill>
                      <a:srgbClr val="C0451C"/>
                    </a:solidFill>
                  </a:rPr>
                  <a:t xml:space="preserve"> + </a:t>
                </a:r>
                <a:r>
                  <a:rPr lang="es-EC" sz="2400" b="1" dirty="0">
                    <a:solidFill>
                      <a:srgbClr val="C0451C"/>
                    </a:solidFill>
                  </a:rPr>
                  <a:t xml:space="preserve">180</a:t>
                </a:r>
                <a:r>
                  <a:rPr lang="es-EC" sz="2400" b="1" dirty="0">
                    <a:solidFill>
                      <a:srgbClr val="C0451C"/>
                    </a:solidFill>
                  </a:rPr>
                  <a:t xml:space="preserve"> + </a:t>
                </a:r>
                <a:r>
                  <a:rPr lang="es-EC" sz="2400" b="1" dirty="0">
                    <a:solidFill>
                      <a:srgbClr val="C0451C"/>
                    </a:solidFill>
                  </a:rPr>
                  <a:t xml:space="preserve">RCA</a:t>
                </a:r>
              </a:p>
            </p:txBody>
          </p:sp>
        </mc:Fallback>
      </mc:AlternateContent>
      <p:sp>
        <p:nvSpPr>
          <p:cNvPr id="6" name="Text 4"/>
          <p:cNvSpPr txBox="1"/>
          <p:nvPr/>
        </p:nvSpPr>
        <p:spPr>
          <a:xfrm>
            <a:off x="786384" y="2706624"/>
            <a:ext cx="4919472" cy="822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Grados de cigüeñal durante los que la válvula de admisión permanece abierta.</a:t>
            </a:r>
            <a:endParaRPr lang="en-US" sz="1300" dirty="0"/>
          </a:p>
        </p:txBody>
      </p:sp>
      <p:sp>
        <p:nvSpPr>
          <p:cNvPr id="7" name="Shape 5"/>
          <p:cNvSpPr/>
          <p:nvPr/>
        </p:nvSpPr>
        <p:spPr>
          <a:xfrm>
            <a:off x="6217920" y="1371600"/>
            <a:ext cx="53949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645566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Duración del escape</a:t>
            </a:r>
            <a:endParaRPr lang="en-US" sz="1700" dirty="0"/>
          </a:p>
        </p:txBody>
      </p:sp>
      <mc:AlternateContent xmlns:mc="http://schemas.openxmlformats.org/markup-compatibility/2006" xmlns:a14="http://schemas.microsoft.com/office/drawing/2010/main">
        <mc:Choice Requires="a14">
          <p:sp>
            <p:nvSpPr>
              <p:cNvPr id="9" name="Text 7"/>
              <p:cNvSpPr txBox="1"/>
              <p:nvPr/>
            </p:nvSpPr>
            <p:spPr>
              <a:xfrm>
                <a:off x="645566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2458C4"/>
                              </a:solidFill>
                              <a:latin typeface="Cambria Math" panose="02040503050406030204" pitchFamily="18" charset="0"/>
                            </a:rPr>
                          </m:ctrlPr>
                        </m:sSubPr>
                        <m:e>
                          <m:r>
                            <a:rPr lang="es-EC" sz="2400" b="1" dirty="0" i="1">
                              <a:solidFill>
                                <a:srgbClr val="2458C4"/>
                              </a:solidFill>
                              <a:latin typeface="Cambria Math" panose="02040503050406030204" pitchFamily="18" charset="0"/>
                            </a:rPr>
                            <m:t xml:space="preserve">α</m:t>
                          </m:r>
                        </m:e>
                        <m:sub>
                          <m:r>
                            <a:rPr lang="es-EC" sz="2400" b="1" dirty="0" i="0">
                              <a:solidFill>
                                <a:srgbClr val="2458C4"/>
                              </a:solidFill>
                              <a:latin typeface="Cambria Math" panose="02040503050406030204" pitchFamily="18" charset="0"/>
                            </a:rPr>
                            <m:t xml:space="preserve">s</m:t>
                          </m:r>
                        </m:sub>
                      </m:sSub>
                      <m:r>
                        <a:rPr lang="es-EC" sz="2400" b="1" dirty="0" i="0">
                          <a:solidFill>
                            <a:srgbClr val="2458C4"/>
                          </a:solidFill>
                          <a:latin typeface="Cambria Math" panose="02040503050406030204" pitchFamily="18" charset="0"/>
                        </a:rPr>
                        <m:t xml:space="preserve"> = </m:t>
                      </m:r>
                      <m:r>
                        <a:rPr lang="es-EC" sz="2400" b="1" dirty="0" i="1">
                          <a:solidFill>
                            <a:srgbClr val="2458C4"/>
                          </a:solidFill>
                          <a:latin typeface="Cambria Math" panose="02040503050406030204" pitchFamily="18" charset="0"/>
                        </a:rPr>
                        <m:t xml:space="preserve">AAE</m:t>
                      </m:r>
                      <m:r>
                        <a:rPr lang="es-EC" sz="2400" b="1" dirty="0" i="0">
                          <a:solidFill>
                            <a:srgbClr val="2458C4"/>
                          </a:solidFill>
                          <a:latin typeface="Cambria Math" panose="02040503050406030204" pitchFamily="18" charset="0"/>
                        </a:rPr>
                        <m:t xml:space="preserve"> + </m:t>
                      </m:r>
                      <m:r>
                        <a:rPr lang="es-EC" sz="2400" b="1" dirty="0" i="0">
                          <a:solidFill>
                            <a:srgbClr val="2458C4"/>
                          </a:solidFill>
                          <a:latin typeface="Cambria Math" panose="02040503050406030204" pitchFamily="18" charset="0"/>
                        </a:rPr>
                        <m:t xml:space="preserve">180</m:t>
                      </m:r>
                      <m:r>
                        <a:rPr lang="es-EC" sz="2400" b="1" dirty="0" i="0">
                          <a:solidFill>
                            <a:srgbClr val="2458C4"/>
                          </a:solidFill>
                          <a:latin typeface="Cambria Math" panose="02040503050406030204" pitchFamily="18" charset="0"/>
                        </a:rPr>
                        <m:t xml:space="preserve"> + </m:t>
                      </m:r>
                      <m:r>
                        <a:rPr lang="es-EC" sz="2400" b="1" dirty="0" i="1">
                          <a:solidFill>
                            <a:srgbClr val="2458C4"/>
                          </a:solidFill>
                          <a:latin typeface="Cambria Math" panose="02040503050406030204" pitchFamily="18" charset="0"/>
                        </a:rPr>
                        <m:t xml:space="preserve">RCE</m:t>
                      </m:r>
                    </m:oMath>
                  </m:oMathPara>
                </a14:m>
                <a:endParaRPr lang="es-EC" sz="2400" dirty="0"/>
              </a:p>
            </p:txBody>
          </p:sp>
        </mc:Choice>
        <mc:Fallback xmlns="">
          <p:sp>
            <p:nvSpPr>
              <p:cNvPr id="9" name="Text 7"/>
              <p:cNvSpPr txBox="1"/>
              <p:nvPr/>
            </p:nvSpPr>
            <p:spPr>
              <a:xfrm>
                <a:off x="6455664" y="1993392"/>
                <a:ext cx="4919472" cy="658368"/>
              </a:xfrm>
              <a:prstGeom prst="rect">
                <a:avLst/>
              </a:prstGeom>
              <a:noFill/>
              <a:ln/>
            </p:spPr>
            <p:txBody>
              <a:bodyPr wrap="square" lIns="0" tIns="0" rIns="0" bIns="0" rtlCol="0" anchor="ctr"/>
              <a:lstStyle/>
              <a:p>
                <a:pPr algn="l"/>
                <a:r>
                  <a:rPr lang="es-EC" sz="2400" b="1" dirty="0">
                    <a:solidFill>
                      <a:srgbClr val="2458C4"/>
                    </a:solidFill>
                  </a:rPr>
                  <a:t xml:space="preserve">α</a:t>
                </a:r>
                <a:r>
                  <a:rPr lang="es-EC" sz="2400" b="1" baseline="-25000" dirty="0">
                    <a:solidFill>
                      <a:srgbClr val="2458C4"/>
                    </a:solidFill>
                  </a:rPr>
                  <a:t xml:space="preserve">s</a:t>
                </a:r>
                <a:r>
                  <a:rPr lang="es-EC" sz="2400" b="1" dirty="0">
                    <a:solidFill>
                      <a:srgbClr val="2458C4"/>
                    </a:solidFill>
                  </a:rPr>
                  <a:t xml:space="preserve"> = </a:t>
                </a:r>
                <a:r>
                  <a:rPr lang="es-EC" sz="2400" b="1" dirty="0">
                    <a:solidFill>
                      <a:srgbClr val="2458C4"/>
                    </a:solidFill>
                  </a:rPr>
                  <a:t xml:space="preserve">AAE</a:t>
                </a:r>
                <a:r>
                  <a:rPr lang="es-EC" sz="2400" b="1" dirty="0">
                    <a:solidFill>
                      <a:srgbClr val="2458C4"/>
                    </a:solidFill>
                  </a:rPr>
                  <a:t xml:space="preserve"> + </a:t>
                </a:r>
                <a:r>
                  <a:rPr lang="es-EC" sz="2400" b="1" dirty="0">
                    <a:solidFill>
                      <a:srgbClr val="2458C4"/>
                    </a:solidFill>
                  </a:rPr>
                  <a:t xml:space="preserve">180</a:t>
                </a:r>
                <a:r>
                  <a:rPr lang="es-EC" sz="2400" b="1" dirty="0">
                    <a:solidFill>
                      <a:srgbClr val="2458C4"/>
                    </a:solidFill>
                  </a:rPr>
                  <a:t xml:space="preserve"> + </a:t>
                </a:r>
                <a:r>
                  <a:rPr lang="es-EC" sz="2400" b="1" dirty="0">
                    <a:solidFill>
                      <a:srgbClr val="2458C4"/>
                    </a:solidFill>
                  </a:rPr>
                  <a:t xml:space="preserve">RCE</a:t>
                </a:r>
              </a:p>
            </p:txBody>
          </p:sp>
        </mc:Fallback>
      </mc:AlternateContent>
      <p:sp>
        <p:nvSpPr>
          <p:cNvPr id="10" name="Text 8"/>
          <p:cNvSpPr txBox="1"/>
          <p:nvPr/>
        </p:nvSpPr>
        <p:spPr>
          <a:xfrm>
            <a:off x="6455664" y="2706624"/>
            <a:ext cx="4919472" cy="822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Grados de cigüeñal durante los que la válvula de escape permanece abierta.</a:t>
            </a:r>
            <a:endParaRPr lang="en-US" sz="1300" dirty="0"/>
          </a:p>
        </p:txBody>
      </p:sp>
      <p:sp>
        <p:nvSpPr>
          <p:cNvPr id="11" name="Shape 9"/>
          <p:cNvSpPr/>
          <p:nvPr/>
        </p:nvSpPr>
        <p:spPr>
          <a:xfrm>
            <a:off x="548640" y="3154680"/>
            <a:ext cx="53949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Text 10"/>
          <p:cNvSpPr txBox="1"/>
          <p:nvPr/>
        </p:nvSpPr>
        <p:spPr>
          <a:xfrm>
            <a:off x="786384" y="333756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Cruce de válvulas</a:t>
            </a:r>
            <a:endParaRPr lang="en-US" sz="1700" dirty="0"/>
          </a:p>
        </p:txBody>
      </p:sp>
      <mc:AlternateContent xmlns:mc="http://schemas.openxmlformats.org/markup-compatibility/2006" xmlns:a14="http://schemas.microsoft.com/office/drawing/2010/main">
        <mc:Choice Requires="a14">
          <p:sp>
            <p:nvSpPr>
              <p:cNvPr id="13" name="Text 11"/>
              <p:cNvSpPr txBox="1"/>
              <p:nvPr/>
            </p:nvSpPr>
            <p:spPr>
              <a:xfrm>
                <a:off x="786384" y="377647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A8740C"/>
                              </a:solidFill>
                              <a:latin typeface="Cambria Math" panose="02040503050406030204" pitchFamily="18" charset="0"/>
                            </a:rPr>
                          </m:ctrlPr>
                        </m:sSubPr>
                        <m:e>
                          <m:r>
                            <a:rPr lang="es-EC" sz="2400" b="1" dirty="0" i="1">
                              <a:solidFill>
                                <a:srgbClr val="A8740C"/>
                              </a:solidFill>
                              <a:latin typeface="Cambria Math" panose="02040503050406030204" pitchFamily="18" charset="0"/>
                            </a:rPr>
                            <m:t xml:space="preserve">α</m:t>
                          </m:r>
                        </m:e>
                        <m:sub>
                          <m:r>
                            <a:rPr lang="es-EC" sz="2400" b="1" dirty="0" i="0">
                              <a:solidFill>
                                <a:srgbClr val="A8740C"/>
                              </a:solidFill>
                              <a:latin typeface="Cambria Math" panose="02040503050406030204" pitchFamily="18" charset="0"/>
                            </a:rPr>
                            <m:t xml:space="preserve">c</m:t>
                          </m:r>
                        </m:sub>
                      </m:sSub>
                      <m:r>
                        <a:rPr lang="es-EC" sz="2400" b="1" dirty="0" i="0">
                          <a:solidFill>
                            <a:srgbClr val="A8740C"/>
                          </a:solidFill>
                          <a:latin typeface="Cambria Math" panose="02040503050406030204" pitchFamily="18" charset="0"/>
                        </a:rPr>
                        <m:t xml:space="preserve"> = </m:t>
                      </m:r>
                      <m:r>
                        <a:rPr lang="es-EC" sz="2400" b="1" dirty="0" i="1">
                          <a:solidFill>
                            <a:srgbClr val="A8740C"/>
                          </a:solidFill>
                          <a:latin typeface="Cambria Math" panose="02040503050406030204" pitchFamily="18" charset="0"/>
                        </a:rPr>
                        <m:t xml:space="preserve">RCE</m:t>
                      </m:r>
                      <m:r>
                        <a:rPr lang="es-EC" sz="2400" b="1" dirty="0" i="0">
                          <a:solidFill>
                            <a:srgbClr val="A8740C"/>
                          </a:solidFill>
                          <a:latin typeface="Cambria Math" panose="02040503050406030204" pitchFamily="18" charset="0"/>
                        </a:rPr>
                        <m:t xml:space="preserve"> + </m:t>
                      </m:r>
                      <m:r>
                        <a:rPr lang="es-EC" sz="2400" b="1" dirty="0" i="1">
                          <a:solidFill>
                            <a:srgbClr val="A8740C"/>
                          </a:solidFill>
                          <a:latin typeface="Cambria Math" panose="02040503050406030204" pitchFamily="18" charset="0"/>
                        </a:rPr>
                        <m:t xml:space="preserve">AAA</m:t>
                      </m:r>
                    </m:oMath>
                  </m:oMathPara>
                </a14:m>
                <a:endParaRPr lang="es-EC" sz="2400" dirty="0"/>
              </a:p>
            </p:txBody>
          </p:sp>
        </mc:Choice>
        <mc:Fallback xmlns="">
          <p:sp>
            <p:nvSpPr>
              <p:cNvPr id="13" name="Text 11"/>
              <p:cNvSpPr txBox="1"/>
              <p:nvPr/>
            </p:nvSpPr>
            <p:spPr>
              <a:xfrm>
                <a:off x="786384" y="3776472"/>
                <a:ext cx="4919472" cy="658368"/>
              </a:xfrm>
              <a:prstGeom prst="rect">
                <a:avLst/>
              </a:prstGeom>
              <a:noFill/>
              <a:ln/>
            </p:spPr>
            <p:txBody>
              <a:bodyPr wrap="square" lIns="0" tIns="0" rIns="0" bIns="0" rtlCol="0" anchor="ctr"/>
              <a:lstStyle/>
              <a:p>
                <a:pPr algn="l"/>
                <a:r>
                  <a:rPr lang="es-EC" sz="2400" b="1" dirty="0">
                    <a:solidFill>
                      <a:srgbClr val="A8740C"/>
                    </a:solidFill>
                  </a:rPr>
                  <a:t xml:space="preserve">α</a:t>
                </a:r>
                <a:r>
                  <a:rPr lang="es-EC" sz="2400" b="1" baseline="-25000" dirty="0">
                    <a:solidFill>
                      <a:srgbClr val="A8740C"/>
                    </a:solidFill>
                  </a:rPr>
                  <a:t xml:space="preserve">c</a:t>
                </a:r>
                <a:r>
                  <a:rPr lang="es-EC" sz="2400" b="1" dirty="0">
                    <a:solidFill>
                      <a:srgbClr val="A8740C"/>
                    </a:solidFill>
                  </a:rPr>
                  <a:t xml:space="preserve"> = </a:t>
                </a:r>
                <a:r>
                  <a:rPr lang="es-EC" sz="2400" b="1" dirty="0">
                    <a:solidFill>
                      <a:srgbClr val="A8740C"/>
                    </a:solidFill>
                  </a:rPr>
                  <a:t xml:space="preserve">RCE</a:t>
                </a:r>
                <a:r>
                  <a:rPr lang="es-EC" sz="2400" b="1" dirty="0">
                    <a:solidFill>
                      <a:srgbClr val="A8740C"/>
                    </a:solidFill>
                  </a:rPr>
                  <a:t xml:space="preserve"> + </a:t>
                </a:r>
                <a:r>
                  <a:rPr lang="es-EC" sz="2400" b="1" dirty="0">
                    <a:solidFill>
                      <a:srgbClr val="A8740C"/>
                    </a:solidFill>
                  </a:rPr>
                  <a:t xml:space="preserve">AAA</a:t>
                </a:r>
              </a:p>
            </p:txBody>
          </p:sp>
        </mc:Fallback>
      </mc:AlternateContent>
      <p:sp>
        <p:nvSpPr>
          <p:cNvPr id="14" name="Text 12"/>
          <p:cNvSpPr txBox="1"/>
          <p:nvPr/>
        </p:nvSpPr>
        <p:spPr>
          <a:xfrm>
            <a:off x="786384" y="4489704"/>
            <a:ext cx="4919472" cy="822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Intervalo, alrededor del PMS, en el que ambas válvulas están abiertas.</a:t>
            </a:r>
            <a:endParaRPr lang="en-US" sz="1300" dirty="0"/>
          </a:p>
        </p:txBody>
      </p:sp>
      <p:sp>
        <p:nvSpPr>
          <p:cNvPr id="15" name="Shape 13"/>
          <p:cNvSpPr/>
          <p:nvPr/>
        </p:nvSpPr>
        <p:spPr>
          <a:xfrm>
            <a:off x="6217920" y="3154680"/>
            <a:ext cx="53949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Text 14"/>
          <p:cNvSpPr txBox="1"/>
          <p:nvPr/>
        </p:nvSpPr>
        <p:spPr>
          <a:xfrm>
            <a:off x="6455664" y="333756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Avance en grados de árbol de levas</a:t>
            </a:r>
            <a:endParaRPr lang="en-US" sz="1700" dirty="0"/>
          </a:p>
        </p:txBody>
      </p:sp>
      <mc:AlternateContent xmlns:mc="http://schemas.openxmlformats.org/markup-compatibility/2006" xmlns:a14="http://schemas.microsoft.com/office/drawing/2010/main">
        <mc:Choice Requires="a14">
          <p:sp>
            <p:nvSpPr>
              <p:cNvPr id="17" name="Text 15"/>
              <p:cNvSpPr txBox="1"/>
              <p:nvPr/>
            </p:nvSpPr>
            <p:spPr>
              <a:xfrm>
                <a:off x="6455664" y="377647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400" b="1" dirty="0" i="1">
                          <a:solidFill>
                            <a:schemeClr val="accent4"/>
                          </a:solidFill>
                          <a:latin typeface="Cambria Math" panose="02040503050406030204" pitchFamily="18" charset="0"/>
                        </a:rPr>
                        <m:t xml:space="preserve">β</m:t>
                      </m:r>
                      <m:r>
                        <a:rPr lang="es-EC" sz="2400" b="1" dirty="0" i="0">
                          <a:solidFill>
                            <a:schemeClr val="accent4"/>
                          </a:solidFill>
                          <a:latin typeface="Cambria Math" panose="02040503050406030204" pitchFamily="18" charset="0"/>
                        </a:rPr>
                        <m:t xml:space="preserve"> = </m:t>
                      </m:r>
                      <m:f>
                        <m:fPr>
                          <m:ctrlPr>
                            <a:rPr lang="es-EC" sz="2400" b="1" dirty="0" i="1">
                              <a:solidFill>
                                <a:schemeClr val="accent4"/>
                              </a:solidFill>
                              <a:latin typeface="Cambria Math" panose="02040503050406030204" pitchFamily="18" charset="0"/>
                            </a:rPr>
                          </m:ctrlPr>
                        </m:fPr>
                        <m:num>
                          <m:r>
                            <a:rPr lang="es-EC" sz="2400" b="1" dirty="0" i="1">
                              <a:solidFill>
                                <a:schemeClr val="accent4"/>
                              </a:solidFill>
                              <a:latin typeface="Cambria Math" panose="02040503050406030204" pitchFamily="18" charset="0"/>
                            </a:rPr>
                            <m:t xml:space="preserve">α</m:t>
                          </m:r>
                        </m:num>
                        <m:den>
                          <m:r>
                            <a:rPr lang="es-EC" sz="2400" b="1" dirty="0" i="0">
                              <a:solidFill>
                                <a:schemeClr val="accent4"/>
                              </a:solidFill>
                              <a:latin typeface="Cambria Math" panose="02040503050406030204" pitchFamily="18" charset="0"/>
                            </a:rPr>
                            <m:t xml:space="preserve">2</m:t>
                          </m:r>
                        </m:den>
                      </m:f>
                    </m:oMath>
                  </m:oMathPara>
                </a14:m>
                <a:endParaRPr lang="es-EC" sz="2400" dirty="0"/>
              </a:p>
            </p:txBody>
          </p:sp>
        </mc:Choice>
        <mc:Fallback xmlns="">
          <p:sp>
            <p:nvSpPr>
              <p:cNvPr id="17" name="Text 15"/>
              <p:cNvSpPr txBox="1"/>
              <p:nvPr/>
            </p:nvSpPr>
            <p:spPr>
              <a:xfrm>
                <a:off x="6455664" y="3776472"/>
                <a:ext cx="4919472" cy="658368"/>
              </a:xfrm>
              <a:prstGeom prst="rect">
                <a:avLst/>
              </a:prstGeom>
              <a:noFill/>
              <a:ln/>
            </p:spPr>
            <p:txBody>
              <a:bodyPr wrap="square" lIns="0" tIns="0" rIns="0" bIns="0" rtlCol="0" anchor="ctr"/>
              <a:lstStyle/>
              <a:p>
                <a:pPr algn="l"/>
                <a:r>
                  <a:rPr lang="es-EC" sz="2400" b="1" dirty="0">
                    <a:solidFill>
                      <a:schemeClr val="accent4"/>
                    </a:solidFill>
                  </a:rPr>
                  <a:t xml:space="preserve">β</a:t>
                </a:r>
                <a:r>
                  <a:rPr lang="es-EC" sz="2400" b="1" dirty="0">
                    <a:solidFill>
                      <a:schemeClr val="accent4"/>
                    </a:solidFill>
                  </a:rPr>
                  <a:t xml:space="preserve"> = </a:t>
                </a:r>
                <a:r>
                  <a:rPr lang="es-EC" sz="2400" b="1" dirty="0">
                    <a:solidFill>
                      <a:schemeClr val="accent4"/>
                    </a:solidFill>
                  </a:rPr>
                  <a:t xml:space="preserve">α</a:t>
                </a:r>
                <a:r>
                  <a:rPr lang="es-EC" sz="2400" b="1" dirty="0">
                    <a:solidFill>
                      <a:schemeClr val="accent4"/>
                    </a:solidFill>
                  </a:rPr>
                  <a:t xml:space="preserve"> / </a:t>
                </a:r>
                <a:r>
                  <a:rPr lang="es-EC" sz="2400" b="1" dirty="0">
                    <a:solidFill>
                      <a:schemeClr val="accent4"/>
                    </a:solidFill>
                  </a:rPr>
                  <a:t xml:space="preserve">2</a:t>
                </a:r>
              </a:p>
            </p:txBody>
          </p:sp>
        </mc:Fallback>
      </mc:AlternateContent>
      <p:sp>
        <p:nvSpPr>
          <p:cNvPr id="18" name="Text 16"/>
          <p:cNvSpPr txBox="1"/>
          <p:nvPr/>
        </p:nvSpPr>
        <p:spPr>
          <a:xfrm>
            <a:off x="6455664" y="4489704"/>
            <a:ext cx="4919472" cy="822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El árbol gira a la mitad: un ángulo de cigüeñal equivale a la mitad en el árbol.</a:t>
            </a:r>
            <a:endParaRPr lang="en-US" sz="1300" dirty="0"/>
          </a:p>
        </p:txBody>
      </p:sp>
      <p:sp>
        <p:nvSpPr>
          <p:cNvPr id="19" name="Shape 17"/>
          <p:cNvSpPr/>
          <p:nvPr/>
        </p:nvSpPr>
        <p:spPr>
          <a:xfrm>
            <a:off x="548640" y="4937760"/>
            <a:ext cx="11064240" cy="777240"/>
          </a:xfrm>
          <a:prstGeom prst="roundRect">
            <a:avLst>
              <a:gd name="adj" fmla="val 7059"/>
            </a:avLst>
          </a:prstGeom>
          <a:solidFill>
            <a:schemeClr val="bg2"/>
          </a:solidFill>
          <a:ln w="12700">
            <a:solidFill>
              <a:schemeClr val="bg2"/>
            </a:solidFill>
            <a:prstDash val="solid"/>
          </a:ln>
        </p:spPr>
        <p:txBody>
          <a:bodyPr/>
          <a:p/>
        </p:txBody>
      </p:sp>
      <p:sp>
        <p:nvSpPr>
          <p:cNvPr id="20" name="Shape 18"/>
          <p:cNvSpPr/>
          <p:nvPr/>
        </p:nvSpPr>
        <p:spPr>
          <a:xfrm>
            <a:off x="786384" y="5143500"/>
            <a:ext cx="365760" cy="365760"/>
          </a:xfrm>
          <a:prstGeom prst="ellipse">
            <a:avLst/>
          </a:prstGeom>
          <a:solidFill>
            <a:schemeClr val="accent1"/>
          </a:solidFill>
          <a:ln w="12700">
            <a:solidFill>
              <a:schemeClr val="accent1"/>
            </a:solidFill>
            <a:prstDash val="solid"/>
          </a:ln>
        </p:spPr>
        <p:txBody>
          <a:bodyPr/>
          <a:p/>
        </p:txBody>
      </p:sp>
      <p:sp>
        <p:nvSpPr>
          <p:cNvPr id="21" name="Text 19"/>
          <p:cNvSpPr txBox="1"/>
          <p:nvPr/>
        </p:nvSpPr>
        <p:spPr>
          <a:xfrm>
            <a:off x="786384" y="51435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20"/>
          <p:cNvSpPr txBox="1"/>
          <p:nvPr/>
        </p:nvSpPr>
        <p:spPr>
          <a:xfrm>
            <a:off x="1298448" y="50292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Todos los ángulos del diagrama se expresan en grados de cigüeñal, no de árbol de levas. Confundir ambas referencias es el error más común al interpretar un diagrama o al calar un motor con comparador.</a:t>
            </a:r>
            <a:endParaRPr lang="en-US" sz="1450" dirty="0"/>
          </a:p>
        </p:txBody>
      </p:sp>
      <p:sp>
        <p:nvSpPr>
          <p:cNvPr id="23" name="Text 21"/>
          <p:cNvSpPr txBox="1"/>
          <p:nvPr/>
        </p:nvSpPr>
        <p:spPr>
          <a:xfrm>
            <a:off x="548640" y="5806440"/>
            <a:ext cx="11064240" cy="27432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El ciclo completo de cuatro tiempos ocupa 720 grados de cigüeñal, que son 360 grados de árbol de levas. Esa equivalencia es la que relaciona ambas escalas.</a:t>
            </a:r>
            <a:endParaRPr lang="en-US" sz="1150" dirty="0"/>
          </a:p>
        </p:txBody>
      </p:sp>
      <p:sp>
        <p:nvSpPr>
          <p:cNvPr id="24" name="Text 22"/>
          <p:cNvSpPr txBox="1"/>
          <p:nvPr/>
        </p:nvSpPr>
        <p:spPr>
          <a:xfrm>
            <a:off x="548640" y="6172200"/>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 · habilidad de cálculo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Ejercicio resuelto: de los cuatro ángulos al diagrama</a:t>
            </a:r>
            <a:endParaRPr lang="en-US" sz="3200" dirty="0"/>
          </a:p>
        </p:txBody>
      </p:sp>
      <p:sp>
        <p:nvSpPr>
          <p:cNvPr id="3" name="tarjeta_1"/>
          <p:cNvSpPr/>
          <p:nvPr/>
        </p:nvSpPr>
        <p:spPr>
          <a:xfrm>
            <a:off x="548640" y="1371600"/>
            <a:ext cx="301752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0934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6" name="Text 4"/>
          <p:cNvSpPr txBox="1"/>
          <p:nvPr/>
        </p:nvSpPr>
        <p:spPr>
          <a:xfrm>
            <a:off x="1353312" y="1591056"/>
            <a:ext cx="1956816" cy="457200"/>
          </a:xfrm>
          <a:prstGeom prst="rect">
            <a:avLst/>
          </a:prstGeom>
          <a:noFill/>
          <a:ln/>
        </p:spPr>
        <p:txBody>
          <a:bodyPr wrap="square" lIns="0" tIns="0" rIns="0" bIns="0" rtlCol="0" anchor="ctr"/>
          <a:lstStyle/>
          <a:p>
            <a:pPr indent="0" marL="0">
              <a:buNone/>
            </a:pPr>
            <a:r>
              <a:rPr lang="en-US" sz="1700" b="1" dirty="0">
                <a:solidFill>
                  <a:schemeClr val="tx1"/>
                </a:solidFill>
              </a:rPr>
              <a:t>Datos del fabricante</a:t>
            </a:r>
            <a:endParaRPr lang="en-US" sz="1700" dirty="0"/>
          </a:p>
        </p:txBody>
      </p:sp>
      <p:sp>
        <p:nvSpPr>
          <p:cNvPr id="7" name="Text 5"/>
          <p:cNvSpPr txBox="1"/>
          <p:nvPr/>
        </p:nvSpPr>
        <p:spPr>
          <a:xfrm>
            <a:off x="804672" y="2121408"/>
            <a:ext cx="2505456" cy="140817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AAA = 12°</a:t>
            </a:r>
            <a:endParaRPr lang="en-US" sz="1250" dirty="0"/>
          </a:p>
          <a:p>
            <a:pPr indent="0" marL="0">
              <a:lnSpc>
                <a:spcPct val="108000"/>
              </a:lnSpc>
              <a:buNone/>
            </a:pPr>
            <a:r>
              <a:rPr lang="en-US" sz="1250" dirty="0">
                <a:solidFill>
                  <a:schemeClr val="accent4"/>
                </a:solidFill>
              </a:rPr>
              <a:t>RCA = 48°</a:t>
            </a:r>
            <a:endParaRPr lang="en-US" sz="1250" dirty="0"/>
          </a:p>
          <a:p>
            <a:pPr indent="0" marL="0">
              <a:lnSpc>
                <a:spcPct val="108000"/>
              </a:lnSpc>
              <a:buNone/>
            </a:pPr>
            <a:r>
              <a:rPr lang="en-US" sz="1250" dirty="0">
                <a:solidFill>
                  <a:schemeClr val="accent4"/>
                </a:solidFill>
              </a:rPr>
              <a:t>AAE = 45°</a:t>
            </a:r>
            <a:endParaRPr lang="en-US" sz="1250" dirty="0"/>
          </a:p>
          <a:p>
            <a:pPr indent="0" marL="0">
              <a:lnSpc>
                <a:spcPct val="108000"/>
              </a:lnSpc>
              <a:buNone/>
            </a:pPr>
            <a:r>
              <a:rPr lang="en-US" sz="1250" dirty="0">
                <a:solidFill>
                  <a:schemeClr val="accent4"/>
                </a:solidFill>
              </a:rPr>
              <a:t>RCE = 10°</a:t>
            </a:r>
            <a:endParaRPr lang="en-US" sz="1250" dirty="0"/>
          </a:p>
          <a:p>
            <a:pPr indent="0" marL="0">
              <a:lnSpc>
                <a:spcPct val="108000"/>
              </a:lnSpc>
              <a:buNone/>
            </a:pPr>
            <a:endParaRPr lang="en-US" sz="1250" dirty="0"/>
          </a:p>
          <a:p>
            <a:pPr indent="0" marL="0">
              <a:lnSpc>
                <a:spcPct val="108000"/>
              </a:lnSpc>
              <a:buNone/>
            </a:pPr>
            <a:r>
              <a:rPr lang="en-US" sz="1250" dirty="0">
                <a:solidFill>
                  <a:schemeClr val="accent4"/>
                </a:solidFill>
              </a:rPr>
              <a:t>Todos en grados de cigüeñal.</a:t>
            </a:r>
            <a:endParaRPr lang="en-US" sz="1250" dirty="0"/>
          </a:p>
        </p:txBody>
      </p:sp>
      <p:sp>
        <p:nvSpPr>
          <p:cNvPr id="8" name="Text 6"/>
          <p:cNvSpPr txBox="1"/>
          <p:nvPr/>
        </p:nvSpPr>
        <p:spPr>
          <a:xfrm>
            <a:off x="804672" y="3346704"/>
            <a:ext cx="2505456" cy="274320"/>
          </a:xfrm>
          <a:prstGeom prst="rect">
            <a:avLst/>
          </a:prstGeom>
          <a:noFill/>
          <a:ln/>
        </p:spPr>
        <p:txBody>
          <a:bodyPr wrap="square" lIns="0" tIns="0" rIns="0" bIns="0" rtlCol="0" anchor="ctr"/>
          <a:lstStyle/>
          <a:p>
            <a:pPr indent="0" marL="0">
              <a:buNone/>
            </a:pPr>
            <a:r>
              <a:rPr lang="en-US" sz="1200" b="1" dirty="0">
                <a:solidFill>
                  <a:schemeClr val="accent1"/>
                </a:solidFill>
              </a:rPr>
              <a:t>Valores de ejemplo</a:t>
            </a:r>
            <a:endParaRPr lang="en-US" sz="1200" dirty="0"/>
          </a:p>
        </p:txBody>
      </p:sp>
      <p:sp>
        <p:nvSpPr>
          <p:cNvPr id="9" name="Shape 7"/>
          <p:cNvSpPr/>
          <p:nvPr/>
        </p:nvSpPr>
        <p:spPr>
          <a:xfrm>
            <a:off x="3840480" y="1499616"/>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38404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9"/>
          <p:cNvSpPr txBox="1"/>
          <p:nvPr/>
        </p:nvSpPr>
        <p:spPr>
          <a:xfrm>
            <a:off x="4370832" y="1463040"/>
            <a:ext cx="7242048" cy="42062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1 — duración de la admisión. </a:t>
            </a:r>
            <a:pPr indent="0" marL="0">
              <a:lnSpc>
                <a:spcPct val="106000"/>
              </a:lnSpc>
              <a:buNone/>
            </a:pPr>
            <a:r>
              <a:rPr lang="en-US" sz="1200" dirty="0">
                <a:solidFill>
                  <a:schemeClr val="accent4"/>
                </a:solidFill>
              </a:rPr>
              <a:t xml:space="preserve">α</a:t>
            </a:r>
            <a:r>
              <a:rPr baseline="-25000" lang="en-US" sz="1200" dirty="0">
                <a:solidFill>
                  <a:schemeClr val="accent4"/>
                </a:solidFill>
              </a:rPr>
              <a:t xml:space="preserve">a</a:t>
            </a:r>
            <a:r>
              <a:rPr lang="en-US" sz="1200" dirty="0">
                <a:solidFill>
                  <a:schemeClr val="accent4"/>
                </a:solidFill>
              </a:rPr>
              <a:t xml:space="preserve"> = 12 + 180 + 48 = 240 grados de cigüeñal</a:t>
            </a:r>
            <a:endParaRPr lang="en-US" sz="1200" dirty="0"/>
          </a:p>
        </p:txBody>
      </p:sp>
      <p:sp>
        <p:nvSpPr>
          <p:cNvPr id="12" name="Shape 10"/>
          <p:cNvSpPr/>
          <p:nvPr/>
        </p:nvSpPr>
        <p:spPr>
          <a:xfrm>
            <a:off x="3840480" y="1975104"/>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3840480" y="1975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txBox="1"/>
          <p:nvPr/>
        </p:nvSpPr>
        <p:spPr>
          <a:xfrm>
            <a:off x="4370832" y="1938528"/>
            <a:ext cx="7242048" cy="42062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2 — duración del escape. </a:t>
            </a:r>
            <a:pPr indent="0" marL="0">
              <a:lnSpc>
                <a:spcPct val="106000"/>
              </a:lnSpc>
              <a:buNone/>
            </a:pPr>
            <a:r>
              <a:rPr lang="en-US" sz="1200" dirty="0">
                <a:solidFill>
                  <a:schemeClr val="accent4"/>
                </a:solidFill>
              </a:rPr>
              <a:t xml:space="preserve">α</a:t>
            </a:r>
            <a:r>
              <a:rPr baseline="-25000" lang="en-US" sz="1200" dirty="0">
                <a:solidFill>
                  <a:schemeClr val="accent4"/>
                </a:solidFill>
              </a:rPr>
              <a:t xml:space="preserve">s</a:t>
            </a:r>
            <a:r>
              <a:rPr lang="en-US" sz="1200" dirty="0">
                <a:solidFill>
                  <a:schemeClr val="accent4"/>
                </a:solidFill>
              </a:rPr>
              <a:t xml:space="preserve"> = 45 + 180 + 10 = 235 grados de cigüeñal</a:t>
            </a:r>
            <a:endParaRPr lang="en-US" sz="1200" dirty="0"/>
          </a:p>
        </p:txBody>
      </p:sp>
      <p:sp>
        <p:nvSpPr>
          <p:cNvPr id="15" name="Shape 13"/>
          <p:cNvSpPr/>
          <p:nvPr/>
        </p:nvSpPr>
        <p:spPr>
          <a:xfrm>
            <a:off x="3840480" y="2450592"/>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3840480" y="2450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txBox="1"/>
          <p:nvPr/>
        </p:nvSpPr>
        <p:spPr>
          <a:xfrm>
            <a:off x="4370832" y="2414016"/>
            <a:ext cx="7242048" cy="42062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3 — cruce de válvulas. </a:t>
            </a:r>
            <a:pPr indent="0" marL="0">
              <a:lnSpc>
                <a:spcPct val="106000"/>
              </a:lnSpc>
              <a:buNone/>
            </a:pPr>
            <a:r>
              <a:rPr lang="en-US" sz="1200" dirty="0">
                <a:solidFill>
                  <a:schemeClr val="accent4"/>
                </a:solidFill>
              </a:rPr>
              <a:t xml:space="preserve">α</a:t>
            </a:r>
            <a:r>
              <a:rPr baseline="-25000" lang="en-US" sz="1200" dirty="0">
                <a:solidFill>
                  <a:schemeClr val="accent4"/>
                </a:solidFill>
              </a:rPr>
              <a:t xml:space="preserve">c</a:t>
            </a:r>
            <a:r>
              <a:rPr lang="en-US" sz="1200" dirty="0">
                <a:solidFill>
                  <a:schemeClr val="accent4"/>
                </a:solidFill>
              </a:rPr>
              <a:t xml:space="preserve"> = 10 + 12 = 22 grados de cigüeñal</a:t>
            </a:r>
            <a:endParaRPr lang="en-US" sz="1200" dirty="0"/>
          </a:p>
        </p:txBody>
      </p:sp>
      <p:sp>
        <p:nvSpPr>
          <p:cNvPr id="18" name="Shape 16"/>
          <p:cNvSpPr/>
          <p:nvPr/>
        </p:nvSpPr>
        <p:spPr>
          <a:xfrm>
            <a:off x="3840480" y="2926080"/>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384048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8"/>
          <p:cNvSpPr txBox="1"/>
          <p:nvPr/>
        </p:nvSpPr>
        <p:spPr>
          <a:xfrm>
            <a:off x="4370832" y="2889504"/>
            <a:ext cx="7242048" cy="42062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4 — en grados de árbol de levas. </a:t>
            </a:r>
            <a:pPr indent="0" marL="0">
              <a:lnSpc>
                <a:spcPct val="106000"/>
              </a:lnSpc>
              <a:buNone/>
            </a:pPr>
            <a:r>
              <a:rPr lang="en-US" sz="1200" dirty="0">
                <a:solidFill>
                  <a:schemeClr val="accent4"/>
                </a:solidFill>
              </a:rPr>
              <a:t>el cruce equivale a 11 grados de árbol; la admisión dura 120 grados de árbol</a:t>
            </a:r>
            <a:endParaRPr lang="en-US" sz="1200" dirty="0"/>
          </a:p>
        </p:txBody>
      </p:sp>
      <p:sp>
        <p:nvSpPr>
          <p:cNvPr id="21" name="Shape 19"/>
          <p:cNvSpPr/>
          <p:nvPr/>
        </p:nvSpPr>
        <p:spPr>
          <a:xfrm>
            <a:off x="3840480" y="3401568"/>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3840480" y="3401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21"/>
          <p:cNvSpPr txBox="1"/>
          <p:nvPr/>
        </p:nvSpPr>
        <p:spPr>
          <a:xfrm>
            <a:off x="4370832" y="3364992"/>
            <a:ext cx="7242048" cy="42062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5 — interpretación. </a:t>
            </a:r>
            <a:pPr indent="0" marL="0">
              <a:lnSpc>
                <a:spcPct val="106000"/>
              </a:lnSpc>
              <a:buNone/>
            </a:pPr>
            <a:r>
              <a:rPr lang="en-US" sz="1200" dirty="0">
                <a:solidFill>
                  <a:schemeClr val="accent4"/>
                </a:solidFill>
              </a:rPr>
              <a:t>cruce de 22 grados es moderado: corresponde a un motor de uso general, con buen ralentí y par disponible en todo el rango</a:t>
            </a:r>
            <a:endParaRPr lang="en-US" sz="1200" dirty="0"/>
          </a:p>
        </p:txBody>
      </p:sp>
      <p:sp>
        <p:nvSpPr>
          <p:cNvPr id="24" name="Shape 22"/>
          <p:cNvSpPr/>
          <p:nvPr/>
        </p:nvSpPr>
        <p:spPr>
          <a:xfrm>
            <a:off x="548640" y="4023360"/>
            <a:ext cx="11064240" cy="822960"/>
          </a:xfrm>
          <a:prstGeom prst="roundRect">
            <a:avLst>
              <a:gd name="adj" fmla="val 6667"/>
            </a:avLst>
          </a:prstGeom>
          <a:solidFill>
            <a:schemeClr val="bg2"/>
          </a:solidFill>
          <a:ln w="12700">
            <a:solidFill>
              <a:schemeClr val="bg2"/>
            </a:solidFill>
            <a:prstDash val="solid"/>
          </a:ln>
        </p:spPr>
        <p:txBody>
          <a:bodyPr/>
          <a:p/>
        </p:txBody>
      </p:sp>
      <p:sp>
        <p:nvSpPr>
          <p:cNvPr id="25" name="Shape 23"/>
          <p:cNvSpPr/>
          <p:nvPr/>
        </p:nvSpPr>
        <p:spPr>
          <a:xfrm>
            <a:off x="786384" y="4251960"/>
            <a:ext cx="365760" cy="365760"/>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786384" y="42519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5"/>
          <p:cNvSpPr txBox="1"/>
          <p:nvPr/>
        </p:nvSpPr>
        <p:spPr>
          <a:xfrm>
            <a:off x="1298448" y="411480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paso 5 es el que convierte el cálculo en criterio: los números por sí solos no dicen nada hasta que se comparan con lo que se espera de un motor de ese tipo. Un cruce de 22 grados y uno de 60 describen motores con comportamientos muy distintos.</a:t>
            </a:r>
            <a:endParaRPr lang="en-US" sz="14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4983480"/>
          <a:ext cx="11064240" cy="914400"/>
        </p:xfrm>
        <a:graphic>
          <a:graphicData uri="http://schemas.openxmlformats.org/drawingml/2006/table">
            <a:tbl>
              <a:tblPr/>
              <a:tblGrid>
                <a:gridCol w="3108960"/>
                <a:gridCol w="3931920"/>
                <a:gridCol w="4023360"/>
              </a:tblGrid>
              <a:tr h="365760">
                <a:tc>
                  <a:txBody>
                    <a:bodyPr/>
                    <a:lstStyle/>
                    <a:p>
                      <a:pPr indent="0" marL="0">
                        <a:buNone/>
                      </a:pPr>
                      <a:r>
                        <a:rPr lang="en-US" sz="1300" b="1" dirty="0">
                          <a:solidFill>
                            <a:srgbClr val="FFFFFF"/>
                          </a:solidFill>
                        </a:rPr>
                        <a:t>Cruce calculado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Tipo de motor que sugiere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Comportamiento esperado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00" b="1" dirty="0">
                          <a:solidFill>
                            <a:schemeClr val="tx1"/>
                          </a:solidFill>
                        </a:rPr>
                        <a:t>Hasta unos 25 grados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Uso general, turismo, trabajo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Ralentí estable, par desde bajo régimen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Por encima de unos 50 grados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Altas prestaciones o competición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Ralentí irregular, poco par abajo, gran llenado arriba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9"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 · habilidad de cálculo declarada en 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Ejercicio resuelto: cuánto desplaza un diente</a:t>
            </a:r>
            <a:endParaRPr lang="en-US" sz="3200" dirty="0"/>
          </a:p>
        </p:txBody>
      </p:sp>
      <p:sp>
        <p:nvSpPr>
          <p:cNvPr id="3" name="Shape 1"/>
          <p:cNvSpPr/>
          <p:nvPr/>
        </p:nvSpPr>
        <p:spPr>
          <a:xfrm>
            <a:off x="548640" y="1371600"/>
            <a:ext cx="53949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Grados por diente en el árbol de levas</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γ</m:t>
                          </m:r>
                        </m:e>
                        <m:sub>
                          <m:r>
                            <a:rPr lang="es-EC" sz="2400" b="1" dirty="0" i="0">
                              <a:solidFill>
                                <a:srgbClr val="C0451C"/>
                              </a:solidFill>
                              <a:latin typeface="Cambria Math" panose="02040503050406030204" pitchFamily="18" charset="0"/>
                            </a:rPr>
                            <m:t xml:space="preserve">a</m:t>
                          </m:r>
                        </m:sub>
                      </m:sSub>
                      <m:r>
                        <a:rPr lang="es-EC" sz="2400" b="1" dirty="0" i="0">
                          <a:solidFill>
                            <a:srgbClr val="C0451C"/>
                          </a:solidFill>
                          <a:latin typeface="Cambria Math" panose="02040503050406030204" pitchFamily="18" charset="0"/>
                        </a:rPr>
                        <m:t xml:space="preserve"> = </m:t>
                      </m:r>
                      <m:f>
                        <m:fPr>
                          <m:ctrlPr>
                            <a:rPr lang="es-EC" sz="2400" b="1" dirty="0" i="1">
                              <a:solidFill>
                                <a:srgbClr val="C0451C"/>
                              </a:solidFill>
                              <a:latin typeface="Cambria Math" panose="02040503050406030204" pitchFamily="18" charset="0"/>
                            </a:rPr>
                          </m:ctrlPr>
                        </m:fPr>
                        <m:num>
                          <m:r>
                            <a:rPr lang="es-EC" sz="2400" b="1" dirty="0" i="0">
                              <a:solidFill>
                                <a:srgbClr val="C0451C"/>
                              </a:solidFill>
                              <a:latin typeface="Cambria Math" panose="02040503050406030204" pitchFamily="18" charset="0"/>
                            </a:rPr>
                            <m:t xml:space="preserve">360</m:t>
                          </m:r>
                        </m:num>
                        <m:den>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Z</m:t>
                              </m:r>
                            </m:e>
                            <m:sub>
                              <m:r>
                                <a:rPr lang="es-EC" sz="2400" b="1" dirty="0" i="0">
                                  <a:solidFill>
                                    <a:srgbClr val="C0451C"/>
                                  </a:solidFill>
                                  <a:latin typeface="Cambria Math" panose="02040503050406030204" pitchFamily="18" charset="0"/>
                                </a:rPr>
                                <m:t xml:space="preserve">a</m:t>
                              </m:r>
                            </m:sub>
                          </m:sSub>
                        </m:den>
                      </m:f>
                    </m:oMath>
                  </m:oMathPara>
                </a14:m>
                <a:endParaRPr lang="es-EC" sz="24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400" b="1" dirty="0">
                    <a:solidFill>
                      <a:srgbClr val="C0451C"/>
                    </a:solidFill>
                  </a:rPr>
                  <a:t xml:space="preserve">γ</a:t>
                </a:r>
                <a:r>
                  <a:rPr lang="es-EC" sz="2400" b="1" baseline="-25000" dirty="0">
                    <a:solidFill>
                      <a:srgbClr val="C0451C"/>
                    </a:solidFill>
                  </a:rPr>
                  <a:t xml:space="preserve">a</a:t>
                </a:r>
                <a:r>
                  <a:rPr lang="es-EC" sz="2400" b="1" dirty="0">
                    <a:solidFill>
                      <a:srgbClr val="C0451C"/>
                    </a:solidFill>
                  </a:rPr>
                  <a:t xml:space="preserve"> = </a:t>
                </a:r>
                <a:r>
                  <a:rPr lang="es-EC" sz="2400" b="1" dirty="0">
                    <a:solidFill>
                      <a:srgbClr val="C0451C"/>
                    </a:solidFill>
                  </a:rPr>
                  <a:t xml:space="preserve">360</a:t>
                </a:r>
                <a:r>
                  <a:rPr lang="es-EC" sz="2400" b="1" dirty="0">
                    <a:solidFill>
                      <a:srgbClr val="C0451C"/>
                    </a:solidFill>
                  </a:rPr>
                  <a:t xml:space="preserve"> / </a:t>
                </a:r>
                <a:r>
                  <a:rPr lang="es-EC" sz="2400" b="1" dirty="0">
                    <a:solidFill>
                      <a:srgbClr val="C0451C"/>
                    </a:solidFill>
                  </a:rPr>
                  <a:t xml:space="preserve">Z</a:t>
                </a:r>
                <a:r>
                  <a:rPr lang="es-EC" sz="2400" b="1" baseline="-25000" dirty="0">
                    <a:solidFill>
                      <a:srgbClr val="C0451C"/>
                    </a:solidFill>
                  </a:rPr>
                  <a:t xml:space="preserve">a</a:t>
                </a:r>
              </a:p>
            </p:txBody>
          </p:sp>
        </mc:Fallback>
      </mc:AlternateContent>
      <p:sp>
        <p:nvSpPr>
          <p:cNvPr id="6" name="Text 4"/>
          <p:cNvSpPr txBox="1"/>
          <p:nvPr/>
        </p:nvSpPr>
        <p:spPr>
          <a:xfrm>
            <a:off x="786384" y="2706624"/>
            <a:ext cx="4919472" cy="1280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Un diente del piñón del árbol equivale a esa fracción de su vuelta completa.</a:t>
            </a:r>
            <a:endParaRPr lang="en-US" sz="1300" dirty="0"/>
          </a:p>
        </p:txBody>
      </p:sp>
      <p:sp>
        <p:nvSpPr>
          <p:cNvPr id="7" name="Shape 5"/>
          <p:cNvSpPr/>
          <p:nvPr/>
        </p:nvSpPr>
        <p:spPr>
          <a:xfrm>
            <a:off x="6217920" y="1371600"/>
            <a:ext cx="53949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645566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Equivalente en grados de cigüeñal</a:t>
            </a:r>
            <a:endParaRPr lang="en-US" sz="1700" dirty="0"/>
          </a:p>
        </p:txBody>
      </p:sp>
      <mc:AlternateContent xmlns:mc="http://schemas.openxmlformats.org/markup-compatibility/2006" xmlns:a14="http://schemas.microsoft.com/office/drawing/2010/main">
        <mc:Choice Requires="a14">
          <p:sp>
            <p:nvSpPr>
              <p:cNvPr id="9" name="Text 7"/>
              <p:cNvSpPr txBox="1"/>
              <p:nvPr/>
            </p:nvSpPr>
            <p:spPr>
              <a:xfrm>
                <a:off x="645566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2458C4"/>
                              </a:solidFill>
                              <a:latin typeface="Cambria Math" panose="02040503050406030204" pitchFamily="18" charset="0"/>
                            </a:rPr>
                          </m:ctrlPr>
                        </m:sSubPr>
                        <m:e>
                          <m:r>
                            <a:rPr lang="es-EC" sz="2400" b="1" dirty="0" i="1">
                              <a:solidFill>
                                <a:srgbClr val="2458C4"/>
                              </a:solidFill>
                              <a:latin typeface="Cambria Math" panose="02040503050406030204" pitchFamily="18" charset="0"/>
                            </a:rPr>
                            <m:t xml:space="preserve">γ</m:t>
                          </m:r>
                        </m:e>
                        <m:sub>
                          <m:r>
                            <a:rPr lang="es-EC" sz="2400" b="1" dirty="0" i="0">
                              <a:solidFill>
                                <a:srgbClr val="2458C4"/>
                              </a:solidFill>
                              <a:latin typeface="Cambria Math" panose="02040503050406030204" pitchFamily="18" charset="0"/>
                            </a:rPr>
                            <m:t xml:space="preserve">c</m:t>
                          </m:r>
                        </m:sub>
                      </m:sSub>
                      <m:r>
                        <a:rPr lang="es-EC" sz="2400" b="1" dirty="0" i="0">
                          <a:solidFill>
                            <a:srgbClr val="2458C4"/>
                          </a:solidFill>
                          <a:latin typeface="Cambria Math" panose="02040503050406030204" pitchFamily="18" charset="0"/>
                        </a:rPr>
                        <m:t xml:space="preserve"> = </m:t>
                      </m:r>
                      <m:r>
                        <a:rPr lang="es-EC" sz="2400" b="1" dirty="0" i="0">
                          <a:solidFill>
                            <a:srgbClr val="2458C4"/>
                          </a:solidFill>
                          <a:latin typeface="Cambria Math" panose="02040503050406030204" pitchFamily="18" charset="0"/>
                        </a:rPr>
                        <m:t xml:space="preserve">2</m:t>
                      </m:r>
                      <m:r>
                        <a:rPr lang="es-EC" sz="2400" b="1" dirty="0" i="0">
                          <a:solidFill>
                            <a:srgbClr val="2458C4"/>
                          </a:solidFill>
                          <a:latin typeface="Cambria Math" panose="02040503050406030204" pitchFamily="18" charset="0"/>
                        </a:rPr>
                        <m:t xml:space="preserve"> · </m:t>
                      </m:r>
                      <m:sSub>
                        <m:sSubPr>
                          <m:ctrlPr>
                            <a:rPr lang="es-EC" sz="2400" b="1" dirty="0" i="1">
                              <a:solidFill>
                                <a:srgbClr val="2458C4"/>
                              </a:solidFill>
                              <a:latin typeface="Cambria Math" panose="02040503050406030204" pitchFamily="18" charset="0"/>
                            </a:rPr>
                          </m:ctrlPr>
                        </m:sSubPr>
                        <m:e>
                          <m:r>
                            <a:rPr lang="es-EC" sz="2400" b="1" dirty="0" i="1">
                              <a:solidFill>
                                <a:srgbClr val="2458C4"/>
                              </a:solidFill>
                              <a:latin typeface="Cambria Math" panose="02040503050406030204" pitchFamily="18" charset="0"/>
                            </a:rPr>
                            <m:t xml:space="preserve">γ</m:t>
                          </m:r>
                        </m:e>
                        <m:sub>
                          <m:r>
                            <a:rPr lang="es-EC" sz="2400" b="1" dirty="0" i="0">
                              <a:solidFill>
                                <a:srgbClr val="2458C4"/>
                              </a:solidFill>
                              <a:latin typeface="Cambria Math" panose="02040503050406030204" pitchFamily="18" charset="0"/>
                            </a:rPr>
                            <m:t xml:space="preserve">a</m:t>
                          </m:r>
                        </m:sub>
                      </m:sSub>
                    </m:oMath>
                  </m:oMathPara>
                </a14:m>
                <a:endParaRPr lang="es-EC" sz="2400" dirty="0"/>
              </a:p>
            </p:txBody>
          </p:sp>
        </mc:Choice>
        <mc:Fallback xmlns="">
          <p:sp>
            <p:nvSpPr>
              <p:cNvPr id="9" name="Text 7"/>
              <p:cNvSpPr txBox="1"/>
              <p:nvPr/>
            </p:nvSpPr>
            <p:spPr>
              <a:xfrm>
                <a:off x="6455664" y="1993392"/>
                <a:ext cx="4919472" cy="658368"/>
              </a:xfrm>
              <a:prstGeom prst="rect">
                <a:avLst/>
              </a:prstGeom>
              <a:noFill/>
              <a:ln/>
            </p:spPr>
            <p:txBody>
              <a:bodyPr wrap="square" lIns="0" tIns="0" rIns="0" bIns="0" rtlCol="0" anchor="ctr"/>
              <a:lstStyle/>
              <a:p>
                <a:pPr algn="l"/>
                <a:r>
                  <a:rPr lang="es-EC" sz="2400" b="1" dirty="0">
                    <a:solidFill>
                      <a:srgbClr val="2458C4"/>
                    </a:solidFill>
                  </a:rPr>
                  <a:t xml:space="preserve">γ</a:t>
                </a:r>
                <a:r>
                  <a:rPr lang="es-EC" sz="2400" b="1" baseline="-25000" dirty="0">
                    <a:solidFill>
                      <a:srgbClr val="2458C4"/>
                    </a:solidFill>
                  </a:rPr>
                  <a:t xml:space="preserve">c</a:t>
                </a:r>
                <a:r>
                  <a:rPr lang="es-EC" sz="2400" b="1" dirty="0">
                    <a:solidFill>
                      <a:srgbClr val="2458C4"/>
                    </a:solidFill>
                  </a:rPr>
                  <a:t xml:space="preserve"> = </a:t>
                </a:r>
                <a:r>
                  <a:rPr lang="es-EC" sz="2400" b="1" dirty="0">
                    <a:solidFill>
                      <a:srgbClr val="2458C4"/>
                    </a:solidFill>
                  </a:rPr>
                  <a:t xml:space="preserve">2</a:t>
                </a:r>
                <a:r>
                  <a:rPr lang="es-EC" sz="2400" b="1" dirty="0">
                    <a:solidFill>
                      <a:srgbClr val="2458C4"/>
                    </a:solidFill>
                  </a:rPr>
                  <a:t xml:space="preserve"> · </a:t>
                </a:r>
                <a:r>
                  <a:rPr lang="es-EC" sz="2400" b="1" dirty="0">
                    <a:solidFill>
                      <a:srgbClr val="2458C4"/>
                    </a:solidFill>
                  </a:rPr>
                  <a:t xml:space="preserve">γ</a:t>
                </a:r>
                <a:r>
                  <a:rPr lang="es-EC" sz="2400" b="1" baseline="-25000" dirty="0">
                    <a:solidFill>
                      <a:srgbClr val="2458C4"/>
                    </a:solidFill>
                  </a:rPr>
                  <a:t xml:space="preserve">a</a:t>
                </a:r>
              </a:p>
            </p:txBody>
          </p:sp>
        </mc:Fallback>
      </mc:AlternateContent>
      <p:sp>
        <p:nvSpPr>
          <p:cNvPr id="10" name="Text 8"/>
          <p:cNvSpPr txBox="1"/>
          <p:nvPr/>
        </p:nvSpPr>
        <p:spPr>
          <a:xfrm>
            <a:off x="6455664" y="2706624"/>
            <a:ext cx="4919472" cy="1280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Como el árbol gira a la mitad, un grado de árbol vale dos de cigüeñal.</a:t>
            </a:r>
            <a:endParaRPr lang="en-US" sz="1300" dirty="0"/>
          </a:p>
        </p:txBody>
      </p:sp>
      <p:sp>
        <p:nvSpPr>
          <p:cNvPr id="11" name="Shape 9"/>
          <p:cNvSpPr/>
          <p:nvPr/>
        </p:nvSpPr>
        <p:spPr>
          <a:xfrm>
            <a:off x="548640" y="3236976"/>
            <a:ext cx="384048" cy="384048"/>
          </a:xfrm>
          <a:prstGeom prst="ellipse">
            <a:avLst/>
          </a:prstGeom>
          <a:solidFill>
            <a:schemeClr val="accent2"/>
          </a:solidFill>
          <a:ln w="12700">
            <a:solidFill>
              <a:schemeClr val="accent2"/>
            </a:solidFill>
            <a:prstDash val="solid"/>
          </a:ln>
        </p:spPr>
        <p:txBody>
          <a:bodyPr/>
          <a:p/>
        </p:txBody>
      </p:sp>
      <p:sp>
        <p:nvSpPr>
          <p:cNvPr id="12" name="Text 10"/>
          <p:cNvSpPr txBox="1"/>
          <p:nvPr/>
        </p:nvSpPr>
        <p:spPr>
          <a:xfrm>
            <a:off x="548640" y="3236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11"/>
          <p:cNvSpPr txBox="1"/>
          <p:nvPr/>
        </p:nvSpPr>
        <p:spPr>
          <a:xfrm>
            <a:off x="1078992" y="320040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Datos. </a:t>
            </a:r>
            <a:pPr indent="0" marL="0">
              <a:lnSpc>
                <a:spcPct val="106000"/>
              </a:lnSpc>
              <a:buNone/>
            </a:pPr>
            <a:r>
              <a:rPr lang="en-US" sz="1200" dirty="0">
                <a:solidFill>
                  <a:schemeClr val="accent4"/>
                </a:solidFill>
              </a:rPr>
              <a:t>piñón del árbol de levas con 40 dientes; se monta la correa desplazada un diente</a:t>
            </a:r>
            <a:endParaRPr lang="en-US" sz="1200" dirty="0"/>
          </a:p>
        </p:txBody>
      </p:sp>
      <p:sp>
        <p:nvSpPr>
          <p:cNvPr id="14" name="Shape 12"/>
          <p:cNvSpPr/>
          <p:nvPr/>
        </p:nvSpPr>
        <p:spPr>
          <a:xfrm>
            <a:off x="548640" y="3694176"/>
            <a:ext cx="384048" cy="384048"/>
          </a:xfrm>
          <a:prstGeom prst="ellipse">
            <a:avLst/>
          </a:prstGeom>
          <a:solidFill>
            <a:schemeClr val="accent2"/>
          </a:solidFill>
          <a:ln w="12700">
            <a:solidFill>
              <a:schemeClr val="accent2"/>
            </a:solidFill>
            <a:prstDash val="solid"/>
          </a:ln>
        </p:spPr>
        <p:txBody>
          <a:bodyPr/>
          <a:p/>
        </p:txBody>
      </p:sp>
      <p:sp>
        <p:nvSpPr>
          <p:cNvPr id="15" name="Text 13"/>
          <p:cNvSpPr txBox="1"/>
          <p:nvPr/>
        </p:nvSpPr>
        <p:spPr>
          <a:xfrm>
            <a:off x="548640" y="3694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4"/>
          <p:cNvSpPr txBox="1"/>
          <p:nvPr/>
        </p:nvSpPr>
        <p:spPr>
          <a:xfrm>
            <a:off x="1078992" y="365760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1 — grados de árbol por diente. </a:t>
            </a:r>
            <a:pPr indent="0" marL="0">
              <a:lnSpc>
                <a:spcPct val="106000"/>
              </a:lnSpc>
              <a:buNone/>
            </a:pPr>
            <a:r>
              <a:rPr lang="en-US" sz="1200" dirty="0">
                <a:solidFill>
                  <a:schemeClr val="accent4"/>
                </a:solidFill>
              </a:rPr>
              <a:t xml:space="preserve">γ</a:t>
            </a:r>
            <a:r>
              <a:rPr baseline="-25000" lang="en-US" sz="1200" dirty="0">
                <a:solidFill>
                  <a:schemeClr val="accent4"/>
                </a:solidFill>
              </a:rPr>
              <a:t xml:space="preserve">a</a:t>
            </a:r>
            <a:r>
              <a:rPr lang="en-US" sz="1200" dirty="0">
                <a:solidFill>
                  <a:schemeClr val="accent4"/>
                </a:solidFill>
              </a:rPr>
              <a:t xml:space="preserve"> = 360 / 40 = 9 grados de árbol de levas</a:t>
            </a:r>
            <a:endParaRPr lang="en-US" sz="1200" dirty="0"/>
          </a:p>
        </p:txBody>
      </p:sp>
      <p:sp>
        <p:nvSpPr>
          <p:cNvPr id="17" name="Shape 15"/>
          <p:cNvSpPr/>
          <p:nvPr/>
        </p:nvSpPr>
        <p:spPr>
          <a:xfrm>
            <a:off x="548640" y="4151376"/>
            <a:ext cx="384048" cy="384048"/>
          </a:xfrm>
          <a:prstGeom prst="ellipse">
            <a:avLst/>
          </a:prstGeom>
          <a:solidFill>
            <a:schemeClr val="accent2"/>
          </a:solidFill>
          <a:ln w="12700">
            <a:solidFill>
              <a:schemeClr val="accent2"/>
            </a:solidFill>
            <a:prstDash val="solid"/>
          </a:ln>
        </p:spPr>
        <p:txBody>
          <a:bodyPr/>
          <a:p/>
        </p:txBody>
      </p:sp>
      <p:sp>
        <p:nvSpPr>
          <p:cNvPr id="18" name="Text 16"/>
          <p:cNvSpPr txBox="1"/>
          <p:nvPr/>
        </p:nvSpPr>
        <p:spPr>
          <a:xfrm>
            <a:off x="548640" y="4151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txBox="1"/>
          <p:nvPr/>
        </p:nvSpPr>
        <p:spPr>
          <a:xfrm>
            <a:off x="1078992" y="411480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2 — grados de cigüeñal. </a:t>
            </a:r>
            <a:pPr indent="0" marL="0">
              <a:lnSpc>
                <a:spcPct val="106000"/>
              </a:lnSpc>
              <a:buNone/>
            </a:pPr>
            <a:r>
              <a:rPr lang="en-US" sz="1200" dirty="0">
                <a:solidFill>
                  <a:schemeClr val="accent4"/>
                </a:solidFill>
              </a:rPr>
              <a:t xml:space="preserve">γ</a:t>
            </a:r>
            <a:r>
              <a:rPr baseline="-25000" lang="en-US" sz="1200" dirty="0">
                <a:solidFill>
                  <a:schemeClr val="accent4"/>
                </a:solidFill>
              </a:rPr>
              <a:t xml:space="preserve">c</a:t>
            </a:r>
            <a:r>
              <a:rPr lang="en-US" sz="1200" dirty="0">
                <a:solidFill>
                  <a:schemeClr val="accent4"/>
                </a:solidFill>
              </a:rPr>
              <a:t xml:space="preserve"> = 2 · 9 = 18 grados de cigüeñal</a:t>
            </a:r>
            <a:endParaRPr lang="en-US" sz="1200" dirty="0"/>
          </a:p>
        </p:txBody>
      </p:sp>
      <p:sp>
        <p:nvSpPr>
          <p:cNvPr id="20" name="Shape 18"/>
          <p:cNvSpPr/>
          <p:nvPr/>
        </p:nvSpPr>
        <p:spPr>
          <a:xfrm>
            <a:off x="548640" y="4608576"/>
            <a:ext cx="384048" cy="384048"/>
          </a:xfrm>
          <a:prstGeom prst="ellipse">
            <a:avLst/>
          </a:prstGeom>
          <a:solidFill>
            <a:schemeClr val="accent2"/>
          </a:solidFill>
          <a:ln w="12700">
            <a:solidFill>
              <a:schemeClr val="accent2"/>
            </a:solidFill>
            <a:prstDash val="solid"/>
          </a:ln>
        </p:spPr>
        <p:txBody>
          <a:bodyPr/>
          <a:p/>
        </p:txBody>
      </p:sp>
      <p:sp>
        <p:nvSpPr>
          <p:cNvPr id="21" name="Text 19"/>
          <p:cNvSpPr txBox="1"/>
          <p:nvPr/>
        </p:nvSpPr>
        <p:spPr>
          <a:xfrm>
            <a:off x="548640" y="4608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2" name="Text 20"/>
          <p:cNvSpPr txBox="1"/>
          <p:nvPr/>
        </p:nvSpPr>
        <p:spPr>
          <a:xfrm>
            <a:off x="1078992" y="457200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3 — interpretación. </a:t>
            </a:r>
            <a:pPr indent="0" marL="0">
              <a:lnSpc>
                <a:spcPct val="106000"/>
              </a:lnSpc>
              <a:buNone/>
            </a:pPr>
            <a:r>
              <a:rPr lang="en-US" sz="1200" dirty="0">
                <a:solidFill>
                  <a:schemeClr val="accent4"/>
                </a:solidFill>
              </a:rPr>
              <a:t>un solo diente desplaza el diagrama completo 18 grados de cigüeñal, que es casi tanto como todo el cruce de válvulas del ejercicio anterior</a:t>
            </a:r>
            <a:endParaRPr lang="en-US" sz="1200" dirty="0"/>
          </a:p>
        </p:txBody>
      </p:sp>
      <p:sp>
        <p:nvSpPr>
          <p:cNvPr id="23" name="Shape 21"/>
          <p:cNvSpPr/>
          <p:nvPr/>
        </p:nvSpPr>
        <p:spPr>
          <a:xfrm>
            <a:off x="548640" y="5166360"/>
            <a:ext cx="11064240" cy="777240"/>
          </a:xfrm>
          <a:prstGeom prst="roundRect">
            <a:avLst>
              <a:gd name="adj" fmla="val 7059"/>
            </a:avLst>
          </a:prstGeom>
          <a:solidFill>
            <a:schemeClr val="bg2"/>
          </a:solidFill>
          <a:ln w="12700">
            <a:solidFill>
              <a:schemeClr val="bg2"/>
            </a:solidFill>
            <a:prstDash val="solid"/>
          </a:ln>
        </p:spPr>
        <p:txBody>
          <a:bodyPr/>
          <a:p/>
        </p:txBody>
      </p:sp>
      <p:sp>
        <p:nvSpPr>
          <p:cNvPr id="24" name="Shape 22"/>
          <p:cNvSpPr/>
          <p:nvPr/>
        </p:nvSpPr>
        <p:spPr>
          <a:xfrm>
            <a:off x="786384" y="5372100"/>
            <a:ext cx="365760" cy="365760"/>
          </a:xfrm>
          <a:prstGeom prst="ellipse">
            <a:avLst/>
          </a:prstGeom>
          <a:solidFill>
            <a:schemeClr val="accent1"/>
          </a:solidFill>
          <a:ln w="12700">
            <a:solidFill>
              <a:schemeClr val="accent1"/>
            </a:solidFill>
            <a:prstDash val="solid"/>
          </a:ln>
        </p:spPr>
        <p:txBody>
          <a:bodyPr/>
          <a:p/>
        </p:txBody>
      </p:sp>
      <p:sp>
        <p:nvSpPr>
          <p:cNvPr id="25" name="Text 23"/>
          <p:cNvSpPr txBox="1"/>
          <p:nvPr/>
        </p:nvSpPr>
        <p:spPr>
          <a:xfrm>
            <a:off x="786384" y="53721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4"/>
          <p:cNvSpPr txBox="1"/>
          <p:nvPr/>
        </p:nvSpPr>
        <p:spPr>
          <a:xfrm>
            <a:off x="1298448" y="52578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Este cálculo explica por qué un diente de diferencia no es un error menor: desplaza todos los ángulos del diagrama casi veinte grados. En un motor interferente, eso puede bastar para que el pistón alcance una válvula abierta.</a:t>
            </a:r>
            <a:endParaRPr lang="en-US" sz="1450" dirty="0"/>
          </a:p>
        </p:txBody>
      </p:sp>
      <p:sp>
        <p:nvSpPr>
          <p:cNvPr id="27" name="Text 25"/>
          <p:cNvSpPr txBox="1"/>
          <p:nvPr/>
        </p:nvSpPr>
        <p:spPr>
          <a:xfrm>
            <a:off x="548640" y="6035040"/>
            <a:ext cx="11064240" cy="27432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Consecuencia práctica:  la verificación de dos vueltas no busca una coincidencia aproximada. Las marcas coinciden o no coinciden; no hay término medio aceptable.</a:t>
            </a:r>
            <a:endParaRPr lang="en-US" sz="1150" dirty="0"/>
          </a:p>
        </p:txBody>
      </p:sp>
      <p:sp>
        <p:nvSpPr>
          <p:cNvPr id="28" name="Text 26"/>
          <p:cNvSpPr txBox="1"/>
          <p:nvPr/>
        </p:nvSpPr>
        <p:spPr>
          <a:xfrm>
            <a:off x="548640" y="6400800"/>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 · habilidad de cálculo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Cuánto tiempo tiene realmente una válvula para abrir</a:t>
            </a:r>
            <a:endParaRPr lang="en-US" sz="3200" dirty="0"/>
          </a:p>
        </p:txBody>
      </p:sp>
      <p:sp>
        <p:nvSpPr>
          <p:cNvPr id="3" name="Shape 1"/>
          <p:cNvSpPr/>
          <p:nvPr/>
        </p:nvSpPr>
        <p:spPr>
          <a:xfrm>
            <a:off x="548640" y="1371600"/>
            <a:ext cx="53949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Tiempo de una vuelta de cigüeñal</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t</m:t>
                          </m:r>
                        </m:e>
                        <m:sub>
                          <m:r>
                            <a:rPr lang="es-EC" sz="2400" b="1" dirty="0" i="0">
                              <a:solidFill>
                                <a:srgbClr val="C0451C"/>
                              </a:solidFill>
                              <a:latin typeface="Cambria Math" panose="02040503050406030204" pitchFamily="18" charset="0"/>
                            </a:rPr>
                            <m:t xml:space="preserve">v</m:t>
                          </m:r>
                        </m:sub>
                      </m:sSub>
                      <m:r>
                        <a:rPr lang="es-EC" sz="2400" b="1" dirty="0" i="0">
                          <a:solidFill>
                            <a:srgbClr val="C0451C"/>
                          </a:solidFill>
                          <a:latin typeface="Cambria Math" panose="02040503050406030204" pitchFamily="18" charset="0"/>
                        </a:rPr>
                        <m:t xml:space="preserve"> = </m:t>
                      </m:r>
                      <m:f>
                        <m:fPr>
                          <m:ctrlPr>
                            <a:rPr lang="es-EC" sz="2400" b="1" dirty="0" i="1">
                              <a:solidFill>
                                <a:srgbClr val="C0451C"/>
                              </a:solidFill>
                              <a:latin typeface="Cambria Math" panose="02040503050406030204" pitchFamily="18" charset="0"/>
                            </a:rPr>
                          </m:ctrlPr>
                        </m:fPr>
                        <m:num>
                          <m:r>
                            <a:rPr lang="es-EC" sz="2400" b="1" dirty="0" i="0">
                              <a:solidFill>
                                <a:srgbClr val="C0451C"/>
                              </a:solidFill>
                              <a:latin typeface="Cambria Math" panose="02040503050406030204" pitchFamily="18" charset="0"/>
                            </a:rPr>
                            <m:t xml:space="preserve">60</m:t>
                          </m:r>
                        </m:num>
                        <m:den>
                          <m:r>
                            <a:rPr lang="es-EC" sz="2400" b="1" dirty="0" i="1">
                              <a:solidFill>
                                <a:srgbClr val="C0451C"/>
                              </a:solidFill>
                              <a:latin typeface="Cambria Math" panose="02040503050406030204" pitchFamily="18" charset="0"/>
                            </a:rPr>
                            <m:t xml:space="preserve">n</m:t>
                          </m:r>
                        </m:den>
                      </m:f>
                    </m:oMath>
                  </m:oMathPara>
                </a14:m>
                <a:endParaRPr lang="es-EC" sz="24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400" b="1" dirty="0">
                    <a:solidFill>
                      <a:srgbClr val="C0451C"/>
                    </a:solidFill>
                  </a:rPr>
                  <a:t xml:space="preserve">t</a:t>
                </a:r>
                <a:r>
                  <a:rPr lang="es-EC" sz="2400" b="1" baseline="-25000" dirty="0">
                    <a:solidFill>
                      <a:srgbClr val="C0451C"/>
                    </a:solidFill>
                  </a:rPr>
                  <a:t xml:space="preserve">v</a:t>
                </a:r>
                <a:r>
                  <a:rPr lang="es-EC" sz="2400" b="1" dirty="0">
                    <a:solidFill>
                      <a:srgbClr val="C0451C"/>
                    </a:solidFill>
                  </a:rPr>
                  <a:t xml:space="preserve"> = </a:t>
                </a:r>
                <a:r>
                  <a:rPr lang="es-EC" sz="2400" b="1" dirty="0">
                    <a:solidFill>
                      <a:srgbClr val="C0451C"/>
                    </a:solidFill>
                  </a:rPr>
                  <a:t xml:space="preserve">60</a:t>
                </a:r>
                <a:r>
                  <a:rPr lang="es-EC" sz="2400" b="1" dirty="0">
                    <a:solidFill>
                      <a:srgbClr val="C0451C"/>
                    </a:solidFill>
                  </a:rPr>
                  <a:t xml:space="preserve"> / </a:t>
                </a:r>
                <a:r>
                  <a:rPr lang="es-EC" sz="2400" b="1" dirty="0">
                    <a:solidFill>
                      <a:srgbClr val="C0451C"/>
                    </a:solidFill>
                  </a:rPr>
                  <a:t xml:space="preserve">n</a:t>
                </a:r>
              </a:p>
            </p:txBody>
          </p:sp>
        </mc:Fallback>
      </mc:AlternateContent>
      <p:sp>
        <p:nvSpPr>
          <p:cNvPr id="6" name="Text 4"/>
          <p:cNvSpPr txBox="1"/>
          <p:nvPr/>
        </p:nvSpPr>
        <p:spPr>
          <a:xfrm>
            <a:off x="786384" y="2706624"/>
            <a:ext cx="4919472" cy="1280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Segundos por vuelta, con el régimen n en revoluciones por minuto.</a:t>
            </a:r>
            <a:endParaRPr lang="en-US" sz="1300" dirty="0"/>
          </a:p>
        </p:txBody>
      </p:sp>
      <p:sp>
        <p:nvSpPr>
          <p:cNvPr id="7" name="Shape 5"/>
          <p:cNvSpPr/>
          <p:nvPr/>
        </p:nvSpPr>
        <p:spPr>
          <a:xfrm>
            <a:off x="6217920" y="1371600"/>
            <a:ext cx="53949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645566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Tiempo de apertura de una válvula</a:t>
            </a:r>
            <a:endParaRPr lang="en-US" sz="1700" dirty="0"/>
          </a:p>
        </p:txBody>
      </p:sp>
      <mc:AlternateContent xmlns:mc="http://schemas.openxmlformats.org/markup-compatibility/2006" xmlns:a14="http://schemas.microsoft.com/office/drawing/2010/main">
        <mc:Choice Requires="a14">
          <p:sp>
            <p:nvSpPr>
              <p:cNvPr id="9" name="Text 7"/>
              <p:cNvSpPr txBox="1"/>
              <p:nvPr/>
            </p:nvSpPr>
            <p:spPr>
              <a:xfrm>
                <a:off x="645566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2458C4"/>
                              </a:solidFill>
                              <a:latin typeface="Cambria Math" panose="02040503050406030204" pitchFamily="18" charset="0"/>
                            </a:rPr>
                          </m:ctrlPr>
                        </m:sSubPr>
                        <m:e>
                          <m:r>
                            <a:rPr lang="es-EC" sz="2400" b="1" dirty="0" i="1">
                              <a:solidFill>
                                <a:srgbClr val="2458C4"/>
                              </a:solidFill>
                              <a:latin typeface="Cambria Math" panose="02040503050406030204" pitchFamily="18" charset="0"/>
                            </a:rPr>
                            <m:t xml:space="preserve">t</m:t>
                          </m:r>
                        </m:e>
                        <m:sub>
                          <m:r>
                            <a:rPr lang="es-EC" sz="2400" b="1" dirty="0" i="0">
                              <a:solidFill>
                                <a:srgbClr val="2458C4"/>
                              </a:solidFill>
                              <a:latin typeface="Cambria Math" panose="02040503050406030204" pitchFamily="18" charset="0"/>
                            </a:rPr>
                            <m:t xml:space="preserve">a</m:t>
                          </m:r>
                        </m:sub>
                      </m:sSub>
                      <m:r>
                        <a:rPr lang="es-EC" sz="2400" b="1" dirty="0" i="0">
                          <a:solidFill>
                            <a:srgbClr val="2458C4"/>
                          </a:solidFill>
                          <a:latin typeface="Cambria Math" panose="02040503050406030204" pitchFamily="18" charset="0"/>
                        </a:rPr>
                        <m:t xml:space="preserve"> = </m:t>
                      </m:r>
                      <m:sSub>
                        <m:sSubPr>
                          <m:ctrlPr>
                            <a:rPr lang="es-EC" sz="2400" b="1" dirty="0" i="1">
                              <a:solidFill>
                                <a:srgbClr val="2458C4"/>
                              </a:solidFill>
                              <a:latin typeface="Cambria Math" panose="02040503050406030204" pitchFamily="18" charset="0"/>
                            </a:rPr>
                          </m:ctrlPr>
                        </m:sSubPr>
                        <m:e>
                          <m:r>
                            <a:rPr lang="es-EC" sz="2400" b="1" dirty="0" i="1">
                              <a:solidFill>
                                <a:srgbClr val="2458C4"/>
                              </a:solidFill>
                              <a:latin typeface="Cambria Math" panose="02040503050406030204" pitchFamily="18" charset="0"/>
                            </a:rPr>
                            <m:t xml:space="preserve">t</m:t>
                          </m:r>
                        </m:e>
                        <m:sub>
                          <m:r>
                            <a:rPr lang="es-EC" sz="2400" b="1" dirty="0" i="0">
                              <a:solidFill>
                                <a:srgbClr val="2458C4"/>
                              </a:solidFill>
                              <a:latin typeface="Cambria Math" panose="02040503050406030204" pitchFamily="18" charset="0"/>
                            </a:rPr>
                            <m:t xml:space="preserve">v</m:t>
                          </m:r>
                        </m:sub>
                      </m:sSub>
                      <m:r>
                        <a:rPr lang="es-EC" sz="2400" b="1" dirty="0" i="0">
                          <a:solidFill>
                            <a:srgbClr val="2458C4"/>
                          </a:solidFill>
                          <a:latin typeface="Cambria Math" panose="02040503050406030204" pitchFamily="18" charset="0"/>
                        </a:rPr>
                        <m:t xml:space="preserve"> · </m:t>
                      </m:r>
                      <m:f>
                        <m:fPr>
                          <m:ctrlPr>
                            <a:rPr lang="es-EC" sz="2400" b="1" dirty="0" i="1">
                              <a:solidFill>
                                <a:srgbClr val="2458C4"/>
                              </a:solidFill>
                              <a:latin typeface="Cambria Math" panose="02040503050406030204" pitchFamily="18" charset="0"/>
                            </a:rPr>
                          </m:ctrlPr>
                        </m:fPr>
                        <m:num>
                          <m:sSub>
                            <m:sSubPr>
                              <m:ctrlPr>
                                <a:rPr lang="es-EC" sz="2400" b="1" dirty="0" i="1">
                                  <a:solidFill>
                                    <a:srgbClr val="2458C4"/>
                                  </a:solidFill>
                                  <a:latin typeface="Cambria Math" panose="02040503050406030204" pitchFamily="18" charset="0"/>
                                </a:rPr>
                              </m:ctrlPr>
                            </m:sSubPr>
                            <m:e>
                              <m:r>
                                <a:rPr lang="es-EC" sz="2400" b="1" dirty="0" i="1">
                                  <a:solidFill>
                                    <a:srgbClr val="2458C4"/>
                                  </a:solidFill>
                                  <a:latin typeface="Cambria Math" panose="02040503050406030204" pitchFamily="18" charset="0"/>
                                </a:rPr>
                                <m:t xml:space="preserve">α</m:t>
                              </m:r>
                            </m:e>
                            <m:sub>
                              <m:r>
                                <a:rPr lang="es-EC" sz="2400" b="1" dirty="0" i="0">
                                  <a:solidFill>
                                    <a:srgbClr val="2458C4"/>
                                  </a:solidFill>
                                  <a:latin typeface="Cambria Math" panose="02040503050406030204" pitchFamily="18" charset="0"/>
                                </a:rPr>
                                <m:t xml:space="preserve">a</m:t>
                              </m:r>
                            </m:sub>
                          </m:sSub>
                        </m:num>
                        <m:den>
                          <m:r>
                            <a:rPr lang="es-EC" sz="2400" b="1" dirty="0" i="0">
                              <a:solidFill>
                                <a:srgbClr val="2458C4"/>
                              </a:solidFill>
                              <a:latin typeface="Cambria Math" panose="02040503050406030204" pitchFamily="18" charset="0"/>
                            </a:rPr>
                            <m:t xml:space="preserve">360</m:t>
                          </m:r>
                        </m:den>
                      </m:f>
                    </m:oMath>
                  </m:oMathPara>
                </a14:m>
                <a:endParaRPr lang="es-EC" sz="2400" dirty="0"/>
              </a:p>
            </p:txBody>
          </p:sp>
        </mc:Choice>
        <mc:Fallback xmlns="">
          <p:sp>
            <p:nvSpPr>
              <p:cNvPr id="9" name="Text 7"/>
              <p:cNvSpPr txBox="1"/>
              <p:nvPr/>
            </p:nvSpPr>
            <p:spPr>
              <a:xfrm>
                <a:off x="6455664" y="1993392"/>
                <a:ext cx="4919472" cy="658368"/>
              </a:xfrm>
              <a:prstGeom prst="rect">
                <a:avLst/>
              </a:prstGeom>
              <a:noFill/>
              <a:ln/>
            </p:spPr>
            <p:txBody>
              <a:bodyPr wrap="square" lIns="0" tIns="0" rIns="0" bIns="0" rtlCol="0" anchor="ctr"/>
              <a:lstStyle/>
              <a:p>
                <a:pPr algn="l"/>
                <a:r>
                  <a:rPr lang="es-EC" sz="2400" b="1" dirty="0">
                    <a:solidFill>
                      <a:srgbClr val="2458C4"/>
                    </a:solidFill>
                  </a:rPr>
                  <a:t xml:space="preserve">t</a:t>
                </a:r>
                <a:r>
                  <a:rPr lang="es-EC" sz="2400" b="1" baseline="-25000" dirty="0">
                    <a:solidFill>
                      <a:srgbClr val="2458C4"/>
                    </a:solidFill>
                  </a:rPr>
                  <a:t xml:space="preserve">a</a:t>
                </a:r>
                <a:r>
                  <a:rPr lang="es-EC" sz="2400" b="1" dirty="0">
                    <a:solidFill>
                      <a:srgbClr val="2458C4"/>
                    </a:solidFill>
                  </a:rPr>
                  <a:t xml:space="preserve"> = </a:t>
                </a:r>
                <a:r>
                  <a:rPr lang="es-EC" sz="2400" b="1" dirty="0">
                    <a:solidFill>
                      <a:srgbClr val="2458C4"/>
                    </a:solidFill>
                  </a:rPr>
                  <a:t xml:space="preserve">t</a:t>
                </a:r>
                <a:r>
                  <a:rPr lang="es-EC" sz="2400" b="1" baseline="-25000" dirty="0">
                    <a:solidFill>
                      <a:srgbClr val="2458C4"/>
                    </a:solidFill>
                  </a:rPr>
                  <a:t xml:space="preserve">v</a:t>
                </a:r>
                <a:r>
                  <a:rPr lang="es-EC" sz="2400" b="1" dirty="0">
                    <a:solidFill>
                      <a:srgbClr val="2458C4"/>
                    </a:solidFill>
                  </a:rPr>
                  <a:t xml:space="preserve"> · </a:t>
                </a:r>
                <a:r>
                  <a:rPr lang="es-EC" sz="2400" b="1" dirty="0">
                    <a:solidFill>
                      <a:srgbClr val="2458C4"/>
                    </a:solidFill>
                  </a:rPr>
                  <a:t xml:space="preserve">α</a:t>
                </a:r>
                <a:r>
                  <a:rPr lang="es-EC" sz="2400" b="1" baseline="-25000" dirty="0">
                    <a:solidFill>
                      <a:srgbClr val="2458C4"/>
                    </a:solidFill>
                  </a:rPr>
                  <a:t xml:space="preserve">a</a:t>
                </a:r>
                <a:r>
                  <a:rPr lang="es-EC" sz="2400" b="1" dirty="0">
                    <a:solidFill>
                      <a:srgbClr val="2458C4"/>
                    </a:solidFill>
                  </a:rPr>
                  <a:t xml:space="preserve"> / </a:t>
                </a:r>
                <a:r>
                  <a:rPr lang="es-EC" sz="2400" b="1" dirty="0">
                    <a:solidFill>
                      <a:srgbClr val="2458C4"/>
                    </a:solidFill>
                  </a:rPr>
                  <a:t xml:space="preserve">360</a:t>
                </a:r>
              </a:p>
            </p:txBody>
          </p:sp>
        </mc:Fallback>
      </mc:AlternateContent>
      <p:sp>
        <p:nvSpPr>
          <p:cNvPr id="10" name="Text 8"/>
          <p:cNvSpPr txBox="1"/>
          <p:nvPr/>
        </p:nvSpPr>
        <p:spPr>
          <a:xfrm>
            <a:off x="6455664" y="2706624"/>
            <a:ext cx="4919472" cy="1280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Fracción de vuelta que la válvula permanece abierta, convertida a tiempo.</a:t>
            </a:r>
            <a:endParaRPr lang="en-US" sz="1300" dirty="0"/>
          </a:p>
        </p:txBody>
      </p:sp>
      <p:sp>
        <p:nvSpPr>
          <p:cNvPr id="11" name="Shape 9"/>
          <p:cNvSpPr/>
          <p:nvPr/>
        </p:nvSpPr>
        <p:spPr>
          <a:xfrm>
            <a:off x="548640" y="3236976"/>
            <a:ext cx="384048" cy="384048"/>
          </a:xfrm>
          <a:prstGeom prst="ellipse">
            <a:avLst/>
          </a:prstGeom>
          <a:solidFill>
            <a:schemeClr val="accent2"/>
          </a:solidFill>
          <a:ln w="12700">
            <a:solidFill>
              <a:schemeClr val="accent2"/>
            </a:solidFill>
            <a:prstDash val="solid"/>
          </a:ln>
        </p:spPr>
        <p:txBody>
          <a:bodyPr/>
          <a:p/>
        </p:txBody>
      </p:sp>
      <p:sp>
        <p:nvSpPr>
          <p:cNvPr id="12" name="Text 10"/>
          <p:cNvSpPr txBox="1"/>
          <p:nvPr/>
        </p:nvSpPr>
        <p:spPr>
          <a:xfrm>
            <a:off x="548640" y="3236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11"/>
          <p:cNvSpPr txBox="1"/>
          <p:nvPr/>
        </p:nvSpPr>
        <p:spPr>
          <a:xfrm>
            <a:off x="1078992" y="320040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Datos. </a:t>
            </a:r>
            <a:pPr indent="0" marL="0">
              <a:lnSpc>
                <a:spcPct val="106000"/>
              </a:lnSpc>
              <a:buNone/>
            </a:pPr>
            <a:r>
              <a:rPr lang="en-US" sz="1200" dirty="0">
                <a:solidFill>
                  <a:schemeClr val="accent4"/>
                </a:solidFill>
              </a:rPr>
              <a:t>motor a 3 000 rpm, con una duración de admisión de 240 grados de cigüeñal</a:t>
            </a:r>
            <a:endParaRPr lang="en-US" sz="1200" dirty="0"/>
          </a:p>
        </p:txBody>
      </p:sp>
      <p:sp>
        <p:nvSpPr>
          <p:cNvPr id="14" name="Shape 12"/>
          <p:cNvSpPr/>
          <p:nvPr/>
        </p:nvSpPr>
        <p:spPr>
          <a:xfrm>
            <a:off x="548640" y="3694176"/>
            <a:ext cx="384048" cy="384048"/>
          </a:xfrm>
          <a:prstGeom prst="ellipse">
            <a:avLst/>
          </a:prstGeom>
          <a:solidFill>
            <a:schemeClr val="accent2"/>
          </a:solidFill>
          <a:ln w="12700">
            <a:solidFill>
              <a:schemeClr val="accent2"/>
            </a:solidFill>
            <a:prstDash val="solid"/>
          </a:ln>
        </p:spPr>
        <p:txBody>
          <a:bodyPr/>
          <a:p/>
        </p:txBody>
      </p:sp>
      <p:sp>
        <p:nvSpPr>
          <p:cNvPr id="15" name="Text 13"/>
          <p:cNvSpPr txBox="1"/>
          <p:nvPr/>
        </p:nvSpPr>
        <p:spPr>
          <a:xfrm>
            <a:off x="548640" y="3694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4"/>
          <p:cNvSpPr txBox="1"/>
          <p:nvPr/>
        </p:nvSpPr>
        <p:spPr>
          <a:xfrm>
            <a:off x="1078992" y="365760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1 — tiempo por vuelta. </a:t>
            </a:r>
            <a:pPr indent="0" marL="0">
              <a:lnSpc>
                <a:spcPct val="106000"/>
              </a:lnSpc>
              <a:buNone/>
            </a:pPr>
            <a:r>
              <a:rPr lang="en-US" sz="1200" dirty="0">
                <a:solidFill>
                  <a:schemeClr val="accent4"/>
                </a:solidFill>
              </a:rPr>
              <a:t xml:space="preserve">t</a:t>
            </a:r>
            <a:r>
              <a:rPr baseline="-25000" lang="en-US" sz="1200" dirty="0">
                <a:solidFill>
                  <a:schemeClr val="accent4"/>
                </a:solidFill>
              </a:rPr>
              <a:t xml:space="preserve">v</a:t>
            </a:r>
            <a:r>
              <a:rPr lang="en-US" sz="1200" dirty="0">
                <a:solidFill>
                  <a:schemeClr val="accent4"/>
                </a:solidFill>
              </a:rPr>
              <a:t xml:space="preserve"> = 60 / 3000 = 0,02 segundos por vuelta, es decir 20 milisegundos</a:t>
            </a:r>
            <a:endParaRPr lang="en-US" sz="1200" dirty="0"/>
          </a:p>
        </p:txBody>
      </p:sp>
      <p:sp>
        <p:nvSpPr>
          <p:cNvPr id="17" name="Shape 15"/>
          <p:cNvSpPr/>
          <p:nvPr/>
        </p:nvSpPr>
        <p:spPr>
          <a:xfrm>
            <a:off x="548640" y="4151376"/>
            <a:ext cx="384048" cy="384048"/>
          </a:xfrm>
          <a:prstGeom prst="ellipse">
            <a:avLst/>
          </a:prstGeom>
          <a:solidFill>
            <a:schemeClr val="accent2"/>
          </a:solidFill>
          <a:ln w="12700">
            <a:solidFill>
              <a:schemeClr val="accent2"/>
            </a:solidFill>
            <a:prstDash val="solid"/>
          </a:ln>
        </p:spPr>
        <p:txBody>
          <a:bodyPr/>
          <a:p/>
        </p:txBody>
      </p:sp>
      <p:sp>
        <p:nvSpPr>
          <p:cNvPr id="18" name="Text 16"/>
          <p:cNvSpPr txBox="1"/>
          <p:nvPr/>
        </p:nvSpPr>
        <p:spPr>
          <a:xfrm>
            <a:off x="548640" y="4151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txBox="1"/>
          <p:nvPr/>
        </p:nvSpPr>
        <p:spPr>
          <a:xfrm>
            <a:off x="1078992" y="411480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2 — tiempo de apertura. </a:t>
            </a:r>
            <a:pPr indent="0" marL="0">
              <a:lnSpc>
                <a:spcPct val="106000"/>
              </a:lnSpc>
              <a:buNone/>
            </a:pPr>
            <a:r>
              <a:rPr lang="en-US" sz="1200" dirty="0">
                <a:solidFill>
                  <a:schemeClr val="accent4"/>
                </a:solidFill>
              </a:rPr>
              <a:t xml:space="preserve">t</a:t>
            </a:r>
            <a:r>
              <a:rPr baseline="-25000" lang="en-US" sz="1200" dirty="0">
                <a:solidFill>
                  <a:schemeClr val="accent4"/>
                </a:solidFill>
              </a:rPr>
              <a:t xml:space="preserve">a</a:t>
            </a:r>
            <a:r>
              <a:rPr lang="en-US" sz="1200" dirty="0">
                <a:solidFill>
                  <a:schemeClr val="accent4"/>
                </a:solidFill>
              </a:rPr>
              <a:t xml:space="preserve"> = 0,02 · 240 / 360 = 0,0133 segundos, unos 13 milisegundos</a:t>
            </a:r>
            <a:endParaRPr lang="en-US" sz="1200" dirty="0"/>
          </a:p>
        </p:txBody>
      </p:sp>
      <p:sp>
        <p:nvSpPr>
          <p:cNvPr id="20" name="Shape 18"/>
          <p:cNvSpPr/>
          <p:nvPr/>
        </p:nvSpPr>
        <p:spPr>
          <a:xfrm>
            <a:off x="548640" y="4608576"/>
            <a:ext cx="384048" cy="384048"/>
          </a:xfrm>
          <a:prstGeom prst="ellipse">
            <a:avLst/>
          </a:prstGeom>
          <a:solidFill>
            <a:schemeClr val="accent2"/>
          </a:solidFill>
          <a:ln w="12700">
            <a:solidFill>
              <a:schemeClr val="accent2"/>
            </a:solidFill>
            <a:prstDash val="solid"/>
          </a:ln>
        </p:spPr>
        <p:txBody>
          <a:bodyPr/>
          <a:p/>
        </p:txBody>
      </p:sp>
      <p:sp>
        <p:nvSpPr>
          <p:cNvPr id="21" name="Text 19"/>
          <p:cNvSpPr txBox="1"/>
          <p:nvPr/>
        </p:nvSpPr>
        <p:spPr>
          <a:xfrm>
            <a:off x="548640" y="4608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2" name="Text 20"/>
          <p:cNvSpPr txBox="1"/>
          <p:nvPr/>
        </p:nvSpPr>
        <p:spPr>
          <a:xfrm>
            <a:off x="1078992" y="457200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3 — a 6 000 rpm. </a:t>
            </a:r>
            <a:pPr indent="0" marL="0">
              <a:lnSpc>
                <a:spcPct val="106000"/>
              </a:lnSpc>
              <a:buNone/>
            </a:pPr>
            <a:r>
              <a:rPr lang="en-US" sz="1200" dirty="0">
                <a:solidFill>
                  <a:schemeClr val="accent4"/>
                </a:solidFill>
              </a:rPr>
              <a:t>el tiempo se reduce a la mitad: unos 6,7 milisegundos para que la válvula abra, deje pasar la carga y cierre</a:t>
            </a:r>
            <a:endParaRPr lang="en-US" sz="1200" dirty="0"/>
          </a:p>
        </p:txBody>
      </p:sp>
      <p:sp>
        <p:nvSpPr>
          <p:cNvPr id="23" name="Shape 21"/>
          <p:cNvSpPr/>
          <p:nvPr/>
        </p:nvSpPr>
        <p:spPr>
          <a:xfrm>
            <a:off x="548640" y="5166360"/>
            <a:ext cx="11064240" cy="777240"/>
          </a:xfrm>
          <a:prstGeom prst="roundRect">
            <a:avLst>
              <a:gd name="adj" fmla="val 7059"/>
            </a:avLst>
          </a:prstGeom>
          <a:solidFill>
            <a:schemeClr val="bg2"/>
          </a:solidFill>
          <a:ln w="12700">
            <a:solidFill>
              <a:schemeClr val="bg2"/>
            </a:solidFill>
            <a:prstDash val="solid"/>
          </a:ln>
        </p:spPr>
        <p:txBody>
          <a:bodyPr/>
          <a:p/>
        </p:txBody>
      </p:sp>
      <p:sp>
        <p:nvSpPr>
          <p:cNvPr id="24" name="Shape 22"/>
          <p:cNvSpPr/>
          <p:nvPr/>
        </p:nvSpPr>
        <p:spPr>
          <a:xfrm>
            <a:off x="786384" y="5372100"/>
            <a:ext cx="365760" cy="365760"/>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786384" y="53721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4"/>
          <p:cNvSpPr txBox="1"/>
          <p:nvPr/>
        </p:nvSpPr>
        <p:spPr>
          <a:xfrm>
            <a:off x="1298448" y="52578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Ese es el motivo físico de todo lo estudiado: a seis mil revoluciones, la válvula dispone de menos de siete milisegundos por ciclo. Por eso importan la masa de las piezas, la fuerza del muelle y el perfil de la leva.</a:t>
            </a:r>
            <a:endParaRPr lang="en-US" sz="1450" dirty="0"/>
          </a:p>
        </p:txBody>
      </p:sp>
      <p:sp>
        <p:nvSpPr>
          <p:cNvPr id="27" name="Text 25"/>
          <p:cNvSpPr txBox="1"/>
          <p:nvPr/>
        </p:nvSpPr>
        <p:spPr>
          <a:xfrm>
            <a:off x="548640" y="6035040"/>
            <a:ext cx="11064240" cy="27432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Y por eso el llenado empeora con el régimen aunque la válvula abra los mismos grados: los grados son los mismos, pero el tiempo real disponible se reduce a la mitad al doblar las revoluciones.</a:t>
            </a:r>
            <a:endParaRPr lang="en-US" sz="1150" dirty="0"/>
          </a:p>
        </p:txBody>
      </p:sp>
      <p:sp>
        <p:nvSpPr>
          <p:cNvPr id="28" name="Text 26"/>
          <p:cNvSpPr txBox="1"/>
          <p:nvPr/>
        </p:nvSpPr>
        <p:spPr>
          <a:xfrm>
            <a:off x="548640" y="6400800"/>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 · enlaza con el rendimiento volumétrico de la Unidad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Ejercicios propuestos para el trabajo autónomo</a:t>
            </a:r>
            <a:endParaRPr lang="en-US" sz="3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731520"/>
                <a:gridCol w="6400800"/>
                <a:gridCol w="3931920"/>
              </a:tblGrid>
              <a:tr h="566928">
                <a:tc>
                  <a:txBody>
                    <a:bodyPr/>
                    <a:lstStyle/>
                    <a:p>
                      <a:pPr indent="0" marL="0">
                        <a:buNone/>
                      </a:pPr>
                      <a:r>
                        <a:rPr lang="en-US" sz="1300" b="1" dirty="0">
                          <a:solidFill>
                            <a:srgbClr val="FFFFFF"/>
                          </a:solidFill>
                        </a:rPr>
                        <a:t>Nro.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Enunciado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evalúa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566928">
                <a:tc>
                  <a:txBody>
                    <a:bodyPr/>
                    <a:lstStyle/>
                    <a:p>
                      <a:pPr indent="0" marL="0">
                        <a:buNone/>
                      </a:pPr>
                      <a:r>
                        <a:rPr lang="en-US" sz="1150" b="1" dirty="0">
                          <a:solidFill>
                            <a:schemeClr val="tx1"/>
                          </a:solidFill>
                        </a:rPr>
                        <a:t>1</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Un motor tiene AAA = 10°, RCA = 50°, AAE = 48° y RCE = 12°. Calcule la duración de admisión, la de escape y el cruce, y clasifique el motor.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Aplicación de las tres fórmulas y criterio de interpretación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chemeClr val="tx1"/>
                          </a:solidFill>
                        </a:rPr>
                        <a:t>2</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El piñón del árbol de levas de ese motor tiene 36 dientes. ¿Cuántos grados de cigüeñal desplaza un diente?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Conversión entre escalas de árbol y de cigüeñal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1"/>
                          </a:solidFill>
                        </a:rPr>
                        <a:t>3</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 cuántos milisegundos dispone su válvula de admisión a 2 500 rpm? ¿Y a 5 000 rpm?</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Relación entre grados, régimen y tiempo real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chemeClr val="tx1"/>
                          </a:solidFill>
                        </a:rPr>
                        <a:t>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Busque en Autodata los cuatro ángulos del motor del laboratorio, repita los cálculos y compare el resultado con el del ejercicio 1.</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Uso del manual como fuente, declarado en el PEA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93192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11480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114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2336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ejercicio 4 es el más importante de los cuatro: obliga a usar la fuente real de datos, que es lo que el resultado de aprendizaje de la unidad declara expresamente.</a:t>
            </a:r>
            <a:endParaRPr lang="en-US" sz="1450" dirty="0"/>
          </a:p>
        </p:txBody>
      </p:sp>
      <p:sp>
        <p:nvSpPr>
          <p:cNvPr id="8" name="Shape 5"/>
          <p:cNvSpPr/>
          <p:nvPr/>
        </p:nvSpPr>
        <p:spPr>
          <a:xfrm>
            <a:off x="548640" y="488289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882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84632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entrega. </a:t>
            </a:r>
            <a:pPr indent="0" marL="0">
              <a:lnSpc>
                <a:spcPct val="106000"/>
              </a:lnSpc>
              <a:buNone/>
            </a:pPr>
            <a:r>
              <a:rPr lang="en-US" sz="1200" dirty="0">
                <a:solidFill>
                  <a:schemeClr val="accent4"/>
                </a:solidFill>
              </a:rPr>
              <a:t>con el planteamiento completo, la fórmula aplicada, la sustitución y el resultado con sus unidades; no basta con el número final</a:t>
            </a:r>
            <a:endParaRPr lang="en-US" sz="1200" dirty="0"/>
          </a:p>
        </p:txBody>
      </p:sp>
      <p:sp>
        <p:nvSpPr>
          <p:cNvPr id="11" name="Shape 8"/>
          <p:cNvSpPr/>
          <p:nvPr/>
        </p:nvSpPr>
        <p:spPr>
          <a:xfrm>
            <a:off x="548640" y="522122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221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18464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se valora. </a:t>
            </a:r>
            <a:pPr indent="0" marL="0">
              <a:lnSpc>
                <a:spcPct val="106000"/>
              </a:lnSpc>
              <a:buNone/>
            </a:pPr>
            <a:r>
              <a:rPr lang="en-US" sz="1200" dirty="0">
                <a:solidFill>
                  <a:schemeClr val="accent4"/>
                </a:solidFill>
              </a:rPr>
              <a:t>el razonamiento del procedimiento tanto como el resultado, igual que en la prueba de unidad</a:t>
            </a:r>
            <a:endParaRPr lang="en-US" sz="1200" dirty="0"/>
          </a:p>
        </p:txBody>
      </p:sp>
      <p:sp>
        <p:nvSpPr>
          <p:cNvPr id="14" name="Shape 11"/>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52297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Dónde encaja en el PEA. </a:t>
            </a:r>
            <a:pPr indent="0" marL="0">
              <a:lnSpc>
                <a:spcPct val="106000"/>
              </a:lnSpc>
              <a:buNone/>
            </a:pPr>
            <a:r>
              <a:rPr lang="en-US" sz="1200" dirty="0">
                <a:solidFill>
                  <a:schemeClr val="accent4"/>
                </a:solidFill>
              </a:rPr>
              <a:t>forma parte del trabajo autónomo declarado, junto con la lectura de la guía didáctica de la unidad 3 y su cuestionario</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Actividades de trabajo autónomo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3.2  ·  2 HORAS DE DOCENCIA  ·  PREPARA LA PRÁCTICA DEL PEA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Despiece, armado</a:t>
            </a:r>
            <a:endParaRPr lang="en-US" sz="4000" dirty="0"/>
          </a:p>
          <a:p>
            <a:pPr indent="0" marL="0">
              <a:buNone/>
            </a:pPr>
            <a:r>
              <a:rPr lang="en-US" sz="4000" b="1" dirty="0">
                <a:solidFill>
                  <a:schemeClr val="bg1"/>
                </a:solidFill>
              </a:rPr>
              <a:t>y puesta a punto</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Marcas de calado · Procedimiento general · Casos reales · Montaje sin marcas · Tensión de la correa · Averías</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Ejecutar el despiece y el armado de la distribución de un motor siguiendo el procedimiento del fabricante, dejándolo correctamente sincronizado y verificado.</a:t>
            </a:r>
            <a:endParaRPr lang="en-US" sz="1200" dirty="0"/>
          </a:p>
        </p:txBody>
      </p:sp>
      <p:sp>
        <p:nvSpPr>
          <p:cNvPr id="8" name="Text 6"/>
          <p:cNvSpPr txBox="1"/>
          <p:nvPr/>
        </p:nvSpPr>
        <p:spPr>
          <a:xfrm>
            <a:off x="804672" y="320954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3</a:t>
            </a:r>
            <a:endParaRPr lang="en-US" sz="1200" dirty="0"/>
          </a:p>
        </p:txBody>
      </p:sp>
      <p:sp>
        <p:nvSpPr>
          <p:cNvPr id="9"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 del PEA</a:t>
            </a:r>
            <a:endParaRPr lang="en-US" sz="1700" dirty="0"/>
          </a:p>
        </p:txBody>
      </p:sp>
      <p:sp>
        <p:nvSpPr>
          <p:cNvPr id="13" name="Text 11"/>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Despiece y armado de la distribución.</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Es el segundo de los cinco conocimientos declarados para la unidad.</a:t>
            </a:r>
            <a:endParaRPr lang="en-US" sz="1200" dirty="0"/>
          </a:p>
        </p:txBody>
      </p:sp>
      <p:sp>
        <p:nvSpPr>
          <p:cNvPr id="14" name="Text 12"/>
          <p:cNvSpPr txBox="1"/>
          <p:nvPr/>
        </p:nvSpPr>
        <p:spPr>
          <a:xfrm>
            <a:off x="4584192" y="320954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2 de los 5 conocimientos</a:t>
            </a:r>
            <a:endParaRPr lang="en-US" sz="1200" dirty="0"/>
          </a:p>
        </p:txBody>
      </p:sp>
      <p:sp>
        <p:nvSpPr>
          <p:cNvPr id="15"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Ficha de puesta a punto de un motor concreto, con las marcas localizadas, fotografiadas y verificadas en grupo.</a:t>
            </a:r>
            <a:endParaRPr lang="en-US" sz="1200" dirty="0"/>
          </a:p>
        </p:txBody>
      </p:sp>
      <p:sp>
        <p:nvSpPr>
          <p:cNvPr id="20" name="Text 18"/>
          <p:cNvSpPr txBox="1"/>
          <p:nvPr/>
        </p:nvSpPr>
        <p:spPr>
          <a:xfrm>
            <a:off x="8363712" y="320954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Trabajo colaborativo</a:t>
            </a:r>
            <a:endParaRPr lang="en-US" sz="1200" dirty="0"/>
          </a:p>
        </p:txBody>
      </p:sp>
      <p:sp>
        <p:nvSpPr>
          <p:cNvPr id="21" name="Text 19"/>
          <p:cNvSpPr txBox="1"/>
          <p:nvPr/>
        </p:nvSpPr>
        <p:spPr>
          <a:xfrm>
            <a:off x="548640" y="3749040"/>
            <a:ext cx="11064240" cy="5029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Competencia concreta que se evalúa:  ante un motor desarmado que no se conoce, el estudiante debe poder localizar sus marcas de calado, consultar el procedimiento en el manual y dejar la distribución en punto, verificándolo antes de arrancar.</a:t>
            </a:r>
            <a:endParaRPr lang="en-US" sz="1400" dirty="0"/>
          </a:p>
        </p:txBody>
      </p:sp>
      <p:sp>
        <p:nvSpPr>
          <p:cNvPr id="22" name="Shape 20"/>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31596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Las marcas de calado. </a:t>
            </a:r>
            <a:pPr indent="0" marL="0">
              <a:lnSpc>
                <a:spcPct val="106000"/>
              </a:lnSpc>
              <a:buNone/>
            </a:pPr>
            <a:r>
              <a:rPr lang="en-US" sz="1200" dirty="0">
                <a:solidFill>
                  <a:schemeClr val="accent4"/>
                </a:solidFill>
              </a:rPr>
              <a:t>qué son, dónde están en cada tipo de mando y cómo se verifican</a:t>
            </a:r>
            <a:endParaRPr lang="en-US" sz="1200" dirty="0"/>
          </a:p>
        </p:txBody>
      </p:sp>
      <p:sp>
        <p:nvSpPr>
          <p:cNvPr id="25" name="Shape 23"/>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61772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procedimiento general. </a:t>
            </a:r>
            <a:pPr indent="0" marL="0">
              <a:lnSpc>
                <a:spcPct val="106000"/>
              </a:lnSpc>
              <a:buNone/>
            </a:pPr>
            <a:r>
              <a:rPr lang="en-US" sz="1200" dirty="0">
                <a:solidFill>
                  <a:schemeClr val="accent4"/>
                </a:solidFill>
              </a:rPr>
              <a:t>la secuencia que sirve para cualquier motor, antes de consultar el manual del concreto</a:t>
            </a:r>
            <a:endParaRPr lang="en-US" sz="1200" dirty="0"/>
          </a:p>
        </p:txBody>
      </p:sp>
      <p:sp>
        <p:nvSpPr>
          <p:cNvPr id="28" name="Shape 26"/>
          <p:cNvSpPr/>
          <p:nvPr/>
        </p:nvSpPr>
        <p:spPr>
          <a:xfrm>
            <a:off x="548640" y="495604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491947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Seis casos reales. </a:t>
            </a:r>
            <a:pPr indent="0" marL="0">
              <a:lnSpc>
                <a:spcPct val="106000"/>
              </a:lnSpc>
              <a:buNone/>
            </a:pPr>
            <a:r>
              <a:rPr lang="en-US" sz="1200" dirty="0">
                <a:solidFill>
                  <a:schemeClr val="accent4"/>
                </a:solidFill>
              </a:rPr>
              <a:t>procedimientos de vehículos distintos: qué cambia de uno a otro y qué permanece igual</a:t>
            </a:r>
            <a:endParaRPr lang="en-US" sz="1200" dirty="0"/>
          </a:p>
        </p:txBody>
      </p:sp>
      <p:sp>
        <p:nvSpPr>
          <p:cNvPr id="31" name="Shape 29"/>
          <p:cNvSpPr/>
          <p:nvPr/>
        </p:nvSpPr>
        <p:spPr>
          <a:xfrm>
            <a:off x="548640" y="525780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221224"/>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Cuando no hay marcas. </a:t>
            </a:r>
            <a:pPr indent="0" marL="0">
              <a:lnSpc>
                <a:spcPct val="106000"/>
              </a:lnSpc>
              <a:buNone/>
            </a:pPr>
            <a:r>
              <a:rPr lang="en-US" sz="1200" dirty="0">
                <a:solidFill>
                  <a:schemeClr val="accent4"/>
                </a:solidFill>
              </a:rPr>
              <a:t>puesta a punto con reloj comparador a partir del PMS y del cruce de válvulas</a:t>
            </a:r>
            <a:endParaRPr lang="en-US" sz="1200" dirty="0"/>
          </a:p>
        </p:txBody>
      </p:sp>
      <p:sp>
        <p:nvSpPr>
          <p:cNvPr id="34" name="Shape 32"/>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522976"/>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Tensión y verificación. </a:t>
            </a:r>
            <a:pPr indent="0" marL="0">
              <a:lnSpc>
                <a:spcPct val="106000"/>
              </a:lnSpc>
              <a:buNone/>
            </a:pPr>
            <a:r>
              <a:rPr lang="en-US" sz="1200" dirty="0">
                <a:solidFill>
                  <a:schemeClr val="accent4"/>
                </a:solidFill>
              </a:rPr>
              <a:t>cómo se tensa la correa y cómo se comprueba el punto antes de arrancar</a:t>
            </a:r>
            <a:endParaRPr lang="en-US" sz="120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Conocimientos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Las marcas de calado: la referencia de todo el trabajo</a:t>
            </a:r>
            <a:endParaRPr lang="en-US" sz="3200" dirty="0"/>
          </a:p>
        </p:txBody>
      </p:sp>
      <p:sp>
        <p:nvSpPr>
          <p:cNvPr id="3" name="marco_figura"/>
          <p:cNvSpPr/>
          <p:nvPr/>
        </p:nvSpPr>
        <p:spPr>
          <a:xfrm>
            <a:off x="548640" y="1371600"/>
            <a:ext cx="365760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marcas_engranajes.jpg">    </p:cNvPr>
          <p:cNvPicPr>
            <a:picLocks noChangeAspect="1"/>
          </p:cNvPicPr>
          <p:nvPr/>
        </p:nvPicPr>
        <p:blipFill>
          <a:blip r:embed="rId1"/>
          <a:srcRect l="0" r="0" t="0" b="0"/>
          <a:stretch/>
        </p:blipFill>
        <p:spPr>
          <a:xfrm>
            <a:off x="658368" y="1481328"/>
            <a:ext cx="3438144" cy="2249424"/>
          </a:xfrm>
          <a:prstGeom prst="rect">
            <a:avLst/>
          </a:prstGeom>
        </p:spPr>
      </p:pic>
      <p:sp>
        <p:nvSpPr>
          <p:cNvPr id="5" name="Text 2"/>
          <p:cNvSpPr txBox="1"/>
          <p:nvPr/>
        </p:nvSpPr>
        <p:spPr>
          <a:xfrm>
            <a:off x="658368" y="384048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23. </a:t>
            </a:r>
            <a:pPr indent="0" marL="0">
              <a:lnSpc>
                <a:spcPct val="102000"/>
              </a:lnSpc>
              <a:buNone/>
            </a:pPr>
            <a:r>
              <a:rPr lang="en-US" sz="1000" dirty="0">
                <a:solidFill>
                  <a:schemeClr val="accent4"/>
                </a:solidFill>
              </a:rPr>
              <a:t>Marcas de calado en un mando por engranajes. Adaptado de Minga González, M. A. (s. f.). Sistemas auxiliares del motor [diapositivas]. ISTS.</a:t>
            </a:r>
            <a:endParaRPr lang="en-US" sz="1000" dirty="0"/>
          </a:p>
        </p:txBody>
      </p:sp>
      <p:sp>
        <p:nvSpPr>
          <p:cNvPr id="6" name="marco_figura"/>
          <p:cNvSpPr/>
          <p:nvPr/>
        </p:nvSpPr>
        <p:spPr>
          <a:xfrm>
            <a:off x="4480560" y="1371600"/>
            <a:ext cx="3474720" cy="2852928"/>
          </a:xfrm>
          <a:prstGeom prst="roundRect">
            <a:avLst>
              <a:gd name="adj" fmla="val 1923"/>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d_marcas_ohc.jpg">    </p:cNvPr>
          <p:cNvPicPr>
            <a:picLocks noChangeAspect="1"/>
          </p:cNvPicPr>
          <p:nvPr/>
        </p:nvPicPr>
        <p:blipFill>
          <a:blip r:embed="rId2"/>
          <a:srcRect l="0" r="0" t="0" b="0"/>
          <a:stretch/>
        </p:blipFill>
        <p:spPr>
          <a:xfrm>
            <a:off x="4590288" y="1481328"/>
            <a:ext cx="3255264" cy="2249424"/>
          </a:xfrm>
          <a:prstGeom prst="rect">
            <a:avLst/>
          </a:prstGeom>
        </p:spPr>
      </p:pic>
      <p:sp>
        <p:nvSpPr>
          <p:cNvPr id="8" name="Text 4"/>
          <p:cNvSpPr txBox="1"/>
          <p:nvPr/>
        </p:nvSpPr>
        <p:spPr>
          <a:xfrm>
            <a:off x="4590288" y="384048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24. </a:t>
            </a:r>
            <a:pPr indent="0" marL="0">
              <a:lnSpc>
                <a:spcPct val="102000"/>
              </a:lnSpc>
              <a:buNone/>
            </a:pPr>
            <a:r>
              <a:rPr lang="en-US" sz="1000" dirty="0">
                <a:solidFill>
                  <a:schemeClr val="accent4"/>
                </a:solidFill>
              </a:rPr>
              <a:t>Marcas en cadena y piñones de un sistema OHC. Adaptado de Fernández, J. (s. f.). La distribución [diapositivas]. ISTS.</a:t>
            </a:r>
            <a:endParaRPr lang="en-US" sz="1000" dirty="0"/>
          </a:p>
        </p:txBody>
      </p:sp>
      <p:sp>
        <p:nvSpPr>
          <p:cNvPr id="9" name="marco_figura"/>
          <p:cNvSpPr/>
          <p:nvPr/>
        </p:nvSpPr>
        <p:spPr>
          <a:xfrm>
            <a:off x="8229600" y="1371600"/>
            <a:ext cx="3383280" cy="2852928"/>
          </a:xfrm>
          <a:prstGeom prst="roundRect">
            <a:avLst>
              <a:gd name="adj" fmla="val 1923"/>
            </a:avLst>
          </a:prstGeom>
          <a:solidFill>
            <a:schemeClr val="bg2"/>
          </a:solidFill>
          <a:ln w="12700">
            <a:solidFill>
              <a:schemeClr val="bg2"/>
            </a:solidFill>
            <a:prstDash val="solid"/>
          </a:ln>
        </p:spPr>
        <p:txBody>
          <a:bodyPr/>
          <a:p/>
        </p:txBody>
      </p:sp>
      <p:pic>
        <p:nvPicPr>
          <p:cNvPr id="10" name="figura" descr="/tmp/claude-0/-home-claude/ae7ea666-008e-5687-a756-06b9100bd0c6/scratchpad/sfm/u3/media/d_marcas_poleas.jpg">    </p:cNvPr>
          <p:cNvPicPr>
            <a:picLocks noChangeAspect="1"/>
          </p:cNvPicPr>
          <p:nvPr/>
        </p:nvPicPr>
        <p:blipFill>
          <a:blip r:embed="rId3"/>
          <a:srcRect l="0" r="0" t="0" b="0"/>
          <a:stretch/>
        </p:blipFill>
        <p:spPr>
          <a:xfrm>
            <a:off x="8339328" y="1481328"/>
            <a:ext cx="3163824" cy="2249424"/>
          </a:xfrm>
          <a:prstGeom prst="rect">
            <a:avLst/>
          </a:prstGeom>
        </p:spPr>
      </p:pic>
      <p:sp>
        <p:nvSpPr>
          <p:cNvPr id="11" name="Text 6"/>
          <p:cNvSpPr txBox="1"/>
          <p:nvPr/>
        </p:nvSpPr>
        <p:spPr>
          <a:xfrm>
            <a:off x="8339328" y="384048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25. </a:t>
            </a:r>
            <a:pPr indent="0" marL="0">
              <a:lnSpc>
                <a:spcPct val="102000"/>
              </a:lnSpc>
              <a:buNone/>
            </a:pPr>
            <a:r>
              <a:rPr lang="en-US" sz="1000" dirty="0">
                <a:solidFill>
                  <a:schemeClr val="accent4"/>
                </a:solidFill>
              </a:rPr>
              <a:t>Marcas de las poleas alineadas con las referencias fijas de la carcasa. Adaptado de Fernández, J. (s. f.). La distribución [diapositivas]. ISTS.</a:t>
            </a:r>
            <a:endParaRPr lang="en-US" sz="1000" dirty="0"/>
          </a:p>
        </p:txBody>
      </p:sp>
      <p:sp>
        <p:nvSpPr>
          <p:cNvPr id="12" name="Shape 7"/>
          <p:cNvSpPr/>
          <p:nvPr/>
        </p:nvSpPr>
        <p:spPr>
          <a:xfrm>
            <a:off x="548640" y="4242816"/>
            <a:ext cx="384048" cy="384048"/>
          </a:xfrm>
          <a:prstGeom prst="ellipse">
            <a:avLst/>
          </a:prstGeom>
          <a:solidFill>
            <a:schemeClr val="accent2"/>
          </a:solidFill>
          <a:ln w="12700">
            <a:solidFill>
              <a:schemeClr val="accent2"/>
            </a:solidFill>
            <a:prstDash val="solid"/>
          </a:ln>
        </p:spPr>
        <p:txBody>
          <a:bodyPr/>
          <a:p/>
        </p:txBody>
      </p:sp>
      <p:sp>
        <p:nvSpPr>
          <p:cNvPr id="13" name="Text 8"/>
          <p:cNvSpPr txBox="1"/>
          <p:nvPr/>
        </p:nvSpPr>
        <p:spPr>
          <a:xfrm>
            <a:off x="548640" y="4242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9"/>
          <p:cNvSpPr txBox="1"/>
          <p:nvPr/>
        </p:nvSpPr>
        <p:spPr>
          <a:xfrm>
            <a:off x="1078992" y="420624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son. </a:t>
            </a:r>
            <a:pPr indent="0" marL="0">
              <a:lnSpc>
                <a:spcPct val="106000"/>
              </a:lnSpc>
              <a:buNone/>
            </a:pPr>
            <a:r>
              <a:rPr lang="en-US" sz="1150" dirty="0">
                <a:solidFill>
                  <a:schemeClr val="accent4"/>
                </a:solidFill>
              </a:rPr>
              <a:t>señales grabadas o pintadas en piñones, poleas, volante y carcasa que, alineadas entre sí, dejan el motor en la posición de calado</a:t>
            </a:r>
            <a:endParaRPr lang="en-US" sz="1150" dirty="0"/>
          </a:p>
        </p:txBody>
      </p:sp>
      <p:sp>
        <p:nvSpPr>
          <p:cNvPr id="15" name="Shape 10"/>
          <p:cNvSpPr/>
          <p:nvPr/>
        </p:nvSpPr>
        <p:spPr>
          <a:xfrm>
            <a:off x="548640" y="4608576"/>
            <a:ext cx="384048" cy="384048"/>
          </a:xfrm>
          <a:prstGeom prst="ellipse">
            <a:avLst/>
          </a:prstGeom>
          <a:solidFill>
            <a:schemeClr val="accent2"/>
          </a:solidFill>
          <a:ln w="12700">
            <a:solidFill>
              <a:schemeClr val="accent2"/>
            </a:solidFill>
            <a:prstDash val="solid"/>
          </a:ln>
        </p:spPr>
        <p:txBody>
          <a:bodyPr/>
          <a:p/>
        </p:txBody>
      </p:sp>
      <p:sp>
        <p:nvSpPr>
          <p:cNvPr id="16" name="Text 11"/>
          <p:cNvSpPr txBox="1"/>
          <p:nvPr/>
        </p:nvSpPr>
        <p:spPr>
          <a:xfrm>
            <a:off x="548640" y="4608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2"/>
          <p:cNvSpPr txBox="1"/>
          <p:nvPr/>
        </p:nvSpPr>
        <p:spPr>
          <a:xfrm>
            <a:off x="1078992" y="457200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Dónde se buscan. </a:t>
            </a:r>
            <a:pPr indent="0" marL="0">
              <a:lnSpc>
                <a:spcPct val="106000"/>
              </a:lnSpc>
              <a:buNone/>
            </a:pPr>
            <a:r>
              <a:rPr lang="en-US" sz="1150" dirty="0">
                <a:solidFill>
                  <a:schemeClr val="accent4"/>
                </a:solidFill>
              </a:rPr>
              <a:t>en el piñón del cigüeñal, en el del árbol de levas, en la carcasa o tapa fija, en el volante de inercia y a veces en la propia correa o cadena</a:t>
            </a:r>
            <a:endParaRPr lang="en-US" sz="1150" dirty="0"/>
          </a:p>
        </p:txBody>
      </p:sp>
      <p:sp>
        <p:nvSpPr>
          <p:cNvPr id="18" name="Shape 13"/>
          <p:cNvSpPr/>
          <p:nvPr/>
        </p:nvSpPr>
        <p:spPr>
          <a:xfrm>
            <a:off x="548640" y="4974336"/>
            <a:ext cx="384048" cy="384048"/>
          </a:xfrm>
          <a:prstGeom prst="ellipse">
            <a:avLst/>
          </a:prstGeom>
          <a:solidFill>
            <a:schemeClr val="accent2"/>
          </a:solidFill>
          <a:ln w="12700">
            <a:solidFill>
              <a:schemeClr val="accent2"/>
            </a:solidFill>
            <a:prstDash val="solid"/>
          </a:ln>
        </p:spPr>
        <p:txBody>
          <a:bodyPr/>
          <a:p/>
        </p:txBody>
      </p:sp>
      <p:sp>
        <p:nvSpPr>
          <p:cNvPr id="19" name="Text 14"/>
          <p:cNvSpPr txBox="1"/>
          <p:nvPr/>
        </p:nvSpPr>
        <p:spPr>
          <a:xfrm>
            <a:off x="548640" y="4974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5"/>
          <p:cNvSpPr txBox="1"/>
          <p:nvPr/>
        </p:nvSpPr>
        <p:spPr>
          <a:xfrm>
            <a:off x="1078992" y="493776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verifican. </a:t>
            </a:r>
            <a:pPr indent="0" marL="0">
              <a:lnSpc>
                <a:spcPct val="106000"/>
              </a:lnSpc>
              <a:buNone/>
            </a:pPr>
            <a:r>
              <a:rPr lang="en-US" sz="1150" dirty="0">
                <a:solidFill>
                  <a:schemeClr val="accent4"/>
                </a:solidFill>
              </a:rPr>
              <a:t>girando el cigüeñal dos vueltas completas en el sentido de giro del motor y comprobando que todas vuelven a coincidir</a:t>
            </a:r>
            <a:endParaRPr lang="en-US" sz="1150" dirty="0"/>
          </a:p>
        </p:txBody>
      </p:sp>
      <p:sp>
        <p:nvSpPr>
          <p:cNvPr id="21" name="Shape 16"/>
          <p:cNvSpPr/>
          <p:nvPr/>
        </p:nvSpPr>
        <p:spPr>
          <a:xfrm>
            <a:off x="548640" y="5340096"/>
            <a:ext cx="384048" cy="384048"/>
          </a:xfrm>
          <a:prstGeom prst="ellipse">
            <a:avLst/>
          </a:prstGeom>
          <a:solidFill>
            <a:schemeClr val="accent2"/>
          </a:solidFill>
          <a:ln w="12700">
            <a:solidFill>
              <a:schemeClr val="accent2"/>
            </a:solidFill>
            <a:prstDash val="solid"/>
          </a:ln>
        </p:spPr>
        <p:txBody>
          <a:bodyPr/>
          <a:p/>
        </p:txBody>
      </p:sp>
      <p:sp>
        <p:nvSpPr>
          <p:cNvPr id="22" name="Text 17"/>
          <p:cNvSpPr txBox="1"/>
          <p:nvPr/>
        </p:nvSpPr>
        <p:spPr>
          <a:xfrm>
            <a:off x="548640" y="5340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8"/>
          <p:cNvSpPr txBox="1"/>
          <p:nvPr/>
        </p:nvSpPr>
        <p:spPr>
          <a:xfrm>
            <a:off x="1078992" y="530352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dos vueltas. </a:t>
            </a:r>
            <a:pPr indent="0" marL="0">
              <a:lnSpc>
                <a:spcPct val="106000"/>
              </a:lnSpc>
              <a:buNone/>
            </a:pPr>
            <a:r>
              <a:rPr lang="en-US" sz="1150" dirty="0">
                <a:solidFill>
                  <a:schemeClr val="accent4"/>
                </a:solidFill>
              </a:rPr>
              <a:t>porque el ciclo dura dos vueltas de cigüeñal: una sola vuelta no demuestra que la sincronización sea correcta</a:t>
            </a:r>
            <a:endParaRPr lang="en-US" sz="1150" dirty="0"/>
          </a:p>
        </p:txBody>
      </p:sp>
      <p:sp>
        <p:nvSpPr>
          <p:cNvPr id="24" name="Shape 19"/>
          <p:cNvSpPr/>
          <p:nvPr/>
        </p:nvSpPr>
        <p:spPr>
          <a:xfrm>
            <a:off x="548640" y="5669280"/>
            <a:ext cx="11064240" cy="384048"/>
          </a:xfrm>
          <a:prstGeom prst="roundRect">
            <a:avLst>
              <a:gd name="adj" fmla="val 14286"/>
            </a:avLst>
          </a:prstGeom>
          <a:solidFill>
            <a:schemeClr val="bg2"/>
          </a:solidFill>
          <a:ln w="12700">
            <a:solidFill>
              <a:schemeClr val="bg2"/>
            </a:solidFill>
            <a:prstDash val="solid"/>
          </a:ln>
        </p:spPr>
        <p:txBody>
          <a:bodyPr/>
          <a:p/>
        </p:txBody>
      </p:sp>
      <p:sp>
        <p:nvSpPr>
          <p:cNvPr id="25" name="Shape 20"/>
          <p:cNvSpPr/>
          <p:nvPr/>
        </p:nvSpPr>
        <p:spPr>
          <a:xfrm>
            <a:off x="786384" y="5678424"/>
            <a:ext cx="365760" cy="365760"/>
          </a:xfrm>
          <a:prstGeom prst="ellipse">
            <a:avLst/>
          </a:prstGeom>
          <a:solidFill>
            <a:schemeClr val="accent1"/>
          </a:solidFill>
          <a:ln w="12700">
            <a:solidFill>
              <a:schemeClr val="accent1"/>
            </a:solidFill>
            <a:prstDash val="solid"/>
          </a:ln>
        </p:spPr>
        <p:txBody>
          <a:bodyPr/>
          <a:p/>
        </p:txBody>
      </p:sp>
      <p:sp>
        <p:nvSpPr>
          <p:cNvPr id="26" name="Text 21"/>
          <p:cNvSpPr txBox="1"/>
          <p:nvPr/>
        </p:nvSpPr>
        <p:spPr>
          <a:xfrm>
            <a:off x="786384" y="5678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2"/>
          <p:cNvSpPr txBox="1"/>
          <p:nvPr/>
        </p:nvSpPr>
        <p:spPr>
          <a:xfrm>
            <a:off x="1298448" y="5760720"/>
            <a:ext cx="10058400" cy="201168"/>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Las marcas de la correa o la cadena nuevas sirven solo para el montaje: después de girar el motor dejan de coincidir, y eso es normal. Las que valen siempre son las de los piñones, las poleas y la carcasa.</a:t>
            </a:r>
            <a:endParaRPr lang="en-US" sz="1150" dirty="0"/>
          </a:p>
        </p:txBody>
      </p:sp>
      <p:sp>
        <p:nvSpPr>
          <p:cNvPr id="28"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procedimiento general, válido para cualquier motor</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Consultar el manual antes de tocar nada. </a:t>
            </a:r>
            <a:pPr indent="0" marL="0">
              <a:lnSpc>
                <a:spcPct val="106000"/>
              </a:lnSpc>
              <a:buNone/>
            </a:pPr>
            <a:r>
              <a:rPr lang="en-US" sz="1200" dirty="0">
                <a:solidFill>
                  <a:schemeClr val="accent4"/>
                </a:solidFill>
              </a:rPr>
              <a:t>localizar en Autodata el procedimiento del motor concreto: posición de calado, ubicación de las marcas, pares de apriete y herramientas especiales</a:t>
            </a:r>
            <a:endParaRPr lang="en-US" sz="1200" dirty="0"/>
          </a:p>
        </p:txBody>
      </p:sp>
      <p:sp>
        <p:nvSpPr>
          <p:cNvPr id="6" name="Shape 4"/>
          <p:cNvSpPr/>
          <p:nvPr/>
        </p:nvSpPr>
        <p:spPr>
          <a:xfrm>
            <a:off x="548640" y="1965960"/>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92938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Llevar el motor a la posición de calado. </a:t>
            </a:r>
            <a:pPr indent="0" marL="0">
              <a:lnSpc>
                <a:spcPct val="106000"/>
              </a:lnSpc>
              <a:buNone/>
            </a:pPr>
            <a:r>
              <a:rPr lang="en-US" sz="1200" dirty="0">
                <a:solidFill>
                  <a:schemeClr val="accent4"/>
                </a:solidFill>
              </a:rPr>
              <a:t>girar el cigüeñal en el sentido de funcionamiento hasta que coincidan todas las marcas; nunca girar en sentido contrario</a:t>
            </a:r>
            <a:endParaRPr lang="en-US" sz="1200" dirty="0"/>
          </a:p>
        </p:txBody>
      </p:sp>
      <p:sp>
        <p:nvSpPr>
          <p:cNvPr id="9" name="Shape 7"/>
          <p:cNvSpPr/>
          <p:nvPr/>
        </p:nvSpPr>
        <p:spPr>
          <a:xfrm>
            <a:off x="548640" y="2478024"/>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44144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Documentar antes de desmontar. </a:t>
            </a:r>
            <a:pPr indent="0" marL="0">
              <a:lnSpc>
                <a:spcPct val="106000"/>
              </a:lnSpc>
              <a:buNone/>
            </a:pPr>
            <a:r>
              <a:rPr lang="en-US" sz="1200" dirty="0">
                <a:solidFill>
                  <a:schemeClr val="accent4"/>
                </a:solidFill>
              </a:rPr>
              <a:t>fotografiar las marcas coincidentes desde varios ángulos; esas fotografías son la referencia de todo el armado posterior</a:t>
            </a:r>
            <a:endParaRPr lang="en-US" sz="1200" dirty="0"/>
          </a:p>
        </p:txBody>
      </p:sp>
      <p:sp>
        <p:nvSpPr>
          <p:cNvPr id="12" name="Shape 10"/>
          <p:cNvSpPr/>
          <p:nvPr/>
        </p:nvSpPr>
        <p:spPr>
          <a:xfrm>
            <a:off x="548640" y="2990088"/>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953512"/>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Desmontar los accesos. </a:t>
            </a:r>
            <a:pPr indent="0" marL="0">
              <a:lnSpc>
                <a:spcPct val="106000"/>
              </a:lnSpc>
              <a:buNone/>
            </a:pPr>
            <a:r>
              <a:rPr lang="en-US" sz="1200" dirty="0">
                <a:solidFill>
                  <a:schemeClr val="accent4"/>
                </a:solidFill>
              </a:rPr>
              <a:t>cubiertas, poleas de accesorios, soportes y todo lo que impida llegar a la correa o cadena, anotando el orden</a:t>
            </a:r>
            <a:endParaRPr lang="en-US" sz="1200" dirty="0"/>
          </a:p>
        </p:txBody>
      </p:sp>
      <p:sp>
        <p:nvSpPr>
          <p:cNvPr id="15" name="Shape 13"/>
          <p:cNvSpPr/>
          <p:nvPr/>
        </p:nvSpPr>
        <p:spPr>
          <a:xfrm>
            <a:off x="548640" y="3502152"/>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502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465576"/>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5 — Liberar el tensor y retirar la transmisión. </a:t>
            </a:r>
            <a:pPr indent="0" marL="0">
              <a:lnSpc>
                <a:spcPct val="106000"/>
              </a:lnSpc>
              <a:buNone/>
            </a:pPr>
            <a:r>
              <a:rPr lang="en-US" sz="1200" dirty="0">
                <a:solidFill>
                  <a:schemeClr val="accent4"/>
                </a:solidFill>
              </a:rPr>
              <a:t>aflojar el tensor según indique el manual y retirar correa o cadena sin girar ningún eje</a:t>
            </a:r>
            <a:endParaRPr lang="en-US" sz="1200" dirty="0"/>
          </a:p>
        </p:txBody>
      </p:sp>
      <p:sp>
        <p:nvSpPr>
          <p:cNvPr id="18" name="Shape 16"/>
          <p:cNvSpPr/>
          <p:nvPr/>
        </p:nvSpPr>
        <p:spPr>
          <a:xfrm>
            <a:off x="548640" y="401421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397764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6 — Montar la transmisión nueva. </a:t>
            </a:r>
            <a:pPr indent="0" marL="0">
              <a:lnSpc>
                <a:spcPct val="106000"/>
              </a:lnSpc>
              <a:buNone/>
            </a:pPr>
            <a:r>
              <a:rPr lang="en-US" sz="1200" dirty="0">
                <a:solidFill>
                  <a:schemeClr val="accent4"/>
                </a:solidFill>
              </a:rPr>
              <a:t>con el motor todavía en posición de calado, colocar la correa o cadena empezando por el piñón del cigüeñal y manteniendo tenso el ramal de arrastre</a:t>
            </a:r>
            <a:endParaRPr lang="en-US" sz="1200" dirty="0"/>
          </a:p>
        </p:txBody>
      </p:sp>
      <p:sp>
        <p:nvSpPr>
          <p:cNvPr id="21" name="Shape 19"/>
          <p:cNvSpPr/>
          <p:nvPr/>
        </p:nvSpPr>
        <p:spPr>
          <a:xfrm>
            <a:off x="548640" y="4526280"/>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1078992" y="448970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7 — Tensar según el procedimiento. </a:t>
            </a:r>
            <a:pPr indent="0" marL="0">
              <a:lnSpc>
                <a:spcPct val="106000"/>
              </a:lnSpc>
              <a:buNone/>
            </a:pPr>
            <a:r>
              <a:rPr lang="en-US" sz="1200" dirty="0">
                <a:solidFill>
                  <a:schemeClr val="accent4"/>
                </a:solidFill>
              </a:rPr>
              <a:t>aplicar la tensión indicada por el fabricante con su método: tensor automático, dinamométrico o deflexión medida</a:t>
            </a:r>
            <a:endParaRPr lang="en-US" sz="1200" dirty="0"/>
          </a:p>
        </p:txBody>
      </p:sp>
      <p:sp>
        <p:nvSpPr>
          <p:cNvPr id="24" name="Shape 22"/>
          <p:cNvSpPr/>
          <p:nvPr/>
        </p:nvSpPr>
        <p:spPr>
          <a:xfrm>
            <a:off x="548640" y="5038344"/>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1078992" y="500176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8 — Verificar con dos vueltas. </a:t>
            </a:r>
            <a:pPr indent="0" marL="0">
              <a:lnSpc>
                <a:spcPct val="106000"/>
              </a:lnSpc>
              <a:buNone/>
            </a:pPr>
            <a:r>
              <a:rPr lang="en-US" sz="1200" dirty="0">
                <a:solidFill>
                  <a:schemeClr val="accent4"/>
                </a:solidFill>
              </a:rPr>
              <a:t>girar dos vueltas completas de cigüeñal a mano y comprobar que todas las marcas vuelven a coincidir; si no coinciden, repetir desde el paso 2</a:t>
            </a:r>
            <a:endParaRPr lang="en-US" sz="1200" dirty="0"/>
          </a:p>
        </p:txBody>
      </p:sp>
      <p:sp>
        <p:nvSpPr>
          <p:cNvPr id="27" name="Shape 25"/>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8" name="Shape 26"/>
          <p:cNvSpPr/>
          <p:nvPr/>
        </p:nvSpPr>
        <p:spPr>
          <a:xfrm>
            <a:off x="786384" y="5600700"/>
            <a:ext cx="365760" cy="365760"/>
          </a:xfrm>
          <a:prstGeom prst="ellipse">
            <a:avLst/>
          </a:prstGeom>
          <a:solidFill>
            <a:schemeClr val="accent1"/>
          </a:solidFill>
          <a:ln w="12700">
            <a:solidFill>
              <a:schemeClr val="accent1"/>
            </a:solidFill>
            <a:prstDash val="solid"/>
          </a:ln>
        </p:spPr>
        <p:txBody>
          <a:bodyPr/>
          <a:p/>
        </p:txBody>
      </p:sp>
      <p:sp>
        <p:nvSpPr>
          <p:cNvPr id="29" name="Text 27"/>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8"/>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El paso 8 no es opcional ni una formalidad: es la única verificación que existe antes de arrancar. Arrancar sin haberlo hecho equivale a comprobar el trabajo con el motor, y en un motor interferente esa comprobación se paga con las válvulas.</a:t>
            </a:r>
            <a:endParaRPr lang="en-US" sz="120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 · recursos: Autodata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Procedimientos reales: qué cambia de un motor a otro</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tapa_pares.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27. </a:t>
            </a:r>
            <a:pPr indent="0" marL="0">
              <a:lnSpc>
                <a:spcPct val="102000"/>
              </a:lnSpc>
              <a:buNone/>
            </a:pPr>
            <a:r>
              <a:rPr lang="en-US" sz="1000" dirty="0">
                <a:solidFill>
                  <a:schemeClr val="accent4"/>
                </a:solidFill>
              </a:rPr>
              <a:t>Despiece de la tapa de distribución con sus pares de apriete, procedimiento del fabricante. Adaptado de Minga González, M. A. (s. f.). Sistemas auxiliares del motor [diapositivas]. ISTS.</a:t>
            </a:r>
            <a:endParaRPr lang="en-US" sz="1000" dirty="0"/>
          </a:p>
        </p:txBody>
      </p:sp>
      <p:sp>
        <p:nvSpPr>
          <p:cNvPr id="6" name="marco_figura"/>
          <p:cNvSpPr/>
          <p:nvPr/>
        </p:nvSpPr>
        <p:spPr>
          <a:xfrm>
            <a:off x="5852160" y="1371600"/>
            <a:ext cx="5760720" cy="3035808"/>
          </a:xfrm>
          <a:prstGeom prst="roundRect">
            <a:avLst>
              <a:gd name="adj" fmla="val 1807"/>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u_ruta_correa.jpg">    </p:cNvPr>
          <p:cNvPicPr>
            <a:picLocks noChangeAspect="1"/>
          </p:cNvPicPr>
          <p:nvPr/>
        </p:nvPicPr>
        <p:blipFill>
          <a:blip r:embed="rId2"/>
          <a:srcRect l="0" r="0" t="0" b="0"/>
          <a:stretch/>
        </p:blipFill>
        <p:spPr>
          <a:xfrm>
            <a:off x="5961888" y="1481328"/>
            <a:ext cx="5541264" cy="2432304"/>
          </a:xfrm>
          <a:prstGeom prst="rect">
            <a:avLst/>
          </a:prstGeom>
        </p:spPr>
      </p:pic>
      <p:sp>
        <p:nvSpPr>
          <p:cNvPr id="8" name="Text 4"/>
          <p:cNvSpPr txBox="1"/>
          <p:nvPr/>
        </p:nvSpPr>
        <p:spPr>
          <a:xfrm>
            <a:off x="5961888" y="4023360"/>
            <a:ext cx="5541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28. </a:t>
            </a:r>
            <a:pPr indent="0" marL="0">
              <a:lnSpc>
                <a:spcPct val="102000"/>
              </a:lnSpc>
              <a:buNone/>
            </a:pPr>
            <a:r>
              <a:rPr lang="en-US" sz="1000" dirty="0">
                <a:solidFill>
                  <a:schemeClr val="accent4"/>
                </a:solidFill>
              </a:rPr>
              <a:t>Recorrido de la correa y secuencia de tensado según el manual del vehículo. Adaptado de Minga González, M. A. (s. f.). Sistemas auxiliares del motor [diapositivas]. ISTS.</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64240" cy="914400"/>
        </p:xfrm>
        <a:graphic>
          <a:graphicData uri="http://schemas.openxmlformats.org/drawingml/2006/table">
            <a:tbl>
              <a:tblPr/>
              <a:tblGrid>
                <a:gridCol w="2926080"/>
                <a:gridCol w="4023360"/>
                <a:gridCol w="4114800"/>
              </a:tblGrid>
              <a:tr h="365760">
                <a:tc>
                  <a:txBody>
                    <a:bodyPr/>
                    <a:lstStyle/>
                    <a:p>
                      <a:pPr indent="0" marL="0">
                        <a:buNone/>
                      </a:pPr>
                      <a:r>
                        <a:rPr lang="en-US" sz="1300" b="1" dirty="0">
                          <a:solidFill>
                            <a:srgbClr val="FFFFFF"/>
                          </a:solidFill>
                        </a:rPr>
                        <a:t>Vehículo del material de la carrera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Particularidad del procedimiento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enseña el caso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100" b="1" dirty="0">
                          <a:solidFill>
                            <a:schemeClr val="tx1"/>
                          </a:solidFill>
                        </a:rPr>
                        <a:t>Suzuki Alto 1986-93</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Tensor de ajuste manual: se afloja, se deja actuar el muelle y se aprieta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El tensado manual depende del criterio del operario: hay que seguir el manual al detalle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Chevrolet Aveo 2011 1.4</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Exige desmontar rueda y guardabarros para acceder; sensor a desconectar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Buena parte del tiempo del trabajo es acceso, no distribución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Nissan pick-up 2002 2.5</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Posición de calado definida como PMS del cilindro 1 en compresión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La posición de calado no es la misma en todos los motores: se consulta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0" name="Text 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 · técnica: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Más casos: tensores hidráulicos, cadenas y motores en V</a:t>
            </a:r>
            <a:endParaRPr lang="en-US" sz="3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114800"/>
                <a:gridCol w="4206240"/>
              </a:tblGrid>
              <a:tr h="512064">
                <a:tc>
                  <a:txBody>
                    <a:bodyPr/>
                    <a:lstStyle/>
                    <a:p>
                      <a:pPr indent="0" marL="0">
                        <a:buNone/>
                      </a:pPr>
                      <a:r>
                        <a:rPr lang="en-US" sz="1300" b="1" dirty="0">
                          <a:solidFill>
                            <a:srgbClr val="FFFFFF"/>
                          </a:solidFill>
                        </a:rPr>
                        <a:t>Vehículo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Particularidad del procedimiento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enseña el caso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512064">
                <a:tc>
                  <a:txBody>
                    <a:bodyPr/>
                    <a:lstStyle/>
                    <a:p>
                      <a:pPr indent="0" marL="0">
                        <a:buNone/>
                      </a:pPr>
                      <a:r>
                        <a:rPr lang="en-US" sz="1150" b="1" dirty="0">
                          <a:solidFill>
                            <a:schemeClr val="tx1"/>
                          </a:solidFill>
                        </a:rPr>
                        <a:t>Ford Explorer 2002</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Comprobar que las marcas de reglaje coinciden antes de desmontar nada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La verificación previa detecta si el motor ya venía fuera de punto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chemeClr val="tx1"/>
                          </a:solidFill>
                        </a:rPr>
                        <a:t>Hyundai Tucson 2010 2.7 V6</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Tensor hidráulico con pasador: se comprime, se fija con el pasador, se monta y se retira el pasador al final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Los tensores hidráulicos exigen una secuencia propia; retirar el pasador antes de tiempo arruina el montaje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12064">
                <a:tc>
                  <a:txBody>
                    <a:bodyPr/>
                    <a:lstStyle/>
                    <a:p>
                      <a:pPr indent="0" marL="0">
                        <a:buNone/>
                      </a:pPr>
                      <a:r>
                        <a:rPr lang="en-US" sz="1150" b="1" dirty="0">
                          <a:solidFill>
                            <a:schemeClr val="tx1"/>
                          </a:solidFill>
                        </a:rPr>
                        <a:t>Toyota Land Cruiser 1999 4.5</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Retener el vástago del tensor con una llave Allen introducida por su orificio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Cada fabricante resuelve el bloqueo del tensor a su manera: hay que leer el manual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chemeClr val="tx1"/>
                          </a:solidFill>
                        </a:rPr>
                        <a:t>Toyota Land Cruiser 2011 4.5 V8</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Dos cadenas, una por bancada, con eslabones de color que se alinean con las marcas de cada piñón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En motores en V hay que sincronizar dos bancadas, no una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93192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13766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1376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233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tensor hidráulico con pasador es la causa número uno de montajes fallidos en motores modernos: si el pasador se retira antes de terminar, el tensor se extiende y ya no se puede volver a comprimir sin desmontarlo.</a:t>
            </a:r>
            <a:endParaRPr lang="en-US" sz="1450" dirty="0"/>
          </a:p>
        </p:txBody>
      </p:sp>
      <p:sp>
        <p:nvSpPr>
          <p:cNvPr id="8" name="Shape 5"/>
          <p:cNvSpPr/>
          <p:nvPr/>
        </p:nvSpPr>
        <p:spPr>
          <a:xfrm>
            <a:off x="548640" y="492861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928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89204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 que todos los casos comparten. </a:t>
            </a:r>
            <a:pPr indent="0" marL="0">
              <a:lnSpc>
                <a:spcPct val="106000"/>
              </a:lnSpc>
              <a:buNone/>
            </a:pPr>
            <a:r>
              <a:rPr lang="en-US" sz="1200" dirty="0">
                <a:solidFill>
                  <a:schemeClr val="accent4"/>
                </a:solidFill>
              </a:rPr>
              <a:t>consultar el manual, llevar a posición de calado, documentar, montar sin girar ejes, tensar con el método del fabricante y verificar dos vueltas</a:t>
            </a:r>
            <a:endParaRPr lang="en-US" sz="1200" dirty="0"/>
          </a:p>
        </p:txBody>
      </p:sp>
      <p:sp>
        <p:nvSpPr>
          <p:cNvPr id="11" name="Shape 8"/>
          <p:cNvSpPr/>
          <p:nvPr/>
        </p:nvSpPr>
        <p:spPr>
          <a:xfrm>
            <a:off x="548640" y="526694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266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23036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 que cambia en todos. </a:t>
            </a:r>
            <a:pPr indent="0" marL="0">
              <a:lnSpc>
                <a:spcPct val="106000"/>
              </a:lnSpc>
              <a:buNone/>
            </a:pPr>
            <a:r>
              <a:rPr lang="en-US" sz="1200" dirty="0">
                <a:solidFill>
                  <a:schemeClr val="accent4"/>
                </a:solidFill>
              </a:rPr>
              <a:t>la ubicación de las marcas, el método de tensado, la herramienta especial necesaria y el trabajo de acceso</a:t>
            </a:r>
            <a:endParaRPr lang="en-US" sz="1200" dirty="0"/>
          </a:p>
        </p:txBody>
      </p:sp>
      <p:sp>
        <p:nvSpPr>
          <p:cNvPr id="14" name="Shape 11"/>
          <p:cNvSpPr/>
          <p:nvPr/>
        </p:nvSpPr>
        <p:spPr>
          <a:xfrm>
            <a:off x="548640" y="560527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605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56869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 conclusión profesional. </a:t>
            </a:r>
            <a:pPr indent="0" marL="0">
              <a:lnSpc>
                <a:spcPct val="106000"/>
              </a:lnSpc>
              <a:buNone/>
            </a:pPr>
            <a:r>
              <a:rPr lang="en-US" sz="1200" dirty="0">
                <a:solidFill>
                  <a:schemeClr val="accent4"/>
                </a:solidFill>
              </a:rPr>
              <a:t>no se memorizan procedimientos: se domina el principio y se consulta el detalle en la fuente correcta antes de empezar</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 · recursos: Autodata · técnica: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Cuando no hay marcas: puesta a punto con reloj comparador</a:t>
            </a:r>
            <a:endParaRPr lang="en-US" sz="3200" dirty="0"/>
          </a:p>
        </p:txBody>
      </p:sp>
      <p:sp>
        <p:nvSpPr>
          <p:cNvPr id="3" name="marco_figura"/>
          <p:cNvSpPr/>
          <p:nvPr/>
        </p:nvSpPr>
        <p:spPr>
          <a:xfrm>
            <a:off x="548640" y="1371600"/>
            <a:ext cx="365760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pinon_foto.jpg">    </p:cNvPr>
          <p:cNvPicPr>
            <a:picLocks noChangeAspect="1"/>
          </p:cNvPicPr>
          <p:nvPr/>
        </p:nvPicPr>
        <p:blipFill>
          <a:blip r:embed="rId1"/>
          <a:srcRect l="0" r="0" t="0" b="0"/>
          <a:stretch/>
        </p:blipFill>
        <p:spPr>
          <a:xfrm>
            <a:off x="658368" y="1481328"/>
            <a:ext cx="3438144" cy="2249424"/>
          </a:xfrm>
          <a:prstGeom prst="rect">
            <a:avLst/>
          </a:prstGeom>
        </p:spPr>
      </p:pic>
      <p:sp>
        <p:nvSpPr>
          <p:cNvPr id="5" name="Text 2"/>
          <p:cNvSpPr txBox="1"/>
          <p:nvPr/>
        </p:nvSpPr>
        <p:spPr>
          <a:xfrm>
            <a:off x="658368" y="384048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30. </a:t>
            </a:r>
            <a:pPr indent="0" marL="0">
              <a:lnSpc>
                <a:spcPct val="102000"/>
              </a:lnSpc>
              <a:buNone/>
            </a:pPr>
            <a:r>
              <a:rPr lang="en-US" sz="1000" dirty="0">
                <a:solidFill>
                  <a:schemeClr val="accent4"/>
                </a:solidFill>
              </a:rPr>
              <a:t>Piñón de distribución sin marcas de referencia visibles. Adaptado de Minga González, M. A. (s. f.). Sistemas auxiliares del motor [diapositivas]. ISTS.</a:t>
            </a:r>
            <a:endParaRPr lang="en-US" sz="1000" dirty="0"/>
          </a:p>
        </p:txBody>
      </p:sp>
      <p:sp>
        <p:nvSpPr>
          <p:cNvPr id="6" name="marco_figura"/>
          <p:cNvSpPr/>
          <p:nvPr/>
        </p:nvSpPr>
        <p:spPr>
          <a:xfrm>
            <a:off x="4480560" y="1371600"/>
            <a:ext cx="3474720" cy="2852928"/>
          </a:xfrm>
          <a:prstGeom prst="roundRect">
            <a:avLst>
              <a:gd name="adj" fmla="val 1923"/>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u_leva_detalle.jpg">    </p:cNvPr>
          <p:cNvPicPr>
            <a:picLocks noChangeAspect="1"/>
          </p:cNvPicPr>
          <p:nvPr/>
        </p:nvPicPr>
        <p:blipFill>
          <a:blip r:embed="rId2"/>
          <a:srcRect l="0" r="0" t="0" b="0"/>
          <a:stretch/>
        </p:blipFill>
        <p:spPr>
          <a:xfrm>
            <a:off x="4590288" y="1481328"/>
            <a:ext cx="3255264" cy="2249424"/>
          </a:xfrm>
          <a:prstGeom prst="rect">
            <a:avLst/>
          </a:prstGeom>
        </p:spPr>
      </p:pic>
      <p:sp>
        <p:nvSpPr>
          <p:cNvPr id="8" name="Text 4"/>
          <p:cNvSpPr txBox="1"/>
          <p:nvPr/>
        </p:nvSpPr>
        <p:spPr>
          <a:xfrm>
            <a:off x="4590288" y="384048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31. </a:t>
            </a:r>
            <a:pPr indent="0" marL="0">
              <a:lnSpc>
                <a:spcPct val="102000"/>
              </a:lnSpc>
              <a:buNone/>
            </a:pPr>
            <a:r>
              <a:rPr lang="en-US" sz="1000" dirty="0">
                <a:solidFill>
                  <a:schemeClr val="accent4"/>
                </a:solidFill>
              </a:rPr>
              <a:t>Posición de las levas del primer cilindro en el cruce de válvulas. Adaptado de Minga González, M. A. (s. f.). Sistemas auxiliares del motor [diapositivas]. ISTS.</a:t>
            </a:r>
            <a:endParaRPr lang="en-US" sz="1000" dirty="0"/>
          </a:p>
        </p:txBody>
      </p:sp>
      <p:sp>
        <p:nvSpPr>
          <p:cNvPr id="9" name="marco_figura"/>
          <p:cNvSpPr/>
          <p:nvPr/>
        </p:nvSpPr>
        <p:spPr>
          <a:xfrm>
            <a:off x="8229600" y="1371600"/>
            <a:ext cx="3383280" cy="2852928"/>
          </a:xfrm>
          <a:prstGeom prst="roundRect">
            <a:avLst>
              <a:gd name="adj" fmla="val 1923"/>
            </a:avLst>
          </a:prstGeom>
          <a:solidFill>
            <a:schemeClr val="bg2"/>
          </a:solidFill>
          <a:ln w="12700">
            <a:solidFill>
              <a:schemeClr val="bg2"/>
            </a:solidFill>
            <a:prstDash val="solid"/>
          </a:ln>
        </p:spPr>
        <p:txBody>
          <a:bodyPr/>
          <a:p/>
        </p:txBody>
      </p:sp>
      <p:pic>
        <p:nvPicPr>
          <p:cNvPr id="10" name="figura" descr="/tmp/claude-0/-home-claude/ae7ea666-008e-5687-a756-06b9100bd0c6/scratchpad/sfm/u3/media/u_motor_banco.jpg">    </p:cNvPr>
          <p:cNvPicPr>
            <a:picLocks noChangeAspect="1"/>
          </p:cNvPicPr>
          <p:nvPr/>
        </p:nvPicPr>
        <p:blipFill>
          <a:blip r:embed="rId3"/>
          <a:srcRect l="0" r="0" t="0" b="0"/>
          <a:stretch/>
        </p:blipFill>
        <p:spPr>
          <a:xfrm>
            <a:off x="8339328" y="1481328"/>
            <a:ext cx="3163824" cy="2249424"/>
          </a:xfrm>
          <a:prstGeom prst="rect">
            <a:avLst/>
          </a:prstGeom>
        </p:spPr>
      </p:pic>
      <p:sp>
        <p:nvSpPr>
          <p:cNvPr id="11" name="Text 6"/>
          <p:cNvSpPr txBox="1"/>
          <p:nvPr/>
        </p:nvSpPr>
        <p:spPr>
          <a:xfrm>
            <a:off x="8339328" y="384048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32. </a:t>
            </a:r>
            <a:pPr indent="0" marL="0">
              <a:lnSpc>
                <a:spcPct val="102000"/>
              </a:lnSpc>
              <a:buNone/>
            </a:pPr>
            <a:r>
              <a:rPr lang="en-US" sz="1000" dirty="0">
                <a:solidFill>
                  <a:schemeClr val="accent4"/>
                </a:solidFill>
              </a:rPr>
              <a:t>Montaje del comparador sobre el motor para determinar el PMS. Adaptado de Minga González, M. A. (s. f.). Sistemas auxiliares del motor [diapositivas]. ISTS.</a:t>
            </a:r>
            <a:endParaRPr lang="en-US" sz="1000" dirty="0"/>
          </a:p>
        </p:txBody>
      </p:sp>
      <p:sp>
        <p:nvSpPr>
          <p:cNvPr id="12" name="Shape 7"/>
          <p:cNvSpPr/>
          <p:nvPr/>
        </p:nvSpPr>
        <p:spPr>
          <a:xfrm>
            <a:off x="548640" y="4242816"/>
            <a:ext cx="384048" cy="384048"/>
          </a:xfrm>
          <a:prstGeom prst="ellipse">
            <a:avLst/>
          </a:prstGeom>
          <a:solidFill>
            <a:schemeClr val="accent2"/>
          </a:solidFill>
          <a:ln w="12700">
            <a:solidFill>
              <a:schemeClr val="accent2"/>
            </a:solidFill>
            <a:prstDash val="solid"/>
          </a:ln>
        </p:spPr>
        <p:txBody>
          <a:bodyPr/>
          <a:p/>
        </p:txBody>
      </p:sp>
      <p:sp>
        <p:nvSpPr>
          <p:cNvPr id="13" name="Text 8"/>
          <p:cNvSpPr txBox="1"/>
          <p:nvPr/>
        </p:nvSpPr>
        <p:spPr>
          <a:xfrm>
            <a:off x="548640" y="4242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9"/>
          <p:cNvSpPr txBox="1"/>
          <p:nvPr/>
        </p:nvSpPr>
        <p:spPr>
          <a:xfrm>
            <a:off x="1078992" y="420624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1 — Localizar el PMS real del cilindro 1. </a:t>
            </a:r>
            <a:pPr indent="0" marL="0">
              <a:lnSpc>
                <a:spcPct val="106000"/>
              </a:lnSpc>
              <a:buNone/>
            </a:pPr>
            <a:r>
              <a:rPr lang="en-US" sz="1150" dirty="0">
                <a:solidFill>
                  <a:schemeClr val="accent4"/>
                </a:solidFill>
              </a:rPr>
              <a:t>retirar la bujía y montar el reloj comparador con su palpador apoyado en la cabeza del pistón, a través del orificio</a:t>
            </a:r>
            <a:endParaRPr lang="en-US" sz="1150" dirty="0"/>
          </a:p>
        </p:txBody>
      </p:sp>
      <p:sp>
        <p:nvSpPr>
          <p:cNvPr id="15" name="Shape 10"/>
          <p:cNvSpPr/>
          <p:nvPr/>
        </p:nvSpPr>
        <p:spPr>
          <a:xfrm>
            <a:off x="548640" y="4608576"/>
            <a:ext cx="384048" cy="384048"/>
          </a:xfrm>
          <a:prstGeom prst="ellipse">
            <a:avLst/>
          </a:prstGeom>
          <a:solidFill>
            <a:schemeClr val="accent2"/>
          </a:solidFill>
          <a:ln w="12700">
            <a:solidFill>
              <a:schemeClr val="accent2"/>
            </a:solidFill>
            <a:prstDash val="solid"/>
          </a:ln>
        </p:spPr>
        <p:txBody>
          <a:bodyPr/>
          <a:p/>
        </p:txBody>
      </p:sp>
      <p:sp>
        <p:nvSpPr>
          <p:cNvPr id="16" name="Text 11"/>
          <p:cNvSpPr txBox="1"/>
          <p:nvPr/>
        </p:nvSpPr>
        <p:spPr>
          <a:xfrm>
            <a:off x="548640" y="4608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2"/>
          <p:cNvSpPr txBox="1"/>
          <p:nvPr/>
        </p:nvSpPr>
        <p:spPr>
          <a:xfrm>
            <a:off x="1078992" y="457200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2 — Girar y leer. </a:t>
            </a:r>
            <a:pPr indent="0" marL="0">
              <a:lnSpc>
                <a:spcPct val="106000"/>
              </a:lnSpc>
              <a:buNone/>
            </a:pPr>
            <a:r>
              <a:rPr lang="en-US" sz="1150" dirty="0">
                <a:solidFill>
                  <a:schemeClr val="accent4"/>
                </a:solidFill>
              </a:rPr>
              <a:t>girar lentamente el cigüeñal; el punto en que la aguja deja de subir y empieza a bajar es el punto muerto superior</a:t>
            </a:r>
            <a:endParaRPr lang="en-US" sz="1150" dirty="0"/>
          </a:p>
        </p:txBody>
      </p:sp>
      <p:sp>
        <p:nvSpPr>
          <p:cNvPr id="18" name="Shape 13"/>
          <p:cNvSpPr/>
          <p:nvPr/>
        </p:nvSpPr>
        <p:spPr>
          <a:xfrm>
            <a:off x="548640" y="4974336"/>
            <a:ext cx="384048" cy="384048"/>
          </a:xfrm>
          <a:prstGeom prst="ellipse">
            <a:avLst/>
          </a:prstGeom>
          <a:solidFill>
            <a:schemeClr val="accent2"/>
          </a:solidFill>
          <a:ln w="12700">
            <a:solidFill>
              <a:schemeClr val="accent2"/>
            </a:solidFill>
            <a:prstDash val="solid"/>
          </a:ln>
        </p:spPr>
        <p:txBody>
          <a:bodyPr/>
          <a:p/>
        </p:txBody>
      </p:sp>
      <p:sp>
        <p:nvSpPr>
          <p:cNvPr id="19" name="Text 14"/>
          <p:cNvSpPr txBox="1"/>
          <p:nvPr/>
        </p:nvSpPr>
        <p:spPr>
          <a:xfrm>
            <a:off x="548640" y="4974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5"/>
          <p:cNvSpPr txBox="1"/>
          <p:nvPr/>
        </p:nvSpPr>
        <p:spPr>
          <a:xfrm>
            <a:off x="1078992" y="493776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3 — Establecer la referencia fija. </a:t>
            </a:r>
            <a:pPr indent="0" marL="0">
              <a:lnSpc>
                <a:spcPct val="106000"/>
              </a:lnSpc>
              <a:buNone/>
            </a:pPr>
            <a:r>
              <a:rPr lang="en-US" sz="1150" dirty="0">
                <a:solidFill>
                  <a:schemeClr val="accent4"/>
                </a:solidFill>
              </a:rPr>
              <a:t>marcar esa posición en el sector graduado de la polea del cigüeñal frente a una referencia fija del motor</a:t>
            </a:r>
            <a:endParaRPr lang="en-US" sz="1150" dirty="0"/>
          </a:p>
        </p:txBody>
      </p:sp>
      <p:sp>
        <p:nvSpPr>
          <p:cNvPr id="21" name="Shape 16"/>
          <p:cNvSpPr/>
          <p:nvPr/>
        </p:nvSpPr>
        <p:spPr>
          <a:xfrm>
            <a:off x="548640" y="5340096"/>
            <a:ext cx="384048" cy="384048"/>
          </a:xfrm>
          <a:prstGeom prst="ellipse">
            <a:avLst/>
          </a:prstGeom>
          <a:solidFill>
            <a:schemeClr val="accent2"/>
          </a:solidFill>
          <a:ln w="12700">
            <a:solidFill>
              <a:schemeClr val="accent2"/>
            </a:solidFill>
            <a:prstDash val="solid"/>
          </a:ln>
        </p:spPr>
        <p:txBody>
          <a:bodyPr/>
          <a:p/>
        </p:txBody>
      </p:sp>
      <p:sp>
        <p:nvSpPr>
          <p:cNvPr id="22" name="Text 17"/>
          <p:cNvSpPr txBox="1"/>
          <p:nvPr/>
        </p:nvSpPr>
        <p:spPr>
          <a:xfrm>
            <a:off x="548640" y="5340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8"/>
          <p:cNvSpPr txBox="1"/>
          <p:nvPr/>
        </p:nvSpPr>
        <p:spPr>
          <a:xfrm>
            <a:off x="1078992" y="530352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4 — Situar el árbol de levas. </a:t>
            </a:r>
            <a:pPr indent="0" marL="0">
              <a:lnSpc>
                <a:spcPct val="106000"/>
              </a:lnSpc>
              <a:buNone/>
            </a:pPr>
            <a:r>
              <a:rPr lang="en-US" sz="1150" dirty="0">
                <a:solidFill>
                  <a:schemeClr val="accent4"/>
                </a:solidFill>
              </a:rPr>
              <a:t>girar el árbol hasta que las dos válvulas del primer cilindro queden en la posición de cruce, es decir, ambas parcialmente abiertas</a:t>
            </a:r>
            <a:endParaRPr lang="en-US" sz="1150" dirty="0"/>
          </a:p>
        </p:txBody>
      </p:sp>
      <p:sp>
        <p:nvSpPr>
          <p:cNvPr id="24" name="Shape 19"/>
          <p:cNvSpPr/>
          <p:nvPr/>
        </p:nvSpPr>
        <p:spPr>
          <a:xfrm>
            <a:off x="548640" y="5669280"/>
            <a:ext cx="11064240" cy="384048"/>
          </a:xfrm>
          <a:prstGeom prst="roundRect">
            <a:avLst>
              <a:gd name="adj" fmla="val 14286"/>
            </a:avLst>
          </a:prstGeom>
          <a:solidFill>
            <a:schemeClr val="bg2"/>
          </a:solidFill>
          <a:ln w="12700">
            <a:solidFill>
              <a:schemeClr val="bg2"/>
            </a:solidFill>
            <a:prstDash val="solid"/>
          </a:ln>
        </p:spPr>
        <p:txBody>
          <a:bodyPr/>
          <a:p/>
        </p:txBody>
      </p:sp>
      <p:sp>
        <p:nvSpPr>
          <p:cNvPr id="25" name="Shape 20"/>
          <p:cNvSpPr/>
          <p:nvPr/>
        </p:nvSpPr>
        <p:spPr>
          <a:xfrm>
            <a:off x="786384" y="5678424"/>
            <a:ext cx="365760" cy="365760"/>
          </a:xfrm>
          <a:prstGeom prst="ellipse">
            <a:avLst/>
          </a:prstGeom>
          <a:solidFill>
            <a:schemeClr val="accent2"/>
          </a:solidFill>
          <a:ln w="12700">
            <a:solidFill>
              <a:schemeClr val="accent2"/>
            </a:solidFill>
            <a:prstDash val="solid"/>
          </a:ln>
        </p:spPr>
        <p:txBody>
          <a:bodyPr/>
          <a:p/>
        </p:txBody>
      </p:sp>
      <p:sp>
        <p:nvSpPr>
          <p:cNvPr id="26" name="Text 21"/>
          <p:cNvSpPr txBox="1"/>
          <p:nvPr/>
        </p:nvSpPr>
        <p:spPr>
          <a:xfrm>
            <a:off x="786384" y="5678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2"/>
          <p:cNvSpPr txBox="1"/>
          <p:nvPr/>
        </p:nvSpPr>
        <p:spPr>
          <a:xfrm>
            <a:off x="1298448" y="5760720"/>
            <a:ext cx="10058400" cy="201168"/>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El método se apoya en dos hechos que ya conocemos: el PMS se puede localizar sin marcas, con un comparador; y en ese PMS, al final del escape, el primer cilindro está en cruce de válvulas. Con esas dos referencias se reconstruye el calado de cualquier motor.</a:t>
            </a:r>
            <a:endParaRPr lang="en-US" sz="1150" dirty="0"/>
          </a:p>
        </p:txBody>
      </p:sp>
      <p:sp>
        <p:nvSpPr>
          <p:cNvPr id="28"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 · habilidad práctica avanzada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Verificación del calado y motores en V</a:t>
            </a:r>
            <a:endParaRPr lang="en-US" sz="3200" dirty="0"/>
          </a:p>
        </p:txBody>
      </p:sp>
      <p:sp>
        <p:nvSpPr>
          <p:cNvPr id="3" name="marco_figura"/>
          <p:cNvSpPr/>
          <p:nvPr/>
        </p:nvSpPr>
        <p:spPr>
          <a:xfrm>
            <a:off x="548640" y="1371600"/>
            <a:ext cx="5120640" cy="3127248"/>
          </a:xfrm>
          <a:prstGeom prst="roundRect">
            <a:avLst>
              <a:gd name="adj" fmla="val 1754"/>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distrib_motor.jpg">    </p:cNvPr>
          <p:cNvPicPr>
            <a:picLocks noChangeAspect="1"/>
          </p:cNvPicPr>
          <p:nvPr/>
        </p:nvPicPr>
        <p:blipFill>
          <a:blip r:embed="rId1"/>
          <a:srcRect l="0" r="0" t="0" b="0"/>
          <a:stretch/>
        </p:blipFill>
        <p:spPr>
          <a:xfrm>
            <a:off x="658368" y="1481328"/>
            <a:ext cx="4901184" cy="2523744"/>
          </a:xfrm>
          <a:prstGeom prst="rect">
            <a:avLst/>
          </a:prstGeom>
        </p:spPr>
      </p:pic>
      <p:sp>
        <p:nvSpPr>
          <p:cNvPr id="5" name="Text 2"/>
          <p:cNvSpPr txBox="1"/>
          <p:nvPr/>
        </p:nvSpPr>
        <p:spPr>
          <a:xfrm>
            <a:off x="658368" y="4114800"/>
            <a:ext cx="49011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33. </a:t>
            </a:r>
            <a:pPr indent="0" marL="0">
              <a:lnSpc>
                <a:spcPct val="102000"/>
              </a:lnSpc>
              <a:buNone/>
            </a:pPr>
            <a:r>
              <a:rPr lang="en-US" sz="1000" dirty="0">
                <a:solidFill>
                  <a:schemeClr val="accent4"/>
                </a:solidFill>
              </a:rPr>
              <a:t>Conjunto de la distribución montado, listo para la verificación del calado. Adaptado de Minga González, M. A. (s. f.). Sistemas auxiliares del motor [diapositivas]. ISTS.</a:t>
            </a:r>
            <a:endParaRPr lang="en-US" sz="1000" dirty="0"/>
          </a:p>
        </p:txBody>
      </p:sp>
      <p:sp>
        <p:nvSpPr>
          <p:cNvPr id="6" name="Shape 3"/>
          <p:cNvSpPr/>
          <p:nvPr/>
        </p:nvSpPr>
        <p:spPr>
          <a:xfrm>
            <a:off x="60350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0350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565392" y="1463040"/>
            <a:ext cx="5047488" cy="6583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Comprobar el instante de apertura. </a:t>
            </a:r>
            <a:pPr indent="0" marL="0">
              <a:lnSpc>
                <a:spcPct val="106000"/>
              </a:lnSpc>
              <a:buNone/>
            </a:pPr>
            <a:r>
              <a:rPr lang="en-US" sz="1150" dirty="0">
                <a:solidFill>
                  <a:schemeClr val="accent4"/>
                </a:solidFill>
              </a:rPr>
              <a:t>con el comparador apoyado sobre la válvula de admisión del cilindro 1, girar el cigüeñal y leer en qué grado empieza a levantarse</a:t>
            </a:r>
            <a:endParaRPr lang="en-US" sz="1150" dirty="0"/>
          </a:p>
        </p:txBody>
      </p:sp>
      <p:sp>
        <p:nvSpPr>
          <p:cNvPr id="9" name="Shape 6"/>
          <p:cNvSpPr/>
          <p:nvPr/>
        </p:nvSpPr>
        <p:spPr>
          <a:xfrm>
            <a:off x="6035040" y="2212848"/>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035040" y="2212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565392" y="2176272"/>
            <a:ext cx="5047488" cy="6583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Comparar con el diagrama. </a:t>
            </a:r>
            <a:pPr indent="0" marL="0">
              <a:lnSpc>
                <a:spcPct val="106000"/>
              </a:lnSpc>
              <a:buNone/>
            </a:pPr>
            <a:r>
              <a:rPr lang="en-US" sz="1150" dirty="0">
                <a:solidFill>
                  <a:schemeClr val="accent4"/>
                </a:solidFill>
              </a:rPr>
              <a:t>ese grado debe coincidir con el avance a la apertura de admisión que da el manual del motor</a:t>
            </a:r>
            <a:endParaRPr lang="en-US" sz="1150" dirty="0"/>
          </a:p>
        </p:txBody>
      </p:sp>
      <p:sp>
        <p:nvSpPr>
          <p:cNvPr id="12" name="Shape 9"/>
          <p:cNvSpPr/>
          <p:nvPr/>
        </p:nvSpPr>
        <p:spPr>
          <a:xfrm>
            <a:off x="6035040" y="2926080"/>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03504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565392" y="2889504"/>
            <a:ext cx="5047488" cy="6583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Corregir si no coincide. </a:t>
            </a:r>
            <a:pPr indent="0" marL="0">
              <a:lnSpc>
                <a:spcPct val="106000"/>
              </a:lnSpc>
              <a:buNone/>
            </a:pPr>
            <a:r>
              <a:rPr lang="en-US" sz="1150" dirty="0">
                <a:solidFill>
                  <a:schemeClr val="accent4"/>
                </a:solidFill>
              </a:rPr>
              <a:t>desplazar el árbol de levas un diente y volver a medir; en los piñones regulables, ajustar en la ranura</a:t>
            </a:r>
            <a:endParaRPr lang="en-US" sz="1150" dirty="0"/>
          </a:p>
        </p:txBody>
      </p:sp>
      <p:sp>
        <p:nvSpPr>
          <p:cNvPr id="15" name="Shape 12"/>
          <p:cNvSpPr/>
          <p:nvPr/>
        </p:nvSpPr>
        <p:spPr>
          <a:xfrm>
            <a:off x="6035040" y="3639312"/>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035040" y="3639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565392" y="3602736"/>
            <a:ext cx="5047488" cy="6583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Motores en V con DOHC. </a:t>
            </a:r>
            <a:pPr indent="0" marL="0">
              <a:lnSpc>
                <a:spcPct val="106000"/>
              </a:lnSpc>
              <a:buNone/>
            </a:pPr>
            <a:r>
              <a:rPr lang="en-US" sz="1150" dirty="0">
                <a:solidFill>
                  <a:schemeClr val="accent4"/>
                </a:solidFill>
              </a:rPr>
              <a:t>se usa un comparador central para fijar el PMS y otro sobre cada bancada, porque cada una tiene su propio árbol que sincronizar</a:t>
            </a:r>
            <a:endParaRPr lang="en-US" sz="11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4480560"/>
          <a:ext cx="11064240" cy="914400"/>
        </p:xfrm>
        <a:graphic>
          <a:graphicData uri="http://schemas.openxmlformats.org/drawingml/2006/table">
            <a:tbl>
              <a:tblPr/>
              <a:tblGrid>
                <a:gridCol w="3108960"/>
                <a:gridCol w="3931920"/>
                <a:gridCol w="4023360"/>
              </a:tblGrid>
              <a:tr h="365760">
                <a:tc>
                  <a:txBody>
                    <a:bodyPr/>
                    <a:lstStyle/>
                    <a:p>
                      <a:pPr indent="0" marL="0">
                        <a:buNone/>
                      </a:pPr>
                      <a:r>
                        <a:rPr lang="en-US" sz="1300" b="1" dirty="0">
                          <a:solidFill>
                            <a:srgbClr val="FFFFFF"/>
                          </a:solidFill>
                        </a:rPr>
                        <a:t>Situación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se observa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significa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00" b="1" dirty="0">
                          <a:solidFill>
                            <a:schemeClr val="tx1"/>
                          </a:solidFill>
                        </a:rPr>
                        <a:t>La admisión abre antes de lo previsto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Apertura varios grados adelantada respecto al manual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Árbol de levas adelantado: mejor par abajo, pérdida arriba, riesgo de contacto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La admisión abre después de lo previsto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Apertura retrasada respecto al manual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Árbol retrasado: típico de cadena alargada por desgaste; pérdida general de prestaciones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No hay apertura en el rango esperado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El árbol está desfasado media vuelta o más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Error grave de montaje: no arrancar y revisar desde el principio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Text 1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tensión de la correa: ni mucha ni poca</a:t>
            </a:r>
            <a:endParaRPr lang="en-US" sz="3200" dirty="0"/>
          </a:p>
        </p:txBody>
      </p:sp>
      <p:sp>
        <p:nvSpPr>
          <p:cNvPr id="3" name="marco_figura"/>
          <p:cNvSpPr/>
          <p:nvPr/>
        </p:nvSpPr>
        <p:spPr>
          <a:xfrm>
            <a:off x="548640" y="1371600"/>
            <a:ext cx="512064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tension_medicion.jpg">    </p:cNvPr>
          <p:cNvPicPr>
            <a:picLocks noChangeAspect="1"/>
          </p:cNvPicPr>
          <p:nvPr/>
        </p:nvPicPr>
        <p:blipFill>
          <a:blip r:embed="rId1"/>
          <a:srcRect l="0" r="0" t="0" b="0"/>
          <a:stretch/>
        </p:blipFill>
        <p:spPr>
          <a:xfrm>
            <a:off x="658368" y="1481328"/>
            <a:ext cx="4901184" cy="2432304"/>
          </a:xfrm>
          <a:prstGeom prst="rect">
            <a:avLst/>
          </a:prstGeom>
        </p:spPr>
      </p:pic>
      <p:sp>
        <p:nvSpPr>
          <p:cNvPr id="5" name="Text 2"/>
          <p:cNvSpPr txBox="1"/>
          <p:nvPr/>
        </p:nvSpPr>
        <p:spPr>
          <a:xfrm>
            <a:off x="658368" y="4023360"/>
            <a:ext cx="49011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34. </a:t>
            </a:r>
            <a:pPr indent="0" marL="0">
              <a:lnSpc>
                <a:spcPct val="102000"/>
              </a:lnSpc>
              <a:buNone/>
            </a:pPr>
            <a:r>
              <a:rPr lang="en-US" sz="1000" dirty="0">
                <a:solidFill>
                  <a:schemeClr val="accent4"/>
                </a:solidFill>
              </a:rPr>
              <a:t>Comprobación de la tensión de la correa según el procedimiento del fabricante. Adaptado de Fernández, J. (s. f.). La distribución [diapositivas]. ISTS.</a:t>
            </a:r>
            <a:endParaRPr lang="en-US" sz="1000" dirty="0"/>
          </a:p>
        </p:txBody>
      </p:sp>
      <p:sp>
        <p:nvSpPr>
          <p:cNvPr id="6" name="tarjeta_1"/>
          <p:cNvSpPr/>
          <p:nvPr/>
        </p:nvSpPr>
        <p:spPr>
          <a:xfrm>
            <a:off x="6035040" y="1371600"/>
            <a:ext cx="2697480" cy="2651760"/>
          </a:xfrm>
          <a:prstGeom prst="roundRect">
            <a:avLst>
              <a:gd name="adj" fmla="val 2759"/>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Shape 4"/>
          <p:cNvSpPr/>
          <p:nvPr/>
        </p:nvSpPr>
        <p:spPr>
          <a:xfrm>
            <a:off x="6291072" y="1609344"/>
            <a:ext cx="420624" cy="420624"/>
          </a:xfrm>
          <a:prstGeom prst="ellipse">
            <a:avLst/>
          </a:prstGeom>
          <a:solidFill>
            <a:schemeClr val="accent1"/>
          </a:solidFill>
          <a:ln w="12700">
            <a:solidFill>
              <a:schemeClr val="accent1"/>
            </a:solidFill>
            <a:prstDash val="solid"/>
          </a:ln>
        </p:spPr>
        <p:txBody>
          <a:bodyPr/>
          <a:p/>
        </p:txBody>
      </p:sp>
      <p:sp>
        <p:nvSpPr>
          <p:cNvPr id="8" name="Text 5"/>
          <p:cNvSpPr txBox="1"/>
          <p:nvPr/>
        </p:nvSpPr>
        <p:spPr>
          <a:xfrm>
            <a:off x="6291072"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9" name="Text 6"/>
          <p:cNvSpPr txBox="1"/>
          <p:nvPr/>
        </p:nvSpPr>
        <p:spPr>
          <a:xfrm>
            <a:off x="6839712" y="1591056"/>
            <a:ext cx="1636776" cy="457200"/>
          </a:xfrm>
          <a:prstGeom prst="rect">
            <a:avLst/>
          </a:prstGeom>
          <a:noFill/>
          <a:ln/>
        </p:spPr>
        <p:txBody>
          <a:bodyPr wrap="square" lIns="0" tIns="0" rIns="0" bIns="0" rtlCol="0" anchor="ctr"/>
          <a:lstStyle/>
          <a:p>
            <a:pPr indent="0" marL="0">
              <a:buNone/>
            </a:pPr>
            <a:r>
              <a:rPr lang="en-US" sz="1350" b="1" dirty="0">
                <a:solidFill>
                  <a:schemeClr val="tx1"/>
                </a:solidFill>
              </a:rPr>
              <a:t>Tensión excesiva</a:t>
            </a:r>
            <a:endParaRPr lang="en-US" sz="1350" dirty="0"/>
          </a:p>
        </p:txBody>
      </p:sp>
      <p:sp>
        <p:nvSpPr>
          <p:cNvPr id="10" name="Text 7"/>
          <p:cNvSpPr txBox="1"/>
          <p:nvPr/>
        </p:nvSpPr>
        <p:spPr>
          <a:xfrm>
            <a:off x="6291072" y="2121408"/>
            <a:ext cx="2185416" cy="16824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Reduce la vida útil de la correa y produce un silbido característico.</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Sobrecarga los rodamientos del tensor, de los rodillos guía y de la bomba de agua, que acaban fallando antes que la correa.</a:t>
            </a:r>
            <a:endParaRPr lang="en-US" sz="1100" dirty="0"/>
          </a:p>
        </p:txBody>
      </p:sp>
      <p:sp>
        <p:nvSpPr>
          <p:cNvPr id="11" name="tarjeta_2"/>
          <p:cNvSpPr/>
          <p:nvPr/>
        </p:nvSpPr>
        <p:spPr>
          <a:xfrm>
            <a:off x="8915400" y="1371600"/>
            <a:ext cx="2697480" cy="2651760"/>
          </a:xfrm>
          <a:prstGeom prst="roundRect">
            <a:avLst>
              <a:gd name="adj" fmla="val 2759"/>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Shape 9"/>
          <p:cNvSpPr/>
          <p:nvPr/>
        </p:nvSpPr>
        <p:spPr>
          <a:xfrm>
            <a:off x="9171432" y="1609344"/>
            <a:ext cx="420624" cy="420624"/>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9171432"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4" name="Text 11"/>
          <p:cNvSpPr txBox="1"/>
          <p:nvPr/>
        </p:nvSpPr>
        <p:spPr>
          <a:xfrm>
            <a:off x="9720072" y="1591056"/>
            <a:ext cx="1636776" cy="457200"/>
          </a:xfrm>
          <a:prstGeom prst="rect">
            <a:avLst/>
          </a:prstGeom>
          <a:noFill/>
          <a:ln/>
        </p:spPr>
        <p:txBody>
          <a:bodyPr wrap="square" lIns="0" tIns="0" rIns="0" bIns="0" rtlCol="0" anchor="ctr"/>
          <a:lstStyle/>
          <a:p>
            <a:pPr indent="0" marL="0">
              <a:buNone/>
            </a:pPr>
            <a:r>
              <a:rPr lang="en-US" sz="1350" b="1" dirty="0">
                <a:solidFill>
                  <a:schemeClr val="tx1"/>
                </a:solidFill>
              </a:rPr>
              <a:t>Tensión insuficiente</a:t>
            </a:r>
            <a:endParaRPr lang="en-US" sz="1350" dirty="0"/>
          </a:p>
        </p:txBody>
      </p:sp>
      <p:sp>
        <p:nvSpPr>
          <p:cNvPr id="15" name="Text 12"/>
          <p:cNvSpPr txBox="1"/>
          <p:nvPr/>
        </p:nvSpPr>
        <p:spPr>
          <a:xfrm>
            <a:off x="9171432" y="2121408"/>
            <a:ext cx="2185416" cy="16824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La correa puede saltar dientes sobre el piñón, especialmente en los cambios bruscos de régimen.</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En el peor caso se sale de las poleas y el motor queda destruido.</a:t>
            </a:r>
            <a:endParaRPr lang="en-US" sz="1100" dirty="0"/>
          </a:p>
        </p:txBody>
      </p:sp>
      <p:sp>
        <p:nvSpPr>
          <p:cNvPr id="16" name="Shape 13"/>
          <p:cNvSpPr/>
          <p:nvPr/>
        </p:nvSpPr>
        <p:spPr>
          <a:xfrm>
            <a:off x="548640" y="4242816"/>
            <a:ext cx="384048" cy="384048"/>
          </a:xfrm>
          <a:prstGeom prst="ellipse">
            <a:avLst/>
          </a:prstGeom>
          <a:solidFill>
            <a:schemeClr val="accent2"/>
          </a:solidFill>
          <a:ln w="12700">
            <a:solidFill>
              <a:schemeClr val="accent2"/>
            </a:solidFill>
            <a:prstDash val="solid"/>
          </a:ln>
        </p:spPr>
        <p:txBody>
          <a:bodyPr/>
          <a:p/>
        </p:txBody>
      </p:sp>
      <p:sp>
        <p:nvSpPr>
          <p:cNvPr id="17" name="Text 14"/>
          <p:cNvSpPr txBox="1"/>
          <p:nvPr/>
        </p:nvSpPr>
        <p:spPr>
          <a:xfrm>
            <a:off x="548640" y="4242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Text 15"/>
          <p:cNvSpPr txBox="1"/>
          <p:nvPr/>
        </p:nvSpPr>
        <p:spPr>
          <a:xfrm>
            <a:off x="1078992" y="420624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Tensor automático. </a:t>
            </a:r>
            <a:pPr indent="0" marL="0">
              <a:lnSpc>
                <a:spcPct val="106000"/>
              </a:lnSpc>
              <a:buNone/>
            </a:pPr>
            <a:r>
              <a:rPr lang="en-US" sz="1150" dirty="0">
                <a:solidFill>
                  <a:schemeClr val="accent4"/>
                </a:solidFill>
              </a:rPr>
              <a:t>el más común hoy: se monta siguiendo la marca del propio tensor, que debe quedar entre dos señales de referencia</a:t>
            </a:r>
            <a:endParaRPr lang="en-US" sz="1150" dirty="0"/>
          </a:p>
        </p:txBody>
      </p:sp>
      <p:sp>
        <p:nvSpPr>
          <p:cNvPr id="19" name="Shape 16"/>
          <p:cNvSpPr/>
          <p:nvPr/>
        </p:nvSpPr>
        <p:spPr>
          <a:xfrm>
            <a:off x="548640" y="4608576"/>
            <a:ext cx="384048" cy="384048"/>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548640" y="4608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1" name="Text 18"/>
          <p:cNvSpPr txBox="1"/>
          <p:nvPr/>
        </p:nvSpPr>
        <p:spPr>
          <a:xfrm>
            <a:off x="1078992" y="457200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Tensor manual con muelle. </a:t>
            </a:r>
            <a:pPr indent="0" marL="0">
              <a:lnSpc>
                <a:spcPct val="106000"/>
              </a:lnSpc>
              <a:buNone/>
            </a:pPr>
            <a:r>
              <a:rPr lang="en-US" sz="1150" dirty="0">
                <a:solidFill>
                  <a:schemeClr val="accent4"/>
                </a:solidFill>
              </a:rPr>
              <a:t>se afloja el tornillo, se deja que el muelle actúe por sí solo sin forzar a mano, y se aprieta al par indicado</a:t>
            </a:r>
            <a:endParaRPr lang="en-US" sz="1150" dirty="0"/>
          </a:p>
        </p:txBody>
      </p:sp>
      <p:sp>
        <p:nvSpPr>
          <p:cNvPr id="22" name="Shape 19"/>
          <p:cNvSpPr/>
          <p:nvPr/>
        </p:nvSpPr>
        <p:spPr>
          <a:xfrm>
            <a:off x="548640" y="4974336"/>
            <a:ext cx="384048" cy="384048"/>
          </a:xfrm>
          <a:prstGeom prst="ellipse">
            <a:avLst/>
          </a:prstGeom>
          <a:solidFill>
            <a:schemeClr val="accent2"/>
          </a:solidFill>
          <a:ln w="12700">
            <a:solidFill>
              <a:schemeClr val="accent2"/>
            </a:solidFill>
            <a:prstDash val="solid"/>
          </a:ln>
        </p:spPr>
        <p:txBody>
          <a:bodyPr/>
          <a:p/>
        </p:txBody>
      </p:sp>
      <p:sp>
        <p:nvSpPr>
          <p:cNvPr id="23" name="Text 20"/>
          <p:cNvSpPr txBox="1"/>
          <p:nvPr/>
        </p:nvSpPr>
        <p:spPr>
          <a:xfrm>
            <a:off x="548640" y="4974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4" name="Text 21"/>
          <p:cNvSpPr txBox="1"/>
          <p:nvPr/>
        </p:nvSpPr>
        <p:spPr>
          <a:xfrm>
            <a:off x="1078992" y="493776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Comprobación por deflexión. </a:t>
            </a:r>
            <a:pPr indent="0" marL="0">
              <a:lnSpc>
                <a:spcPct val="106000"/>
              </a:lnSpc>
              <a:buNone/>
            </a:pPr>
            <a:r>
              <a:rPr lang="en-US" sz="1150" dirty="0">
                <a:solidFill>
                  <a:schemeClr val="accent4"/>
                </a:solidFill>
              </a:rPr>
              <a:t>aplicar la carga que indica el manual en el punto medio del ramal largo y medir cuánto cede; el valor debe estar en el rango del fabricante</a:t>
            </a:r>
            <a:endParaRPr lang="en-US" sz="1150" dirty="0"/>
          </a:p>
        </p:txBody>
      </p:sp>
      <p:sp>
        <p:nvSpPr>
          <p:cNvPr id="25" name="Shape 22"/>
          <p:cNvSpPr/>
          <p:nvPr/>
        </p:nvSpPr>
        <p:spPr>
          <a:xfrm>
            <a:off x="548640" y="5340096"/>
            <a:ext cx="384048" cy="384048"/>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548640" y="5340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7" name="Text 24"/>
          <p:cNvSpPr txBox="1"/>
          <p:nvPr/>
        </p:nvSpPr>
        <p:spPr>
          <a:xfrm>
            <a:off x="1078992" y="530352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Regla de oro. </a:t>
            </a:r>
            <a:pPr indent="0" marL="0">
              <a:lnSpc>
                <a:spcPct val="106000"/>
              </a:lnSpc>
              <a:buNone/>
            </a:pPr>
            <a:r>
              <a:rPr lang="en-US" sz="1150" dirty="0">
                <a:solidFill>
                  <a:schemeClr val="accent4"/>
                </a:solidFill>
              </a:rPr>
              <a:t>la tensión se ajusta siempre con el método del fabricante; la prueba de torcer la correa con los dedos no es un procedimiento</a:t>
            </a:r>
            <a:endParaRPr lang="en-US" sz="1150" dirty="0"/>
          </a:p>
        </p:txBody>
      </p:sp>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Averías de la distribución</a:t>
            </a:r>
            <a:endParaRPr lang="en-US" sz="3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2926080"/>
                <a:gridCol w="2651760"/>
                <a:gridCol w="2743200"/>
              </a:tblGrid>
              <a:tr h="457200">
                <a:tc>
                  <a:txBody>
                    <a:bodyPr/>
                    <a:lstStyle/>
                    <a:p>
                      <a:pPr indent="0" marL="0">
                        <a:buNone/>
                      </a:pPr>
                      <a:r>
                        <a:rPr lang="en-US" sz="1300" b="1" dirty="0">
                          <a:solidFill>
                            <a:srgbClr val="FFFFFF"/>
                          </a:solidFill>
                        </a:rPr>
                        <a:t>Síntoma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Causa probable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Corrección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00" b="1" dirty="0">
                          <a:solidFill>
                            <a:schemeClr val="tx1"/>
                          </a:solidFill>
                        </a:rPr>
                        <a:t>El motor gira pero no arranca; compresión baja en todos los cilindros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Distribución fuera de punto: correa o cadena montada con las marcas desplazadas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Llevar a posición de calado y verificar coincidencia de marcas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Volver a calar; si hubo contacto, desmontar el cabezote y revisar válvulas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chemeClr val="tx1"/>
                          </a:solidFill>
                        </a:rPr>
                        <a:t>Ruido metálico en los primeros segundos tras el arranque en frío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Cadena alargada o tensor hidráulico sin presión inicial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Inspección del tensor y medición del alargamiento de la cadena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Sustituir cadena, tensor y patines como conjunto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00" b="1" dirty="0">
                          <a:solidFill>
                            <a:schemeClr val="tx1"/>
                          </a:solidFill>
                        </a:rPr>
                        <a:t>Pérdida progresiva de prestaciones sin otro síntoma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Cadena alargada: el árbol de levas queda retrasado unos grados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Comprobación del calado con comparador sobre la válvula de admisión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Sustituir el conjunto de la cadena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chemeClr val="tx1"/>
                          </a:solidFill>
                        </a:rPr>
                        <a:t>Silbido agudo que varía con el régimen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Correa demasiado tensa o rodillo con el rodamiento deteriorado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Inspección y giro manual de los rodillos con la correa retirada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Corregir la tensión; sustituir los rodillos afectados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00" b="1" dirty="0">
                          <a:solidFill>
                            <a:schemeClr val="tx1"/>
                          </a:solidFill>
                        </a:rPr>
                        <a:t>Ruido de golpeteo en la culata, regular con el régimen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Holgura de válvulas excesiva o taqué hidráulico sin presión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Medición de la holgura con galga; comprobación de presión de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Reglaje de válvulas; revisar la lubricación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931920"/>
            <a:ext cx="11064240" cy="822960"/>
          </a:xfrm>
          <a:prstGeom prst="roundRect">
            <a:avLst>
              <a:gd name="adj" fmla="val 6667"/>
            </a:avLst>
          </a:prstGeom>
          <a:solidFill>
            <a:schemeClr val="bg2"/>
          </a:solidFill>
          <a:ln w="12700">
            <a:solidFill>
              <a:schemeClr val="bg2"/>
            </a:solidFill>
            <a:prstDash val="solid"/>
          </a:ln>
        </p:spPr>
        <p:txBody>
          <a:bodyPr/>
          <a:p/>
        </p:txBody>
      </p:sp>
      <p:sp>
        <p:nvSpPr>
          <p:cNvPr id="5" name="Shape 2"/>
          <p:cNvSpPr/>
          <p:nvPr/>
        </p:nvSpPr>
        <p:spPr>
          <a:xfrm>
            <a:off x="786384" y="416052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160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2336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Resolución del caso de apertura: la correa se montó con el árbol de levas desplazado respecto al cigüeñal. Las válvulas abren a destiempo y no cierran durante la compresión, de modo que los cuatro cilindros pierden compresión a la vez. No es un fallo de encendido ni de combustible: es el tiempo.</a:t>
            </a:r>
            <a:endParaRPr lang="en-US" sz="1450" dirty="0"/>
          </a:p>
        </p:txBody>
      </p:sp>
      <p:sp>
        <p:nvSpPr>
          <p:cNvPr id="8" name="Shape 5"/>
          <p:cNvSpPr/>
          <p:nvPr/>
        </p:nvSpPr>
        <p:spPr>
          <a:xfrm>
            <a:off x="548640" y="492861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928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89204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hay que comprobar después de un salto de distribución. </a:t>
            </a:r>
            <a:pPr indent="0" marL="0">
              <a:lnSpc>
                <a:spcPct val="106000"/>
              </a:lnSpc>
              <a:buNone/>
            </a:pPr>
            <a:r>
              <a:rPr lang="en-US" sz="1150" dirty="0">
                <a:solidFill>
                  <a:schemeClr val="accent4"/>
                </a:solidFill>
              </a:rPr>
              <a:t>si el motor es interferente y llegó a girar, hay que desmontar el cabezote y comprobar la rectitud de las válvulas y el estado de las cabezas de los pistones</a:t>
            </a:r>
            <a:endParaRPr lang="en-US" sz="1150" dirty="0"/>
          </a:p>
        </p:txBody>
      </p:sp>
      <p:sp>
        <p:nvSpPr>
          <p:cNvPr id="11" name="Shape 8"/>
          <p:cNvSpPr/>
          <p:nvPr/>
        </p:nvSpPr>
        <p:spPr>
          <a:xfrm>
            <a:off x="548640" y="531266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312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27608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prueba que lo revela. </a:t>
            </a:r>
            <a:pPr indent="0" marL="0">
              <a:lnSpc>
                <a:spcPct val="106000"/>
              </a:lnSpc>
              <a:buNone/>
            </a:pPr>
            <a:r>
              <a:rPr lang="en-US" sz="1150" dirty="0">
                <a:solidFill>
                  <a:schemeClr val="accent4"/>
                </a:solidFill>
              </a:rPr>
              <a:t>medición de compresión: valores bajos en todos los cilindros apuntan al tiempo; en uno solo, al cilindro</a:t>
            </a:r>
            <a:endParaRPr lang="en-US" sz="1150" dirty="0"/>
          </a:p>
        </p:txBody>
      </p:sp>
      <p:sp>
        <p:nvSpPr>
          <p:cNvPr id="14"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 · técnica: aprendizaje basado en problemas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Dónde buscar las marcas según el tipo de mando</a:t>
            </a:r>
            <a:endParaRPr lang="en-US" sz="3200" dirty="0"/>
          </a:p>
        </p:txBody>
      </p:sp>
      <p:sp>
        <p:nvSpPr>
          <p:cNvPr id="3" name="marco_figura"/>
          <p:cNvSpPr/>
          <p:nvPr/>
        </p:nvSpPr>
        <p:spPr>
          <a:xfrm>
            <a:off x="548640" y="1371600"/>
            <a:ext cx="365760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marcas_ohv.jpg">    </p:cNvPr>
          <p:cNvPicPr>
            <a:picLocks noChangeAspect="1"/>
          </p:cNvPicPr>
          <p:nvPr/>
        </p:nvPicPr>
        <p:blipFill>
          <a:blip r:embed="rId1"/>
          <a:srcRect l="0" r="0" t="0" b="0"/>
          <a:stretch/>
        </p:blipFill>
        <p:spPr>
          <a:xfrm>
            <a:off x="658368" y="1481328"/>
            <a:ext cx="3438144" cy="2249424"/>
          </a:xfrm>
          <a:prstGeom prst="rect">
            <a:avLst/>
          </a:prstGeom>
        </p:spPr>
      </p:pic>
      <p:sp>
        <p:nvSpPr>
          <p:cNvPr id="5" name="Text 2"/>
          <p:cNvSpPr txBox="1"/>
          <p:nvPr/>
        </p:nvSpPr>
        <p:spPr>
          <a:xfrm>
            <a:off x="658368" y="384048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36. </a:t>
            </a:r>
            <a:pPr indent="0" marL="0">
              <a:lnSpc>
                <a:spcPct val="102000"/>
              </a:lnSpc>
              <a:buNone/>
            </a:pPr>
            <a:r>
              <a:rPr lang="en-US" sz="1000" dirty="0">
                <a:solidFill>
                  <a:schemeClr val="accent4"/>
                </a:solidFill>
              </a:rPr>
              <a:t>Marcas en cadena y piñones de un motor OHV. Adaptado de Fernández, J. (s. f.). La distribución [diapositivas]. ISTS.</a:t>
            </a:r>
            <a:endParaRPr lang="en-US" sz="1000" dirty="0"/>
          </a:p>
        </p:txBody>
      </p:sp>
      <p:sp>
        <p:nvSpPr>
          <p:cNvPr id="6" name="marco_figura"/>
          <p:cNvSpPr/>
          <p:nvPr/>
        </p:nvSpPr>
        <p:spPr>
          <a:xfrm>
            <a:off x="4480560" y="1371600"/>
            <a:ext cx="3474720" cy="2852928"/>
          </a:xfrm>
          <a:prstGeom prst="roundRect">
            <a:avLst>
              <a:gd name="adj" fmla="val 1923"/>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d_marcas_carcasa.jpg">    </p:cNvPr>
          <p:cNvPicPr>
            <a:picLocks noChangeAspect="1"/>
          </p:cNvPicPr>
          <p:nvPr/>
        </p:nvPicPr>
        <p:blipFill>
          <a:blip r:embed="rId2"/>
          <a:srcRect l="0" r="0" t="0" b="0"/>
          <a:stretch/>
        </p:blipFill>
        <p:spPr>
          <a:xfrm>
            <a:off x="4590288" y="1481328"/>
            <a:ext cx="3255264" cy="2249424"/>
          </a:xfrm>
          <a:prstGeom prst="rect">
            <a:avLst/>
          </a:prstGeom>
        </p:spPr>
      </p:pic>
      <p:sp>
        <p:nvSpPr>
          <p:cNvPr id="8" name="Text 4"/>
          <p:cNvSpPr txBox="1"/>
          <p:nvPr/>
        </p:nvSpPr>
        <p:spPr>
          <a:xfrm>
            <a:off x="4590288" y="384048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37. </a:t>
            </a:r>
            <a:pPr indent="0" marL="0">
              <a:lnSpc>
                <a:spcPct val="102000"/>
              </a:lnSpc>
              <a:buNone/>
            </a:pPr>
            <a:r>
              <a:rPr lang="en-US" sz="1000" dirty="0">
                <a:solidFill>
                  <a:schemeClr val="accent4"/>
                </a:solidFill>
              </a:rPr>
              <a:t>Marcas de calado grabadas en el engranaje de mando. Adaptado de Fernández, J. (s. f.). La distribución [diapositivas]. ISTS.</a:t>
            </a:r>
            <a:endParaRPr lang="en-US" sz="1000" dirty="0"/>
          </a:p>
        </p:txBody>
      </p:sp>
      <p:sp>
        <p:nvSpPr>
          <p:cNvPr id="9" name="marco_figura"/>
          <p:cNvSpPr/>
          <p:nvPr/>
        </p:nvSpPr>
        <p:spPr>
          <a:xfrm>
            <a:off x="8229600" y="1371600"/>
            <a:ext cx="3383280" cy="2852928"/>
          </a:xfrm>
          <a:prstGeom prst="roundRect">
            <a:avLst>
              <a:gd name="adj" fmla="val 1923"/>
            </a:avLst>
          </a:prstGeom>
          <a:solidFill>
            <a:schemeClr val="bg2"/>
          </a:solidFill>
          <a:ln w="12700">
            <a:solidFill>
              <a:schemeClr val="bg2"/>
            </a:solidFill>
            <a:prstDash val="solid"/>
          </a:ln>
        </p:spPr>
        <p:txBody>
          <a:bodyPr/>
          <a:p/>
        </p:txBody>
      </p:sp>
      <p:pic>
        <p:nvPicPr>
          <p:cNvPr id="10" name="figura" descr="/tmp/claude-0/-home-claude/ae7ea666-008e-5687-a756-06b9100bd0c6/scratchpad/sfm/u3/media/d_pinon_cadena.jpg">    </p:cNvPr>
          <p:cNvPicPr>
            <a:picLocks noChangeAspect="1"/>
          </p:cNvPicPr>
          <p:nvPr/>
        </p:nvPicPr>
        <p:blipFill>
          <a:blip r:embed="rId3"/>
          <a:srcRect l="0" r="0" t="0" b="0"/>
          <a:stretch/>
        </p:blipFill>
        <p:spPr>
          <a:xfrm>
            <a:off x="8339328" y="1481328"/>
            <a:ext cx="3163824" cy="2249424"/>
          </a:xfrm>
          <a:prstGeom prst="rect">
            <a:avLst/>
          </a:prstGeom>
        </p:spPr>
      </p:pic>
      <p:sp>
        <p:nvSpPr>
          <p:cNvPr id="11" name="Text 6"/>
          <p:cNvSpPr txBox="1"/>
          <p:nvPr/>
        </p:nvSpPr>
        <p:spPr>
          <a:xfrm>
            <a:off x="8339328" y="384048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38. </a:t>
            </a:r>
            <a:pPr indent="0" marL="0">
              <a:lnSpc>
                <a:spcPct val="102000"/>
              </a:lnSpc>
              <a:buNone/>
            </a:pPr>
            <a:r>
              <a:rPr lang="en-US" sz="1000" dirty="0">
                <a:solidFill>
                  <a:schemeClr val="accent4"/>
                </a:solidFill>
              </a:rPr>
              <a:t>Piñón y cadena de distribución montados en el motor. Adaptado de Fernández, J. (s. f.). La distribución [diapositivas]. ISTS.</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64240" cy="914400"/>
        </p:xfrm>
        <a:graphic>
          <a:graphicData uri="http://schemas.openxmlformats.org/drawingml/2006/table">
            <a:tbl>
              <a:tblPr/>
              <a:tblGrid>
                <a:gridCol w="2194560"/>
                <a:gridCol w="3017520"/>
                <a:gridCol w="2926080"/>
                <a:gridCol w="2926080"/>
              </a:tblGrid>
              <a:tr h="402336">
                <a:tc>
                  <a:txBody>
                    <a:bodyPr/>
                    <a:lstStyle/>
                    <a:p>
                      <a:pPr indent="0" marL="0">
                        <a:buNone/>
                      </a:pPr>
                      <a:r>
                        <a:rPr lang="en-US" sz="1300" b="1" dirty="0">
                          <a:solidFill>
                            <a:srgbClr val="FFFFFF"/>
                          </a:solidFill>
                        </a:rPr>
                        <a:t>Mando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Dónde están las marcas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alinea con qué</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Dificultad típica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00" b="1" dirty="0">
                          <a:solidFill>
                            <a:schemeClr val="tx1"/>
                          </a:solidFill>
                        </a:rPr>
                        <a:t>Engranajes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Puntos grabados en los dientes de ambos piñones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Diente marcado del cigüeñal con hueco marcado del árbol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Las marcas se borran con el uso y la suciedad</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Cadena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Eslabones de color distinto y marcas en los piñones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Cada eslabón de color con la marca de su piñón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Los eslabones de color se descoloran: usar las marcas de los piñones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Correa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Flechas o muescas en poleas, más referencia fija en la carcasa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Marca de cada polea con su referencia fija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Hay varias marcas en la misma polea: identificar la correcta en el manual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3" name="Shape 7"/>
          <p:cNvSpPr/>
          <p:nvPr/>
        </p:nvSpPr>
        <p:spPr>
          <a:xfrm>
            <a:off x="548640" y="5623560"/>
            <a:ext cx="11064240" cy="411480"/>
          </a:xfrm>
          <a:prstGeom prst="roundRect">
            <a:avLst>
              <a:gd name="adj" fmla="val 13333"/>
            </a:avLst>
          </a:prstGeom>
          <a:solidFill>
            <a:schemeClr val="bg2"/>
          </a:solidFill>
          <a:ln w="12700">
            <a:solidFill>
              <a:schemeClr val="bg2"/>
            </a:solidFill>
            <a:prstDash val="solid"/>
          </a:ln>
        </p:spPr>
        <p:txBody>
          <a:bodyPr/>
          <a:p/>
        </p:txBody>
      </p:sp>
      <p:sp>
        <p:nvSpPr>
          <p:cNvPr id="14" name="Shape 8"/>
          <p:cNvSpPr/>
          <p:nvPr/>
        </p:nvSpPr>
        <p:spPr>
          <a:xfrm>
            <a:off x="786384" y="5646420"/>
            <a:ext cx="365760" cy="365760"/>
          </a:xfrm>
          <a:prstGeom prst="ellipse">
            <a:avLst/>
          </a:prstGeom>
          <a:solidFill>
            <a:schemeClr val="accent1"/>
          </a:solidFill>
          <a:ln w="12700">
            <a:solidFill>
              <a:schemeClr val="accent1"/>
            </a:solidFill>
            <a:prstDash val="solid"/>
          </a:ln>
        </p:spPr>
        <p:txBody>
          <a:bodyPr/>
          <a:p/>
        </p:txBody>
      </p:sp>
      <p:sp>
        <p:nvSpPr>
          <p:cNvPr id="15" name="Text 9"/>
          <p:cNvSpPr txBox="1"/>
          <p:nvPr/>
        </p:nvSpPr>
        <p:spPr>
          <a:xfrm>
            <a:off x="786384" y="56464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6" name="Text 10"/>
          <p:cNvSpPr txBox="1"/>
          <p:nvPr/>
        </p:nvSpPr>
        <p:spPr>
          <a:xfrm>
            <a:off x="1298448" y="571500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Una polea puede llevar más de una marca, porque el mismo piñón se usa en varias versiones del motor. Montar guiándose por la marca equivocada deja el motor fuera de punto sin que nada parezca mal: el manual dice cuál es la buena.</a:t>
            </a:r>
            <a:endParaRPr lang="en-US" sz="1150" dirty="0"/>
          </a:p>
        </p:txBody>
      </p:sp>
      <p:sp>
        <p:nvSpPr>
          <p:cNvPr id="17"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Herramientas de bloqueo y por qué son obligatorias</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Pasador de volante o de cigüeñal</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Se introduce por un orificio previsto del bloque y entra en una perforación del volante, fijando el cigüeñal en la posición de calado.</a:t>
            </a:r>
            <a:endParaRPr lang="en-US" sz="1150" dirty="0"/>
          </a:p>
        </p:txBody>
      </p:sp>
      <p:sp>
        <p:nvSpPr>
          <p:cNvPr id="8"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Regla o plantilla de árboles de levas</a:t>
            </a:r>
            <a:endParaRPr lang="en-US" sz="1700" dirty="0"/>
          </a:p>
        </p:txBody>
      </p:sp>
      <p:sp>
        <p:nvSpPr>
          <p:cNvPr id="12" name="Text 10"/>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Se inserta en las ranuras del extremo de los árboles y los mantiene en su posición exacta mientras se trabaja.</a:t>
            </a:r>
            <a:endParaRPr lang="en-US" sz="1150" dirty="0"/>
          </a:p>
        </p:txBody>
      </p:sp>
      <p:sp>
        <p:nvSpPr>
          <p:cNvPr id="13"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Útil de retención del tensor</a:t>
            </a:r>
            <a:endParaRPr lang="en-US" sz="1700" dirty="0"/>
          </a:p>
        </p:txBody>
      </p:sp>
      <p:sp>
        <p:nvSpPr>
          <p:cNvPr id="17" name="Text 15"/>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Pasador, llave Allen o grapa que mantiene el tensor comprimido hasta que todo el conjunto está montado.</a:t>
            </a:r>
            <a:endParaRPr lang="en-US" sz="1150" dirty="0"/>
          </a:p>
        </p:txBody>
      </p:sp>
      <p:sp>
        <p:nvSpPr>
          <p:cNvPr id="18" name="Shape 16"/>
          <p:cNvSpPr/>
          <p:nvPr/>
        </p:nvSpPr>
        <p:spPr>
          <a:xfrm>
            <a:off x="548640" y="383133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3831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Text 18"/>
          <p:cNvSpPr txBox="1"/>
          <p:nvPr/>
        </p:nvSpPr>
        <p:spPr>
          <a:xfrm>
            <a:off x="1078992" y="379476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no son opcionales en muchos motores modernos. </a:t>
            </a:r>
            <a:pPr indent="0" marL="0">
              <a:lnSpc>
                <a:spcPct val="106000"/>
              </a:lnSpc>
              <a:buNone/>
            </a:pPr>
            <a:r>
              <a:rPr lang="en-US" sz="1150" dirty="0">
                <a:solidFill>
                  <a:schemeClr val="accent4"/>
                </a:solidFill>
              </a:rPr>
              <a:t>algunos motores no tienen marcas visibles: su posición de calado se define exclusivamente por los útiles de bloqueo, y sin ellos no hay forma de calar</a:t>
            </a:r>
            <a:endParaRPr lang="en-US" sz="1150" dirty="0"/>
          </a:p>
        </p:txBody>
      </p:sp>
      <p:sp>
        <p:nvSpPr>
          <p:cNvPr id="21" name="Shape 19"/>
          <p:cNvSpPr/>
          <p:nvPr/>
        </p:nvSpPr>
        <p:spPr>
          <a:xfrm>
            <a:off x="548640" y="4215384"/>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215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3" name="Text 21"/>
          <p:cNvSpPr txBox="1"/>
          <p:nvPr/>
        </p:nvSpPr>
        <p:spPr>
          <a:xfrm>
            <a:off x="1078992" y="417880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pasa si se improvisan. </a:t>
            </a:r>
            <a:pPr indent="0" marL="0">
              <a:lnSpc>
                <a:spcPct val="106000"/>
              </a:lnSpc>
              <a:buNone/>
            </a:pPr>
            <a:r>
              <a:rPr lang="en-US" sz="1150" dirty="0">
                <a:solidFill>
                  <a:schemeClr val="accent4"/>
                </a:solidFill>
              </a:rPr>
              <a:t>un pasador de diámetro incorrecto deja juego y el calado queda desplazado; una plantilla casera no garantiza la posición angular</a:t>
            </a:r>
            <a:endParaRPr lang="en-US" sz="1150" dirty="0"/>
          </a:p>
        </p:txBody>
      </p:sp>
      <p:sp>
        <p:nvSpPr>
          <p:cNvPr id="24" name="Shape 22"/>
          <p:cNvSpPr/>
          <p:nvPr/>
        </p:nvSpPr>
        <p:spPr>
          <a:xfrm>
            <a:off x="548640" y="4599432"/>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4599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6" name="Text 24"/>
          <p:cNvSpPr txBox="1"/>
          <p:nvPr/>
        </p:nvSpPr>
        <p:spPr>
          <a:xfrm>
            <a:off x="1078992" y="4562856"/>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Cuándo se retiran. </a:t>
            </a:r>
            <a:pPr indent="0" marL="0">
              <a:lnSpc>
                <a:spcPct val="106000"/>
              </a:lnSpc>
              <a:buNone/>
            </a:pPr>
            <a:r>
              <a:rPr lang="en-US" sz="1150" dirty="0">
                <a:solidFill>
                  <a:schemeClr val="accent4"/>
                </a:solidFill>
              </a:rPr>
              <a:t>siempre al final, después de tensar y antes de girar el motor a mano; girar con un útil de bloqueo puesto destruye el bloque o el volante</a:t>
            </a:r>
            <a:endParaRPr lang="en-US" sz="1150" dirty="0"/>
          </a:p>
        </p:txBody>
      </p:sp>
      <p:sp>
        <p:nvSpPr>
          <p:cNvPr id="27" name="Shape 25"/>
          <p:cNvSpPr/>
          <p:nvPr/>
        </p:nvSpPr>
        <p:spPr>
          <a:xfrm>
            <a:off x="548640" y="4983480"/>
            <a:ext cx="384048" cy="384048"/>
          </a:xfrm>
          <a:prstGeom prst="ellipse">
            <a:avLst/>
          </a:prstGeom>
          <a:solidFill>
            <a:schemeClr val="accent2"/>
          </a:solidFill>
          <a:ln w="12700">
            <a:solidFill>
              <a:schemeClr val="accent2"/>
            </a:solidFill>
            <a:prstDash val="solid"/>
          </a:ln>
        </p:spPr>
        <p:txBody>
          <a:bodyPr/>
          <a:p/>
        </p:txBody>
      </p:sp>
      <p:sp>
        <p:nvSpPr>
          <p:cNvPr id="28" name="Text 26"/>
          <p:cNvSpPr txBox="1"/>
          <p:nvPr/>
        </p:nvSpPr>
        <p:spPr>
          <a:xfrm>
            <a:off x="548640" y="4983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9" name="Text 27"/>
          <p:cNvSpPr txBox="1"/>
          <p:nvPr/>
        </p:nvSpPr>
        <p:spPr>
          <a:xfrm>
            <a:off x="1078992" y="4946904"/>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hay que consultar antes de empezar. </a:t>
            </a:r>
            <a:pPr indent="0" marL="0">
              <a:lnSpc>
                <a:spcPct val="106000"/>
              </a:lnSpc>
              <a:buNone/>
            </a:pPr>
            <a:r>
              <a:rPr lang="en-US" sz="1150" dirty="0">
                <a:solidFill>
                  <a:schemeClr val="accent4"/>
                </a:solidFill>
              </a:rPr>
              <a:t>si el motor exige útiles especiales y si el taller dispone de ellos; descubrirlo a mitad del trabajo deja el vehículo inmovilizado</a:t>
            </a:r>
            <a:endParaRPr lang="en-US" sz="1150" dirty="0"/>
          </a:p>
        </p:txBody>
      </p:sp>
      <p:sp>
        <p:nvSpPr>
          <p:cNvPr id="30" name="Shape 28"/>
          <p:cNvSpPr/>
          <p:nvPr/>
        </p:nvSpPr>
        <p:spPr>
          <a:xfrm>
            <a:off x="548640" y="5440680"/>
            <a:ext cx="11064240" cy="457200"/>
          </a:xfrm>
          <a:prstGeom prst="roundRect">
            <a:avLst>
              <a:gd name="adj" fmla="val 12000"/>
            </a:avLst>
          </a:prstGeom>
          <a:solidFill>
            <a:schemeClr val="bg2"/>
          </a:solidFill>
          <a:ln w="12700">
            <a:solidFill>
              <a:schemeClr val="bg2"/>
            </a:solidFill>
            <a:prstDash val="solid"/>
          </a:ln>
        </p:spPr>
        <p:txBody>
          <a:bodyPr/>
          <a:p/>
        </p:txBody>
      </p:sp>
      <p:sp>
        <p:nvSpPr>
          <p:cNvPr id="31" name="Shape 29"/>
          <p:cNvSpPr/>
          <p:nvPr/>
        </p:nvSpPr>
        <p:spPr>
          <a:xfrm>
            <a:off x="786384" y="5486400"/>
            <a:ext cx="365760" cy="365760"/>
          </a:xfrm>
          <a:prstGeom prst="ellipse">
            <a:avLst/>
          </a:prstGeom>
          <a:solidFill>
            <a:schemeClr val="accent1"/>
          </a:solidFill>
          <a:ln w="12700">
            <a:solidFill>
              <a:schemeClr val="accent1"/>
            </a:solidFill>
            <a:prstDash val="solid"/>
          </a:ln>
        </p:spPr>
        <p:txBody>
          <a:bodyPr/>
          <a:p/>
        </p:txBody>
      </p:sp>
      <p:sp>
        <p:nvSpPr>
          <p:cNvPr id="32" name="Text 30"/>
          <p:cNvSpPr txBox="1"/>
          <p:nvPr/>
        </p:nvSpPr>
        <p:spPr>
          <a:xfrm>
            <a:off x="786384" y="54864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3" name="Text 31"/>
          <p:cNvSpPr txBox="1"/>
          <p:nvPr/>
        </p:nvSpPr>
        <p:spPr>
          <a:xfrm>
            <a:off x="1298448" y="5532120"/>
            <a:ext cx="10058400" cy="27432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Girar el motor con un pasador de bloqueo puesto es uno de los errores más caros del taller: el pasador es más duro que el alojamiento, y lo que se rompe es el bloque o el volante, no el pasador.</a:t>
            </a:r>
            <a:endParaRPr lang="en-US" sz="1200" dirty="0"/>
          </a:p>
        </p:txBody>
      </p:sp>
      <p:sp>
        <p:nvSpPr>
          <p:cNvPr id="34" name="Text 3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 · recursos: Autodata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Ficha de puesta a punto de la distribución</a:t>
            </a:r>
            <a:endParaRPr lang="en-US" sz="3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3840480"/>
                <a:gridCol w="3931920"/>
              </a:tblGrid>
              <a:tr h="384048">
                <a:tc>
                  <a:txBody>
                    <a:bodyPr/>
                    <a:lstStyle/>
                    <a:p>
                      <a:pPr indent="0" marL="0">
                        <a:buNone/>
                      </a:pPr>
                      <a:r>
                        <a:rPr lang="en-US" sz="1300" b="1" dirty="0">
                          <a:solidFill>
                            <a:srgbClr val="FFFFFF"/>
                          </a:solidFill>
                        </a:rPr>
                        <a:t>Dato a registrar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Fuente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Anotación del grupo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00" b="1" dirty="0">
                          <a:solidFill>
                            <a:schemeClr val="tx1"/>
                          </a:solidFill>
                        </a:rPr>
                        <a:t>Marca, modelo y motor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Placa del vehículo o del motor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Tipo de mando (piñones, cadena o correa)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Observación directa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Arquitectura (OHV, SOHC, DOHC)</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Observación directa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¿Es motor interferente?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Manual o Autodata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Posición de calado definida por el fabricante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Manual o Autodata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Ubicación de cada marca (croquis o fotografía)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Observación y registro fotográfico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Útiles especiales necesarios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Manual o Autodata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Método y valor de tensado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Manual o Autodata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Pares de apriete de poleas y tapas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Manual o Autodata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Verificación: ¿coinciden las marcas tras dos vueltas?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Comprobación propia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5" name="Shape 2"/>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Esta ficha se completa antes de tocar el motor, no después. Rellenarla obliga a consultar el manual y a mirar el motor con atención, que es exactamente lo que evita los errores del trabajo.</a:t>
            </a:r>
            <a:endParaRPr lang="en-US" sz="1200" dirty="0"/>
          </a:p>
        </p:txBody>
      </p:sp>
      <p:sp>
        <p:nvSpPr>
          <p:cNvPr id="8" name="Text 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 producto colaborativo de la clase 3.2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montaje de la correa, paso a paso</a:t>
            </a:r>
            <a:endParaRPr lang="en-US" sz="3200" dirty="0"/>
          </a:p>
        </p:txBody>
      </p:sp>
      <p:sp>
        <p:nvSpPr>
          <p:cNvPr id="3" name="marco_figura"/>
          <p:cNvSpPr/>
          <p:nvPr/>
        </p:nvSpPr>
        <p:spPr>
          <a:xfrm>
            <a:off x="548640" y="1371600"/>
            <a:ext cx="365760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correa_montada.jpg">    </p:cNvPr>
          <p:cNvPicPr>
            <a:picLocks noChangeAspect="1"/>
          </p:cNvPicPr>
          <p:nvPr/>
        </p:nvPicPr>
        <p:blipFill>
          <a:blip r:embed="rId1"/>
          <a:srcRect l="0" r="0" t="0" b="0"/>
          <a:stretch/>
        </p:blipFill>
        <p:spPr>
          <a:xfrm>
            <a:off x="658368" y="1481328"/>
            <a:ext cx="3438144" cy="2340864"/>
          </a:xfrm>
          <a:prstGeom prst="rect">
            <a:avLst/>
          </a:prstGeom>
        </p:spPr>
      </p:pic>
      <p:sp>
        <p:nvSpPr>
          <p:cNvPr id="5" name="Text 2"/>
          <p:cNvSpPr txBox="1"/>
          <p:nvPr/>
        </p:nvSpPr>
        <p:spPr>
          <a:xfrm>
            <a:off x="658368" y="393192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40. </a:t>
            </a:r>
            <a:pPr indent="0" marL="0">
              <a:lnSpc>
                <a:spcPct val="102000"/>
              </a:lnSpc>
              <a:buNone/>
            </a:pPr>
            <a:r>
              <a:rPr lang="en-US" sz="1000" dirty="0">
                <a:solidFill>
                  <a:schemeClr val="accent4"/>
                </a:solidFill>
              </a:rPr>
              <a:t>Conjunto de distribución con la correa montada sobre sus poleas. Adaptado de Fernández, J. (s. f.). La distribución [diapositivas]. ISTS.</a:t>
            </a:r>
            <a:endParaRPr lang="en-US" sz="1000" dirty="0"/>
          </a:p>
        </p:txBody>
      </p:sp>
      <p:sp>
        <p:nvSpPr>
          <p:cNvPr id="6" name="marco_figura"/>
          <p:cNvSpPr/>
          <p:nvPr/>
        </p:nvSpPr>
        <p:spPr>
          <a:xfrm>
            <a:off x="4480560" y="1371600"/>
            <a:ext cx="3474720" cy="2944368"/>
          </a:xfrm>
          <a:prstGeom prst="roundRect">
            <a:avLst>
              <a:gd name="adj" fmla="val 1863"/>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d_correa_marcas.jpg">    </p:cNvPr>
          <p:cNvPicPr>
            <a:picLocks noChangeAspect="1"/>
          </p:cNvPicPr>
          <p:nvPr/>
        </p:nvPicPr>
        <p:blipFill>
          <a:blip r:embed="rId2"/>
          <a:srcRect l="0" r="0" t="0" b="0"/>
          <a:stretch/>
        </p:blipFill>
        <p:spPr>
          <a:xfrm>
            <a:off x="4590288" y="1481328"/>
            <a:ext cx="3255264" cy="2340864"/>
          </a:xfrm>
          <a:prstGeom prst="rect">
            <a:avLst/>
          </a:prstGeom>
        </p:spPr>
      </p:pic>
      <p:sp>
        <p:nvSpPr>
          <p:cNvPr id="8" name="Text 4"/>
          <p:cNvSpPr txBox="1"/>
          <p:nvPr/>
        </p:nvSpPr>
        <p:spPr>
          <a:xfrm>
            <a:off x="4590288" y="393192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41. </a:t>
            </a:r>
            <a:pPr indent="0" marL="0">
              <a:lnSpc>
                <a:spcPct val="102000"/>
              </a:lnSpc>
              <a:buNone/>
            </a:pPr>
            <a:r>
              <a:rPr lang="en-US" sz="1000" dirty="0">
                <a:solidFill>
                  <a:schemeClr val="accent4"/>
                </a:solidFill>
              </a:rPr>
              <a:t>Marcas de las poleas señaladas sobre el motor. Adaptado de Fernández, J. (s. f.). La distribución [diapositivas]. ISTS.</a:t>
            </a:r>
            <a:endParaRPr lang="en-US" sz="1000" dirty="0"/>
          </a:p>
        </p:txBody>
      </p:sp>
      <p:sp>
        <p:nvSpPr>
          <p:cNvPr id="9" name="marco_figura"/>
          <p:cNvSpPr/>
          <p:nvPr/>
        </p:nvSpPr>
        <p:spPr>
          <a:xfrm>
            <a:off x="8229600" y="1371600"/>
            <a:ext cx="3383280" cy="2944368"/>
          </a:xfrm>
          <a:prstGeom prst="roundRect">
            <a:avLst>
              <a:gd name="adj" fmla="val 1863"/>
            </a:avLst>
          </a:prstGeom>
          <a:solidFill>
            <a:schemeClr val="bg2"/>
          </a:solidFill>
          <a:ln w="12700">
            <a:solidFill>
              <a:schemeClr val="bg2"/>
            </a:solidFill>
            <a:prstDash val="solid"/>
          </a:ln>
        </p:spPr>
        <p:txBody>
          <a:bodyPr/>
          <a:p/>
        </p:txBody>
      </p:sp>
      <p:pic>
        <p:nvPicPr>
          <p:cNvPr id="10" name="figura" descr="/tmp/claude-0/-home-claude/ae7ea666-008e-5687-a756-06b9100bd0c6/scratchpad/sfm/u3/media/d_montaje_correa.jpg">    </p:cNvPr>
          <p:cNvPicPr>
            <a:picLocks noChangeAspect="1"/>
          </p:cNvPicPr>
          <p:nvPr/>
        </p:nvPicPr>
        <p:blipFill>
          <a:blip r:embed="rId3"/>
          <a:srcRect l="0" r="0" t="0" b="0"/>
          <a:stretch/>
        </p:blipFill>
        <p:spPr>
          <a:xfrm>
            <a:off x="8339328" y="1481328"/>
            <a:ext cx="3163824" cy="2340864"/>
          </a:xfrm>
          <a:prstGeom prst="rect">
            <a:avLst/>
          </a:prstGeom>
        </p:spPr>
      </p:pic>
      <p:sp>
        <p:nvSpPr>
          <p:cNvPr id="11" name="Text 6"/>
          <p:cNvSpPr txBox="1"/>
          <p:nvPr/>
        </p:nvSpPr>
        <p:spPr>
          <a:xfrm>
            <a:off x="8339328" y="393192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42. </a:t>
            </a:r>
            <a:pPr indent="0" marL="0">
              <a:lnSpc>
                <a:spcPct val="102000"/>
              </a:lnSpc>
              <a:buNone/>
            </a:pPr>
            <a:r>
              <a:rPr lang="en-US" sz="1000" dirty="0">
                <a:solidFill>
                  <a:schemeClr val="accent4"/>
                </a:solidFill>
              </a:rPr>
              <a:t>Verificación del conjunto tras el montaje. Adaptado de Fernández, J. (s. f.). La distribución [diapositivas]. ISTS.</a:t>
            </a:r>
            <a:endParaRPr lang="en-US" sz="1000" dirty="0"/>
          </a:p>
        </p:txBody>
      </p:sp>
      <p:sp>
        <p:nvSpPr>
          <p:cNvPr id="12" name="Shape 7"/>
          <p:cNvSpPr/>
          <p:nvPr/>
        </p:nvSpPr>
        <p:spPr>
          <a:xfrm>
            <a:off x="548640" y="3986784"/>
            <a:ext cx="384048" cy="384048"/>
          </a:xfrm>
          <a:prstGeom prst="ellipse">
            <a:avLst/>
          </a:prstGeom>
          <a:solidFill>
            <a:schemeClr val="accent2"/>
          </a:solidFill>
          <a:ln w="12700">
            <a:solidFill>
              <a:schemeClr val="accent2"/>
            </a:solidFill>
            <a:prstDash val="solid"/>
          </a:ln>
        </p:spPr>
        <p:txBody>
          <a:bodyPr/>
          <a:p/>
        </p:txBody>
      </p:sp>
      <p:sp>
        <p:nvSpPr>
          <p:cNvPr id="13" name="Text 8"/>
          <p:cNvSpPr txBox="1"/>
          <p:nvPr/>
        </p:nvSpPr>
        <p:spPr>
          <a:xfrm>
            <a:off x="548640" y="3986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9"/>
          <p:cNvSpPr txBox="1"/>
          <p:nvPr/>
        </p:nvSpPr>
        <p:spPr>
          <a:xfrm>
            <a:off x="1078992" y="3950208"/>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1 — Comprobar que el motor sigue en calado. </a:t>
            </a:r>
            <a:pPr indent="0" marL="0">
              <a:lnSpc>
                <a:spcPct val="106000"/>
              </a:lnSpc>
              <a:buNone/>
            </a:pPr>
            <a:r>
              <a:rPr lang="en-US" sz="1150" dirty="0">
                <a:solidFill>
                  <a:schemeClr val="accent4"/>
                </a:solidFill>
              </a:rPr>
              <a:t>antes de colocar la correa, verificar que ninguna polea se ha movido durante el desmontaje</a:t>
            </a:r>
            <a:endParaRPr lang="en-US" sz="1150" dirty="0"/>
          </a:p>
        </p:txBody>
      </p:sp>
      <p:sp>
        <p:nvSpPr>
          <p:cNvPr id="15" name="Shape 10"/>
          <p:cNvSpPr/>
          <p:nvPr/>
        </p:nvSpPr>
        <p:spPr>
          <a:xfrm>
            <a:off x="548640" y="4323283"/>
            <a:ext cx="384048" cy="384048"/>
          </a:xfrm>
          <a:prstGeom prst="ellipse">
            <a:avLst/>
          </a:prstGeom>
          <a:solidFill>
            <a:schemeClr val="accent2"/>
          </a:solidFill>
          <a:ln w="12700">
            <a:solidFill>
              <a:schemeClr val="accent2"/>
            </a:solidFill>
            <a:prstDash val="solid"/>
          </a:ln>
        </p:spPr>
        <p:txBody>
          <a:bodyPr/>
          <a:p/>
        </p:txBody>
      </p:sp>
      <p:sp>
        <p:nvSpPr>
          <p:cNvPr id="16" name="Text 11"/>
          <p:cNvSpPr txBox="1"/>
          <p:nvPr/>
        </p:nvSpPr>
        <p:spPr>
          <a:xfrm>
            <a:off x="548640" y="4323283"/>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2"/>
          <p:cNvSpPr txBox="1"/>
          <p:nvPr/>
        </p:nvSpPr>
        <p:spPr>
          <a:xfrm>
            <a:off x="1078992" y="4286707"/>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2 — Empezar por el piñón del cigüeñal. </a:t>
            </a:r>
            <a:pPr indent="0" marL="0">
              <a:lnSpc>
                <a:spcPct val="106000"/>
              </a:lnSpc>
              <a:buNone/>
            </a:pPr>
            <a:r>
              <a:rPr lang="en-US" sz="1150" dirty="0">
                <a:solidFill>
                  <a:schemeClr val="accent4"/>
                </a:solidFill>
              </a:rPr>
              <a:t>y recorrer el camino manteniendo siempre tenso el ramal que no lleva el tensor</a:t>
            </a:r>
            <a:endParaRPr lang="en-US" sz="1150" dirty="0"/>
          </a:p>
        </p:txBody>
      </p:sp>
      <p:sp>
        <p:nvSpPr>
          <p:cNvPr id="18" name="Shape 13"/>
          <p:cNvSpPr/>
          <p:nvPr/>
        </p:nvSpPr>
        <p:spPr>
          <a:xfrm>
            <a:off x="548640" y="4659782"/>
            <a:ext cx="384048" cy="384048"/>
          </a:xfrm>
          <a:prstGeom prst="ellipse">
            <a:avLst/>
          </a:prstGeom>
          <a:solidFill>
            <a:schemeClr val="accent2"/>
          </a:solidFill>
          <a:ln w="12700">
            <a:solidFill>
              <a:schemeClr val="accent2"/>
            </a:solidFill>
            <a:prstDash val="solid"/>
          </a:ln>
        </p:spPr>
        <p:txBody>
          <a:bodyPr/>
          <a:p/>
        </p:txBody>
      </p:sp>
      <p:sp>
        <p:nvSpPr>
          <p:cNvPr id="19" name="Text 14"/>
          <p:cNvSpPr txBox="1"/>
          <p:nvPr/>
        </p:nvSpPr>
        <p:spPr>
          <a:xfrm>
            <a:off x="548640" y="465978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5"/>
          <p:cNvSpPr txBox="1"/>
          <p:nvPr/>
        </p:nvSpPr>
        <p:spPr>
          <a:xfrm>
            <a:off x="1078992" y="4623206"/>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3 — Dejar el ramal flojo para el final. </a:t>
            </a:r>
            <a:pPr indent="0" marL="0">
              <a:lnSpc>
                <a:spcPct val="106000"/>
              </a:lnSpc>
              <a:buNone/>
            </a:pPr>
            <a:r>
              <a:rPr lang="en-US" sz="1150" dirty="0">
                <a:solidFill>
                  <a:schemeClr val="accent4"/>
                </a:solidFill>
              </a:rPr>
              <a:t>el tensor se encarga de recoger esa holgura; si se reparte la holgura entre los dos ramales, el calado se desplaza</a:t>
            </a:r>
            <a:endParaRPr lang="en-US" sz="1150" dirty="0"/>
          </a:p>
        </p:txBody>
      </p:sp>
      <p:sp>
        <p:nvSpPr>
          <p:cNvPr id="21" name="Shape 16"/>
          <p:cNvSpPr/>
          <p:nvPr/>
        </p:nvSpPr>
        <p:spPr>
          <a:xfrm>
            <a:off x="548640" y="4996282"/>
            <a:ext cx="384048" cy="384048"/>
          </a:xfrm>
          <a:prstGeom prst="ellipse">
            <a:avLst/>
          </a:prstGeom>
          <a:solidFill>
            <a:schemeClr val="accent2"/>
          </a:solidFill>
          <a:ln w="12700">
            <a:solidFill>
              <a:schemeClr val="accent2"/>
            </a:solidFill>
            <a:prstDash val="solid"/>
          </a:ln>
        </p:spPr>
        <p:txBody>
          <a:bodyPr/>
          <a:p/>
        </p:txBody>
      </p:sp>
      <p:sp>
        <p:nvSpPr>
          <p:cNvPr id="22" name="Text 17"/>
          <p:cNvSpPr txBox="1"/>
          <p:nvPr/>
        </p:nvSpPr>
        <p:spPr>
          <a:xfrm>
            <a:off x="548640" y="499628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8"/>
          <p:cNvSpPr txBox="1"/>
          <p:nvPr/>
        </p:nvSpPr>
        <p:spPr>
          <a:xfrm>
            <a:off x="1078992" y="4959706"/>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4 — Liberar el tensor y dejar que actúe. </a:t>
            </a:r>
            <a:pPr indent="0" marL="0">
              <a:lnSpc>
                <a:spcPct val="106000"/>
              </a:lnSpc>
              <a:buNone/>
            </a:pPr>
            <a:r>
              <a:rPr lang="en-US" sz="1150" dirty="0">
                <a:solidFill>
                  <a:schemeClr val="accent4"/>
                </a:solidFill>
              </a:rPr>
              <a:t>según el método del fabricante; comprobar que su indicador queda dentro del rango marcado</a:t>
            </a:r>
            <a:endParaRPr lang="en-US" sz="1150" dirty="0"/>
          </a:p>
        </p:txBody>
      </p:sp>
      <p:sp>
        <p:nvSpPr>
          <p:cNvPr id="24" name="Shape 19"/>
          <p:cNvSpPr/>
          <p:nvPr/>
        </p:nvSpPr>
        <p:spPr>
          <a:xfrm>
            <a:off x="548640" y="5332781"/>
            <a:ext cx="384048" cy="384048"/>
          </a:xfrm>
          <a:prstGeom prst="ellipse">
            <a:avLst/>
          </a:prstGeom>
          <a:solidFill>
            <a:schemeClr val="accent2"/>
          </a:solidFill>
          <a:ln w="12700">
            <a:solidFill>
              <a:schemeClr val="accent2"/>
            </a:solidFill>
            <a:prstDash val="solid"/>
          </a:ln>
        </p:spPr>
        <p:txBody>
          <a:bodyPr/>
          <a:p/>
        </p:txBody>
      </p:sp>
      <p:sp>
        <p:nvSpPr>
          <p:cNvPr id="25" name="Text 20"/>
          <p:cNvSpPr txBox="1"/>
          <p:nvPr/>
        </p:nvSpPr>
        <p:spPr>
          <a:xfrm>
            <a:off x="548640" y="5332781"/>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6" name="Text 21"/>
          <p:cNvSpPr txBox="1"/>
          <p:nvPr/>
        </p:nvSpPr>
        <p:spPr>
          <a:xfrm>
            <a:off x="1078992" y="5296205"/>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5 — Retirar los útiles de bloqueo. </a:t>
            </a:r>
            <a:pPr indent="0" marL="0">
              <a:lnSpc>
                <a:spcPct val="106000"/>
              </a:lnSpc>
              <a:buNone/>
            </a:pPr>
            <a:r>
              <a:rPr lang="en-US" sz="1150" dirty="0">
                <a:solidFill>
                  <a:schemeClr val="accent4"/>
                </a:solidFill>
              </a:rPr>
              <a:t>ahora, y no antes; comprobar que no queda ninguno puesto antes de girar nada</a:t>
            </a:r>
            <a:endParaRPr lang="en-US" sz="1150" dirty="0"/>
          </a:p>
        </p:txBody>
      </p:sp>
      <p:sp>
        <p:nvSpPr>
          <p:cNvPr id="27" name="Shape 22"/>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28" name="Text 23"/>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9" name="Text 24"/>
          <p:cNvSpPr txBox="1"/>
          <p:nvPr/>
        </p:nvSpPr>
        <p:spPr>
          <a:xfrm>
            <a:off x="1078992" y="5632704"/>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6 — Girar dos vueltas a mano y verificar. </a:t>
            </a:r>
            <a:pPr indent="0" marL="0">
              <a:lnSpc>
                <a:spcPct val="106000"/>
              </a:lnSpc>
              <a:buNone/>
            </a:pPr>
            <a:r>
              <a:rPr lang="en-US" sz="1150" dirty="0">
                <a:solidFill>
                  <a:schemeClr val="accent4"/>
                </a:solidFill>
              </a:rPr>
              <a:t>con llave en el tornillo del cigüeñal y en el sentido de giro del motor; todas las marcas deben volver a coincidir</a:t>
            </a:r>
            <a:endParaRPr lang="en-US" sz="1150" dirty="0"/>
          </a:p>
        </p:txBody>
      </p:sp>
      <p:sp>
        <p:nvSpPr>
          <p:cNvPr id="30"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clase 3.2</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Poner a punto es una sola cosa. </a:t>
            </a:r>
            <a:pPr indent="0" marL="0">
              <a:lnSpc>
                <a:spcPct val="106000"/>
              </a:lnSpc>
              <a:buNone/>
            </a:pPr>
            <a:r>
              <a:rPr lang="en-US" sz="1250" dirty="0">
                <a:solidFill>
                  <a:schemeClr val="accent4"/>
                </a:solidFill>
              </a:rPr>
              <a:t>dejar el árbol de levas en la posición angular correcta respecto al cigüeñal; todo lo demás es trabajo de acceso</a:t>
            </a:r>
            <a:endParaRPr lang="en-US" sz="1250" dirty="0"/>
          </a:p>
        </p:txBody>
      </p:sp>
      <p:sp>
        <p:nvSpPr>
          <p:cNvPr id="6" name="Shape 4"/>
          <p:cNvSpPr/>
          <p:nvPr/>
        </p:nvSpPr>
        <p:spPr>
          <a:xfrm>
            <a:off x="548640" y="211226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75688"/>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principio se domina, el detalle se consulta. </a:t>
            </a:r>
            <a:pPr indent="0" marL="0">
              <a:lnSpc>
                <a:spcPct val="106000"/>
              </a:lnSpc>
              <a:buNone/>
            </a:pPr>
            <a:r>
              <a:rPr lang="en-US" sz="1250" dirty="0">
                <a:solidFill>
                  <a:schemeClr val="accent4"/>
                </a:solidFill>
              </a:rPr>
              <a:t>nadie memoriza el procedimiento de todos los motores; lo que se domina es qué hay que conseguir y cómo se verifica</a:t>
            </a:r>
            <a:endParaRPr lang="en-US" sz="1250" dirty="0"/>
          </a:p>
        </p:txBody>
      </p:sp>
      <p:sp>
        <p:nvSpPr>
          <p:cNvPr id="9" name="Shape 7"/>
          <p:cNvSpPr/>
          <p:nvPr/>
        </p:nvSpPr>
        <p:spPr>
          <a:xfrm>
            <a:off x="548640" y="27706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34056"/>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Las marcas de los piñones son las fiables. </a:t>
            </a:r>
            <a:pPr indent="0" marL="0">
              <a:lnSpc>
                <a:spcPct val="106000"/>
              </a:lnSpc>
              <a:buNone/>
            </a:pPr>
            <a:r>
              <a:rPr lang="en-US" sz="1250" dirty="0">
                <a:solidFill>
                  <a:schemeClr val="accent4"/>
                </a:solidFill>
              </a:rPr>
              <a:t>las de la correa o la cadena nuevas sirven solo para el montaje y dejan de coincidir después; y una polea puede llevar varias marcas</a:t>
            </a:r>
            <a:endParaRPr lang="en-US" sz="1250" dirty="0"/>
          </a:p>
        </p:txBody>
      </p:sp>
      <p:sp>
        <p:nvSpPr>
          <p:cNvPr id="12" name="Shape 10"/>
          <p:cNvSpPr/>
          <p:nvPr/>
        </p:nvSpPr>
        <p:spPr>
          <a:xfrm>
            <a:off x="548640" y="342900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392424"/>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Los útiles de bloqueo no se improvisan. </a:t>
            </a:r>
            <a:pPr indent="0" marL="0">
              <a:lnSpc>
                <a:spcPct val="106000"/>
              </a:lnSpc>
              <a:buNone/>
            </a:pPr>
            <a:r>
              <a:rPr lang="en-US" sz="1250" dirty="0">
                <a:solidFill>
                  <a:schemeClr val="accent4"/>
                </a:solidFill>
              </a:rPr>
              <a:t>en muchos motores modernos definen la posición de calado, y girar el motor con uno puesto destruye el bloque o el volante</a:t>
            </a:r>
            <a:endParaRPr lang="en-US" sz="1250" dirty="0"/>
          </a:p>
        </p:txBody>
      </p:sp>
      <p:sp>
        <p:nvSpPr>
          <p:cNvPr id="15" name="Shape 13"/>
          <p:cNvSpPr/>
          <p:nvPr/>
        </p:nvSpPr>
        <p:spPr>
          <a:xfrm>
            <a:off x="548640" y="4087368"/>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4050792"/>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holgura va toda al ramal del tensor. </a:t>
            </a:r>
            <a:pPr indent="0" marL="0">
              <a:lnSpc>
                <a:spcPct val="106000"/>
              </a:lnSpc>
              <a:buNone/>
            </a:pPr>
            <a:r>
              <a:rPr lang="en-US" sz="1250" dirty="0">
                <a:solidFill>
                  <a:schemeClr val="accent4"/>
                </a:solidFill>
              </a:rPr>
              <a:t>repartirla entre los dos ramales desplaza el calado al tensar, aunque las marcas pareciesen bien puestas</a:t>
            </a:r>
            <a:endParaRPr lang="en-US" sz="1250" dirty="0"/>
          </a:p>
        </p:txBody>
      </p:sp>
      <p:sp>
        <p:nvSpPr>
          <p:cNvPr id="18" name="Shape 16"/>
          <p:cNvSpPr/>
          <p:nvPr/>
        </p:nvSpPr>
        <p:spPr>
          <a:xfrm>
            <a:off x="548640" y="474573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470916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Dos vueltas antes de arrancar. </a:t>
            </a:r>
            <a:pPr indent="0" marL="0">
              <a:lnSpc>
                <a:spcPct val="106000"/>
              </a:lnSpc>
              <a:buNone/>
            </a:pPr>
            <a:r>
              <a:rPr lang="en-US" sz="1250" dirty="0">
                <a:solidFill>
                  <a:schemeClr val="accent4"/>
                </a:solidFill>
              </a:rPr>
              <a:t>es la única verificación que existe; en un motor interferente, saltársela se paga con las válvulas</a:t>
            </a:r>
            <a:endParaRPr lang="en-US" sz="1250" dirty="0"/>
          </a:p>
        </p:txBody>
      </p:sp>
      <p:sp>
        <p:nvSpPr>
          <p:cNvPr id="21" name="Shape 19"/>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2" name="Shape 20"/>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Pregunta de autoevaluación: tras montar una correa nueva, las marcas pintadas de la correa ya no coinciden con las de las poleas después de girar el motor, pero las marcas de las poleas sí coinciden entre sí. ¿Está bien o está mal el trabajo?</a:t>
            </a:r>
            <a:endParaRPr lang="en-US" sz="1250" dirty="0"/>
          </a:p>
        </p:txBody>
      </p:sp>
      <p:sp>
        <p:nvSpPr>
          <p:cNvPr id="25"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cierre del conocimiento 2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se sustituye junto con la distribución</a:t>
            </a:r>
            <a:endParaRPr lang="en-US" sz="3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114800"/>
                <a:gridCol w="4206240"/>
              </a:tblGrid>
              <a:tr h="457200">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Por qué se sustituye a la vez</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pasa si no se hace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50" b="1" dirty="0">
                          <a:solidFill>
                            <a:schemeClr val="tx1"/>
                          </a:solidFill>
                        </a:rPr>
                        <a:t>Rodillo tensor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Su rodamiento tiene la misma vida que la correa y ya ha trabajado todo ese tiempo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Si se agarrota, destruye la correa nueva en segundos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Rodillos guía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Mismo razonamiento: rodamientos con el mismo kilometraje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Mismo riesgo, y además producen ruido al deteriorarse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Bomba de agua, si la mueve la correa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El acceso ya está abierto y su vida es comparable; sustituirla después obliga a repetir todo el trabajo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Si falla a los pocos meses, hay que desmontar la distribución otra vez</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Retenes de cigüeñal y de árbol de levas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Una fuga de aceite sobre la correa nueva la destruye: el aceite ataca el caucho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Correa contaminada y rotura prematura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93192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13766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1376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233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Sustituir solo la correa y dejar los rodillos viejos es la falsa economía más cara del taller: cuando un rodamiento se agarrota, la correa nueva se destruye y, con ella, el motor si es interferente.</a:t>
            </a:r>
            <a:endParaRPr lang="en-US" sz="1450" dirty="0"/>
          </a:p>
        </p:txBody>
      </p:sp>
      <p:sp>
        <p:nvSpPr>
          <p:cNvPr id="8" name="Shape 5"/>
          <p:cNvSpPr/>
          <p:nvPr/>
        </p:nvSpPr>
        <p:spPr>
          <a:xfrm>
            <a:off x="548640" y="492861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928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89204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comprueban los rodillos. </a:t>
            </a:r>
            <a:pPr indent="0" marL="0">
              <a:lnSpc>
                <a:spcPct val="106000"/>
              </a:lnSpc>
              <a:buNone/>
            </a:pPr>
            <a:r>
              <a:rPr lang="en-US" sz="1200" dirty="0">
                <a:solidFill>
                  <a:schemeClr val="accent4"/>
                </a:solidFill>
              </a:rPr>
              <a:t>con la correa retirada, girarlos a mano: deben girar suaves, silenciosos y sin juego lateral perceptible</a:t>
            </a:r>
            <a:endParaRPr lang="en-US" sz="1200" dirty="0"/>
          </a:p>
        </p:txBody>
      </p:sp>
      <p:sp>
        <p:nvSpPr>
          <p:cNvPr id="11" name="Shape 8"/>
          <p:cNvSpPr/>
          <p:nvPr/>
        </p:nvSpPr>
        <p:spPr>
          <a:xfrm>
            <a:off x="548640" y="526694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266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23036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detecta una fuga de retén. </a:t>
            </a:r>
            <a:pPr indent="0" marL="0">
              <a:lnSpc>
                <a:spcPct val="106000"/>
              </a:lnSpc>
              <a:buNone/>
            </a:pPr>
            <a:r>
              <a:rPr lang="en-US" sz="1200" dirty="0">
                <a:solidFill>
                  <a:schemeClr val="accent4"/>
                </a:solidFill>
              </a:rPr>
              <a:t>restos de aceite en la cara interna de la cubierta de distribución y en la propia correa, que aparece brillante y algo hinchada</a:t>
            </a:r>
            <a:endParaRPr lang="en-US" sz="1200" dirty="0"/>
          </a:p>
        </p:txBody>
      </p:sp>
      <p:sp>
        <p:nvSpPr>
          <p:cNvPr id="14" name="Shape 11"/>
          <p:cNvSpPr/>
          <p:nvPr/>
        </p:nvSpPr>
        <p:spPr>
          <a:xfrm>
            <a:off x="548640" y="560527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605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56869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presenta al cliente. </a:t>
            </a:r>
            <a:pPr indent="0" marL="0">
              <a:lnSpc>
                <a:spcPct val="106000"/>
              </a:lnSpc>
              <a:buNone/>
            </a:pPr>
            <a:r>
              <a:rPr lang="en-US" sz="1200" dirty="0">
                <a:solidFill>
                  <a:schemeClr val="accent4"/>
                </a:solidFill>
              </a:rPr>
              <a:t>como un conjunto, no como piezas sueltas: el kit de distribución con sus rodillos y, si procede, la bomba de agua</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Cascada de piñones y mando por engranajes</a:t>
            </a:r>
            <a:endParaRPr lang="en-US" sz="3200" dirty="0"/>
          </a:p>
        </p:txBody>
      </p:sp>
      <p:sp>
        <p:nvSpPr>
          <p:cNvPr id="3" name="marco_figura"/>
          <p:cNvSpPr/>
          <p:nvPr/>
        </p:nvSpPr>
        <p:spPr>
          <a:xfrm>
            <a:off x="548640" y="1371600"/>
            <a:ext cx="475488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piniones.jpg">    </p:cNvPr>
          <p:cNvPicPr>
            <a:picLocks noChangeAspect="1"/>
          </p:cNvPicPr>
          <p:nvPr/>
        </p:nvPicPr>
        <p:blipFill>
          <a:blip r:embed="rId1"/>
          <a:srcRect l="0" r="0" t="0" b="0"/>
          <a:stretch/>
        </p:blipFill>
        <p:spPr>
          <a:xfrm>
            <a:off x="658368" y="1481328"/>
            <a:ext cx="4535424" cy="2432304"/>
          </a:xfrm>
          <a:prstGeom prst="rect">
            <a:avLst/>
          </a:prstGeom>
        </p:spPr>
      </p:pic>
      <p:sp>
        <p:nvSpPr>
          <p:cNvPr id="5" name="Text 2"/>
          <p:cNvSpPr txBox="1"/>
          <p:nvPr/>
        </p:nvSpPr>
        <p:spPr>
          <a:xfrm>
            <a:off x="658368" y="402336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44. </a:t>
            </a:r>
            <a:pPr indent="0" marL="0">
              <a:lnSpc>
                <a:spcPct val="102000"/>
              </a:lnSpc>
              <a:buNone/>
            </a:pPr>
            <a:r>
              <a:rPr lang="en-US" sz="1000" dirty="0">
                <a:solidFill>
                  <a:schemeClr val="accent4"/>
                </a:solidFill>
              </a:rPr>
              <a:t>Cascada de engranajes de mando de la distribución. Adaptado de Fernández, J. (s. f.). La distribución [diapositivas]. ISTS.</a:t>
            </a:r>
            <a:endParaRPr lang="en-US" sz="1000" dirty="0"/>
          </a:p>
        </p:txBody>
      </p:sp>
      <p:sp>
        <p:nvSpPr>
          <p:cNvPr id="6" name="Shape 3"/>
          <p:cNvSpPr/>
          <p:nvPr/>
        </p:nvSpPr>
        <p:spPr>
          <a:xfrm>
            <a:off x="566928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6692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199632" y="1463040"/>
            <a:ext cx="541324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Cuándo se usa. </a:t>
            </a:r>
            <a:pPr indent="0" marL="0">
              <a:lnSpc>
                <a:spcPct val="106000"/>
              </a:lnSpc>
              <a:buNone/>
            </a:pPr>
            <a:r>
              <a:rPr lang="en-US" sz="1100" dirty="0">
                <a:solidFill>
                  <a:schemeClr val="accent4"/>
                </a:solidFill>
              </a:rPr>
              <a:t>cuando se quiere la máxima fiabilidad y la distancia entre ejes es moderada; típico en motores industriales y diésel de trabajo</a:t>
            </a:r>
            <a:endParaRPr lang="en-US" sz="1100" dirty="0"/>
          </a:p>
        </p:txBody>
      </p:sp>
      <p:sp>
        <p:nvSpPr>
          <p:cNvPr id="9" name="Shape 6"/>
          <p:cNvSpPr/>
          <p:nvPr/>
        </p:nvSpPr>
        <p:spPr>
          <a:xfrm>
            <a:off x="5669280" y="2048256"/>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669280" y="2048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199632" y="2011680"/>
            <a:ext cx="541324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Qué arrastra además de la distribución. </a:t>
            </a:r>
            <a:pPr indent="0" marL="0">
              <a:lnSpc>
                <a:spcPct val="106000"/>
              </a:lnSpc>
              <a:buNone/>
            </a:pPr>
            <a:r>
              <a:rPr lang="en-US" sz="1100" dirty="0">
                <a:solidFill>
                  <a:schemeClr val="accent4"/>
                </a:solidFill>
              </a:rPr>
              <a:t>en muchos diésel, la misma cascada mueve la bomba de inyección y la bomba de aceite, de modo que su calado afecta a varios sistemas</a:t>
            </a:r>
            <a:endParaRPr lang="en-US" sz="1100" dirty="0"/>
          </a:p>
        </p:txBody>
      </p:sp>
      <p:sp>
        <p:nvSpPr>
          <p:cNvPr id="12" name="Shape 9"/>
          <p:cNvSpPr/>
          <p:nvPr/>
        </p:nvSpPr>
        <p:spPr>
          <a:xfrm>
            <a:off x="5669280" y="259689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6692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199632" y="2560320"/>
            <a:ext cx="541324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Cómo se cala. </a:t>
            </a:r>
            <a:pPr indent="0" marL="0">
              <a:lnSpc>
                <a:spcPct val="106000"/>
              </a:lnSpc>
              <a:buNone/>
            </a:pPr>
            <a:r>
              <a:rPr lang="en-US" sz="1100" dirty="0">
                <a:solidFill>
                  <a:schemeClr val="accent4"/>
                </a:solidFill>
              </a:rPr>
              <a:t>alineando las marcas grabadas en los dientes de cada piñón con las de su piñón vecino, en la secuencia que indica el manual</a:t>
            </a:r>
            <a:endParaRPr lang="en-US" sz="1100" dirty="0"/>
          </a:p>
        </p:txBody>
      </p:sp>
      <p:sp>
        <p:nvSpPr>
          <p:cNvPr id="15" name="Shape 12"/>
          <p:cNvSpPr/>
          <p:nvPr/>
        </p:nvSpPr>
        <p:spPr>
          <a:xfrm>
            <a:off x="5669280" y="3145536"/>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669280" y="3145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199632" y="3108960"/>
            <a:ext cx="541324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Su gran virtud. </a:t>
            </a:r>
            <a:pPr indent="0" marL="0">
              <a:lnSpc>
                <a:spcPct val="106000"/>
              </a:lnSpc>
              <a:buNone/>
            </a:pPr>
            <a:r>
              <a:rPr lang="en-US" sz="1100" dirty="0">
                <a:solidFill>
                  <a:schemeClr val="accent4"/>
                </a:solidFill>
              </a:rPr>
              <a:t>no se alarga, no se rompe y no necesita mantenimiento: dura lo que el motor</a:t>
            </a:r>
            <a:endParaRPr lang="en-US" sz="1100" dirty="0"/>
          </a:p>
        </p:txBody>
      </p:sp>
      <p:sp>
        <p:nvSpPr>
          <p:cNvPr id="18" name="Shape 15"/>
          <p:cNvSpPr/>
          <p:nvPr/>
        </p:nvSpPr>
        <p:spPr>
          <a:xfrm>
            <a:off x="5669280" y="3694176"/>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669280" y="3694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6199632" y="3657600"/>
            <a:ext cx="541324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Su inconveniente. </a:t>
            </a:r>
            <a:pPr indent="0" marL="0">
              <a:lnSpc>
                <a:spcPct val="106000"/>
              </a:lnSpc>
              <a:buNone/>
            </a:pPr>
            <a:r>
              <a:rPr lang="en-US" sz="1100" dirty="0">
                <a:solidFill>
                  <a:schemeClr val="accent4"/>
                </a:solidFill>
              </a:rPr>
              <a:t>ruido de engrane, necesidad de lubricación permanente y un juego entre dientes que crece con el desgaste</a:t>
            </a:r>
            <a:endParaRPr lang="en-US" sz="1100" dirty="0"/>
          </a:p>
        </p:txBody>
      </p:sp>
      <p:sp>
        <p:nvSpPr>
          <p:cNvPr id="21" name="Shape 18"/>
          <p:cNvSpPr/>
          <p:nvPr/>
        </p:nvSpPr>
        <p:spPr>
          <a:xfrm>
            <a:off x="548640" y="4206240"/>
            <a:ext cx="11064240" cy="731520"/>
          </a:xfrm>
          <a:prstGeom prst="roundRect">
            <a:avLst>
              <a:gd name="adj" fmla="val 7500"/>
            </a:avLst>
          </a:prstGeom>
          <a:solidFill>
            <a:schemeClr val="bg2"/>
          </a:solidFill>
          <a:ln w="12700">
            <a:solidFill>
              <a:schemeClr val="bg2"/>
            </a:solidFill>
            <a:prstDash val="solid"/>
          </a:ln>
        </p:spPr>
        <p:txBody>
          <a:bodyPr/>
          <a:p/>
        </p:txBody>
      </p:sp>
      <p:sp>
        <p:nvSpPr>
          <p:cNvPr id="22" name="Shape 19"/>
          <p:cNvSpPr/>
          <p:nvPr/>
        </p:nvSpPr>
        <p:spPr>
          <a:xfrm>
            <a:off x="786384" y="4389120"/>
            <a:ext cx="365760" cy="365760"/>
          </a:xfrm>
          <a:prstGeom prst="ellipse">
            <a:avLst/>
          </a:prstGeom>
          <a:solidFill>
            <a:schemeClr val="accent1"/>
          </a:solidFill>
          <a:ln w="12700">
            <a:solidFill>
              <a:schemeClr val="accent1"/>
            </a:solidFill>
            <a:prstDash val="solid"/>
          </a:ln>
        </p:spPr>
        <p:txBody>
          <a:bodyPr/>
          <a:p/>
        </p:txBody>
      </p:sp>
      <p:sp>
        <p:nvSpPr>
          <p:cNvPr id="23" name="Text 20"/>
          <p:cNvSpPr txBox="1"/>
          <p:nvPr/>
        </p:nvSpPr>
        <p:spPr>
          <a:xfrm>
            <a:off x="786384"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1"/>
          <p:cNvSpPr txBox="1"/>
          <p:nvPr/>
        </p:nvSpPr>
        <p:spPr>
          <a:xfrm>
            <a:off x="1298448" y="429768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En un mando por cascada, calar mal un piñón intermedio desincroniza a la vez la distribución y la inyección. Es un trabajo en el que un error no afecta a un sistema, sino a varios.</a:t>
            </a:r>
            <a:endParaRPr lang="en-US" sz="1450" dirty="0"/>
          </a:p>
        </p:txBody>
      </p:sp>
      <p:sp>
        <p:nvSpPr>
          <p:cNvPr id="25" name="Text 22"/>
          <p:cNvSpPr txBox="1"/>
          <p:nvPr/>
        </p:nvSpPr>
        <p:spPr>
          <a:xfrm>
            <a:off x="548640" y="5074920"/>
            <a:ext cx="11064240" cy="548640"/>
          </a:xfrm>
          <a:prstGeom prst="rect">
            <a:avLst/>
          </a:prstGeom>
          <a:noFill/>
          <a:ln/>
        </p:spPr>
        <p:txBody>
          <a:bodyPr wrap="square" lIns="0" tIns="0" rIns="0" bIns="0" rtlCol="0" anchor="t"/>
          <a:lstStyle/>
          <a:p>
            <a:pPr algn="l" indent="0" marL="0">
              <a:lnSpc>
                <a:spcPct val="110000"/>
              </a:lnSpc>
              <a:buNone/>
            </a:pPr>
            <a:r>
              <a:rPr lang="en-US" sz="1200" dirty="0">
                <a:solidFill>
                  <a:schemeClr val="accent4"/>
                </a:solidFill>
              </a:rPr>
              <a:t>Comprobación del juego entre dientes:  se mide con comparador apoyado en un diente, moviendo el piñón a mano en ambos sentidos sin girar el otro. El valor máximo lo da el manual, y un juego excesivo introduce imprecisión en el calado.</a:t>
            </a:r>
            <a:endParaRPr lang="en-US" sz="1200" dirty="0"/>
          </a:p>
        </p:txBody>
      </p:sp>
      <p:sp>
        <p:nvSpPr>
          <p:cNvPr id="26"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 · despiece y armado de la distribución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Motores en V: dos bancadas que sincronizar</a:t>
            </a:r>
            <a:endParaRPr lang="en-US" sz="3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114800"/>
                <a:gridCol w="4206240"/>
              </a:tblGrid>
              <a:tr h="457200">
                <a:tc>
                  <a:txBody>
                    <a:bodyPr/>
                    <a:lstStyle/>
                    <a:p>
                      <a:pPr indent="0" marL="0">
                        <a:buNone/>
                      </a:pPr>
                      <a:r>
                        <a:rPr lang="en-US" sz="1300" b="1" dirty="0">
                          <a:solidFill>
                            <a:srgbClr val="FFFFFF"/>
                          </a:solidFill>
                        </a:rPr>
                        <a:t>Dificultad añadida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 qué consiste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resuelve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50" b="1" dirty="0">
                          <a:solidFill>
                            <a:schemeClr val="tx1"/>
                          </a:solidFill>
                        </a:rPr>
                        <a:t>Dos árboles o cuatro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Cada bancada tiene su propio árbol, o dos si es DOHC; todos deben quedar sincronizados con el mismo cigüeñal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Procedimiento del manual, bancada por bancada, con sus útiles de bloqueo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Dos cadenas o dos correas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Frecuentemente hay una transmisión independiente por bancada, cada una con su tensor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Se calan y se tensan por separado, en el orden que indica el manual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Marcas distintas por bancada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Las referencias de la bancada izquierda y la derecha no son simétricas ni intercambiables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Identificar cada una antes de desmontar y fotografiarlas por separado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Acceso muy limitado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La V deja poco espacio entre bancadas y sobre el motor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 menudo exige desmontar admisión y accesorios: el tiempo de acceso se multiplica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52044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372618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37261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6118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caso del Toyota Land Cruiser V8 del material de la carrera ilustra la situación completa: dos cadenas, una por bancada, cada una con eslabones de color que se alinean con las marcas de su propio piñón de árbol de levas.</a:t>
            </a:r>
            <a:endParaRPr lang="en-US" sz="1450" dirty="0"/>
          </a:p>
        </p:txBody>
      </p:sp>
      <p:sp>
        <p:nvSpPr>
          <p:cNvPr id="8" name="Shape 5"/>
          <p:cNvSpPr/>
          <p:nvPr/>
        </p:nvSpPr>
        <p:spPr>
          <a:xfrm>
            <a:off x="548640" y="451713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517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48056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orden importa. </a:t>
            </a:r>
            <a:pPr indent="0" marL="0">
              <a:lnSpc>
                <a:spcPct val="106000"/>
              </a:lnSpc>
              <a:buNone/>
            </a:pPr>
            <a:r>
              <a:rPr lang="en-US" sz="1150" dirty="0">
                <a:solidFill>
                  <a:schemeClr val="accent4"/>
                </a:solidFill>
              </a:rPr>
              <a:t>en muchos motores en V hay que calar primero una bancada y bloquearla antes de tocar la otra; invertir el orden impide cerrar el conjunto</a:t>
            </a:r>
            <a:endParaRPr lang="en-US" sz="1150" dirty="0"/>
          </a:p>
        </p:txBody>
      </p:sp>
      <p:sp>
        <p:nvSpPr>
          <p:cNvPr id="11" name="Shape 8"/>
          <p:cNvSpPr/>
          <p:nvPr/>
        </p:nvSpPr>
        <p:spPr>
          <a:xfrm>
            <a:off x="548640" y="490118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49011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486460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verificación es doble. </a:t>
            </a:r>
            <a:pPr indent="0" marL="0">
              <a:lnSpc>
                <a:spcPct val="106000"/>
              </a:lnSpc>
              <a:buNone/>
            </a:pPr>
            <a:r>
              <a:rPr lang="en-US" sz="1150" dirty="0">
                <a:solidFill>
                  <a:schemeClr val="accent4"/>
                </a:solidFill>
              </a:rPr>
              <a:t>tras las dos vueltas, deben coincidir simultáneamente las marcas del cigüeñal y las de ambas bancadas</a:t>
            </a:r>
            <a:endParaRPr lang="en-US" sz="1150" dirty="0"/>
          </a:p>
        </p:txBody>
      </p:sp>
      <p:sp>
        <p:nvSpPr>
          <p:cNvPr id="14" name="Shape 11"/>
          <p:cNvSpPr/>
          <p:nvPr/>
        </p:nvSpPr>
        <p:spPr>
          <a:xfrm>
            <a:off x="548640" y="528523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285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248656"/>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registro fotográfico se duplica. </a:t>
            </a:r>
            <a:pPr indent="0" marL="0">
              <a:lnSpc>
                <a:spcPct val="106000"/>
              </a:lnSpc>
              <a:buNone/>
            </a:pPr>
            <a:r>
              <a:rPr lang="en-US" sz="1150" dirty="0">
                <a:solidFill>
                  <a:schemeClr val="accent4"/>
                </a:solidFill>
              </a:rPr>
              <a:t>una serie por bancada, claramente identificada; confundir las fotografías de izquierda y derecha es un error fácil y costoso</a:t>
            </a:r>
            <a:endParaRPr lang="en-US" sz="1150" dirty="0"/>
          </a:p>
        </p:txBody>
      </p:sp>
      <p:sp>
        <p:nvSpPr>
          <p:cNvPr id="17" name="Shape 14"/>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5"/>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9" name="Text 16"/>
          <p:cNvSpPr txBox="1"/>
          <p:nvPr/>
        </p:nvSpPr>
        <p:spPr>
          <a:xfrm>
            <a:off x="1078992" y="5632704"/>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tiempo previsto se duplica o más. </a:t>
            </a:r>
            <a:pPr indent="0" marL="0">
              <a:lnSpc>
                <a:spcPct val="106000"/>
              </a:lnSpc>
              <a:buNone/>
            </a:pPr>
            <a:r>
              <a:rPr lang="en-US" sz="1150" dirty="0">
                <a:solidFill>
                  <a:schemeClr val="accent4"/>
                </a:solidFill>
              </a:rPr>
              <a:t>conviene anticiparlo al planificar la práctica y al presupuestar el trabajo en el taller</a:t>
            </a:r>
            <a:endParaRPr lang="en-US" sz="1150" dirty="0"/>
          </a:p>
        </p:txBody>
      </p:sp>
      <p:sp>
        <p:nvSpPr>
          <p:cNvPr id="20" name="Text 17"/>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 la distribución · técnica: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Particularidades de la distribución en motores diésel</a:t>
            </a:r>
            <a:endParaRPr lang="en-US" sz="3200" dirty="0"/>
          </a:p>
        </p:txBody>
      </p:sp>
      <p:sp>
        <p:nvSpPr>
          <p:cNvPr id="3" name="marco_figura"/>
          <p:cNvSpPr/>
          <p:nvPr/>
        </p:nvSpPr>
        <p:spPr>
          <a:xfrm>
            <a:off x="548640" y="1371600"/>
            <a:ext cx="475488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d_cadena.jpg">    </p:cNvPr>
          <p:cNvPicPr>
            <a:picLocks noChangeAspect="1"/>
          </p:cNvPicPr>
          <p:nvPr/>
        </p:nvPicPr>
        <p:blipFill>
          <a:blip r:embed="rId1"/>
          <a:srcRect l="0" r="0" t="0" b="0"/>
          <a:stretch/>
        </p:blipFill>
        <p:spPr>
          <a:xfrm>
            <a:off x="658368" y="1481328"/>
            <a:ext cx="4535424" cy="2340864"/>
          </a:xfrm>
          <a:prstGeom prst="rect">
            <a:avLst/>
          </a:prstGeom>
        </p:spPr>
      </p:pic>
      <p:sp>
        <p:nvSpPr>
          <p:cNvPr id="5" name="Text 2"/>
          <p:cNvSpPr txBox="1"/>
          <p:nvPr/>
        </p:nvSpPr>
        <p:spPr>
          <a:xfrm>
            <a:off x="658368" y="393192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46. </a:t>
            </a:r>
            <a:pPr indent="0" marL="0">
              <a:lnSpc>
                <a:spcPct val="102000"/>
              </a:lnSpc>
              <a:buNone/>
            </a:pPr>
            <a:r>
              <a:rPr lang="en-US" sz="1000" dirty="0">
                <a:solidFill>
                  <a:schemeClr val="accent4"/>
                </a:solidFill>
              </a:rPr>
              <a:t>Accionamiento de la distribución por cadena en un motor diésel, con el piñón de la bomba de inyección. Adaptado de Fernández, J. (s. f.). La distribución [diapositivas]. ISTS.</a:t>
            </a:r>
            <a:endParaRPr lang="en-US" sz="1000" dirty="0"/>
          </a:p>
        </p:txBody>
      </p:sp>
      <p:sp>
        <p:nvSpPr>
          <p:cNvPr id="6" name="Shape 3"/>
          <p:cNvSpPr/>
          <p:nvPr/>
        </p:nvSpPr>
        <p:spPr>
          <a:xfrm>
            <a:off x="566928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6692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199632" y="1463040"/>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distribución mueve más cosas. </a:t>
            </a:r>
            <a:pPr indent="0" marL="0">
              <a:lnSpc>
                <a:spcPct val="106000"/>
              </a:lnSpc>
              <a:buNone/>
            </a:pPr>
            <a:r>
              <a:rPr lang="en-US" sz="1150" dirty="0">
                <a:solidFill>
                  <a:schemeClr val="accent4"/>
                </a:solidFill>
              </a:rPr>
              <a:t>además del árbol de levas, suele arrastrar la bomba de inyección y, a veces, la bomba de vacío del servofreno</a:t>
            </a:r>
            <a:endParaRPr lang="en-US" sz="1150" dirty="0"/>
          </a:p>
        </p:txBody>
      </p:sp>
      <p:sp>
        <p:nvSpPr>
          <p:cNvPr id="9" name="Shape 6"/>
          <p:cNvSpPr/>
          <p:nvPr/>
        </p:nvSpPr>
        <p:spPr>
          <a:xfrm>
            <a:off x="566928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66928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199632" y="2121408"/>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calado afecta a la inyección. </a:t>
            </a:r>
            <a:pPr indent="0" marL="0">
              <a:lnSpc>
                <a:spcPct val="106000"/>
              </a:lnSpc>
              <a:buNone/>
            </a:pPr>
            <a:r>
              <a:rPr lang="en-US" sz="1150" dirty="0">
                <a:solidFill>
                  <a:schemeClr val="accent4"/>
                </a:solidFill>
              </a:rPr>
              <a:t>un error de calado desplaza el instante de inyección, que en un diésel cumple el papel del avance al encendido</a:t>
            </a:r>
            <a:endParaRPr lang="en-US" sz="1150" dirty="0"/>
          </a:p>
        </p:txBody>
      </p:sp>
      <p:sp>
        <p:nvSpPr>
          <p:cNvPr id="12" name="Shape 9"/>
          <p:cNvSpPr/>
          <p:nvPr/>
        </p:nvSpPr>
        <p:spPr>
          <a:xfrm>
            <a:off x="566928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66928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199632" y="2779776"/>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Las solicitaciones son mayores. </a:t>
            </a:r>
            <a:pPr indent="0" marL="0">
              <a:lnSpc>
                <a:spcPct val="106000"/>
              </a:lnSpc>
              <a:buNone/>
            </a:pPr>
            <a:r>
              <a:rPr lang="en-US" sz="1150" dirty="0">
                <a:solidFill>
                  <a:schemeClr val="accent4"/>
                </a:solidFill>
              </a:rPr>
              <a:t>la relación de compresión es muy superior y las presiones también, de modo que cadenas y engranajes se dimensionan en consecuencia</a:t>
            </a:r>
            <a:endParaRPr lang="en-US" sz="1150" dirty="0"/>
          </a:p>
        </p:txBody>
      </p:sp>
      <p:sp>
        <p:nvSpPr>
          <p:cNvPr id="15" name="Shape 12"/>
          <p:cNvSpPr/>
          <p:nvPr/>
        </p:nvSpPr>
        <p:spPr>
          <a:xfrm>
            <a:off x="566928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66928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199632" y="3438144"/>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Son casi siempre interferentes. </a:t>
            </a:r>
            <a:pPr indent="0" marL="0">
              <a:lnSpc>
                <a:spcPct val="106000"/>
              </a:lnSpc>
              <a:buNone/>
            </a:pPr>
            <a:r>
              <a:rPr lang="en-US" sz="1150" dirty="0">
                <a:solidFill>
                  <a:schemeClr val="accent4"/>
                </a:solidFill>
              </a:rPr>
              <a:t>con relaciones de compresión muy altas, la holgura entre pistón y válvula es mínima: un salto de distribución dobla válvulas con seguridad</a:t>
            </a:r>
            <a:endParaRPr lang="en-US" sz="1150" dirty="0"/>
          </a:p>
        </p:txBody>
      </p:sp>
      <p:sp>
        <p:nvSpPr>
          <p:cNvPr id="18" name="Shape 15"/>
          <p:cNvSpPr/>
          <p:nvPr/>
        </p:nvSpPr>
        <p:spPr>
          <a:xfrm>
            <a:off x="548640" y="4206240"/>
            <a:ext cx="11064240" cy="777240"/>
          </a:xfrm>
          <a:prstGeom prst="roundRect">
            <a:avLst>
              <a:gd name="adj" fmla="val 7059"/>
            </a:avLst>
          </a:prstGeom>
          <a:solidFill>
            <a:schemeClr val="bg2"/>
          </a:solidFill>
          <a:ln w="12700">
            <a:solidFill>
              <a:schemeClr val="bg2"/>
            </a:solidFill>
            <a:prstDash val="solid"/>
          </a:ln>
        </p:spPr>
        <p:txBody>
          <a:bodyPr/>
          <a:p/>
        </p:txBody>
      </p:sp>
      <p:sp>
        <p:nvSpPr>
          <p:cNvPr id="19" name="Shape 16"/>
          <p:cNvSpPr/>
          <p:nvPr/>
        </p:nvSpPr>
        <p:spPr>
          <a:xfrm>
            <a:off x="786384" y="441198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786384" y="44119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2976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En un diésel, la distribución y la inyección son el mismo trabajo. Por eso el procedimiento de calado incluye referencias de la bomba de inyección además de las del árbol de levas, y por eso no se improvisa nunca.</a:t>
            </a:r>
            <a:endParaRPr lang="en-US" sz="145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5074920"/>
          <a:ext cx="11064240" cy="914400"/>
        </p:xfrm>
        <a:graphic>
          <a:graphicData uri="http://schemas.openxmlformats.org/drawingml/2006/table">
            <a:tbl>
              <a:tblPr/>
              <a:tblGrid>
                <a:gridCol w="3108960"/>
                <a:gridCol w="3931920"/>
                <a:gridCol w="4023360"/>
              </a:tblGrid>
              <a:tr h="365760">
                <a:tc>
                  <a:txBody>
                    <a:bodyPr/>
                    <a:lstStyle/>
                    <a:p>
                      <a:pPr indent="0" marL="0">
                        <a:buNone/>
                      </a:pPr>
                      <a:r>
                        <a:rPr lang="en-US" sz="1300" b="1" dirty="0">
                          <a:solidFill>
                            <a:srgbClr val="FFFFFF"/>
                          </a:solidFill>
                        </a:rPr>
                        <a:t>Síntoma en un diésel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Posible causa en la distribución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00" b="1" dirty="0">
                          <a:solidFill>
                            <a:schemeClr val="tx1"/>
                          </a:solidFill>
                        </a:rPr>
                        <a:t>Arranque difícil y humo blanco en frío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Inyección retrasada por calado desplazado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Verificación del calado de bomba y árbol según manual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Pérdida de potencia y humo negro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Inyección adelantada o distribución desfasada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Verificación del calado completo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3" name="Text 1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 · contexto de aplicación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Mantenimiento preventivo de la distribución</a:t>
            </a:r>
            <a:endParaRPr lang="en-US" sz="3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2926080"/>
                <a:gridCol w="2926080"/>
                <a:gridCol w="2834640"/>
              </a:tblGrid>
              <a:tr h="457200">
                <a:tc>
                  <a:txBody>
                    <a:bodyPr/>
                    <a:lstStyle/>
                    <a:p>
                      <a:pPr indent="0" marL="0">
                        <a:buNone/>
                      </a:pPr>
                      <a:r>
                        <a:rPr lang="en-US" sz="1300" b="1" dirty="0">
                          <a:solidFill>
                            <a:srgbClr val="FFFFFF"/>
                          </a:solidFill>
                        </a:rPr>
                        <a:t>Mando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Intervalo típico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sustituye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Señales de alerta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00" b="1" dirty="0">
                          <a:solidFill>
                            <a:schemeClr val="tx1"/>
                          </a:solidFill>
                        </a:rPr>
                        <a:t>Correa dentada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Por kilometraje o por tiempo, lo que ocurra antes, según el fabricante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Correa, rodillo tensor, rodillos guía y, si la mueve, bomba de agua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Grietas transversales, dientes deformados, cantos deshilachados, brillo por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chemeClr val="tx1"/>
                          </a:solidFill>
                        </a:rPr>
                        <a:t>Cadena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No tiene intervalo fijo: se sustituye por estado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Cadena, tensor, patines guía y piñones si están desgastados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Ruido metálico en frío al arrancar, pérdida progresiva de prestaciones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00" b="1" dirty="0">
                          <a:solidFill>
                            <a:schemeClr val="tx1"/>
                          </a:solidFill>
                        </a:rPr>
                        <a:t>Engranajes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Sin intervalo: duran lo que el motor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Solo si se detecta juego excesivo o daño en los dientes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Ruido de engrane creciente, juego entre dientes fuera de límite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52044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372618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37261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6118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correa se inspecciona además entre intervalos: grietas transversales en la base de los dientes, cantos deshilachados o aspecto brillante por contacto con aceite son motivos para sustituirla antes de plazo.</a:t>
            </a:r>
            <a:endParaRPr lang="en-US" sz="1450" dirty="0"/>
          </a:p>
        </p:txBody>
      </p:sp>
      <p:sp>
        <p:nvSpPr>
          <p:cNvPr id="8" name="Shape 5"/>
          <p:cNvSpPr/>
          <p:nvPr/>
        </p:nvSpPr>
        <p:spPr>
          <a:xfrm>
            <a:off x="548640" y="451713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517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48056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anotar siempre al sustituir una distribución. </a:t>
            </a:r>
            <a:pPr indent="0" marL="0">
              <a:lnSpc>
                <a:spcPct val="106000"/>
              </a:lnSpc>
              <a:buNone/>
            </a:pPr>
            <a:r>
              <a:rPr lang="en-US" sz="1150" dirty="0">
                <a:solidFill>
                  <a:schemeClr val="accent4"/>
                </a:solidFill>
              </a:rPr>
              <a:t>fecha, kilometraje y piezas sustituidas, en el historial del vehículo y, si es posible, en una etiqueta adherida bajo el capó</a:t>
            </a:r>
            <a:endParaRPr lang="en-US" sz="1150" dirty="0"/>
          </a:p>
        </p:txBody>
      </p:sp>
      <p:sp>
        <p:nvSpPr>
          <p:cNvPr id="11" name="Shape 8"/>
          <p:cNvSpPr/>
          <p:nvPr/>
        </p:nvSpPr>
        <p:spPr>
          <a:xfrm>
            <a:off x="548640" y="490118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49011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486460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esa etiqueta importa. </a:t>
            </a:r>
            <a:pPr indent="0" marL="0">
              <a:lnSpc>
                <a:spcPct val="106000"/>
              </a:lnSpc>
              <a:buNone/>
            </a:pPr>
            <a:r>
              <a:rPr lang="en-US" sz="1150" dirty="0">
                <a:solidFill>
                  <a:schemeClr val="accent4"/>
                </a:solidFill>
              </a:rPr>
              <a:t>el siguiente técnico que abra el vehículo —o el propio cliente dentro de cinco años— necesita saber cuándo se hizo; sin ese dato se vuelve a estar a ciegas</a:t>
            </a:r>
            <a:endParaRPr lang="en-US" sz="1150" dirty="0"/>
          </a:p>
        </p:txBody>
      </p:sp>
      <p:sp>
        <p:nvSpPr>
          <p:cNvPr id="14" name="Shape 11"/>
          <p:cNvSpPr/>
          <p:nvPr/>
        </p:nvSpPr>
        <p:spPr>
          <a:xfrm>
            <a:off x="548640" y="528523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285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248656"/>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recomienda al cliente. </a:t>
            </a:r>
            <a:pPr indent="0" marL="0">
              <a:lnSpc>
                <a:spcPct val="106000"/>
              </a:lnSpc>
              <a:buNone/>
            </a:pPr>
            <a:r>
              <a:rPr lang="en-US" sz="1150" dirty="0">
                <a:solidFill>
                  <a:schemeClr val="accent4"/>
                </a:solidFill>
              </a:rPr>
              <a:t>sustituir el conjunto completo y no solo la correa, y respetar el intervalo por tiempo aunque el vehículo se use poco</a:t>
            </a:r>
            <a:endParaRPr lang="en-US" sz="1150" dirty="0"/>
          </a:p>
        </p:txBody>
      </p:sp>
      <p:sp>
        <p:nvSpPr>
          <p:cNvPr id="17" name="Shape 14"/>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5"/>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9" name="Text 16"/>
          <p:cNvSpPr txBox="1"/>
          <p:nvPr/>
        </p:nvSpPr>
        <p:spPr>
          <a:xfrm>
            <a:off x="1078992" y="5632704"/>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comprueba en cada mantenimiento. </a:t>
            </a:r>
            <a:pPr indent="0" marL="0">
              <a:lnSpc>
                <a:spcPct val="106000"/>
              </a:lnSpc>
              <a:buNone/>
            </a:pPr>
            <a:r>
              <a:rPr lang="en-US" sz="1150" dirty="0">
                <a:solidFill>
                  <a:schemeClr val="accent4"/>
                </a:solidFill>
              </a:rPr>
              <a:t>estado visible de la correa por la ventana de inspección, si la hay, y ausencia de fugas de aceite hacia la zona de la distribución</a:t>
            </a:r>
            <a:endParaRPr lang="en-US" sz="1150" dirty="0"/>
          </a:p>
        </p:txBody>
      </p:sp>
      <p:sp>
        <p:nvSpPr>
          <p:cNvPr id="20" name="Text 17"/>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distribución · aplicación profesional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Cuadro comparativo de los procedimientos estudiados</a:t>
            </a:r>
            <a:endParaRPr lang="en-US" sz="3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2194560"/>
                <a:gridCol w="3108960"/>
                <a:gridCol w="3383280"/>
              </a:tblGrid>
              <a:tr h="420624">
                <a:tc>
                  <a:txBody>
                    <a:bodyPr/>
                    <a:lstStyle/>
                    <a:p>
                      <a:pPr indent="0" marL="0">
                        <a:buNone/>
                      </a:pPr>
                      <a:r>
                        <a:rPr lang="en-US" sz="1300" b="1" dirty="0">
                          <a:solidFill>
                            <a:srgbClr val="FFFFFF"/>
                          </a:solidFill>
                        </a:rPr>
                        <a:t>Vehículo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Mando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Particularidad</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Lo que enseña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050" b="1" dirty="0">
                          <a:solidFill>
                            <a:schemeClr val="tx1"/>
                          </a:solidFill>
                        </a:rPr>
                        <a:t>Suzuki Alto 1986-93</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Correa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Tensor manual con muelle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El tensado manual exige seguir el manual al detalle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chemeClr val="tx1"/>
                          </a:solidFill>
                        </a:rPr>
                        <a:t>Chevrolet Aveo 2011 1.4</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Correa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Acceso por rueda y guardabarros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El tiempo de acceso puede superar al del trabajo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050" b="1" dirty="0">
                          <a:solidFill>
                            <a:schemeClr val="tx1"/>
                          </a:solidFill>
                        </a:rPr>
                        <a:t>Nissan pick-up 2002 2.5</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Correa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Calado en PMS del cilindro 1 en compresión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La posición de calado se consulta, no se supone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chemeClr val="tx1"/>
                          </a:solidFill>
                        </a:rPr>
                        <a:t>Ford Explorer 2002</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Cadena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Verificación de marcas antes de desmontar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La comprobación previa detecta un motor ya fuera de punto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050" b="1" dirty="0">
                          <a:solidFill>
                            <a:schemeClr val="tx1"/>
                          </a:solidFill>
                        </a:rPr>
                        <a:t>Hyundai Tucson 2010 2.7 V6</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Correa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Tensor hidráulico con pasador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Retirar el pasador antes de tiempo arruina el montaje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chemeClr val="tx1"/>
                          </a:solidFill>
                        </a:rPr>
                        <a:t>Toyota Land Cruiser 1999 4.5</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Correa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Retención del tensor con llave Allen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Cada fabricante bloquea el tensor a su manera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050" b="1" dirty="0">
                          <a:solidFill>
                            <a:schemeClr val="tx1"/>
                          </a:solidFill>
                        </a:rPr>
                        <a:t>Toyota Land Cruiser 2011 4.5 V8</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Cadena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Dos cadenas, una por bancada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En motores en V hay que sincronizar dos conjuntos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57200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77774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7777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6634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Siete procedimientos distintos y un solo principio: dejar el árbol de levas en la posición correcta respecto al cigüeñal, con la tensión que indica el fabricante, y verificarlo con dos vueltas antes de arrancar.</a:t>
            </a:r>
            <a:endParaRPr lang="en-US" sz="1450" dirty="0"/>
          </a:p>
        </p:txBody>
      </p:sp>
      <p:sp>
        <p:nvSpPr>
          <p:cNvPr id="8" name="Text 5"/>
          <p:cNvSpPr txBox="1"/>
          <p:nvPr/>
        </p:nvSpPr>
        <p:spPr>
          <a:xfrm>
            <a:off x="548640" y="544068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Este cuadro es el producto colaborativo de la clase 3.2 y debe completarse con el motor asignado a cada grupo, añadiendo una fila con sus propios datos obtenidos de Autodata.</a:t>
            </a:r>
            <a:endParaRPr lang="en-US" sz="120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técnica: análisis de casos · trabajo colaborativo declarado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3.3  ·  2 HORAS DE DOCENCIA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El cabezote</a:t>
            </a:r>
            <a:endParaRPr lang="en-US" sz="4000" dirty="0"/>
          </a:p>
          <a:p>
            <a:pPr indent="0" marL="0">
              <a:buNone/>
            </a:pPr>
            <a:r>
              <a:rPr lang="en-US" sz="4000" b="1" dirty="0">
                <a:solidFill>
                  <a:schemeClr val="bg1"/>
                </a:solidFill>
              </a:rPr>
              <a:t>y sus elementos</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Función · Materiales · Cámaras de combustión · Válvulas · Guías y asientos · Muelles · Despiece ordenado</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Identificar los elementos del cabezote, explicar la función de cada uno y ejecutar su despiece de forma ordenada y registrada.</a:t>
            </a:r>
            <a:endParaRPr lang="en-US" sz="1200" dirty="0"/>
          </a:p>
        </p:txBody>
      </p:sp>
      <p:sp>
        <p:nvSpPr>
          <p:cNvPr id="8" name="Text 6"/>
          <p:cNvSpPr txBox="1"/>
          <p:nvPr/>
        </p:nvSpPr>
        <p:spPr>
          <a:xfrm>
            <a:off x="804672" y="320954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3</a:t>
            </a:r>
            <a:endParaRPr lang="en-US" sz="1200" dirty="0"/>
          </a:p>
        </p:txBody>
      </p:sp>
      <p:sp>
        <p:nvSpPr>
          <p:cNvPr id="9"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Conocimientos del PEA</a:t>
            </a:r>
            <a:endParaRPr lang="en-US" sz="1700" dirty="0"/>
          </a:p>
        </p:txBody>
      </p:sp>
      <p:sp>
        <p:nvSpPr>
          <p:cNvPr id="13" name="Text 11"/>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Cabezote · Despiece y armado del cabezote.</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Son el tercero y el cuarto de los cinco conocimientos de la unidad.</a:t>
            </a:r>
            <a:endParaRPr lang="en-US" sz="1200" dirty="0"/>
          </a:p>
        </p:txBody>
      </p:sp>
      <p:sp>
        <p:nvSpPr>
          <p:cNvPr id="14" name="Text 12"/>
          <p:cNvSpPr txBox="1"/>
          <p:nvPr/>
        </p:nvSpPr>
        <p:spPr>
          <a:xfrm>
            <a:off x="4584192" y="320954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2 de los 5 conocimientos</a:t>
            </a:r>
            <a:endParaRPr lang="en-US" sz="1200" dirty="0"/>
          </a:p>
        </p:txBody>
      </p:sp>
      <p:sp>
        <p:nvSpPr>
          <p:cNvPr id="15"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Despiece ordenado del cabezote con inventario completo, registro fotográfico por pasos y piezas identificadas por cilindro.</a:t>
            </a:r>
            <a:endParaRPr lang="en-US" sz="1200" dirty="0"/>
          </a:p>
        </p:txBody>
      </p:sp>
      <p:sp>
        <p:nvSpPr>
          <p:cNvPr id="20" name="Text 18"/>
          <p:cNvSpPr txBox="1"/>
          <p:nvPr/>
        </p:nvSpPr>
        <p:spPr>
          <a:xfrm>
            <a:off x="8363712" y="320954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Trabajo colaborativo</a:t>
            </a:r>
            <a:endParaRPr lang="en-US" sz="1200" dirty="0"/>
          </a:p>
        </p:txBody>
      </p:sp>
      <p:sp>
        <p:nvSpPr>
          <p:cNvPr id="21" name="Text 19"/>
          <p:cNvSpPr txBox="1"/>
          <p:nvPr/>
        </p:nvSpPr>
        <p:spPr>
          <a:xfrm>
            <a:off x="548640" y="3749040"/>
            <a:ext cx="11064240" cy="5029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Competencia concreta que se evalúa:  dado un cabezote desmontado, el estudiante debe poder nombrar cada elemento, explicar qué función cumple y desarmarlo dejando cada pieza identificada con el cilindro y la posición de la que salió.</a:t>
            </a:r>
            <a:endParaRPr lang="en-US" sz="1400" dirty="0"/>
          </a:p>
        </p:txBody>
      </p:sp>
      <p:sp>
        <p:nvSpPr>
          <p:cNvPr id="22" name="Shape 20"/>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31596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hace el cabezote. </a:t>
            </a:r>
            <a:pPr indent="0" marL="0">
              <a:lnSpc>
                <a:spcPct val="106000"/>
              </a:lnSpc>
              <a:buNone/>
            </a:pPr>
            <a:r>
              <a:rPr lang="en-US" sz="1200" dirty="0">
                <a:solidFill>
                  <a:schemeClr val="accent4"/>
                </a:solidFill>
              </a:rPr>
              <a:t>las seis exigencias simultáneas que condicionan su diseño y sus materiales</a:t>
            </a:r>
            <a:endParaRPr lang="en-US" sz="1200" dirty="0"/>
          </a:p>
        </p:txBody>
      </p:sp>
      <p:sp>
        <p:nvSpPr>
          <p:cNvPr id="25" name="Shape 23"/>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61772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 cámara de combustión. </a:t>
            </a:r>
            <a:pPr indent="0" marL="0">
              <a:lnSpc>
                <a:spcPct val="106000"/>
              </a:lnSpc>
              <a:buNone/>
            </a:pPr>
            <a:r>
              <a:rPr lang="en-US" sz="1200" dirty="0">
                <a:solidFill>
                  <a:schemeClr val="accent4"/>
                </a:solidFill>
              </a:rPr>
              <a:t>los cuatro criterios de diseño y por qué la forma de la cámara decide el rendimiento</a:t>
            </a:r>
            <a:endParaRPr lang="en-US" sz="1200" dirty="0"/>
          </a:p>
        </p:txBody>
      </p:sp>
      <p:sp>
        <p:nvSpPr>
          <p:cNvPr id="28" name="Shape 26"/>
          <p:cNvSpPr/>
          <p:nvPr/>
        </p:nvSpPr>
        <p:spPr>
          <a:xfrm>
            <a:off x="548640" y="495604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491947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Las válvulas. </a:t>
            </a:r>
            <a:pPr indent="0" marL="0">
              <a:lnSpc>
                <a:spcPct val="106000"/>
              </a:lnSpc>
              <a:buNone/>
            </a:pPr>
            <a:r>
              <a:rPr lang="en-US" sz="1200" dirty="0">
                <a:solidFill>
                  <a:schemeClr val="accent4"/>
                </a:solidFill>
              </a:rPr>
              <a:t>admisión y escape, sus diferencias, sus materiales y por qué la de escape es la pieza más castigada</a:t>
            </a:r>
            <a:endParaRPr lang="en-US" sz="1200" dirty="0"/>
          </a:p>
        </p:txBody>
      </p:sp>
      <p:sp>
        <p:nvSpPr>
          <p:cNvPr id="31" name="Shape 29"/>
          <p:cNvSpPr/>
          <p:nvPr/>
        </p:nvSpPr>
        <p:spPr>
          <a:xfrm>
            <a:off x="548640" y="525780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221224"/>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Guías, asientos y muelles. </a:t>
            </a:r>
            <a:pPr indent="0" marL="0">
              <a:lnSpc>
                <a:spcPct val="106000"/>
              </a:lnSpc>
              <a:buNone/>
            </a:pPr>
            <a:r>
              <a:rPr lang="en-US" sz="1200" dirty="0">
                <a:solidFill>
                  <a:schemeClr val="accent4"/>
                </a:solidFill>
              </a:rPr>
              <a:t>los elementos que permiten que la válvula abra recta y cierre hermética</a:t>
            </a:r>
            <a:endParaRPr lang="en-US" sz="1200" dirty="0"/>
          </a:p>
        </p:txBody>
      </p:sp>
      <p:sp>
        <p:nvSpPr>
          <p:cNvPr id="34" name="Shape 32"/>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522976"/>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despiece. </a:t>
            </a:r>
            <a:pPr indent="0" marL="0">
              <a:lnSpc>
                <a:spcPct val="106000"/>
              </a:lnSpc>
              <a:buNone/>
            </a:pPr>
            <a:r>
              <a:rPr lang="en-US" sz="1200" dirty="0">
                <a:solidFill>
                  <a:schemeClr val="accent4"/>
                </a:solidFill>
              </a:rPr>
              <a:t>procedimiento, herramienta, orden de aflojado y reglas de identificación de piezas</a:t>
            </a:r>
            <a:endParaRPr lang="en-US" sz="120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Conocimientos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el cabezote tiene que hacer a la vez</a:t>
            </a:r>
            <a:endParaRPr lang="en-US" sz="3200" dirty="0"/>
          </a:p>
        </p:txBody>
      </p:sp>
      <p:sp>
        <p:nvSpPr>
          <p:cNvPr id="3" name="marco_figura"/>
          <p:cNvSpPr/>
          <p:nvPr/>
        </p:nvSpPr>
        <p:spPr>
          <a:xfrm>
            <a:off x="548640" y="1371600"/>
            <a:ext cx="4572000" cy="3127248"/>
          </a:xfrm>
          <a:prstGeom prst="roundRect">
            <a:avLst>
              <a:gd name="adj" fmla="val 1754"/>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_tapa_cilindros.jpg">    </p:cNvPr>
          <p:cNvPicPr>
            <a:picLocks noChangeAspect="1"/>
          </p:cNvPicPr>
          <p:nvPr/>
        </p:nvPicPr>
        <p:blipFill>
          <a:blip r:embed="rId1"/>
          <a:srcRect l="0" r="0" t="0" b="0"/>
          <a:stretch/>
        </p:blipFill>
        <p:spPr>
          <a:xfrm>
            <a:off x="658368" y="1481328"/>
            <a:ext cx="4352544" cy="2523744"/>
          </a:xfrm>
          <a:prstGeom prst="rect">
            <a:avLst/>
          </a:prstGeom>
        </p:spPr>
      </p:pic>
      <p:sp>
        <p:nvSpPr>
          <p:cNvPr id="5" name="Text 2"/>
          <p:cNvSpPr txBox="1"/>
          <p:nvPr/>
        </p:nvSpPr>
        <p:spPr>
          <a:xfrm>
            <a:off x="658368" y="411480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47. </a:t>
            </a:r>
            <a:pPr indent="0" marL="0">
              <a:lnSpc>
                <a:spcPct val="102000"/>
              </a:lnSpc>
              <a:buNone/>
            </a:pPr>
            <a:r>
              <a:rPr lang="en-US" sz="1000" dirty="0">
                <a:solidFill>
                  <a:schemeClr val="accent4"/>
                </a:solidFill>
              </a:rPr>
              <a:t>La culata cierra la cámara de combustión y aloja válvulas y bujía. Adaptado de Minga González, M. A. (s. f.). Constitución del motor: la culata [diapositivas]. ISTS.</a:t>
            </a:r>
            <a:endParaRPr lang="en-US" sz="1000" dirty="0"/>
          </a:p>
        </p:txBody>
      </p:sp>
      <p:sp>
        <p:nvSpPr>
          <p:cNvPr id="6" name="Shape 3"/>
          <p:cNvSpPr/>
          <p:nvPr/>
        </p:nvSpPr>
        <p:spPr>
          <a:xfrm>
            <a:off x="548640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4864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016752" y="1463040"/>
            <a:ext cx="5596128" cy="5120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Cerrar herméticamente. </a:t>
            </a:r>
            <a:pPr indent="0" marL="0">
              <a:lnSpc>
                <a:spcPct val="106000"/>
              </a:lnSpc>
              <a:buNone/>
            </a:pPr>
            <a:r>
              <a:rPr lang="en-US" sz="1150" dirty="0">
                <a:solidFill>
                  <a:schemeClr val="accent4"/>
                </a:solidFill>
              </a:rPr>
              <a:t>contener la presión de combustión, que es muy superior a la de cualquier otra zona del motor</a:t>
            </a:r>
            <a:endParaRPr lang="en-US" sz="1150" dirty="0"/>
          </a:p>
        </p:txBody>
      </p:sp>
      <p:sp>
        <p:nvSpPr>
          <p:cNvPr id="9" name="Shape 6"/>
          <p:cNvSpPr/>
          <p:nvPr/>
        </p:nvSpPr>
        <p:spPr>
          <a:xfrm>
            <a:off x="5486400" y="206654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486400"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016752" y="2029968"/>
            <a:ext cx="5596128" cy="5120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Alojar las válvulas y sus asientos. </a:t>
            </a:r>
            <a:pPr indent="0" marL="0">
              <a:lnSpc>
                <a:spcPct val="106000"/>
              </a:lnSpc>
              <a:buNone/>
            </a:pPr>
            <a:r>
              <a:rPr lang="en-US" sz="1150" dirty="0">
                <a:solidFill>
                  <a:schemeClr val="accent4"/>
                </a:solidFill>
              </a:rPr>
              <a:t>con la precisión suficiente para que cierren herméticamente miles de veces por minuto</a:t>
            </a:r>
            <a:endParaRPr lang="en-US" sz="1150" dirty="0"/>
          </a:p>
        </p:txBody>
      </p:sp>
      <p:sp>
        <p:nvSpPr>
          <p:cNvPr id="12" name="Shape 9"/>
          <p:cNvSpPr/>
          <p:nvPr/>
        </p:nvSpPr>
        <p:spPr>
          <a:xfrm>
            <a:off x="5486400" y="263347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486400"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016752" y="2596896"/>
            <a:ext cx="5596128" cy="5120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Conducir los gases. </a:t>
            </a:r>
            <a:pPr indent="0" marL="0">
              <a:lnSpc>
                <a:spcPct val="106000"/>
              </a:lnSpc>
              <a:buNone/>
            </a:pPr>
            <a:r>
              <a:rPr lang="en-US" sz="1150" dirty="0">
                <a:solidFill>
                  <a:schemeClr val="accent4"/>
                </a:solidFill>
              </a:rPr>
              <a:t>los conductos de admisión y escape están labrados en su interior y su forma afecta directamente al llenado</a:t>
            </a:r>
            <a:endParaRPr lang="en-US" sz="1150" dirty="0"/>
          </a:p>
        </p:txBody>
      </p:sp>
      <p:sp>
        <p:nvSpPr>
          <p:cNvPr id="15" name="Shape 12"/>
          <p:cNvSpPr/>
          <p:nvPr/>
        </p:nvSpPr>
        <p:spPr>
          <a:xfrm>
            <a:off x="5486400" y="320040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48640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016752" y="3163824"/>
            <a:ext cx="5596128" cy="5120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Dejar pasar los fluidos. </a:t>
            </a:r>
            <a:pPr indent="0" marL="0">
              <a:lnSpc>
                <a:spcPct val="106000"/>
              </a:lnSpc>
              <a:buNone/>
            </a:pPr>
            <a:r>
              <a:rPr lang="en-US" sz="1150" dirty="0">
                <a:solidFill>
                  <a:schemeClr val="accent4"/>
                </a:solidFill>
              </a:rPr>
              <a:t>conductos de refrigerante y galerías de aceite la atraviesan, sin mezclarse entre sí ni con la cámara</a:t>
            </a:r>
            <a:endParaRPr lang="en-US" sz="1150" dirty="0"/>
          </a:p>
        </p:txBody>
      </p:sp>
      <p:sp>
        <p:nvSpPr>
          <p:cNvPr id="18" name="Shape 15"/>
          <p:cNvSpPr/>
          <p:nvPr/>
        </p:nvSpPr>
        <p:spPr>
          <a:xfrm>
            <a:off x="5486400" y="3767328"/>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486400" y="3767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6016752" y="3730752"/>
            <a:ext cx="5596128" cy="5120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Alojar la bujía. </a:t>
            </a:r>
            <a:pPr indent="0" marL="0">
              <a:lnSpc>
                <a:spcPct val="106000"/>
              </a:lnSpc>
              <a:buNone/>
            </a:pPr>
            <a:r>
              <a:rPr lang="en-US" sz="1150" dirty="0">
                <a:solidFill>
                  <a:schemeClr val="accent4"/>
                </a:solidFill>
              </a:rPr>
              <a:t>y, en los motores modernos, también el inyector, en la posición que exige la combustión</a:t>
            </a:r>
            <a:endParaRPr lang="en-US" sz="1150" dirty="0"/>
          </a:p>
        </p:txBody>
      </p:sp>
      <p:sp>
        <p:nvSpPr>
          <p:cNvPr id="21" name="Shape 18"/>
          <p:cNvSpPr/>
          <p:nvPr/>
        </p:nvSpPr>
        <p:spPr>
          <a:xfrm>
            <a:off x="5486400" y="433425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5486400" y="4334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0"/>
          <p:cNvSpPr txBox="1"/>
          <p:nvPr/>
        </p:nvSpPr>
        <p:spPr>
          <a:xfrm>
            <a:off x="6016752" y="4297680"/>
            <a:ext cx="5596128" cy="5120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Resistir el apriete sin deformarse. </a:t>
            </a:r>
            <a:pPr indent="0" marL="0">
              <a:lnSpc>
                <a:spcPct val="106000"/>
              </a:lnSpc>
              <a:buNone/>
            </a:pPr>
            <a:r>
              <a:rPr lang="en-US" sz="1150" dirty="0">
                <a:solidFill>
                  <a:schemeClr val="accent4"/>
                </a:solidFill>
              </a:rPr>
              <a:t>soporta la carga de todos sus tornillos y debe mantener su plano de apoyo recto</a:t>
            </a:r>
            <a:endParaRPr lang="en-US" sz="1150" dirty="0"/>
          </a:p>
        </p:txBody>
      </p:sp>
      <p:sp>
        <p:nvSpPr>
          <p:cNvPr id="24" name="Shape 21"/>
          <p:cNvSpPr/>
          <p:nvPr/>
        </p:nvSpPr>
        <p:spPr>
          <a:xfrm>
            <a:off x="548640" y="4983480"/>
            <a:ext cx="11064240" cy="777240"/>
          </a:xfrm>
          <a:prstGeom prst="roundRect">
            <a:avLst>
              <a:gd name="adj" fmla="val 7059"/>
            </a:avLst>
          </a:prstGeom>
          <a:solidFill>
            <a:schemeClr val="bg2"/>
          </a:solidFill>
          <a:ln w="12700">
            <a:solidFill>
              <a:schemeClr val="bg2"/>
            </a:solidFill>
            <a:prstDash val="solid"/>
          </a:ln>
        </p:spPr>
        <p:txBody>
          <a:bodyPr/>
          <a:p/>
        </p:txBody>
      </p:sp>
      <p:sp>
        <p:nvSpPr>
          <p:cNvPr id="25" name="Shape 22"/>
          <p:cNvSpPr/>
          <p:nvPr/>
        </p:nvSpPr>
        <p:spPr>
          <a:xfrm>
            <a:off x="786384" y="5189220"/>
            <a:ext cx="365760" cy="365760"/>
          </a:xfrm>
          <a:prstGeom prst="ellipse">
            <a:avLst/>
          </a:prstGeom>
          <a:solidFill>
            <a:schemeClr val="accent1"/>
          </a:solidFill>
          <a:ln w="12700">
            <a:solidFill>
              <a:schemeClr val="accent1"/>
            </a:solidFill>
            <a:prstDash val="solid"/>
          </a:ln>
        </p:spPr>
        <p:txBody>
          <a:bodyPr/>
          <a:p/>
        </p:txBody>
      </p:sp>
      <p:sp>
        <p:nvSpPr>
          <p:cNvPr id="26" name="Text 23"/>
          <p:cNvSpPr txBox="1"/>
          <p:nvPr/>
        </p:nvSpPr>
        <p:spPr>
          <a:xfrm>
            <a:off x="786384" y="51892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4"/>
          <p:cNvSpPr txBox="1"/>
          <p:nvPr/>
        </p:nvSpPr>
        <p:spPr>
          <a:xfrm>
            <a:off x="1298448" y="507492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Esa acumulación de exigencias explica por qué el empaque de culata es la junta más crítica del motor: tiene que sellar a la vez gases a alta presión, refrigerante y aceite, con tres fluidos a distinta presión y temperatura separados por unos milímetros.</a:t>
            </a:r>
            <a:endParaRPr lang="en-US" sz="1450" dirty="0"/>
          </a:p>
        </p:txBody>
      </p:sp>
      <p:sp>
        <p:nvSpPr>
          <p:cNvPr id="28" name="Text 25"/>
          <p:cNvSpPr txBox="1"/>
          <p:nvPr/>
        </p:nvSpPr>
        <p:spPr>
          <a:xfrm>
            <a:off x="548640" y="5806440"/>
            <a:ext cx="11064240" cy="27432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Por eso el plano de apoyo del cabezote se comprueba siempre que se desmonta, y por eso el empaque nunca se reutiliza.</a:t>
            </a:r>
            <a:endParaRPr lang="en-US" sz="1200" dirty="0"/>
          </a:p>
        </p:txBody>
      </p:sp>
      <p:sp>
        <p:nvSpPr>
          <p:cNvPr id="29"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cabezote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Materiales: de la fundición al aluminio</a:t>
            </a:r>
            <a:endParaRPr lang="en-US" sz="3200" dirty="0"/>
          </a:p>
        </p:txBody>
      </p:sp>
      <p:sp>
        <p:nvSpPr>
          <p:cNvPr id="3" name="marco_figura"/>
          <p:cNvSpPr/>
          <p:nvPr/>
        </p:nvSpPr>
        <p:spPr>
          <a:xfrm>
            <a:off x="548640" y="1371600"/>
            <a:ext cx="384048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_machos_fundicion.jpg">    </p:cNvPr>
          <p:cNvPicPr>
            <a:picLocks noChangeAspect="1"/>
          </p:cNvPicPr>
          <p:nvPr/>
        </p:nvPicPr>
        <p:blipFill>
          <a:blip r:embed="rId1"/>
          <a:srcRect l="0" r="0" t="0" b="0"/>
          <a:stretch/>
        </p:blipFill>
        <p:spPr>
          <a:xfrm>
            <a:off x="658368" y="1481328"/>
            <a:ext cx="3621024" cy="2249424"/>
          </a:xfrm>
          <a:prstGeom prst="rect">
            <a:avLst/>
          </a:prstGeom>
        </p:spPr>
      </p:pic>
      <p:sp>
        <p:nvSpPr>
          <p:cNvPr id="5" name="Text 2"/>
          <p:cNvSpPr txBox="1"/>
          <p:nvPr/>
        </p:nvSpPr>
        <p:spPr>
          <a:xfrm>
            <a:off x="658368" y="3840480"/>
            <a:ext cx="36210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48. </a:t>
            </a:r>
            <a:pPr indent="0" marL="0">
              <a:lnSpc>
                <a:spcPct val="102000"/>
              </a:lnSpc>
              <a:buNone/>
            </a:pPr>
            <a:r>
              <a:rPr lang="en-US" sz="1000" dirty="0">
                <a:solidFill>
                  <a:schemeClr val="accent4"/>
                </a:solidFill>
              </a:rPr>
              <a:t>Machos de fundición que generan los conductos interiores de la culata. Adaptado de Minga González, M. A. (s. f.). Constitución del motor: la culata [diapositivas]. ISTS.</a:t>
            </a:r>
            <a:endParaRPr lang="en-US" sz="1000" dirty="0"/>
          </a:p>
        </p:txBody>
      </p:sp>
      <p:sp>
        <p:nvSpPr>
          <p:cNvPr id="6" name="marco_figura"/>
          <p:cNvSpPr/>
          <p:nvPr/>
        </p:nvSpPr>
        <p:spPr>
          <a:xfrm>
            <a:off x="4663440" y="1371600"/>
            <a:ext cx="3383280" cy="2852928"/>
          </a:xfrm>
          <a:prstGeom prst="roundRect">
            <a:avLst>
              <a:gd name="adj" fmla="val 1923"/>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c_culata_render.jpg">    </p:cNvPr>
          <p:cNvPicPr>
            <a:picLocks noChangeAspect="1"/>
          </p:cNvPicPr>
          <p:nvPr/>
        </p:nvPicPr>
        <p:blipFill>
          <a:blip r:embed="rId2"/>
          <a:srcRect l="0" r="0" t="0" b="0"/>
          <a:stretch/>
        </p:blipFill>
        <p:spPr>
          <a:xfrm>
            <a:off x="4773168" y="1481328"/>
            <a:ext cx="3163824" cy="2249424"/>
          </a:xfrm>
          <a:prstGeom prst="rect">
            <a:avLst/>
          </a:prstGeom>
        </p:spPr>
      </p:pic>
      <p:sp>
        <p:nvSpPr>
          <p:cNvPr id="8" name="Text 4"/>
          <p:cNvSpPr txBox="1"/>
          <p:nvPr/>
        </p:nvSpPr>
        <p:spPr>
          <a:xfrm>
            <a:off x="4773168" y="384048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49. </a:t>
            </a:r>
            <a:pPr indent="0" marL="0">
              <a:lnSpc>
                <a:spcPct val="102000"/>
              </a:lnSpc>
              <a:buNone/>
            </a:pPr>
            <a:r>
              <a:rPr lang="en-US" sz="1000" dirty="0">
                <a:solidFill>
                  <a:schemeClr val="accent4"/>
                </a:solidFill>
              </a:rPr>
              <a:t>Culata de aleación ligera, vista exterior. Adaptado de Minga González, M. A. (s. f.). Constitución del motor: la culata [diapositivas]. ISTS.</a:t>
            </a:r>
            <a:endParaRPr lang="en-US" sz="1000" dirty="0"/>
          </a:p>
        </p:txBody>
      </p:sp>
      <p:sp>
        <p:nvSpPr>
          <p:cNvPr id="9" name="marco_figura"/>
          <p:cNvSpPr/>
          <p:nvPr/>
        </p:nvSpPr>
        <p:spPr>
          <a:xfrm>
            <a:off x="8321040" y="1371600"/>
            <a:ext cx="3291840" cy="2852928"/>
          </a:xfrm>
          <a:prstGeom prst="roundRect">
            <a:avLst>
              <a:gd name="adj" fmla="val 1923"/>
            </a:avLst>
          </a:prstGeom>
          <a:solidFill>
            <a:schemeClr val="bg2"/>
          </a:solidFill>
          <a:ln w="12700">
            <a:solidFill>
              <a:schemeClr val="bg2"/>
            </a:solidFill>
            <a:prstDash val="solid"/>
          </a:ln>
        </p:spPr>
        <p:txBody>
          <a:bodyPr/>
          <a:p/>
        </p:txBody>
      </p:sp>
      <p:pic>
        <p:nvPicPr>
          <p:cNvPr id="10" name="figura" descr="/tmp/claude-0/-home-claude/ae7ea666-008e-5687-a756-06b9100bd0c6/scratchpad/sfm/u3/media/c_cilindro_esparragos.jpg">    </p:cNvPr>
          <p:cNvPicPr>
            <a:picLocks noChangeAspect="1"/>
          </p:cNvPicPr>
          <p:nvPr/>
        </p:nvPicPr>
        <p:blipFill>
          <a:blip r:embed="rId3"/>
          <a:srcRect l="0" r="0" t="0" b="0"/>
          <a:stretch/>
        </p:blipFill>
        <p:spPr>
          <a:xfrm>
            <a:off x="8430768" y="1481328"/>
            <a:ext cx="3072384" cy="2249424"/>
          </a:xfrm>
          <a:prstGeom prst="rect">
            <a:avLst/>
          </a:prstGeom>
        </p:spPr>
      </p:pic>
      <p:sp>
        <p:nvSpPr>
          <p:cNvPr id="11" name="Text 6"/>
          <p:cNvSpPr txBox="1"/>
          <p:nvPr/>
        </p:nvSpPr>
        <p:spPr>
          <a:xfrm>
            <a:off x="8430768" y="3840480"/>
            <a:ext cx="30723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50. </a:t>
            </a:r>
            <a:pPr indent="0" marL="0">
              <a:lnSpc>
                <a:spcPct val="102000"/>
              </a:lnSpc>
              <a:buNone/>
            </a:pPr>
            <a:r>
              <a:rPr lang="en-US" sz="1000" dirty="0">
                <a:solidFill>
                  <a:schemeClr val="accent4"/>
                </a:solidFill>
              </a:rPr>
              <a:t>Espárragos de sujeción del cabezote sobre el bloque. Adaptado de Minga González, M. A. (s. f.). Constitución del motor: la culata [diapositivas]. ISTS.</a:t>
            </a:r>
            <a:endParaRPr lang="en-US" sz="1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64240" cy="914400"/>
        </p:xfrm>
        <a:graphic>
          <a:graphicData uri="http://schemas.openxmlformats.org/drawingml/2006/table">
            <a:tbl>
              <a:tblPr/>
              <a:tblGrid>
                <a:gridCol w="2377440"/>
                <a:gridCol w="2926080"/>
                <a:gridCol w="2926080"/>
                <a:gridCol w="2834640"/>
              </a:tblGrid>
              <a:tr h="402336">
                <a:tc>
                  <a:txBody>
                    <a:bodyPr/>
                    <a:lstStyle/>
                    <a:p>
                      <a:pPr indent="0" marL="0">
                        <a:buNone/>
                      </a:pPr>
                      <a:r>
                        <a:rPr lang="en-US" sz="1300" b="1" dirty="0">
                          <a:solidFill>
                            <a:srgbClr val="FFFFFF"/>
                          </a:solidFill>
                        </a:rPr>
                        <a:t>Material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Ventajas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Inconvenientes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Consecuencia práctica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00" b="1" dirty="0">
                          <a:solidFill>
                            <a:schemeClr val="tx1"/>
                          </a:solidFill>
                        </a:rPr>
                        <a:t>Fundición aleada de hierro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Muy estable dimensionalmente; resiste bien el apriete y la temperatura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Pesada; evacúa peor el calor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Admite más abuso térmico antes de deformarse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Aleación ligera de aluminio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Ligera; conduce mucho mejor el calor, lo que permite subir la relación de compresión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Se dilata más y se deforma con facilidad si se recalienta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Un recalentamiento serio deja el plano alabeado: hay que comprobarlo siempre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3" name="Shape 7"/>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14" name="Shape 8"/>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15" name="Text 9"/>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6" name="Text 10"/>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La culata de aluminio permitió subir la relación de compresión en los motores modernos, porque evacúa el calor de la cámara con más rapidez y aleja el riesgo de detonación. El precio es su sensibilidad al recalentamiento.</a:t>
            </a:r>
            <a:endParaRPr lang="en-US" sz="1200" dirty="0"/>
          </a:p>
        </p:txBody>
      </p:sp>
      <p:sp>
        <p:nvSpPr>
          <p:cNvPr id="17"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cabezote · enlaza con la detonación de la clase 2.3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cámara de combustión y sus cuatro criterios de diseño</a:t>
            </a:r>
            <a:endParaRPr lang="en-US" sz="3200" dirty="0"/>
          </a:p>
        </p:txBody>
      </p:sp>
      <p:sp>
        <p:nvSpPr>
          <p:cNvPr id="3" name="marco_figura"/>
          <p:cNvSpPr/>
          <p:nvPr/>
        </p:nvSpPr>
        <p:spPr>
          <a:xfrm>
            <a:off x="548640" y="1371600"/>
            <a:ext cx="475488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_camara_diseno.jpg">    </p:cNvPr>
          <p:cNvPicPr>
            <a:picLocks noChangeAspect="1"/>
          </p:cNvPicPr>
          <p:nvPr/>
        </p:nvPicPr>
        <p:blipFill>
          <a:blip r:embed="rId1"/>
          <a:srcRect l="0" r="0" t="0" b="0"/>
          <a:stretch/>
        </p:blipFill>
        <p:spPr>
          <a:xfrm>
            <a:off x="658368" y="1481328"/>
            <a:ext cx="4535424" cy="2432304"/>
          </a:xfrm>
          <a:prstGeom prst="rect">
            <a:avLst/>
          </a:prstGeom>
        </p:spPr>
      </p:pic>
      <p:sp>
        <p:nvSpPr>
          <p:cNvPr id="5" name="Text 2"/>
          <p:cNvSpPr txBox="1"/>
          <p:nvPr/>
        </p:nvSpPr>
        <p:spPr>
          <a:xfrm>
            <a:off x="658368" y="402336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51. </a:t>
            </a:r>
            <a:pPr indent="0" marL="0">
              <a:lnSpc>
                <a:spcPct val="102000"/>
              </a:lnSpc>
              <a:buNone/>
            </a:pPr>
            <a:r>
              <a:rPr lang="en-US" sz="1000" dirty="0">
                <a:solidFill>
                  <a:schemeClr val="accent4"/>
                </a:solidFill>
              </a:rPr>
              <a:t>Formas de cámara de combustión según la disposición de las válvulas. Adaptado de Minga González, M. A. (s. f.). Constitución del motor: la culata [diapositivas]. ISTS.</a:t>
            </a:r>
            <a:endParaRPr lang="en-US" sz="1000" dirty="0"/>
          </a:p>
        </p:txBody>
      </p:sp>
      <p:sp>
        <p:nvSpPr>
          <p:cNvPr id="6" name="Shape 3"/>
          <p:cNvSpPr/>
          <p:nvPr/>
        </p:nvSpPr>
        <p:spPr>
          <a:xfrm>
            <a:off x="566928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6692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199632" y="1463040"/>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1 — Lo más compacta posible. </a:t>
            </a:r>
            <a:pPr indent="0" marL="0">
              <a:lnSpc>
                <a:spcPct val="106000"/>
              </a:lnSpc>
              <a:buNone/>
            </a:pPr>
            <a:r>
              <a:rPr lang="en-US" sz="1150" dirty="0">
                <a:solidFill>
                  <a:schemeClr val="accent4"/>
                </a:solidFill>
              </a:rPr>
              <a:t>relación superficie-volumen reducida: menos superficie significa menos calor perdido hacia las paredes y mejor rendimiento</a:t>
            </a:r>
            <a:endParaRPr lang="en-US" sz="1150" dirty="0"/>
          </a:p>
        </p:txBody>
      </p:sp>
      <p:sp>
        <p:nvSpPr>
          <p:cNvPr id="9" name="Shape 6"/>
          <p:cNvSpPr/>
          <p:nvPr/>
        </p:nvSpPr>
        <p:spPr>
          <a:xfrm>
            <a:off x="566928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66928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199632" y="2121408"/>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2 — Bujía lo más centrada posible. </a:t>
            </a:r>
            <a:pPr indent="0" marL="0">
              <a:lnSpc>
                <a:spcPct val="106000"/>
              </a:lnSpc>
              <a:buNone/>
            </a:pPr>
            <a:r>
              <a:rPr lang="en-US" sz="1150" dirty="0">
                <a:solidFill>
                  <a:schemeClr val="accent4"/>
                </a:solidFill>
              </a:rPr>
              <a:t>así el frente de llama recorre distancias parecidas en todas direcciones y la combustión es más rápida y uniforme</a:t>
            </a:r>
            <a:endParaRPr lang="en-US" sz="1150" dirty="0"/>
          </a:p>
        </p:txBody>
      </p:sp>
      <p:sp>
        <p:nvSpPr>
          <p:cNvPr id="12" name="Shape 9"/>
          <p:cNvSpPr/>
          <p:nvPr/>
        </p:nvSpPr>
        <p:spPr>
          <a:xfrm>
            <a:off x="566928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66928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199632" y="2779776"/>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3 — El punto más alejado, en zona fría. </a:t>
            </a:r>
            <a:pPr indent="0" marL="0">
              <a:lnSpc>
                <a:spcPct val="106000"/>
              </a:lnSpc>
              <a:buNone/>
            </a:pPr>
            <a:r>
              <a:rPr lang="en-US" sz="1150" dirty="0">
                <a:solidFill>
                  <a:schemeClr val="accent4"/>
                </a:solidFill>
              </a:rPr>
              <a:t>la última porción de mezcla en quemarse debe estar donde menos se caliente, para que no detone antes de que le llegue la llama</a:t>
            </a:r>
            <a:endParaRPr lang="en-US" sz="1150" dirty="0"/>
          </a:p>
        </p:txBody>
      </p:sp>
      <p:sp>
        <p:nvSpPr>
          <p:cNvPr id="15" name="Shape 12"/>
          <p:cNvSpPr/>
          <p:nvPr/>
        </p:nvSpPr>
        <p:spPr>
          <a:xfrm>
            <a:off x="566928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66928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199632" y="3438144"/>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4 — Válvulas lo más grandes posible. </a:t>
            </a:r>
            <a:pPr indent="0" marL="0">
              <a:lnSpc>
                <a:spcPct val="106000"/>
              </a:lnSpc>
              <a:buNone/>
            </a:pPr>
            <a:r>
              <a:rPr lang="en-US" sz="1150" dirty="0">
                <a:solidFill>
                  <a:schemeClr val="accent4"/>
                </a:solidFill>
              </a:rPr>
              <a:t>mayor sección de paso significa mejor llenado a alto régimen, y de ahí las cámaras que permiten cuatro válvulas</a:t>
            </a:r>
            <a:endParaRPr lang="en-US" sz="1150" dirty="0"/>
          </a:p>
        </p:txBody>
      </p:sp>
      <p:sp>
        <p:nvSpPr>
          <p:cNvPr id="18" name="Shape 15"/>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19" name="Shape 16"/>
          <p:cNvSpPr/>
          <p:nvPr/>
        </p:nvSpPr>
        <p:spPr>
          <a:xfrm>
            <a:off x="786384" y="4434840"/>
            <a:ext cx="365760" cy="365760"/>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criterios 1 y 4 se contradicen: una cámara compacta deja poco sitio para válvulas grandes. La cámara de cuatro válvulas en techo resuelve el conflicto, porque dos válvulas pequeñas dan más área que una grande en el mismo círculo y además dejan la bujía en el centro.</a:t>
            </a:r>
            <a:endParaRPr lang="en-US" sz="14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5120640"/>
          <a:ext cx="11064240" cy="914400"/>
        </p:xfrm>
        <a:graphic>
          <a:graphicData uri="http://schemas.openxmlformats.org/drawingml/2006/table">
            <a:tbl>
              <a:tblPr/>
              <a:tblGrid>
                <a:gridCol w="3108960"/>
                <a:gridCol w="3931920"/>
                <a:gridCol w="4023360"/>
              </a:tblGrid>
              <a:tr h="347472">
                <a:tc>
                  <a:txBody>
                    <a:bodyPr/>
                    <a:lstStyle/>
                    <a:p>
                      <a:pPr indent="0" marL="0">
                        <a:buNone/>
                      </a:pPr>
                      <a:r>
                        <a:rPr lang="en-US" sz="1300" b="1" dirty="0">
                          <a:solidFill>
                            <a:srgbClr val="FFFFFF"/>
                          </a:solidFill>
                        </a:rPr>
                        <a:t>Criterio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busca evitar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Dónde se estudió</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47472">
                <a:tc>
                  <a:txBody>
                    <a:bodyPr/>
                    <a:lstStyle/>
                    <a:p>
                      <a:pPr indent="0" marL="0">
                        <a:buNone/>
                      </a:pPr>
                      <a:r>
                        <a:rPr lang="en-US" sz="1100" b="1" dirty="0">
                          <a:solidFill>
                            <a:schemeClr val="tx1"/>
                          </a:solidFill>
                        </a:rPr>
                        <a:t>Compacidad</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Pérdida de calor por las paredes de la cámara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Relación de compresión, Unidad 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1"/>
                          </a:solidFill>
                        </a:rPr>
                        <a:t>Bujía centrada y punto frío alejado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La detonación o picado de biela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Avance al encendido, clase 2.3</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3" name="Text 1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cabezote · enlaza con la Unidad 1 y con la clase 2.3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Las válvulas: admisión y escape no son iguales</a:t>
            </a:r>
            <a:endParaRPr lang="en-US" sz="3200" dirty="0"/>
          </a:p>
        </p:txBody>
      </p:sp>
      <p:sp>
        <p:nvSpPr>
          <p:cNvPr id="3" name="marco_figura"/>
          <p:cNvSpPr/>
          <p:nvPr/>
        </p:nvSpPr>
        <p:spPr>
          <a:xfrm>
            <a:off x="548640" y="1371600"/>
            <a:ext cx="457200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_valvulas_culata.jpg">    </p:cNvPr>
          <p:cNvPicPr>
            <a:picLocks noChangeAspect="1"/>
          </p:cNvPicPr>
          <p:nvPr/>
        </p:nvPicPr>
        <p:blipFill>
          <a:blip r:embed="rId1"/>
          <a:srcRect l="0" r="0" t="0" b="0"/>
          <a:stretch/>
        </p:blipFill>
        <p:spPr>
          <a:xfrm>
            <a:off x="658368" y="1481328"/>
            <a:ext cx="4352544" cy="2432304"/>
          </a:xfrm>
          <a:prstGeom prst="rect">
            <a:avLst/>
          </a:prstGeom>
        </p:spPr>
      </p:pic>
      <p:sp>
        <p:nvSpPr>
          <p:cNvPr id="5" name="Text 2"/>
          <p:cNvSpPr txBox="1"/>
          <p:nvPr/>
        </p:nvSpPr>
        <p:spPr>
          <a:xfrm>
            <a:off x="658368" y="402336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52. </a:t>
            </a:r>
            <a:pPr indent="0" marL="0">
              <a:lnSpc>
                <a:spcPct val="102000"/>
              </a:lnSpc>
              <a:buNone/>
            </a:pPr>
            <a:r>
              <a:rPr lang="en-US" sz="1000" dirty="0">
                <a:solidFill>
                  <a:schemeClr val="accent4"/>
                </a:solidFill>
              </a:rPr>
              <a:t>Válvulas montadas en la culata, vistas desde la cámara de combustión. Adaptado de Minga González, M. A. (s. f.). Constitución del motor: la culata [diapositivas]. ISTS.</a:t>
            </a:r>
            <a:endParaRPr lang="en-US" sz="1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0" y="1371600"/>
          <a:ext cx="6126480" cy="914400"/>
        </p:xfrm>
        <a:graphic>
          <a:graphicData uri="http://schemas.openxmlformats.org/drawingml/2006/table">
            <a:tbl>
              <a:tblPr/>
              <a:tblGrid>
                <a:gridCol w="1920240"/>
                <a:gridCol w="2103120"/>
                <a:gridCol w="2103120"/>
              </a:tblGrid>
              <a:tr h="420624">
                <a:tc>
                  <a:txBody>
                    <a:bodyPr/>
                    <a:lstStyle/>
                    <a:p>
                      <a:pPr indent="0" marL="0">
                        <a:buNone/>
                      </a:pPr>
                      <a:r>
                        <a:rPr lang="en-US" sz="1300" b="1" dirty="0">
                          <a:solidFill>
                            <a:srgbClr val="FFFFFF"/>
                          </a:solidFill>
                        </a:rPr>
                        <a:t>Aspecto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Admisión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Escape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100" b="1" dirty="0">
                          <a:solidFill>
                            <a:schemeClr val="tx1"/>
                          </a:solidFill>
                        </a:rPr>
                        <a:t>Temperatura de trabajo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Refrigerada por la mezcla que entra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Muy alta: la atraviesan los gases quemados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Diámetro de la cabeza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Mayor, para favorecer el llenado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Menor: los gases salen con presión propia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Material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Acero aleado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Aleaciones refractarias; a veces relleno de sodio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Desgaste típico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Acumulación de carbonilla en el vástago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Recesión del asiento, quemado y deformación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25196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45770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457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3434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válvula de escape es la pieza más castigada del motor: trabaja al rojo, bañada por los gases quemados, y solo evacúa su calor por dos caminos, el contacto con su asiento cuando está cerrada y el contacto del vástago con su guía.</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importa que cierre bien. </a:t>
            </a:r>
            <a:pPr indent="0" marL="0">
              <a:lnSpc>
                <a:spcPct val="106000"/>
              </a:lnSpc>
              <a:buNone/>
            </a:pPr>
            <a:r>
              <a:rPr lang="en-US" sz="1150" dirty="0">
                <a:solidFill>
                  <a:schemeClr val="accent4"/>
                </a:solidFill>
              </a:rPr>
              <a:t>si no asienta correctamente, pierde su vía principal de refrigeración, se calienta más, se deforma más y cierra todavía peor: el deterioro se acelera a sí mismo</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produce ese deterioro. </a:t>
            </a:r>
            <a:pPr indent="0" marL="0">
              <a:lnSpc>
                <a:spcPct val="106000"/>
              </a:lnSpc>
              <a:buNone/>
            </a:pPr>
            <a:r>
              <a:rPr lang="en-US" sz="1150" dirty="0">
                <a:solidFill>
                  <a:schemeClr val="accent4"/>
                </a:solidFill>
              </a:rPr>
              <a:t>pérdida de compresión en ese cilindro, fallo irregular, y en casos avanzados la cabeza de la válvula puede llegar a romperse y caer dentro del cilindro</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cada válvula vuelve a su sitio. </a:t>
            </a:r>
            <a:pPr indent="0" marL="0">
              <a:lnSpc>
                <a:spcPct val="106000"/>
              </a:lnSpc>
              <a:buNone/>
            </a:pPr>
            <a:r>
              <a:rPr lang="en-US" sz="1150" dirty="0">
                <a:solidFill>
                  <a:schemeClr val="accent4"/>
                </a:solidFill>
              </a:rPr>
              <a:t>válvula y asiento se han desgastado juntos adaptándose entre sí; intercambiarlas obliga a rehacer el ajuste de ambas</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cabezote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Guías y asientos: que abra recta y cierre hermética</a:t>
            </a:r>
            <a:endParaRPr lang="en-US" sz="3200" dirty="0"/>
          </a:p>
        </p:txBody>
      </p:sp>
      <p:sp>
        <p:nvSpPr>
          <p:cNvPr id="3" name="marco_figura"/>
          <p:cNvSpPr/>
          <p:nvPr/>
        </p:nvSpPr>
        <p:spPr>
          <a:xfrm>
            <a:off x="548640" y="1371600"/>
            <a:ext cx="457200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culata_corte.jpg">    </p:cNvPr>
          <p:cNvPicPr>
            <a:picLocks noChangeAspect="1"/>
          </p:cNvPicPr>
          <p:nvPr/>
        </p:nvPicPr>
        <p:blipFill>
          <a:blip r:embed="rId1"/>
          <a:srcRect l="0" r="0" t="0" b="0"/>
          <a:stretch/>
        </p:blipFill>
        <p:spPr>
          <a:xfrm>
            <a:off x="658368" y="1481328"/>
            <a:ext cx="4352544" cy="2432304"/>
          </a:xfrm>
          <a:prstGeom prst="rect">
            <a:avLst/>
          </a:prstGeom>
        </p:spPr>
      </p:pic>
      <p:sp>
        <p:nvSpPr>
          <p:cNvPr id="5" name="Text 2"/>
          <p:cNvSpPr txBox="1"/>
          <p:nvPr/>
        </p:nvSpPr>
        <p:spPr>
          <a:xfrm>
            <a:off x="658368" y="402336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53. </a:t>
            </a:r>
            <a:pPr indent="0" marL="0">
              <a:lnSpc>
                <a:spcPct val="102000"/>
              </a:lnSpc>
              <a:buNone/>
            </a:pPr>
            <a:r>
              <a:rPr lang="en-US" sz="1000" dirty="0">
                <a:solidFill>
                  <a:schemeClr val="accent4"/>
                </a:solidFill>
              </a:rPr>
              <a:t>Corte de la culata: guía, asiento y conducto de cada válvula. Adaptado de Minga González, M. A. (s. f.). Sistemas auxiliares del motor [diapositivas]. ISTS.</a:t>
            </a:r>
            <a:endParaRPr lang="en-US" sz="1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0" y="1371600"/>
          <a:ext cx="6126480" cy="914400"/>
        </p:xfrm>
        <a:graphic>
          <a:graphicData uri="http://schemas.openxmlformats.org/drawingml/2006/table">
            <a:tbl>
              <a:tblPr/>
              <a:tblGrid>
                <a:gridCol w="1737360"/>
                <a:gridCol w="2194560"/>
                <a:gridCol w="2194560"/>
              </a:tblGrid>
              <a:tr h="475488">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hace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ocurre si se desgasta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100" b="1" dirty="0">
                          <a:solidFill>
                            <a:schemeClr val="tx1"/>
                          </a:solidFill>
                        </a:rPr>
                        <a:t>Guía de válvula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Mantiene el vástago alineado para que la cabeza asiente centrada y conduce parte de su calor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La válvula cabecea y asienta descentrada; entra aceite al cilindro por el vástago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chemeClr val="tx1"/>
                          </a:solidFill>
                        </a:rPr>
                        <a:t>Asiento de válvula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Superficie cónica sobre la que la cabeza apoya; sella y evacúa el calor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Pérdida de compresión y recesión: la válvula se hunde en el asiento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100" b="1" dirty="0">
                          <a:solidFill>
                            <a:schemeClr val="tx1"/>
                          </a:solidFill>
                        </a:rPr>
                        <a:t>Sello de vástago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Dosifica el aceite que llega a la guía: ni seco ni inundado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Consumo de aceite y humo azul, muy visible al arrancar tras una parada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25196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457700"/>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786384" y="4457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3434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humo azul al arrancar tras varias horas parado, que desaparece en unos segundos, es el síntoma característico de sellos de vástago endurecidos: el aceite se filtra por las guías durante la parada y se quema en el primer arranque.</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Guía desgastada: el círculo vicioso. </a:t>
            </a:r>
            <a:pPr indent="0" marL="0">
              <a:lnSpc>
                <a:spcPct val="106000"/>
              </a:lnSpc>
              <a:buNone/>
            </a:pPr>
            <a:r>
              <a:rPr lang="en-US" sz="1150" dirty="0">
                <a:solidFill>
                  <a:schemeClr val="accent4"/>
                </a:solidFill>
              </a:rPr>
              <a:t>con holgura, la válvula cabecea al cerrar y no apoya centrada; el asiento se desgasta irregularmente y el cierre empeora</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la guía se mide siempre. </a:t>
            </a:r>
            <a:pPr indent="0" marL="0">
              <a:lnSpc>
                <a:spcPct val="106000"/>
              </a:lnSpc>
              <a:buNone/>
            </a:pPr>
            <a:r>
              <a:rPr lang="en-US" sz="1150" dirty="0">
                <a:solidFill>
                  <a:schemeClr val="accent4"/>
                </a:solidFill>
              </a:rPr>
              <a:t>porque una guía holgada invalida cualquier trabajo sobre el asiento: rectificar el asiento sin corregir la guía es trabajo perdido</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Recesión del asiento. </a:t>
            </a:r>
            <a:pPr indent="0" marL="0">
              <a:lnSpc>
                <a:spcPct val="106000"/>
              </a:lnSpc>
              <a:buNone/>
            </a:pPr>
            <a:r>
              <a:rPr lang="en-US" sz="1150" dirty="0">
                <a:solidFill>
                  <a:schemeClr val="accent4"/>
                </a:solidFill>
              </a:rPr>
              <a:t>la válvula se va hundiendo en el asiento por el martilleo continuo; reduce la holgura de válvula hasta que deja de cerrar</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cabezote · prepara las comprobaciones de la clase 3.4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muelles y el problema de la flotación</a:t>
            </a:r>
            <a:endParaRPr lang="en-US" sz="3200" dirty="0"/>
          </a:p>
        </p:txBody>
      </p:sp>
      <p:sp>
        <p:nvSpPr>
          <p:cNvPr id="3" name="marco_figura"/>
          <p:cNvSpPr/>
          <p:nvPr/>
        </p:nvSpPr>
        <p:spPr>
          <a:xfrm>
            <a:off x="548640" y="1371600"/>
            <a:ext cx="475488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_dohc_4valv.jpg">    </p:cNvPr>
          <p:cNvPicPr>
            <a:picLocks noChangeAspect="1"/>
          </p:cNvPicPr>
          <p:nvPr/>
        </p:nvPicPr>
        <p:blipFill>
          <a:blip r:embed="rId1"/>
          <a:srcRect l="0" r="0" t="0" b="0"/>
          <a:stretch/>
        </p:blipFill>
        <p:spPr>
          <a:xfrm>
            <a:off x="658368" y="1481328"/>
            <a:ext cx="4535424" cy="2340864"/>
          </a:xfrm>
          <a:prstGeom prst="rect">
            <a:avLst/>
          </a:prstGeom>
        </p:spPr>
      </p:pic>
      <p:sp>
        <p:nvSpPr>
          <p:cNvPr id="5" name="Text 2"/>
          <p:cNvSpPr txBox="1"/>
          <p:nvPr/>
        </p:nvSpPr>
        <p:spPr>
          <a:xfrm>
            <a:off x="658368" y="393192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54. </a:t>
            </a:r>
            <a:pPr indent="0" marL="0">
              <a:lnSpc>
                <a:spcPct val="102000"/>
              </a:lnSpc>
              <a:buNone/>
            </a:pPr>
            <a:r>
              <a:rPr lang="en-US" sz="1000" dirty="0">
                <a:solidFill>
                  <a:schemeClr val="accent4"/>
                </a:solidFill>
              </a:rPr>
              <a:t>Culata DOHC: válvulas, muelles y árboles de levas montados. Adaptado de Minga González, M. A. (s. f.). Constitución del motor: la culata [diapositivas]. ISTS.</a:t>
            </a:r>
            <a:endParaRPr lang="en-US" sz="1000" dirty="0"/>
          </a:p>
        </p:txBody>
      </p:sp>
      <p:sp>
        <p:nvSpPr>
          <p:cNvPr id="6" name="Shape 3"/>
          <p:cNvSpPr/>
          <p:nvPr/>
        </p:nvSpPr>
        <p:spPr>
          <a:xfrm>
            <a:off x="566928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6692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199632" y="1463040"/>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Su función real. </a:t>
            </a:r>
            <a:pPr indent="0" marL="0">
              <a:lnSpc>
                <a:spcPct val="106000"/>
              </a:lnSpc>
              <a:buNone/>
            </a:pPr>
            <a:r>
              <a:rPr lang="en-US" sz="1150" dirty="0">
                <a:solidFill>
                  <a:schemeClr val="accent4"/>
                </a:solidFill>
              </a:rPr>
              <a:t>no es solo cerrar la válvula: es mantenerla permanentemente en contacto con la leva durante todo el ciclo</a:t>
            </a:r>
            <a:endParaRPr lang="en-US" sz="1150" dirty="0"/>
          </a:p>
        </p:txBody>
      </p:sp>
      <p:sp>
        <p:nvSpPr>
          <p:cNvPr id="9" name="Shape 6"/>
          <p:cNvSpPr/>
          <p:nvPr/>
        </p:nvSpPr>
        <p:spPr>
          <a:xfrm>
            <a:off x="566928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66928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199632" y="2121408"/>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es la flotación. </a:t>
            </a:r>
            <a:pPr indent="0" marL="0">
              <a:lnSpc>
                <a:spcPct val="106000"/>
              </a:lnSpc>
              <a:buNone/>
            </a:pPr>
            <a:r>
              <a:rPr lang="en-US" sz="1150" dirty="0">
                <a:solidFill>
                  <a:schemeClr val="accent4"/>
                </a:solidFill>
              </a:rPr>
              <a:t>a alto régimen la inercia de la válvula supera la fuerza del muelle; la válvula deja de seguir el perfil de la leva y queda rebotando sin cerrar</a:t>
            </a:r>
            <a:endParaRPr lang="en-US" sz="1150" dirty="0"/>
          </a:p>
        </p:txBody>
      </p:sp>
      <p:sp>
        <p:nvSpPr>
          <p:cNvPr id="12" name="Shape 9"/>
          <p:cNvSpPr/>
          <p:nvPr/>
        </p:nvSpPr>
        <p:spPr>
          <a:xfrm>
            <a:off x="566928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66928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199632" y="2779776"/>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produce. </a:t>
            </a:r>
            <a:pPr indent="0" marL="0">
              <a:lnSpc>
                <a:spcPct val="106000"/>
              </a:lnSpc>
              <a:buNone/>
            </a:pPr>
            <a:r>
              <a:rPr lang="en-US" sz="1150" dirty="0">
                <a:solidFill>
                  <a:schemeClr val="accent4"/>
                </a:solidFill>
              </a:rPr>
              <a:t>pérdida brusca de potencia a partir de cierto régimen y, si se insiste, contacto entre la válvula y el pistón</a:t>
            </a:r>
            <a:endParaRPr lang="en-US" sz="1150" dirty="0"/>
          </a:p>
        </p:txBody>
      </p:sp>
      <p:sp>
        <p:nvSpPr>
          <p:cNvPr id="15" name="Shape 12"/>
          <p:cNvSpPr/>
          <p:nvPr/>
        </p:nvSpPr>
        <p:spPr>
          <a:xfrm>
            <a:off x="566928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66928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199632" y="3438144"/>
            <a:ext cx="541324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evita. </a:t>
            </a:r>
            <a:pPr indent="0" marL="0">
              <a:lnSpc>
                <a:spcPct val="106000"/>
              </a:lnSpc>
              <a:buNone/>
            </a:pPr>
            <a:r>
              <a:rPr lang="en-US" sz="1150" dirty="0">
                <a:solidFill>
                  <a:schemeClr val="accent4"/>
                </a:solidFill>
              </a:rPr>
              <a:t>muelles más fuertes, válvulas más ligeras, o suprimir el muelle mediante un mando desmodrómico que cierra la válvula mecánicamente</a:t>
            </a:r>
            <a:endParaRPr lang="en-US" sz="1150" dirty="0"/>
          </a:p>
        </p:txBody>
      </p:sp>
      <p:sp>
        <p:nvSpPr>
          <p:cNvPr id="18" name="Shape 15"/>
          <p:cNvSpPr/>
          <p:nvPr/>
        </p:nvSpPr>
        <p:spPr>
          <a:xfrm>
            <a:off x="548640" y="4206240"/>
            <a:ext cx="11064240" cy="731520"/>
          </a:xfrm>
          <a:prstGeom prst="roundRect">
            <a:avLst>
              <a:gd name="adj" fmla="val 7500"/>
            </a:avLst>
          </a:prstGeom>
          <a:solidFill>
            <a:schemeClr val="bg2"/>
          </a:solidFill>
          <a:ln w="12700">
            <a:solidFill>
              <a:schemeClr val="bg2"/>
            </a:solidFill>
            <a:prstDash val="solid"/>
          </a:ln>
        </p:spPr>
        <p:txBody>
          <a:bodyPr/>
          <a:p/>
        </p:txBody>
      </p:sp>
      <p:sp>
        <p:nvSpPr>
          <p:cNvPr id="19" name="Shape 16"/>
          <p:cNvSpPr/>
          <p:nvPr/>
        </p:nvSpPr>
        <p:spPr>
          <a:xfrm>
            <a:off x="786384" y="438912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786384"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29768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flotación de válvulas es la razón física por la que un motor convencional tiene un régimen máximo. No es el límite del cigüeñal ni el de la combustión: es que las válvulas dejan de seguir a sus levas.</a:t>
            </a:r>
            <a:endParaRPr lang="en-US" sz="145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3108960"/>
                <a:gridCol w="3931920"/>
                <a:gridCol w="4023360"/>
              </a:tblGrid>
              <a:tr h="365760">
                <a:tc>
                  <a:txBody>
                    <a:bodyPr/>
                    <a:lstStyle/>
                    <a:p>
                      <a:pPr indent="0" marL="0">
                        <a:buNone/>
                      </a:pPr>
                      <a:r>
                        <a:rPr lang="en-US" sz="1300" b="1" dirty="0">
                          <a:solidFill>
                            <a:srgbClr val="FFFFFF"/>
                          </a:solidFill>
                        </a:rPr>
                        <a:t>Comprobación del muelle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Cómo se hace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Criterio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00" b="1" dirty="0">
                          <a:solidFill>
                            <a:schemeClr val="tx1"/>
                          </a:solidFill>
                        </a:rPr>
                        <a:t>Longitud libre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Medir con calibrador el muelle sin comprimir y compararlo con el valor del manual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Un muelle acortado ha perdido fuerza y se sustituye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Perpendicularidad</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Apoyarlo sobre una superficie plana junto a una escuadra y medir la desviación en la punta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Si supera el valor del manual, el muelle empuja torcido y se sustituye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3" name="Text 1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cabezote · comprobaciones del cabezote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Despiece del cabezote: preparación y herramienta</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914400"/>
        </p:xfrm>
        <a:graphic>
          <a:graphicData uri="http://schemas.openxmlformats.org/drawingml/2006/table">
            <a:tbl>
              <a:tblPr/>
              <a:tblGrid>
                <a:gridCol w="2743200"/>
                <a:gridCol w="2743200"/>
              </a:tblGrid>
              <a:tr h="347472">
                <a:tc>
                  <a:txBody>
                    <a:bodyPr/>
                    <a:lstStyle/>
                    <a:p>
                      <a:pPr indent="0" marL="0">
                        <a:buNone/>
                      </a:pPr>
                      <a:r>
                        <a:rPr lang="en-US" sz="1300" b="1" dirty="0">
                          <a:solidFill>
                            <a:srgbClr val="FFFFFF"/>
                          </a:solidFill>
                        </a:rPr>
                        <a:t>Herramienta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Para qué</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47472">
                <a:tc>
                  <a:txBody>
                    <a:bodyPr/>
                    <a:lstStyle/>
                    <a:p>
                      <a:pPr indent="0" marL="0">
                        <a:buNone/>
                      </a:pPr>
                      <a:r>
                        <a:rPr lang="en-US" sz="1100" b="1" dirty="0">
                          <a:solidFill>
                            <a:schemeClr val="tx1"/>
                          </a:solidFill>
                        </a:rPr>
                        <a:t>Llave dinamométrica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Aflojado y apriete al par y en el orden del manual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1"/>
                          </a:solidFill>
                        </a:rPr>
                        <a:t>Compresor de muelles de válvula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Comprimir el muelle para liberar los seguros cónicos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100" b="1" dirty="0">
                          <a:solidFill>
                            <a:schemeClr val="tx1"/>
                          </a:solidFill>
                        </a:rPr>
                        <a:t>Imán o pinza fina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Retirar los seguros cónicos sin perderlos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1"/>
                          </a:solidFill>
                        </a:rPr>
                        <a:t>Bandeja compartimentada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Una casilla por cilindro y por posición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100" b="1" dirty="0">
                          <a:solidFill>
                            <a:schemeClr val="tx1"/>
                          </a:solidFill>
                        </a:rPr>
                        <a:t>Rasqueta de plástico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Retirar restos de empaque sin rayar el plano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1"/>
                          </a:solidFill>
                        </a:rPr>
                        <a:t>Rotulador indeleble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Identificar piezas y numerar posiciones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5" name="Text 2"/>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3"/>
          <p:cNvSpPr txBox="1"/>
          <p:nvPr/>
        </p:nvSpPr>
        <p:spPr>
          <a:xfrm>
            <a:off x="6839712" y="1463040"/>
            <a:ext cx="4773168" cy="44805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Seguridad 1 — los muelles. </a:t>
            </a:r>
            <a:pPr indent="0" marL="0">
              <a:lnSpc>
                <a:spcPct val="106000"/>
              </a:lnSpc>
              <a:buNone/>
            </a:pPr>
            <a:r>
              <a:rPr lang="en-US" sz="1100" dirty="0">
                <a:solidFill>
                  <a:schemeClr val="accent4"/>
                </a:solidFill>
              </a:rPr>
              <a:t>están comprimidos y almacenan energía; si el compresor resbala, los seguros salen despedidos: gafas obligatorias</a:t>
            </a:r>
            <a:endParaRPr lang="en-US" sz="1100" dirty="0"/>
          </a:p>
        </p:txBody>
      </p:sp>
      <p:sp>
        <p:nvSpPr>
          <p:cNvPr id="7" name="Shape 4"/>
          <p:cNvSpPr/>
          <p:nvPr/>
        </p:nvSpPr>
        <p:spPr>
          <a:xfrm>
            <a:off x="6309360" y="2002536"/>
            <a:ext cx="384048" cy="384048"/>
          </a:xfrm>
          <a:prstGeom prst="ellipse">
            <a:avLst/>
          </a:prstGeom>
          <a:solidFill>
            <a:schemeClr val="accent2"/>
          </a:solidFill>
          <a:ln w="12700">
            <a:solidFill>
              <a:schemeClr val="accent2"/>
            </a:solidFill>
            <a:prstDash val="solid"/>
          </a:ln>
        </p:spPr>
        <p:txBody>
          <a:bodyPr/>
          <a:p/>
        </p:txBody>
      </p:sp>
      <p:sp>
        <p:nvSpPr>
          <p:cNvPr id="8" name="Text 5"/>
          <p:cNvSpPr txBox="1"/>
          <p:nvPr/>
        </p:nvSpPr>
        <p:spPr>
          <a:xfrm>
            <a:off x="6309360" y="2002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6"/>
          <p:cNvSpPr txBox="1"/>
          <p:nvPr/>
        </p:nvSpPr>
        <p:spPr>
          <a:xfrm>
            <a:off x="6839712" y="1965960"/>
            <a:ext cx="4773168" cy="44805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Seguridad 2 — los bordes. </a:t>
            </a:r>
            <a:pPr indent="0" marL="0">
              <a:lnSpc>
                <a:spcPct val="106000"/>
              </a:lnSpc>
              <a:buNone/>
            </a:pPr>
            <a:r>
              <a:rPr lang="en-US" sz="1100" dirty="0">
                <a:solidFill>
                  <a:schemeClr val="accent4"/>
                </a:solidFill>
              </a:rPr>
              <a:t>el cabezote tiene aristas vivas y restos de empaque cortantes: guantes</a:t>
            </a:r>
            <a:endParaRPr lang="en-US" sz="1100" dirty="0"/>
          </a:p>
        </p:txBody>
      </p:sp>
      <p:sp>
        <p:nvSpPr>
          <p:cNvPr id="10" name="Shape 7"/>
          <p:cNvSpPr/>
          <p:nvPr/>
        </p:nvSpPr>
        <p:spPr>
          <a:xfrm>
            <a:off x="6309360" y="2505456"/>
            <a:ext cx="384048" cy="384048"/>
          </a:xfrm>
          <a:prstGeom prst="ellipse">
            <a:avLst/>
          </a:prstGeom>
          <a:solidFill>
            <a:schemeClr val="accent2"/>
          </a:solidFill>
          <a:ln w="12700">
            <a:solidFill>
              <a:schemeClr val="accent2"/>
            </a:solidFill>
            <a:prstDash val="solid"/>
          </a:ln>
        </p:spPr>
        <p:txBody>
          <a:bodyPr/>
          <a:p/>
        </p:txBody>
      </p:sp>
      <p:sp>
        <p:nvSpPr>
          <p:cNvPr id="11" name="Text 8"/>
          <p:cNvSpPr txBox="1"/>
          <p:nvPr/>
        </p:nvSpPr>
        <p:spPr>
          <a:xfrm>
            <a:off x="6309360"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9"/>
          <p:cNvSpPr txBox="1"/>
          <p:nvPr/>
        </p:nvSpPr>
        <p:spPr>
          <a:xfrm>
            <a:off x="6839712" y="2468880"/>
            <a:ext cx="4773168" cy="44805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Seguridad 3 — el peso. </a:t>
            </a:r>
            <a:pPr indent="0" marL="0">
              <a:lnSpc>
                <a:spcPct val="106000"/>
              </a:lnSpc>
              <a:buNone/>
            </a:pPr>
            <a:r>
              <a:rPr lang="en-US" sz="1100" dirty="0">
                <a:solidFill>
                  <a:schemeClr val="accent4"/>
                </a:solidFill>
              </a:rPr>
              <a:t>un cabezote de fundición es pesado y se manipula entre dos personas o con apoyo</a:t>
            </a:r>
            <a:endParaRPr lang="en-US" sz="1100" dirty="0"/>
          </a:p>
        </p:txBody>
      </p:sp>
      <p:sp>
        <p:nvSpPr>
          <p:cNvPr id="13" name="Shape 10"/>
          <p:cNvSpPr/>
          <p:nvPr/>
        </p:nvSpPr>
        <p:spPr>
          <a:xfrm>
            <a:off x="6309360" y="3008376"/>
            <a:ext cx="384048" cy="384048"/>
          </a:xfrm>
          <a:prstGeom prst="ellipse">
            <a:avLst/>
          </a:prstGeom>
          <a:solidFill>
            <a:schemeClr val="accent2"/>
          </a:solidFill>
          <a:ln w="12700">
            <a:solidFill>
              <a:schemeClr val="accent2"/>
            </a:solidFill>
            <a:prstDash val="solid"/>
          </a:ln>
        </p:spPr>
        <p:txBody>
          <a:bodyPr/>
          <a:p/>
        </p:txBody>
      </p:sp>
      <p:sp>
        <p:nvSpPr>
          <p:cNvPr id="14" name="Text 11"/>
          <p:cNvSpPr txBox="1"/>
          <p:nvPr/>
        </p:nvSpPr>
        <p:spPr>
          <a:xfrm>
            <a:off x="6309360" y="3008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2"/>
          <p:cNvSpPr txBox="1"/>
          <p:nvPr/>
        </p:nvSpPr>
        <p:spPr>
          <a:xfrm>
            <a:off x="6839712" y="2971800"/>
            <a:ext cx="4773168" cy="44805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Orden 1 — numerar antes de aflojar. </a:t>
            </a:r>
            <a:pPr indent="0" marL="0">
              <a:lnSpc>
                <a:spcPct val="106000"/>
              </a:lnSpc>
              <a:buNone/>
            </a:pPr>
            <a:r>
              <a:rPr lang="en-US" sz="1100" dirty="0">
                <a:solidFill>
                  <a:schemeClr val="accent4"/>
                </a:solidFill>
              </a:rPr>
              <a:t>marcar la posición de cada válvula, cada muelle y cada taqué antes de tocar nada</a:t>
            </a:r>
            <a:endParaRPr lang="en-US" sz="1100" dirty="0"/>
          </a:p>
        </p:txBody>
      </p:sp>
      <p:sp>
        <p:nvSpPr>
          <p:cNvPr id="16" name="Shape 13"/>
          <p:cNvSpPr/>
          <p:nvPr/>
        </p:nvSpPr>
        <p:spPr>
          <a:xfrm>
            <a:off x="6309360" y="3511296"/>
            <a:ext cx="384048" cy="384048"/>
          </a:xfrm>
          <a:prstGeom prst="ellipse">
            <a:avLst/>
          </a:prstGeom>
          <a:solidFill>
            <a:schemeClr val="accent2"/>
          </a:solidFill>
          <a:ln w="12700">
            <a:solidFill>
              <a:schemeClr val="accent2"/>
            </a:solidFill>
            <a:prstDash val="solid"/>
          </a:ln>
        </p:spPr>
        <p:txBody>
          <a:bodyPr/>
          <a:p/>
        </p:txBody>
      </p:sp>
      <p:sp>
        <p:nvSpPr>
          <p:cNvPr id="17" name="Text 14"/>
          <p:cNvSpPr txBox="1"/>
          <p:nvPr/>
        </p:nvSpPr>
        <p:spPr>
          <a:xfrm>
            <a:off x="6309360" y="3511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8" name="Text 15"/>
          <p:cNvSpPr txBox="1"/>
          <p:nvPr/>
        </p:nvSpPr>
        <p:spPr>
          <a:xfrm>
            <a:off x="6839712" y="3474720"/>
            <a:ext cx="4773168" cy="44805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Orden 2 — una casilla por posición. </a:t>
            </a:r>
            <a:pPr indent="0" marL="0">
              <a:lnSpc>
                <a:spcPct val="106000"/>
              </a:lnSpc>
              <a:buNone/>
            </a:pPr>
            <a:r>
              <a:rPr lang="en-US" sz="1100" dirty="0">
                <a:solidFill>
                  <a:schemeClr val="accent4"/>
                </a:solidFill>
              </a:rPr>
              <a:t>la bandeja compartimentada no es comodidad: es lo que permite que cada válvula vuelva a su asiento</a:t>
            </a:r>
            <a:endParaRPr lang="en-US" sz="1100" dirty="0"/>
          </a:p>
        </p:txBody>
      </p:sp>
      <p:sp>
        <p:nvSpPr>
          <p:cNvPr id="19" name="Shape 16"/>
          <p:cNvSpPr/>
          <p:nvPr/>
        </p:nvSpPr>
        <p:spPr>
          <a:xfrm>
            <a:off x="6309360" y="4014216"/>
            <a:ext cx="384048" cy="384048"/>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6309360" y="4014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1" name="Text 18"/>
          <p:cNvSpPr txBox="1"/>
          <p:nvPr/>
        </p:nvSpPr>
        <p:spPr>
          <a:xfrm>
            <a:off x="6839712" y="3977640"/>
            <a:ext cx="4773168" cy="44805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Orden 3 — fotografiar cada paso. </a:t>
            </a:r>
            <a:pPr indent="0" marL="0">
              <a:lnSpc>
                <a:spcPct val="106000"/>
              </a:lnSpc>
              <a:buNone/>
            </a:pPr>
            <a:r>
              <a:rPr lang="en-US" sz="1100" dirty="0">
                <a:solidFill>
                  <a:schemeClr val="accent4"/>
                </a:solidFill>
              </a:rPr>
              <a:t>especialmente la orientación de taqués, balancines y platillos, que admiten más de una posición</a:t>
            </a:r>
            <a:endParaRPr lang="en-US" sz="1100" dirty="0"/>
          </a:p>
        </p:txBody>
      </p:sp>
      <p:sp>
        <p:nvSpPr>
          <p:cNvPr id="22" name="Shape 19"/>
          <p:cNvSpPr/>
          <p:nvPr/>
        </p:nvSpPr>
        <p:spPr>
          <a:xfrm>
            <a:off x="548640" y="4754880"/>
            <a:ext cx="11064240" cy="777240"/>
          </a:xfrm>
          <a:prstGeom prst="roundRect">
            <a:avLst>
              <a:gd name="adj" fmla="val 7059"/>
            </a:avLst>
          </a:prstGeom>
          <a:solidFill>
            <a:schemeClr val="bg2"/>
          </a:solidFill>
          <a:ln w="12700">
            <a:solidFill>
              <a:schemeClr val="bg2"/>
            </a:solidFill>
            <a:prstDash val="solid"/>
          </a:ln>
        </p:spPr>
        <p:txBody>
          <a:bodyPr/>
          <a:p/>
        </p:txBody>
      </p:sp>
      <p:sp>
        <p:nvSpPr>
          <p:cNvPr id="23" name="Shape 20"/>
          <p:cNvSpPr/>
          <p:nvPr/>
        </p:nvSpPr>
        <p:spPr>
          <a:xfrm>
            <a:off x="786384" y="4960620"/>
            <a:ext cx="365760" cy="365760"/>
          </a:xfrm>
          <a:prstGeom prst="ellipse">
            <a:avLst/>
          </a:prstGeom>
          <a:solidFill>
            <a:schemeClr val="accent1"/>
          </a:solidFill>
          <a:ln w="12700">
            <a:solidFill>
              <a:schemeClr val="accent1"/>
            </a:solidFill>
            <a:prstDash val="solid"/>
          </a:ln>
        </p:spPr>
        <p:txBody>
          <a:bodyPr/>
          <a:p/>
        </p:txBody>
      </p:sp>
      <p:sp>
        <p:nvSpPr>
          <p:cNvPr id="24" name="Text 21"/>
          <p:cNvSpPr txBox="1"/>
          <p:nvPr/>
        </p:nvSpPr>
        <p:spPr>
          <a:xfrm>
            <a:off x="786384" y="49606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5" name="Text 22"/>
          <p:cNvSpPr txBox="1"/>
          <p:nvPr/>
        </p:nvSpPr>
        <p:spPr>
          <a:xfrm>
            <a:off x="1298448" y="484632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compresor de muelles es la herramienta que más accidentes provoca en este trabajo. Debe apoyar bien, centrado y perpendicular. Nunca se improvisa con palancas: un muelle que escapa proyecta los seguros a gran velocidad.</a:t>
            </a:r>
            <a:endParaRPr lang="en-US" sz="1450" dirty="0"/>
          </a:p>
        </p:txBody>
      </p:sp>
      <p:sp>
        <p:nvSpPr>
          <p:cNvPr id="26" name="Text 23"/>
          <p:cNvSpPr txBox="1"/>
          <p:nvPr/>
        </p:nvSpPr>
        <p:spPr>
          <a:xfrm>
            <a:off x="548640" y="5623560"/>
            <a:ext cx="11064240" cy="384048"/>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Antes de empezar:  consultar en el manual el orden y el par de aflojado de los tornillos del cabezote, y comprobar si son tornillos de un solo uso que deban sustituirse obligatoriamente al armar.</a:t>
            </a:r>
            <a:endParaRPr lang="en-US" sz="1200" dirty="0"/>
          </a:p>
        </p:txBody>
      </p:sp>
      <p:sp>
        <p:nvSpPr>
          <p:cNvPr id="27"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cabezote · componente de seguridad industrial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Despiece del cabezote: procedimiento paso a paso</a:t>
            </a:r>
            <a:endParaRPr lang="en-US" sz="3200" dirty="0"/>
          </a:p>
        </p:txBody>
      </p:sp>
      <p:sp>
        <p:nvSpPr>
          <p:cNvPr id="3" name="marco_figura"/>
          <p:cNvSpPr/>
          <p:nvPr/>
        </p:nvSpPr>
        <p:spPr>
          <a:xfrm>
            <a:off x="548640" y="1371600"/>
            <a:ext cx="4206240" cy="3493008"/>
          </a:xfrm>
          <a:prstGeom prst="roundRect">
            <a:avLst>
              <a:gd name="adj" fmla="val 1571"/>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_cabezote_foto.jpg">    </p:cNvPr>
          <p:cNvPicPr>
            <a:picLocks noChangeAspect="1"/>
          </p:cNvPicPr>
          <p:nvPr/>
        </p:nvPicPr>
        <p:blipFill>
          <a:blip r:embed="rId1"/>
          <a:srcRect l="0" r="0" t="0" b="0"/>
          <a:stretch/>
        </p:blipFill>
        <p:spPr>
          <a:xfrm>
            <a:off x="658368" y="1481328"/>
            <a:ext cx="3986784" cy="2889504"/>
          </a:xfrm>
          <a:prstGeom prst="rect">
            <a:avLst/>
          </a:prstGeom>
        </p:spPr>
      </p:pic>
      <p:sp>
        <p:nvSpPr>
          <p:cNvPr id="5" name="Text 2"/>
          <p:cNvSpPr txBox="1"/>
          <p:nvPr/>
        </p:nvSpPr>
        <p:spPr>
          <a:xfrm>
            <a:off x="658368" y="4480560"/>
            <a:ext cx="39867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56. </a:t>
            </a:r>
            <a:pPr indent="0" marL="0">
              <a:lnSpc>
                <a:spcPct val="102000"/>
              </a:lnSpc>
              <a:buNone/>
            </a:pPr>
            <a:r>
              <a:rPr lang="en-US" sz="1000" dirty="0">
                <a:solidFill>
                  <a:schemeClr val="accent4"/>
                </a:solidFill>
              </a:rPr>
              <a:t>Cabezote desmontado sobre el banco, listo para el despiece. Adaptado de Fernández, J. (s. f.). La distribución [diapositivas]. ISTS.</a:t>
            </a:r>
            <a:endParaRPr lang="en-US" sz="1000" dirty="0"/>
          </a:p>
        </p:txBody>
      </p:sp>
      <p:sp>
        <p:nvSpPr>
          <p:cNvPr id="6" name="Shape 3"/>
          <p:cNvSpPr/>
          <p:nvPr/>
        </p:nvSpPr>
        <p:spPr>
          <a:xfrm>
            <a:off x="51206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1206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5650992" y="1463040"/>
            <a:ext cx="5961888" cy="4572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1 — Documentar el conjunto montado. </a:t>
            </a:r>
            <a:pPr indent="0" marL="0">
              <a:lnSpc>
                <a:spcPct val="106000"/>
              </a:lnSpc>
              <a:buNone/>
            </a:pPr>
            <a:r>
              <a:rPr lang="en-US" sz="1100" dirty="0">
                <a:solidFill>
                  <a:schemeClr val="accent4"/>
                </a:solidFill>
              </a:rPr>
              <a:t>fotografiar el cabezote completo desde varios ángulos antes de retirar nada</a:t>
            </a:r>
            <a:endParaRPr lang="en-US" sz="1100" dirty="0"/>
          </a:p>
        </p:txBody>
      </p:sp>
      <p:sp>
        <p:nvSpPr>
          <p:cNvPr id="9" name="Shape 6"/>
          <p:cNvSpPr/>
          <p:nvPr/>
        </p:nvSpPr>
        <p:spPr>
          <a:xfrm>
            <a:off x="5120640" y="201168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120640" y="2011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5650992" y="1975104"/>
            <a:ext cx="5961888" cy="4572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2 — Retirar el árbol de levas. </a:t>
            </a:r>
            <a:pPr indent="0" marL="0">
              <a:lnSpc>
                <a:spcPct val="106000"/>
              </a:lnSpc>
              <a:buNone/>
            </a:pPr>
            <a:r>
              <a:rPr lang="en-US" sz="1100" dirty="0">
                <a:solidFill>
                  <a:schemeClr val="accent4"/>
                </a:solidFill>
              </a:rPr>
              <a:t>aflojar los sombreretes en orden cruzado y por pasos, para no flexionar el árbol; numerarlos al retirarlos</a:t>
            </a:r>
            <a:endParaRPr lang="en-US" sz="1100" dirty="0"/>
          </a:p>
        </p:txBody>
      </p:sp>
      <p:sp>
        <p:nvSpPr>
          <p:cNvPr id="12" name="Shape 9"/>
          <p:cNvSpPr/>
          <p:nvPr/>
        </p:nvSpPr>
        <p:spPr>
          <a:xfrm>
            <a:off x="5120640" y="252374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12064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5650992" y="2487168"/>
            <a:ext cx="5961888" cy="4572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3 — Retirar taqués o balancines. </a:t>
            </a:r>
            <a:pPr indent="0" marL="0">
              <a:lnSpc>
                <a:spcPct val="106000"/>
              </a:lnSpc>
              <a:buNone/>
            </a:pPr>
            <a:r>
              <a:rPr lang="en-US" sz="1100" dirty="0">
                <a:solidFill>
                  <a:schemeClr val="accent4"/>
                </a:solidFill>
              </a:rPr>
              <a:t>identificando cada uno con su cilindro y su posición de admisión o escape</a:t>
            </a:r>
            <a:endParaRPr lang="en-US" sz="1100" dirty="0"/>
          </a:p>
        </p:txBody>
      </p:sp>
      <p:sp>
        <p:nvSpPr>
          <p:cNvPr id="15" name="Shape 12"/>
          <p:cNvSpPr/>
          <p:nvPr/>
        </p:nvSpPr>
        <p:spPr>
          <a:xfrm>
            <a:off x="5120640" y="303580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12064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5650992" y="2999232"/>
            <a:ext cx="5961888" cy="4572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4 — Comprimir el muelle. </a:t>
            </a:r>
            <a:pPr indent="0" marL="0">
              <a:lnSpc>
                <a:spcPct val="106000"/>
              </a:lnSpc>
              <a:buNone/>
            </a:pPr>
            <a:r>
              <a:rPr lang="en-US" sz="1100" dirty="0">
                <a:solidFill>
                  <a:schemeClr val="accent4"/>
                </a:solidFill>
              </a:rPr>
              <a:t>montar el compresor centrado sobre el platillo y comprimir lo justo para que los seguros queden libres</a:t>
            </a:r>
            <a:endParaRPr lang="en-US" sz="1100" dirty="0"/>
          </a:p>
        </p:txBody>
      </p:sp>
      <p:sp>
        <p:nvSpPr>
          <p:cNvPr id="18" name="Shape 15"/>
          <p:cNvSpPr/>
          <p:nvPr/>
        </p:nvSpPr>
        <p:spPr>
          <a:xfrm>
            <a:off x="5120640" y="3547872"/>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120640" y="35478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5650992" y="3511296"/>
            <a:ext cx="5961888" cy="4572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5 — Extraer los seguros cónicos. </a:t>
            </a:r>
            <a:pPr indent="0" marL="0">
              <a:lnSpc>
                <a:spcPct val="106000"/>
              </a:lnSpc>
              <a:buNone/>
            </a:pPr>
            <a:r>
              <a:rPr lang="en-US" sz="1100" dirty="0">
                <a:solidFill>
                  <a:schemeClr val="accent4"/>
                </a:solidFill>
              </a:rPr>
              <a:t>con imán o pinza fina; son dos por válvula y se pierden con facilidad</a:t>
            </a:r>
            <a:endParaRPr lang="en-US" sz="1100" dirty="0"/>
          </a:p>
        </p:txBody>
      </p:sp>
      <p:sp>
        <p:nvSpPr>
          <p:cNvPr id="21" name="Shape 18"/>
          <p:cNvSpPr/>
          <p:nvPr/>
        </p:nvSpPr>
        <p:spPr>
          <a:xfrm>
            <a:off x="5120640" y="405993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5120640" y="4059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0"/>
          <p:cNvSpPr txBox="1"/>
          <p:nvPr/>
        </p:nvSpPr>
        <p:spPr>
          <a:xfrm>
            <a:off x="5650992" y="4023360"/>
            <a:ext cx="5961888" cy="4572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6 — Liberar y retirar. </a:t>
            </a:r>
            <a:pPr indent="0" marL="0">
              <a:lnSpc>
                <a:spcPct val="106000"/>
              </a:lnSpc>
              <a:buNone/>
            </a:pPr>
            <a:r>
              <a:rPr lang="en-US" sz="1100" dirty="0">
                <a:solidFill>
                  <a:schemeClr val="accent4"/>
                </a:solidFill>
              </a:rPr>
              <a:t>soltar el compresor con cuidado y retirar platillo, muelle y válvula, llevándolos juntos a su casilla</a:t>
            </a:r>
            <a:endParaRPr lang="en-US" sz="1100" dirty="0"/>
          </a:p>
        </p:txBody>
      </p:sp>
      <p:sp>
        <p:nvSpPr>
          <p:cNvPr id="24" name="Shape 21"/>
          <p:cNvSpPr/>
          <p:nvPr/>
        </p:nvSpPr>
        <p:spPr>
          <a:xfrm>
            <a:off x="5120640" y="4572000"/>
            <a:ext cx="384048" cy="384048"/>
          </a:xfrm>
          <a:prstGeom prst="ellipse">
            <a:avLst/>
          </a:prstGeom>
          <a:solidFill>
            <a:schemeClr val="accent2"/>
          </a:solidFill>
          <a:ln w="12700">
            <a:solidFill>
              <a:schemeClr val="accent2"/>
            </a:solidFill>
            <a:prstDash val="solid"/>
          </a:ln>
        </p:spPr>
        <p:txBody>
          <a:bodyPr/>
          <a:p/>
        </p:txBody>
      </p:sp>
      <p:sp>
        <p:nvSpPr>
          <p:cNvPr id="25" name="Text 22"/>
          <p:cNvSpPr txBox="1"/>
          <p:nvPr/>
        </p:nvSpPr>
        <p:spPr>
          <a:xfrm>
            <a:off x="5120640" y="4572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6" name="Text 23"/>
          <p:cNvSpPr txBox="1"/>
          <p:nvPr/>
        </p:nvSpPr>
        <p:spPr>
          <a:xfrm>
            <a:off x="5650992" y="4535424"/>
            <a:ext cx="5961888" cy="4572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7 — Repetir por orden. </a:t>
            </a:r>
            <a:pPr indent="0" marL="0">
              <a:lnSpc>
                <a:spcPct val="106000"/>
              </a:lnSpc>
              <a:buNone/>
            </a:pPr>
            <a:r>
              <a:rPr lang="en-US" sz="1100" dirty="0">
                <a:solidFill>
                  <a:schemeClr val="accent4"/>
                </a:solidFill>
              </a:rPr>
              <a:t>válvula por válvula, siguiendo siempre el mismo recorrido para no saltarse ninguna</a:t>
            </a:r>
            <a:endParaRPr lang="en-US" sz="1100" dirty="0"/>
          </a:p>
        </p:txBody>
      </p:sp>
      <p:sp>
        <p:nvSpPr>
          <p:cNvPr id="27" name="Shape 24"/>
          <p:cNvSpPr/>
          <p:nvPr/>
        </p:nvSpPr>
        <p:spPr>
          <a:xfrm>
            <a:off x="5120640" y="5084064"/>
            <a:ext cx="384048" cy="384048"/>
          </a:xfrm>
          <a:prstGeom prst="ellipse">
            <a:avLst/>
          </a:prstGeom>
          <a:solidFill>
            <a:schemeClr val="accent2"/>
          </a:solidFill>
          <a:ln w="12700">
            <a:solidFill>
              <a:schemeClr val="accent2"/>
            </a:solidFill>
            <a:prstDash val="solid"/>
          </a:ln>
        </p:spPr>
        <p:txBody>
          <a:bodyPr/>
          <a:p/>
        </p:txBody>
      </p:sp>
      <p:sp>
        <p:nvSpPr>
          <p:cNvPr id="28" name="Text 25"/>
          <p:cNvSpPr txBox="1"/>
          <p:nvPr/>
        </p:nvSpPr>
        <p:spPr>
          <a:xfrm>
            <a:off x="5120640" y="5084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9" name="Text 26"/>
          <p:cNvSpPr txBox="1"/>
          <p:nvPr/>
        </p:nvSpPr>
        <p:spPr>
          <a:xfrm>
            <a:off x="5650992" y="5047488"/>
            <a:ext cx="5961888" cy="4572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8 — Retirar sellos e inventariar. </a:t>
            </a:r>
            <a:pPr indent="0" marL="0">
              <a:lnSpc>
                <a:spcPct val="106000"/>
              </a:lnSpc>
              <a:buNone/>
            </a:pPr>
            <a:r>
              <a:rPr lang="en-US" sz="1100" dirty="0">
                <a:solidFill>
                  <a:schemeClr val="accent4"/>
                </a:solidFill>
              </a:rPr>
              <a:t>extraer los sellos de vástago, que siempre se sustituyen, y comprobar que el inventario está completo</a:t>
            </a:r>
            <a:endParaRPr lang="en-US" sz="1100" dirty="0"/>
          </a:p>
        </p:txBody>
      </p:sp>
      <p:sp>
        <p:nvSpPr>
          <p:cNvPr id="30" name="Shape 27"/>
          <p:cNvSpPr/>
          <p:nvPr/>
        </p:nvSpPr>
        <p:spPr>
          <a:xfrm>
            <a:off x="548640" y="5623560"/>
            <a:ext cx="11064240" cy="411480"/>
          </a:xfrm>
          <a:prstGeom prst="roundRect">
            <a:avLst>
              <a:gd name="adj" fmla="val 13333"/>
            </a:avLst>
          </a:prstGeom>
          <a:solidFill>
            <a:schemeClr val="bg2"/>
          </a:solidFill>
          <a:ln w="12700">
            <a:solidFill>
              <a:schemeClr val="bg2"/>
            </a:solidFill>
            <a:prstDash val="solid"/>
          </a:ln>
        </p:spPr>
        <p:txBody>
          <a:bodyPr/>
          <a:p/>
        </p:txBody>
      </p:sp>
      <p:sp>
        <p:nvSpPr>
          <p:cNvPr id="31" name="Shape 28"/>
          <p:cNvSpPr/>
          <p:nvPr/>
        </p:nvSpPr>
        <p:spPr>
          <a:xfrm>
            <a:off x="786384" y="5646420"/>
            <a:ext cx="365760" cy="365760"/>
          </a:xfrm>
          <a:prstGeom prst="ellipse">
            <a:avLst/>
          </a:prstGeom>
          <a:solidFill>
            <a:schemeClr val="accent1"/>
          </a:solidFill>
          <a:ln w="12700">
            <a:solidFill>
              <a:schemeClr val="accent1"/>
            </a:solidFill>
            <a:prstDash val="solid"/>
          </a:ln>
        </p:spPr>
        <p:txBody>
          <a:bodyPr/>
          <a:p/>
        </p:txBody>
      </p:sp>
      <p:sp>
        <p:nvSpPr>
          <p:cNvPr id="32" name="Text 29"/>
          <p:cNvSpPr txBox="1"/>
          <p:nvPr/>
        </p:nvSpPr>
        <p:spPr>
          <a:xfrm>
            <a:off x="786384" y="56464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3" name="Text 30"/>
          <p:cNvSpPr txBox="1"/>
          <p:nvPr/>
        </p:nvSpPr>
        <p:spPr>
          <a:xfrm>
            <a:off x="1298448" y="571500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El paso 2 no admite atajos: los sombreretes del árbol de levas se aflojan en orden cruzado y por pasos sucesivos. Aflojar uno del todo mientras los demás siguen apretados flexiona el árbol y puede partirlo.</a:t>
            </a:r>
            <a:endParaRPr lang="en-US" sz="1150" dirty="0"/>
          </a:p>
        </p:txBody>
      </p:sp>
      <p:sp>
        <p:nvSpPr>
          <p:cNvPr id="34" name="Text 3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cabezote · actividad práctica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empaque de culata: la junta más exigida del motor</a:t>
            </a:r>
            <a:endParaRPr lang="en-US" sz="3200" dirty="0"/>
          </a:p>
        </p:txBody>
      </p:sp>
      <p:sp>
        <p:nvSpPr>
          <p:cNvPr id="3" name="marco_figura"/>
          <p:cNvSpPr/>
          <p:nvPr/>
        </p:nvSpPr>
        <p:spPr>
          <a:xfrm>
            <a:off x="548640" y="1371600"/>
            <a:ext cx="457200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_tapa_cilindros.jpg">    </p:cNvPr>
          <p:cNvPicPr>
            <a:picLocks noChangeAspect="1"/>
          </p:cNvPicPr>
          <p:nvPr/>
        </p:nvPicPr>
        <p:blipFill>
          <a:blip r:embed="rId1"/>
          <a:srcRect l="0" r="0" t="0" b="0"/>
          <a:stretch/>
        </p:blipFill>
        <p:spPr>
          <a:xfrm>
            <a:off x="658368" y="1481328"/>
            <a:ext cx="4352544" cy="2340864"/>
          </a:xfrm>
          <a:prstGeom prst="rect">
            <a:avLst/>
          </a:prstGeom>
        </p:spPr>
      </p:pic>
      <p:sp>
        <p:nvSpPr>
          <p:cNvPr id="5" name="Text 2"/>
          <p:cNvSpPr txBox="1"/>
          <p:nvPr/>
        </p:nvSpPr>
        <p:spPr>
          <a:xfrm>
            <a:off x="658368" y="393192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57. </a:t>
            </a:r>
            <a:pPr indent="0" marL="0">
              <a:lnSpc>
                <a:spcPct val="102000"/>
              </a:lnSpc>
              <a:buNone/>
            </a:pPr>
            <a:r>
              <a:rPr lang="en-US" sz="1000" dirty="0">
                <a:solidFill>
                  <a:schemeClr val="accent4"/>
                </a:solidFill>
              </a:rPr>
              <a:t>Culata, empaque y bloque: la unión que debe sellar tres fluidos a la vez. Adaptado de Minga González, M. A. (s. f.). Constitución del motor: la culata [diapositivas]. ISTS.</a:t>
            </a:r>
            <a:endParaRPr lang="en-US" sz="10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0" y="1371600"/>
          <a:ext cx="6126480" cy="914400"/>
        </p:xfrm>
        <a:graphic>
          <a:graphicData uri="http://schemas.openxmlformats.org/drawingml/2006/table">
            <a:tbl>
              <a:tblPr/>
              <a:tblGrid>
                <a:gridCol w="2011680"/>
                <a:gridCol w="2011680"/>
                <a:gridCol w="2103120"/>
              </a:tblGrid>
              <a:tr h="457200">
                <a:tc>
                  <a:txBody>
                    <a:bodyPr/>
                    <a:lstStyle/>
                    <a:p>
                      <a:pPr indent="0" marL="0">
                        <a:buNone/>
                      </a:pPr>
                      <a:r>
                        <a:rPr lang="en-US" sz="1300" b="1" dirty="0">
                          <a:solidFill>
                            <a:srgbClr val="FFFFFF"/>
                          </a:solidFill>
                        </a:rPr>
                        <a:t>Por dónde falla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síntoma produce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confirma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050" b="1" dirty="0">
                          <a:solidFill>
                            <a:schemeClr val="tx1"/>
                          </a:solidFill>
                        </a:rPr>
                        <a:t>Entre cámara y conducto de refrigerante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Humo blanco denso en caliente; nivel de refrigerante que baja sin fuga visible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Prueba de gases de combustión en el refrigerante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chemeClr val="tx1"/>
                          </a:solidFill>
                        </a:rPr>
                        <a:t>Entre cámara y exterior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Soplido audible y pérdida de compresión en ese cilindro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Prueba de compresión y de estanqueidad del cilindro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050" b="1" dirty="0">
                          <a:solidFill>
                            <a:schemeClr val="tx1"/>
                          </a:solidFill>
                        </a:rPr>
                        <a:t>Entre dos cilindros contiguos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Compresión baja en dos cilindros vecinos, de valor parecido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Prueba de compresión: el patrón de dos cilindros es característico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chemeClr val="tx1"/>
                          </a:solidFill>
                        </a:rPr>
                        <a:t>Entre galería de aceite y refrigerante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Aceite emulsionado, de aspecto lechoso, en la tapa de llenado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Inspección del aceite y del refrigerante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160520"/>
            <a:ext cx="11064240" cy="822960"/>
          </a:xfrm>
          <a:prstGeom prst="roundRect">
            <a:avLst>
              <a:gd name="adj" fmla="val 6667"/>
            </a:avLst>
          </a:prstGeom>
          <a:solidFill>
            <a:schemeClr val="bg2"/>
          </a:solidFill>
          <a:ln w="12700">
            <a:solidFill>
              <a:schemeClr val="bg2"/>
            </a:solidFill>
            <a:prstDash val="solid"/>
          </a:ln>
        </p:spPr>
        <p:txBody>
          <a:bodyPr/>
          <a:p/>
        </p:txBody>
      </p:sp>
      <p:sp>
        <p:nvSpPr>
          <p:cNvPr id="8" name="Shape 4"/>
          <p:cNvSpPr/>
          <p:nvPr/>
        </p:nvSpPr>
        <p:spPr>
          <a:xfrm>
            <a:off x="786384" y="4389120"/>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786384"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compresión baja en dos cilindros contiguos y de valor parecido es la firma del empaque soplado entre ellos. Es uno de los patrones de diagnóstico más fiables que existen: ninguna otra avería produce exactamente ese dibujo.</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falla un empaque. </a:t>
            </a:r>
            <a:pPr indent="0" marL="0">
              <a:lnSpc>
                <a:spcPct val="106000"/>
              </a:lnSpc>
              <a:buNone/>
            </a:pPr>
            <a:r>
              <a:rPr lang="en-US" sz="1150" dirty="0">
                <a:solidFill>
                  <a:schemeClr val="accent4"/>
                </a:solidFill>
              </a:rPr>
              <a:t>casi siempre por recalentamiento previo, que alabea el plano; también por apriete incorrecto o por reutilización</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hay que hacer siempre al sustituirlo. </a:t>
            </a:r>
            <a:pPr indent="0" marL="0">
              <a:lnSpc>
                <a:spcPct val="106000"/>
              </a:lnSpc>
              <a:buNone/>
            </a:pPr>
            <a:r>
              <a:rPr lang="en-US" sz="1150" dirty="0">
                <a:solidFill>
                  <a:schemeClr val="accent4"/>
                </a:solidFill>
              </a:rPr>
              <a:t>comprobar la planitud de ambos planos, usar empaque nuevo, respetar orden y par, y buscar la causa del recalentamiento</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error habitual. </a:t>
            </a:r>
            <a:pPr indent="0" marL="0">
              <a:lnSpc>
                <a:spcPct val="106000"/>
              </a:lnSpc>
              <a:buNone/>
            </a:pPr>
            <a:r>
              <a:rPr lang="en-US" sz="1150" dirty="0">
                <a:solidFill>
                  <a:schemeClr val="accent4"/>
                </a:solidFill>
              </a:rPr>
              <a:t>sustituir el empaque sin corregir lo que recalentó el motor: termostato, bomba de agua, ventilador o fuga; volverá a fallar</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cabezote · anticipa la refrigeración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árbol de levas: comprobaciones y desgaste</a:t>
            </a:r>
            <a:endParaRPr lang="en-US" sz="3200" dirty="0"/>
          </a:p>
        </p:txBody>
      </p:sp>
      <p:sp>
        <p:nvSpPr>
          <p:cNvPr id="3" name="marco_figura"/>
          <p:cNvSpPr/>
          <p:nvPr/>
        </p:nvSpPr>
        <p:spPr>
          <a:xfrm>
            <a:off x="548640" y="1371600"/>
            <a:ext cx="475488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tren_3d.jpg">    </p:cNvPr>
          <p:cNvPicPr>
            <a:picLocks noChangeAspect="1"/>
          </p:cNvPicPr>
          <p:nvPr/>
        </p:nvPicPr>
        <p:blipFill>
          <a:blip r:embed="rId1"/>
          <a:srcRect l="0" r="0" t="0" b="0"/>
          <a:stretch/>
        </p:blipFill>
        <p:spPr>
          <a:xfrm>
            <a:off x="658368" y="1481328"/>
            <a:ext cx="4535424" cy="2340864"/>
          </a:xfrm>
          <a:prstGeom prst="rect">
            <a:avLst/>
          </a:prstGeom>
        </p:spPr>
      </p:pic>
      <p:sp>
        <p:nvSpPr>
          <p:cNvPr id="5" name="Text 2"/>
          <p:cNvSpPr txBox="1"/>
          <p:nvPr/>
        </p:nvSpPr>
        <p:spPr>
          <a:xfrm>
            <a:off x="658368" y="393192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58. </a:t>
            </a:r>
            <a:pPr indent="0" marL="0">
              <a:lnSpc>
                <a:spcPct val="102000"/>
              </a:lnSpc>
              <a:buNone/>
            </a:pPr>
            <a:r>
              <a:rPr lang="en-US" sz="1000" dirty="0">
                <a:solidFill>
                  <a:schemeClr val="accent4"/>
                </a:solidFill>
              </a:rPr>
              <a:t>Árbol de levas sobre sus apoyos, accionando los empujadores. Adaptado de Minga González, M. A. (s. f.). Sistemas auxiliares del motor [diapositivas]. ISTS.</a:t>
            </a:r>
            <a:endParaRPr lang="en-US" sz="10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669280" y="1371600"/>
          <a:ext cx="5943600" cy="914400"/>
        </p:xfrm>
        <a:graphic>
          <a:graphicData uri="http://schemas.openxmlformats.org/drawingml/2006/table">
            <a:tbl>
              <a:tblPr/>
              <a:tblGrid>
                <a:gridCol w="1920240"/>
                <a:gridCol w="2011680"/>
                <a:gridCol w="2011680"/>
              </a:tblGrid>
              <a:tr h="475488">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hace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indica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050" b="1" dirty="0">
                          <a:solidFill>
                            <a:schemeClr val="tx1"/>
                          </a:solidFill>
                        </a:rPr>
                        <a:t>Altura de leva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Micrómetro entre el vértice y la base de cada leva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Una leva desgastada abre menos: ese cilindro respira peor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Diámetro de apoyos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Micrómetro en cada muñón, en dos direcciones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Ovalización o desgaste: holgura excesiva y caída de presión de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050" b="1" dirty="0">
                          <a:solidFill>
                            <a:schemeClr val="tx1"/>
                          </a:solidFill>
                        </a:rPr>
                        <a:t>Rectitud del árbol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Apoyado en los extremos, comparador en el centro, girándolo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Un árbol flexado agarrota y desgasta los apoyos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Estado superficial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Inspección visual de levas y muñones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Picaduras o rayado indican falta de lubricación o aceite sucio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16052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36626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366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desgaste de una sola leva basta para que su cilindro respire peor que los demás. Es una causa de funcionamiento irregular que no aparece en ninguna prueba eléctrica ni de combustible, y que solo se detecta midiendo.</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se desgastan las levas. </a:t>
            </a:r>
            <a:pPr indent="0" marL="0">
              <a:lnSpc>
                <a:spcPct val="106000"/>
              </a:lnSpc>
              <a:buNone/>
            </a:pPr>
            <a:r>
              <a:rPr lang="en-US" sz="1150" dirty="0">
                <a:solidFill>
                  <a:schemeClr val="accent4"/>
                </a:solidFill>
              </a:rPr>
              <a:t>por falta de lubricación, por aceite sucio o pasado de intervalo, y por holguras de reglaje excesivas que aumentan el impacto</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mide y con qué se compara. </a:t>
            </a:r>
            <a:pPr indent="0" marL="0">
              <a:lnSpc>
                <a:spcPct val="106000"/>
              </a:lnSpc>
              <a:buNone/>
            </a:pPr>
            <a:r>
              <a:rPr lang="en-US" sz="1150" dirty="0">
                <a:solidFill>
                  <a:schemeClr val="accent4"/>
                </a:solidFill>
              </a:rPr>
              <a:t>la altura de leva de cada una y su diferencia respecto a las demás; el manual da el valor nominal y el mínimo admisible</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hace si una leva está desgastada. </a:t>
            </a:r>
            <a:pPr indent="0" marL="0">
              <a:lnSpc>
                <a:spcPct val="106000"/>
              </a:lnSpc>
              <a:buNone/>
            </a:pPr>
            <a:r>
              <a:rPr lang="en-US" sz="1150" dirty="0">
                <a:solidFill>
                  <a:schemeClr val="accent4"/>
                </a:solidFill>
              </a:rPr>
              <a:t>se sustituye el árbol completo; una leva no se recupera, y además su taqué o balancín suele estar igualmente dañado</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 · anticipa la lubricación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Conductos, cámara y carbonilla</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cilindro_corte.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60. </a:t>
            </a:r>
            <a:pPr indent="0" marL="0">
              <a:lnSpc>
                <a:spcPct val="102000"/>
              </a:lnSpc>
              <a:buNone/>
            </a:pPr>
            <a:r>
              <a:rPr lang="en-US" sz="1000" dirty="0">
                <a:solidFill>
                  <a:schemeClr val="accent4"/>
                </a:solidFill>
              </a:rPr>
              <a:t>Corte del conjunto cilindro-culata: conductos, cámara y válvulas. Adaptado de Minga González, M. A. (s. f.). Sistemas auxiliares del motor [diapositivas]. ISTS.</a:t>
            </a:r>
            <a:endParaRPr lang="en-US" sz="1000" dirty="0"/>
          </a:p>
        </p:txBody>
      </p:sp>
      <p:sp>
        <p:nvSpPr>
          <p:cNvPr id="6" name="Shape 3"/>
          <p:cNvSpPr/>
          <p:nvPr/>
        </p:nvSpPr>
        <p:spPr>
          <a:xfrm>
            <a:off x="58521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8521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382512" y="146304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Los conductos importan tanto como la cámara. </a:t>
            </a:r>
            <a:pPr indent="0" marL="0">
              <a:lnSpc>
                <a:spcPct val="106000"/>
              </a:lnSpc>
              <a:buNone/>
            </a:pPr>
            <a:r>
              <a:rPr lang="en-US" sz="1100" dirty="0">
                <a:solidFill>
                  <a:schemeClr val="accent4"/>
                </a:solidFill>
              </a:rPr>
              <a:t>su sección y su forma deciden el caudal que el motor puede admitir y evacuar; son los que se estudiaron como rendimiento volumétrico</a:t>
            </a:r>
            <a:endParaRPr lang="en-US" sz="1100" dirty="0"/>
          </a:p>
        </p:txBody>
      </p:sp>
      <p:sp>
        <p:nvSpPr>
          <p:cNvPr id="9" name="Shape 6"/>
          <p:cNvSpPr/>
          <p:nvPr/>
        </p:nvSpPr>
        <p:spPr>
          <a:xfrm>
            <a:off x="5852160" y="2048256"/>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852160" y="2048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382512" y="201168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La carbonilla no es cosmética. </a:t>
            </a:r>
            <a:pPr indent="0" marL="0">
              <a:lnSpc>
                <a:spcPct val="106000"/>
              </a:lnSpc>
              <a:buNone/>
            </a:pPr>
            <a:r>
              <a:rPr lang="en-US" sz="1100" dirty="0">
                <a:solidFill>
                  <a:schemeClr val="accent4"/>
                </a:solidFill>
              </a:rPr>
              <a:t>una capa gruesa en la cámara reduce su volumen y sube la relación de compresión real, acercando el motor a la detonación</a:t>
            </a:r>
            <a:endParaRPr lang="en-US" sz="1100" dirty="0"/>
          </a:p>
        </p:txBody>
      </p:sp>
      <p:sp>
        <p:nvSpPr>
          <p:cNvPr id="12" name="Shape 9"/>
          <p:cNvSpPr/>
          <p:nvPr/>
        </p:nvSpPr>
        <p:spPr>
          <a:xfrm>
            <a:off x="5852160" y="259689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85216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382512" y="256032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La carbonilla en el conducto de admisión. </a:t>
            </a:r>
            <a:pPr indent="0" marL="0">
              <a:lnSpc>
                <a:spcPct val="106000"/>
              </a:lnSpc>
              <a:buNone/>
            </a:pPr>
            <a:r>
              <a:rPr lang="en-US" sz="1100" dirty="0">
                <a:solidFill>
                  <a:schemeClr val="accent4"/>
                </a:solidFill>
              </a:rPr>
              <a:t>estrecha la sección de paso y empeora el llenado; es frecuente en motores de uso urbano corto</a:t>
            </a:r>
            <a:endParaRPr lang="en-US" sz="1100" dirty="0"/>
          </a:p>
        </p:txBody>
      </p:sp>
      <p:sp>
        <p:nvSpPr>
          <p:cNvPr id="15" name="Shape 12"/>
          <p:cNvSpPr/>
          <p:nvPr/>
        </p:nvSpPr>
        <p:spPr>
          <a:xfrm>
            <a:off x="5852160" y="3145536"/>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852160" y="3145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382512" y="310896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La carbonilla en el asiento de válvula. </a:t>
            </a:r>
            <a:pPr indent="0" marL="0">
              <a:lnSpc>
                <a:spcPct val="106000"/>
              </a:lnSpc>
              <a:buNone/>
            </a:pPr>
            <a:r>
              <a:rPr lang="en-US" sz="1100" dirty="0">
                <a:solidFill>
                  <a:schemeClr val="accent4"/>
                </a:solidFill>
              </a:rPr>
              <a:t>impide el apoyo correcto, de modo que la válvula pierde su vía de refrigeración y acaba quemándose</a:t>
            </a:r>
            <a:endParaRPr lang="en-US" sz="1100" dirty="0"/>
          </a:p>
        </p:txBody>
      </p:sp>
      <p:sp>
        <p:nvSpPr>
          <p:cNvPr id="18" name="Shape 15"/>
          <p:cNvSpPr/>
          <p:nvPr/>
        </p:nvSpPr>
        <p:spPr>
          <a:xfrm>
            <a:off x="5852160" y="3694176"/>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852160" y="3694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6382512" y="365760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Cómo se retira. </a:t>
            </a:r>
            <a:pPr indent="0" marL="0">
              <a:lnSpc>
                <a:spcPct val="106000"/>
              </a:lnSpc>
              <a:buNone/>
            </a:pPr>
            <a:r>
              <a:rPr lang="en-US" sz="1100" dirty="0">
                <a:solidFill>
                  <a:schemeClr val="accent4"/>
                </a:solidFill>
              </a:rPr>
              <a:t>con rasqueta no metálica y cepillo, sin rayar los asientos ni el plano; nunca con herramienta de acero sobre aluminio</a:t>
            </a:r>
            <a:endParaRPr lang="en-US" sz="1100" dirty="0"/>
          </a:p>
        </p:txBody>
      </p:sp>
      <p:sp>
        <p:nvSpPr>
          <p:cNvPr id="21" name="Shape 18"/>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22" name="Shape 19"/>
          <p:cNvSpPr/>
          <p:nvPr/>
        </p:nvSpPr>
        <p:spPr>
          <a:xfrm>
            <a:off x="786384" y="4434840"/>
            <a:ext cx="365760" cy="365760"/>
          </a:xfrm>
          <a:prstGeom prst="ellipse">
            <a:avLst/>
          </a:prstGeom>
          <a:solidFill>
            <a:schemeClr val="accent1"/>
          </a:solidFill>
          <a:ln w="12700">
            <a:solidFill>
              <a:schemeClr val="accent1"/>
            </a:solidFill>
            <a:prstDash val="solid"/>
          </a:ln>
        </p:spPr>
        <p:txBody>
          <a:bodyPr/>
          <a:p/>
        </p:txBody>
      </p:sp>
      <p:sp>
        <p:nvSpPr>
          <p:cNvPr id="23" name="Text 20"/>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1"/>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Al limpiar la cámara de combustión hay que evitar llevarse material: lo que se busca es retirar el depósito, no rebajar el aluminio. Rebajar la cámara cambia la relación de compresión y lo hace de forma desigual entre cilindros.</a:t>
            </a:r>
            <a:endParaRPr lang="en-US" sz="1450" dirty="0"/>
          </a:p>
        </p:txBody>
      </p:sp>
      <p:sp>
        <p:nvSpPr>
          <p:cNvPr id="25" name="Text 22"/>
          <p:cNvSpPr txBox="1"/>
          <p:nvPr/>
        </p:nvSpPr>
        <p:spPr>
          <a:xfrm>
            <a:off x="548640" y="5120640"/>
            <a:ext cx="11064240" cy="640080"/>
          </a:xfrm>
          <a:prstGeom prst="rect">
            <a:avLst/>
          </a:prstGeom>
          <a:noFill/>
          <a:ln/>
        </p:spPr>
        <p:txBody>
          <a:bodyPr wrap="square" lIns="0" tIns="0" rIns="0" bIns="0" rtlCol="0" anchor="t"/>
          <a:lstStyle/>
          <a:p>
            <a:pPr algn="l" indent="0" marL="0">
              <a:lnSpc>
                <a:spcPct val="110000"/>
              </a:lnSpc>
              <a:buNone/>
            </a:pPr>
            <a:r>
              <a:rPr lang="en-US" sz="1200" dirty="0">
                <a:solidFill>
                  <a:schemeClr val="accent4"/>
                </a:solidFill>
              </a:rPr>
              <a:t>Observación profesional:  las cámaras de los cuatro cilindros se comparan entre sí al limpiarlas. Si una está mucho más sucia que las demás, o mucho más limpia, eso cuenta algo: exceso de aceite en ese cilindro, mezcla distinta o combustión deficiente. La inspección es también diagnóstico.</a:t>
            </a:r>
            <a:endParaRPr lang="en-US" sz="1200" dirty="0"/>
          </a:p>
        </p:txBody>
      </p:sp>
      <p:sp>
        <p:nvSpPr>
          <p:cNvPr id="26"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cabezote · enlaza con la relación de compresión de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clase 3.3</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cabezote cumple seis funciones a la vez. </a:t>
            </a:r>
            <a:pPr indent="0" marL="0">
              <a:lnSpc>
                <a:spcPct val="106000"/>
              </a:lnSpc>
              <a:buNone/>
            </a:pPr>
            <a:r>
              <a:rPr lang="en-US" sz="1250" dirty="0">
                <a:solidFill>
                  <a:schemeClr val="accent4"/>
                </a:solidFill>
              </a:rPr>
              <a:t>cerrar, alojar válvulas y bujía, conducir gases, dejar pasar fluidos y resistir el apriete sin deformarse; de ahí su complejidad</a:t>
            </a:r>
            <a:endParaRPr lang="en-US" sz="1250" dirty="0"/>
          </a:p>
        </p:txBody>
      </p:sp>
      <p:sp>
        <p:nvSpPr>
          <p:cNvPr id="6" name="Shape 4"/>
          <p:cNvSpPr/>
          <p:nvPr/>
        </p:nvSpPr>
        <p:spPr>
          <a:xfrm>
            <a:off x="548640" y="211226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75688"/>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aluminio mejoró el rendimiento y añadió fragilidad. </a:t>
            </a:r>
            <a:pPr indent="0" marL="0">
              <a:lnSpc>
                <a:spcPct val="106000"/>
              </a:lnSpc>
              <a:buNone/>
            </a:pPr>
            <a:r>
              <a:rPr lang="en-US" sz="1250" dirty="0">
                <a:solidFill>
                  <a:schemeClr val="accent4"/>
                </a:solidFill>
              </a:rPr>
              <a:t>evacúa mejor el calor y permitió subir la compresión, pero se alabea con el recalentamiento: la planitud se comprueba siempre</a:t>
            </a:r>
            <a:endParaRPr lang="en-US" sz="1250" dirty="0"/>
          </a:p>
        </p:txBody>
      </p:sp>
      <p:sp>
        <p:nvSpPr>
          <p:cNvPr id="9" name="Shape 7"/>
          <p:cNvSpPr/>
          <p:nvPr/>
        </p:nvSpPr>
        <p:spPr>
          <a:xfrm>
            <a:off x="548640" y="27706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34056"/>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cámara responde a cuatro criterios en conflicto. </a:t>
            </a:r>
            <a:pPr indent="0" marL="0">
              <a:lnSpc>
                <a:spcPct val="106000"/>
              </a:lnSpc>
              <a:buNone/>
            </a:pPr>
            <a:r>
              <a:rPr lang="en-US" sz="1250" dirty="0">
                <a:solidFill>
                  <a:schemeClr val="accent4"/>
                </a:solidFill>
              </a:rPr>
              <a:t>compacidad, bujía centrada, punto frío alejado y válvulas grandes; la cámara en techo con cuatro válvulas es el mejor compromiso</a:t>
            </a:r>
            <a:endParaRPr lang="en-US" sz="1250" dirty="0"/>
          </a:p>
        </p:txBody>
      </p:sp>
      <p:sp>
        <p:nvSpPr>
          <p:cNvPr id="12" name="Shape 10"/>
          <p:cNvSpPr/>
          <p:nvPr/>
        </p:nvSpPr>
        <p:spPr>
          <a:xfrm>
            <a:off x="548640" y="342900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392424"/>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válvula de escape es la pieza más castigada. </a:t>
            </a:r>
            <a:pPr indent="0" marL="0">
              <a:lnSpc>
                <a:spcPct val="106000"/>
              </a:lnSpc>
              <a:buNone/>
            </a:pPr>
            <a:r>
              <a:rPr lang="en-US" sz="1250" dirty="0">
                <a:solidFill>
                  <a:schemeClr val="accent4"/>
                </a:solidFill>
              </a:rPr>
              <a:t>trabaja al rojo y solo se refrigera por el asiento y por la guía; si no cierra bien, entra en una espiral de deterioro que se acelera sola</a:t>
            </a:r>
            <a:endParaRPr lang="en-US" sz="1250" dirty="0"/>
          </a:p>
        </p:txBody>
      </p:sp>
      <p:sp>
        <p:nvSpPr>
          <p:cNvPr id="15" name="Shape 13"/>
          <p:cNvSpPr/>
          <p:nvPr/>
        </p:nvSpPr>
        <p:spPr>
          <a:xfrm>
            <a:off x="548640" y="4087368"/>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4050792"/>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Guía antes que asiento. </a:t>
            </a:r>
            <a:pPr indent="0" marL="0">
              <a:lnSpc>
                <a:spcPct val="106000"/>
              </a:lnSpc>
              <a:buNone/>
            </a:pPr>
            <a:r>
              <a:rPr lang="en-US" sz="1250" dirty="0">
                <a:solidFill>
                  <a:schemeClr val="accent4"/>
                </a:solidFill>
              </a:rPr>
              <a:t>una guía holgada hace cabecear la válvula y arruina el asiento; trabajar el asiento sin corregir la guía es trabajo perdido</a:t>
            </a:r>
            <a:endParaRPr lang="en-US" sz="1250" dirty="0"/>
          </a:p>
        </p:txBody>
      </p:sp>
      <p:sp>
        <p:nvSpPr>
          <p:cNvPr id="18" name="Shape 16"/>
          <p:cNvSpPr/>
          <p:nvPr/>
        </p:nvSpPr>
        <p:spPr>
          <a:xfrm>
            <a:off x="548640" y="474573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470916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muelle mantiene la válvula pegada a la leva. </a:t>
            </a:r>
            <a:pPr indent="0" marL="0">
              <a:lnSpc>
                <a:spcPct val="106000"/>
              </a:lnSpc>
              <a:buNone/>
            </a:pPr>
            <a:r>
              <a:rPr lang="en-US" sz="1250" dirty="0">
                <a:solidFill>
                  <a:schemeClr val="accent4"/>
                </a:solidFill>
              </a:rPr>
              <a:t>cuando no lo consigue aparece la flotación, que es lo que pone el techo de régimen a un motor convencional</a:t>
            </a:r>
            <a:endParaRPr lang="en-US" sz="1250" dirty="0"/>
          </a:p>
        </p:txBody>
      </p:sp>
      <p:sp>
        <p:nvSpPr>
          <p:cNvPr id="21" name="Shape 19"/>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2" name="Shape 20"/>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Pregunta de autoevaluación: un motor consume aceite y echa una bocanada de humo azul solo al arrancar tras varias horas parado. ¿Qué elemento del cabezote sospecharía y por qué el síntoma aparece únicamente tras el reposo?</a:t>
            </a:r>
            <a:endParaRPr lang="en-US" sz="1250" dirty="0"/>
          </a:p>
        </p:txBody>
      </p:sp>
      <p:sp>
        <p:nvSpPr>
          <p:cNvPr id="25"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cierre de los conocimientos 3 y 4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Tipos de empaque de culata y cómo se montan</a:t>
            </a:r>
            <a:endParaRPr lang="en-US" sz="3200" dirty="0"/>
          </a:p>
        </p:txBody>
      </p:sp>
      <p:sp>
        <p:nvSpPr>
          <p:cNvPr id="3" name="marco_figura"/>
          <p:cNvSpPr/>
          <p:nvPr/>
        </p:nvSpPr>
        <p:spPr>
          <a:xfrm>
            <a:off x="548640" y="1371600"/>
            <a:ext cx="493776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u_apriete_orden.jpg">    </p:cNvPr>
          <p:cNvPicPr>
            <a:picLocks noChangeAspect="1"/>
          </p:cNvPicPr>
          <p:nvPr/>
        </p:nvPicPr>
        <p:blipFill>
          <a:blip r:embed="rId1"/>
          <a:srcRect l="0" r="0" t="0" b="0"/>
          <a:stretch/>
        </p:blipFill>
        <p:spPr>
          <a:xfrm>
            <a:off x="658368" y="1481328"/>
            <a:ext cx="4718304" cy="2340864"/>
          </a:xfrm>
          <a:prstGeom prst="rect">
            <a:avLst/>
          </a:prstGeom>
        </p:spPr>
      </p:pic>
      <p:sp>
        <p:nvSpPr>
          <p:cNvPr id="5" name="Text 2"/>
          <p:cNvSpPr txBox="1"/>
          <p:nvPr/>
        </p:nvSpPr>
        <p:spPr>
          <a:xfrm>
            <a:off x="658368" y="393192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61. </a:t>
            </a:r>
            <a:pPr indent="0" marL="0">
              <a:lnSpc>
                <a:spcPct val="102000"/>
              </a:lnSpc>
              <a:buNone/>
            </a:pPr>
            <a:r>
              <a:rPr lang="en-US" sz="1000" dirty="0">
                <a:solidFill>
                  <a:schemeClr val="accent4"/>
                </a:solidFill>
              </a:rPr>
              <a:t>Empaque de culata con el orden de apriete indicado. Adaptado de Escudero, S., González, J., y Rivas, J. L. (2024). Cuaderno de prácticas: motores (1.ª ed.). Macmillan Iberia.</a:t>
            </a:r>
            <a:endParaRPr lang="en-US" sz="1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852160" y="1371600"/>
          <a:ext cx="5760720" cy="914400"/>
        </p:xfrm>
        <a:graphic>
          <a:graphicData uri="http://schemas.openxmlformats.org/drawingml/2006/table">
            <a:tbl>
              <a:tblPr/>
              <a:tblGrid>
                <a:gridCol w="1828800"/>
                <a:gridCol w="1920240"/>
                <a:gridCol w="2011680"/>
              </a:tblGrid>
              <a:tr h="475488">
                <a:tc>
                  <a:txBody>
                    <a:bodyPr/>
                    <a:lstStyle/>
                    <a:p>
                      <a:pPr indent="0" marL="0">
                        <a:buNone/>
                      </a:pPr>
                      <a:r>
                        <a:rPr lang="en-US" sz="1300" b="1" dirty="0">
                          <a:solidFill>
                            <a:srgbClr val="FFFFFF"/>
                          </a:solidFill>
                        </a:rPr>
                        <a:t>Tipo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Constitución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Observación de montaje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050" b="1" dirty="0">
                          <a:solidFill>
                            <a:schemeClr val="tx1"/>
                          </a:solidFill>
                        </a:rPr>
                        <a:t>Compuesto con alma metálica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Capas de material de relleno sobre una chapa, con anillos en los cilindros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Se monta seco, sin pasta selladora, salvo que el fabricante lo indique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Multicapa metálico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Varias láminas de acero con resaltes elásticos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Exige planos muy lisos: es menos tolerante al alabeo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050" b="1" dirty="0">
                          <a:solidFill>
                            <a:schemeClr val="tx1"/>
                          </a:solidFill>
                        </a:rPr>
                        <a:t>Con indicador de espesor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Muescas o perforaciones que identifican su grosor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El espesor correcto se elige según el saliente de pistones; no es intercambiable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06908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27482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2748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16052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empaque tiene una única posición correcta de montaje. Montarlo invertido o girado tapa conductos de aceite o de refrigerante, y el motor se destruye por falta de lubricación o por recalentamiento en los primeros minutos.</a:t>
            </a:r>
            <a:endParaRPr lang="en-US" sz="1450" dirty="0"/>
          </a:p>
        </p:txBody>
      </p:sp>
      <p:sp>
        <p:nvSpPr>
          <p:cNvPr id="11" name="Shape 7"/>
          <p:cNvSpPr/>
          <p:nvPr/>
        </p:nvSpPr>
        <p:spPr>
          <a:xfrm>
            <a:off x="548640" y="4965192"/>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4965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4928616"/>
            <a:ext cx="10533888" cy="29809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identifica la posición. </a:t>
            </a:r>
            <a:pPr indent="0" marL="0">
              <a:lnSpc>
                <a:spcPct val="106000"/>
              </a:lnSpc>
              <a:buNone/>
            </a:pPr>
            <a:r>
              <a:rPr lang="en-US" sz="1150" dirty="0">
                <a:solidFill>
                  <a:schemeClr val="accent4"/>
                </a:solidFill>
              </a:rPr>
              <a:t>por las marcas del propio empaque —habitualmente la palabra que indica arriba y el lado del volante— y por la coincidencia de todos sus orificios con los del bloque</a:t>
            </a:r>
            <a:endParaRPr lang="en-US" sz="1150" dirty="0"/>
          </a:p>
        </p:txBody>
      </p:sp>
      <p:sp>
        <p:nvSpPr>
          <p:cNvPr id="14" name="Shape 10"/>
          <p:cNvSpPr/>
          <p:nvPr/>
        </p:nvSpPr>
        <p:spPr>
          <a:xfrm>
            <a:off x="548640" y="5318150"/>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1815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281574"/>
            <a:ext cx="10533888" cy="29809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comprueba antes de bajarlo. </a:t>
            </a:r>
            <a:pPr indent="0" marL="0">
              <a:lnSpc>
                <a:spcPct val="106000"/>
              </a:lnSpc>
              <a:buNone/>
            </a:pPr>
            <a:r>
              <a:rPr lang="en-US" sz="1150" dirty="0">
                <a:solidFill>
                  <a:schemeClr val="accent4"/>
                </a:solidFill>
              </a:rPr>
              <a:t>que todos los orificios del empaque coincidan con los conductos del bloque, uno a uno, mirando a contraluz si hace falta</a:t>
            </a:r>
            <a:endParaRPr lang="en-US" sz="1150" dirty="0"/>
          </a:p>
        </p:txBody>
      </p:sp>
      <p:sp>
        <p:nvSpPr>
          <p:cNvPr id="17" name="Shape 13"/>
          <p:cNvSpPr/>
          <p:nvPr/>
        </p:nvSpPr>
        <p:spPr>
          <a:xfrm>
            <a:off x="548640" y="5671109"/>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71109"/>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4533"/>
            <a:ext cx="10533888" cy="29809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no se reutiliza nunca. </a:t>
            </a:r>
            <a:pPr indent="0" marL="0">
              <a:lnSpc>
                <a:spcPct val="106000"/>
              </a:lnSpc>
              <a:buNone/>
            </a:pPr>
            <a:r>
              <a:rPr lang="en-US" sz="1150" dirty="0">
                <a:solidFill>
                  <a:schemeClr val="accent4"/>
                </a:solidFill>
              </a:rPr>
              <a:t>el empaque se deforma plásticamente al apretarse y adopta la forma de los planos; una vez comprimido ya no recupera su espesor ni su elasticidad</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cabezote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tornillos de culata: por qué muchos son de un solo uso</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Apriete por par</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El clásico: se aprieta hasta un valor de par determinado, en varias pasadas.</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La fuerza de apriete real depende mucho del rozamiento de la rosca, que varía.</a:t>
            </a:r>
            <a:endParaRPr lang="en-US" sz="1100" dirty="0"/>
          </a:p>
        </p:txBody>
      </p:sp>
      <p:sp>
        <p:nvSpPr>
          <p:cNvPr id="8"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Apriete angular</a:t>
            </a:r>
            <a:endParaRPr lang="en-US" sz="1700" dirty="0"/>
          </a:p>
        </p:txBody>
      </p:sp>
      <p:sp>
        <p:nvSpPr>
          <p:cNvPr id="12" name="Text 10"/>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Par inicial moderado más un giro medido en grados.</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La fuerza conseguida depende del alargamiento del tornillo, no del rozamiento: es mucho más uniforme.</a:t>
            </a:r>
            <a:endParaRPr lang="en-US" sz="1100" dirty="0"/>
          </a:p>
        </p:txBody>
      </p:sp>
      <p:sp>
        <p:nvSpPr>
          <p:cNvPr id="13"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Tornillo de un solo uso</a:t>
            </a:r>
            <a:endParaRPr lang="en-US" sz="1700" dirty="0"/>
          </a:p>
        </p:txBody>
      </p:sp>
      <p:sp>
        <p:nvSpPr>
          <p:cNvPr id="17" name="Text 15"/>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El apriete angular lleva el tornillo más allá de su límite elástico, de modo que se alarga de forma permanente.</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Reutilizarlo no garantiza la fuerza correcta.</a:t>
            </a:r>
            <a:endParaRPr lang="en-US" sz="1100" dirty="0"/>
          </a:p>
        </p:txBody>
      </p:sp>
      <p:sp>
        <p:nvSpPr>
          <p:cNvPr id="18" name="Shape 16"/>
          <p:cNvSpPr/>
          <p:nvPr/>
        </p:nvSpPr>
        <p:spPr>
          <a:xfrm>
            <a:off x="548640" y="396849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Text 18"/>
          <p:cNvSpPr txBox="1"/>
          <p:nvPr/>
        </p:nvSpPr>
        <p:spPr>
          <a:xfrm>
            <a:off x="1078992" y="393192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saber si son de un solo uso. </a:t>
            </a:r>
            <a:pPr indent="0" marL="0">
              <a:lnSpc>
                <a:spcPct val="106000"/>
              </a:lnSpc>
              <a:buNone/>
            </a:pPr>
            <a:r>
              <a:rPr lang="en-US" sz="1150" dirty="0">
                <a:solidFill>
                  <a:schemeClr val="accent4"/>
                </a:solidFill>
              </a:rPr>
              <a:t>lo indica el manual; también se detecta midiendo su longitud y comparándola con la máxima admisible, porque un tornillo ya estirado es más largo</a:t>
            </a:r>
            <a:endParaRPr lang="en-US" sz="1150" dirty="0"/>
          </a:p>
        </p:txBody>
      </p:sp>
      <p:sp>
        <p:nvSpPr>
          <p:cNvPr id="21" name="Shape 19"/>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3" name="Text 21"/>
          <p:cNvSpPr txBox="1"/>
          <p:nvPr/>
        </p:nvSpPr>
        <p:spPr>
          <a:xfrm>
            <a:off x="1078992" y="431596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comprueba siempre antes de montar. </a:t>
            </a:r>
            <a:pPr indent="0" marL="0">
              <a:lnSpc>
                <a:spcPct val="106000"/>
              </a:lnSpc>
              <a:buNone/>
            </a:pPr>
            <a:r>
              <a:rPr lang="en-US" sz="1150" dirty="0">
                <a:solidFill>
                  <a:schemeClr val="accent4"/>
                </a:solidFill>
              </a:rPr>
              <a:t>estado de la rosca del tornillo y de su alojamiento en el bloque; los alojamientos se limpian y se soplan antes de montar</a:t>
            </a:r>
            <a:endParaRPr lang="en-US" sz="1150" dirty="0"/>
          </a:p>
        </p:txBody>
      </p:sp>
      <p:sp>
        <p:nvSpPr>
          <p:cNvPr id="24" name="Shape 22"/>
          <p:cNvSpPr/>
          <p:nvPr/>
        </p:nvSpPr>
        <p:spPr>
          <a:xfrm>
            <a:off x="548640" y="4736592"/>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4736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6" name="Text 24"/>
          <p:cNvSpPr txBox="1"/>
          <p:nvPr/>
        </p:nvSpPr>
        <p:spPr>
          <a:xfrm>
            <a:off x="1078992" y="4700016"/>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se limpian los alojamientos. </a:t>
            </a:r>
            <a:pPr indent="0" marL="0">
              <a:lnSpc>
                <a:spcPct val="106000"/>
              </a:lnSpc>
              <a:buNone/>
            </a:pPr>
            <a:r>
              <a:rPr lang="en-US" sz="1150" dirty="0">
                <a:solidFill>
                  <a:schemeClr val="accent4"/>
                </a:solidFill>
              </a:rPr>
              <a:t>si queda aceite o refrigerante en el fondo de un agujero ciego, el líquido no se comprime y puede fisurar el bloque al apretar</a:t>
            </a:r>
            <a:endParaRPr lang="en-US" sz="1150" dirty="0"/>
          </a:p>
        </p:txBody>
      </p:sp>
      <p:sp>
        <p:nvSpPr>
          <p:cNvPr id="27" name="Shape 25"/>
          <p:cNvSpPr/>
          <p:nvPr/>
        </p:nvSpPr>
        <p:spPr>
          <a:xfrm>
            <a:off x="548640" y="5120640"/>
            <a:ext cx="384048" cy="384048"/>
          </a:xfrm>
          <a:prstGeom prst="ellipse">
            <a:avLst/>
          </a:prstGeom>
          <a:solidFill>
            <a:schemeClr val="accent2"/>
          </a:solidFill>
          <a:ln w="12700">
            <a:solidFill>
              <a:schemeClr val="accent2"/>
            </a:solidFill>
            <a:prstDash val="solid"/>
          </a:ln>
        </p:spPr>
        <p:txBody>
          <a:bodyPr/>
          <a:p/>
        </p:txBody>
      </p:sp>
      <p:sp>
        <p:nvSpPr>
          <p:cNvPr id="28" name="Text 26"/>
          <p:cNvSpPr txBox="1"/>
          <p:nvPr/>
        </p:nvSpPr>
        <p:spPr>
          <a:xfrm>
            <a:off x="548640" y="5120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9" name="Text 27"/>
          <p:cNvSpPr txBox="1"/>
          <p:nvPr/>
        </p:nvSpPr>
        <p:spPr>
          <a:xfrm>
            <a:off x="1078992" y="5084064"/>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Lubricación de la rosca. </a:t>
            </a:r>
            <a:pPr indent="0" marL="0">
              <a:lnSpc>
                <a:spcPct val="106000"/>
              </a:lnSpc>
              <a:buNone/>
            </a:pPr>
            <a:r>
              <a:rPr lang="en-US" sz="1150" dirty="0">
                <a:solidFill>
                  <a:schemeClr val="accent4"/>
                </a:solidFill>
              </a:rPr>
              <a:t>solo la que indique el manual y con el producto que indique; lubricar un tornillo pensado para montarse seco provoca sobreapriete</a:t>
            </a:r>
            <a:endParaRPr lang="en-US" sz="1150" dirty="0"/>
          </a:p>
        </p:txBody>
      </p:sp>
      <p:sp>
        <p:nvSpPr>
          <p:cNvPr id="30" name="Shape 28"/>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31" name="Shape 29"/>
          <p:cNvSpPr/>
          <p:nvPr/>
        </p:nvSpPr>
        <p:spPr>
          <a:xfrm>
            <a:off x="786384" y="5600700"/>
            <a:ext cx="365760" cy="365760"/>
          </a:xfrm>
          <a:prstGeom prst="ellipse">
            <a:avLst/>
          </a:prstGeom>
          <a:solidFill>
            <a:schemeClr val="accent1"/>
          </a:solidFill>
          <a:ln w="12700">
            <a:solidFill>
              <a:schemeClr val="accent1"/>
            </a:solidFill>
            <a:prstDash val="solid"/>
          </a:ln>
        </p:spPr>
        <p:txBody>
          <a:bodyPr/>
          <a:p/>
        </p:txBody>
      </p:sp>
      <p:sp>
        <p:nvSpPr>
          <p:cNvPr id="32" name="Text 30"/>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3" name="Text 31"/>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El líquido atrapado en el fondo de un agujero ciego es una causa real de bloques fisurados: los líquidos no se comprimen, de modo que la presión que genera el tornillo al entrar se transmite íntegra a las paredes del alojamiento.</a:t>
            </a:r>
            <a:endParaRPr lang="en-US" sz="1150" dirty="0"/>
          </a:p>
        </p:txBody>
      </p:sp>
      <p:sp>
        <p:nvSpPr>
          <p:cNvPr id="34" name="Text 3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cabezote · recursos: Autodata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va montado sobre el cabezote</a:t>
            </a:r>
            <a:endParaRPr lang="en-US" sz="3200" dirty="0"/>
          </a:p>
        </p:txBody>
      </p:sp>
      <p:sp>
        <p:nvSpPr>
          <p:cNvPr id="3" name="marco_figura"/>
          <p:cNvSpPr/>
          <p:nvPr/>
        </p:nvSpPr>
        <p:spPr>
          <a:xfrm>
            <a:off x="548640" y="1371600"/>
            <a:ext cx="475488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_valvulas_culata.jpg">    </p:cNvPr>
          <p:cNvPicPr>
            <a:picLocks noChangeAspect="1"/>
          </p:cNvPicPr>
          <p:nvPr/>
        </p:nvPicPr>
        <p:blipFill>
          <a:blip r:embed="rId1"/>
          <a:srcRect l="0" r="0" t="0" b="0"/>
          <a:stretch/>
        </p:blipFill>
        <p:spPr>
          <a:xfrm>
            <a:off x="658368" y="1481328"/>
            <a:ext cx="4535424" cy="2340864"/>
          </a:xfrm>
          <a:prstGeom prst="rect">
            <a:avLst/>
          </a:prstGeom>
        </p:spPr>
      </p:pic>
      <p:sp>
        <p:nvSpPr>
          <p:cNvPr id="5" name="Text 2"/>
          <p:cNvSpPr txBox="1"/>
          <p:nvPr/>
        </p:nvSpPr>
        <p:spPr>
          <a:xfrm>
            <a:off x="658368" y="393192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63. </a:t>
            </a:r>
            <a:pPr indent="0" marL="0">
              <a:lnSpc>
                <a:spcPct val="102000"/>
              </a:lnSpc>
              <a:buNone/>
            </a:pPr>
            <a:r>
              <a:rPr lang="en-US" sz="1000" dirty="0">
                <a:solidFill>
                  <a:schemeClr val="accent4"/>
                </a:solidFill>
              </a:rPr>
              <a:t>Cabezote con sus válvulas y alojamientos a la vista. Adaptado de Minga González, M. A. (s. f.). Constitución del motor: la culata [diapositivas]. ISTS.</a:t>
            </a:r>
            <a:endParaRPr lang="en-US" sz="10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669280" y="1371600"/>
          <a:ext cx="5943600" cy="914400"/>
        </p:xfrm>
        <a:graphic>
          <a:graphicData uri="http://schemas.openxmlformats.org/drawingml/2006/table">
            <a:tbl>
              <a:tblPr/>
              <a:tblGrid>
                <a:gridCol w="2011680"/>
                <a:gridCol w="1920240"/>
                <a:gridCol w="2011680"/>
              </a:tblGrid>
              <a:tr h="420624">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Función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Avería típica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050" b="1" dirty="0">
                          <a:solidFill>
                            <a:schemeClr val="tx1"/>
                          </a:solidFill>
                        </a:rPr>
                        <a:t>Tapa de balancines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Cierra la parte superior y contiene el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Junta endurecida: fuga de aceite por los laterales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chemeClr val="tx1"/>
                          </a:solidFill>
                        </a:rPr>
                        <a:t>Colector de admisión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Reparte la mezcla o el aire entre cilindros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Junta soplada: entrada de aire falso y ralentí alto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050" b="1" dirty="0">
                          <a:solidFill>
                            <a:schemeClr val="tx1"/>
                          </a:solidFill>
                        </a:rPr>
                        <a:t>Colector de escape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Recoge los gases de todos los cilindros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Fisura por fatiga térmica; junta soplada con ruido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chemeClr val="tx1"/>
                          </a:solidFill>
                        </a:rPr>
                        <a:t>Alojamientos de bujía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Alojan y sellan la bujía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Rosca dañada por apriete excesivo o por montaje cruzado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050" b="1" dirty="0">
                          <a:solidFill>
                            <a:schemeClr val="tx1"/>
                          </a:solidFill>
                        </a:rPr>
                        <a:t>Sensores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Temperatura, posición de árbol de levas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Falso contacto o rosca dañada al sustituirlos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16052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36626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366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rosca de bujía dañada es una avería cara y evitable: la bujía se monta a mano hasta el final de su recorrido y solo después se aprieta con llave y al par. Si no entra a mano con facilidad, algo está mal y forzarla arruina la culata.</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Al retirar los colectores. </a:t>
            </a:r>
            <a:pPr indent="0" marL="0">
              <a:lnSpc>
                <a:spcPct val="106000"/>
              </a:lnSpc>
              <a:buNone/>
            </a:pPr>
            <a:r>
              <a:rPr lang="en-US" sz="1150" dirty="0">
                <a:solidFill>
                  <a:schemeClr val="accent4"/>
                </a:solidFill>
              </a:rPr>
              <a:t>aflojar en orden cruzado y por pasos, igual que al montarlos; un colector de escape se deforma con facilidad si se fuerza en caliente</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Al montarlos de nuevo. </a:t>
            </a:r>
            <a:pPr indent="0" marL="0">
              <a:lnSpc>
                <a:spcPct val="106000"/>
              </a:lnSpc>
              <a:buNone/>
            </a:pPr>
            <a:r>
              <a:rPr lang="en-US" sz="1150" dirty="0">
                <a:solidFill>
                  <a:schemeClr val="accent4"/>
                </a:solidFill>
              </a:rPr>
              <a:t>juntas nuevas siempre, planos limpios y apriete al par en el orden del manual</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Al manipular sensores. </a:t>
            </a:r>
            <a:pPr indent="0" marL="0">
              <a:lnSpc>
                <a:spcPct val="106000"/>
              </a:lnSpc>
              <a:buNone/>
            </a:pPr>
            <a:r>
              <a:rPr lang="en-US" sz="1150" dirty="0">
                <a:solidFill>
                  <a:schemeClr val="accent4"/>
                </a:solidFill>
              </a:rPr>
              <a:t>desconectarlos antes de mover el conjunto, para no tirar de los cables; y montarlos a mano antes de apretar</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cabezote · despiece y armado del cabezote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Organizar una práctica larga: puntos de parada</a:t>
            </a:r>
            <a:endParaRPr lang="en-US" sz="32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4297680"/>
                <a:gridCol w="4389120"/>
              </a:tblGrid>
              <a:tr h="475488">
                <a:tc>
                  <a:txBody>
                    <a:bodyPr/>
                    <a:lstStyle/>
                    <a:p>
                      <a:pPr indent="0" marL="0">
                        <a:buNone/>
                      </a:pPr>
                      <a:r>
                        <a:rPr lang="en-US" sz="1300" b="1" dirty="0">
                          <a:solidFill>
                            <a:srgbClr val="FFFFFF"/>
                          </a:solidFill>
                        </a:rPr>
                        <a:t>Sesión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completa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deja el trabajo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150" b="1" dirty="0">
                          <a:solidFill>
                            <a:schemeClr val="tx1"/>
                          </a:solidFill>
                        </a:rPr>
                        <a:t>Sesión 1</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Ficha de puesta a punto, desmontaje de la distribución y del cabezote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Piezas identificadas en bandejas, cabezote cubierto, fotografías descargadas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chemeClr val="tx1"/>
                          </a:solidFill>
                        </a:rPr>
                        <a:t>Sesión 2</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Despiece del cabezote, limpieza e inventario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Válvulas y muelles en sus casillas por cilindro, conductos tapados contra el polvo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150" b="1" dirty="0">
                          <a:solidFill>
                            <a:schemeClr val="tx1"/>
                          </a:solidFill>
                        </a:rPr>
                        <a:t>Sesión 3</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Comprobaciones completas y ficha técnica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Ficha completada con los valores del manual ya consultados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chemeClr val="tx1"/>
                          </a:solidFill>
                        </a:rPr>
                        <a:t>Sesión 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Reparaciones, armado del cabezote y del motor, reglaje y verificación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Motor armado, verificado con dos vueltas y puesto en marcha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57600"/>
            <a:ext cx="11064240" cy="822960"/>
          </a:xfrm>
          <a:prstGeom prst="roundRect">
            <a:avLst>
              <a:gd name="adj" fmla="val 6667"/>
            </a:avLst>
          </a:prstGeom>
          <a:solidFill>
            <a:schemeClr val="bg2"/>
          </a:solidFill>
          <a:ln w="12700">
            <a:solidFill>
              <a:schemeClr val="bg2"/>
            </a:solidFill>
            <a:prstDash val="solid"/>
          </a:ln>
        </p:spPr>
        <p:txBody>
          <a:bodyPr/>
          <a:p/>
        </p:txBody>
      </p:sp>
      <p:sp>
        <p:nvSpPr>
          <p:cNvPr id="5" name="Shape 2"/>
          <p:cNvSpPr/>
          <p:nvPr/>
        </p:nvSpPr>
        <p:spPr>
          <a:xfrm>
            <a:off x="786384" y="388620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3886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4904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Una práctica de catorce horas repartida en sesiones necesita puntos de parada definidos. Dejar un cabezote a medio desarmar, sin identificar y sin cubrir, es la forma más segura de perder piezas y de invalidar todo el trabajo anterior.</a:t>
            </a:r>
            <a:endParaRPr lang="en-US" sz="1450" dirty="0"/>
          </a:p>
        </p:txBody>
      </p:sp>
      <p:sp>
        <p:nvSpPr>
          <p:cNvPr id="8" name="Shape 5"/>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61772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Al terminar cada sesión. </a:t>
            </a:r>
            <a:pPr indent="0" marL="0">
              <a:lnSpc>
                <a:spcPct val="106000"/>
              </a:lnSpc>
              <a:buNone/>
            </a:pPr>
            <a:r>
              <a:rPr lang="en-US" sz="1150" dirty="0">
                <a:solidFill>
                  <a:schemeClr val="accent4"/>
                </a:solidFill>
              </a:rPr>
              <a:t>fotografiar el estado en que queda el trabajo, cubrir las piezas y anotar en la ficha en qué punto se quedó</a:t>
            </a:r>
            <a:endParaRPr lang="en-US" sz="1150" dirty="0"/>
          </a:p>
        </p:txBody>
      </p:sp>
      <p:sp>
        <p:nvSpPr>
          <p:cNvPr id="11" name="Shape 8"/>
          <p:cNvSpPr/>
          <p:nvPr/>
        </p:nvSpPr>
        <p:spPr>
          <a:xfrm>
            <a:off x="548640" y="503834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00176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Al empezar la siguiente. </a:t>
            </a:r>
            <a:pPr indent="0" marL="0">
              <a:lnSpc>
                <a:spcPct val="106000"/>
              </a:lnSpc>
              <a:buNone/>
            </a:pPr>
            <a:r>
              <a:rPr lang="en-US" sz="1150" dirty="0">
                <a:solidFill>
                  <a:schemeClr val="accent4"/>
                </a:solidFill>
              </a:rPr>
              <a:t>revisar la fotografía y el inventario antes de tocar nada, y comprobar que no falta ninguna pieza</a:t>
            </a:r>
            <a:endParaRPr lang="en-US" sz="1150" dirty="0"/>
          </a:p>
        </p:txBody>
      </p:sp>
      <p:sp>
        <p:nvSpPr>
          <p:cNvPr id="14" name="Shape 11"/>
          <p:cNvSpPr/>
          <p:nvPr/>
        </p:nvSpPr>
        <p:spPr>
          <a:xfrm>
            <a:off x="548640" y="542239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422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385816"/>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Responsabilidad del grupo. </a:t>
            </a:r>
            <a:pPr indent="0" marL="0">
              <a:lnSpc>
                <a:spcPct val="106000"/>
              </a:lnSpc>
              <a:buNone/>
            </a:pPr>
            <a:r>
              <a:rPr lang="en-US" sz="1150" dirty="0">
                <a:solidFill>
                  <a:schemeClr val="accent4"/>
                </a:solidFill>
              </a:rPr>
              <a:t>el puesto queda ordenado y las piezas identificadas aunque la sesión termine con prisa; el grupo siguiente trabaja sobre lo que este deje</a:t>
            </a:r>
            <a:endParaRPr lang="en-US" sz="115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14 horas práctico-experimentales · habilidades blandas: trabajo en equipo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3.4  ·  3 HORAS DE DOCENCIA  ·  CIERRA LA UNIDAD</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Comprobaciones</a:t>
            </a:r>
            <a:endParaRPr lang="en-US" sz="4000" dirty="0"/>
          </a:p>
          <a:p>
            <a:pPr indent="0" marL="0">
              <a:buNone/>
            </a:pPr>
            <a:r>
              <a:rPr lang="en-US" sz="4000" b="1" dirty="0">
                <a:solidFill>
                  <a:schemeClr val="bg1"/>
                </a:solidFill>
              </a:rPr>
              <a:t>del cabezote</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Planitud · Fisuras · Guías · Asientos y esmerilado · Estanqueidad · Muelles · Reglaje de válvulas · Armado con par</a:t>
            </a:r>
            <a:endParaRPr lang="en-US" sz="17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Ejecutar las comprobaciones del cabezote con el instrumento adecuado, comparar cada resultado con el valor del manual y decidir sobre cada elemento.</a:t>
            </a:r>
            <a:endParaRPr lang="en-US" sz="1200" dirty="0"/>
          </a:p>
        </p:txBody>
      </p:sp>
      <p:sp>
        <p:nvSpPr>
          <p:cNvPr id="8" name="Text 6"/>
          <p:cNvSpPr txBox="1"/>
          <p:nvPr/>
        </p:nvSpPr>
        <p:spPr>
          <a:xfrm>
            <a:off x="804672" y="320954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3</a:t>
            </a:r>
            <a:endParaRPr lang="en-US" sz="1200" dirty="0"/>
          </a:p>
        </p:txBody>
      </p:sp>
      <p:sp>
        <p:nvSpPr>
          <p:cNvPr id="9"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 del PEA</a:t>
            </a:r>
            <a:endParaRPr lang="en-US" sz="1700" dirty="0"/>
          </a:p>
        </p:txBody>
      </p:sp>
      <p:sp>
        <p:nvSpPr>
          <p:cNvPr id="13" name="Text 11"/>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Comprobaciones del cabezote.</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Es el quinto y último conocimiento declarado para la unidad.</a:t>
            </a:r>
            <a:endParaRPr lang="en-US" sz="1200" dirty="0"/>
          </a:p>
        </p:txBody>
      </p:sp>
      <p:sp>
        <p:nvSpPr>
          <p:cNvPr id="14" name="Text 12"/>
          <p:cNvSpPr txBox="1"/>
          <p:nvPr/>
        </p:nvSpPr>
        <p:spPr>
          <a:xfrm>
            <a:off x="4584192" y="320954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1 de los 5 conocimientos</a:t>
            </a:r>
            <a:endParaRPr lang="en-US" sz="1200" dirty="0"/>
          </a:p>
        </p:txBody>
      </p:sp>
      <p:sp>
        <p:nvSpPr>
          <p:cNvPr id="15"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Ficha de comprobaciones completa, con el valor del fabricante, el valor medido y la decisión técnica justificada para cada elemento.</a:t>
            </a:r>
            <a:endParaRPr lang="en-US" sz="1200" dirty="0"/>
          </a:p>
        </p:txBody>
      </p:sp>
      <p:sp>
        <p:nvSpPr>
          <p:cNvPr id="20" name="Text 18"/>
          <p:cNvSpPr txBox="1"/>
          <p:nvPr/>
        </p:nvSpPr>
        <p:spPr>
          <a:xfrm>
            <a:off x="8363712" y="320954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Instrumento de evaluación</a:t>
            </a:r>
            <a:endParaRPr lang="en-US" sz="1200" dirty="0"/>
          </a:p>
        </p:txBody>
      </p:sp>
      <p:sp>
        <p:nvSpPr>
          <p:cNvPr id="21" name="Text 19"/>
          <p:cNvSpPr txBox="1"/>
          <p:nvPr/>
        </p:nvSpPr>
        <p:spPr>
          <a:xfrm>
            <a:off x="548640" y="3749040"/>
            <a:ext cx="11064240" cy="5029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Competencia concreta que se evalúa:  dado un cabezote desarmado, el estudiante debe poder decidir si es apto, si necesita reparación y cuál, o si debe rechazarse, justificando la decisión con las medidas tomadas.</a:t>
            </a:r>
            <a:endParaRPr lang="en-US" sz="1400" dirty="0"/>
          </a:p>
        </p:txBody>
      </p:sp>
      <p:sp>
        <p:nvSpPr>
          <p:cNvPr id="22" name="Shape 20"/>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31596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cabezote como pieza. </a:t>
            </a:r>
            <a:pPr indent="0" marL="0">
              <a:lnSpc>
                <a:spcPct val="106000"/>
              </a:lnSpc>
              <a:buNone/>
            </a:pPr>
            <a:r>
              <a:rPr lang="en-US" sz="1200" dirty="0">
                <a:solidFill>
                  <a:schemeClr val="accent4"/>
                </a:solidFill>
              </a:rPr>
              <a:t>planitud del plano de apoyo e inspección de fisuras: si falla aquí, lo demás no importa</a:t>
            </a:r>
            <a:endParaRPr lang="en-US" sz="1200" dirty="0"/>
          </a:p>
        </p:txBody>
      </p:sp>
      <p:sp>
        <p:nvSpPr>
          <p:cNvPr id="25" name="Shape 23"/>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61772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Cada válvula. </a:t>
            </a:r>
            <a:pPr indent="0" marL="0">
              <a:lnSpc>
                <a:spcPct val="106000"/>
              </a:lnSpc>
              <a:buNone/>
            </a:pPr>
            <a:r>
              <a:rPr lang="en-US" sz="1200" dirty="0">
                <a:solidFill>
                  <a:schemeClr val="accent4"/>
                </a:solidFill>
              </a:rPr>
              <a:t>holgura de guía, estado y ancho del asiento, estanqueidad del cierre</a:t>
            </a:r>
            <a:endParaRPr lang="en-US" sz="1200" dirty="0"/>
          </a:p>
        </p:txBody>
      </p:sp>
      <p:sp>
        <p:nvSpPr>
          <p:cNvPr id="28" name="Shape 26"/>
          <p:cNvSpPr/>
          <p:nvPr/>
        </p:nvSpPr>
        <p:spPr>
          <a:xfrm>
            <a:off x="548640" y="495604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491947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 reparación. </a:t>
            </a:r>
            <a:pPr indent="0" marL="0">
              <a:lnSpc>
                <a:spcPct val="106000"/>
              </a:lnSpc>
              <a:buNone/>
            </a:pPr>
            <a:r>
              <a:rPr lang="en-US" sz="1200" dirty="0">
                <a:solidFill>
                  <a:schemeClr val="accent4"/>
                </a:solidFill>
              </a:rPr>
              <a:t>esmerilado de asientos: cuándo basta, cuándo no y cómo se verifica el resultado</a:t>
            </a:r>
            <a:endParaRPr lang="en-US" sz="1200" dirty="0"/>
          </a:p>
        </p:txBody>
      </p:sp>
      <p:sp>
        <p:nvSpPr>
          <p:cNvPr id="31" name="Shape 29"/>
          <p:cNvSpPr/>
          <p:nvPr/>
        </p:nvSpPr>
        <p:spPr>
          <a:xfrm>
            <a:off x="548640" y="525780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221224"/>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Los muelles. </a:t>
            </a:r>
            <a:pPr indent="0" marL="0">
              <a:lnSpc>
                <a:spcPct val="106000"/>
              </a:lnSpc>
              <a:buNone/>
            </a:pPr>
            <a:r>
              <a:rPr lang="en-US" sz="1200" dirty="0">
                <a:solidFill>
                  <a:schemeClr val="accent4"/>
                </a:solidFill>
              </a:rPr>
              <a:t>longitud libre y perpendicularidad contra el valor del manual</a:t>
            </a:r>
            <a:endParaRPr lang="en-US" sz="1200" dirty="0"/>
          </a:p>
        </p:txBody>
      </p:sp>
      <p:sp>
        <p:nvSpPr>
          <p:cNvPr id="34" name="Shape 32"/>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522976"/>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armado. </a:t>
            </a:r>
            <a:pPr indent="0" marL="0">
              <a:lnSpc>
                <a:spcPct val="106000"/>
              </a:lnSpc>
              <a:buNone/>
            </a:pPr>
            <a:r>
              <a:rPr lang="en-US" sz="1200" dirty="0">
                <a:solidFill>
                  <a:schemeClr val="accent4"/>
                </a:solidFill>
              </a:rPr>
              <a:t>reglaje de la holgura de válvulas y apriete del cabezote al par y en el orden del fabricante</a:t>
            </a:r>
            <a:endParaRPr lang="en-US" sz="120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Conocimientos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Activación: tres motores, tres fugas distintas</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Pierde refrigerante sin fuga visible</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El nivel del depósito baja semana a semana. No hay charco bajo el vehículo ni manchas en el motor. El escape expulsa humo blanco denso cuando el motor ya está caliente.</a:t>
            </a:r>
            <a:endParaRPr lang="en-US" sz="1150" dirty="0"/>
          </a:p>
        </p:txBody>
      </p:sp>
      <p:sp>
        <p:nvSpPr>
          <p:cNvPr id="8"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Falla en un solo cilindro</a:t>
            </a:r>
            <a:endParaRPr lang="en-US" sz="1700" dirty="0"/>
          </a:p>
        </p:txBody>
      </p:sp>
      <p:sp>
        <p:nvSpPr>
          <p:cNvPr id="12" name="Text 10"/>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El motor va irregular siempre, también en caliente. La compresión de ese cilindro es muy baja. Al echar unas gotas de aceite por el orificio de la bujía, la compresión no mejora.</a:t>
            </a:r>
            <a:endParaRPr lang="en-US" sz="1150" dirty="0"/>
          </a:p>
        </p:txBody>
      </p:sp>
      <p:sp>
        <p:nvSpPr>
          <p:cNvPr id="13"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Humo azul al arrancar</a:t>
            </a:r>
            <a:endParaRPr lang="en-US" sz="1700" dirty="0"/>
          </a:p>
        </p:txBody>
      </p:sp>
      <p:sp>
        <p:nvSpPr>
          <p:cNvPr id="17" name="Text 15"/>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Tras pasar la noche parado, el motor echa una bocanada de humo azul que desaparece en pocos segundos. Después funciona con normalidad y consume aceite poco a poco.</a:t>
            </a:r>
            <a:endParaRPr lang="en-US" sz="1150" dirty="0"/>
          </a:p>
        </p:txBody>
      </p:sp>
      <p:sp>
        <p:nvSpPr>
          <p:cNvPr id="18" name="Shape 16"/>
          <p:cNvSpPr/>
          <p:nvPr/>
        </p:nvSpPr>
        <p:spPr>
          <a:xfrm>
            <a:off x="548640" y="3931920"/>
            <a:ext cx="11064240" cy="731520"/>
          </a:xfrm>
          <a:prstGeom prst="roundRect">
            <a:avLst>
              <a:gd name="adj" fmla="val 7500"/>
            </a:avLst>
          </a:prstGeom>
          <a:solidFill>
            <a:schemeClr val="bg2"/>
          </a:solidFill>
          <a:ln w="12700">
            <a:solidFill>
              <a:schemeClr val="bg2"/>
            </a:solidFill>
            <a:prstDash val="solid"/>
          </a:ln>
        </p:spPr>
        <p:txBody>
          <a:bodyPr/>
          <a:p/>
        </p:txBody>
      </p:sp>
      <p:sp>
        <p:nvSpPr>
          <p:cNvPr id="19" name="Shape 17"/>
          <p:cNvSpPr/>
          <p:nvPr/>
        </p:nvSpPr>
        <p:spPr>
          <a:xfrm>
            <a:off x="786384" y="4114800"/>
            <a:ext cx="365760" cy="365760"/>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786384" y="4114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1" name="Text 19"/>
          <p:cNvSpPr txBox="1"/>
          <p:nvPr/>
        </p:nvSpPr>
        <p:spPr>
          <a:xfrm>
            <a:off x="1298448" y="402336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tres son fugas, pero cada una se escapa por un sitio distinto del cabezote. Al terminar la clase, cada grupo debe poder decir por dónde se escapa cada una y con qué comprobación lo demostraría.</a:t>
            </a:r>
            <a:endParaRPr lang="en-US" sz="1450" dirty="0"/>
          </a:p>
        </p:txBody>
      </p:sp>
      <p:sp>
        <p:nvSpPr>
          <p:cNvPr id="22" name="Shape 20"/>
          <p:cNvSpPr/>
          <p:nvPr/>
        </p:nvSpPr>
        <p:spPr>
          <a:xfrm>
            <a:off x="548640" y="4882896"/>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882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84632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Pista para el caso A. </a:t>
            </a:r>
            <a:pPr indent="0" marL="0">
              <a:lnSpc>
                <a:spcPct val="106000"/>
              </a:lnSpc>
              <a:buNone/>
            </a:pPr>
            <a:r>
              <a:rPr lang="en-US" sz="1200" dirty="0">
                <a:solidFill>
                  <a:schemeClr val="accent4"/>
                </a:solidFill>
              </a:rPr>
              <a:t>el refrigerante desaparece y aparece humo blanco: está pasando de un circuito al otro por algún sitio</a:t>
            </a:r>
            <a:endParaRPr lang="en-US" sz="1200" dirty="0"/>
          </a:p>
        </p:txBody>
      </p:sp>
      <p:sp>
        <p:nvSpPr>
          <p:cNvPr id="25" name="Shape 23"/>
          <p:cNvSpPr/>
          <p:nvPr/>
        </p:nvSpPr>
        <p:spPr>
          <a:xfrm>
            <a:off x="548640" y="5221224"/>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5221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518464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Pista para el caso B. </a:t>
            </a:r>
            <a:pPr indent="0" marL="0">
              <a:lnSpc>
                <a:spcPct val="106000"/>
              </a:lnSpc>
              <a:buNone/>
            </a:pPr>
            <a:r>
              <a:rPr lang="en-US" sz="1200" dirty="0">
                <a:solidFill>
                  <a:schemeClr val="accent4"/>
                </a:solidFill>
              </a:rPr>
              <a:t>el aceite sella temporalmente los segmentos; si echarlo no mejora la compresión, la fuga no está en los segmentos</a:t>
            </a:r>
            <a:endParaRPr lang="en-US" sz="1200" dirty="0"/>
          </a:p>
        </p:txBody>
      </p:sp>
      <p:sp>
        <p:nvSpPr>
          <p:cNvPr id="28" name="Shape 26"/>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552297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Pista para el caso C. </a:t>
            </a:r>
            <a:pPr indent="0" marL="0">
              <a:lnSpc>
                <a:spcPct val="106000"/>
              </a:lnSpc>
              <a:buNone/>
            </a:pPr>
            <a:r>
              <a:rPr lang="en-US" sz="1200" dirty="0">
                <a:solidFill>
                  <a:schemeClr val="accent4"/>
                </a:solidFill>
              </a:rPr>
              <a:t>el aceite necesita horas de reposo para filtrarse; eso indica por dónde baja mientras el motor está parado</a:t>
            </a:r>
            <a:endParaRPr lang="en-US" sz="120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declarada en el PEA: análisis de casos y aprendizaje basado en problemas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cabezote como pieza: planitud y fisuras</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480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Limpiar el plano de apoyo. </a:t>
            </a:r>
            <a:pPr indent="0" marL="0">
              <a:lnSpc>
                <a:spcPct val="106000"/>
              </a:lnSpc>
              <a:buNone/>
            </a:pPr>
            <a:r>
              <a:rPr lang="en-US" sz="1200" dirty="0">
                <a:solidFill>
                  <a:schemeClr val="accent4"/>
                </a:solidFill>
              </a:rPr>
              <a:t>retirar todo resto de empaque con rasqueta de plástico, sin rayar la superficie; un resto de dos décimas invalida una comprobación cuyo límite está en centésimas</a:t>
            </a:r>
            <a:endParaRPr lang="en-US" sz="1200" dirty="0"/>
          </a:p>
        </p:txBody>
      </p:sp>
      <p:sp>
        <p:nvSpPr>
          <p:cNvPr id="6" name="Shape 4"/>
          <p:cNvSpPr/>
          <p:nvPr/>
        </p:nvSpPr>
        <p:spPr>
          <a:xfrm>
            <a:off x="548640" y="1956816"/>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56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920240"/>
            <a:ext cx="10533888" cy="4480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Apoyar la regla de precisión. </a:t>
            </a:r>
            <a:pPr indent="0" marL="0">
              <a:lnSpc>
                <a:spcPct val="106000"/>
              </a:lnSpc>
              <a:buNone/>
            </a:pPr>
            <a:r>
              <a:rPr lang="en-US" sz="1200" dirty="0">
                <a:solidFill>
                  <a:schemeClr val="accent4"/>
                </a:solidFill>
              </a:rPr>
              <a:t>en las dos diagonales, en los dos lados largos y en el eje longitudinal, igual que se hizo con el bloque en la Unidad 1</a:t>
            </a:r>
            <a:endParaRPr lang="en-US" sz="1200" dirty="0"/>
          </a:p>
        </p:txBody>
      </p:sp>
      <p:sp>
        <p:nvSpPr>
          <p:cNvPr id="9" name="Shape 7"/>
          <p:cNvSpPr/>
          <p:nvPr/>
        </p:nvSpPr>
        <p:spPr>
          <a:xfrm>
            <a:off x="548640" y="2459736"/>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459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423160"/>
            <a:ext cx="10533888" cy="4480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Intentar pasar la galga del límite. </a:t>
            </a:r>
            <a:pPr indent="0" marL="0">
              <a:lnSpc>
                <a:spcPct val="106000"/>
              </a:lnSpc>
              <a:buNone/>
            </a:pPr>
            <a:r>
              <a:rPr lang="en-US" sz="1200" dirty="0">
                <a:solidFill>
                  <a:schemeClr val="accent4"/>
                </a:solidFill>
              </a:rPr>
              <a:t>recorriendo toda la longitud de la regla; es una comprobación de pasa o no pasa, no una medición</a:t>
            </a:r>
            <a:endParaRPr lang="en-US" sz="1200" dirty="0"/>
          </a:p>
        </p:txBody>
      </p:sp>
      <p:sp>
        <p:nvSpPr>
          <p:cNvPr id="12" name="Shape 10"/>
          <p:cNvSpPr/>
          <p:nvPr/>
        </p:nvSpPr>
        <p:spPr>
          <a:xfrm>
            <a:off x="548640" y="2962656"/>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962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926080"/>
            <a:ext cx="10533888" cy="4480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Decidir. </a:t>
            </a:r>
            <a:pPr indent="0" marL="0">
              <a:lnSpc>
                <a:spcPct val="106000"/>
              </a:lnSpc>
              <a:buNone/>
            </a:pPr>
            <a:r>
              <a:rPr lang="en-US" sz="1200" dirty="0">
                <a:solidFill>
                  <a:schemeClr val="accent4"/>
                </a:solidFill>
              </a:rPr>
              <a:t>si la galga del límite pasa, el alabeo supera lo admitido: rectificado plano, siempre que quede material suficiente</a:t>
            </a:r>
            <a:endParaRPr lang="en-US" sz="1200" dirty="0"/>
          </a:p>
        </p:txBody>
      </p:sp>
      <p:sp>
        <p:nvSpPr>
          <p:cNvPr id="15" name="Shape 13"/>
          <p:cNvSpPr/>
          <p:nvPr/>
        </p:nvSpPr>
        <p:spPr>
          <a:xfrm>
            <a:off x="548640" y="3465576"/>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465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429000"/>
            <a:ext cx="10533888" cy="4480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5 — Inspeccionar fisuras. </a:t>
            </a:r>
            <a:pPr indent="0" marL="0">
              <a:lnSpc>
                <a:spcPct val="106000"/>
              </a:lnSpc>
              <a:buNone/>
            </a:pPr>
            <a:r>
              <a:rPr lang="en-US" sz="1200" dirty="0">
                <a:solidFill>
                  <a:schemeClr val="accent4"/>
                </a:solidFill>
              </a:rPr>
              <a:t>con buena luz rasante, en el plano de apoyo, entre asientos de válvula y alrededor de los alojamientos de bujía, que son las zonas más calientes</a:t>
            </a:r>
            <a:endParaRPr lang="en-US" sz="12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2926080"/>
                <a:gridCol w="4023360"/>
                <a:gridCol w="4114800"/>
              </a:tblGrid>
              <a:tr h="384048">
                <a:tc>
                  <a:txBody>
                    <a:bodyPr/>
                    <a:lstStyle/>
                    <a:p>
                      <a:pPr indent="0" marL="0">
                        <a:buNone/>
                      </a:pPr>
                      <a:r>
                        <a:rPr lang="en-US" sz="1300" b="1" dirty="0">
                          <a:solidFill>
                            <a:srgbClr val="FFFFFF"/>
                          </a:solidFill>
                        </a:rPr>
                        <a:t>Hallazgo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significa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Decisión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00" b="1" dirty="0">
                          <a:solidFill>
                            <a:schemeClr val="tx1"/>
                          </a:solidFill>
                        </a:rPr>
                        <a:t>Alabeo dentro del límite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El plano está recto dentro de lo que el empaque puede absorber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Apto; se monta con empaque nuevo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Alabeo por encima del límite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Típico de un motor que se recalentó; el empaque no sellará</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Rectificado plano, si queda altura suficiente según el manual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Fisura entre asientos o en el plano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Camino abierto entre cámara y refrigerante o hacia el exterior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Rechazo del cabezote: no hay reparación fiable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0" name="Shape 17"/>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21" name="Text 18"/>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Resolución del caso A: el refrigerante que desaparece sin fuga visible y el humo blanco denso en caliente indican que el refrigerante está pasando a la cámara. La causa es el empaque soplado o una fisura, y la comprobación que lo demuestra es la planitud junto a la inspección de fisuras.</a:t>
            </a:r>
            <a:endParaRPr lang="en-US" sz="11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 · enlaza con la metrología de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Comprobación de las guías de válvula</a:t>
            </a:r>
            <a:endParaRPr lang="en-US" sz="3200" dirty="0"/>
          </a:p>
        </p:txBody>
      </p:sp>
      <p:sp>
        <p:nvSpPr>
          <p:cNvPr id="3" name="marco_figura"/>
          <p:cNvSpPr/>
          <p:nvPr/>
        </p:nvSpPr>
        <p:spPr>
          <a:xfrm>
            <a:off x="548640" y="1371600"/>
            <a:ext cx="457200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asientos.jpg">    </p:cNvPr>
          <p:cNvPicPr>
            <a:picLocks noChangeAspect="1"/>
          </p:cNvPicPr>
          <p:nvPr/>
        </p:nvPicPr>
        <p:blipFill>
          <a:blip r:embed="rId1"/>
          <a:srcRect l="0" r="0" t="0" b="0"/>
          <a:stretch/>
        </p:blipFill>
        <p:spPr>
          <a:xfrm>
            <a:off x="658368" y="1481328"/>
            <a:ext cx="4352544" cy="2432304"/>
          </a:xfrm>
          <a:prstGeom prst="rect">
            <a:avLst/>
          </a:prstGeom>
        </p:spPr>
      </p:pic>
      <p:sp>
        <p:nvSpPr>
          <p:cNvPr id="5" name="Text 2"/>
          <p:cNvSpPr txBox="1"/>
          <p:nvPr/>
        </p:nvSpPr>
        <p:spPr>
          <a:xfrm>
            <a:off x="658368" y="402336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65. </a:t>
            </a:r>
            <a:pPr indent="0" marL="0">
              <a:lnSpc>
                <a:spcPct val="102000"/>
              </a:lnSpc>
              <a:buNone/>
            </a:pPr>
            <a:r>
              <a:rPr lang="en-US" sz="1000" dirty="0">
                <a:solidFill>
                  <a:schemeClr val="accent4"/>
                </a:solidFill>
              </a:rPr>
              <a:t>Guías y asientos vistos desde la cámara de combustión. Adaptado de Minga González, M. A. (s. f.). Sistemas auxiliares del motor [diapositivas]. ISTS.</a:t>
            </a:r>
            <a:endParaRPr lang="en-US" sz="1000" dirty="0"/>
          </a:p>
        </p:txBody>
      </p:sp>
      <p:sp>
        <p:nvSpPr>
          <p:cNvPr id="6" name="Shape 3"/>
          <p:cNvSpPr/>
          <p:nvPr/>
        </p:nvSpPr>
        <p:spPr>
          <a:xfrm>
            <a:off x="548640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4864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016752" y="1463040"/>
            <a:ext cx="559612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Método con comparador. </a:t>
            </a:r>
            <a:pPr indent="0" marL="0">
              <a:lnSpc>
                <a:spcPct val="106000"/>
              </a:lnSpc>
              <a:buNone/>
            </a:pPr>
            <a:r>
              <a:rPr lang="en-US" sz="1150" dirty="0">
                <a:solidFill>
                  <a:schemeClr val="accent4"/>
                </a:solidFill>
              </a:rPr>
              <a:t>montar la válvula en su guía con la cabeza separada unos milímetros del asiento, apoyar el palpador en el borde de la cabeza y moverla lateralmente</a:t>
            </a:r>
            <a:endParaRPr lang="en-US" sz="1150" dirty="0"/>
          </a:p>
        </p:txBody>
      </p:sp>
      <p:sp>
        <p:nvSpPr>
          <p:cNvPr id="9" name="Shape 6"/>
          <p:cNvSpPr/>
          <p:nvPr/>
        </p:nvSpPr>
        <p:spPr>
          <a:xfrm>
            <a:off x="548640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48640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016752" y="2121408"/>
            <a:ext cx="559612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lee. </a:t>
            </a:r>
            <a:pPr indent="0" marL="0">
              <a:lnSpc>
                <a:spcPct val="106000"/>
              </a:lnSpc>
              <a:buNone/>
            </a:pPr>
            <a:r>
              <a:rPr lang="en-US" sz="1150" dirty="0">
                <a:solidFill>
                  <a:schemeClr val="accent4"/>
                </a:solidFill>
              </a:rPr>
              <a:t>el juego total en la cabeza; el manual da el valor máximo admisible para esa válvula y esa guía</a:t>
            </a:r>
            <a:endParaRPr lang="en-US" sz="1150" dirty="0"/>
          </a:p>
        </p:txBody>
      </p:sp>
      <p:sp>
        <p:nvSpPr>
          <p:cNvPr id="12" name="Shape 9"/>
          <p:cNvSpPr/>
          <p:nvPr/>
        </p:nvSpPr>
        <p:spPr>
          <a:xfrm>
            <a:off x="548640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48640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016752" y="2779776"/>
            <a:ext cx="559612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Método alternativo. </a:t>
            </a:r>
            <a:pPr indent="0" marL="0">
              <a:lnSpc>
                <a:spcPct val="106000"/>
              </a:lnSpc>
              <a:buNone/>
            </a:pPr>
            <a:r>
              <a:rPr lang="en-US" sz="1150" dirty="0">
                <a:solidFill>
                  <a:schemeClr val="accent4"/>
                </a:solidFill>
              </a:rPr>
              <a:t>medir con micrómetro el diámetro del vástago en varios puntos y comparar con el diámetro interior de la guía</a:t>
            </a:r>
            <a:endParaRPr lang="en-US" sz="1150" dirty="0"/>
          </a:p>
        </p:txBody>
      </p:sp>
      <p:sp>
        <p:nvSpPr>
          <p:cNvPr id="15" name="Shape 12"/>
          <p:cNvSpPr/>
          <p:nvPr/>
        </p:nvSpPr>
        <p:spPr>
          <a:xfrm>
            <a:off x="548640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48640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016752" y="3438144"/>
            <a:ext cx="559612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se mide en varios puntos. </a:t>
            </a:r>
            <a:pPr indent="0" marL="0">
              <a:lnSpc>
                <a:spcPct val="106000"/>
              </a:lnSpc>
              <a:buNone/>
            </a:pPr>
            <a:r>
              <a:rPr lang="en-US" sz="1150" dirty="0">
                <a:solidFill>
                  <a:schemeClr val="accent4"/>
                </a:solidFill>
              </a:rPr>
              <a:t>el vástago se desgasta más en las zonas que rozan en los extremos del recorrido, de modo que una sola medida puede engañar</a:t>
            </a:r>
            <a:endParaRPr lang="en-US" sz="115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11064240" cy="914400"/>
        </p:xfrm>
        <a:graphic>
          <a:graphicData uri="http://schemas.openxmlformats.org/drawingml/2006/table">
            <a:tbl>
              <a:tblPr/>
              <a:tblGrid>
                <a:gridCol w="2926080"/>
                <a:gridCol w="4023360"/>
                <a:gridCol w="4114800"/>
              </a:tblGrid>
              <a:tr h="384048">
                <a:tc>
                  <a:txBody>
                    <a:bodyPr/>
                    <a:lstStyle/>
                    <a:p>
                      <a:pPr indent="0" marL="0">
                        <a:buNone/>
                      </a:pPr>
                      <a:r>
                        <a:rPr lang="en-US" sz="1300" b="1" dirty="0">
                          <a:solidFill>
                            <a:srgbClr val="FFFFFF"/>
                          </a:solidFill>
                        </a:rPr>
                        <a:t>Resultado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significa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Decisión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100" b="1" dirty="0">
                          <a:solidFill>
                            <a:schemeClr val="tx1"/>
                          </a:solidFill>
                        </a:rPr>
                        <a:t>Juego dentro del valor del manual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La válvula baja y sube guiada y asienta centrada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Apto; se monta con sello de vástago nuevo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Juego por encima del límite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La válvula cabecea: asienta descentrada y deja pasar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Sustituir guía, o guía y válvula, antes de tocar el asiento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Vástago con escalón o rayado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Desgaste localizado o falta de lubricación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Sustituir la válvula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5"/>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0" name="Shape 16"/>
          <p:cNvSpPr/>
          <p:nvPr/>
        </p:nvSpPr>
        <p:spPr>
          <a:xfrm>
            <a:off x="786384" y="5600700"/>
            <a:ext cx="365760" cy="365760"/>
          </a:xfrm>
          <a:prstGeom prst="ellipse">
            <a:avLst/>
          </a:prstGeom>
          <a:solidFill>
            <a:schemeClr val="accent1"/>
          </a:solidFill>
          <a:ln w="12700">
            <a:solidFill>
              <a:schemeClr val="accent1"/>
            </a:solidFill>
            <a:prstDash val="solid"/>
          </a:ln>
        </p:spPr>
        <p:txBody>
          <a:bodyPr/>
          <a:p/>
        </p:txBody>
      </p:sp>
      <p:sp>
        <p:nvSpPr>
          <p:cNvPr id="21" name="Text 17"/>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8"/>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La guía se comprueba siempre antes que el asiento. Rectificar o esmerilar un asiento con la guía holgada es trabajo perdido: la válvula seguirá cabeceando y el asiento volverá a desgastarse irregularmente en pocos miles de kilómetros.</a:t>
            </a:r>
            <a:endParaRPr lang="en-US" sz="1150" dirty="0"/>
          </a:p>
        </p:txBody>
      </p:sp>
      <p:sp>
        <p:nvSpPr>
          <p:cNvPr id="23" name="Text 1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Asientos: estado, esmerilado y comprobación de estanqueidad</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480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Inspeccionar la cara de apoyo. </a:t>
            </a:r>
            <a:pPr indent="0" marL="0">
              <a:lnSpc>
                <a:spcPct val="106000"/>
              </a:lnSpc>
              <a:buNone/>
            </a:pPr>
            <a:r>
              <a:rPr lang="en-US" sz="1200" dirty="0">
                <a:solidFill>
                  <a:schemeClr val="accent4"/>
                </a:solidFill>
              </a:rPr>
              <a:t>buscar quemaduras, picaduras, surcos o una franja de contacto irregular en la válvula y en el asiento</a:t>
            </a:r>
            <a:endParaRPr lang="en-US" sz="1200" dirty="0"/>
          </a:p>
        </p:txBody>
      </p:sp>
      <p:sp>
        <p:nvSpPr>
          <p:cNvPr id="6" name="Shape 4"/>
          <p:cNvSpPr/>
          <p:nvPr/>
        </p:nvSpPr>
        <p:spPr>
          <a:xfrm>
            <a:off x="548640" y="1956816"/>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56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920240"/>
            <a:ext cx="10533888" cy="4480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Comprobar el ancho de la franja de contacto. </a:t>
            </a:r>
            <a:pPr indent="0" marL="0">
              <a:lnSpc>
                <a:spcPct val="106000"/>
              </a:lnSpc>
              <a:buNone/>
            </a:pPr>
            <a:r>
              <a:rPr lang="en-US" sz="1200" dirty="0">
                <a:solidFill>
                  <a:schemeClr val="accent4"/>
                </a:solidFill>
              </a:rPr>
              <a:t>debe ser uniforme en todo el contorno y estar dentro del ancho que da el manual: muy estrecha no evacúa calor, muy ancha no sella bien</a:t>
            </a:r>
            <a:endParaRPr lang="en-US" sz="1200" dirty="0"/>
          </a:p>
        </p:txBody>
      </p:sp>
      <p:sp>
        <p:nvSpPr>
          <p:cNvPr id="9" name="Shape 7"/>
          <p:cNvSpPr/>
          <p:nvPr/>
        </p:nvSpPr>
        <p:spPr>
          <a:xfrm>
            <a:off x="548640" y="2459736"/>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459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423160"/>
            <a:ext cx="10533888" cy="4480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Esmerilar si el daño es superficial. </a:t>
            </a:r>
            <a:pPr indent="0" marL="0">
              <a:lnSpc>
                <a:spcPct val="106000"/>
              </a:lnSpc>
              <a:buNone/>
            </a:pPr>
            <a:r>
              <a:rPr lang="en-US" sz="1200" dirty="0">
                <a:solidFill>
                  <a:schemeClr val="accent4"/>
                </a:solidFill>
              </a:rPr>
              <a:t>con pasta de esmerilar y ventosa, girando la válvula en ambos sentidos con movimientos alternos y levantándola de vez en cuando</a:t>
            </a:r>
            <a:endParaRPr lang="en-US" sz="1200" dirty="0"/>
          </a:p>
        </p:txBody>
      </p:sp>
      <p:sp>
        <p:nvSpPr>
          <p:cNvPr id="12" name="Shape 10"/>
          <p:cNvSpPr/>
          <p:nvPr/>
        </p:nvSpPr>
        <p:spPr>
          <a:xfrm>
            <a:off x="548640" y="2962656"/>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962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926080"/>
            <a:ext cx="10533888" cy="4480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Limpiar a fondo. </a:t>
            </a:r>
            <a:pPr indent="0" marL="0">
              <a:lnSpc>
                <a:spcPct val="106000"/>
              </a:lnSpc>
              <a:buNone/>
            </a:pPr>
            <a:r>
              <a:rPr lang="en-US" sz="1200" dirty="0">
                <a:solidFill>
                  <a:schemeClr val="accent4"/>
                </a:solidFill>
              </a:rPr>
              <a:t>eliminar todo resto de pasta abrasiva del asiento, del conducto y del vástago: la pasta que quede destruirá el motor</a:t>
            </a:r>
            <a:endParaRPr lang="en-US" sz="1200" dirty="0"/>
          </a:p>
        </p:txBody>
      </p:sp>
      <p:sp>
        <p:nvSpPr>
          <p:cNvPr id="15" name="Shape 13"/>
          <p:cNvSpPr/>
          <p:nvPr/>
        </p:nvSpPr>
        <p:spPr>
          <a:xfrm>
            <a:off x="548640" y="3465576"/>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465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429000"/>
            <a:ext cx="10533888" cy="4480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5 — Comprobar la estanqueidad. </a:t>
            </a:r>
            <a:pPr indent="0" marL="0">
              <a:lnSpc>
                <a:spcPct val="106000"/>
              </a:lnSpc>
              <a:buNone/>
            </a:pPr>
            <a:r>
              <a:rPr lang="en-US" sz="1200" dirty="0">
                <a:solidFill>
                  <a:schemeClr val="accent4"/>
                </a:solidFill>
              </a:rPr>
              <a:t>con la válvula montada, verter combustible o petróleo en el conducto y observar si pasa hacia la cámara</a:t>
            </a:r>
            <a:endParaRPr lang="en-US" sz="1200" dirty="0"/>
          </a:p>
        </p:txBody>
      </p:sp>
      <p:sp>
        <p:nvSpPr>
          <p:cNvPr id="18" name="Shape 16"/>
          <p:cNvSpPr/>
          <p:nvPr/>
        </p:nvSpPr>
        <p:spPr>
          <a:xfrm>
            <a:off x="548640" y="396849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3931920"/>
            <a:ext cx="10533888" cy="4480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6 — Decidir. </a:t>
            </a:r>
            <a:pPr indent="0" marL="0">
              <a:lnSpc>
                <a:spcPct val="106000"/>
              </a:lnSpc>
              <a:buNone/>
            </a:pPr>
            <a:r>
              <a:rPr lang="en-US" sz="1200" dirty="0">
                <a:solidFill>
                  <a:schemeClr val="accent4"/>
                </a:solidFill>
              </a:rPr>
              <a:t>si tras el esmerilado sigue pasando, el daño no era superficial: rectificado de asiento o sustitución de válvula y asiento</a:t>
            </a:r>
            <a:endParaRPr lang="en-US" sz="1200" dirty="0"/>
          </a:p>
        </p:txBody>
      </p:sp>
      <p:sp>
        <p:nvSpPr>
          <p:cNvPr id="21" name="Shape 19"/>
          <p:cNvSpPr/>
          <p:nvPr/>
        </p:nvSpPr>
        <p:spPr>
          <a:xfrm>
            <a:off x="548640" y="4023360"/>
            <a:ext cx="11064240" cy="777240"/>
          </a:xfrm>
          <a:prstGeom prst="roundRect">
            <a:avLst>
              <a:gd name="adj" fmla="val 7059"/>
            </a:avLst>
          </a:prstGeom>
          <a:solidFill>
            <a:schemeClr val="bg2"/>
          </a:solidFill>
          <a:ln w="12700">
            <a:solidFill>
              <a:schemeClr val="bg2"/>
            </a:solidFill>
            <a:prstDash val="solid"/>
          </a:ln>
        </p:spPr>
        <p:txBody>
          <a:bodyPr/>
          <a:p/>
        </p:txBody>
      </p:sp>
      <p:sp>
        <p:nvSpPr>
          <p:cNvPr id="22" name="Shape 20"/>
          <p:cNvSpPr/>
          <p:nvPr/>
        </p:nvSpPr>
        <p:spPr>
          <a:xfrm>
            <a:off x="786384" y="4229100"/>
            <a:ext cx="365760" cy="365760"/>
          </a:xfrm>
          <a:prstGeom prst="ellipse">
            <a:avLst/>
          </a:prstGeom>
          <a:solidFill>
            <a:schemeClr val="accent1"/>
          </a:solidFill>
          <a:ln w="12700">
            <a:solidFill>
              <a:schemeClr val="accent1"/>
            </a:solidFill>
            <a:prstDash val="solid"/>
          </a:ln>
        </p:spPr>
        <p:txBody>
          <a:bodyPr/>
          <a:p/>
        </p:txBody>
      </p:sp>
      <p:sp>
        <p:nvSpPr>
          <p:cNvPr id="23" name="Text 21"/>
          <p:cNvSpPr txBox="1"/>
          <p:nvPr/>
        </p:nvSpPr>
        <p:spPr>
          <a:xfrm>
            <a:off x="786384" y="42291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41148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esmerilado solo resuelve daños superficiales. Una válvula quemada, con la cara comida, no se recupera esmerilando: se sustituye. Insistir con la pasta sobre un daño profundo solo rebaja el asiento y empeora el conjunto.</a:t>
            </a:r>
            <a:endParaRPr lang="en-US" sz="1450" dirty="0"/>
          </a:p>
        </p:txBody>
      </p:sp>
      <p:sp>
        <p:nvSpPr>
          <p:cNvPr id="25" name="Shape 23"/>
          <p:cNvSpPr/>
          <p:nvPr/>
        </p:nvSpPr>
        <p:spPr>
          <a:xfrm>
            <a:off x="548640" y="497433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974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7" name="Text 25"/>
          <p:cNvSpPr txBox="1"/>
          <p:nvPr/>
        </p:nvSpPr>
        <p:spPr>
          <a:xfrm>
            <a:off x="1078992" y="4937760"/>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marca que deja el esmerilado. </a:t>
            </a:r>
            <a:pPr indent="0" marL="0">
              <a:lnSpc>
                <a:spcPct val="106000"/>
              </a:lnSpc>
              <a:buNone/>
            </a:pPr>
            <a:r>
              <a:rPr lang="en-US" sz="1150" dirty="0">
                <a:solidFill>
                  <a:schemeClr val="accent4"/>
                </a:solidFill>
              </a:rPr>
              <a:t>una franja mate continua y uniforme en toda la circunferencia de la válvula y del asiento; si queda interrumpida, el cierre no es hermético</a:t>
            </a:r>
            <a:endParaRPr lang="en-US" sz="1150" dirty="0"/>
          </a:p>
        </p:txBody>
      </p:sp>
      <p:sp>
        <p:nvSpPr>
          <p:cNvPr id="28" name="Shape 26"/>
          <p:cNvSpPr/>
          <p:nvPr/>
        </p:nvSpPr>
        <p:spPr>
          <a:xfrm>
            <a:off x="548640" y="5310835"/>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31083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0" name="Text 28"/>
          <p:cNvSpPr txBox="1"/>
          <p:nvPr/>
        </p:nvSpPr>
        <p:spPr>
          <a:xfrm>
            <a:off x="1078992" y="5274259"/>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Resolución del caso B. </a:t>
            </a:r>
            <a:pPr indent="0" marL="0">
              <a:lnSpc>
                <a:spcPct val="106000"/>
              </a:lnSpc>
              <a:buNone/>
            </a:pPr>
            <a:r>
              <a:rPr lang="en-US" sz="1150" dirty="0">
                <a:solidFill>
                  <a:schemeClr val="accent4"/>
                </a:solidFill>
              </a:rPr>
              <a:t>válvula que no cierra por asiento quemado; la prueba del aceite lo confirmó al no mejorar la compresión, porque la fuga estaba arriba y no en los segmentos</a:t>
            </a:r>
            <a:endParaRPr lang="en-US" sz="1150" dirty="0"/>
          </a:p>
        </p:txBody>
      </p:sp>
      <p:sp>
        <p:nvSpPr>
          <p:cNvPr id="31" name="Shape 29"/>
          <p:cNvSpPr/>
          <p:nvPr/>
        </p:nvSpPr>
        <p:spPr>
          <a:xfrm>
            <a:off x="548640" y="5647334"/>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64733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3" name="Text 31"/>
          <p:cNvSpPr txBox="1"/>
          <p:nvPr/>
        </p:nvSpPr>
        <p:spPr>
          <a:xfrm>
            <a:off x="1078992" y="5610758"/>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Resolución del caso C. </a:t>
            </a:r>
            <a:pPr indent="0" marL="0">
              <a:lnSpc>
                <a:spcPct val="106000"/>
              </a:lnSpc>
              <a:buNone/>
            </a:pPr>
            <a:r>
              <a:rPr lang="en-US" sz="1150" dirty="0">
                <a:solidFill>
                  <a:schemeClr val="accent4"/>
                </a:solidFill>
              </a:rPr>
              <a:t>sellos de vástago endurecidos o guías con holgura: el aceite se filtra durante la parada y se quema en el primer arranque</a:t>
            </a:r>
            <a:endParaRPr lang="en-US" sz="1150" dirty="0"/>
          </a:p>
        </p:txBody>
      </p:sp>
      <p:sp>
        <p:nvSpPr>
          <p:cNvPr id="34" name="Text 3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 · resuelve los casos B y C</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Comprobación de los muelles de válvula</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Longitud libre. </a:t>
            </a:r>
            <a:pPr indent="0" marL="0">
              <a:lnSpc>
                <a:spcPct val="106000"/>
              </a:lnSpc>
              <a:buNone/>
            </a:pPr>
            <a:r>
              <a:rPr lang="en-US" sz="1200" dirty="0">
                <a:solidFill>
                  <a:schemeClr val="accent4"/>
                </a:solidFill>
              </a:rPr>
              <a:t>medir con calibrador cada muelle sin comprimir y compararlo con el valor nominal del manual; comparar también los muelles entre sí</a:t>
            </a:r>
            <a:endParaRPr lang="en-US" sz="1200" dirty="0"/>
          </a:p>
        </p:txBody>
      </p:sp>
      <p:sp>
        <p:nvSpPr>
          <p:cNvPr id="6" name="Shape 4"/>
          <p:cNvSpPr/>
          <p:nvPr/>
        </p:nvSpPr>
        <p:spPr>
          <a:xfrm>
            <a:off x="548640" y="1911096"/>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11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87452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Perpendicularidad. </a:t>
            </a:r>
            <a:pPr indent="0" marL="0">
              <a:lnSpc>
                <a:spcPct val="106000"/>
              </a:lnSpc>
              <a:buNone/>
            </a:pPr>
            <a:r>
              <a:rPr lang="en-US" sz="1200" dirty="0">
                <a:solidFill>
                  <a:schemeClr val="accent4"/>
                </a:solidFill>
              </a:rPr>
              <a:t>apoyar el muelle sobre una superficie plana junto a una escuadra de precisión y medir la separación máxima en el extremo superior</a:t>
            </a:r>
            <a:endParaRPr lang="en-US" sz="1200" dirty="0"/>
          </a:p>
        </p:txBody>
      </p:sp>
      <p:sp>
        <p:nvSpPr>
          <p:cNvPr id="9" name="Shape 7"/>
          <p:cNvSpPr/>
          <p:nvPr/>
        </p:nvSpPr>
        <p:spPr>
          <a:xfrm>
            <a:off x="548640" y="2368296"/>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368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33172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Inspección visual. </a:t>
            </a:r>
            <a:pPr indent="0" marL="0">
              <a:lnSpc>
                <a:spcPct val="106000"/>
              </a:lnSpc>
              <a:buNone/>
            </a:pPr>
            <a:r>
              <a:rPr lang="en-US" sz="1200" dirty="0">
                <a:solidFill>
                  <a:schemeClr val="accent4"/>
                </a:solidFill>
              </a:rPr>
              <a:t>buscar corrosión, picaduras o marcas de roce entre espiras, que son puntos de inicio de rotura por fatiga</a:t>
            </a:r>
            <a:endParaRPr lang="en-US" sz="1200" dirty="0"/>
          </a:p>
        </p:txBody>
      </p:sp>
      <p:sp>
        <p:nvSpPr>
          <p:cNvPr id="12" name="Shape 10"/>
          <p:cNvSpPr/>
          <p:nvPr/>
        </p:nvSpPr>
        <p:spPr>
          <a:xfrm>
            <a:off x="548640" y="2825496"/>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825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78892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Decidir en conjunto. </a:t>
            </a:r>
            <a:pPr indent="0" marL="0">
              <a:lnSpc>
                <a:spcPct val="106000"/>
              </a:lnSpc>
              <a:buNone/>
            </a:pPr>
            <a:r>
              <a:rPr lang="en-US" sz="1200" dirty="0">
                <a:solidFill>
                  <a:schemeClr val="accent4"/>
                </a:solidFill>
              </a:rPr>
              <a:t>si un muelle no cumple, se sustituyen todos: un muelle nuevo entre muelles viejos trabaja con fuerza distinta y desequilibra el tren de válvulas</a:t>
            </a:r>
            <a:endParaRPr lang="en-US" sz="12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11064240" cy="914400"/>
        </p:xfrm>
        <a:graphic>
          <a:graphicData uri="http://schemas.openxmlformats.org/drawingml/2006/table">
            <a:tbl>
              <a:tblPr/>
              <a:tblGrid>
                <a:gridCol w="2926080"/>
                <a:gridCol w="4023360"/>
                <a:gridCol w="4114800"/>
              </a:tblGrid>
              <a:tr h="402336">
                <a:tc>
                  <a:txBody>
                    <a:bodyPr/>
                    <a:lstStyle/>
                    <a:p>
                      <a:pPr indent="0" marL="0">
                        <a:buNone/>
                      </a:pPr>
                      <a:r>
                        <a:rPr lang="en-US" sz="1300" b="1" dirty="0">
                          <a:solidFill>
                            <a:srgbClr val="FFFFFF"/>
                          </a:solidFill>
                        </a:rPr>
                        <a:t>Hallazgo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significa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Decisión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00" b="1" dirty="0">
                          <a:solidFill>
                            <a:schemeClr val="tx1"/>
                          </a:solidFill>
                        </a:rPr>
                        <a:t>Longitud libre menor que la nominal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El muelle ha cedido y entrega menos fuerza de cierre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Sustituir el juego completo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Desviación de perpendicularidad fuera del límite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El muelle empuja torcido y carga lateralmente el vástago y la guía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Sustituir el juego completo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Diferencias apreciables entre muelles del mismo motor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Alguno ha trabajado en peores condiciones o ya cedió</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Sustituir el juego completo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6" name="Shape 13"/>
          <p:cNvSpPr/>
          <p:nvPr/>
        </p:nvSpPr>
        <p:spPr>
          <a:xfrm>
            <a:off x="548640" y="5257800"/>
            <a:ext cx="11064240" cy="731520"/>
          </a:xfrm>
          <a:prstGeom prst="roundRect">
            <a:avLst>
              <a:gd name="adj" fmla="val 7500"/>
            </a:avLst>
          </a:prstGeom>
          <a:solidFill>
            <a:schemeClr val="bg2"/>
          </a:solidFill>
          <a:ln w="12700">
            <a:solidFill>
              <a:schemeClr val="bg2"/>
            </a:solidFill>
            <a:prstDash val="solid"/>
          </a:ln>
        </p:spPr>
        <p:txBody>
          <a:bodyPr/>
          <a:p/>
        </p:txBody>
      </p:sp>
      <p:sp>
        <p:nvSpPr>
          <p:cNvPr id="17" name="Shape 14"/>
          <p:cNvSpPr/>
          <p:nvPr/>
        </p:nvSpPr>
        <p:spPr>
          <a:xfrm>
            <a:off x="786384" y="5440680"/>
            <a:ext cx="365760" cy="365760"/>
          </a:xfrm>
          <a:prstGeom prst="ellipse">
            <a:avLst/>
          </a:prstGeom>
          <a:solidFill>
            <a:schemeClr val="accent1"/>
          </a:solidFill>
          <a:ln w="12700">
            <a:solidFill>
              <a:schemeClr val="accent1"/>
            </a:solidFill>
            <a:prstDash val="solid"/>
          </a:ln>
        </p:spPr>
        <p:txBody>
          <a:bodyPr/>
          <a:p/>
        </p:txBody>
      </p:sp>
      <p:sp>
        <p:nvSpPr>
          <p:cNvPr id="18" name="Text 15"/>
          <p:cNvSpPr txBox="1"/>
          <p:nvPr/>
        </p:nvSpPr>
        <p:spPr>
          <a:xfrm>
            <a:off x="786384" y="54406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9" name="Text 16"/>
          <p:cNvSpPr txBox="1"/>
          <p:nvPr/>
        </p:nvSpPr>
        <p:spPr>
          <a:xfrm>
            <a:off x="1298448" y="534924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muelles se juzgan en conjunto, no uno a uno. Un motor con muelles de fuerzas distintas tiene válvulas que se comportan de forma distinta, y eso produce un funcionamiento irregular difícil de atribuir a nada concreto.</a:t>
            </a:r>
            <a:endParaRPr lang="en-US" sz="1450" dirty="0"/>
          </a:p>
        </p:txBody>
      </p:sp>
      <p:sp>
        <p:nvSpPr>
          <p:cNvPr id="20" name="Text 17"/>
          <p:cNvSpPr txBox="1"/>
          <p:nvPr/>
        </p:nvSpPr>
        <p:spPr>
          <a:xfrm>
            <a:off x="548640" y="6080760"/>
            <a:ext cx="11064240" cy="27432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Dato práctico:  los muelles rara vez se rompen, pero ceden con el tiempo y con el calor. En un motor de muchos kilómetros que se abre por otro motivo, comprobarlos es barato y evita volver a abrir.</a:t>
            </a:r>
            <a:endParaRPr lang="en-US" sz="1150" dirty="0"/>
          </a:p>
        </p:txBody>
      </p:sp>
      <p:sp>
        <p:nvSpPr>
          <p:cNvPr id="21" name="Text 18"/>
          <p:cNvSpPr txBox="1"/>
          <p:nvPr/>
        </p:nvSpPr>
        <p:spPr>
          <a:xfrm>
            <a:off x="548640" y="6400800"/>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prueba de compresión: qué dice y qué no</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Motor a temperatura de operación. </a:t>
            </a:r>
            <a:pPr indent="0" marL="0">
              <a:lnSpc>
                <a:spcPct val="106000"/>
              </a:lnSpc>
              <a:buNone/>
            </a:pPr>
            <a:r>
              <a:rPr lang="en-US" sz="1200" dirty="0">
                <a:solidFill>
                  <a:schemeClr val="accent4"/>
                </a:solidFill>
              </a:rPr>
              <a:t>en frío las holguras son mayores y los valores salen bajos en todos los cilindros, lo que lleva a conclusiones falsas</a:t>
            </a:r>
            <a:endParaRPr lang="en-US" sz="1200" dirty="0"/>
          </a:p>
        </p:txBody>
      </p:sp>
      <p:sp>
        <p:nvSpPr>
          <p:cNvPr id="6" name="Shape 4"/>
          <p:cNvSpPr/>
          <p:nvPr/>
        </p:nvSpPr>
        <p:spPr>
          <a:xfrm>
            <a:off x="548640" y="1911096"/>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11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87452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Todas las bujías retiradas. </a:t>
            </a:r>
            <a:pPr indent="0" marL="0">
              <a:lnSpc>
                <a:spcPct val="106000"/>
              </a:lnSpc>
              <a:buNone/>
            </a:pPr>
            <a:r>
              <a:rPr lang="en-US" sz="1200" dirty="0">
                <a:solidFill>
                  <a:schemeClr val="accent4"/>
                </a:solidFill>
              </a:rPr>
              <a:t>para que el motor gire libre y a régimen suficiente; con una sola retirada, el arranque gira despacio y el valor sale bajo</a:t>
            </a:r>
            <a:endParaRPr lang="en-US" sz="1200" dirty="0"/>
          </a:p>
        </p:txBody>
      </p:sp>
      <p:sp>
        <p:nvSpPr>
          <p:cNvPr id="9" name="Shape 7"/>
          <p:cNvSpPr/>
          <p:nvPr/>
        </p:nvSpPr>
        <p:spPr>
          <a:xfrm>
            <a:off x="548640" y="2368296"/>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368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33172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Acelerador a fondo. </a:t>
            </a:r>
            <a:pPr indent="0" marL="0">
              <a:lnSpc>
                <a:spcPct val="106000"/>
              </a:lnSpc>
              <a:buNone/>
            </a:pPr>
            <a:r>
              <a:rPr lang="en-US" sz="1200" dirty="0">
                <a:solidFill>
                  <a:schemeClr val="accent4"/>
                </a:solidFill>
              </a:rPr>
              <a:t>con la mariposa cerrada, el cilindro no se llena bien y la lectura es menor de la real</a:t>
            </a:r>
            <a:endParaRPr lang="en-US" sz="1200" dirty="0"/>
          </a:p>
        </p:txBody>
      </p:sp>
      <p:sp>
        <p:nvSpPr>
          <p:cNvPr id="12" name="Shape 10"/>
          <p:cNvSpPr/>
          <p:nvPr/>
        </p:nvSpPr>
        <p:spPr>
          <a:xfrm>
            <a:off x="548640" y="2825496"/>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825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78892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Girar el mismo número de ciclos en todos. </a:t>
            </a:r>
            <a:pPr indent="0" marL="0">
              <a:lnSpc>
                <a:spcPct val="106000"/>
              </a:lnSpc>
              <a:buNone/>
            </a:pPr>
            <a:r>
              <a:rPr lang="en-US" sz="1200" dirty="0">
                <a:solidFill>
                  <a:schemeClr val="accent4"/>
                </a:solidFill>
              </a:rPr>
              <a:t>para que los valores sean comparables entre sí; lo importante es la comparación, no el valor absoluto</a:t>
            </a:r>
            <a:endParaRPr lang="en-US" sz="1200" dirty="0"/>
          </a:p>
        </p:txBody>
      </p:sp>
      <p:sp>
        <p:nvSpPr>
          <p:cNvPr id="15" name="Shape 13"/>
          <p:cNvSpPr/>
          <p:nvPr/>
        </p:nvSpPr>
        <p:spPr>
          <a:xfrm>
            <a:off x="548640" y="3282696"/>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282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246120"/>
            <a:ext cx="105338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5 — Interpretar comparando. </a:t>
            </a:r>
            <a:pPr indent="0" marL="0">
              <a:lnSpc>
                <a:spcPct val="106000"/>
              </a:lnSpc>
              <a:buNone/>
            </a:pPr>
            <a:r>
              <a:rPr lang="en-US" sz="1200" dirty="0">
                <a:solidFill>
                  <a:schemeClr val="accent4"/>
                </a:solidFill>
              </a:rPr>
              <a:t>un valor bajo aislado señala ese cilindro; dos vecinos bajos señalan el empaque entre ellos; todos bajos señalan el tiempo de distribución</a:t>
            </a:r>
            <a:endParaRPr lang="en-US" sz="12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11064240" cy="914400"/>
        </p:xfrm>
        <a:graphic>
          <a:graphicData uri="http://schemas.openxmlformats.org/drawingml/2006/table">
            <a:tbl>
              <a:tblPr/>
              <a:tblGrid>
                <a:gridCol w="3108960"/>
                <a:gridCol w="3931920"/>
                <a:gridCol w="4023360"/>
              </a:tblGrid>
              <a:tr h="402336">
                <a:tc>
                  <a:txBody>
                    <a:bodyPr/>
                    <a:lstStyle/>
                    <a:p>
                      <a:pPr indent="0" marL="0">
                        <a:buNone/>
                      </a:pPr>
                      <a:r>
                        <a:rPr lang="en-US" sz="1300" b="1" dirty="0">
                          <a:solidFill>
                            <a:srgbClr val="FFFFFF"/>
                          </a:solidFill>
                        </a:rPr>
                        <a:t>Patrón observado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Interpretación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Comprobación siguiente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02336">
                <a:tc>
                  <a:txBody>
                    <a:bodyPr/>
                    <a:lstStyle/>
                    <a:p>
                      <a:pPr indent="0" marL="0">
                        <a:buNone/>
                      </a:pPr>
                      <a:r>
                        <a:rPr lang="en-US" sz="1100" b="1" dirty="0">
                          <a:solidFill>
                            <a:schemeClr val="tx1"/>
                          </a:solidFill>
                        </a:rPr>
                        <a:t>Un cilindro bajo, los demás normales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Válvula que no cierra, o segmentos de ese cilindro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Prueba del aceite: si mejora, son segmentos; si no, es válvula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Dos cilindros contiguos bajos y parecidos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Empaque de culata soplado entre ambos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Inspección del empaque y planitud de ambos planos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Todos los cilindros bajos por igual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Distribución fuera de punto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Verificación del calado con las marcas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486400"/>
            <a:ext cx="11064240" cy="548640"/>
          </a:xfrm>
          <a:prstGeom prst="roundRect">
            <a:avLst>
              <a:gd name="adj" fmla="val 10000"/>
            </a:avLst>
          </a:prstGeom>
          <a:solidFill>
            <a:schemeClr val="bg2"/>
          </a:solidFill>
          <a:ln w="12700">
            <a:solidFill>
              <a:schemeClr val="bg2"/>
            </a:solidFill>
            <a:prstDash val="solid"/>
          </a:ln>
        </p:spPr>
        <p:txBody>
          <a:bodyPr/>
          <a:p/>
        </p:txBody>
      </p:sp>
      <p:sp>
        <p:nvSpPr>
          <p:cNvPr id="20" name="Shape 17"/>
          <p:cNvSpPr/>
          <p:nvPr/>
        </p:nvSpPr>
        <p:spPr>
          <a:xfrm>
            <a:off x="786384" y="5577840"/>
            <a:ext cx="365760" cy="365760"/>
          </a:xfrm>
          <a:prstGeom prst="ellipse">
            <a:avLst/>
          </a:prstGeom>
          <a:solidFill>
            <a:schemeClr val="accent2"/>
          </a:solidFill>
          <a:ln w="12700">
            <a:solidFill>
              <a:schemeClr val="accent2"/>
            </a:solidFill>
            <a:prstDash val="solid"/>
          </a:ln>
        </p:spPr>
        <p:txBody>
          <a:bodyPr/>
          <a:p/>
        </p:txBody>
      </p:sp>
      <p:sp>
        <p:nvSpPr>
          <p:cNvPr id="21" name="Text 18"/>
          <p:cNvSpPr txBox="1"/>
          <p:nvPr/>
        </p:nvSpPr>
        <p:spPr>
          <a:xfrm>
            <a:off x="786384" y="5577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577840"/>
            <a:ext cx="10058400" cy="36576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La prueba del aceite es el complemento que convierte la compresión en diagnóstico: unas gotas de aceite por el orificio de la bujía sellan temporalmente los segmentos. Si la compresión mejora, la fuga era abajo; si no mejora, la fuga está en las válvulas o en el empaque.</a:t>
            </a:r>
            <a:endParaRPr lang="en-US" sz="12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 · técnica: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ensayo de fugas: localizar por dónde escapa</a:t>
            </a:r>
            <a:endParaRPr lang="en-US" sz="3200" dirty="0"/>
          </a:p>
        </p:txBody>
      </p:sp>
      <p:sp>
        <p:nvSpPr>
          <p:cNvPr id="3" name="marco_figura"/>
          <p:cNvSpPr/>
          <p:nvPr/>
        </p:nvSpPr>
        <p:spPr>
          <a:xfrm>
            <a:off x="548640" y="1371600"/>
            <a:ext cx="457200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u_asientos.jpg">    </p:cNvPr>
          <p:cNvPicPr>
            <a:picLocks noChangeAspect="1"/>
          </p:cNvPicPr>
          <p:nvPr/>
        </p:nvPicPr>
        <p:blipFill>
          <a:blip r:embed="rId1"/>
          <a:srcRect l="0" r="0" t="0" b="0"/>
          <a:stretch/>
        </p:blipFill>
        <p:spPr>
          <a:xfrm>
            <a:off x="658368" y="1481328"/>
            <a:ext cx="4352544" cy="2432304"/>
          </a:xfrm>
          <a:prstGeom prst="rect">
            <a:avLst/>
          </a:prstGeom>
        </p:spPr>
      </p:pic>
      <p:sp>
        <p:nvSpPr>
          <p:cNvPr id="5" name="Text 2"/>
          <p:cNvSpPr txBox="1"/>
          <p:nvPr/>
        </p:nvSpPr>
        <p:spPr>
          <a:xfrm>
            <a:off x="658368" y="402336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69. </a:t>
            </a:r>
            <a:pPr indent="0" marL="0">
              <a:lnSpc>
                <a:spcPct val="102000"/>
              </a:lnSpc>
              <a:buNone/>
            </a:pPr>
            <a:r>
              <a:rPr lang="en-US" sz="1000" dirty="0">
                <a:solidFill>
                  <a:schemeClr val="accent4"/>
                </a:solidFill>
              </a:rPr>
              <a:t>Asientos y conductos: las vías por las que puede escapar la presión del cilindro. Adaptado de Minga González, M. A. (s. f.). Sistemas auxiliares del motor [diapositivas]. ISTS.</a:t>
            </a:r>
            <a:endParaRPr lang="en-US" sz="10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486400" y="1371600"/>
          <a:ext cx="6126480" cy="914400"/>
        </p:xfrm>
        <a:graphic>
          <a:graphicData uri="http://schemas.openxmlformats.org/drawingml/2006/table">
            <a:tbl>
              <a:tblPr/>
              <a:tblGrid>
                <a:gridCol w="2651760"/>
                <a:gridCol w="3474720"/>
              </a:tblGrid>
              <a:tr h="475488">
                <a:tc>
                  <a:txBody>
                    <a:bodyPr/>
                    <a:lstStyle/>
                    <a:p>
                      <a:pPr indent="0" marL="0">
                        <a:buNone/>
                      </a:pPr>
                      <a:r>
                        <a:rPr lang="en-US" sz="1300" b="1" dirty="0">
                          <a:solidFill>
                            <a:srgbClr val="FFFFFF"/>
                          </a:solidFill>
                        </a:rPr>
                        <a:t>Dónde se oye o se ve el aire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está fallando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100" b="1" dirty="0">
                          <a:solidFill>
                            <a:schemeClr val="tx1"/>
                          </a:solidFill>
                        </a:rPr>
                        <a:t>Por el colector de admisión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Válvula de admisión que no cierra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chemeClr val="tx1"/>
                          </a:solidFill>
                        </a:rPr>
                        <a:t>Por el tubo de escape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Válvula de escape que no cierra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100" b="1" dirty="0">
                          <a:solidFill>
                            <a:schemeClr val="tx1"/>
                          </a:solidFill>
                        </a:rPr>
                        <a:t>Por la boca de llenado de aceite o la varilla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Segmentos o cilindro desgastado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chemeClr val="tx1"/>
                          </a:solidFill>
                        </a:rPr>
                        <a:t>Burbujas en el depósito de refrigerante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Empaque soplado hacia el circuito de refrigeración o fisura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100" b="1" dirty="0">
                          <a:solidFill>
                            <a:schemeClr val="tx1"/>
                          </a:solidFill>
                        </a:rPr>
                        <a:t>Por la bujía de un cilindro contiguo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Empaque soplado entre esos dos cilindros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20624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411980"/>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786384" y="44119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976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prueba de compresión dice que un cilindro pierde; el ensayo de fugas dice por dónde pierde. Son complementarias, y juntas resuelven prácticamente cualquier pérdida de compresión sin desarmar nada.</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hace. </a:t>
            </a:r>
            <a:pPr indent="0" marL="0">
              <a:lnSpc>
                <a:spcPct val="106000"/>
              </a:lnSpc>
              <a:buNone/>
            </a:pPr>
            <a:r>
              <a:rPr lang="en-US" sz="1150" dirty="0">
                <a:solidFill>
                  <a:schemeClr val="accent4"/>
                </a:solidFill>
              </a:rPr>
              <a:t>con el cilindro en PMS de compresión y el motor bloqueado para que no gire, se introduce aire comprimido por el orificio de la bujía y se escucha por dónde sale</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Precaución imprescindible. </a:t>
            </a:r>
            <a:pPr indent="0" marL="0">
              <a:lnSpc>
                <a:spcPct val="106000"/>
              </a:lnSpc>
              <a:buNone/>
            </a:pPr>
            <a:r>
              <a:rPr lang="en-US" sz="1150" dirty="0">
                <a:solidFill>
                  <a:schemeClr val="accent4"/>
                </a:solidFill>
              </a:rPr>
              <a:t>el cilindro en PMS con aire a presión tiende a girar el motor: hay que bloquearlo, porque un giro brusco con la llave puesta es peligroso</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registra. </a:t>
            </a:r>
            <a:pPr indent="0" marL="0">
              <a:lnSpc>
                <a:spcPct val="106000"/>
              </a:lnSpc>
              <a:buNone/>
            </a:pPr>
            <a:r>
              <a:rPr lang="en-US" sz="1150" dirty="0">
                <a:solidFill>
                  <a:schemeClr val="accent4"/>
                </a:solidFill>
              </a:rPr>
              <a:t>el porcentaje de fuga que indica el aparato y, sobre todo, el punto por el que se escucha el aire, que es lo que localiza la avería</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Casos integrados de la unidad</a:t>
            </a:r>
            <a:endParaRPr lang="en-US" sz="32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840480"/>
                <a:gridCol w="3566160"/>
                <a:gridCol w="3657600"/>
              </a:tblGrid>
              <a:tr h="512064">
                <a:tc>
                  <a:txBody>
                    <a:bodyPr/>
                    <a:lstStyle/>
                    <a:p>
                      <a:pPr indent="0" marL="0">
                        <a:buNone/>
                      </a:pPr>
                      <a:r>
                        <a:rPr lang="en-US" sz="1300" b="1" dirty="0">
                          <a:solidFill>
                            <a:srgbClr val="FFFFFF"/>
                          </a:solidFill>
                        </a:rPr>
                        <a:t>Caso que presenta el cliente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Hipótesis candidatas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 que las separa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512064">
                <a:tc>
                  <a:txBody>
                    <a:bodyPr/>
                    <a:lstStyle/>
                    <a:p>
                      <a:pPr indent="0" marL="0">
                        <a:buNone/>
                      </a:pPr>
                      <a:r>
                        <a:rPr lang="en-US" sz="1100" b="1" dirty="0">
                          <a:solidFill>
                            <a:schemeClr val="tx1"/>
                          </a:solidFill>
                        </a:rPr>
                        <a:t>Tras un cambio de correa, el motor no arranca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Calado desplazado, o válvulas dobladas por contacto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Verificar marcas; si están bien, prueba de compresión para detectar válvulas dañadas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100" b="1" dirty="0">
                          <a:solidFill>
                            <a:schemeClr val="tx1"/>
                          </a:solidFill>
                        </a:rPr>
                        <a:t>Pierde refrigerante sin fuga visible y humea blanco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Empaque soplado hacia refrigeración, o fisura en el cabezote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Ensayo de fugas: burbujas en el depósito; después, planitud e inspección de fisuras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12064">
                <a:tc>
                  <a:txBody>
                    <a:bodyPr/>
                    <a:lstStyle/>
                    <a:p>
                      <a:pPr indent="0" marL="0">
                        <a:buNone/>
                      </a:pPr>
                      <a:r>
                        <a:rPr lang="en-US" sz="1100" b="1" dirty="0">
                          <a:solidFill>
                            <a:schemeClr val="tx1"/>
                          </a:solidFill>
                        </a:rPr>
                        <a:t>Falla en un cilindro, siempre, también en caliente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Válvula que no cierra, segmentos, o empaque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Compresión y prueba del aceite; después ensayo de fugas para localizar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100" b="1" dirty="0">
                          <a:solidFill>
                            <a:schemeClr val="tx1"/>
                          </a:solidFill>
                        </a:rPr>
                        <a:t>Ruido metálico regular en la culata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Holgura de válvulas excesiva, o taqué hidráulico sin presión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Medición de holgura con galga; si es hidráulico, comprobar presión de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12064">
                <a:tc>
                  <a:txBody>
                    <a:bodyPr/>
                    <a:lstStyle/>
                    <a:p>
                      <a:pPr indent="0" marL="0">
                        <a:buNone/>
                      </a:pPr>
                      <a:r>
                        <a:rPr lang="en-US" sz="1100" b="1" dirty="0">
                          <a:solidFill>
                            <a:schemeClr val="tx1"/>
                          </a:solidFill>
                        </a:rPr>
                        <a:t>Pierde prestaciones poco a poco, sin fallo claro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Cadena alargada que retrasa el árbol, o leva desgastada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Verificar calado con comparador sobre la admisión; medir altura de levas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34340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54914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549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4348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patrón de la unidad: un síntoma que afecta a todos los cilindros apunta al tiempo de distribución; uno que afecta a un cilindro apunta a ese cilindro; y uno que afecta a dos vecinos apunta a lo que comparten.</a:t>
            </a:r>
            <a:endParaRPr lang="en-US" sz="1450" dirty="0"/>
          </a:p>
        </p:txBody>
      </p:sp>
      <p:sp>
        <p:nvSpPr>
          <p:cNvPr id="8" name="Shape 5"/>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orden de las pruebas. </a:t>
            </a:r>
            <a:pPr indent="0" marL="0">
              <a:lnSpc>
                <a:spcPct val="106000"/>
              </a:lnSpc>
              <a:buNone/>
            </a:pPr>
            <a:r>
              <a:rPr lang="en-US" sz="1150" dirty="0">
                <a:solidFill>
                  <a:schemeClr val="accent4"/>
                </a:solidFill>
              </a:rPr>
              <a:t>primero lo que no exige desarmar: compresión, prueba del aceite y ensayo de fugas; solo después se abre</a:t>
            </a:r>
            <a:endParaRPr lang="en-US" sz="1150" dirty="0"/>
          </a:p>
        </p:txBody>
      </p:sp>
      <p:sp>
        <p:nvSpPr>
          <p:cNvPr id="11" name="Shape 8"/>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se gana con ese orden. </a:t>
            </a:r>
            <a:pPr indent="0" marL="0">
              <a:lnSpc>
                <a:spcPct val="106000"/>
              </a:lnSpc>
              <a:buNone/>
            </a:pPr>
            <a:r>
              <a:rPr lang="en-US" sz="1150" dirty="0">
                <a:solidFill>
                  <a:schemeClr val="accent4"/>
                </a:solidFill>
              </a:rPr>
              <a:t>un diagnóstico fundado antes de desarmar permite presupuestar con precisión y evita abrir motores innecesariamente</a:t>
            </a:r>
            <a:endParaRPr lang="en-US" sz="1150" dirty="0"/>
          </a:p>
        </p:txBody>
      </p:sp>
      <p:sp>
        <p:nvSpPr>
          <p:cNvPr id="14" name="Shape 11"/>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se registra siempre. </a:t>
            </a:r>
            <a:pPr indent="0" marL="0">
              <a:lnSpc>
                <a:spcPct val="106000"/>
              </a:lnSpc>
              <a:buNone/>
            </a:pPr>
            <a:r>
              <a:rPr lang="en-US" sz="1150" dirty="0">
                <a:solidFill>
                  <a:schemeClr val="accent4"/>
                </a:solidFill>
              </a:rPr>
              <a:t>la hipótesis, la prueba hecha, el resultado obtenido y la conclusión; así el caso queda documentado para quien lo retome</a:t>
            </a:r>
            <a:endParaRPr lang="en-US" sz="115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declarada en el PEA: análisis de casos · cierre integrador de la unidad</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Mapa de averías del cabezote</a:t>
            </a:r>
            <a:endParaRPr lang="en-US" sz="32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2926080"/>
                <a:gridCol w="2651760"/>
                <a:gridCol w="2743200"/>
              </a:tblGrid>
              <a:tr h="438912">
                <a:tc>
                  <a:txBody>
                    <a:bodyPr/>
                    <a:lstStyle/>
                    <a:p>
                      <a:pPr indent="0" marL="0">
                        <a:buNone/>
                      </a:pPr>
                      <a:r>
                        <a:rPr lang="en-US" sz="1300" b="1" dirty="0">
                          <a:solidFill>
                            <a:srgbClr val="FFFFFF"/>
                          </a:solidFill>
                        </a:rPr>
                        <a:t>Síntoma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Causa probable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Corrección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050" b="1" dirty="0">
                          <a:solidFill>
                            <a:schemeClr val="tx1"/>
                          </a:solidFill>
                        </a:rPr>
                        <a:t>Humo blanco denso en caliente y pérdida de refrigerante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Empaque soplado hacia refrigeración o fisura en el cabezote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Ensayo de fugas con burbujas en el depósito; planitud e inspección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Rectificado y empaque nuevo; rechazo si hay fisura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Humo azul al arrancar tras reposo largo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Sellos de vástago endurecidos o guías con holgura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Medición del juego de guía con comparador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Sellos nuevos; guías si el juego excede el límite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050" b="1" dirty="0">
                          <a:solidFill>
                            <a:schemeClr val="tx1"/>
                          </a:solidFill>
                        </a:rPr>
                        <a:t>Compresión baja en un cilindro, sin mejora con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Válvula que no asienta: quemada, con recesión o con carbonilla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Ensayo de fugas escuchando por admisión o escape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Esmerilado si es superficial; rectificado o sustitución si no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Compresión baja en dos cilindros contiguos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Empaque soplado entre ambos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Prueba de compresión: el patrón es característico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Empaque nuevo previa comprobación de planitud</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050" b="1" dirty="0">
                          <a:solidFill>
                            <a:schemeClr val="tx1"/>
                          </a:solidFill>
                        </a:rPr>
                        <a:t>Golpeteo metálico regular en la culata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Holgura de válvulas excesiva o taqué hidráulico sin presión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Medición de holgura con galga; presión de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Reglaje; si es hidráulico, revisar lubricación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Aceite emulsionado, de aspecto lechoso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Empaque cedido entre galería de aceite y refrigerante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Inspección del aceite y del refrigerante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Empaque nuevo y limpieza completa de ambos circuitos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16052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36626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366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2519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Casi todas estas averías tienen una causa común aguas arriba: el recalentamiento. Sustituir el empaque o rectificar el plano sin averiguar por qué se recalentó el motor garantiza que la avería vuelva.</a:t>
            </a:r>
            <a:endParaRPr lang="en-US" sz="1450" dirty="0"/>
          </a:p>
        </p:txBody>
      </p:sp>
      <p:sp>
        <p:nvSpPr>
          <p:cNvPr id="8" name="Shape 5"/>
          <p:cNvSpPr/>
          <p:nvPr/>
        </p:nvSpPr>
        <p:spPr>
          <a:xfrm>
            <a:off x="548640" y="515721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12064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hay que buscar siempre tras una avería de cabezote. </a:t>
            </a:r>
            <a:pPr indent="0" marL="0">
              <a:lnSpc>
                <a:spcPct val="106000"/>
              </a:lnSpc>
              <a:buNone/>
            </a:pPr>
            <a:r>
              <a:rPr lang="en-US" sz="1150" dirty="0">
                <a:solidFill>
                  <a:schemeClr val="accent4"/>
                </a:solidFill>
              </a:rPr>
              <a:t>termostato bloqueado, bomba de agua deteriorada, ventilador que no entra, radiador obstruido o nivel de refrigerante bajo por una fuga</a:t>
            </a:r>
            <a:endParaRPr lang="en-US" sz="1150" dirty="0"/>
          </a:p>
        </p:txBody>
      </p:sp>
      <p:sp>
        <p:nvSpPr>
          <p:cNvPr id="11" name="Shape 8"/>
          <p:cNvSpPr/>
          <p:nvPr/>
        </p:nvSpPr>
        <p:spPr>
          <a:xfrm>
            <a:off x="548640" y="554126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541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50468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se menciona aquí y se estudia en la Unidad 4. </a:t>
            </a:r>
            <a:pPr indent="0" marL="0">
              <a:lnSpc>
                <a:spcPct val="106000"/>
              </a:lnSpc>
              <a:buNone/>
            </a:pPr>
            <a:r>
              <a:rPr lang="en-US" sz="1150" dirty="0">
                <a:solidFill>
                  <a:schemeClr val="accent4"/>
                </a:solidFill>
              </a:rPr>
              <a:t>porque el cabezote es donde el recalentamiento se manifiesta, pero la causa está en el sistema de refrigeración</a:t>
            </a:r>
            <a:endParaRPr lang="en-US" sz="1150" dirty="0"/>
          </a:p>
        </p:txBody>
      </p:sp>
      <p:sp>
        <p:nvSpPr>
          <p:cNvPr id="14"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 · puente a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clase 3.4</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Primero la pieza, después cada válvula. </a:t>
            </a:r>
            <a:pPr indent="0" marL="0">
              <a:lnSpc>
                <a:spcPct val="106000"/>
              </a:lnSpc>
              <a:buNone/>
            </a:pPr>
            <a:r>
              <a:rPr lang="en-US" sz="1250" dirty="0">
                <a:solidFill>
                  <a:schemeClr val="accent4"/>
                </a:solidFill>
              </a:rPr>
              <a:t>si el cabezote tiene una fisura o un alabeo irrecuperable, no tiene sentido medir nada más; el orden de las comprobaciones ahorra trabajo</a:t>
            </a:r>
            <a:endParaRPr lang="en-US" sz="1250" dirty="0"/>
          </a:p>
        </p:txBody>
      </p:sp>
      <p:sp>
        <p:nvSpPr>
          <p:cNvPr id="6" name="Shape 4"/>
          <p:cNvSpPr/>
          <p:nvPr/>
        </p:nvSpPr>
        <p:spPr>
          <a:xfrm>
            <a:off x="548640" y="211226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75688"/>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guía siempre antes que el asiento. </a:t>
            </a:r>
            <a:pPr indent="0" marL="0">
              <a:lnSpc>
                <a:spcPct val="106000"/>
              </a:lnSpc>
              <a:buNone/>
            </a:pPr>
            <a:r>
              <a:rPr lang="en-US" sz="1250" dirty="0">
                <a:solidFill>
                  <a:schemeClr val="accent4"/>
                </a:solidFill>
              </a:rPr>
              <a:t>una guía holgada hace cabecear la válvula; trabajar el asiento sin corregirla es trabajo perdido</a:t>
            </a:r>
            <a:endParaRPr lang="en-US" sz="1250" dirty="0"/>
          </a:p>
        </p:txBody>
      </p:sp>
      <p:sp>
        <p:nvSpPr>
          <p:cNvPr id="9" name="Shape 7"/>
          <p:cNvSpPr/>
          <p:nvPr/>
        </p:nvSpPr>
        <p:spPr>
          <a:xfrm>
            <a:off x="548640" y="27706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34056"/>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esmerilado solo resuelve daños superficiales. </a:t>
            </a:r>
            <a:pPr indent="0" marL="0">
              <a:lnSpc>
                <a:spcPct val="106000"/>
              </a:lnSpc>
              <a:buNone/>
            </a:pPr>
            <a:r>
              <a:rPr lang="en-US" sz="1250" dirty="0">
                <a:solidFill>
                  <a:schemeClr val="accent4"/>
                </a:solidFill>
              </a:rPr>
              <a:t>una válvula quemada no se recupera con pasta; insistir solo rebaja el asiento y empeora la geometría</a:t>
            </a:r>
            <a:endParaRPr lang="en-US" sz="1250" dirty="0"/>
          </a:p>
        </p:txBody>
      </p:sp>
      <p:sp>
        <p:nvSpPr>
          <p:cNvPr id="12" name="Shape 10"/>
          <p:cNvSpPr/>
          <p:nvPr/>
        </p:nvSpPr>
        <p:spPr>
          <a:xfrm>
            <a:off x="548640" y="342900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392424"/>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Los muelles se juzgan en conjunto. </a:t>
            </a:r>
            <a:pPr indent="0" marL="0">
              <a:lnSpc>
                <a:spcPct val="106000"/>
              </a:lnSpc>
              <a:buNone/>
            </a:pPr>
            <a:r>
              <a:rPr lang="en-US" sz="1250" dirty="0">
                <a:solidFill>
                  <a:schemeClr val="accent4"/>
                </a:solidFill>
              </a:rPr>
              <a:t>longitud libre y perpendicularidad; si uno no cumple, se sustituye el juego completo</a:t>
            </a:r>
            <a:endParaRPr lang="en-US" sz="1250" dirty="0"/>
          </a:p>
        </p:txBody>
      </p:sp>
      <p:sp>
        <p:nvSpPr>
          <p:cNvPr id="15" name="Shape 13"/>
          <p:cNvSpPr/>
          <p:nvPr/>
        </p:nvSpPr>
        <p:spPr>
          <a:xfrm>
            <a:off x="548640" y="4087368"/>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4050792"/>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Compresión y fugas se complementan. </a:t>
            </a:r>
            <a:pPr indent="0" marL="0">
              <a:lnSpc>
                <a:spcPct val="106000"/>
              </a:lnSpc>
              <a:buNone/>
            </a:pPr>
            <a:r>
              <a:rPr lang="en-US" sz="1250" dirty="0">
                <a:solidFill>
                  <a:schemeClr val="accent4"/>
                </a:solidFill>
              </a:rPr>
              <a:t>la compresión dice que un cilindro pierde; el ensayo de fugas dice por dónde; juntas diagnostican sin desarmar</a:t>
            </a:r>
            <a:endParaRPr lang="en-US" sz="1250" dirty="0"/>
          </a:p>
        </p:txBody>
      </p:sp>
      <p:sp>
        <p:nvSpPr>
          <p:cNvPr id="18" name="Shape 16"/>
          <p:cNvSpPr/>
          <p:nvPr/>
        </p:nvSpPr>
        <p:spPr>
          <a:xfrm>
            <a:off x="548640" y="474573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470916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armado se hace con par y en orden. </a:t>
            </a:r>
            <a:pPr indent="0" marL="0">
              <a:lnSpc>
                <a:spcPct val="106000"/>
              </a:lnSpc>
              <a:buNone/>
            </a:pPr>
            <a:r>
              <a:rPr lang="en-US" sz="1250" dirty="0">
                <a:solidFill>
                  <a:schemeClr val="accent4"/>
                </a:solidFill>
              </a:rPr>
              <a:t>del centro hacia los extremos, en varias pasadas, con empaque nuevo y, si procede, tornillos nuevos</a:t>
            </a:r>
            <a:endParaRPr lang="en-US" sz="1250" dirty="0"/>
          </a:p>
        </p:txBody>
      </p:sp>
      <p:sp>
        <p:nvSpPr>
          <p:cNvPr id="21" name="Shape 19"/>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2" name="Shape 20"/>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Pregunta de autoevaluación: una prueba de compresión da valores normales en los cilindros 1 y 4, y valores bajos y muy parecidos en los cilindros 2 y 3. ¿Qué diagnostica y qué comprobaría para confirmarlo?</a:t>
            </a:r>
            <a:endParaRPr lang="en-US" sz="1250" dirty="0"/>
          </a:p>
        </p:txBody>
      </p:sp>
      <p:sp>
        <p:nvSpPr>
          <p:cNvPr id="25"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cierre del conocimiento 5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Formato de la prueba de unidad</a:t>
            </a:r>
            <a:endParaRPr lang="en-US" sz="3200" dirty="0"/>
          </a:p>
        </p:txBody>
      </p:sp>
      <p:sp>
        <p:nvSpPr>
          <p:cNvPr id="3" name="tarjeta_1"/>
          <p:cNvSpPr/>
          <p:nvPr/>
        </p:nvSpPr>
        <p:spPr>
          <a:xfrm>
            <a:off x="54864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Parte conceptual</a:t>
            </a:r>
            <a:endParaRPr lang="en-US" sz="1700" dirty="0"/>
          </a:p>
        </p:txBody>
      </p:sp>
      <p:sp>
        <p:nvSpPr>
          <p:cNvPr id="7" name="Text 5"/>
          <p:cNvSpPr txBox="1"/>
          <p:nvPr/>
        </p:nvSpPr>
        <p:spPr>
          <a:xfrm>
            <a:off x="804672" y="2167128"/>
            <a:ext cx="204825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Preguntas sobre el diagrama de distribución, las arquitecturas, los accionamientos y los elementos del cabezote con su función.</a:t>
            </a:r>
            <a:endParaRPr lang="en-US" sz="1100" dirty="0"/>
          </a:p>
        </p:txBody>
      </p:sp>
      <p:sp>
        <p:nvSpPr>
          <p:cNvPr id="8" name="tarjeta_2"/>
          <p:cNvSpPr/>
          <p:nvPr/>
        </p:nvSpPr>
        <p:spPr>
          <a:xfrm>
            <a:off x="338328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363931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36393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418795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Parte de cálculo</a:t>
            </a:r>
            <a:endParaRPr lang="en-US" sz="1700" dirty="0"/>
          </a:p>
        </p:txBody>
      </p:sp>
      <p:sp>
        <p:nvSpPr>
          <p:cNvPr id="12" name="Text 10"/>
          <p:cNvSpPr txBox="1"/>
          <p:nvPr/>
        </p:nvSpPr>
        <p:spPr>
          <a:xfrm>
            <a:off x="3639312" y="2167128"/>
            <a:ext cx="204825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Duraciones de apertura, cruce de válvulas, desplazamiento por diente y conversión entre grados de árbol y de cigüeñal.</a:t>
            </a:r>
            <a:endParaRPr lang="en-US" sz="1100" dirty="0"/>
          </a:p>
        </p:txBody>
      </p:sp>
      <p:sp>
        <p:nvSpPr>
          <p:cNvPr id="13" name="tarjeta_3"/>
          <p:cNvSpPr/>
          <p:nvPr/>
        </p:nvSpPr>
        <p:spPr>
          <a:xfrm>
            <a:off x="621792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647395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702259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Parte de procedimiento</a:t>
            </a:r>
            <a:endParaRPr lang="en-US" sz="1700" dirty="0"/>
          </a:p>
        </p:txBody>
      </p:sp>
      <p:sp>
        <p:nvSpPr>
          <p:cNvPr id="17" name="Text 15"/>
          <p:cNvSpPr txBox="1"/>
          <p:nvPr/>
        </p:nvSpPr>
        <p:spPr>
          <a:xfrm>
            <a:off x="6473952" y="2167128"/>
            <a:ext cx="204825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Ordenar una secuencia de puesta a punto o de armado, o detectar el error en una secuencia dada.</a:t>
            </a:r>
            <a:endParaRPr lang="en-US" sz="1100" dirty="0"/>
          </a:p>
        </p:txBody>
      </p:sp>
      <p:sp>
        <p:nvSpPr>
          <p:cNvPr id="18" name="tarjeta_4"/>
          <p:cNvSpPr/>
          <p:nvPr/>
        </p:nvSpPr>
        <p:spPr>
          <a:xfrm>
            <a:off x="905256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9308592" y="1655064"/>
            <a:ext cx="420624" cy="420624"/>
          </a:xfrm>
          <a:prstGeom prst="ellipse">
            <a:avLst/>
          </a:prstGeom>
          <a:solidFill>
            <a:schemeClr val="accent4"/>
          </a:solidFill>
          <a:ln w="12700">
            <a:solidFill>
              <a:schemeClr val="accent4"/>
            </a:solidFill>
            <a:prstDash val="solid"/>
          </a:ln>
        </p:spPr>
        <p:txBody>
          <a:bodyPr/>
          <a:p/>
        </p:txBody>
      </p:sp>
      <p:sp>
        <p:nvSpPr>
          <p:cNvPr id="20" name="Text 18"/>
          <p:cNvSpPr txBox="1"/>
          <p:nvPr/>
        </p:nvSpPr>
        <p:spPr>
          <a:xfrm>
            <a:off x="93085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985723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Parte de casos</a:t>
            </a:r>
            <a:endParaRPr lang="en-US" sz="1700" dirty="0"/>
          </a:p>
        </p:txBody>
      </p:sp>
      <p:sp>
        <p:nvSpPr>
          <p:cNvPr id="22" name="Text 20"/>
          <p:cNvSpPr txBox="1"/>
          <p:nvPr/>
        </p:nvSpPr>
        <p:spPr>
          <a:xfrm>
            <a:off x="9308592" y="2167128"/>
            <a:ext cx="204825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Interpretación de un cuadro de síntomas o de una prueba de compresión, con hipótesis y comprobación siguiente.</a:t>
            </a:r>
            <a:endParaRPr lang="en-US" sz="11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11064240" cy="914400"/>
        </p:xfrm>
        <a:graphic>
          <a:graphicData uri="http://schemas.openxmlformats.org/drawingml/2006/table">
            <a:tbl>
              <a:tblPr/>
              <a:tblGrid>
                <a:gridCol w="3474720"/>
                <a:gridCol w="3749040"/>
                <a:gridCol w="3840480"/>
              </a:tblGrid>
              <a:tr h="402336">
                <a:tc>
                  <a:txBody>
                    <a:bodyPr/>
                    <a:lstStyle/>
                    <a:p>
                      <a:pPr indent="0" marL="0">
                        <a:buNone/>
                      </a:pPr>
                      <a:r>
                        <a:rPr lang="en-US" sz="1300" b="1" dirty="0">
                          <a:solidFill>
                            <a:srgbClr val="FFFFFF"/>
                          </a:solidFill>
                        </a:rPr>
                        <a:t>Qué se valora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Cómo se demuestra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Error frecuente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02336">
                <a:tc>
                  <a:txBody>
                    <a:bodyPr/>
                    <a:lstStyle/>
                    <a:p>
                      <a:pPr indent="0" marL="0">
                        <a:buNone/>
                      </a:pPr>
                      <a:r>
                        <a:rPr lang="en-US" sz="1100" b="1" dirty="0">
                          <a:solidFill>
                            <a:schemeClr val="tx1"/>
                          </a:solidFill>
                        </a:rPr>
                        <a:t>Comprensión del principio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Explicar por qué, no solo describir qué</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Memorizar listas sin entender la razón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Capacidad de cálculo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Planteamiento, fórmula, sustitución y unidades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Dar el número sin el procedimiento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Criterio técnico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Justificar la decisión con la medida tomada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Decidir sin comparar con el valor del manual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4" name="Shape 21"/>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5" name="Shape 22"/>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4"/>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Consejo de estudio: para cada comprobación de la unidad, sepa decir qué se mide, con qué instrumento, contra qué valor se compara y qué se decide. Si puede responder a esas cuatro preguntas, domina el contenido evaluable.</a:t>
            </a:r>
            <a:endParaRPr lang="en-US" sz="1200" dirty="0"/>
          </a:p>
        </p:txBody>
      </p:sp>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Sistema de evaluación institucional — prueba de unidad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Trabajo autónomo declarado en el PEA</a:t>
            </a:r>
            <a:endParaRPr lang="en-US" sz="32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3931920"/>
                <a:gridCol w="4023360"/>
              </a:tblGrid>
              <a:tr h="475488">
                <a:tc>
                  <a:txBody>
                    <a:bodyPr/>
                    <a:lstStyle/>
                    <a:p>
                      <a:pPr indent="0" marL="0">
                        <a:buNone/>
                      </a:pPr>
                      <a:r>
                        <a:rPr lang="en-US" sz="1300" b="1" dirty="0">
                          <a:solidFill>
                            <a:srgbClr val="FFFFFF"/>
                          </a:solidFill>
                        </a:rPr>
                        <a:t>Actividad</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 qué consiste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entrega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150" b="1" dirty="0">
                          <a:solidFill>
                            <a:schemeClr val="tx1"/>
                          </a:solidFill>
                        </a:rPr>
                        <a:t>Lectura de la guía didáctica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Repaso de la unidad 3 de la guía didáctica de la asignatura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Cuestionario de la unidad resuelto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chemeClr val="tx1"/>
                          </a:solidFill>
                        </a:rPr>
                        <a:t>Ejercicios de cálculo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Los cuatro ejercicios propuestos sobre el diagrama de distribución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Resolución con planteamiento, fórmula y unidades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150" b="1" dirty="0">
                          <a:solidFill>
                            <a:schemeClr val="tx1"/>
                          </a:solidFill>
                        </a:rPr>
                        <a:t>Consulta en Autodata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Búsqueda de los ángulos de distribución, holguras de válvula y pares de apriete del motor del laboratorio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Ficha con los datos y la referencia de la fuente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chemeClr val="tx1"/>
                          </a:solidFill>
                        </a:rPr>
                        <a:t>Preparación de la práctica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Ficha de puesta a punto del motor asignado, completada antes de la sesión de taller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Ficha de puesta a punto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5760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386334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38633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490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Las nueve horas de aprendizaje autónomo que el PEA asigna a esta unidad no son tiempo libre: son el tiempo previsto para preparar la práctica y para consolidar lo que en el taller se ejecuta sin tiempo de pensar.</a:t>
            </a:r>
            <a:endParaRPr lang="en-US" sz="1450" dirty="0"/>
          </a:p>
        </p:txBody>
      </p:sp>
      <p:sp>
        <p:nvSpPr>
          <p:cNvPr id="8" name="Shape 5"/>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61772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la ficha de puesta a punto se prepara antes. </a:t>
            </a:r>
            <a:pPr indent="0" marL="0">
              <a:lnSpc>
                <a:spcPct val="106000"/>
              </a:lnSpc>
              <a:buNone/>
            </a:pPr>
            <a:r>
              <a:rPr lang="en-US" sz="1150" dirty="0">
                <a:solidFill>
                  <a:schemeClr val="accent4"/>
                </a:solidFill>
              </a:rPr>
              <a:t>porque consultar el manual con el motor delante y el tiempo encima es la mejor forma de equivocarse; la consulta se hace sin prisa</a:t>
            </a:r>
            <a:endParaRPr lang="en-US" sz="1150" dirty="0"/>
          </a:p>
        </p:txBody>
      </p:sp>
      <p:sp>
        <p:nvSpPr>
          <p:cNvPr id="11" name="Shape 8"/>
          <p:cNvSpPr/>
          <p:nvPr/>
        </p:nvSpPr>
        <p:spPr>
          <a:xfrm>
            <a:off x="548640" y="503834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00176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se pide citar la fuente. </a:t>
            </a:r>
            <a:pPr indent="0" marL="0">
              <a:lnSpc>
                <a:spcPct val="106000"/>
              </a:lnSpc>
              <a:buNone/>
            </a:pPr>
            <a:r>
              <a:rPr lang="en-US" sz="1150" dirty="0">
                <a:solidFill>
                  <a:schemeClr val="accent4"/>
                </a:solidFill>
              </a:rPr>
              <a:t>es un hábito profesional: saber de dónde salió un dato permite comprobarlo y permite que otro técnico lo verifique</a:t>
            </a:r>
            <a:endParaRPr lang="en-US" sz="1150" dirty="0"/>
          </a:p>
        </p:txBody>
      </p:sp>
      <p:sp>
        <p:nvSpPr>
          <p:cNvPr id="14" name="Shape 11"/>
          <p:cNvSpPr/>
          <p:nvPr/>
        </p:nvSpPr>
        <p:spPr>
          <a:xfrm>
            <a:off x="548640" y="542239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422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385816"/>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distribuyen las nueve horas. </a:t>
            </a:r>
            <a:pPr indent="0" marL="0">
              <a:lnSpc>
                <a:spcPct val="106000"/>
              </a:lnSpc>
              <a:buNone/>
            </a:pPr>
            <a:r>
              <a:rPr lang="en-US" sz="1150" dirty="0">
                <a:solidFill>
                  <a:schemeClr val="accent4"/>
                </a:solidFill>
              </a:rPr>
              <a:t>aproximadamente dos para la guía didáctica, dos para los cálculos, dos para la consulta en Autodata y tres para la preparación de la práctica</a:t>
            </a:r>
            <a:endParaRPr lang="en-US" sz="115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Actividades de trabajo autónomo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GUÍA DE PRÁCTICAS DE LA ASIGNATURA  ·  14 HORAS PRÁCTICO-EXPERIMENTALES</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Del aula al taller:</a:t>
            </a:r>
            <a:endParaRPr lang="en-US" sz="4000" dirty="0"/>
          </a:p>
          <a:p>
            <a:pPr indent="0" marL="0">
              <a:buNone/>
            </a:pPr>
            <a:r>
              <a:rPr lang="en-US" sz="4000" b="1" dirty="0">
                <a:solidFill>
                  <a:schemeClr val="bg1"/>
                </a:solidFill>
              </a:rPr>
              <a:t>distribución y cabezote</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Tensado · Planitud · Guías · Asientos y esmerilado · Árbol de levas · Reglaje · Orden de apriete · Registro</a:t>
            </a:r>
            <a:endParaRPr lang="en-US" sz="17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sustitución y tensado de la correa</a:t>
            </a:r>
            <a:endParaRPr lang="en-US" sz="3200" dirty="0"/>
          </a:p>
        </p:txBody>
      </p:sp>
      <p:sp>
        <p:nvSpPr>
          <p:cNvPr id="3" name="marco_figura"/>
          <p:cNvSpPr/>
          <p:nvPr/>
        </p:nvSpPr>
        <p:spPr>
          <a:xfrm>
            <a:off x="548640" y="1371600"/>
            <a:ext cx="5120640" cy="3218688"/>
          </a:xfrm>
          <a:prstGeom prst="roundRect">
            <a:avLst>
              <a:gd name="adj" fmla="val 1705"/>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u_tensor_correa.jpg">    </p:cNvPr>
          <p:cNvPicPr>
            <a:picLocks noChangeAspect="1"/>
          </p:cNvPicPr>
          <p:nvPr/>
        </p:nvPicPr>
        <p:blipFill>
          <a:blip r:embed="rId1"/>
          <a:srcRect l="0" r="0" t="0" b="0"/>
          <a:stretch/>
        </p:blipFill>
        <p:spPr>
          <a:xfrm>
            <a:off x="658368" y="1481328"/>
            <a:ext cx="4901184" cy="2615184"/>
          </a:xfrm>
          <a:prstGeom prst="rect">
            <a:avLst/>
          </a:prstGeom>
        </p:spPr>
      </p:pic>
      <p:sp>
        <p:nvSpPr>
          <p:cNvPr id="5" name="Text 2"/>
          <p:cNvSpPr txBox="1"/>
          <p:nvPr/>
        </p:nvSpPr>
        <p:spPr>
          <a:xfrm>
            <a:off x="658368" y="4206240"/>
            <a:ext cx="49011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70. </a:t>
            </a:r>
            <a:pPr indent="0" marL="0">
              <a:lnSpc>
                <a:spcPct val="102000"/>
              </a:lnSpc>
              <a:buNone/>
            </a:pPr>
            <a:r>
              <a:rPr lang="en-US" sz="1000" dirty="0">
                <a:solidFill>
                  <a:schemeClr val="accent4"/>
                </a:solidFill>
              </a:rPr>
              <a:t>Accionamiento del tensor con la herramienta prevista por el fabricante. Adaptado de Escudero, S., González, J., y Rivas, J. L. (2024). Cuaderno de prácticas: motores (1.ª ed.). Macmillan Iberia.</a:t>
            </a:r>
            <a:endParaRPr lang="en-US" sz="1000" dirty="0"/>
          </a:p>
        </p:txBody>
      </p:sp>
      <p:sp>
        <p:nvSpPr>
          <p:cNvPr id="6" name="Shape 3"/>
          <p:cNvSpPr/>
          <p:nvPr/>
        </p:nvSpPr>
        <p:spPr>
          <a:xfrm>
            <a:off x="60350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0350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565392" y="1463040"/>
            <a:ext cx="5047488" cy="438912"/>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1 — Posición de calado y documentación. </a:t>
            </a:r>
            <a:pPr indent="0" marL="0">
              <a:lnSpc>
                <a:spcPct val="106000"/>
              </a:lnSpc>
              <a:buNone/>
            </a:pPr>
            <a:r>
              <a:rPr lang="en-US" sz="1100" dirty="0">
                <a:solidFill>
                  <a:schemeClr val="accent4"/>
                </a:solidFill>
              </a:rPr>
              <a:t>llevar el motor a calado, fotografiar las marcas coincidentes y registrar la ficha de puesta a punto</a:t>
            </a:r>
            <a:endParaRPr lang="en-US" sz="1100" dirty="0"/>
          </a:p>
        </p:txBody>
      </p:sp>
      <p:sp>
        <p:nvSpPr>
          <p:cNvPr id="9" name="Shape 6"/>
          <p:cNvSpPr/>
          <p:nvPr/>
        </p:nvSpPr>
        <p:spPr>
          <a:xfrm>
            <a:off x="6035040" y="1993392"/>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035040"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565392" y="1956816"/>
            <a:ext cx="5047488" cy="438912"/>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2 — Aflojar el tensor con su herramienta. </a:t>
            </a:r>
            <a:pPr indent="0" marL="0">
              <a:lnSpc>
                <a:spcPct val="106000"/>
              </a:lnSpc>
              <a:buNone/>
            </a:pPr>
            <a:r>
              <a:rPr lang="en-US" sz="1100" dirty="0">
                <a:solidFill>
                  <a:schemeClr val="accent4"/>
                </a:solidFill>
              </a:rPr>
              <a:t>la prevista por el fabricante; nunca con una palanca improvisada que pueda dañar el cuerpo del tensor</a:t>
            </a:r>
            <a:endParaRPr lang="en-US" sz="1100" dirty="0"/>
          </a:p>
        </p:txBody>
      </p:sp>
      <p:sp>
        <p:nvSpPr>
          <p:cNvPr id="12" name="Shape 9"/>
          <p:cNvSpPr/>
          <p:nvPr/>
        </p:nvSpPr>
        <p:spPr>
          <a:xfrm>
            <a:off x="6035040" y="2487168"/>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035040"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565392" y="2450592"/>
            <a:ext cx="5047488" cy="438912"/>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3 — Retirar la correa sin girar ejes. </a:t>
            </a:r>
            <a:pPr indent="0" marL="0">
              <a:lnSpc>
                <a:spcPct val="106000"/>
              </a:lnSpc>
              <a:buNone/>
            </a:pPr>
            <a:r>
              <a:rPr lang="en-US" sz="1100" dirty="0">
                <a:solidFill>
                  <a:schemeClr val="accent4"/>
                </a:solidFill>
              </a:rPr>
              <a:t>si algún eje se mueve, volver a llevar el motor a calado antes de continuar</a:t>
            </a:r>
            <a:endParaRPr lang="en-US" sz="1100" dirty="0"/>
          </a:p>
        </p:txBody>
      </p:sp>
      <p:sp>
        <p:nvSpPr>
          <p:cNvPr id="15" name="Shape 12"/>
          <p:cNvSpPr/>
          <p:nvPr/>
        </p:nvSpPr>
        <p:spPr>
          <a:xfrm>
            <a:off x="6035040" y="2980944"/>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035040" y="2980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565392" y="2944368"/>
            <a:ext cx="5047488" cy="438912"/>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4 — Sustituir rodillos. </a:t>
            </a:r>
            <a:pPr indent="0" marL="0">
              <a:lnSpc>
                <a:spcPct val="106000"/>
              </a:lnSpc>
              <a:buNone/>
            </a:pPr>
            <a:r>
              <a:rPr lang="en-US" sz="1100" dirty="0">
                <a:solidFill>
                  <a:schemeClr val="accent4"/>
                </a:solidFill>
              </a:rPr>
              <a:t>comprobar cada rodillo girándolo a mano antes de decidir; en la práctica se sustituyen todos los del kit</a:t>
            </a:r>
            <a:endParaRPr lang="en-US" sz="1100" dirty="0"/>
          </a:p>
        </p:txBody>
      </p:sp>
      <p:sp>
        <p:nvSpPr>
          <p:cNvPr id="18" name="Shape 15"/>
          <p:cNvSpPr/>
          <p:nvPr/>
        </p:nvSpPr>
        <p:spPr>
          <a:xfrm>
            <a:off x="6035040" y="3474720"/>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603504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6565392" y="3438144"/>
            <a:ext cx="5047488" cy="438912"/>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5 — Montar y tensar. </a:t>
            </a:r>
            <a:pPr indent="0" marL="0">
              <a:lnSpc>
                <a:spcPct val="106000"/>
              </a:lnSpc>
              <a:buNone/>
            </a:pPr>
            <a:r>
              <a:rPr lang="en-US" sz="1100" dirty="0">
                <a:solidFill>
                  <a:schemeClr val="accent4"/>
                </a:solidFill>
              </a:rPr>
              <a:t>empezando por el cigüeñal, con la holgura concentrada en el ramal del tensor, y tensar al valor del manual</a:t>
            </a:r>
            <a:endParaRPr lang="en-US" sz="1100" dirty="0"/>
          </a:p>
        </p:txBody>
      </p:sp>
      <p:sp>
        <p:nvSpPr>
          <p:cNvPr id="21" name="Shape 18"/>
          <p:cNvSpPr/>
          <p:nvPr/>
        </p:nvSpPr>
        <p:spPr>
          <a:xfrm>
            <a:off x="6035040" y="396849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60350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0"/>
          <p:cNvSpPr txBox="1"/>
          <p:nvPr/>
        </p:nvSpPr>
        <p:spPr>
          <a:xfrm>
            <a:off x="6565392" y="3931920"/>
            <a:ext cx="5047488" cy="438912"/>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6 — Verificar dos vueltas. </a:t>
            </a:r>
            <a:pPr indent="0" marL="0">
              <a:lnSpc>
                <a:spcPct val="106000"/>
              </a:lnSpc>
              <a:buNone/>
            </a:pPr>
            <a:r>
              <a:rPr lang="en-US" sz="1100" dirty="0">
                <a:solidFill>
                  <a:schemeClr val="accent4"/>
                </a:solidFill>
              </a:rPr>
              <a:t>a mano, en el sentido de giro, y comprobar que todas las marcas vuelven a coincidir</a:t>
            </a:r>
            <a:endParaRPr lang="en-US" sz="1100" dirty="0"/>
          </a:p>
        </p:txBody>
      </p:sp>
      <p:sp>
        <p:nvSpPr>
          <p:cNvPr id="24" name="Shape 21"/>
          <p:cNvSpPr/>
          <p:nvPr/>
        </p:nvSpPr>
        <p:spPr>
          <a:xfrm>
            <a:off x="548640" y="4663440"/>
            <a:ext cx="11064240" cy="731520"/>
          </a:xfrm>
          <a:prstGeom prst="roundRect">
            <a:avLst>
              <a:gd name="adj" fmla="val 7500"/>
            </a:avLst>
          </a:prstGeom>
          <a:solidFill>
            <a:schemeClr val="bg2"/>
          </a:solidFill>
          <a:ln w="12700">
            <a:solidFill>
              <a:schemeClr val="bg2"/>
            </a:solidFill>
            <a:prstDash val="solid"/>
          </a:ln>
        </p:spPr>
        <p:txBody>
          <a:bodyPr/>
          <a:p/>
        </p:txBody>
      </p:sp>
      <p:sp>
        <p:nvSpPr>
          <p:cNvPr id="25" name="Shape 22"/>
          <p:cNvSpPr/>
          <p:nvPr/>
        </p:nvSpPr>
        <p:spPr>
          <a:xfrm>
            <a:off x="786384" y="4846320"/>
            <a:ext cx="365760" cy="365760"/>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786384" y="4846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4"/>
          <p:cNvSpPr txBox="1"/>
          <p:nvPr/>
        </p:nvSpPr>
        <p:spPr>
          <a:xfrm>
            <a:off x="1298448" y="475488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Registro obligatorio de la práctica: el valor de tensión aplicado, el método usado y el resultado de la verificación de dos vueltas. Sin esos tres datos, el trabajo no queda acreditado.</a:t>
            </a:r>
            <a:endParaRPr lang="en-US" sz="1450" dirty="0"/>
          </a:p>
        </p:txBody>
      </p:sp>
      <p:sp>
        <p:nvSpPr>
          <p:cNvPr id="28" name="Text 25"/>
          <p:cNvSpPr txBox="1"/>
          <p:nvPr/>
        </p:nvSpPr>
        <p:spPr>
          <a:xfrm>
            <a:off x="548640" y="553212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Criterio de aceptación:  el motor queda calado, la tensión está dentro del rango del fabricante y la verificación de dos vueltas es conforme. Si cualquiera de las tres falla, se repite el montaje.</a:t>
            </a:r>
            <a:endParaRPr lang="en-US" sz="1200" dirty="0"/>
          </a:p>
        </p:txBody>
      </p:sp>
      <p:sp>
        <p:nvSpPr>
          <p:cNvPr id="29"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 guía de prácticas de la asignatura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planitud del plano de apoyo del cabezote</a:t>
            </a:r>
            <a:endParaRPr lang="en-US" sz="3200" dirty="0"/>
          </a:p>
        </p:txBody>
      </p:sp>
      <p:sp>
        <p:nvSpPr>
          <p:cNvPr id="3" name="marco_figura"/>
          <p:cNvSpPr/>
          <p:nvPr/>
        </p:nvSpPr>
        <p:spPr>
          <a:xfrm>
            <a:off x="548640" y="1371600"/>
            <a:ext cx="475488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u_planitud_comparador.jpg">    </p:cNvPr>
          <p:cNvPicPr>
            <a:picLocks noChangeAspect="1"/>
          </p:cNvPicPr>
          <p:nvPr/>
        </p:nvPicPr>
        <p:blipFill>
          <a:blip r:embed="rId1"/>
          <a:srcRect l="0" r="0" t="0" b="0"/>
          <a:stretch/>
        </p:blipFill>
        <p:spPr>
          <a:xfrm>
            <a:off x="658368" y="1481328"/>
            <a:ext cx="4535424" cy="2432304"/>
          </a:xfrm>
          <a:prstGeom prst="rect">
            <a:avLst/>
          </a:prstGeom>
        </p:spPr>
      </p:pic>
      <p:sp>
        <p:nvSpPr>
          <p:cNvPr id="5" name="Text 2"/>
          <p:cNvSpPr txBox="1"/>
          <p:nvPr/>
        </p:nvSpPr>
        <p:spPr>
          <a:xfrm>
            <a:off x="658368" y="402336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71. </a:t>
            </a:r>
            <a:pPr indent="0" marL="0">
              <a:lnSpc>
                <a:spcPct val="102000"/>
              </a:lnSpc>
              <a:buNone/>
            </a:pPr>
            <a:r>
              <a:rPr lang="en-US" sz="1000" dirty="0">
                <a:solidFill>
                  <a:schemeClr val="accent4"/>
                </a:solidFill>
              </a:rPr>
              <a:t>Verificación de la planitud con comparador montado sobre base deslizante. Adaptado de Escudero, S., González, J., y Rivas, J. L. (2024). Cuaderno de prácticas: motores (1.ª ed.). Macmillan Iberia.</a:t>
            </a:r>
            <a:endParaRPr lang="en-US" sz="1000" dirty="0"/>
          </a:p>
        </p:txBody>
      </p:sp>
      <p:sp>
        <p:nvSpPr>
          <p:cNvPr id="6" name="marco_figura"/>
          <p:cNvSpPr/>
          <p:nvPr/>
        </p:nvSpPr>
        <p:spPr>
          <a:xfrm>
            <a:off x="5669280" y="1371600"/>
            <a:ext cx="5943600" cy="3035808"/>
          </a:xfrm>
          <a:prstGeom prst="roundRect">
            <a:avLst>
              <a:gd name="adj" fmla="val 1807"/>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cu_culata_medida.jpg">    </p:cNvPr>
          <p:cNvPicPr>
            <a:picLocks noChangeAspect="1"/>
          </p:cNvPicPr>
          <p:nvPr/>
        </p:nvPicPr>
        <p:blipFill>
          <a:blip r:embed="rId2"/>
          <a:srcRect l="0" r="0" t="0" b="0"/>
          <a:stretch/>
        </p:blipFill>
        <p:spPr>
          <a:xfrm>
            <a:off x="5779008" y="1481328"/>
            <a:ext cx="5724144" cy="2432304"/>
          </a:xfrm>
          <a:prstGeom prst="rect">
            <a:avLst/>
          </a:prstGeom>
        </p:spPr>
      </p:pic>
      <p:sp>
        <p:nvSpPr>
          <p:cNvPr id="8" name="Text 4"/>
          <p:cNvSpPr txBox="1"/>
          <p:nvPr/>
        </p:nvSpPr>
        <p:spPr>
          <a:xfrm>
            <a:off x="5779008" y="4023360"/>
            <a:ext cx="5724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72. </a:t>
            </a:r>
            <a:pPr indent="0" marL="0">
              <a:lnSpc>
                <a:spcPct val="102000"/>
              </a:lnSpc>
              <a:buNone/>
            </a:pPr>
            <a:r>
              <a:rPr lang="en-US" sz="1000" dirty="0">
                <a:solidFill>
                  <a:schemeClr val="accent4"/>
                </a:solidFill>
              </a:rPr>
              <a:t>Medición de la altura del cabezote, que determina si admite rectificado. Adaptado de Escudero, S., González, J., y Rivas, J. L. (2024). Cuaderno de prácticas: motores (1.ª ed.). Macmillan Iberia.</a:t>
            </a:r>
            <a:endParaRPr lang="en-US" sz="1000" dirty="0"/>
          </a:p>
        </p:txBody>
      </p:sp>
      <p:sp>
        <p:nvSpPr>
          <p:cNvPr id="9" name="Shape 5"/>
          <p:cNvSpPr/>
          <p:nvPr/>
        </p:nvSpPr>
        <p:spPr>
          <a:xfrm>
            <a:off x="548640" y="437997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548640" y="4379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1078992" y="434340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Método con regla y galga. </a:t>
            </a:r>
            <a:pPr indent="0" marL="0">
              <a:lnSpc>
                <a:spcPct val="106000"/>
              </a:lnSpc>
              <a:buNone/>
            </a:pPr>
            <a:r>
              <a:rPr lang="en-US" sz="1150" dirty="0">
                <a:solidFill>
                  <a:schemeClr val="accent4"/>
                </a:solidFill>
              </a:rPr>
              <a:t>el ya conocido de la Unidad 1: regla de precisión en cinco posiciones y galga del valor límite, comprobación de pasa o no pasa</a:t>
            </a:r>
            <a:endParaRPr lang="en-US" sz="1150" dirty="0"/>
          </a:p>
        </p:txBody>
      </p:sp>
      <p:sp>
        <p:nvSpPr>
          <p:cNvPr id="12" name="Shape 8"/>
          <p:cNvSpPr/>
          <p:nvPr/>
        </p:nvSpPr>
        <p:spPr>
          <a:xfrm>
            <a:off x="548640" y="4745736"/>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1078992" y="470916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Método con comparador. </a:t>
            </a:r>
            <a:pPr indent="0" marL="0">
              <a:lnSpc>
                <a:spcPct val="106000"/>
              </a:lnSpc>
              <a:buNone/>
            </a:pPr>
            <a:r>
              <a:rPr lang="en-US" sz="1150" dirty="0">
                <a:solidFill>
                  <a:schemeClr val="accent4"/>
                </a:solidFill>
              </a:rPr>
              <a:t>base deslizante sobre una superficie de referencia y palpador recorriendo el plano, que da el perfil completo de la deformación</a:t>
            </a:r>
            <a:endParaRPr lang="en-US" sz="1150" dirty="0"/>
          </a:p>
        </p:txBody>
      </p:sp>
      <p:sp>
        <p:nvSpPr>
          <p:cNvPr id="15" name="Shape 11"/>
          <p:cNvSpPr/>
          <p:nvPr/>
        </p:nvSpPr>
        <p:spPr>
          <a:xfrm>
            <a:off x="548640" y="5111496"/>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548640" y="5111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1078992" y="507492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Medición de la altura. </a:t>
            </a:r>
            <a:pPr indent="0" marL="0">
              <a:lnSpc>
                <a:spcPct val="106000"/>
              </a:lnSpc>
              <a:buNone/>
            </a:pPr>
            <a:r>
              <a:rPr lang="en-US" sz="1150" dirty="0">
                <a:solidFill>
                  <a:schemeClr val="accent4"/>
                </a:solidFill>
              </a:rPr>
              <a:t>distancia entre el plano de apoyo y la cara superior; se compara con la altura mínima del manual para saber si admite rectificado</a:t>
            </a:r>
            <a:endParaRPr lang="en-US" sz="1150" dirty="0"/>
          </a:p>
        </p:txBody>
      </p:sp>
      <p:sp>
        <p:nvSpPr>
          <p:cNvPr id="18" name="Shape 14"/>
          <p:cNvSpPr/>
          <p:nvPr/>
        </p:nvSpPr>
        <p:spPr>
          <a:xfrm>
            <a:off x="548640" y="5477256"/>
            <a:ext cx="384048" cy="384048"/>
          </a:xfrm>
          <a:prstGeom prst="ellipse">
            <a:avLst/>
          </a:prstGeom>
          <a:solidFill>
            <a:schemeClr val="accent2"/>
          </a:solidFill>
          <a:ln w="12700">
            <a:solidFill>
              <a:schemeClr val="accent2"/>
            </a:solidFill>
            <a:prstDash val="solid"/>
          </a:ln>
        </p:spPr>
        <p:txBody>
          <a:bodyPr/>
          <a:p/>
        </p:txBody>
      </p:sp>
      <p:sp>
        <p:nvSpPr>
          <p:cNvPr id="19" name="Text 15"/>
          <p:cNvSpPr txBox="1"/>
          <p:nvPr/>
        </p:nvSpPr>
        <p:spPr>
          <a:xfrm>
            <a:off x="548640" y="5477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6"/>
          <p:cNvSpPr txBox="1"/>
          <p:nvPr/>
        </p:nvSpPr>
        <p:spPr>
          <a:xfrm>
            <a:off x="1078992" y="544068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Decisión. </a:t>
            </a:r>
            <a:pPr indent="0" marL="0">
              <a:lnSpc>
                <a:spcPct val="106000"/>
              </a:lnSpc>
              <a:buNone/>
            </a:pPr>
            <a:r>
              <a:rPr lang="en-US" sz="1150" dirty="0">
                <a:solidFill>
                  <a:schemeClr val="accent4"/>
                </a:solidFill>
              </a:rPr>
              <a:t>apto; rectificado plano si hay material suficiente; o rechazo si el alabeo es excesivo o ya no queda altura</a:t>
            </a:r>
            <a:endParaRPr lang="en-US" sz="1150" dirty="0"/>
          </a:p>
        </p:txBody>
      </p:sp>
      <p:sp>
        <p:nvSpPr>
          <p:cNvPr id="21" name="Shape 17"/>
          <p:cNvSpPr/>
          <p:nvPr/>
        </p:nvSpPr>
        <p:spPr>
          <a:xfrm>
            <a:off x="548640" y="58064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2" name="Shape 18"/>
          <p:cNvSpPr/>
          <p:nvPr/>
        </p:nvSpPr>
        <p:spPr>
          <a:xfrm>
            <a:off x="786384" y="5829300"/>
            <a:ext cx="365760" cy="365760"/>
          </a:xfrm>
          <a:prstGeom prst="ellipse">
            <a:avLst/>
          </a:prstGeom>
          <a:solidFill>
            <a:schemeClr val="accent1"/>
          </a:solidFill>
          <a:ln w="12700">
            <a:solidFill>
              <a:schemeClr val="accent1"/>
            </a:solidFill>
            <a:prstDash val="solid"/>
          </a:ln>
        </p:spPr>
        <p:txBody>
          <a:bodyPr/>
          <a:p/>
        </p:txBody>
      </p:sp>
      <p:sp>
        <p:nvSpPr>
          <p:cNvPr id="23" name="Text 19"/>
          <p:cNvSpPr txBox="1"/>
          <p:nvPr/>
        </p:nvSpPr>
        <p:spPr>
          <a:xfrm>
            <a:off x="786384" y="58293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0"/>
          <p:cNvSpPr txBox="1"/>
          <p:nvPr/>
        </p:nvSpPr>
        <p:spPr>
          <a:xfrm>
            <a:off x="1298448" y="58978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La medición de altura es la que suele olvidarse y la que decide si el rectificado es posible: un cabezote ya rectificado antes puede no tener material para otra pasada, y rebajarlo más cambiaría la relación de compresión fuera de lo admisible.</a:t>
            </a:r>
            <a:endParaRPr lang="en-US" sz="1150" dirty="0"/>
          </a:p>
        </p:txBody>
      </p:sp>
      <p:sp>
        <p:nvSpPr>
          <p:cNvPr id="25"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 · actividad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guías de válvula, medición y sustitución</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u_guia_extraccion.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73. </a:t>
            </a:r>
            <a:pPr indent="0" marL="0">
              <a:lnSpc>
                <a:spcPct val="102000"/>
              </a:lnSpc>
              <a:buNone/>
            </a:pPr>
            <a:r>
              <a:rPr lang="en-US" sz="1000" dirty="0">
                <a:solidFill>
                  <a:schemeClr val="accent4"/>
                </a:solidFill>
              </a:rPr>
              <a:t>Extracción de la guía con el útil y el botador específicos. Adaptado de Escudero, S., González, J., y Rivas, J. L. (2024). Cuaderno de prácticas: motores (1.ª ed.). Macmillan Iberia.</a:t>
            </a:r>
            <a:endParaRPr lang="en-US" sz="1000" dirty="0"/>
          </a:p>
        </p:txBody>
      </p:sp>
      <p:sp>
        <p:nvSpPr>
          <p:cNvPr id="6" name="marco_figura"/>
          <p:cNvSpPr/>
          <p:nvPr/>
        </p:nvSpPr>
        <p:spPr>
          <a:xfrm>
            <a:off x="5852160" y="1371600"/>
            <a:ext cx="5760720" cy="3035808"/>
          </a:xfrm>
          <a:prstGeom prst="roundRect">
            <a:avLst>
              <a:gd name="adj" fmla="val 1807"/>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cu_guia_montaje.jpg">    </p:cNvPr>
          <p:cNvPicPr>
            <a:picLocks noChangeAspect="1"/>
          </p:cNvPicPr>
          <p:nvPr/>
        </p:nvPicPr>
        <p:blipFill>
          <a:blip r:embed="rId2"/>
          <a:srcRect l="0" r="0" t="0" b="0"/>
          <a:stretch/>
        </p:blipFill>
        <p:spPr>
          <a:xfrm>
            <a:off x="5961888" y="1481328"/>
            <a:ext cx="5541264" cy="2432304"/>
          </a:xfrm>
          <a:prstGeom prst="rect">
            <a:avLst/>
          </a:prstGeom>
        </p:spPr>
      </p:pic>
      <p:sp>
        <p:nvSpPr>
          <p:cNvPr id="8" name="Text 4"/>
          <p:cNvSpPr txBox="1"/>
          <p:nvPr/>
        </p:nvSpPr>
        <p:spPr>
          <a:xfrm>
            <a:off x="5961888" y="4023360"/>
            <a:ext cx="5541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74. </a:t>
            </a:r>
            <a:pPr indent="0" marL="0">
              <a:lnSpc>
                <a:spcPct val="102000"/>
              </a:lnSpc>
              <a:buNone/>
            </a:pPr>
            <a:r>
              <a:rPr lang="en-US" sz="1000" dirty="0">
                <a:solidFill>
                  <a:schemeClr val="accent4"/>
                </a:solidFill>
              </a:rPr>
              <a:t>Montaje de la guía nueva con botador escalonado, controlando la profundidad. Adaptado de Escudero, S., González, J., y Rivas, J. L. (2024). Cuaderno de prácticas: motores (1.ª ed.). Macmillan Iberia.</a:t>
            </a:r>
            <a:endParaRPr lang="en-US" sz="1000" dirty="0"/>
          </a:p>
        </p:txBody>
      </p:sp>
      <p:sp>
        <p:nvSpPr>
          <p:cNvPr id="9" name="Shape 5"/>
          <p:cNvSpPr/>
          <p:nvPr/>
        </p:nvSpPr>
        <p:spPr>
          <a:xfrm>
            <a:off x="548640" y="437997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548640" y="4379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1078992" y="4343400"/>
            <a:ext cx="10533888" cy="26517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1 — Medir el juego antes de decidir. </a:t>
            </a:r>
            <a:pPr indent="0" marL="0">
              <a:lnSpc>
                <a:spcPct val="106000"/>
              </a:lnSpc>
              <a:buNone/>
            </a:pPr>
            <a:r>
              <a:rPr lang="en-US" sz="1150" dirty="0">
                <a:solidFill>
                  <a:schemeClr val="accent4"/>
                </a:solidFill>
              </a:rPr>
              <a:t>con comparador sobre la cabeza de la válvula levantada, o midiendo vástago y guía por separado</a:t>
            </a:r>
            <a:endParaRPr lang="en-US" sz="1150" dirty="0"/>
          </a:p>
        </p:txBody>
      </p:sp>
      <p:sp>
        <p:nvSpPr>
          <p:cNvPr id="12" name="Shape 8"/>
          <p:cNvSpPr/>
          <p:nvPr/>
        </p:nvSpPr>
        <p:spPr>
          <a:xfrm>
            <a:off x="548640" y="4700016"/>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548640" y="4700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1078992" y="4663440"/>
            <a:ext cx="10533888" cy="26517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2 — Extraer con el botador correcto. </a:t>
            </a:r>
            <a:pPr indent="0" marL="0">
              <a:lnSpc>
                <a:spcPct val="106000"/>
              </a:lnSpc>
              <a:buNone/>
            </a:pPr>
            <a:r>
              <a:rPr lang="en-US" sz="1150" dirty="0">
                <a:solidFill>
                  <a:schemeClr val="accent4"/>
                </a:solidFill>
              </a:rPr>
              <a:t>el específico de ese diámetro; un botador de medida incorrecta deforma el alojamiento y lo arruina</a:t>
            </a:r>
            <a:endParaRPr lang="en-US" sz="1150" dirty="0"/>
          </a:p>
        </p:txBody>
      </p:sp>
      <p:sp>
        <p:nvSpPr>
          <p:cNvPr id="15" name="Shape 11"/>
          <p:cNvSpPr/>
          <p:nvPr/>
        </p:nvSpPr>
        <p:spPr>
          <a:xfrm>
            <a:off x="548640" y="5020056"/>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548640" y="5020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1078992" y="4983480"/>
            <a:ext cx="10533888" cy="26517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3 — Montar controlando la profundidad. </a:t>
            </a:r>
            <a:pPr indent="0" marL="0">
              <a:lnSpc>
                <a:spcPct val="106000"/>
              </a:lnSpc>
              <a:buNone/>
            </a:pPr>
            <a:r>
              <a:rPr lang="en-US" sz="1150" dirty="0">
                <a:solidFill>
                  <a:schemeClr val="accent4"/>
                </a:solidFill>
              </a:rPr>
              <a:t>la guía nueva debe quedar a la altura exacta que indica el manual: ni hundida ni sobresaliendo</a:t>
            </a:r>
            <a:endParaRPr lang="en-US" sz="1150" dirty="0"/>
          </a:p>
        </p:txBody>
      </p:sp>
      <p:sp>
        <p:nvSpPr>
          <p:cNvPr id="18" name="Shape 14"/>
          <p:cNvSpPr/>
          <p:nvPr/>
        </p:nvSpPr>
        <p:spPr>
          <a:xfrm>
            <a:off x="548640" y="5340096"/>
            <a:ext cx="384048" cy="384048"/>
          </a:xfrm>
          <a:prstGeom prst="ellipse">
            <a:avLst/>
          </a:prstGeom>
          <a:solidFill>
            <a:schemeClr val="accent2"/>
          </a:solidFill>
          <a:ln w="12700">
            <a:solidFill>
              <a:schemeClr val="accent2"/>
            </a:solidFill>
            <a:prstDash val="solid"/>
          </a:ln>
        </p:spPr>
        <p:txBody>
          <a:bodyPr/>
          <a:p/>
        </p:txBody>
      </p:sp>
      <p:sp>
        <p:nvSpPr>
          <p:cNvPr id="19" name="Text 15"/>
          <p:cNvSpPr txBox="1"/>
          <p:nvPr/>
        </p:nvSpPr>
        <p:spPr>
          <a:xfrm>
            <a:off x="548640" y="5340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6"/>
          <p:cNvSpPr txBox="1"/>
          <p:nvPr/>
        </p:nvSpPr>
        <p:spPr>
          <a:xfrm>
            <a:off x="1078992" y="5303520"/>
            <a:ext cx="10533888" cy="26517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4 — Escariar si lo exige el procedimiento. </a:t>
            </a:r>
            <a:pPr indent="0" marL="0">
              <a:lnSpc>
                <a:spcPct val="106000"/>
              </a:lnSpc>
              <a:buNone/>
            </a:pPr>
            <a:r>
              <a:rPr lang="en-US" sz="1150" dirty="0">
                <a:solidFill>
                  <a:schemeClr val="accent4"/>
                </a:solidFill>
              </a:rPr>
              <a:t>algunas guías se montan con sobremedida interior y se escarian al diámetro final una vez colocadas</a:t>
            </a:r>
            <a:endParaRPr lang="en-US" sz="1150" dirty="0"/>
          </a:p>
        </p:txBody>
      </p:sp>
      <p:sp>
        <p:nvSpPr>
          <p:cNvPr id="21" name="Shape 17"/>
          <p:cNvSpPr/>
          <p:nvPr/>
        </p:nvSpPr>
        <p:spPr>
          <a:xfrm>
            <a:off x="548640" y="5660136"/>
            <a:ext cx="384048" cy="384048"/>
          </a:xfrm>
          <a:prstGeom prst="ellipse">
            <a:avLst/>
          </a:prstGeom>
          <a:solidFill>
            <a:schemeClr val="accent2"/>
          </a:solidFill>
          <a:ln w="12700">
            <a:solidFill>
              <a:schemeClr val="accent2"/>
            </a:solidFill>
            <a:prstDash val="solid"/>
          </a:ln>
        </p:spPr>
        <p:txBody>
          <a:bodyPr/>
          <a:p/>
        </p:txBody>
      </p:sp>
      <p:sp>
        <p:nvSpPr>
          <p:cNvPr id="22" name="Text 18"/>
          <p:cNvSpPr txBox="1"/>
          <p:nvPr/>
        </p:nvSpPr>
        <p:spPr>
          <a:xfrm>
            <a:off x="548640" y="5660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19"/>
          <p:cNvSpPr txBox="1"/>
          <p:nvPr/>
        </p:nvSpPr>
        <p:spPr>
          <a:xfrm>
            <a:off x="1078992" y="5623560"/>
            <a:ext cx="10533888" cy="26517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5 — Volver a medir el juego. </a:t>
            </a:r>
            <a:pPr indent="0" marL="0">
              <a:lnSpc>
                <a:spcPct val="106000"/>
              </a:lnSpc>
              <a:buNone/>
            </a:pPr>
            <a:r>
              <a:rPr lang="en-US" sz="1150" dirty="0">
                <a:solidFill>
                  <a:schemeClr val="accent4"/>
                </a:solidFill>
              </a:rPr>
              <a:t>con la guía nueva montada y la válvula que le corresponde, para confirmar que está dentro del valor del manual</a:t>
            </a:r>
            <a:endParaRPr lang="en-US" sz="1150" dirty="0"/>
          </a:p>
        </p:txBody>
      </p:sp>
      <p:sp>
        <p:nvSpPr>
          <p:cNvPr id="24" name="Shape 20"/>
          <p:cNvSpPr/>
          <p:nvPr/>
        </p:nvSpPr>
        <p:spPr>
          <a:xfrm>
            <a:off x="548640" y="5650992"/>
            <a:ext cx="11064240" cy="384048"/>
          </a:xfrm>
          <a:prstGeom prst="roundRect">
            <a:avLst>
              <a:gd name="adj" fmla="val 14286"/>
            </a:avLst>
          </a:prstGeom>
          <a:solidFill>
            <a:schemeClr val="bg2"/>
          </a:solidFill>
          <a:ln w="12700">
            <a:solidFill>
              <a:schemeClr val="bg2"/>
            </a:solidFill>
            <a:prstDash val="solid"/>
          </a:ln>
        </p:spPr>
        <p:txBody>
          <a:bodyPr/>
          <a:p/>
        </p:txBody>
      </p:sp>
      <p:sp>
        <p:nvSpPr>
          <p:cNvPr id="25" name="Shape 21"/>
          <p:cNvSpPr/>
          <p:nvPr/>
        </p:nvSpPr>
        <p:spPr>
          <a:xfrm>
            <a:off x="786384" y="5660136"/>
            <a:ext cx="365760" cy="365760"/>
          </a:xfrm>
          <a:prstGeom prst="ellipse">
            <a:avLst/>
          </a:prstGeom>
          <a:solidFill>
            <a:schemeClr val="accent1"/>
          </a:solidFill>
          <a:ln w="12700">
            <a:solidFill>
              <a:schemeClr val="accent1"/>
            </a:solidFill>
            <a:prstDash val="solid"/>
          </a:ln>
        </p:spPr>
        <p:txBody>
          <a:bodyPr/>
          <a:p/>
        </p:txBody>
      </p:sp>
      <p:sp>
        <p:nvSpPr>
          <p:cNvPr id="26" name="Text 22"/>
          <p:cNvSpPr txBox="1"/>
          <p:nvPr/>
        </p:nvSpPr>
        <p:spPr>
          <a:xfrm>
            <a:off x="786384" y="5660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3"/>
          <p:cNvSpPr txBox="1"/>
          <p:nvPr/>
        </p:nvSpPr>
        <p:spPr>
          <a:xfrm>
            <a:off x="1298448" y="5742432"/>
            <a:ext cx="10058400" cy="201168"/>
          </a:xfrm>
          <a:prstGeom prst="rect">
            <a:avLst/>
          </a:prstGeom>
          <a:noFill/>
          <a:ln/>
        </p:spPr>
        <p:txBody>
          <a:bodyPr wrap="square" lIns="0" tIns="0" rIns="0" bIns="0" rtlCol="0" anchor="ctr"/>
          <a:lstStyle/>
          <a:p>
            <a:pPr indent="0" marL="0">
              <a:lnSpc>
                <a:spcPct val="106000"/>
              </a:lnSpc>
              <a:buNone/>
            </a:pPr>
            <a:r>
              <a:rPr lang="en-US" sz="1100" dirty="0">
                <a:solidFill>
                  <a:schemeClr val="tx1"/>
                </a:solidFill>
              </a:rPr>
              <a:t>La profundidad de montaje no es un detalle: si la guía queda demasiado hundida o demasiado salida, el sello de vástago no apoya correctamente y el motor consumirá aceite aunque todo lo demás esté bien.</a:t>
            </a:r>
            <a:endParaRPr lang="en-US" sz="1100" dirty="0"/>
          </a:p>
        </p:txBody>
      </p:sp>
      <p:sp>
        <p:nvSpPr>
          <p:cNvPr id="28"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 · actividad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asientos, ángulos y esmerilado</a:t>
            </a:r>
            <a:endParaRPr lang="en-US" sz="3200" dirty="0"/>
          </a:p>
        </p:txBody>
      </p:sp>
      <p:sp>
        <p:nvSpPr>
          <p:cNvPr id="3" name="marco_figura"/>
          <p:cNvSpPr/>
          <p:nvPr/>
        </p:nvSpPr>
        <p:spPr>
          <a:xfrm>
            <a:off x="548640" y="1371600"/>
            <a:ext cx="3657600" cy="2532888"/>
          </a:xfrm>
          <a:prstGeom prst="roundRect">
            <a:avLst>
              <a:gd name="adj" fmla="val 2166"/>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u_asiento_angulos.jpg">    </p:cNvPr>
          <p:cNvPicPr>
            <a:picLocks noChangeAspect="1"/>
          </p:cNvPicPr>
          <p:nvPr/>
        </p:nvPicPr>
        <p:blipFill>
          <a:blip r:embed="rId1"/>
          <a:srcRect l="0" r="0" t="0" b="0"/>
          <a:stretch/>
        </p:blipFill>
        <p:spPr>
          <a:xfrm>
            <a:off x="658368" y="1481328"/>
            <a:ext cx="3438144" cy="1929384"/>
          </a:xfrm>
          <a:prstGeom prst="rect">
            <a:avLst/>
          </a:prstGeom>
        </p:spPr>
      </p:pic>
      <p:sp>
        <p:nvSpPr>
          <p:cNvPr id="5" name="Text 2"/>
          <p:cNvSpPr txBox="1"/>
          <p:nvPr/>
        </p:nvSpPr>
        <p:spPr>
          <a:xfrm>
            <a:off x="658368" y="352044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75. </a:t>
            </a:r>
            <a:pPr indent="0" marL="0">
              <a:lnSpc>
                <a:spcPct val="102000"/>
              </a:lnSpc>
              <a:buNone/>
            </a:pPr>
            <a:r>
              <a:rPr lang="en-US" sz="1000" dirty="0">
                <a:solidFill>
                  <a:schemeClr val="accent4"/>
                </a:solidFill>
              </a:rPr>
              <a:t>Ángulos de corrección y anchura de la franja de contacto. Adaptado de Escudero, S., González, J., y Rivas, J. L. (2024). Cuaderno de prácticas: motores (1.ª ed.). Macmillan Iberia.</a:t>
            </a:r>
            <a:endParaRPr lang="en-US" sz="1000" dirty="0"/>
          </a:p>
        </p:txBody>
      </p:sp>
      <p:sp>
        <p:nvSpPr>
          <p:cNvPr id="6" name="marco_figura"/>
          <p:cNvSpPr/>
          <p:nvPr/>
        </p:nvSpPr>
        <p:spPr>
          <a:xfrm>
            <a:off x="4480560" y="1371600"/>
            <a:ext cx="3474720" cy="2532888"/>
          </a:xfrm>
          <a:prstGeom prst="roundRect">
            <a:avLst>
              <a:gd name="adj" fmla="val 2166"/>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cu_asiento_angulos2.jpg">    </p:cNvPr>
          <p:cNvPicPr>
            <a:picLocks noChangeAspect="1"/>
          </p:cNvPicPr>
          <p:nvPr/>
        </p:nvPicPr>
        <p:blipFill>
          <a:blip r:embed="rId2"/>
          <a:srcRect l="0" r="0" t="0" b="0"/>
          <a:stretch/>
        </p:blipFill>
        <p:spPr>
          <a:xfrm>
            <a:off x="4590288" y="1481328"/>
            <a:ext cx="3255264" cy="1929384"/>
          </a:xfrm>
          <a:prstGeom prst="rect">
            <a:avLst/>
          </a:prstGeom>
        </p:spPr>
      </p:pic>
      <p:sp>
        <p:nvSpPr>
          <p:cNvPr id="8" name="Text 4"/>
          <p:cNvSpPr txBox="1"/>
          <p:nvPr/>
        </p:nvSpPr>
        <p:spPr>
          <a:xfrm>
            <a:off x="4590288" y="352044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76. </a:t>
            </a:r>
            <a:pPr indent="0" marL="0">
              <a:lnSpc>
                <a:spcPct val="102000"/>
              </a:lnSpc>
              <a:buNone/>
            </a:pPr>
            <a:r>
              <a:rPr lang="en-US" sz="1000" dirty="0">
                <a:solidFill>
                  <a:schemeClr val="accent4"/>
                </a:solidFill>
              </a:rPr>
              <a:t>Corrección del ancho de contacto mediante el ángulo superior. Adaptado de Escudero, S., González, J., y Rivas, J. L. (2024). Cuaderno de prácticas: motores (1.ª ed.). Macmillan Iberia.</a:t>
            </a:r>
            <a:endParaRPr lang="en-US" sz="1000" dirty="0"/>
          </a:p>
        </p:txBody>
      </p:sp>
      <p:sp>
        <p:nvSpPr>
          <p:cNvPr id="9" name="marco_figura"/>
          <p:cNvSpPr/>
          <p:nvPr/>
        </p:nvSpPr>
        <p:spPr>
          <a:xfrm>
            <a:off x="8229600" y="1371600"/>
            <a:ext cx="3383280" cy="2532888"/>
          </a:xfrm>
          <a:prstGeom prst="roundRect">
            <a:avLst>
              <a:gd name="adj" fmla="val 2166"/>
            </a:avLst>
          </a:prstGeom>
          <a:solidFill>
            <a:schemeClr val="bg2"/>
          </a:solidFill>
          <a:ln w="12700">
            <a:solidFill>
              <a:schemeClr val="bg2"/>
            </a:solidFill>
            <a:prstDash val="solid"/>
          </a:ln>
        </p:spPr>
        <p:txBody>
          <a:bodyPr/>
          <a:p/>
        </p:txBody>
      </p:sp>
      <p:pic>
        <p:nvPicPr>
          <p:cNvPr id="10" name="figura" descr="/tmp/claude-0/-home-claude/ae7ea666-008e-5687-a756-06b9100bd0c6/scratchpad/sfm/u3/media/cu_esmerilado.jpg">    </p:cNvPr>
          <p:cNvPicPr>
            <a:picLocks noChangeAspect="1"/>
          </p:cNvPicPr>
          <p:nvPr/>
        </p:nvPicPr>
        <p:blipFill>
          <a:blip r:embed="rId3"/>
          <a:srcRect l="0" r="0" t="0" b="0"/>
          <a:stretch/>
        </p:blipFill>
        <p:spPr>
          <a:xfrm>
            <a:off x="8339328" y="1481328"/>
            <a:ext cx="3163824" cy="1929384"/>
          </a:xfrm>
          <a:prstGeom prst="rect">
            <a:avLst/>
          </a:prstGeom>
        </p:spPr>
      </p:pic>
      <p:sp>
        <p:nvSpPr>
          <p:cNvPr id="11" name="Text 6"/>
          <p:cNvSpPr txBox="1"/>
          <p:nvPr/>
        </p:nvSpPr>
        <p:spPr>
          <a:xfrm>
            <a:off x="8339328" y="352044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77. </a:t>
            </a:r>
            <a:pPr indent="0" marL="0">
              <a:lnSpc>
                <a:spcPct val="102000"/>
              </a:lnSpc>
              <a:buNone/>
            </a:pPr>
            <a:r>
              <a:rPr lang="en-US" sz="1000" dirty="0">
                <a:solidFill>
                  <a:schemeClr val="accent4"/>
                </a:solidFill>
              </a:rPr>
              <a:t>Esmerilado de la válvula sobre su propio asiento. Adaptado de Escudero, S., González, J., y Rivas, J. L. (2024). Cuaderno de prácticas: motores (1.ª ed.). Macmillan Iberia.</a:t>
            </a:r>
            <a:endParaRPr lang="en-US" sz="1000" dirty="0"/>
          </a:p>
        </p:txBody>
      </p:sp>
      <p:sp>
        <p:nvSpPr>
          <p:cNvPr id="12" name="Shape 7"/>
          <p:cNvSpPr/>
          <p:nvPr/>
        </p:nvSpPr>
        <p:spPr>
          <a:xfrm>
            <a:off x="548640" y="3877056"/>
            <a:ext cx="384048" cy="384048"/>
          </a:xfrm>
          <a:prstGeom prst="ellipse">
            <a:avLst/>
          </a:prstGeom>
          <a:solidFill>
            <a:schemeClr val="accent2"/>
          </a:solidFill>
          <a:ln w="12700">
            <a:solidFill>
              <a:schemeClr val="accent2"/>
            </a:solidFill>
            <a:prstDash val="solid"/>
          </a:ln>
        </p:spPr>
        <p:txBody>
          <a:bodyPr/>
          <a:p/>
        </p:txBody>
      </p:sp>
      <p:sp>
        <p:nvSpPr>
          <p:cNvPr id="13" name="Text 8"/>
          <p:cNvSpPr txBox="1"/>
          <p:nvPr/>
        </p:nvSpPr>
        <p:spPr>
          <a:xfrm>
            <a:off x="548640" y="3877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9"/>
          <p:cNvSpPr txBox="1"/>
          <p:nvPr/>
        </p:nvSpPr>
        <p:spPr>
          <a:xfrm>
            <a:off x="1078992" y="3840480"/>
            <a:ext cx="10533888" cy="28346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El ángulo de trabajo. </a:t>
            </a:r>
            <a:pPr indent="0" marL="0">
              <a:lnSpc>
                <a:spcPct val="106000"/>
              </a:lnSpc>
              <a:buNone/>
            </a:pPr>
            <a:r>
              <a:rPr lang="en-US" sz="1100" dirty="0">
                <a:solidFill>
                  <a:schemeClr val="accent4"/>
                </a:solidFill>
              </a:rPr>
              <a:t>la cara de la válvula y el asiento se mecanizan a un ángulo determinado, habitualmente de 45 grados, que da el manual</a:t>
            </a:r>
            <a:endParaRPr lang="en-US" sz="1100" dirty="0"/>
          </a:p>
        </p:txBody>
      </p:sp>
      <p:sp>
        <p:nvSpPr>
          <p:cNvPr id="15" name="Shape 10"/>
          <p:cNvSpPr/>
          <p:nvPr/>
        </p:nvSpPr>
        <p:spPr>
          <a:xfrm>
            <a:off x="548640" y="4215384"/>
            <a:ext cx="384048" cy="384048"/>
          </a:xfrm>
          <a:prstGeom prst="ellipse">
            <a:avLst/>
          </a:prstGeom>
          <a:solidFill>
            <a:schemeClr val="accent2"/>
          </a:solidFill>
          <a:ln w="12700">
            <a:solidFill>
              <a:schemeClr val="accent2"/>
            </a:solidFill>
            <a:prstDash val="solid"/>
          </a:ln>
        </p:spPr>
        <p:txBody>
          <a:bodyPr/>
          <a:p/>
        </p:txBody>
      </p:sp>
      <p:sp>
        <p:nvSpPr>
          <p:cNvPr id="16" name="Text 11"/>
          <p:cNvSpPr txBox="1"/>
          <p:nvPr/>
        </p:nvSpPr>
        <p:spPr>
          <a:xfrm>
            <a:off x="548640" y="4215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2"/>
          <p:cNvSpPr txBox="1"/>
          <p:nvPr/>
        </p:nvSpPr>
        <p:spPr>
          <a:xfrm>
            <a:off x="1078992" y="4178808"/>
            <a:ext cx="10533888" cy="28346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Los ángulos de corrección. </a:t>
            </a:r>
            <a:pPr indent="0" marL="0">
              <a:lnSpc>
                <a:spcPct val="106000"/>
              </a:lnSpc>
              <a:buNone/>
            </a:pPr>
            <a:r>
              <a:rPr lang="en-US" sz="1100" dirty="0">
                <a:solidFill>
                  <a:schemeClr val="accent4"/>
                </a:solidFill>
              </a:rPr>
              <a:t>ángulos adicionales por encima y por debajo del de trabajo permiten estrechar la franja de contacto y situarla donde debe</a:t>
            </a:r>
            <a:endParaRPr lang="en-US" sz="1100" dirty="0"/>
          </a:p>
        </p:txBody>
      </p:sp>
      <p:sp>
        <p:nvSpPr>
          <p:cNvPr id="18" name="Shape 13"/>
          <p:cNvSpPr/>
          <p:nvPr/>
        </p:nvSpPr>
        <p:spPr>
          <a:xfrm>
            <a:off x="548640" y="4553712"/>
            <a:ext cx="384048" cy="384048"/>
          </a:xfrm>
          <a:prstGeom prst="ellipse">
            <a:avLst/>
          </a:prstGeom>
          <a:solidFill>
            <a:schemeClr val="accent2"/>
          </a:solidFill>
          <a:ln w="12700">
            <a:solidFill>
              <a:schemeClr val="accent2"/>
            </a:solidFill>
            <a:prstDash val="solid"/>
          </a:ln>
        </p:spPr>
        <p:txBody>
          <a:bodyPr/>
          <a:p/>
        </p:txBody>
      </p:sp>
      <p:sp>
        <p:nvSpPr>
          <p:cNvPr id="19" name="Text 14"/>
          <p:cNvSpPr txBox="1"/>
          <p:nvPr/>
        </p:nvSpPr>
        <p:spPr>
          <a:xfrm>
            <a:off x="548640" y="4553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5"/>
          <p:cNvSpPr txBox="1"/>
          <p:nvPr/>
        </p:nvSpPr>
        <p:spPr>
          <a:xfrm>
            <a:off x="1078992" y="4517136"/>
            <a:ext cx="10533888" cy="28346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Dónde debe quedar la franja. </a:t>
            </a:r>
            <a:pPr indent="0" marL="0">
              <a:lnSpc>
                <a:spcPct val="106000"/>
              </a:lnSpc>
              <a:buNone/>
            </a:pPr>
            <a:r>
              <a:rPr lang="en-US" sz="1100" dirty="0">
                <a:solidFill>
                  <a:schemeClr val="accent4"/>
                </a:solidFill>
              </a:rPr>
              <a:t>centrada en la cara de la válvula, uniforme en todo el contorno y con el ancho que indica el manual</a:t>
            </a:r>
            <a:endParaRPr lang="en-US" sz="1100" dirty="0"/>
          </a:p>
        </p:txBody>
      </p:sp>
      <p:sp>
        <p:nvSpPr>
          <p:cNvPr id="21" name="Shape 16"/>
          <p:cNvSpPr/>
          <p:nvPr/>
        </p:nvSpPr>
        <p:spPr>
          <a:xfrm>
            <a:off x="548640" y="4892040"/>
            <a:ext cx="384048" cy="384048"/>
          </a:xfrm>
          <a:prstGeom prst="ellipse">
            <a:avLst/>
          </a:prstGeom>
          <a:solidFill>
            <a:schemeClr val="accent2"/>
          </a:solidFill>
          <a:ln w="12700">
            <a:solidFill>
              <a:schemeClr val="accent2"/>
            </a:solidFill>
            <a:prstDash val="solid"/>
          </a:ln>
        </p:spPr>
        <p:txBody>
          <a:bodyPr/>
          <a:p/>
        </p:txBody>
      </p:sp>
      <p:sp>
        <p:nvSpPr>
          <p:cNvPr id="22" name="Text 17"/>
          <p:cNvSpPr txBox="1"/>
          <p:nvPr/>
        </p:nvSpPr>
        <p:spPr>
          <a:xfrm>
            <a:off x="548640" y="4892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8"/>
          <p:cNvSpPr txBox="1"/>
          <p:nvPr/>
        </p:nvSpPr>
        <p:spPr>
          <a:xfrm>
            <a:off x="1078992" y="4855464"/>
            <a:ext cx="10533888" cy="28346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Cuándo basta el esmerilado. </a:t>
            </a:r>
            <a:pPr indent="0" marL="0">
              <a:lnSpc>
                <a:spcPct val="106000"/>
              </a:lnSpc>
              <a:buNone/>
            </a:pPr>
            <a:r>
              <a:rPr lang="en-US" sz="1100" dirty="0">
                <a:solidFill>
                  <a:schemeClr val="accent4"/>
                </a:solidFill>
              </a:rPr>
              <a:t>cuando el daño es superficial; si la cara está quemada o el asiento comido, hace falta rectificado o sustitución</a:t>
            </a:r>
            <a:endParaRPr lang="en-US" sz="1100" dirty="0"/>
          </a:p>
        </p:txBody>
      </p:sp>
      <p:sp>
        <p:nvSpPr>
          <p:cNvPr id="24" name="Shape 19"/>
          <p:cNvSpPr/>
          <p:nvPr/>
        </p:nvSpPr>
        <p:spPr>
          <a:xfrm>
            <a:off x="548640" y="5230368"/>
            <a:ext cx="384048" cy="384048"/>
          </a:xfrm>
          <a:prstGeom prst="ellipse">
            <a:avLst/>
          </a:prstGeom>
          <a:solidFill>
            <a:schemeClr val="accent2"/>
          </a:solidFill>
          <a:ln w="12700">
            <a:solidFill>
              <a:schemeClr val="accent2"/>
            </a:solidFill>
            <a:prstDash val="solid"/>
          </a:ln>
        </p:spPr>
        <p:txBody>
          <a:bodyPr/>
          <a:p/>
        </p:txBody>
      </p:sp>
      <p:sp>
        <p:nvSpPr>
          <p:cNvPr id="25" name="Text 20"/>
          <p:cNvSpPr txBox="1"/>
          <p:nvPr/>
        </p:nvSpPr>
        <p:spPr>
          <a:xfrm>
            <a:off x="548640" y="5230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6" name="Text 21"/>
          <p:cNvSpPr txBox="1"/>
          <p:nvPr/>
        </p:nvSpPr>
        <p:spPr>
          <a:xfrm>
            <a:off x="1078992" y="5193792"/>
            <a:ext cx="10533888" cy="28346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Cómo se verifica el resultado. </a:t>
            </a:r>
            <a:pPr indent="0" marL="0">
              <a:lnSpc>
                <a:spcPct val="106000"/>
              </a:lnSpc>
              <a:buNone/>
            </a:pPr>
            <a:r>
              <a:rPr lang="en-US" sz="1100" dirty="0">
                <a:solidFill>
                  <a:schemeClr val="accent4"/>
                </a:solidFill>
              </a:rPr>
              <a:t>por la franja mate continua que deja el esmerilado, y por la prueba de estanqueidad con líquido</a:t>
            </a:r>
            <a:endParaRPr lang="en-US" sz="1100" dirty="0"/>
          </a:p>
        </p:txBody>
      </p:sp>
      <p:sp>
        <p:nvSpPr>
          <p:cNvPr id="27" name="Shape 22"/>
          <p:cNvSpPr/>
          <p:nvPr/>
        </p:nvSpPr>
        <p:spPr>
          <a:xfrm>
            <a:off x="548640" y="5650992"/>
            <a:ext cx="11064240" cy="384048"/>
          </a:xfrm>
          <a:prstGeom prst="roundRect">
            <a:avLst>
              <a:gd name="adj" fmla="val 14286"/>
            </a:avLst>
          </a:prstGeom>
          <a:solidFill>
            <a:schemeClr val="bg2"/>
          </a:solidFill>
          <a:ln w="12700">
            <a:solidFill>
              <a:schemeClr val="bg2"/>
            </a:solidFill>
            <a:prstDash val="solid"/>
          </a:ln>
        </p:spPr>
        <p:txBody>
          <a:bodyPr/>
          <a:p/>
        </p:txBody>
      </p:sp>
      <p:sp>
        <p:nvSpPr>
          <p:cNvPr id="28" name="Shape 23"/>
          <p:cNvSpPr/>
          <p:nvPr/>
        </p:nvSpPr>
        <p:spPr>
          <a:xfrm>
            <a:off x="786384" y="5660136"/>
            <a:ext cx="365760" cy="365760"/>
          </a:xfrm>
          <a:prstGeom prst="ellipse">
            <a:avLst/>
          </a:prstGeom>
          <a:solidFill>
            <a:schemeClr val="accent1"/>
          </a:solidFill>
          <a:ln w="12700">
            <a:solidFill>
              <a:schemeClr val="accent1"/>
            </a:solidFill>
            <a:prstDash val="solid"/>
          </a:ln>
        </p:spPr>
        <p:txBody>
          <a:bodyPr/>
          <a:p/>
        </p:txBody>
      </p:sp>
      <p:sp>
        <p:nvSpPr>
          <p:cNvPr id="29" name="Text 24"/>
          <p:cNvSpPr txBox="1"/>
          <p:nvPr/>
        </p:nvSpPr>
        <p:spPr>
          <a:xfrm>
            <a:off x="786384" y="5660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5"/>
          <p:cNvSpPr txBox="1"/>
          <p:nvPr/>
        </p:nvSpPr>
        <p:spPr>
          <a:xfrm>
            <a:off x="1298448" y="5742432"/>
            <a:ext cx="10058400" cy="201168"/>
          </a:xfrm>
          <a:prstGeom prst="rect">
            <a:avLst/>
          </a:prstGeom>
          <a:noFill/>
          <a:ln/>
        </p:spPr>
        <p:txBody>
          <a:bodyPr wrap="square" lIns="0" tIns="0" rIns="0" bIns="0" rtlCol="0" anchor="ctr"/>
          <a:lstStyle/>
          <a:p>
            <a:pPr indent="0" marL="0">
              <a:lnSpc>
                <a:spcPct val="106000"/>
              </a:lnSpc>
              <a:buNone/>
            </a:pPr>
            <a:r>
              <a:rPr lang="en-US" sz="1100" dirty="0">
                <a:solidFill>
                  <a:schemeClr val="tx1"/>
                </a:solidFill>
              </a:rPr>
              <a:t>Después del esmerilado, limpieza exhaustiva: cualquier resto de pasta abrasiva que quede en el conducto, en la guía o en el vástago actuará como lija dentro del motor. Es un error que destruye motores recién reparados.</a:t>
            </a:r>
            <a:endParaRPr lang="en-US" sz="1100" dirty="0"/>
          </a:p>
        </p:txBody>
      </p:sp>
      <p:sp>
        <p:nvSpPr>
          <p:cNvPr id="31"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 · actividad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árbol de levas y limpieza del cabezote</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u_arbol_micrometro.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78. </a:t>
            </a:r>
            <a:pPr indent="0" marL="0">
              <a:lnSpc>
                <a:spcPct val="102000"/>
              </a:lnSpc>
              <a:buNone/>
            </a:pPr>
            <a:r>
              <a:rPr lang="en-US" sz="1000" dirty="0">
                <a:solidFill>
                  <a:schemeClr val="accent4"/>
                </a:solidFill>
              </a:rPr>
              <a:t>Medición de la altura de leva con micrómetro de exteriores. Adaptado de Escudero, S., González, J., y Rivas, J. L. (2024). Cuaderno de prácticas: motores (1.ª ed.). Macmillan Iberia.</a:t>
            </a:r>
            <a:endParaRPr lang="en-US" sz="1000" dirty="0"/>
          </a:p>
        </p:txBody>
      </p:sp>
      <p:sp>
        <p:nvSpPr>
          <p:cNvPr id="6" name="marco_figura"/>
          <p:cNvSpPr/>
          <p:nvPr/>
        </p:nvSpPr>
        <p:spPr>
          <a:xfrm>
            <a:off x="5852160" y="1371600"/>
            <a:ext cx="5760720" cy="3035808"/>
          </a:xfrm>
          <a:prstGeom prst="roundRect">
            <a:avLst>
              <a:gd name="adj" fmla="val 1807"/>
            </a:avLst>
          </a:prstGeom>
          <a:solidFill>
            <a:schemeClr val="bg2"/>
          </a:solidFill>
          <a:ln w="12700">
            <a:solidFill>
              <a:schemeClr val="bg2"/>
            </a:solidFill>
            <a:prstDash val="solid"/>
          </a:ln>
        </p:spPr>
        <p:txBody>
          <a:bodyPr/>
          <a:p/>
        </p:txBody>
      </p:sp>
      <p:pic>
        <p:nvPicPr>
          <p:cNvPr id="7" name="figura" descr="/tmp/claude-0/-home-claude/ae7ea666-008e-5687-a756-06b9100bd0c6/scratchpad/sfm/u3/media/cu_culata_limpieza.jpg">    </p:cNvPr>
          <p:cNvPicPr>
            <a:picLocks noChangeAspect="1"/>
          </p:cNvPicPr>
          <p:nvPr/>
        </p:nvPicPr>
        <p:blipFill>
          <a:blip r:embed="rId2"/>
          <a:srcRect l="0" r="0" t="0" b="0"/>
          <a:stretch/>
        </p:blipFill>
        <p:spPr>
          <a:xfrm>
            <a:off x="5961888" y="1481328"/>
            <a:ext cx="5541264" cy="2432304"/>
          </a:xfrm>
          <a:prstGeom prst="rect">
            <a:avLst/>
          </a:prstGeom>
        </p:spPr>
      </p:pic>
      <p:sp>
        <p:nvSpPr>
          <p:cNvPr id="8" name="Text 4"/>
          <p:cNvSpPr txBox="1"/>
          <p:nvPr/>
        </p:nvSpPr>
        <p:spPr>
          <a:xfrm>
            <a:off x="5961888" y="4023360"/>
            <a:ext cx="5541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79. </a:t>
            </a:r>
            <a:pPr indent="0" marL="0">
              <a:lnSpc>
                <a:spcPct val="102000"/>
              </a:lnSpc>
              <a:buNone/>
            </a:pPr>
            <a:r>
              <a:rPr lang="en-US" sz="1000" dirty="0">
                <a:solidFill>
                  <a:schemeClr val="accent4"/>
                </a:solidFill>
              </a:rPr>
              <a:t>Limpieza del cabezote y de sus conductos con aire a presión. Adaptado de Escudero, S., González, J., y Rivas, J. L. (2024). Cuaderno de prácticas: motores (1.ª ed.). Macmillan Iberia.</a:t>
            </a:r>
            <a:endParaRPr lang="en-US" sz="10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11064240" cy="914400"/>
        </p:xfrm>
        <a:graphic>
          <a:graphicData uri="http://schemas.openxmlformats.org/drawingml/2006/table">
            <a:tbl>
              <a:tblPr/>
              <a:tblGrid>
                <a:gridCol w="2926080"/>
                <a:gridCol w="4023360"/>
                <a:gridCol w="4114800"/>
              </a:tblGrid>
              <a:tr h="384048">
                <a:tc>
                  <a:txBody>
                    <a:bodyPr/>
                    <a:lstStyle/>
                    <a:p>
                      <a:pPr indent="0" marL="0">
                        <a:buNone/>
                      </a:pPr>
                      <a:r>
                        <a:rPr lang="en-US" sz="1300" b="1" dirty="0">
                          <a:solidFill>
                            <a:srgbClr val="FFFFFF"/>
                          </a:solidFill>
                        </a:rPr>
                        <a:t>Comprobación del árbol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Procedimiento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Criterio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00" b="1" dirty="0">
                          <a:solidFill>
                            <a:schemeClr val="tx1"/>
                          </a:solidFill>
                        </a:rPr>
                        <a:t>Altura de cada leva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Micrómetro entre vértice y base, leva por leva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Dentro del valor del manual y sin diferencias apreciables entre levas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Diámetro de los muñones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Micrómetro en dos direcciones perpendiculares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Sin ovalización por encima del límite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Rectitud</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Apoyado en los extremos, comparador en el muñón central, girando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Flexión dentro del valor admitido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Juego axial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Comparador en el extremo, desplazando el árbol en su eje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Dentro del rango del manual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0" name="Shape 5"/>
          <p:cNvSpPr/>
          <p:nvPr/>
        </p:nvSpPr>
        <p:spPr>
          <a:xfrm>
            <a:off x="548640" y="60350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11" name="Shape 6"/>
          <p:cNvSpPr/>
          <p:nvPr/>
        </p:nvSpPr>
        <p:spPr>
          <a:xfrm>
            <a:off x="786384" y="6057900"/>
            <a:ext cx="365760" cy="365760"/>
          </a:xfrm>
          <a:prstGeom prst="ellipse">
            <a:avLst/>
          </a:prstGeom>
          <a:solidFill>
            <a:schemeClr val="accent1"/>
          </a:solidFill>
          <a:ln w="12700">
            <a:solidFill>
              <a:schemeClr val="accent1"/>
            </a:solidFill>
            <a:prstDash val="solid"/>
          </a:ln>
        </p:spPr>
        <p:txBody>
          <a:bodyPr/>
          <a:p/>
        </p:txBody>
      </p:sp>
      <p:sp>
        <p:nvSpPr>
          <p:cNvPr id="12" name="Text 7"/>
          <p:cNvSpPr txBox="1"/>
          <p:nvPr/>
        </p:nvSpPr>
        <p:spPr>
          <a:xfrm>
            <a:off x="786384" y="60579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3" name="Text 8"/>
          <p:cNvSpPr txBox="1"/>
          <p:nvPr/>
        </p:nvSpPr>
        <p:spPr>
          <a:xfrm>
            <a:off x="1298448" y="61264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La limpieza con aire a presión se hace con gafas y sin dirigir nunca el chorro hacia otra persona. Todos los conductos de aceite del cabezote deben quedar libres: un conducto obstruido deja sin lubricación a un apoyo del árbol.</a:t>
            </a:r>
            <a:endParaRPr lang="en-US" sz="1150" dirty="0"/>
          </a:p>
        </p:txBody>
      </p:sp>
      <p:sp>
        <p:nvSpPr>
          <p:cNvPr id="14" name="Text 9"/>
          <p:cNvSpPr txBox="1"/>
          <p:nvPr/>
        </p:nvSpPr>
        <p:spPr>
          <a:xfrm>
            <a:off x="548640" y="6492240"/>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 · actividad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orden de apriete y reglaje final</a:t>
            </a:r>
            <a:endParaRPr lang="en-US" sz="3200" dirty="0"/>
          </a:p>
        </p:txBody>
      </p:sp>
      <p:sp>
        <p:nvSpPr>
          <p:cNvPr id="3" name="marco_figura"/>
          <p:cNvSpPr/>
          <p:nvPr/>
        </p:nvSpPr>
        <p:spPr>
          <a:xfrm>
            <a:off x="548640" y="1371600"/>
            <a:ext cx="5486400" cy="3127248"/>
          </a:xfrm>
          <a:prstGeom prst="roundRect">
            <a:avLst>
              <a:gd name="adj" fmla="val 1754"/>
            </a:avLst>
          </a:prstGeom>
          <a:solidFill>
            <a:schemeClr val="bg2"/>
          </a:solidFill>
          <a:ln w="12700">
            <a:solidFill>
              <a:schemeClr val="bg2"/>
            </a:solidFill>
            <a:prstDash val="solid"/>
          </a:ln>
        </p:spPr>
        <p:txBody>
          <a:bodyPr/>
          <a:p/>
        </p:txBody>
      </p:sp>
      <p:pic>
        <p:nvPicPr>
          <p:cNvPr id="4" name="figura" descr="/tmp/claude-0/-home-claude/ae7ea666-008e-5687-a756-06b9100bd0c6/scratchpad/sfm/u3/media/cu_apriete_orden.jpg">    </p:cNvPr>
          <p:cNvPicPr>
            <a:picLocks noChangeAspect="1"/>
          </p:cNvPicPr>
          <p:nvPr/>
        </p:nvPicPr>
        <p:blipFill>
          <a:blip r:embed="rId1"/>
          <a:srcRect l="0" r="0" t="0" b="0"/>
          <a:stretch/>
        </p:blipFill>
        <p:spPr>
          <a:xfrm>
            <a:off x="658368" y="1481328"/>
            <a:ext cx="5266944" cy="2523744"/>
          </a:xfrm>
          <a:prstGeom prst="rect">
            <a:avLst/>
          </a:prstGeom>
        </p:spPr>
      </p:pic>
      <p:sp>
        <p:nvSpPr>
          <p:cNvPr id="5" name="Text 2"/>
          <p:cNvSpPr txBox="1"/>
          <p:nvPr/>
        </p:nvSpPr>
        <p:spPr>
          <a:xfrm>
            <a:off x="658368" y="4114800"/>
            <a:ext cx="52669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80. </a:t>
            </a:r>
            <a:pPr indent="0" marL="0">
              <a:lnSpc>
                <a:spcPct val="102000"/>
              </a:lnSpc>
              <a:buNone/>
            </a:pPr>
            <a:r>
              <a:rPr lang="en-US" sz="1000" dirty="0">
                <a:solidFill>
                  <a:schemeClr val="accent4"/>
                </a:solidFill>
              </a:rPr>
              <a:t>Orden de apriete del cabezote: en espiral, del centro hacia los extremos. Adaptado de Escudero, S., González, J., y Rivas, J. L. (2024). Cuaderno de prácticas: motores (1.ª ed.). Macmillan Iberia.</a:t>
            </a:r>
            <a:endParaRPr lang="en-US" sz="1000" dirty="0"/>
          </a:p>
        </p:txBody>
      </p:sp>
      <p:sp>
        <p:nvSpPr>
          <p:cNvPr id="6" name="Shape 3"/>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839712" y="1463040"/>
            <a:ext cx="4773168" cy="64008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Por qué del centro hacia fuera. </a:t>
            </a:r>
            <a:pPr indent="0" marL="0">
              <a:lnSpc>
                <a:spcPct val="106000"/>
              </a:lnSpc>
              <a:buNone/>
            </a:pPr>
            <a:r>
              <a:rPr lang="en-US" sz="1100" dirty="0">
                <a:solidFill>
                  <a:schemeClr val="accent4"/>
                </a:solidFill>
              </a:rPr>
              <a:t>el apriete deforma elásticamente el cabezote; partir del centro reparte esa deformación de forma simétrica y asienta el empaque por igual</a:t>
            </a:r>
            <a:endParaRPr lang="en-US" sz="1100" dirty="0"/>
          </a:p>
        </p:txBody>
      </p:sp>
      <p:sp>
        <p:nvSpPr>
          <p:cNvPr id="9" name="Shape 6"/>
          <p:cNvSpPr/>
          <p:nvPr/>
        </p:nvSpPr>
        <p:spPr>
          <a:xfrm>
            <a:off x="6309360" y="219456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309360"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839712" y="2157984"/>
            <a:ext cx="4773168" cy="64008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Por qué en varias pasadas. </a:t>
            </a:r>
            <a:pPr indent="0" marL="0">
              <a:lnSpc>
                <a:spcPct val="106000"/>
              </a:lnSpc>
              <a:buNone/>
            </a:pPr>
            <a:r>
              <a:rPr lang="en-US" sz="1100" dirty="0">
                <a:solidFill>
                  <a:schemeClr val="accent4"/>
                </a:solidFill>
              </a:rPr>
              <a:t>se alcanza el par final en dos o tres pasadas sucesivas, para que ningún tornillo quede apretado del todo mientras otros están flojos</a:t>
            </a:r>
            <a:endParaRPr lang="en-US" sz="1100" dirty="0"/>
          </a:p>
        </p:txBody>
      </p:sp>
      <p:sp>
        <p:nvSpPr>
          <p:cNvPr id="12" name="Shape 9"/>
          <p:cNvSpPr/>
          <p:nvPr/>
        </p:nvSpPr>
        <p:spPr>
          <a:xfrm>
            <a:off x="6309360" y="288950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309360" y="2889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839712" y="2852928"/>
            <a:ext cx="4773168" cy="64008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Apriete angular. </a:t>
            </a:r>
            <a:pPr indent="0" marL="0">
              <a:lnSpc>
                <a:spcPct val="106000"/>
              </a:lnSpc>
              <a:buNone/>
            </a:pPr>
            <a:r>
              <a:rPr lang="en-US" sz="1100" dirty="0">
                <a:solidFill>
                  <a:schemeClr val="accent4"/>
                </a:solidFill>
              </a:rPr>
              <a:t>en muchos motores modernos se aplica un par inicial y después un giro en grados; exige transportador y, casi siempre, tornillos nuevos</a:t>
            </a:r>
            <a:endParaRPr lang="en-US" sz="1100" dirty="0"/>
          </a:p>
        </p:txBody>
      </p:sp>
      <p:sp>
        <p:nvSpPr>
          <p:cNvPr id="15" name="Shape 12"/>
          <p:cNvSpPr/>
          <p:nvPr/>
        </p:nvSpPr>
        <p:spPr>
          <a:xfrm>
            <a:off x="6309360" y="358444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309360"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839712" y="3547872"/>
            <a:ext cx="4773168" cy="64008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Reglaje de válvulas. </a:t>
            </a:r>
            <a:pPr indent="0" marL="0">
              <a:lnSpc>
                <a:spcPct val="106000"/>
              </a:lnSpc>
              <a:buNone/>
            </a:pPr>
            <a:r>
              <a:rPr lang="en-US" sz="1100" dirty="0">
                <a:solidFill>
                  <a:schemeClr val="accent4"/>
                </a:solidFill>
              </a:rPr>
              <a:t>con el motor frío si así lo indica el manual, válvula por válvula, con su leva en reposo y la galga que corresponda</a:t>
            </a:r>
            <a:endParaRPr lang="en-US" sz="1100" dirty="0"/>
          </a:p>
        </p:txBody>
      </p:sp>
      <p:sp>
        <p:nvSpPr>
          <p:cNvPr id="18" name="Shape 15"/>
          <p:cNvSpPr/>
          <p:nvPr/>
        </p:nvSpPr>
        <p:spPr>
          <a:xfrm>
            <a:off x="548640" y="4343400"/>
            <a:ext cx="11064240" cy="777240"/>
          </a:xfrm>
          <a:prstGeom prst="roundRect">
            <a:avLst>
              <a:gd name="adj" fmla="val 7059"/>
            </a:avLst>
          </a:prstGeom>
          <a:solidFill>
            <a:schemeClr val="bg2"/>
          </a:solidFill>
          <a:ln w="12700">
            <a:solidFill>
              <a:schemeClr val="bg2"/>
            </a:solidFill>
            <a:prstDash val="solid"/>
          </a:ln>
        </p:spPr>
        <p:txBody>
          <a:bodyPr/>
          <a:p/>
        </p:txBody>
      </p:sp>
      <p:sp>
        <p:nvSpPr>
          <p:cNvPr id="19" name="Shape 16"/>
          <p:cNvSpPr/>
          <p:nvPr/>
        </p:nvSpPr>
        <p:spPr>
          <a:xfrm>
            <a:off x="786384" y="454914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786384" y="4549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4348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orden de apriete lo da el manual para cada motor. El dibujo en espiral es el patrón general, pero hay motores que lo numeran de forma distinta, y seguir el patrón equivocado deforma el cabezote aunque el par final sea exacto.</a:t>
            </a:r>
            <a:endParaRPr lang="en-US" sz="1450" dirty="0"/>
          </a:p>
        </p:txBody>
      </p:sp>
      <p:sp>
        <p:nvSpPr>
          <p:cNvPr id="22" name="Shape 19"/>
          <p:cNvSpPr/>
          <p:nvPr/>
        </p:nvSpPr>
        <p:spPr>
          <a:xfrm>
            <a:off x="548640" y="5294376"/>
            <a:ext cx="384048" cy="384048"/>
          </a:xfrm>
          <a:prstGeom prst="ellipse">
            <a:avLst/>
          </a:prstGeom>
          <a:solidFill>
            <a:schemeClr val="accent2"/>
          </a:solidFill>
          <a:ln w="12700">
            <a:solidFill>
              <a:schemeClr val="accent2"/>
            </a:solidFill>
            <a:prstDash val="solid"/>
          </a:ln>
        </p:spPr>
        <p:txBody>
          <a:bodyPr/>
          <a:p/>
        </p:txBody>
      </p:sp>
      <p:sp>
        <p:nvSpPr>
          <p:cNvPr id="23" name="Text 20"/>
          <p:cNvSpPr txBox="1"/>
          <p:nvPr/>
        </p:nvSpPr>
        <p:spPr>
          <a:xfrm>
            <a:off x="548640" y="5294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1"/>
          <p:cNvSpPr txBox="1"/>
          <p:nvPr/>
        </p:nvSpPr>
        <p:spPr>
          <a:xfrm>
            <a:off x="1078992" y="5257800"/>
            <a:ext cx="10533888" cy="29809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se registra al final de la práctica. </a:t>
            </a:r>
            <a:pPr indent="0" marL="0">
              <a:lnSpc>
                <a:spcPct val="106000"/>
              </a:lnSpc>
              <a:buNone/>
            </a:pPr>
            <a:r>
              <a:rPr lang="en-US" sz="1150" dirty="0">
                <a:solidFill>
                  <a:schemeClr val="accent4"/>
                </a:solidFill>
              </a:rPr>
              <a:t>par aplicado y orden seguido, holgura de cada válvula antes y después del reglaje, y resultado de la verificación de la distribución</a:t>
            </a:r>
            <a:endParaRPr lang="en-US" sz="1150" dirty="0"/>
          </a:p>
        </p:txBody>
      </p:sp>
      <p:sp>
        <p:nvSpPr>
          <p:cNvPr id="25" name="Shape 22"/>
          <p:cNvSpPr/>
          <p:nvPr/>
        </p:nvSpPr>
        <p:spPr>
          <a:xfrm>
            <a:off x="548640" y="5647334"/>
            <a:ext cx="384048" cy="384048"/>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548640" y="564733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4"/>
          <p:cNvSpPr txBox="1"/>
          <p:nvPr/>
        </p:nvSpPr>
        <p:spPr>
          <a:xfrm>
            <a:off x="1078992" y="5610758"/>
            <a:ext cx="10533888" cy="29809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comprobación final. </a:t>
            </a:r>
            <a:pPr indent="0" marL="0">
              <a:lnSpc>
                <a:spcPct val="106000"/>
              </a:lnSpc>
              <a:buNone/>
            </a:pPr>
            <a:r>
              <a:rPr lang="en-US" sz="1150" dirty="0">
                <a:solidFill>
                  <a:schemeClr val="accent4"/>
                </a:solidFill>
              </a:rPr>
              <a:t>girar el motor dos vueltas a mano antes de montar nada más; después, arranque y observación de ruidos, fugas y temperatura</a:t>
            </a:r>
            <a:endParaRPr lang="en-US" sz="1150" dirty="0"/>
          </a:p>
        </p:txBody>
      </p:sp>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cabezote · actividad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Ficha general y lista de verificación ambiental</a:t>
            </a:r>
            <a:endParaRPr lang="en-US" sz="32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760720" cy="914400"/>
        </p:xfrm>
        <a:graphic>
          <a:graphicData uri="http://schemas.openxmlformats.org/drawingml/2006/table">
            <a:tbl>
              <a:tblPr/>
              <a:tblGrid>
                <a:gridCol w="3108960"/>
                <a:gridCol w="2651760"/>
              </a:tblGrid>
              <a:tr h="365760">
                <a:tc>
                  <a:txBody>
                    <a:bodyPr/>
                    <a:lstStyle/>
                    <a:p>
                      <a:pPr indent="0" marL="0">
                        <a:buNone/>
                      </a:pPr>
                      <a:r>
                        <a:rPr lang="en-US" sz="1300" b="1" dirty="0">
                          <a:solidFill>
                            <a:srgbClr val="FFFFFF"/>
                          </a:solidFill>
                        </a:rPr>
                        <a:t>Registro técnico de la práctica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Conforme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050" b="1" dirty="0">
                          <a:solidFill>
                            <a:schemeClr val="tx1"/>
                          </a:solidFill>
                        </a:rPr>
                        <a:t>Ficha de puesta a punto completada antes del desmontaje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Tensión aplicada y método usado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Verificación de dos vueltas de la distribución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Planitud y altura del cabezote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Juego de guía por válvula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Franja de contacto y estanqueidad por válvula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Longitud libre y perpendicularidad de los muelles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Comprobaciones del árbol de levas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Par y orden de apriete aplicados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Holgura de válvulas tras el reglaje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graphicFrame>
        <p:nvGraphicFramePr>
          <p:cNvPr id="187" name="Table 1"/>
          <p:cNvGraphicFramePr>
            <a:graphicFrameLocks noGrp="1"/>
          </p:cNvGraphicFramePr>
          <p:nvPr>
            <p:extLst>
              <p:ext uri="{D42A27DB-BD31-4B8C-83A1-F6EECF244321}">
                <p14:modId xmlns:p14="http://schemas.microsoft.com/office/powerpoint/2010/main" val="1579011935"/>
              </p:ext>
            </p:extLst>
          </p:nvPr>
        </p:nvGraphicFramePr>
        <p:xfrm>
          <a:off x="6583680" y="1371600"/>
          <a:ext cx="5029200" cy="914400"/>
        </p:xfrm>
        <a:graphic>
          <a:graphicData uri="http://schemas.openxmlformats.org/drawingml/2006/table">
            <a:tbl>
              <a:tblPr/>
              <a:tblGrid>
                <a:gridCol w="2743200"/>
                <a:gridCol w="2286000"/>
              </a:tblGrid>
              <a:tr h="365760">
                <a:tc>
                  <a:txBody>
                    <a:bodyPr/>
                    <a:lstStyle/>
                    <a:p>
                      <a:pPr indent="0" marL="0">
                        <a:buNone/>
                      </a:pPr>
                      <a:r>
                        <a:rPr lang="en-US" sz="1300" b="1" dirty="0">
                          <a:solidFill>
                            <a:srgbClr val="FFFFFF"/>
                          </a:solidFill>
                        </a:rPr>
                        <a:t>Lista de verificación ambiental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Conforme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050" b="1" dirty="0">
                          <a:solidFill>
                            <a:schemeClr val="tx1"/>
                          </a:solidFill>
                        </a:rPr>
                        <a:t>Aceite usado en recipiente identificado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Refrigerante usado en recipiente cerrado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Disolventes separados del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Trapos impregnados en contenedor metálico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Piezas metálicas separadas para reciclaje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Empaques y juntas en residuo correspondiente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Puesto de trabajo sin derrames al terminar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Absorbente usado y retirado si hubo derrame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5303520"/>
            <a:ext cx="11064240" cy="685800"/>
          </a:xfrm>
          <a:prstGeom prst="roundRect">
            <a:avLst>
              <a:gd name="adj" fmla="val 8000"/>
            </a:avLst>
          </a:prstGeom>
          <a:solidFill>
            <a:schemeClr val="bg2"/>
          </a:solidFill>
          <a:ln w="12700">
            <a:solidFill>
              <a:schemeClr val="bg2"/>
            </a:solidFill>
            <a:prstDash val="solid"/>
          </a:ln>
        </p:spPr>
        <p:txBody>
          <a:bodyPr/>
          <a:p/>
        </p:txBody>
      </p:sp>
      <p:sp>
        <p:nvSpPr>
          <p:cNvPr id="6" name="Shape 2"/>
          <p:cNvSpPr/>
          <p:nvPr/>
        </p:nvSpPr>
        <p:spPr>
          <a:xfrm>
            <a:off x="786384" y="5463540"/>
            <a:ext cx="365760" cy="365760"/>
          </a:xfrm>
          <a:prstGeom prst="ellipse">
            <a:avLst/>
          </a:prstGeom>
          <a:solidFill>
            <a:schemeClr val="accent2"/>
          </a:solidFill>
          <a:ln w="12700">
            <a:solidFill>
              <a:schemeClr val="accent2"/>
            </a:solidFill>
            <a:prstDash val="solid"/>
          </a:ln>
        </p:spPr>
        <p:txBody>
          <a:bodyPr/>
          <a:p/>
        </p:txBody>
      </p:sp>
      <p:sp>
        <p:nvSpPr>
          <p:cNvPr id="7" name="Text 3"/>
          <p:cNvSpPr txBox="1"/>
          <p:nvPr/>
        </p:nvSpPr>
        <p:spPr>
          <a:xfrm>
            <a:off x="786384" y="54635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8" name="Text 4"/>
          <p:cNvSpPr txBox="1"/>
          <p:nvPr/>
        </p:nvSpPr>
        <p:spPr>
          <a:xfrm>
            <a:off x="1298448" y="5394960"/>
            <a:ext cx="10058400" cy="5029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Las dos listas se entregan juntas con el informe. El PEA declara la ética ambiental como componente de esta unidad, de modo que la lista ambiental forma parte de la evaluación igual que la técnica.</a:t>
            </a:r>
            <a:endParaRPr lang="en-US" sz="1250" dirty="0"/>
          </a:p>
        </p:txBody>
      </p:sp>
      <p:sp>
        <p:nvSpPr>
          <p:cNvPr id="9" name="Text 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 componente ambiental: ética ambiental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Armado del cabezote: orden y par</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Limpieza total. </a:t>
            </a:r>
            <a:pPr indent="0" marL="0">
              <a:lnSpc>
                <a:spcPct val="106000"/>
              </a:lnSpc>
              <a:buNone/>
            </a:pPr>
            <a:r>
              <a:rPr lang="en-US" sz="1200" dirty="0">
                <a:solidFill>
                  <a:schemeClr val="accent4"/>
                </a:solidFill>
              </a:rPr>
              <a:t>conductos, asientos, guías y plano libres de pasta de esmerilar, carbonilla y restos de empaque; soplar y comprobar</a:t>
            </a:r>
            <a:endParaRPr lang="en-US" sz="1200" dirty="0"/>
          </a:p>
        </p:txBody>
      </p:sp>
      <p:sp>
        <p:nvSpPr>
          <p:cNvPr id="6" name="Shape 4"/>
          <p:cNvSpPr/>
          <p:nvPr/>
        </p:nvSpPr>
        <p:spPr>
          <a:xfrm>
            <a:off x="548640" y="1965960"/>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92938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Sellos de vástago nuevos. </a:t>
            </a:r>
            <a:pPr indent="0" marL="0">
              <a:lnSpc>
                <a:spcPct val="106000"/>
              </a:lnSpc>
              <a:buNone/>
            </a:pPr>
            <a:r>
              <a:rPr lang="en-US" sz="1200" dirty="0">
                <a:solidFill>
                  <a:schemeClr val="accent4"/>
                </a:solidFill>
              </a:rPr>
              <a:t>se montan siempre nuevos, con el útil adecuado y sin golpear; un sello montado torcido no dosifica</a:t>
            </a:r>
            <a:endParaRPr lang="en-US" sz="1200" dirty="0"/>
          </a:p>
        </p:txBody>
      </p:sp>
      <p:sp>
        <p:nvSpPr>
          <p:cNvPr id="9" name="Shape 7"/>
          <p:cNvSpPr/>
          <p:nvPr/>
        </p:nvSpPr>
        <p:spPr>
          <a:xfrm>
            <a:off x="548640" y="2478024"/>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44144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Montar cada válvula en su sitio. </a:t>
            </a:r>
            <a:pPr indent="0" marL="0">
              <a:lnSpc>
                <a:spcPct val="106000"/>
              </a:lnSpc>
              <a:buNone/>
            </a:pPr>
            <a:r>
              <a:rPr lang="en-US" sz="1200" dirty="0">
                <a:solidFill>
                  <a:schemeClr val="accent4"/>
                </a:solidFill>
              </a:rPr>
              <a:t>la que salió de esa posición, lubricando el vástago con aceite de motor limpio antes de introducirla</a:t>
            </a:r>
            <a:endParaRPr lang="en-US" sz="1200" dirty="0"/>
          </a:p>
        </p:txBody>
      </p:sp>
      <p:sp>
        <p:nvSpPr>
          <p:cNvPr id="12" name="Shape 10"/>
          <p:cNvSpPr/>
          <p:nvPr/>
        </p:nvSpPr>
        <p:spPr>
          <a:xfrm>
            <a:off x="548640" y="2990088"/>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953512"/>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Muelle, platillo y seguros. </a:t>
            </a:r>
            <a:pPr indent="0" marL="0">
              <a:lnSpc>
                <a:spcPct val="106000"/>
              </a:lnSpc>
              <a:buNone/>
            </a:pPr>
            <a:r>
              <a:rPr lang="en-US" sz="1200" dirty="0">
                <a:solidFill>
                  <a:schemeClr val="accent4"/>
                </a:solidFill>
              </a:rPr>
              <a:t>comprimir centrado, colocar los dos seguros cónicos y liberar lentamente comprobando que asientan bien</a:t>
            </a:r>
            <a:endParaRPr lang="en-US" sz="1200" dirty="0"/>
          </a:p>
        </p:txBody>
      </p:sp>
      <p:sp>
        <p:nvSpPr>
          <p:cNvPr id="15" name="Shape 13"/>
          <p:cNvSpPr/>
          <p:nvPr/>
        </p:nvSpPr>
        <p:spPr>
          <a:xfrm>
            <a:off x="548640" y="3502152"/>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502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465576"/>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5 — Verificar el asentamiento. </a:t>
            </a:r>
            <a:pPr indent="0" marL="0">
              <a:lnSpc>
                <a:spcPct val="106000"/>
              </a:lnSpc>
              <a:buNone/>
            </a:pPr>
            <a:r>
              <a:rPr lang="en-US" sz="1200" dirty="0">
                <a:solidFill>
                  <a:schemeClr val="accent4"/>
                </a:solidFill>
              </a:rPr>
              <a:t>golpear suavemente cada platillo con un mazo de nailon: si un seguro no estaba bien colocado, se nota ahora y no con el motor en marcha</a:t>
            </a:r>
            <a:endParaRPr lang="en-US" sz="1200" dirty="0"/>
          </a:p>
        </p:txBody>
      </p:sp>
      <p:sp>
        <p:nvSpPr>
          <p:cNvPr id="18" name="Shape 16"/>
          <p:cNvSpPr/>
          <p:nvPr/>
        </p:nvSpPr>
        <p:spPr>
          <a:xfrm>
            <a:off x="548640" y="401421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397764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6 — Montar el árbol de levas. </a:t>
            </a:r>
            <a:pPr indent="0" marL="0">
              <a:lnSpc>
                <a:spcPct val="106000"/>
              </a:lnSpc>
              <a:buNone/>
            </a:pPr>
            <a:r>
              <a:rPr lang="en-US" sz="1200" dirty="0">
                <a:solidFill>
                  <a:schemeClr val="accent4"/>
                </a:solidFill>
              </a:rPr>
              <a:t>sombreretes en su posición y orientación originales, apretados en orden cruzado y por pasos sucesivos</a:t>
            </a:r>
            <a:endParaRPr lang="en-US" sz="1200" dirty="0"/>
          </a:p>
        </p:txBody>
      </p:sp>
      <p:sp>
        <p:nvSpPr>
          <p:cNvPr id="21" name="Shape 19"/>
          <p:cNvSpPr/>
          <p:nvPr/>
        </p:nvSpPr>
        <p:spPr>
          <a:xfrm>
            <a:off x="548640" y="4526280"/>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1078992" y="448970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7 — Empaque nuevo y cabezote al bloque. </a:t>
            </a:r>
            <a:pPr indent="0" marL="0">
              <a:lnSpc>
                <a:spcPct val="106000"/>
              </a:lnSpc>
              <a:buNone/>
            </a:pPr>
            <a:r>
              <a:rPr lang="en-US" sz="1200" dirty="0">
                <a:solidFill>
                  <a:schemeClr val="accent4"/>
                </a:solidFill>
              </a:rPr>
              <a:t>empaque nuevo siempre, en su única posición correcta, sobre un plano limpio</a:t>
            </a:r>
            <a:endParaRPr lang="en-US" sz="1200" dirty="0"/>
          </a:p>
        </p:txBody>
      </p:sp>
      <p:sp>
        <p:nvSpPr>
          <p:cNvPr id="24" name="Shape 22"/>
          <p:cNvSpPr/>
          <p:nvPr/>
        </p:nvSpPr>
        <p:spPr>
          <a:xfrm>
            <a:off x="548640" y="5038344"/>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1078992" y="500176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8 — Apriete al par y en el orden del manual. </a:t>
            </a:r>
            <a:pPr indent="0" marL="0">
              <a:lnSpc>
                <a:spcPct val="106000"/>
              </a:lnSpc>
              <a:buNone/>
            </a:pPr>
            <a:r>
              <a:rPr lang="en-US" sz="1200" dirty="0">
                <a:solidFill>
                  <a:schemeClr val="accent4"/>
                </a:solidFill>
              </a:rPr>
              <a:t>en varias pasadas, del centro hacia los extremos; si el motor lleva apriete angular, con el transportador y con tornillos nuevos si así lo exige</a:t>
            </a:r>
            <a:endParaRPr lang="en-US" sz="1200" dirty="0"/>
          </a:p>
        </p:txBody>
      </p:sp>
      <p:sp>
        <p:nvSpPr>
          <p:cNvPr id="27" name="Shape 25"/>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8" name="Shape 26"/>
          <p:cNvSpPr/>
          <p:nvPr/>
        </p:nvSpPr>
        <p:spPr>
          <a:xfrm>
            <a:off x="786384" y="5600700"/>
            <a:ext cx="365760" cy="365760"/>
          </a:xfrm>
          <a:prstGeom prst="ellipse">
            <a:avLst/>
          </a:prstGeom>
          <a:solidFill>
            <a:schemeClr val="accent1"/>
          </a:solidFill>
          <a:ln w="12700">
            <a:solidFill>
              <a:schemeClr val="accent1"/>
            </a:solidFill>
            <a:prstDash val="solid"/>
          </a:ln>
        </p:spPr>
        <p:txBody>
          <a:bodyPr/>
          <a:p/>
        </p:txBody>
      </p:sp>
      <p:sp>
        <p:nvSpPr>
          <p:cNvPr id="29" name="Text 27"/>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8"/>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El orden de apriete del cabezote siempre va del centro hacia los extremos y en varias pasadas. Apretar en otro orden, o del tirón, deforma el cabezote y garantiza una fuga por mucho que el par final sea el correcto.</a:t>
            </a:r>
            <a:endParaRPr lang="en-US" sz="115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cabezote · recursos: Autodata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reglaje de la holgura de válvulas</a:t>
            </a:r>
            <a:endParaRPr lang="en-US" sz="3200" dirty="0"/>
          </a:p>
        </p:txBody>
      </p:sp>
      <p:sp>
        <p:nvSpPr>
          <p:cNvPr id="3" name="Shape 1"/>
          <p:cNvSpPr/>
          <p:nvPr/>
        </p:nvSpPr>
        <p:spPr>
          <a:xfrm>
            <a:off x="548640" y="1371600"/>
            <a:ext cx="53949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Grados entre encendidos y orden de reglaje</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θ</m:t>
                          </m:r>
                        </m:e>
                        <m:sub>
                          <m:r>
                            <a:rPr lang="es-EC" sz="2400" b="1" dirty="0" i="0">
                              <a:solidFill>
                                <a:srgbClr val="C0451C"/>
                              </a:solidFill>
                              <a:latin typeface="Cambria Math" panose="02040503050406030204" pitchFamily="18" charset="0"/>
                            </a:rPr>
                            <m:t xml:space="preserve">e</m:t>
                          </m:r>
                        </m:sub>
                      </m:sSub>
                      <m:r>
                        <a:rPr lang="es-EC" sz="2400" b="1" dirty="0" i="0">
                          <a:solidFill>
                            <a:srgbClr val="C0451C"/>
                          </a:solidFill>
                          <a:latin typeface="Cambria Math" panose="02040503050406030204" pitchFamily="18" charset="0"/>
                        </a:rPr>
                        <m:t xml:space="preserve"> = </m:t>
                      </m:r>
                      <m:f>
                        <m:fPr>
                          <m:ctrlPr>
                            <a:rPr lang="es-EC" sz="2400" b="1" dirty="0" i="1">
                              <a:solidFill>
                                <a:srgbClr val="C0451C"/>
                              </a:solidFill>
                              <a:latin typeface="Cambria Math" panose="02040503050406030204" pitchFamily="18" charset="0"/>
                            </a:rPr>
                          </m:ctrlPr>
                        </m:fPr>
                        <m:num>
                          <m:r>
                            <a:rPr lang="es-EC" sz="2400" b="1" dirty="0" i="0">
                              <a:solidFill>
                                <a:srgbClr val="C0451C"/>
                              </a:solidFill>
                              <a:latin typeface="Cambria Math" panose="02040503050406030204" pitchFamily="18" charset="0"/>
                            </a:rPr>
                            <m:t xml:space="preserve">720</m:t>
                          </m:r>
                        </m:num>
                        <m:den>
                          <m:r>
                            <a:rPr lang="es-EC" sz="2400" b="1" dirty="0" i="1">
                              <a:solidFill>
                                <a:srgbClr val="C0451C"/>
                              </a:solidFill>
                              <a:latin typeface="Cambria Math" panose="02040503050406030204" pitchFamily="18" charset="0"/>
                            </a:rPr>
                            <m:t xml:space="preserve">Z</m:t>
                          </m:r>
                        </m:den>
                      </m:f>
                    </m:oMath>
                  </m:oMathPara>
                </a14:m>
                <a:endParaRPr lang="es-EC" sz="24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400" b="1" dirty="0">
                    <a:solidFill>
                      <a:srgbClr val="C0451C"/>
                    </a:solidFill>
                  </a:rPr>
                  <a:t xml:space="preserve">θ</a:t>
                </a:r>
                <a:r>
                  <a:rPr lang="es-EC" sz="2400" b="1" baseline="-25000" dirty="0">
                    <a:solidFill>
                      <a:srgbClr val="C0451C"/>
                    </a:solidFill>
                  </a:rPr>
                  <a:t xml:space="preserve">e</a:t>
                </a:r>
                <a:r>
                  <a:rPr lang="es-EC" sz="2400" b="1" dirty="0">
                    <a:solidFill>
                      <a:srgbClr val="C0451C"/>
                    </a:solidFill>
                  </a:rPr>
                  <a:t xml:space="preserve"> = </a:t>
                </a:r>
                <a:r>
                  <a:rPr lang="es-EC" sz="2400" b="1" dirty="0">
                    <a:solidFill>
                      <a:srgbClr val="C0451C"/>
                    </a:solidFill>
                  </a:rPr>
                  <a:t xml:space="preserve">720</a:t>
                </a:r>
                <a:r>
                  <a:rPr lang="es-EC" sz="2400" b="1" dirty="0">
                    <a:solidFill>
                      <a:srgbClr val="C0451C"/>
                    </a:solidFill>
                  </a:rPr>
                  <a:t xml:space="preserve"> / </a:t>
                </a:r>
                <a:r>
                  <a:rPr lang="es-EC" sz="2400" b="1" dirty="0">
                    <a:solidFill>
                      <a:srgbClr val="C0451C"/>
                    </a:solidFill>
                  </a:rPr>
                  <a:t xml:space="preserve">Z</a:t>
                </a:r>
              </a:p>
            </p:txBody>
          </p:sp>
        </mc:Fallback>
      </mc:AlternateContent>
      <p:sp>
        <p:nvSpPr>
          <p:cNvPr id="6" name="Text 4"/>
          <p:cNvSpPr txBox="1"/>
          <p:nvPr/>
        </p:nvSpPr>
        <p:spPr>
          <a:xfrm>
            <a:off x="786384" y="2706624"/>
            <a:ext cx="4919472" cy="365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La misma separación angular ordena el reglaje: se regla cada cilindro en su propio punto.</a:t>
            </a:r>
            <a:endParaRPr lang="en-US" sz="1300" dirty="0"/>
          </a:p>
        </p:txBody>
      </p:sp>
      <p:sp>
        <p:nvSpPr>
          <p:cNvPr id="7" name="Shape 5"/>
          <p:cNvSpPr/>
          <p:nvPr/>
        </p:nvSpPr>
        <p:spPr>
          <a:xfrm>
            <a:off x="621792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217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748272" y="1463040"/>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existe la holgura. </a:t>
            </a:r>
            <a:pPr indent="0" marL="0">
              <a:lnSpc>
                <a:spcPct val="106000"/>
              </a:lnSpc>
              <a:buNone/>
            </a:pPr>
            <a:r>
              <a:rPr lang="en-US" sz="1150" dirty="0">
                <a:solidFill>
                  <a:schemeClr val="accent4"/>
                </a:solidFill>
              </a:rPr>
              <a:t>los elementos del tren de válvulas se dilatan al calentarse; sin holgura en frío, en caliente la válvula quedaría abierta permanentemente</a:t>
            </a:r>
            <a:endParaRPr lang="en-US" sz="1150" dirty="0"/>
          </a:p>
        </p:txBody>
      </p:sp>
      <p:sp>
        <p:nvSpPr>
          <p:cNvPr id="10" name="Shape 8"/>
          <p:cNvSpPr/>
          <p:nvPr/>
        </p:nvSpPr>
        <p:spPr>
          <a:xfrm>
            <a:off x="6217920" y="2157984"/>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21792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748272" y="2121408"/>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Holgura insuficiente. </a:t>
            </a:r>
            <a:pPr indent="0" marL="0">
              <a:lnSpc>
                <a:spcPct val="106000"/>
              </a:lnSpc>
              <a:buNone/>
            </a:pPr>
            <a:r>
              <a:rPr lang="en-US" sz="1150" dirty="0">
                <a:solidFill>
                  <a:schemeClr val="accent4"/>
                </a:solidFill>
              </a:rPr>
              <a:t>la válvula no cierra del todo en caliente, pierde su refrigeración por el asiento y se quema; es la avería más grave de las dos</a:t>
            </a:r>
            <a:endParaRPr lang="en-US" sz="1150" dirty="0"/>
          </a:p>
        </p:txBody>
      </p:sp>
      <p:sp>
        <p:nvSpPr>
          <p:cNvPr id="13" name="Shape 11"/>
          <p:cNvSpPr/>
          <p:nvPr/>
        </p:nvSpPr>
        <p:spPr>
          <a:xfrm>
            <a:off x="6217920" y="2816352"/>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21792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748272" y="2779776"/>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Holgura excesiva. </a:t>
            </a:r>
            <a:pPr indent="0" marL="0">
              <a:lnSpc>
                <a:spcPct val="106000"/>
              </a:lnSpc>
              <a:buNone/>
            </a:pPr>
            <a:r>
              <a:rPr lang="en-US" sz="1150" dirty="0">
                <a:solidFill>
                  <a:schemeClr val="accent4"/>
                </a:solidFill>
              </a:rPr>
              <a:t>golpeteo metálico regular, apertura tardía y menor levantamiento efectivo: el motor pierde algo de rendimiento</a:t>
            </a:r>
            <a:endParaRPr lang="en-US" sz="1150" dirty="0"/>
          </a:p>
        </p:txBody>
      </p:sp>
      <p:sp>
        <p:nvSpPr>
          <p:cNvPr id="16" name="Shape 14"/>
          <p:cNvSpPr/>
          <p:nvPr/>
        </p:nvSpPr>
        <p:spPr>
          <a:xfrm>
            <a:off x="6217920" y="3474720"/>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621792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txBox="1"/>
          <p:nvPr/>
        </p:nvSpPr>
        <p:spPr>
          <a:xfrm>
            <a:off x="6748272" y="3438144"/>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mide. </a:t>
            </a:r>
            <a:pPr indent="0" marL="0">
              <a:lnSpc>
                <a:spcPct val="106000"/>
              </a:lnSpc>
              <a:buNone/>
            </a:pPr>
            <a:r>
              <a:rPr lang="en-US" sz="1150" dirty="0">
                <a:solidFill>
                  <a:schemeClr val="accent4"/>
                </a:solidFill>
              </a:rPr>
              <a:t>con galga de espesores entre la leva y el taqué o el balancín, con esa válvula completamente cerrada</a:t>
            </a:r>
            <a:endParaRPr lang="en-US" sz="115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064240" cy="914400"/>
        </p:xfrm>
        <a:graphic>
          <a:graphicData uri="http://schemas.openxmlformats.org/drawingml/2006/table">
            <a:tbl>
              <a:tblPr/>
              <a:tblGrid>
                <a:gridCol w="2926080"/>
                <a:gridCol w="4023360"/>
                <a:gridCol w="4114800"/>
              </a:tblGrid>
              <a:tr h="384048">
                <a:tc>
                  <a:txBody>
                    <a:bodyPr/>
                    <a:lstStyle/>
                    <a:p>
                      <a:pPr indent="0" marL="0">
                        <a:buNone/>
                      </a:pPr>
                      <a:r>
                        <a:rPr lang="en-US" sz="1300" b="1" dirty="0">
                          <a:solidFill>
                            <a:srgbClr val="FFFFFF"/>
                          </a:solidFill>
                        </a:rPr>
                        <a:t>Sistema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corrige la holgura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Observación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00" b="1" dirty="0">
                          <a:solidFill>
                            <a:schemeClr val="tx1"/>
                          </a:solidFill>
                        </a:rPr>
                        <a:t>Balancín con tornillo y contratuerca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Aflojar la contratuerca, ajustar el tornillo hasta que la galga pase con ligera resistencia y volver a apretar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Comprobar de nuevo tras apretar: el apriete puede modificar el ajuste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Empujador de vaso con pastilla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Medir, calcular el espesor necesario y sustituir la pastilla calibrada por otra del espesor correcto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Exige desmontar el árbol de levas; más laborioso pero más estable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Taqué hidráulico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No se regla: se compensa solo con la presión de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Si golpetea, el problema es de presión o de limpieza del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0" name="Shape 17"/>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1" name="Shape 18"/>
          <p:cNvSpPr/>
          <p:nvPr/>
        </p:nvSpPr>
        <p:spPr>
          <a:xfrm>
            <a:off x="786384" y="5600700"/>
            <a:ext cx="365760" cy="365760"/>
          </a:xfrm>
          <a:prstGeom prst="ellipse">
            <a:avLst/>
          </a:prstGeom>
          <a:solidFill>
            <a:schemeClr val="accent1"/>
          </a:solidFill>
          <a:ln w="12700">
            <a:solidFill>
              <a:schemeClr val="accent1"/>
            </a:solidFill>
            <a:prstDash val="solid"/>
          </a:ln>
        </p:spPr>
        <p:txBody>
          <a:bodyPr/>
          <a:p/>
        </p:txBody>
      </p:sp>
      <p:sp>
        <p:nvSpPr>
          <p:cNvPr id="22" name="Text 19"/>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3" name="Text 20"/>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Entre las dos desviaciones, la peligrosa es la holgura insuficiente: una válvula que no cierra del todo pierde su vía principal de refrigeración y se quema. Ante la duda, nunca se deja apretada.</a:t>
            </a:r>
            <a:endParaRPr lang="en-US" sz="1150" dirty="0"/>
          </a:p>
        </p:txBody>
      </p:sp>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del cabezote · recursos: Autodata para los valores de holgura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Ficha de comprobaciones del cabezote</a:t>
            </a:r>
            <a:endParaRPr lang="en-US" sz="32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2651760"/>
                <a:gridCol w="2651760"/>
                <a:gridCol w="2651760"/>
              </a:tblGrid>
              <a:tr h="338328">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del fabricante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medido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Conforme / No conforme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38328">
                <a:tc>
                  <a:txBody>
                    <a:bodyPr/>
                    <a:lstStyle/>
                    <a:p>
                      <a:pPr indent="0" marL="0">
                        <a:buNone/>
                      </a:pPr>
                      <a:r>
                        <a:rPr lang="en-US" sz="1050" b="1" dirty="0">
                          <a:solidFill>
                            <a:schemeClr val="tx1"/>
                          </a:solidFill>
                        </a:rPr>
                        <a:t>Planitud del plano de apoyo (5 posiciones)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Galga límite: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chemeClr val="tx1"/>
                          </a:solidFill>
                        </a:rPr>
                        <a:t>Inspección de fisuras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Ausencia total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38328">
                <a:tc>
                  <a:txBody>
                    <a:bodyPr/>
                    <a:lstStyle/>
                    <a:p>
                      <a:pPr indent="0" marL="0">
                        <a:buNone/>
                      </a:pPr>
                      <a:r>
                        <a:rPr lang="en-US" sz="1050" b="1" dirty="0">
                          <a:solidFill>
                            <a:schemeClr val="tx1"/>
                          </a:solidFill>
                        </a:rPr>
                        <a:t>Altura del cabezote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chemeClr val="tx1"/>
                          </a:solidFill>
                        </a:rPr>
                        <a:t>Juego de guía — válvula 1 a 8</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38328">
                <a:tc>
                  <a:txBody>
                    <a:bodyPr/>
                    <a:lstStyle/>
                    <a:p>
                      <a:pPr indent="0" marL="0">
                        <a:buNone/>
                      </a:pPr>
                      <a:r>
                        <a:rPr lang="en-US" sz="1050" b="1" dirty="0">
                          <a:solidFill>
                            <a:schemeClr val="tx1"/>
                          </a:solidFill>
                        </a:rPr>
                        <a:t>Ancho de la franja de contacto del asiento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chemeClr val="tx1"/>
                          </a:solidFill>
                        </a:rPr>
                        <a:t>Estanqueidad por válvula (prueba de líquido)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Sin paso de líquido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38328">
                <a:tc>
                  <a:txBody>
                    <a:bodyPr/>
                    <a:lstStyle/>
                    <a:p>
                      <a:pPr indent="0" marL="0">
                        <a:buNone/>
                      </a:pPr>
                      <a:r>
                        <a:rPr lang="en-US" sz="1050" b="1" dirty="0">
                          <a:solidFill>
                            <a:schemeClr val="tx1"/>
                          </a:solidFill>
                        </a:rPr>
                        <a:t>Longitud libre de los muelles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chemeClr val="tx1"/>
                          </a:solidFill>
                        </a:rPr>
                        <a:t>Perpendicularidad de los muelles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38328">
                <a:tc>
                  <a:txBody>
                    <a:bodyPr/>
                    <a:lstStyle/>
                    <a:p>
                      <a:pPr indent="0" marL="0">
                        <a:buNone/>
                      </a:pPr>
                      <a:r>
                        <a:rPr lang="en-US" sz="1050" b="1" dirty="0">
                          <a:solidFill>
                            <a:schemeClr val="tx1"/>
                          </a:solidFill>
                        </a:rPr>
                        <a:t>Holgura de válvulas tras el armado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chemeClr val="tx1"/>
                          </a:solidFill>
                        </a:rPr>
                        <a:t>Par y orden de apriete aplicados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5029200"/>
            <a:ext cx="11064240" cy="685800"/>
          </a:xfrm>
          <a:prstGeom prst="roundRect">
            <a:avLst>
              <a:gd name="adj" fmla="val 8000"/>
            </a:avLst>
          </a:prstGeom>
          <a:solidFill>
            <a:schemeClr val="bg2"/>
          </a:solidFill>
          <a:ln w="12700">
            <a:solidFill>
              <a:schemeClr val="bg2"/>
            </a:solidFill>
            <a:prstDash val="solid"/>
          </a:ln>
        </p:spPr>
        <p:txBody>
          <a:bodyPr/>
          <a:p/>
        </p:txBody>
      </p:sp>
      <p:sp>
        <p:nvSpPr>
          <p:cNvPr id="5" name="Shape 2"/>
          <p:cNvSpPr/>
          <p:nvPr/>
        </p:nvSpPr>
        <p:spPr>
          <a:xfrm>
            <a:off x="786384" y="518922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51892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5120640"/>
            <a:ext cx="10058400" cy="5029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informe debe terminar con la decisión sobre el cabezote —apto, apto con reparación o rechazado— y con su justificación a partir de las medidas. Una tabla de números sin conclusión no es un informe técnico.</a:t>
            </a:r>
            <a:endParaRPr lang="en-US" sz="1250" dirty="0"/>
          </a:p>
        </p:txBody>
      </p:sp>
      <p:sp>
        <p:nvSpPr>
          <p:cNvPr id="8" name="Text 5"/>
          <p:cNvSpPr txBox="1"/>
          <p:nvPr/>
        </p:nvSpPr>
        <p:spPr>
          <a:xfrm>
            <a:off x="548640" y="5760720"/>
            <a:ext cx="11064240" cy="274320"/>
          </a:xfrm>
          <a:prstGeom prst="rect">
            <a:avLst/>
          </a:prstGeom>
          <a:noFill/>
          <a:ln/>
        </p:spPr>
        <p:txBody>
          <a:bodyPr wrap="square" lIns="0" tIns="0" rIns="0" bIns="0" rtlCol="0" anchor="t"/>
          <a:lstStyle/>
          <a:p>
            <a:pPr algn="l" indent="0" marL="0">
              <a:lnSpc>
                <a:spcPct val="110000"/>
              </a:lnSpc>
              <a:buNone/>
            </a:pPr>
            <a:r>
              <a:rPr lang="en-US" sz="1100" dirty="0">
                <a:solidFill>
                  <a:schemeClr val="tx1"/>
                </a:solidFill>
              </a:rPr>
              <a:t>Los valores del fabricante se consultan en Autodata o en el manual antes de empezar, de modo que cada medición se compare en el momento con su criterio.</a:t>
            </a:r>
            <a:endParaRPr lang="en-US" sz="110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 instrumento de evaluación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Ética ambiental: dónde terminan los residuos de este trabajo</a:t>
            </a:r>
            <a:endParaRPr lang="en-US" sz="32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114800"/>
                <a:gridCol w="4206240"/>
              </a:tblGrid>
              <a:tr h="438912">
                <a:tc>
                  <a:txBody>
                    <a:bodyPr/>
                    <a:lstStyle/>
                    <a:p>
                      <a:pPr indent="0" marL="0">
                        <a:buNone/>
                      </a:pPr>
                      <a:r>
                        <a:rPr lang="en-US" sz="1300" b="1" dirty="0">
                          <a:solidFill>
                            <a:srgbClr val="FFFFFF"/>
                          </a:solidFill>
                        </a:rPr>
                        <a:t>Residuo que genera la práctica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Por qué es peligroso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Gestión correcta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150" b="1" dirty="0">
                          <a:solidFill>
                            <a:schemeClr val="tx1"/>
                          </a:solidFill>
                        </a:rPr>
                        <a:t>Aceite de motor usado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Contiene metales pesados y compuestos de la combustión; un solo litro contamina un volumen enorme de agua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Recipiente identificado y entrega a gestor autorizado; nunca al desagüe ni al suelo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Refrigerante usado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El etilenglicol es tóxico por ingestión y de sabor dulce, lo que lo hace peligroso para animales y niños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Recipiente cerrado e identificado; entrega a gestor autorizado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1"/>
                          </a:solidFill>
                        </a:rPr>
                        <a:t>Disolventes y limpiadores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Volátiles, inflamables y nocivos por inhalación y contacto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Recipiente específico; nunca mezclar con el aceite usado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Trapos impregnados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Residuo peligroso, no basura común; acumulados pueden entrar en combustión espontánea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Contenedor metálico con tapa, separado del residuo general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1"/>
                          </a:solidFill>
                        </a:rPr>
                        <a:t>Empaques, válvulas y piezas metálicas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No son peligrosos pero sí recuperables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Separación para reciclaje de metales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84048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02336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023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931920"/>
            <a:ext cx="10058400" cy="54864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La ética ambiental no se demuestra en un examen, se demuestra cuando nadie mira. La decisión de verter o no verter un bidón de aceite usado se toma siempre sin testigos, y es exactamente ahí donde se mide la profesionalidad.</a:t>
            </a:r>
            <a:endParaRPr lang="en-US" sz="1250" dirty="0"/>
          </a:p>
        </p:txBody>
      </p:sp>
      <p:sp>
        <p:nvSpPr>
          <p:cNvPr id="8" name="Shape 5"/>
          <p:cNvSpPr/>
          <p:nvPr/>
        </p:nvSpPr>
        <p:spPr>
          <a:xfrm>
            <a:off x="548640" y="492861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928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89204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Lista de verificación ambiental de la práctica. </a:t>
            </a:r>
            <a:pPr indent="0" marL="0">
              <a:lnSpc>
                <a:spcPct val="106000"/>
              </a:lnSpc>
              <a:buNone/>
            </a:pPr>
            <a:r>
              <a:rPr lang="en-US" sz="1200" dirty="0">
                <a:solidFill>
                  <a:schemeClr val="accent4"/>
                </a:solidFill>
              </a:rPr>
              <a:t>se entrega con el informe y recoge qué residuos se generaron, en qué cantidad aproximada y dónde se depositó cada uno</a:t>
            </a:r>
            <a:endParaRPr lang="en-US" sz="1200" dirty="0"/>
          </a:p>
        </p:txBody>
      </p:sp>
      <p:sp>
        <p:nvSpPr>
          <p:cNvPr id="11" name="Shape 8"/>
          <p:cNvSpPr/>
          <p:nvPr/>
        </p:nvSpPr>
        <p:spPr>
          <a:xfrm>
            <a:off x="548640" y="526694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266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23036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 que también cuenta. </a:t>
            </a:r>
            <a:pPr indent="0" marL="0">
              <a:lnSpc>
                <a:spcPct val="106000"/>
              </a:lnSpc>
              <a:buNone/>
            </a:pPr>
            <a:r>
              <a:rPr lang="en-US" sz="1200" dirty="0">
                <a:solidFill>
                  <a:schemeClr val="accent4"/>
                </a:solidFill>
              </a:rPr>
              <a:t>el orden del puesto de trabajo al terminar, la ausencia de derrames y el uso de absorbente cuando los hay</a:t>
            </a:r>
            <a:endParaRPr lang="en-US" sz="1200" dirty="0"/>
          </a:p>
        </p:txBody>
      </p:sp>
      <p:sp>
        <p:nvSpPr>
          <p:cNvPr id="14" name="Shape 11"/>
          <p:cNvSpPr/>
          <p:nvPr/>
        </p:nvSpPr>
        <p:spPr>
          <a:xfrm>
            <a:off x="548640" y="560527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605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56869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Por qué está declarado en esta unidad. </a:t>
            </a:r>
            <a:pPr indent="0" marL="0">
              <a:lnSpc>
                <a:spcPct val="106000"/>
              </a:lnSpc>
              <a:buNone/>
            </a:pPr>
            <a:r>
              <a:rPr lang="en-US" sz="1200" dirty="0">
                <a:solidFill>
                  <a:schemeClr val="accent4"/>
                </a:solidFill>
              </a:rPr>
              <a:t>porque el despiece de distribución y cabezote es el trabajo de la asignatura que más residuos peligrosos genera</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Componentes ambientales: ética ambiental, declarada en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Unidad 3</a:t>
            </a:r>
            <a:endParaRPr lang="en-US" sz="32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4389120"/>
                <a:gridCol w="4480560"/>
              </a:tblGrid>
              <a:tr h="438912">
                <a:tc>
                  <a:txBody>
                    <a:bodyPr/>
                    <a:lstStyle/>
                    <a:p>
                      <a:pPr indent="0" marL="0">
                        <a:buNone/>
                      </a:pPr>
                      <a:r>
                        <a:rPr lang="en-US" sz="1300" b="1" dirty="0">
                          <a:solidFill>
                            <a:srgbClr val="FFFFFF"/>
                          </a:solidFill>
                        </a:rPr>
                        <a:t>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estudió</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Idea que debe quedar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150" b="1" dirty="0">
                          <a:solidFill>
                            <a:schemeClr val="tx1"/>
                          </a:solidFill>
                        </a:rPr>
                        <a:t>3.1 — La distribución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Misión, constitución, diagrama de distribución, cruce de válvulas, arquitecturas y accionamientos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El árbol de levas gira a la mitad y en una posición angular exacta: esa posición es todo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3.2 — Puesta a punto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Marcas de calado, procedimiento general, casos reales, montaje sin marcas, tensión y averías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El principio se domina, el detalle se consulta; y se verifica con dos vueltas antes de arrancar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1"/>
                          </a:solidFill>
                        </a:rPr>
                        <a:t>3.3 — El cabezote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Función, materiales, cámara de combustión, válvulas, guías, asientos, muelles y despiece ordenado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Cada pieza vuelve a la posición de la que salió, porque se desgastó adaptándose a ella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3.4 — Comprobaciones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Planitud, fisuras, guías, asientos, esmerilado, muelles, reglaje y armado con par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Medir es comparar con el manual y decidir; la guía siempre antes que el asiento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1188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381762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38176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0332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hilo de la unidad: la distribución decide cuándo abren las válvulas (3.1 y 3.2) y el cabezote decide si cierran bien (3.3 y 3.4). Entre las dos cosas se juega la compresión, y sin compresión no hay motor.</a:t>
            </a:r>
            <a:endParaRPr lang="en-US" sz="1450" dirty="0"/>
          </a:p>
        </p:txBody>
      </p:sp>
      <p:sp>
        <p:nvSpPr>
          <p:cNvPr id="8" name="tarjeta_1"/>
          <p:cNvSpPr/>
          <p:nvPr/>
        </p:nvSpPr>
        <p:spPr>
          <a:xfrm>
            <a:off x="548640" y="45262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4764024"/>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11" name="Text 8"/>
          <p:cNvSpPr txBox="1"/>
          <p:nvPr/>
        </p:nvSpPr>
        <p:spPr>
          <a:xfrm>
            <a:off x="1353312" y="47457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Práctica de la unidad</a:t>
            </a:r>
            <a:endParaRPr lang="en-US" sz="1300" dirty="0"/>
          </a:p>
        </p:txBody>
      </p:sp>
      <p:sp>
        <p:nvSpPr>
          <p:cNvPr id="12" name="Text 9"/>
          <p:cNvSpPr txBox="1"/>
          <p:nvPr/>
        </p:nvSpPr>
        <p:spPr>
          <a:xfrm>
            <a:off x="804672" y="527608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Despiece, comprobaciones y armado de la distribución y de los elementos del cabezote, con informe y lista ambiental.</a:t>
            </a:r>
            <a:endParaRPr lang="en-US" sz="1050" dirty="0"/>
          </a:p>
        </p:txBody>
      </p:sp>
      <p:sp>
        <p:nvSpPr>
          <p:cNvPr id="13" name="Text 10"/>
          <p:cNvSpPr txBox="1"/>
          <p:nvPr/>
        </p:nvSpPr>
        <p:spPr>
          <a:xfrm>
            <a:off x="804672" y="558698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Tabla 5 del PEA</a:t>
            </a:r>
            <a:endParaRPr lang="en-US" sz="1200" dirty="0"/>
          </a:p>
        </p:txBody>
      </p:sp>
      <p:sp>
        <p:nvSpPr>
          <p:cNvPr id="14" name="tarjeta_2"/>
          <p:cNvSpPr/>
          <p:nvPr/>
        </p:nvSpPr>
        <p:spPr>
          <a:xfrm>
            <a:off x="4328160" y="45262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Shape 12"/>
          <p:cNvSpPr/>
          <p:nvPr/>
        </p:nvSpPr>
        <p:spPr>
          <a:xfrm>
            <a:off x="4584192" y="4764024"/>
            <a:ext cx="420624" cy="420624"/>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458419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17" name="Text 14"/>
          <p:cNvSpPr txBox="1"/>
          <p:nvPr/>
        </p:nvSpPr>
        <p:spPr>
          <a:xfrm>
            <a:off x="5132832" y="47457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Resultado de aprendizaje</a:t>
            </a:r>
            <a:endParaRPr lang="en-US" sz="1300" dirty="0"/>
          </a:p>
        </p:txBody>
      </p:sp>
      <p:sp>
        <p:nvSpPr>
          <p:cNvPr id="18" name="Text 15"/>
          <p:cNvSpPr txBox="1"/>
          <p:nvPr/>
        </p:nvSpPr>
        <p:spPr>
          <a:xfrm>
            <a:off x="4584192" y="527608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Integrar el diagnóstico mediante manuales y detectar el desgaste en piezas móviles y fijas.</a:t>
            </a:r>
            <a:endParaRPr lang="en-US" sz="1050" dirty="0"/>
          </a:p>
        </p:txBody>
      </p:sp>
      <p:sp>
        <p:nvSpPr>
          <p:cNvPr id="19" name="Text 16"/>
          <p:cNvSpPr txBox="1"/>
          <p:nvPr/>
        </p:nvSpPr>
        <p:spPr>
          <a:xfrm>
            <a:off x="4584192" y="558698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Tabla 5 del PEA</a:t>
            </a:r>
            <a:endParaRPr lang="en-US" sz="1200" dirty="0"/>
          </a:p>
        </p:txBody>
      </p:sp>
      <p:sp>
        <p:nvSpPr>
          <p:cNvPr id="20" name="tarjeta_3"/>
          <p:cNvSpPr/>
          <p:nvPr/>
        </p:nvSpPr>
        <p:spPr>
          <a:xfrm>
            <a:off x="8107680" y="45262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8"/>
          <p:cNvSpPr/>
          <p:nvPr/>
        </p:nvSpPr>
        <p:spPr>
          <a:xfrm>
            <a:off x="8363712" y="4764024"/>
            <a:ext cx="420624" cy="420624"/>
          </a:xfrm>
          <a:prstGeom prst="ellipse">
            <a:avLst/>
          </a:prstGeom>
          <a:solidFill>
            <a:schemeClr val="accent3"/>
          </a:solidFill>
          <a:ln w="12700">
            <a:solidFill>
              <a:schemeClr val="accent3"/>
            </a:solidFill>
            <a:prstDash val="solid"/>
          </a:ln>
        </p:spPr>
        <p:txBody>
          <a:bodyPr/>
          <a:p/>
        </p:txBody>
      </p:sp>
      <p:sp>
        <p:nvSpPr>
          <p:cNvPr id="22" name="Text 19"/>
          <p:cNvSpPr txBox="1"/>
          <p:nvPr/>
        </p:nvSpPr>
        <p:spPr>
          <a:xfrm>
            <a:off x="836371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23" name="Text 20"/>
          <p:cNvSpPr txBox="1"/>
          <p:nvPr/>
        </p:nvSpPr>
        <p:spPr>
          <a:xfrm>
            <a:off x="8912352" y="47457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Evaluación</a:t>
            </a:r>
            <a:endParaRPr lang="en-US" sz="1300" dirty="0"/>
          </a:p>
        </p:txBody>
      </p:sp>
      <p:sp>
        <p:nvSpPr>
          <p:cNvPr id="24" name="Text 21"/>
          <p:cNvSpPr txBox="1"/>
          <p:nvPr/>
        </p:nvSpPr>
        <p:spPr>
          <a:xfrm>
            <a:off x="8363712" y="527608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Participación, taller en clase, tareas, trabajo autónomo, informe de práctica y prueba de unidad.</a:t>
            </a:r>
            <a:endParaRPr lang="en-US" sz="1050" dirty="0"/>
          </a:p>
        </p:txBody>
      </p:sp>
      <p:sp>
        <p:nvSpPr>
          <p:cNvPr id="25" name="Text 22"/>
          <p:cNvSpPr txBox="1"/>
          <p:nvPr/>
        </p:nvSpPr>
        <p:spPr>
          <a:xfrm>
            <a:off x="8363712" y="558698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Sistema institucional</a:t>
            </a:r>
            <a:endParaRPr lang="en-US" sz="1200" dirty="0"/>
          </a:p>
        </p:txBody>
      </p:sp>
      <p:sp>
        <p:nvSpPr>
          <p:cNvPr id="26"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Unidad 3 completa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Repaso para la prueba de unidad y bibliografía</a:t>
            </a:r>
            <a:endParaRPr lang="en-US" sz="3200" dirty="0"/>
          </a:p>
        </p:txBody>
      </p:sp>
      <p:sp>
        <p:nvSpPr>
          <p:cNvPr id="3" name="Text 0"/>
          <p:cNvSpPr/>
          <p:nvPr>
            <p:ph idx="101" type="body" hasCustomPrompt="1"/>
          </p:nvPr>
        </p:nvSpPr>
        <p:spPr>
          <a:xfrm>
            <a:off x="548640" y="1371600"/>
            <a:ext cx="11064240" cy="4754880"/>
          </a:xfrm>
          <a:prstGeom prst="rect">
            <a:avLst/>
          </a:prstGeom>
          <a:noFill/>
          <a:ln/>
        </p:spPr>
        <p:txBody>
          <a:bodyPr wrap="square" lIns="0" tIns="0" rIns="0" bIns="0" rtlCol="0" anchor="t"/>
          <a:lstStyle/>
          <a:p>
            <a:pPr indent="0" marL="0">
              <a:spcAft>
                <a:spcPts val="500"/>
              </a:spcAft>
              <a:buNone/>
            </a:pPr>
            <a:r>
              <a:rPr lang="en-US" sz="1300" b="1" dirty="0">
                <a:solidFill>
                  <a:schemeClr val="accent1"/>
                </a:solidFill>
              </a:rPr>
              <a:t>Los seis puntos que concentran el contenido evaluable</a:t>
            </a:r>
            <a:endParaRPr lang="en-US" sz="1600" dirty="0"/>
          </a:p>
          <a:p>
            <a:pPr indent="0" marL="0">
              <a:spcAft>
                <a:spcPts val="300"/>
              </a:spcAft>
              <a:buNone/>
            </a:pPr>
            <a:r>
              <a:rPr lang="en-US" sz="1150" dirty="0">
                <a:solidFill>
                  <a:schemeClr val="tx1"/>
                </a:solidFill>
              </a:rPr>
              <a:t>1.  El diagrama de distribución: avances, retrasos, cruce de válvulas y por qué los tiempos reales no son los teóricos.</a:t>
            </a:r>
            <a:endParaRPr lang="en-US" sz="1600" dirty="0"/>
          </a:p>
          <a:p>
            <a:pPr indent="0" marL="0">
              <a:spcAft>
                <a:spcPts val="300"/>
              </a:spcAft>
              <a:buNone/>
            </a:pPr>
            <a:r>
              <a:rPr lang="en-US" sz="1150" dirty="0">
                <a:solidFill>
                  <a:schemeClr val="tx1"/>
                </a:solidFill>
              </a:rPr>
              <a:t>2.  Las arquitecturas SV, OHV, OHC, SOHC y DOHC: qué resuelve cada una y qué complica.</a:t>
            </a:r>
            <a:endParaRPr lang="en-US" sz="1600" dirty="0"/>
          </a:p>
          <a:p>
            <a:pPr indent="0" marL="0">
              <a:spcAft>
                <a:spcPts val="300"/>
              </a:spcAft>
              <a:buNone/>
            </a:pPr>
            <a:r>
              <a:rPr lang="en-US" sz="1150" dirty="0">
                <a:solidFill>
                  <a:schemeClr val="tx1"/>
                </a:solidFill>
              </a:rPr>
              <a:t>3.  Los tres accionamientos: piñones, cadena y correa; duración, mantenimiento y forma de fallar de cada uno.</a:t>
            </a:r>
            <a:endParaRPr lang="en-US" sz="1600" dirty="0"/>
          </a:p>
          <a:p>
            <a:pPr indent="0" marL="0">
              <a:spcAft>
                <a:spcPts val="300"/>
              </a:spcAft>
              <a:buNone/>
            </a:pPr>
            <a:r>
              <a:rPr lang="en-US" sz="1150" dirty="0">
                <a:solidFill>
                  <a:schemeClr val="tx1"/>
                </a:solidFill>
              </a:rPr>
              <a:t>4.  El procedimiento de puesta a punto y la verificación de dos vueltas; motor interferente y sus consecuencias.</a:t>
            </a:r>
            <a:endParaRPr lang="en-US" sz="1600" dirty="0"/>
          </a:p>
          <a:p>
            <a:pPr indent="0" marL="0">
              <a:spcAft>
                <a:spcPts val="300"/>
              </a:spcAft>
              <a:buNone/>
            </a:pPr>
            <a:r>
              <a:rPr lang="en-US" sz="1150" dirty="0">
                <a:solidFill>
                  <a:schemeClr val="tx1"/>
                </a:solidFill>
              </a:rPr>
              <a:t>5.  Los elementos del cabezote y la función de guía, asiento, muelle y sello de vástago.</a:t>
            </a:r>
            <a:endParaRPr lang="en-US" sz="1600" dirty="0"/>
          </a:p>
          <a:p>
            <a:pPr indent="0" marL="0">
              <a:spcAft>
                <a:spcPts val="1000"/>
              </a:spcAft>
              <a:buNone/>
            </a:pPr>
            <a:r>
              <a:rPr lang="en-US" sz="1150" dirty="0">
                <a:solidFill>
                  <a:schemeClr val="tx1"/>
                </a:solidFill>
              </a:rPr>
              <a:t>6.  Las comprobaciones con su criterio de aceptación y su decisión asociada, y el reglaje de válvulas.</a:t>
            </a:r>
            <a:endParaRPr lang="en-US" sz="1600" dirty="0"/>
          </a:p>
          <a:p>
            <a:pPr indent="0" marL="0">
              <a:spcAft>
                <a:spcPts val="500"/>
              </a:spcAft>
              <a:buNone/>
            </a:pPr>
            <a:r>
              <a:rPr lang="en-US" sz="1300" b="1" dirty="0">
                <a:solidFill>
                  <a:schemeClr val="accent1"/>
                </a:solidFill>
              </a:rPr>
              <a:t>Bibliografía básica declarada en el PEA</a:t>
            </a:r>
            <a:endParaRPr lang="en-US" sz="1600" dirty="0"/>
          </a:p>
          <a:p>
            <a:pPr indent="0" marL="0">
              <a:spcAft>
                <a:spcPts val="300"/>
              </a:spcAft>
              <a:buNone/>
            </a:pPr>
            <a:r>
              <a:rPr lang="en-US" sz="1150" dirty="0">
                <a:solidFill>
                  <a:schemeClr val="tx1"/>
                </a:solidFill>
              </a:rPr>
              <a:t>Alonso Pérez, J. M. (2014). Técnicas del automóvil: motores (12.ª ed.). Paraninfo.</a:t>
            </a:r>
            <a:endParaRPr lang="en-US" sz="1600" dirty="0"/>
          </a:p>
          <a:p>
            <a:pPr indent="0" marL="0">
              <a:spcAft>
                <a:spcPts val="300"/>
              </a:spcAft>
              <a:buNone/>
            </a:pPr>
            <a:r>
              <a:rPr lang="en-US" sz="1150" dirty="0">
                <a:solidFill>
                  <a:schemeClr val="tx1"/>
                </a:solidFill>
              </a:rPr>
              <a:t>Payri, F., y Desantes, J. M. (Eds.). (2011). Motores de combustión interna alternativos. Reverté.</a:t>
            </a:r>
            <a:endParaRPr lang="en-US" sz="1600" dirty="0"/>
          </a:p>
          <a:p>
            <a:pPr indent="0" marL="0">
              <a:spcAft>
                <a:spcPts val="1000"/>
              </a:spcAft>
              <a:buNone/>
            </a:pPr>
            <a:r>
              <a:rPr lang="en-US" sz="1150" dirty="0">
                <a:solidFill>
                  <a:schemeClr val="tx1"/>
                </a:solidFill>
              </a:rPr>
              <a:t>Escudero, S., González, J., y Rivas, J. L. (2024). Cuaderno de prácticas: motores (1.ª ed.). Macmillan Iberia.</a:t>
            </a:r>
            <a:endParaRPr lang="en-US" sz="1600" dirty="0"/>
          </a:p>
          <a:p>
            <a:pPr indent="0" marL="0">
              <a:spcAft>
                <a:spcPts val="500"/>
              </a:spcAft>
              <a:buNone/>
            </a:pPr>
            <a:r>
              <a:rPr lang="en-US" sz="1300" b="1" dirty="0">
                <a:solidFill>
                  <a:schemeClr val="accent1"/>
                </a:solidFill>
              </a:rPr>
              <a:t>Recursos declarados en el PEA</a:t>
            </a:r>
            <a:endParaRPr lang="en-US" sz="1600" dirty="0"/>
          </a:p>
          <a:p>
            <a:pPr indent="0" marL="0">
              <a:buNone/>
            </a:pPr>
            <a:r>
              <a:rPr lang="en-US" sz="1150" dirty="0">
                <a:solidFill>
                  <a:schemeClr val="tx1"/>
                </a:solidFill>
              </a:rPr>
              <a:t>Entorno virtual de aprendizaje · proyector · biblioteca virtual · software de manuales automotrices Autodata, para valores de reglaje, pares de apriete y procedimientos de puesta a punto.</a:t>
            </a:r>
            <a:endParaRPr lang="en-US" sz="1600" dirty="0"/>
          </a:p>
        </p:txBody>
      </p:sp>
      <p:sp>
        <p:nvSpPr>
          <p:cNvPr id="4" name="Text 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 de bibliografía y recursos del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ctr"/>
          <a:lstStyle/>
          <a:p>
            <a:pPr indent="0" marL="0">
              <a:buNone/>
            </a:pPr>
            <a:r>
              <a:rPr lang="en-US" sz="3400" b="1" dirty="0">
                <a:solidFill>
                  <a:schemeClr val="bg1"/>
                </a:solidFill>
              </a:rPr>
              <a:t>Fin de la Unidad 3</a:t>
            </a:r>
            <a:endParaRPr lang="en-US" sz="3400" dirty="0"/>
          </a:p>
        </p:txBody>
      </p:sp>
      <p:sp>
        <p:nvSpPr>
          <p:cNvPr id="3" name="Text 1"/>
          <p:cNvSpPr/>
          <p:nvPr/>
        </p:nvSpPr>
        <p:spPr>
          <a:xfrm>
            <a:off x="0" y="0"/>
            <a:ext cx="9144000" cy="0"/>
          </a:xfrm>
          <a:prstGeom prst="rect">
            <a:avLst/>
          </a:prstGeom>
          <a:noFill/>
          <a:ln/>
        </p:spPr>
        <p:txBody>
          <a:bodyPr wrap="square" rtlCol="0"/>
          <a:lstStyle/>
          <a:p>
            <a:pPr indent="0" marL="0">
              <a:buNone/>
            </a:pPr>
            <a:r>
              <a:rPr lang="en-US" dirty="0"/>
              <a:t>Sistema de distribución y elementos del cabezote  ·  Continúa en la Unidad 4: refrigeración, lubricación y bloque motor</a:t>
            </a:r>
            <a:endParaRPr lang="en-US" dirty="0"/>
          </a:p>
        </p:txBody>
      </p:sp>
      <p:sp>
        <p:nvSpPr>
          <p:cNvPr id="4" name="Text 2"/>
          <p:cNvSpPr/>
          <p:nvPr/>
        </p:nvSpPr>
        <p:spPr>
          <a:xfrm>
            <a:off x="0" y="0"/>
            <a:ext cx="9144000" cy="0"/>
          </a:xfrm>
          <a:prstGeom prst="rect">
            <a:avLst/>
          </a:prstGeom>
          <a:noFill/>
          <a:ln/>
        </p:spPr>
        <p:txBody>
          <a:bodyPr wrap="square" rtlCol="0"/>
          <a:lstStyle/>
          <a:p>
            <a:pPr indent="0" marL="0">
              <a:buNone/>
            </a:pPr>
            <a:r>
              <a:rPr lang="en-US" dirty="0"/>
              <a:t>Ing. Miguel Angel Minga González  ·  MA.02.06 Sistemas del Funcionamiento del Motor  ·  Tecnología Superior en Mecánica Automotriz  ·  Instituto Superior Tecnológico Sudamericano</a:t>
            </a:r>
            <a:endParaRPr lang="en-US"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diagrama de distribución teórico y real</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2_defweb_ppsx_s026_69f898.png"/>
          <p:cNvPicPr>
            <a:picLocks noChangeAspect="1"/>
          </p:cNvPicPr>
          <p:nvPr/>
        </p:nvPicPr>
        <p:blipFill>
          <a:blip r:embed="rId2"/>
          <a:stretch>
            <a:fillRect/>
          </a:stretch>
        </p:blipFill>
        <p:spPr>
          <a:xfrm>
            <a:off x="676656" y="2389610"/>
            <a:ext cx="3168396" cy="1676442"/>
          </a:xfrm>
          <a:prstGeom prst="rect">
            <a:avLst/>
          </a:prstGeom>
        </p:spPr>
      </p:pic>
      <p:pic>
        <p:nvPicPr>
          <p:cNvPr id="103" name="figura" descr="CLASE_3_pptx_s076_af04ef.png"/>
          <p:cNvPicPr>
            <a:picLocks noChangeAspect="1"/>
          </p:cNvPicPr>
          <p:nvPr/>
        </p:nvPicPr>
        <p:blipFill>
          <a:blip r:embed="rId3"/>
          <a:stretch>
            <a:fillRect/>
          </a:stretch>
        </p:blipFill>
        <p:spPr>
          <a:xfrm>
            <a:off x="4007251" y="1499616"/>
            <a:ext cx="3100029" cy="345643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 </a:t>
            </a:r>
            <a:r>
              <a:rPr lang="es-EC" sz="1000" b="0" dirty="0">
                <a:solidFill>
                  <a:schemeClr val="accent4"/>
                </a:solidFill>
              </a:rPr>
              <a:t>Diagrama teórico y real de un motor Otto de cuatro tiempos (a) y diagrama circular con avances, retrasos y cruce (b). Adaptado de González Calleja, D. (2018). Motores (2.ª ed.). Paraninfo. Minga González, M. A. (s. f.). El motor de cuatro tiempos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Teórico: cada tiempo 180°</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En el ciclo teórico las válvulas abren y cierran exactamente en PMS y PMI.</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Real: AAA, RCA, AAE, RCE</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Las válvulas abren antes y cierran después para aprovechar la inercia de los gases.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Se lee en grados de cigüeñal</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Cada cota del diagrama se mide en grados de giro del cigüeñal, no del árbol de levas.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distribución</a:t>
            </a:r>
            <a:endParaRPr lang="es-EC" sz="1050" dirty="0"/>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alzada de válvulas y cruce</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6_defweb_ppsx_s032_cb21e2.png"/>
          <p:cNvPicPr>
            <a:picLocks noChangeAspect="1"/>
          </p:cNvPicPr>
          <p:nvPr/>
        </p:nvPicPr>
        <p:blipFill>
          <a:blip r:embed="rId2"/>
          <a:stretch>
            <a:fillRect/>
          </a:stretch>
        </p:blipFill>
        <p:spPr>
          <a:xfrm>
            <a:off x="676656" y="2250975"/>
            <a:ext cx="3168396" cy="1953713"/>
          </a:xfrm>
          <a:prstGeom prst="rect">
            <a:avLst/>
          </a:prstGeom>
        </p:spPr>
      </p:pic>
      <p:pic>
        <p:nvPicPr>
          <p:cNvPr id="103" name="figura" descr="9788428340106_Unidad_02_defweb_ppsx_s029_6cae36.png"/>
          <p:cNvPicPr>
            <a:picLocks noChangeAspect="1"/>
          </p:cNvPicPr>
          <p:nvPr/>
        </p:nvPicPr>
        <p:blipFill>
          <a:blip r:embed="rId3"/>
          <a:stretch>
            <a:fillRect/>
          </a:stretch>
        </p:blipFill>
        <p:spPr>
          <a:xfrm>
            <a:off x="3973068" y="2711278"/>
            <a:ext cx="3168396" cy="103310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 </a:t>
            </a:r>
            <a:r>
              <a:rPr lang="es-EC" sz="1000" b="0" dirty="0">
                <a:solidFill>
                  <a:schemeClr val="accent4"/>
                </a:solidFill>
              </a:rPr>
              <a:t>Perfiles ideal y real de alzada de las válvulas de escape y admisión con la zona de cruce (a) y diagramas teórico y real comparados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La alzada es una curva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válvula abre y cierra de forma progresiva; el perfil de la leva fija la velocidad de apertura.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Cruce = solape</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Al final del escape y comienzo de la admisión ambas válvulas están abiertas a la vez.</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Efecto del cruce</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Mejora el barrido a alto régimen, pero a ralentí devuelve gases quemados a la admisión.</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distribución</a:t>
            </a:r>
            <a:endParaRPr lang="es-EC" sz="1050" dirty="0"/>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variadores de fase del árbol de levas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6_defweb_ppsx_s037_22dc1e.png"/>
          <p:cNvPicPr>
            <a:picLocks noChangeAspect="1"/>
          </p:cNvPicPr>
          <p:nvPr/>
        </p:nvPicPr>
        <p:blipFill>
          <a:blip r:embed="rId2"/>
          <a:stretch>
            <a:fillRect/>
          </a:stretch>
        </p:blipFill>
        <p:spPr>
          <a:xfrm>
            <a:off x="676656" y="2001644"/>
            <a:ext cx="3168396" cy="2452374"/>
          </a:xfrm>
          <a:prstGeom prst="rect">
            <a:avLst/>
          </a:prstGeom>
        </p:spPr>
      </p:pic>
      <p:pic>
        <p:nvPicPr>
          <p:cNvPr id="103" name="figura" descr="9788428340106_Unidad_06_defweb_ppsx_s041_de99f7.png"/>
          <p:cNvPicPr>
            <a:picLocks noChangeAspect="1"/>
          </p:cNvPicPr>
          <p:nvPr/>
        </p:nvPicPr>
        <p:blipFill>
          <a:blip r:embed="rId3"/>
          <a:stretch>
            <a:fillRect/>
          </a:stretch>
        </p:blipFill>
        <p:spPr>
          <a:xfrm>
            <a:off x="3973068" y="1535865"/>
            <a:ext cx="3168396" cy="3383933"/>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19. </a:t>
            </a:r>
            <a:r>
              <a:rPr lang="es-EC" sz="1000" b="0" dirty="0">
                <a:solidFill>
                  <a:schemeClr val="accent4"/>
                </a:solidFill>
              </a:rPr>
              <a:t>Desplazamiento angular del árbol de levas de admisión respecto al de escape (a) y diagrama de un sistema Variocam en reposo y en funcionamiento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Variar la fase</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 actuador gira el árbol de admisión unos grados respecto a su piñón: cambia el cruce sin cambiar la alzada.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Mando hidráulico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presión de aceite, controlada por una electroválvula, mueve el variador según el régimen y la carga.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Aceite limpio y correcto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Aceite degradado o de viscosidad errónea provoca ruidos y códigos de falla del variador.</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distribución</a:t>
            </a:r>
            <a:endParaRPr lang="es-EC" sz="1050" dirty="0"/>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la leva y su perfil</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4_defweb_ppsx_s085_ec0e40.png"/>
          <p:cNvPicPr>
            <a:picLocks noChangeAspect="1"/>
          </p:cNvPicPr>
          <p:nvPr/>
        </p:nvPicPr>
        <p:blipFill>
          <a:blip r:embed="rId2"/>
          <a:stretch>
            <a:fillRect/>
          </a:stretch>
        </p:blipFill>
        <p:spPr>
          <a:xfrm>
            <a:off x="676656" y="2832117"/>
            <a:ext cx="3168396" cy="791428"/>
          </a:xfrm>
          <a:prstGeom prst="rect">
            <a:avLst/>
          </a:prstGeom>
        </p:spPr>
      </p:pic>
      <p:pic>
        <p:nvPicPr>
          <p:cNvPr id="103" name="figura" descr="CROL_Cap_5_1_Componentes_del_motor_organ_s007_0e3114.png"/>
          <p:cNvPicPr>
            <a:picLocks noChangeAspect="1"/>
          </p:cNvPicPr>
          <p:nvPr/>
        </p:nvPicPr>
        <p:blipFill>
          <a:blip r:embed="rId3"/>
          <a:stretch>
            <a:fillRect/>
          </a:stretch>
        </p:blipFill>
        <p:spPr>
          <a:xfrm>
            <a:off x="4047618" y="1499616"/>
            <a:ext cx="3019295" cy="345643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22. </a:t>
            </a:r>
            <a:r>
              <a:rPr lang="es-EC" sz="1000" b="0" dirty="0">
                <a:solidFill>
                  <a:schemeClr val="accent4"/>
                </a:solidFill>
              </a:rPr>
              <a:t>Características de la leva y su relación con el diagrama de alzada (a) y perfil de la leva con zonas de apertura y cierre (b). Adaptado de González Calleja, D. (2018). Motores (2.ª ed.). Paraninfo.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Círculo base</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Mientras el seguidor apoya en el círculo base la válvula está cerrada y existe holgura.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Flancos y cresta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Los flancos fijan la velocidad de apertura y cierre; la cresta, la alzada máxima.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Ángulo de leva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Los grados de leva por dos dan los grados de cigüeñal que la válvula permanece abierta.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distribución</a:t>
            </a:r>
            <a:endParaRPr lang="es-EC" sz="1050" dirty="0"/>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marcas de puesta en fase</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101_b521c9.png"/>
          <p:cNvPicPr>
            <a:picLocks noChangeAspect="1"/>
          </p:cNvPicPr>
          <p:nvPr/>
        </p:nvPicPr>
        <p:blipFill>
          <a:blip r:embed="rId2"/>
          <a:stretch>
            <a:fillRect/>
          </a:stretch>
        </p:blipFill>
        <p:spPr>
          <a:xfrm>
            <a:off x="676656" y="2137688"/>
            <a:ext cx="3168396" cy="2180286"/>
          </a:xfrm>
          <a:prstGeom prst="rect">
            <a:avLst/>
          </a:prstGeom>
        </p:spPr>
      </p:pic>
      <p:pic>
        <p:nvPicPr>
          <p:cNvPr id="103" name="figura" descr="9788428340106_Unidad_05_defweb_ppsx_s105_7fa859.png"/>
          <p:cNvPicPr>
            <a:picLocks noChangeAspect="1"/>
          </p:cNvPicPr>
          <p:nvPr/>
        </p:nvPicPr>
        <p:blipFill>
          <a:blip r:embed="rId3"/>
          <a:stretch>
            <a:fillRect/>
          </a:stretch>
        </p:blipFill>
        <p:spPr>
          <a:xfrm>
            <a:off x="3973068" y="2215705"/>
            <a:ext cx="3168396" cy="2024253"/>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26. </a:t>
            </a:r>
            <a:r>
              <a:rPr lang="es-EC" sz="1000" b="0" dirty="0">
                <a:solidFill>
                  <a:schemeClr val="accent4"/>
                </a:solidFill>
              </a:rPr>
              <a:t>Bloqueo de cigüeñal y árbol de levas para la puesta en fase (a) y marcas de acoplamiento en un mando por cadena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Cilindro 1 en PMS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gira el cigüeñal en su sentido hasta que el cilindro 1 queda en PMS de compresión.</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Marcas alineadas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Las marcas de piñones, polea y bloque deben coincidir; en cadenas, eslabones pintados.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Dos vueltas de verificación</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Tras montar se giran dos vueltas a mano y se comprueba que las marcas vuelven a coincidir.</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 la distribución</a:t>
            </a:r>
            <a:endParaRPr lang="es-EC" sz="1050" dirty="0"/>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mando por cadena y tensores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4_defweb_ppsx_s077_d5bae6.png"/>
          <p:cNvPicPr>
            <a:picLocks noChangeAspect="1"/>
          </p:cNvPicPr>
          <p:nvPr/>
        </p:nvPicPr>
        <p:blipFill>
          <a:blip r:embed="rId2"/>
          <a:stretch>
            <a:fillRect/>
          </a:stretch>
        </p:blipFill>
        <p:spPr>
          <a:xfrm>
            <a:off x="676656" y="1665680"/>
            <a:ext cx="3168396" cy="3124303"/>
          </a:xfrm>
          <a:prstGeom prst="rect">
            <a:avLst/>
          </a:prstGeom>
        </p:spPr>
      </p:pic>
      <p:pic>
        <p:nvPicPr>
          <p:cNvPr id="103" name="figura" descr="CROL_Cap_5_2_Componentes_del_motor_organ_s004_090515.png"/>
          <p:cNvPicPr>
            <a:picLocks noChangeAspect="1"/>
          </p:cNvPicPr>
          <p:nvPr/>
        </p:nvPicPr>
        <p:blipFill>
          <a:blip r:embed="rId3"/>
          <a:stretch>
            <a:fillRect/>
          </a:stretch>
        </p:blipFill>
        <p:spPr>
          <a:xfrm>
            <a:off x="3973068" y="2525098"/>
            <a:ext cx="3168396" cy="140546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29. </a:t>
            </a:r>
            <a:r>
              <a:rPr lang="es-EC" sz="1000" b="0" dirty="0">
                <a:solidFill>
                  <a:schemeClr val="accent4"/>
                </a:solidFill>
              </a:rPr>
              <a:t>Accionamiento por cadena con patines guía y tensor (a) y tensor hidráulico de cadena de distribución (b). Adaptado de González Calleja, D. (2018). Motores (2.ª ed.). Paraninfo.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Cadena: larga vida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Lubricada por el aceite del motor; se sustituye por alargamiento, ruido o salto.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Patines y guías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Guían la cadena y reducen su vibración; se desgastan y rompen con los años.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Tensor hidráulico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Usa la presión de aceite; con aceite degradado la cadena golpea en el arranque.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 la distribución</a:t>
            </a:r>
            <a:endParaRPr lang="es-EC" sz="1050" dirty="0"/>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inspección de la correa y de la cadena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46_fca47d.png"/>
          <p:cNvPicPr>
            <a:picLocks noChangeAspect="1"/>
          </p:cNvPicPr>
          <p:nvPr/>
        </p:nvPicPr>
        <p:blipFill>
          <a:blip r:embed="rId2"/>
          <a:stretch>
            <a:fillRect/>
          </a:stretch>
        </p:blipFill>
        <p:spPr>
          <a:xfrm>
            <a:off x="676656" y="1931670"/>
            <a:ext cx="3168396" cy="2592324"/>
          </a:xfrm>
          <a:prstGeom prst="rect">
            <a:avLst/>
          </a:prstGeom>
        </p:spPr>
      </p:pic>
      <p:pic>
        <p:nvPicPr>
          <p:cNvPr id="103" name="figura" descr="9788428340106_Unidad_05_defweb_ppsx_s046_6ddd4b.jpg"/>
          <p:cNvPicPr>
            <a:picLocks noChangeAspect="1"/>
          </p:cNvPicPr>
          <p:nvPr/>
        </p:nvPicPr>
        <p:blipFill>
          <a:blip r:embed="rId3"/>
          <a:stretch>
            <a:fillRect/>
          </a:stretch>
        </p:blipFill>
        <p:spPr>
          <a:xfrm>
            <a:off x="3973068" y="1815414"/>
            <a:ext cx="3168396" cy="2824834"/>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35. </a:t>
            </a:r>
            <a:r>
              <a:rPr lang="es-EC" sz="1000" b="0" dirty="0">
                <a:solidFill>
                  <a:schemeClr val="accent4"/>
                </a:solidFill>
              </a:rPr>
              <a:t>Comprobación visual de la correa dentada (a) y de la cadena de distribución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Correa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Grietas en la base de los dientes, dientes arrancados, cantos deshilachados o contaminación con aceite.</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Cadena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Eslabones con juego, rodillos marcados y patines desgastados.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Se cambia por kilometraje o tiempo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correa se sustituye según el plan del fabricante aunque parezca sana.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 la distribución</a:t>
            </a:r>
            <a:endParaRPr lang="es-EC" sz="1050" dirty="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útiles de bloqueo y sujeción</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103_f23c36.png"/>
          <p:cNvPicPr>
            <a:picLocks noChangeAspect="1"/>
          </p:cNvPicPr>
          <p:nvPr/>
        </p:nvPicPr>
        <p:blipFill>
          <a:blip r:embed="rId2"/>
          <a:stretch>
            <a:fillRect/>
          </a:stretch>
        </p:blipFill>
        <p:spPr>
          <a:xfrm>
            <a:off x="676656" y="1513170"/>
            <a:ext cx="3168396" cy="3429322"/>
          </a:xfrm>
          <a:prstGeom prst="rect">
            <a:avLst/>
          </a:prstGeom>
        </p:spPr>
      </p:pic>
      <p:pic>
        <p:nvPicPr>
          <p:cNvPr id="103" name="figura" descr="9788428340106_Unidad_05_defweb_ppsx_s023_0d81b1.png"/>
          <p:cNvPicPr>
            <a:picLocks noChangeAspect="1"/>
          </p:cNvPicPr>
          <p:nvPr/>
        </p:nvPicPr>
        <p:blipFill>
          <a:blip r:embed="rId3"/>
          <a:stretch>
            <a:fillRect/>
          </a:stretch>
        </p:blipFill>
        <p:spPr>
          <a:xfrm>
            <a:off x="3973068" y="2213515"/>
            <a:ext cx="3168396" cy="2028633"/>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39. </a:t>
            </a:r>
            <a:r>
              <a:rPr lang="es-EC" sz="1000" b="0" dirty="0">
                <a:solidFill>
                  <a:schemeClr val="accent4"/>
                </a:solidFill>
              </a:rPr>
              <a:t>Útil para el tensado de la correa de distribución (a) y polea del árbol de levas, retén y horquilla de sujeción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Tensado medido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aplica la tensión del fabricante con útil o con el tensor automático y su marca.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Sujetar la polea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horquilla impide que el árbol gire al aflojar o apretar el tornillo de la polea.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Nunca sujetar por la correa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Usar la correa como freno salta dientes y deja el motor desfasado.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 la distribución</a:t>
            </a:r>
            <a:endParaRPr lang="es-EC" sz="1050" dirty="0"/>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el kit de distribución completo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14_e1f321.png"/>
          <p:cNvPicPr>
            <a:picLocks noChangeAspect="1"/>
          </p:cNvPicPr>
          <p:nvPr/>
        </p:nvPicPr>
        <p:blipFill>
          <a:blip r:embed="rId2"/>
          <a:stretch>
            <a:fillRect/>
          </a:stretch>
        </p:blipFill>
        <p:spPr>
          <a:xfrm>
            <a:off x="676656" y="2073910"/>
            <a:ext cx="3168396" cy="2307844"/>
          </a:xfrm>
          <a:prstGeom prst="rect">
            <a:avLst/>
          </a:prstGeom>
        </p:spPr>
      </p:pic>
      <p:pic>
        <p:nvPicPr>
          <p:cNvPr id="103" name="figura" descr="9788428340106_Unidad_08_defweb_ppsx_s012_abc194.png"/>
          <p:cNvPicPr>
            <a:picLocks noChangeAspect="1"/>
          </p:cNvPicPr>
          <p:nvPr/>
        </p:nvPicPr>
        <p:blipFill>
          <a:blip r:embed="rId3"/>
          <a:stretch>
            <a:fillRect/>
          </a:stretch>
        </p:blipFill>
        <p:spPr>
          <a:xfrm>
            <a:off x="3973068" y="2735674"/>
            <a:ext cx="3168396" cy="984315"/>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43. </a:t>
            </a:r>
            <a:r>
              <a:rPr lang="es-EC" sz="1000" b="0" dirty="0">
                <a:solidFill>
                  <a:schemeClr val="accent4"/>
                </a:solidFill>
              </a:rPr>
              <a:t>Marcado del sentido de giro de la correa antes de desmontarla (a) y bomba de agua accionada por la correa de distribución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Correa, tensor y rodillos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sustituyen juntos: un rodillo gastado destruye una correa nueva.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Bomba de agua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Si la mueve la correa, se cambia en la misma intervención para no desmontar dos veces.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Sentido de giro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Si una correa se reutiliza para diagnóstico, se marca su sentido de giro.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 la distribución</a:t>
            </a:r>
            <a:endParaRPr lang="es-EC" sz="1050" dirty="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distribución en motores en V</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ROL_Cap_5_2_Componentes_del_motor_organ_s005_0c11ca.png"/>
          <p:cNvPicPr>
            <a:picLocks noChangeAspect="1"/>
          </p:cNvPicPr>
          <p:nvPr/>
        </p:nvPicPr>
        <p:blipFill>
          <a:blip r:embed="rId2"/>
          <a:stretch>
            <a:fillRect/>
          </a:stretch>
        </p:blipFill>
        <p:spPr>
          <a:xfrm>
            <a:off x="676656" y="1859396"/>
            <a:ext cx="6464808" cy="273687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45. </a:t>
            </a:r>
            <a:r>
              <a:rPr lang="es-EC" sz="1000" b="0" dirty="0">
                <a:solidFill>
                  <a:schemeClr val="accent4"/>
                </a:solidFill>
              </a:rPr>
              <a:t>Mando de distribución de un motor en V con dos bancadas y sus árboles de levas. Adaptado de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Dos bancadas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Cada bancada tiene sus árboles; ambas se sincronizan con el mismo cigüeñal.</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Marcas por bancada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manual indica las marcas de cada lado; se verifican antes de tensar.</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Correas o cadenas largas</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Mayor recorrido implica más rodillos guía y tensores.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 la distribución</a:t>
            </a:r>
            <a:endParaRPr lang="es-EC" sz="1050" dirty="0"/>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compresor de muelles de válvula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26_19599d.jpg"/>
          <p:cNvPicPr>
            <a:picLocks noChangeAspect="1"/>
          </p:cNvPicPr>
          <p:nvPr/>
        </p:nvPicPr>
        <p:blipFill>
          <a:blip r:embed="rId2"/>
          <a:stretch>
            <a:fillRect/>
          </a:stretch>
        </p:blipFill>
        <p:spPr>
          <a:xfrm>
            <a:off x="676656" y="2251152"/>
            <a:ext cx="3168396" cy="1953359"/>
          </a:xfrm>
          <a:prstGeom prst="rect">
            <a:avLst/>
          </a:prstGeom>
        </p:spPr>
      </p:pic>
      <p:pic>
        <p:nvPicPr>
          <p:cNvPr id="103" name="figura" descr="9788428340106_Unidad_05_defweb_ppsx_s026_6b4787.png"/>
          <p:cNvPicPr>
            <a:picLocks noChangeAspect="1"/>
          </p:cNvPicPr>
          <p:nvPr/>
        </p:nvPicPr>
        <p:blipFill>
          <a:blip r:embed="rId3"/>
          <a:stretch>
            <a:fillRect/>
          </a:stretch>
        </p:blipFill>
        <p:spPr>
          <a:xfrm>
            <a:off x="3973068" y="1689442"/>
            <a:ext cx="3168396" cy="3076779"/>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55. </a:t>
            </a:r>
            <a:r>
              <a:rPr lang="es-EC" sz="1000" b="0" dirty="0">
                <a:solidFill>
                  <a:schemeClr val="accent4"/>
                </a:solidFill>
              </a:rPr>
              <a:t>Compresor de muelles de válvulas en su estuche (a) y montaje del compresor sobre el cabezote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Herramienta adecuada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compresor apoya en el plato de la válvula y en el platillo del muelle, alineado con el vástago.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Chavetas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Con el muelle comprimido se retiran las chavetas con imán o pinza; nunca con los dedos.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Orden de las piezas</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Cada válvula con su muelle, platillos y chavetas se guarda identificada por cilindro.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del cabezote</a:t>
            </a:r>
            <a:endParaRPr lang="es-EC" sz="1050" dirty="0"/>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medición del árbol de levas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65_f765a8.png"/>
          <p:cNvPicPr>
            <a:picLocks noChangeAspect="1"/>
          </p:cNvPicPr>
          <p:nvPr/>
        </p:nvPicPr>
        <p:blipFill>
          <a:blip r:embed="rId2"/>
          <a:stretch>
            <a:fillRect/>
          </a:stretch>
        </p:blipFill>
        <p:spPr>
          <a:xfrm>
            <a:off x="676656" y="2136495"/>
            <a:ext cx="3168396" cy="2182672"/>
          </a:xfrm>
          <a:prstGeom prst="rect">
            <a:avLst/>
          </a:prstGeom>
        </p:spPr>
      </p:pic>
      <p:pic>
        <p:nvPicPr>
          <p:cNvPr id="103" name="figura" descr="9788428340106_Unidad_05_defweb_ppsx_s067_f11235.png"/>
          <p:cNvPicPr>
            <a:picLocks noChangeAspect="1"/>
          </p:cNvPicPr>
          <p:nvPr/>
        </p:nvPicPr>
        <p:blipFill>
          <a:blip r:embed="rId3"/>
          <a:stretch>
            <a:fillRect/>
          </a:stretch>
        </p:blipFill>
        <p:spPr>
          <a:xfrm>
            <a:off x="3973068" y="2040391"/>
            <a:ext cx="3168396" cy="237488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59. </a:t>
            </a:r>
            <a:r>
              <a:rPr lang="es-EC" sz="1000" b="0" dirty="0">
                <a:solidFill>
                  <a:schemeClr val="accent4"/>
                </a:solidFill>
              </a:rPr>
              <a:t>Medida de la excentricidad del árbol de levas con reloj comparador (a) y del diámetro de los apoyos con micrómetro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Excentricidad</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árbol apoyado en sus extremos sobre prismas; el reloj en el apoyo central mide su flexión.</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Apoyos y levas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miden diámetros de apoyos y altura de levas y se comparan con el límite de servicio.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Holgura de aceite</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Con Plastigage o por diferencia de diámetros se obtiene la holgura en los cojinetes de la culata.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comprobaciones del cabezote</a:t>
            </a:r>
            <a:endParaRPr lang="es-EC" sz="1050" dirty="0"/>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orden y par de apriete de la culata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99_0aa373.jpg"/>
          <p:cNvPicPr>
            <a:picLocks noChangeAspect="1"/>
          </p:cNvPicPr>
          <p:nvPr/>
        </p:nvPicPr>
        <p:blipFill>
          <a:blip r:embed="rId2"/>
          <a:stretch>
            <a:fillRect/>
          </a:stretch>
        </p:blipFill>
        <p:spPr>
          <a:xfrm>
            <a:off x="676656" y="2531717"/>
            <a:ext cx="3168396" cy="1392228"/>
          </a:xfrm>
          <a:prstGeom prst="rect">
            <a:avLst/>
          </a:prstGeom>
        </p:spPr>
      </p:pic>
      <p:pic>
        <p:nvPicPr>
          <p:cNvPr id="103" name="figura" descr="CROL_Cap_6_1_Verificaci_n_y_reparaci_n_d_s007_20836d.png"/>
          <p:cNvPicPr>
            <a:picLocks noChangeAspect="1"/>
          </p:cNvPicPr>
          <p:nvPr/>
        </p:nvPicPr>
        <p:blipFill>
          <a:blip r:embed="rId3"/>
          <a:stretch>
            <a:fillRect/>
          </a:stretch>
        </p:blipFill>
        <p:spPr>
          <a:xfrm>
            <a:off x="3973068" y="1933752"/>
            <a:ext cx="3168396" cy="2588159"/>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62. </a:t>
            </a:r>
            <a:r>
              <a:rPr lang="es-EC" sz="1000" b="0" dirty="0">
                <a:solidFill>
                  <a:schemeClr val="accent4"/>
                </a:solidFill>
              </a:rPr>
              <a:t>Orden de apriete en espiral de los tornillos de la culata (a) y apriete con llave dinamométrica y goniómetro (b). Adaptado de González Calleja, D. (2018). Motores (2.ª ed.). Paraninfo.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Del centro a los extremos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apriete en espiral reparte la presión y evita deformar la culata.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Por etapas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Par inicial, segundo par y luego ángulo, según la secuencia del fabricante.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Tornillos de estiramiento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Los tornillos apretados por ángulo se deforman plásticamente y se sustituyen.</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del cabezote</a:t>
            </a:r>
            <a:endParaRPr lang="es-EC" sz="1050" dirty="0"/>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planitud de la culata y altura mínima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50_f36564.jpg"/>
          <p:cNvPicPr>
            <a:picLocks noChangeAspect="1"/>
          </p:cNvPicPr>
          <p:nvPr/>
        </p:nvPicPr>
        <p:blipFill>
          <a:blip r:embed="rId2"/>
          <a:stretch>
            <a:fillRect/>
          </a:stretch>
        </p:blipFill>
        <p:spPr>
          <a:xfrm>
            <a:off x="676656" y="2046571"/>
            <a:ext cx="3168396" cy="2362521"/>
          </a:xfrm>
          <a:prstGeom prst="rect">
            <a:avLst/>
          </a:prstGeom>
        </p:spPr>
      </p:pic>
      <p:pic>
        <p:nvPicPr>
          <p:cNvPr id="103" name="figura" descr="9788428340106_Unidad_05_defweb_ppsx_s051_90def4.png"/>
          <p:cNvPicPr>
            <a:picLocks noChangeAspect="1"/>
          </p:cNvPicPr>
          <p:nvPr/>
        </p:nvPicPr>
        <p:blipFill>
          <a:blip r:embed="rId3"/>
          <a:stretch>
            <a:fillRect/>
          </a:stretch>
        </p:blipFill>
        <p:spPr>
          <a:xfrm>
            <a:off x="3973068" y="2117293"/>
            <a:ext cx="3168396" cy="222107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64. </a:t>
            </a:r>
            <a:r>
              <a:rPr lang="es-EC" sz="1000" b="0" dirty="0">
                <a:solidFill>
                  <a:schemeClr val="accent4"/>
                </a:solidFill>
              </a:rPr>
              <a:t>Medición de la deformación del plano de junta con regla y galgas (a) y altura mínima entre el plato de la válvula y el plano de junta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Seis direcciones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Longitudinal, transversal y diagonales; se anota el mayor valor medido.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Límite de alabeo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Valores orientativos de 0,05 mm en culatas de aluminio; el manual fija el límite real.</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Altura mínima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Al rectificar la culata o los asientos, la válvula no debe quedar por debajo de la altura especificada.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comprobaciones del cabezote</a:t>
            </a:r>
            <a:endParaRPr lang="es-EC" sz="1050" dirty="0"/>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sustitución de guías de válvula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57_14504e.png"/>
          <p:cNvPicPr>
            <a:picLocks noChangeAspect="1"/>
          </p:cNvPicPr>
          <p:nvPr/>
        </p:nvPicPr>
        <p:blipFill>
          <a:blip r:embed="rId2"/>
          <a:stretch>
            <a:fillRect/>
          </a:stretch>
        </p:blipFill>
        <p:spPr>
          <a:xfrm>
            <a:off x="959560" y="1499616"/>
            <a:ext cx="2602586" cy="3456432"/>
          </a:xfrm>
          <a:prstGeom prst="rect">
            <a:avLst/>
          </a:prstGeom>
        </p:spPr>
      </p:pic>
      <p:pic>
        <p:nvPicPr>
          <p:cNvPr id="103" name="figura" descr="9788428340106_Unidad_05_defweb_ppsx_s058_d36bd2.png"/>
          <p:cNvPicPr>
            <a:picLocks noChangeAspect="1"/>
          </p:cNvPicPr>
          <p:nvPr/>
        </p:nvPicPr>
        <p:blipFill>
          <a:blip r:embed="rId3"/>
          <a:stretch>
            <a:fillRect/>
          </a:stretch>
        </p:blipFill>
        <p:spPr>
          <a:xfrm>
            <a:off x="3973068" y="2159323"/>
            <a:ext cx="3168396" cy="213701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66. </a:t>
            </a:r>
            <a:r>
              <a:rPr lang="es-EC" sz="1000" b="0" dirty="0">
                <a:solidFill>
                  <a:schemeClr val="accent4"/>
                </a:solidFill>
              </a:rPr>
              <a:t>Extracción y montaje de la guía con botador (a) y calentamiento de la culata en aceite para el montaje de la guía nueva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Holgura vástago–guía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mide con reloj comparador moviendo la válvula lateralmente, o con micrómetro y alexómetro de guías.</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Síntoma de guía gastada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Humo azul al arrancar o al soltar el acelerador: el aceite baja por la guía.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Sustitución</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guía se extrae y se monta a presión con botador; después se escaria y se rectifica el asiento.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comprobaciones del cabezote</a:t>
            </a:r>
            <a:endParaRPr lang="es-EC" sz="1050" dirty="0"/>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rectificado de asientos y ángulos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59_48b5f3.png"/>
          <p:cNvPicPr>
            <a:picLocks noChangeAspect="1"/>
          </p:cNvPicPr>
          <p:nvPr/>
        </p:nvPicPr>
        <p:blipFill>
          <a:blip r:embed="rId2"/>
          <a:stretch>
            <a:fillRect/>
          </a:stretch>
        </p:blipFill>
        <p:spPr>
          <a:xfrm>
            <a:off x="676656" y="1563590"/>
            <a:ext cx="3168396" cy="3328483"/>
          </a:xfrm>
          <a:prstGeom prst="rect">
            <a:avLst/>
          </a:prstGeom>
        </p:spPr>
      </p:pic>
      <p:pic>
        <p:nvPicPr>
          <p:cNvPr id="103" name="figura" descr="9788428340106_Unidad_04_defweb_ppsx_s091_7b1d00.png"/>
          <p:cNvPicPr>
            <a:picLocks noChangeAspect="1"/>
          </p:cNvPicPr>
          <p:nvPr/>
        </p:nvPicPr>
        <p:blipFill>
          <a:blip r:embed="rId3"/>
          <a:stretch>
            <a:fillRect/>
          </a:stretch>
        </p:blipFill>
        <p:spPr>
          <a:xfrm>
            <a:off x="3973068" y="1907667"/>
            <a:ext cx="3168396" cy="264033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67. </a:t>
            </a:r>
            <a:r>
              <a:rPr lang="es-EC" sz="1000" b="0" dirty="0">
                <a:solidFill>
                  <a:schemeClr val="accent4"/>
                </a:solidFill>
              </a:rPr>
              <a:t>Rectificado del asiento de válvula con fresas de varios ángulos (a) y diferencia de ángulo entre válvula y asiento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Tres ángulos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asiento se rectifica a 45° y se corrige su anchura con fresas de 30° y 60° (o 15° y 75°).</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Ángulo de interferencia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válvula se rectifica alrededor de 1° distinto al asiento para que asiente primero en su borde.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Comprobar la huella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Con azul de Prusia o tinta se verifica una huella continua y centrada.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comprobaciones del cabezote</a:t>
            </a:r>
            <a:endParaRPr lang="es-EC" sz="1050" dirty="0"/>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comprobación de los muelles de válvula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61_a85045.png"/>
          <p:cNvPicPr>
            <a:picLocks noChangeAspect="1"/>
          </p:cNvPicPr>
          <p:nvPr/>
        </p:nvPicPr>
        <p:blipFill>
          <a:blip r:embed="rId2"/>
          <a:stretch>
            <a:fillRect/>
          </a:stretch>
        </p:blipFill>
        <p:spPr>
          <a:xfrm>
            <a:off x="727629" y="1499616"/>
            <a:ext cx="3066448" cy="3456432"/>
          </a:xfrm>
          <a:prstGeom prst="rect">
            <a:avLst/>
          </a:prstGeom>
        </p:spPr>
      </p:pic>
      <p:pic>
        <p:nvPicPr>
          <p:cNvPr id="103" name="figura" descr="9788428340106_Unidad_04_defweb_ppsx_s089_87afed.png"/>
          <p:cNvPicPr>
            <a:picLocks noChangeAspect="1"/>
          </p:cNvPicPr>
          <p:nvPr/>
        </p:nvPicPr>
        <p:blipFill>
          <a:blip r:embed="rId3"/>
          <a:stretch>
            <a:fillRect/>
          </a:stretch>
        </p:blipFill>
        <p:spPr>
          <a:xfrm>
            <a:off x="3973068" y="2168814"/>
            <a:ext cx="3168396" cy="2118035"/>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68. </a:t>
            </a:r>
            <a:r>
              <a:rPr lang="es-EC" sz="1000" b="0" dirty="0">
                <a:solidFill>
                  <a:schemeClr val="accent4"/>
                </a:solidFill>
              </a:rPr>
              <a:t>Medición de la longitud libre, perpendicularidad y fuerza del muelle (a) y tipos de muelle de válvula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Longitud libre</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mide con calibre y se compara con el valor mínimo del manual.</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Perpendicularidad</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Con escuadra sobre una superficie plana; la desviación máxima la fija el fabricante.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Fuerza a longitud de montaje</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En el comprobador se carga el muelle a su altura de trabajo y se lee la fuerza.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comprobaciones del cabezote</a:t>
            </a:r>
            <a:endParaRPr lang="es-EC" sz="1050" dirty="0"/>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reglaje de la holgura de válvulas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107_bc31b5.png"/>
          <p:cNvPicPr>
            <a:picLocks noChangeAspect="1"/>
          </p:cNvPicPr>
          <p:nvPr/>
        </p:nvPicPr>
        <p:blipFill>
          <a:blip r:embed="rId2"/>
          <a:stretch>
            <a:fillRect/>
          </a:stretch>
        </p:blipFill>
        <p:spPr>
          <a:xfrm>
            <a:off x="676656" y="2572301"/>
            <a:ext cx="3168396" cy="1311060"/>
          </a:xfrm>
          <a:prstGeom prst="rect">
            <a:avLst/>
          </a:prstGeom>
        </p:spPr>
      </p:pic>
      <p:pic>
        <p:nvPicPr>
          <p:cNvPr id="103" name="figura" descr="9788428340106_Unidad_04_defweb_ppsx_s095_0bc6f2.png"/>
          <p:cNvPicPr>
            <a:picLocks noChangeAspect="1"/>
          </p:cNvPicPr>
          <p:nvPr/>
        </p:nvPicPr>
        <p:blipFill>
          <a:blip r:embed="rId3"/>
          <a:stretch>
            <a:fillRect/>
          </a:stretch>
        </p:blipFill>
        <p:spPr>
          <a:xfrm>
            <a:off x="3973068" y="2041946"/>
            <a:ext cx="3168396" cy="237177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81. </a:t>
            </a:r>
            <a:r>
              <a:rPr lang="es-EC" sz="1000" b="0" dirty="0">
                <a:solidFill>
                  <a:schemeClr val="accent4"/>
                </a:solidFill>
              </a:rPr>
              <a:t>Comprobación del juego de válvulas accionadas por balancines (a) y accionamiento por taqués mecánicos con pastilla de ajuste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Con el motor frío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holgura se mide y ajusta en frío, con la leva en su círculo base.</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Balancines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ajusta con tornillo y contratuerca hasta que la galga pase con ligero roce.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Taqués con pastilla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mide la holgura y se calcula el espesor de la pastilla nueva.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comprobaciones del cabezote</a:t>
            </a:r>
            <a:endParaRPr lang="es-EC" sz="1050" dirty="0"/>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seguridad y residuos en el taller</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9_defweb_ppsx_s021_81202e.png"/>
          <p:cNvPicPr>
            <a:picLocks noChangeAspect="1"/>
          </p:cNvPicPr>
          <p:nvPr/>
        </p:nvPicPr>
        <p:blipFill>
          <a:blip r:embed="rId2"/>
          <a:stretch>
            <a:fillRect/>
          </a:stretch>
        </p:blipFill>
        <p:spPr>
          <a:xfrm>
            <a:off x="676656" y="1559107"/>
            <a:ext cx="3168396" cy="3337449"/>
          </a:xfrm>
          <a:prstGeom prst="rect">
            <a:avLst/>
          </a:prstGeom>
        </p:spPr>
      </p:pic>
      <p:pic>
        <p:nvPicPr>
          <p:cNvPr id="103" name="figura" descr="9788428340106_Unidad_09_defweb_ppsx_s025_11f934.png"/>
          <p:cNvPicPr>
            <a:picLocks noChangeAspect="1"/>
          </p:cNvPicPr>
          <p:nvPr/>
        </p:nvPicPr>
        <p:blipFill>
          <a:blip r:embed="rId3"/>
          <a:stretch>
            <a:fillRect/>
          </a:stretch>
        </p:blipFill>
        <p:spPr>
          <a:xfrm>
            <a:off x="4207402" y="1499616"/>
            <a:ext cx="2699727" cy="3456431"/>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82. </a:t>
            </a:r>
            <a:r>
              <a:rPr lang="es-EC" sz="1000" b="0" dirty="0">
                <a:solidFill>
                  <a:schemeClr val="accent4"/>
                </a:solidFill>
              </a:rPr>
              <a:t>Pictogramas de peligro de los productos químicos (a) y ejemplo de ficha de datos de seguridad de la gasolina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Leer la etiqueta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Disolventes, limpiadores y aceites llevan pictogramas que indican su peligro.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Ficha de seguridad</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Indica cómo almacenar, qué protección usar y qué hacer ante derrames o contacto.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Residuos separados</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Aceite usado, trapos contaminados, juntas y disolventes van a recipientes distintos.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Componente ambiental del PEA: ética ambiental</a:t>
            </a:r>
            <a:endParaRPr lang="es-EC" sz="1050" dirty="0"/>
          </a:p>
        </p:txBody>
      </p:sp>
    </p:spTree>
  </p:cSld>
  <p:clrMapOvr>
    <a:masterClrMapping/>
  </p:clrMapOvr>
</p:sld>
</file>

<file path=ppt/theme/theme1.xml><?xml version="1.0" encoding="utf-8"?>
<a:theme xmlns:a="http://schemas.openxmlformats.org/drawingml/2006/main" name="ISTS Mecanica Automotriz">
  <a:themeElements>
    <a:clrScheme name="ISTS Mecanica Automotriz">
      <a:dk1>
        <a:srgbClr val="1A1F26"/>
      </a:dk1>
      <a:lt1>
        <a:srgbClr val="FFFFFF"/>
      </a:lt1>
      <a:dk2>
        <a:srgbClr val="2D6079"/>
      </a:dk2>
      <a:lt2>
        <a:srgbClr val="F1F2F4"/>
      </a:lt2>
      <a:accent1>
        <a:srgbClr val="C0451C"/>
      </a:accent1>
      <a:accent2>
        <a:srgbClr val="2D6079"/>
      </a:accent2>
      <a:accent3>
        <a:srgbClr val="D9A441"/>
      </a:accent3>
      <a:accent4>
        <a:srgbClr val="5A6470"/>
      </a:accent4>
      <a:accent5>
        <a:srgbClr val="8A9099"/>
      </a:accent5>
      <a:accent6>
        <a:srgbClr val="0F1318"/>
      </a:accent6>
      <a:hlink>
        <a:srgbClr val="2D6079"/>
      </a:hlink>
      <a:folHlink>
        <a:srgbClr val="5A6470"/>
      </a:folHlink>
    </a:clrScheme>
    <a:fontScheme name="ISTS Mecanica Automotriz">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100</Slides>
  <Notes>100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100</vt:i4>
      </vt:variant>
    </vt:vector>
  </HeadingPairs>
  <TitlesOfParts>
    <vt:vector size="10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vector>
  </TitlesOfParts>
  <Company>Instituto Superior Tecnológico Sudamericano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3: Sistema de distribución y elementos del cabezote</dc:title>
  <dc:subject>MA.02.06 Sistemas del Funcionamiento del Motor — Unidad 3</dc:subject>
  <dc:creator>Ing. Miguel Angel Minga González</dc:creator>
  <cp:lastModifiedBy>Ing. Miguel Angel Minga González</cp:lastModifiedBy>
  <cp:revision>1</cp:revision>
  <dcterms:created xsi:type="dcterms:W3CDTF">2026-10-14T05:36:53Z</dcterms:created>
  <dcterms:modified xsi:type="dcterms:W3CDTF">2026-10-14T05:36:53Z</dcterms:modified>
</cp:coreProperties>
</file>