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3b0da0d4-9561-3a09-18be-6c6e4bb16e7c}">
          <p14:sldIdLst>
            <p14:sldId id="256"/>
            <p14:sldId id="257"/>
            <p14:sldId id="258"/>
          </p14:sldIdLst>
        </p14:section>
        <p14:section name="3.1 Introducción" id="{602cc1b6-2baa-6c7c-84bb-fc7c44c9dc2d}">
          <p14:sldIdLst>
            <p14:sldId id="259"/>
            <p14:sldId id="260"/>
            <p14:sldId id="261"/>
            <p14:sldId id="262"/>
          </p14:sldIdLst>
        </p14:section>
        <p14:section name="3.2 Generalidades del sistema de encendido" id="{917eb319-d521-1682-7f17-67cdce8e0f7b}">
          <p14:sldIdLst>
            <p14:sldId id="263"/>
            <p14:sldId id="264"/>
            <p14:sldId id="265"/>
            <p14:sldId id="266"/>
          </p14:sldIdLst>
        </p14:section>
        <p14:section name="3.2.1 Bujías" id="{3fac644b-40e9-52b4-24b0-f52f078b2876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2.2 Cables de bujía" id="{468e2651-1da8-ff56-9f80-b6e7ed7f2acc}">
          <p14:sldIdLst>
            <p14:sldId id="278"/>
            <p14:sldId id="279"/>
            <p14:sldId id="280"/>
            <p14:sldId id="281"/>
          </p14:sldIdLst>
        </p14:section>
        <p14:section name="3.2.3 Bobinas de encendido" id="{7474060e-4877-0794-097a-aff8982de847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3.3 Sistemas de encendido convencional" id="{5fdd09de-6f8c-3393-299f-05e0bdc9f910}">
          <p14:sldIdLst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3.4 Sistemas de encendido eléctricos y electrónicos" id="{fd18ee20-5e03-73e4-f0ae-ac70bdc10efd}">
          <p14:sldIdLst>
            <p14:sldId id="303"/>
            <p14:sldId id="304"/>
            <p14:sldId id="305"/>
            <p14:sldId id="306"/>
          </p14:sldIdLst>
        </p14:section>
        <p14:section name="3.4.1 Encendido con generador de impulsos (inductivo)" id="{ffa9788e-7904-dda8-8d6b-26655f0e5cb0}">
          <p14:sldIdLst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3.4.2 Encendido con generador de efecto Hall" id="{96cb24ac-ac13-bdd5-8eb3-904e3b9062a2}">
          <p14:sldIdLst>
            <p14:sldId id="313"/>
            <p14:sldId id="314"/>
            <p14:sldId id="315"/>
            <p14:sldId id="316"/>
            <p14:sldId id="317"/>
          </p14:sldIdLst>
        </p14:section>
        <p14:section name="3.4.3 Encendido con sensor óptico" id="{8b418a5b-31bb-800f-8443-9952f597a087}">
          <p14:sldIdLst>
            <p14:sldId id="318"/>
            <p14:sldId id="319"/>
            <p14:sldId id="320"/>
            <p14:sldId id="321"/>
          </p14:sldIdLst>
        </p14:section>
        <p14:section name="3.4.4 Sistema de encendido DIS (sin distribuidor)" id="{11bd2c11-a4cf-d517-b01f-edc8833f2a1c}">
          <p14:sldIdLst>
            <p14:sldId id="322"/>
            <p14:sldId id="323"/>
            <p14:sldId id="324"/>
            <p14:sldId id="325"/>
            <p14:sldId id="326"/>
          </p14:sldIdLst>
        </p14:section>
        <p14:section name="3.4.5 Sistema de encendido COP" id="{c3b3fa41-68d8-1dab-d2d6-3e1b4f47c21c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  <p14:section name="Prácticas y cierre" id="{78402c18-4beb-f463-1eb4-6deb72800ce9}">
          <p14:sldIdLst>
            <p14:sldId id="335"/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3 del PEA. Tiempo previsto: diciembre de 2026. Prácticas asociadas: 10 (ruptor), 11P1–11P5 (encendido electrónico), 12–13 (osciloscopio) y proyectos 24–25 (banco de bobinas y mando 555). Este mazo sustituye a «UNIDAD 2» y «UNIDAD 2 – Parte 2» de Electricidad Automotriz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 exacto del bloque de contenidos del PEA para la Unidad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aprendizaje del PEA (dominio operativo): aplica técnicas de mantenimiento y diagnóstico de sistemas de encendido.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el encendido afecta directamente al consumo de combustible y al rendimiento del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BERU (s. f.-b): tensión secundaria hasta 45 kV, corriente primaria 6–20 A en bobinas modernas, energía de la chispa 10–100 mJ. En sistemas con ruptor la tensión disponible ronda 12–20 kV y la corriente primaria unos 4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Clasificación del material anterior (SistemasEncendido.pptx) ordenada según el PEA. Corrección: DIS significa «Distributorless Ignition System» (sin distribuidor), no «Direct Ignition System».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cap. 1): una bobina recorrida por corriente se comporta como un imán; el núcleo de hierro dulce refuerza el campo.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cerrar, la f.e.m. de autoinducción se opone a la batería (la corriente sube lentamente); al abrir, se suma (pico de 200–400 V en el primario).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López Alberca (2024) y BERU (s. f.-a). La cifra de 500–3 500 chispas por minuto del material anterior corresponde a una bujía de un motor de 4 cilindros entre ralentí y 7 000 rpm.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 y NGK: la temperatura del pie del aislador debe estar entre ≈ 400 °C (autolimpieza) y 850 °C (riesgo de autoencendido).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Detonación: la combustión empieza bien, pero el resto de la mezcla autodetona. Autoencendido: la mezcla se inflama antes de la chispa por un punto caliente.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NGK «BPR6ES-11»: B = rosca 14 mm, P = aislador proyectado, R = resistiva, 6 = grado térmico, E = alcance de rosca 19 mm, S = estándar, -11 = calibración 1,1 mm. Ejercicio del texto: interpretar «BCPR6ES-11».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NGK: al desgastarse los electrodos aumenta la separación y con ella la tensión requerida (de ≈ 12 kV con 0,8 mm hasta 30 kV o más al final de la vida útil).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pares de BERU (s. f.-a). Con asiento plano y junta nueva se puede usar el método de giro: 1/2 a 2/3 de vuelta después de asentar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Interpretación del material anterior (López Alberca, 2024), revisada. La bujía es un «testigo» del estado del motor; siempre se compara con las demás del mismo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NGK: el multímetro no detecta fugas del aislador; para eso se usa megóhmetro (≥ 400 V) o un probador de chispa con presión. La resistencia de una bujía resistiva ronda 3–7,5 kΩ.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Valores: Sánchez (2012) clasifica los cables en núcleo de cobre, resistencia activa y reactancia. NGK da 4–8 kΩ para cable de bujía con terminal ST y 7,5 kΩ ± 40 % por metro para cable SC. Bosch: cable supresivo 6–23 kΩ por 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resuelto: cable SC de 60 cm → 0,6 · 7,5 = 4,5 kΩ (rango con ± 40 %: 2,7 – 6,3 kΩ). Una lectura de 25 kΩ indica núcleo dañado.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Sánchez (2012). Bosch explica que las bobinas con aceite no soportan bien los 34 kV de los encendidos electrónicos.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la relación de transformación da la tensión «teórica» en vacío; la tensión real de salida depende de la energía almacenada, la rapidez del corte y la carga (bujía, cables). Por eso un mismo encendido entrega 10–15 kV a una bujía sana y más a una gastada.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Robert Bosch (s. f.-a): bobina de 3 Ω → 4 A; bobina de 1,5 Ω → 8 A sin resistor; con resistor previo se limita a ≈ 4 A en reposo. Medida práctica: con contacto, si en el borne 15 hay 12 V no hay resistor; si hay 7–9 V, hay resistor.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Evolución tomada de BERU (s. f.-b) y Bosch: cilíndrica → compacta de módulo → doble chispa (DIS) → lápiz o «stick» (COP) → regleta (coil rail).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BERU (s. f.-b) para bobinas modernas y de Sánchez (2012) y Bosch para bobinas convencionales. Siempre prevalece el dato del fabricante.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Sánchez (2012, técnica): primario 3–6 Ω entre 15 y 1; secundario 5–10 kΩ entre 1 y la salida de AT; aislamiento a masa infinito; consumo del primario ≤ 5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decía «La batería convierte la energía mecánica procedente del motor en energía eléctrica»; quien lo hace en este sistema es el magneto, no la batería.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al cerrarse, la corriente crece exponencialmente (se almacena energía); al abrirse, el campo desaparece y el secundario genera la alta tensión. El condensador se carga a 200–300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Corrección: el material anterior decía que el condensador «controla los picos producidos por el secundario». En realidad está en el primario, en paralelo con el ruptor, y absorbe la f.e.m. de autoinducción para evitar el arco en los contactos y acelerar el 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ángulo dwell = porcentaje del período con contactos cerrados; ajuste 51–55 %. Ajustar el dwell antes que el avance, porque cambiarlo altera el punto de encendido.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cálculo explica por qué el encendido por ruptor pierde energía a altas rpm y por qué los sistemas electrónicos regulan el dwell en tiempo (ms) y no en grados.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fig. 1.42): la presión máxima debe alcanzarse ≈ 15–25° después del PMS. Como la combustión tarda un tiempo casi constante, a más rpm hay que adelantar la chispa.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Curvas típicas del texto: el centrífugo empieza ≈ 1 200 rpm y llega a ≈ 30° a 4 000 rpm; el de vacío actúa con carga parcial y aporta ≈ 20°. Avance total = inicial + centrífugo + vacío.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Procedimiento de Sánchez (2012, prácticas 1 y 2). Práctica 10 de la guía. Avance inicial típico 6–10° APMS a ralentí (dato del fabricante).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cap. 2): el ruptor solo maneja la corriente de base del transistor (darlington); así dura más y la corriente del primario puede ser mayor.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Fases según Sánchez (2012) y el material anterior. Práctica 12 de la guía (osciloscopio Hantek 1008C con sonda de alta tensión).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Robert Bosch (s. f.-a): sin platinos ni condensador, la tensión de encendido se mantiene constante y el punto de encendido no se desajusta.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F = z · n / 2 para el generador en el distribuidor. Cuando el diente está enfrentado la tensión pasa por cero: ese es el instante de encendido 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Valores: Robert Bosch (s. f.-a) indica 1,0–1,2 kΩ para el generador TZ-I; el manual Toyota da 140–180 Ω para su bobina captadora. Siempre usar el dato del vehículo.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fig. 2.17): desplazando el nivel de disparo sobre la señal inductiva el módulo alarga o acorta el tiempo de cierre; a más rpm, cierre más largo en grados para conservar los ms de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fig. 2.22): una pastilla semiconductora recorrida por corriente, sometida a un campo magnético perpendicular, presenta una diferencia de tensión entre sus lados (tensión Hall).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la tensión Hall es de 4–6 V; en la salida del módulo la señal vale 5–12 V con la ventana descubierta y 0–0,5 V con la pantalla en el entrehierro (según el montaje la lógica puede invertirse).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Bosch: la prueba del sensor Hall se hace con el sensor conectado; con osciloscopio debe verse una onda cuadrada de flancos limpios. Con voltímetro, girando el motor a mano, la tensión salta entre bajo y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PEA incluye el sistema óptico (3.4.3); en el material anterior solo había texto. Se añade el esquema y la comprobación.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Mantenimiento: limpiar el disco y la óptica; la suciedad o el aceite dentro del distribuidor provocan fallos intermitentes.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se suprimen avances mecánicos y generador del distribuidor; la ECU calcula el avance a partir de rpm/posición (corona dentada), presión del colector (MAP) y temperatura, con una cartografía 3D.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fig. 2.46): en un motor 1-3-4-2, los cilindros 1 y 4 llegan juntos al PMS; uno está en compresión (chispa útil) y el otro en escape (chispa perdida). La tensión se reparte: la mayor parte en la bujía en compresión.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anterior (SistemasEncendido.pptx): la corriente de alta recorre una bujía del electrodo central a masa y la otra al revés. Por eso en DIS se recomiendan bujías con electrodos de platino en ambos lados o de doble platino.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de Sánchez (2012, fig. 2.48): bobina de cuatro salidas con resistencia de primario 0,51 Ω y de secundario 9,1 kΩ. Comprobar los dos primarios y los dos secundarios por separado.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(2012, fig. 2.52) y BERU (s. f.-b): el diodo de alta tensión evita la chispa al cerrar el primario (chispa de activación), que podría encender la mezcla antes de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Sánchez (2012): encendido independiente (una bobina por cilindro, figs. 2.52–2.53) y simultáneo (una bobina sobre una bujía y conectada por cable a la otra, figs. 2.54–2.55).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anterior (ea2b) y Toyota: la ECU envía IGT (pulso de 5 V cuya duración es el tiempo de carga); la bobina devuelve IGF como confirmación de chispa. Sin IGF la ECU puede cortar la inyección de ese cilindro.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 de intercambio: si el fallo «viaja» con la bobina, la bobina es la culpable; si se queda en el cilindro, revisar bujía, inyector o compresión.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BERU (s. f.-b): tensión de encendido 10–15 kV, línea de chispa 1–2 kV durante 1,3–2 ms. En sistemas COP el oscilograma de secundario se toma con sonda capacitiva sobre la bobina o en el primario. Prácticas 12 y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BERU: «Alta tensión, peligro de muerte». Los sistemas electrónicos pueden superar 40 kV con energía suficiente para provocar lesiones, sobre todo en personas con marcapasos.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unificada de la guía de prácticas (sílabo Oct 2026 – Feb 2027).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para el examen de 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1) b; 2) 6 cilindros: 60°, cierre 33°; 3) c; 4) f = 4·2500/2 = 5000 imp/min = 83,3 Hz; 5) b; 6) cilindros 1 y 4, el de compresión recibe la mayor tensión; 7) 0,8·7,5 = 6 kΩ.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Soluciones: 1) m = 120; 2) τ = 3,3 ms; I(5 ms) = 6·(1−e^−1,5) = 4,66 A; E = 0,5·0,01·4,66² = 109 mJ; 3) 4 cil. a 6000 rpm: 12 000 chispas/min, T = 5 ms, carga 2,75 ms; 4) 12/1,5 = 8 A; con resistor 1,5 Ω: 4 A; 5) 2 ms a 3000 rpm = 18 °/ms → 36°.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Formato APA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u3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463040"/>
            <a:ext cx="3383280" cy="215798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SECC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874520" cy="1234440"/>
          </a:xfrm>
          <a:prstGeom prst="rect">
            <a:avLst>
              <a:gd name="adj" fmla="val 7407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u3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393192"/>
            <a:ext cx="1691640" cy="107899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TS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u3/fig/old_u1_s0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182880"/>
            <a:ext cx="1097280" cy="69951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Electricidad Automotriz · Unidad 3 · ISTS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Unidad 3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Sistemas de encendido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374904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Electricidad Automotriz (MA.03.02)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Tecnología Superior en Mecánica Automotriz · Tercer período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PAO Octubre 2026 – Febrero 2027 · Diurno A / Nocturno B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Ing. Miguel Angel Minga González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Contenidos de la unidad según el PEA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5331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5331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123444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Introducción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31343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2313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19456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Generalidades: bujías, cables y bobinas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327355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2735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3.2.1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315468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Bujías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920" y="423367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2336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3.2.2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41148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Cables de bujía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519379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1937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3.2.3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507492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Bobinas de encendido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72200" y="135331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135331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3.3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123444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Encendido convencional: magneto y ruptor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2200" y="231343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23134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3.4.1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543800" y="219456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Generador de impulsos (inductivo)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2200" y="327355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32735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3.4.2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543800" y="315468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Efecto Hall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72200" y="423367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172200" y="42336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3.4.3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543800" y="411480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Óptico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72200" y="5193792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172200" y="51937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3"/>
                </a:solidFill>
              </a:rPr>
              <a:t>3.4.4 – 3.4.5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543800" y="507492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3"/>
                </a:solidFill>
              </a:rPr>
              <a:t>DIS y COP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¿Qué lograrás en esta unidad?</a:t>
            </a:r>
            <a:endParaRPr lang="en-US" sz="2800" dirty="0"/>
          </a:p>
        </p:txBody>
      </p:sp>
      <p:sp>
        <p:nvSpPr>
          <p:cNvPr id="4" name="Tarjeta Saber"/>
          <p:cNvSpPr/>
          <p:nvPr/>
        </p:nvSpPr>
        <p:spPr>
          <a:xfrm>
            <a:off x="50292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Saber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Explica la inducción y el funcionamiento de la bobina.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Distingue los sistemas: ruptor, inductivo, Hall, óptico, DIS y COP.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Interpreta oscilogramas de primario y secundario.</a:t>
            </a:r>
            <a:endParaRPr lang="en-US" sz="1400" dirty="0"/>
          </a:p>
        </p:txBody>
      </p:sp>
      <p:sp>
        <p:nvSpPr>
          <p:cNvPr id="7" name="Tarjeta Saber hacer"/>
          <p:cNvSpPr/>
          <p:nvPr/>
        </p:nvSpPr>
        <p:spPr>
          <a:xfrm>
            <a:off x="429768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Saber hacer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Comprueba bujías, cables, bobinas y captadores con multímetro y osciloscopio.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Pone a punto el encendido con lámpara estroboscópica.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 relaciones, ángulos, tiempos y chispas por minuto.</a:t>
            </a:r>
            <a:endParaRPr lang="en-US" sz="1400" dirty="0"/>
          </a:p>
        </p:txBody>
      </p:sp>
      <p:sp>
        <p:nvSpPr>
          <p:cNvPr id="10" name="Tarjeta Ser"/>
          <p:cNvSpPr/>
          <p:nvPr/>
        </p:nvSpPr>
        <p:spPr>
          <a:xfrm>
            <a:off x="8092440" y="12344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Ser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Respeta el peligro de la alta tensión (hasta 45 kV).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 el par de apriete y la herramienta correctos.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Diagnostica antes de sustituir piezas.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Introducción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Misión del sistema de encendido, requisitos y evolución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Misión del sistema de encendido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5321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el motor de gasolina la mezcla aire-combustible se inflama con una chispa eléctrica entre los electrodos de la bujía.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Objetivos del sistema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Elevar los 12 V de la batería a la alta tensión necesaria (miles de voltios).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Generar la chispa en el momento preciso, cerca del PMS en compresión.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Distribuir la alta tensión a cada cilindro según el orden de encendido.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Variar el momento de la chispa con el régimen y la carga (avance).</a:t>
            </a:r>
            <a:endParaRPr lang="en-US" sz="1600" dirty="0"/>
          </a:p>
        </p:txBody>
      </p:sp>
      <p:pic>
        <p:nvPicPr>
          <p:cNvPr id="5" name="Figura B_p004_0.png" descr="B_p00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10889"/>
            <a:ext cx="5486400" cy="30191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508485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Requisitos de la chispa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5–45 kV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Tensión disponible en el secundario (según sistema)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319272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1–2 ms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3319272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Duración de la chispa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135624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10–100 mJ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135624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Energía de la chispa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951976" y="13716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578"/>
                </a:solidFill>
              </a:rPr>
              <a:t>4–20 A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951976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Corriente primaria (ruptor → bobinas modernas)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291840"/>
            <a:ext cx="6583680" cy="2926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Tensión necesaria: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aumenta con la separación de electrodos, la compresión y una mezcla pobre; disminuye con la temperatura del electrodo.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Reserva de tensión: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tensión disponible debe superar siempre a la necesaria; si no, aparecen fallos de encendido (sobre todo a altas rpm).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Mito frecuente: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bobina «más potente» no da mejor chispa si la tensión necesaria ya está cubierta (Robert Bosch, s. f.-a).</a:t>
            </a:r>
            <a:endParaRPr lang="en-US" sz="1500" dirty="0"/>
          </a:p>
        </p:txBody>
      </p:sp>
      <p:pic>
        <p:nvPicPr>
          <p:cNvPr id="13" name="Figura S_p016_1.png" descr="S_p01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3984" y="3200400"/>
            <a:ext cx="3062992" cy="269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Evolución y clasificación de los sistemas de encendido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011680"/>
                <a:gridCol w="2651760"/>
                <a:gridCol w="11430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Sistema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Corte del primario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Avance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Distribución de AT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Tema PEA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Magneto de alta tensión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Ruptor (sin batería)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Mecánico / fijo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 o directa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3.3.1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Convencional por ruptor (platinos)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Ruptor mecánico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Centrífugo + vacío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 (rotor)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3.3.2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Transistorizado con contactos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Transistor mandado por ruptor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Centrífugo + vacío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3.3.2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 con generador inductivo (TZ-I)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Módulo electrónico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Centrífugo + vacío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3.4.1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 con generador Hall (TZ-H)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Módulo electrónico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Centrífugo + vacío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3.4.2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 con sensor óptico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Módulo / ECU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3.4.3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Integral (EEI)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ECU con mapa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 (cartografía)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Estático DIS (chispa perdida)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ECU / módulo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Bobinas dobles, sin distribuidor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3.4.4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COP (bobina sobre bujía)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ECU / bobina con transistor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Electrónico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Una bobina por cilindro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3.4.5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Generalidades del sistema de encendido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Principios de electromagnetismo, autoinducción e inducción mutua; componentes comunes a todos los sistemas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Electromagnetismo: base de la bobina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669280" cy="3108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corriente que recorre una bobina crea un campo magnético; con núcleo de hierro el campo se refuerza.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campo es más intenso cuantas más espiras (N) y más corriente (I) haya.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Ley de Faraday: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variación de flujo magnético induce una f.e.m. proporcional a la rapidez de esa variación.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Ley de Lenz: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f.e.m. inducida se opone a la causa que la produce.</a:t>
            </a:r>
            <a:endParaRPr lang="en-US" sz="1600" dirty="0"/>
          </a:p>
        </p:txBody>
      </p:sp>
      <p:sp>
        <p:nvSpPr>
          <p:cNvPr id="5" name="Ecuación"/>
          <p:cNvSpPr/>
          <p:nvPr/>
        </p:nvSpPr>
        <p:spPr>
          <a:xfrm>
            <a:off x="502920" y="44348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4434840"/>
            <a:ext cx="56692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− N · ΔΦ / Δt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349240"/>
            <a:ext cx="5669280" cy="822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Consecuencia: el corte rápido de la corriente primaria (Δt muy pequeño) produce una tensión muy alta.</a:t>
            </a:r>
            <a:endParaRPr lang="en-US" sz="1500" dirty="0"/>
          </a:p>
        </p:txBody>
      </p:sp>
      <p:pic>
        <p:nvPicPr>
          <p:cNvPr id="8" name="Figura S_p003_0.png" descr="S_p00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8430" y="1234440"/>
            <a:ext cx="3099700" cy="2377440"/>
          </a:xfrm>
          <a:prstGeom prst="rect">
            <a:avLst/>
          </a:prstGeom>
        </p:spPr>
      </p:pic>
      <p:pic>
        <p:nvPicPr>
          <p:cNvPr id="9" name="Figura S_p004_0.png" descr="S_p004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932" y="3749040"/>
            <a:ext cx="2084696" cy="2148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53796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Autoinducción e inducción mutua</a:t>
            </a:r>
            <a:endParaRPr lang="en-US" sz="2800" dirty="0"/>
          </a:p>
        </p:txBody>
      </p:sp>
      <p:sp>
        <p:nvSpPr>
          <p:cNvPr id="4" name="Tarjeta Autoinducción (en el primario)"/>
          <p:cNvSpPr/>
          <p:nvPr/>
        </p:nvSpPr>
        <p:spPr>
          <a:xfrm>
            <a:off x="502920" y="12344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Autoinducción (en el primario)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5157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cerrar el circuito: la f.e.m. se opone → la corriente sube de forma exponencial.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abrir: la f.e.m. se suma → pico de 200–400 V en el primario.</a:t>
            </a:r>
            <a:endParaRPr lang="en-US" sz="1500" dirty="0"/>
          </a:p>
        </p:txBody>
      </p:sp>
      <p:sp>
        <p:nvSpPr>
          <p:cNvPr id="7" name="Tarjeta Inducción mutua (en el secundario)"/>
          <p:cNvSpPr/>
          <p:nvPr/>
        </p:nvSpPr>
        <p:spPr>
          <a:xfrm>
            <a:off x="6217920" y="123444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82512" y="1344168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Inducción mutua (en el secundario)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382512" y="1783080"/>
            <a:ext cx="51572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variación del flujo del primario induce tensión en el secundario.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tensión se multiplica por la relación de espiras N₂ / N₁.</a:t>
            </a:r>
            <a:endParaRPr lang="en-US" sz="1500" dirty="0"/>
          </a:p>
        </p:txBody>
      </p:sp>
      <p:sp>
        <p:nvSpPr>
          <p:cNvPr id="10" name="Ecuación"/>
          <p:cNvSpPr/>
          <p:nvPr/>
        </p:nvSpPr>
        <p:spPr>
          <a:xfrm>
            <a:off x="502920" y="384048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384048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 = L / R        I(t) = (V / R) · (1 − e^(−t/τ))        E = ½ · L · I²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48920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4846320"/>
            <a:ext cx="896112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Primario L = 6 mH, R = 3 Ω, 12 V → τ = 2 ms; tras 3τ = 6 ms la corriente llega al 95 % de 4 A = 3,8 A; energía E = ½ · 0,006 · 3,8² = 43 mJ.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Componentes comunes del sistema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Batería: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fuente de energía (12 V).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Llave de contacto: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alimenta el borne 15 de la bobina.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Bobina: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transformador de baja a alta tensión.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Interruptor del primario: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ruptor, transistor o módulo.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Condensador: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solo en el sistema por ruptor.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 Distribuidor: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reparte la alta tensión (desaparece en DIS/COP).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7. Cables y bujías: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llevan la alta tensión y producen la chispa.</a:t>
            </a:r>
            <a:endParaRPr lang="en-US" sz="1600" dirty="0"/>
          </a:p>
        </p:txBody>
      </p:sp>
      <p:pic>
        <p:nvPicPr>
          <p:cNvPr id="4" name="Figura S_p007_0.png" descr="S_p00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7518" y="1234440"/>
            <a:ext cx="428432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80760" y="5861304"/>
            <a:ext cx="42843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3.2.1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Bujías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Constitución, exigencias, grado térmico, codificación, distancia entre electrodos, montaje, diagnóstico por aspecto y comprobación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Constitución de la bujía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89788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Perno de conexión: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recibe la alta tensión.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Aislador: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cerámica de óxido de aluminio; resiste más de 20 kV y altas temperaturas.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Masa colada conductora: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une perno y electrodo central; en bujías resistivas incluye una resistencia (≈ 5 kΩ) antiparasitaria.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Electrodo central y 6. electrodo de masa: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aleaciones de níquel, platino o iridio.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8. Cuerpo metálico: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rosca, hexágono y asiento con junta.</a:t>
            </a:r>
            <a:endParaRPr lang="en-US" sz="1600" dirty="0"/>
          </a:p>
        </p:txBody>
      </p:sp>
      <p:pic>
        <p:nvPicPr>
          <p:cNvPr id="4" name="Figura s_bujia.png" descr="s_buj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5495" y="1234440"/>
            <a:ext cx="321701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2940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Exigencias que soporta la bujía</a:t>
            </a:r>
            <a:endParaRPr lang="en-US" sz="2800" dirty="0"/>
          </a:p>
        </p:txBody>
      </p:sp>
      <p:sp>
        <p:nvSpPr>
          <p:cNvPr id="4" name="Tarjeta Eléctricas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Eléctricas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Tensiones de hasta 45 kV sin perforación del aislador.</a:t>
            </a:r>
            <a:endParaRPr lang="en-US" sz="1400" dirty="0"/>
          </a:p>
        </p:txBody>
      </p:sp>
      <p:sp>
        <p:nvSpPr>
          <p:cNvPr id="7" name="Tarjeta Térmicas"/>
          <p:cNvSpPr/>
          <p:nvPr/>
        </p:nvSpPr>
        <p:spPr>
          <a:xfrm>
            <a:off x="429768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Térmicas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Gases a más de 2 000 °C; pie del aislador entre 400 y 850 °C; choques térmicos.</a:t>
            </a:r>
            <a:endParaRPr lang="en-US" sz="1400" dirty="0"/>
          </a:p>
        </p:txBody>
      </p:sp>
      <p:sp>
        <p:nvSpPr>
          <p:cNvPr id="10" name="Tarjeta Mecánicas"/>
          <p:cNvSpPr/>
          <p:nvPr/>
        </p:nvSpPr>
        <p:spPr>
          <a:xfrm>
            <a:off x="809244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Mecánicas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Presiones de combustión de hasta 100 bar y vibraciones.</a:t>
            </a:r>
            <a:endParaRPr lang="en-US" sz="1400" dirty="0"/>
          </a:p>
        </p:txBody>
      </p:sp>
      <p:sp>
        <p:nvSpPr>
          <p:cNvPr id="13" name="Tarjeta Químicas"/>
          <p:cNvSpPr/>
          <p:nvPr/>
        </p:nvSpPr>
        <p:spPr>
          <a:xfrm>
            <a:off x="50292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Químicas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Gases corrosivos, aditivos y residuos de combustión y aceite.</a:t>
            </a:r>
            <a:endParaRPr lang="en-US" sz="1400" dirty="0"/>
          </a:p>
        </p:txBody>
      </p:sp>
      <p:sp>
        <p:nvSpPr>
          <p:cNvPr id="16" name="Tarjeta Frecuencia"/>
          <p:cNvSpPr/>
          <p:nvPr/>
        </p:nvSpPr>
        <p:spPr>
          <a:xfrm>
            <a:off x="429768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6227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Frecuencia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46227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Una chispa cada dos vueltas: a 6 000 rpm son 3 000 chispas por minuto en cada bujía.</a:t>
            </a:r>
            <a:endParaRPr lang="en-US" sz="1400" dirty="0"/>
          </a:p>
        </p:txBody>
      </p:sp>
      <p:sp>
        <p:nvSpPr>
          <p:cNvPr id="19" name="Tarjeta Vida útil"/>
          <p:cNvSpPr/>
          <p:nvPr/>
        </p:nvSpPr>
        <p:spPr>
          <a:xfrm>
            <a:off x="809244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5703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Vida útil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Convencional 10 000–15 000 km (NGK); platino o iridio mucho más, según fabricante.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Temperatura de trabajo y grado térmico</a:t>
            </a:r>
            <a:endParaRPr lang="en-US" sz="2800" dirty="0"/>
          </a:p>
        </p:txBody>
      </p:sp>
      <p:pic>
        <p:nvPicPr>
          <p:cNvPr id="4" name="Figura s_temp_bujia.png" descr="s_temp_buj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3162"/>
            <a:ext cx="2926080" cy="444027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81830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s_grado_termico.png" descr="s_grado_termi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548" y="1234440"/>
            <a:ext cx="4130663" cy="31089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657600" y="4398264"/>
            <a:ext cx="413066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(2012), con figura de NGK.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8412480" y="1234440"/>
            <a:ext cx="329184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Grado térmico: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capacidad de la bujía de evacuar calor hacia la culata.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Bujía caliente: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aislador largo, evacua poco calor; para motores fríos y recorridos cortos.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Bujía fría: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aislador corto, evacua mucho calor; para motores muy cargados o de alto rendimiento.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 NGK, a mayor número, más fría (BP5ES caliente, BP7ES fría); en Bosch es al revés.</a:t>
            </a:r>
            <a:endParaRPr lang="en-US" sz="1400" dirty="0"/>
          </a:p>
        </p:txBody>
      </p:sp>
      <p:pic>
        <p:nvPicPr>
          <p:cNvPr id="9" name="Figura s_tabla_termico.png" descr="s_tabla_termi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5140083"/>
            <a:ext cx="4572000" cy="8297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Consecuencias de un grado térmico incorrecto</a:t>
            </a:r>
            <a:endParaRPr lang="en-US" sz="2800" dirty="0"/>
          </a:p>
        </p:txBody>
      </p:sp>
      <p:pic>
        <p:nvPicPr>
          <p:cNvPr id="4" name="Figura s_detonacion.png" descr="s_deton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275" y="1234440"/>
            <a:ext cx="6492689" cy="1737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026664"/>
            <a:ext cx="64926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Detonación. Tomado de Sánchez (2012).</a:t>
            </a:r>
            <a:endParaRPr lang="en-US" sz="1000" dirty="0"/>
          </a:p>
        </p:txBody>
      </p:sp>
      <p:pic>
        <p:nvPicPr>
          <p:cNvPr id="6" name="Figura s_autoencendido.png" descr="s_autoencendi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75" y="3520440"/>
            <a:ext cx="6492689" cy="17373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312664"/>
            <a:ext cx="64926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Autoencendido. Tomado de Sánchez (2012).</a:t>
            </a:r>
            <a:endParaRPr lang="en-US" sz="1000" dirty="0"/>
          </a:p>
        </p:txBody>
      </p:sp>
      <p:sp>
        <p:nvSpPr>
          <p:cNvPr id="8" name="Tarjeta Regla práctica"/>
          <p:cNvSpPr/>
          <p:nvPr/>
        </p:nvSpPr>
        <p:spPr>
          <a:xfrm>
            <a:off x="7589520" y="3520440"/>
            <a:ext cx="4114800" cy="2697480"/>
          </a:xfrm>
          <a:prstGeom prst="roundRect">
            <a:avLst>
              <a:gd name="adj" fmla="val 2712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754112" y="363016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Regla práctica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7754112" y="4069080"/>
            <a:ext cx="378561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Bujía demasiado caliente → sobrecalentamiento, autoencendido, electrodos fundidos.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Bujía demasiado fría → hollín, derivaciones y fallos de encendido.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siempre la especificada por el fabricante.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Codificación de las bujías</a:t>
            </a:r>
            <a:endParaRPr lang="en-US" sz="2800" dirty="0"/>
          </a:p>
        </p:txBody>
      </p:sp>
      <p:pic>
        <p:nvPicPr>
          <p:cNvPr id="4" name="Figura s_nomencl.png" descr="s_nomenc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29506"/>
            <a:ext cx="7498080" cy="278186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96623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8229600" y="1234440"/>
            <a:ext cx="347472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Ejemplo: NGK BPR6ES-11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rosca 14 mm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aislador proyectado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resistencia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6: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grado térmico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rosca 19 mm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estándar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-11: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separación 1,1 mm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Distancia entre electrodos y tensión necesaria</a:t>
            </a:r>
            <a:endParaRPr lang="en-US" sz="2800" dirty="0"/>
          </a:p>
        </p:txBody>
      </p:sp>
      <p:pic>
        <p:nvPicPr>
          <p:cNvPr id="4" name="Figura N_p007_0.png" descr="N_p00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629" y="1234440"/>
            <a:ext cx="5531623" cy="40233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12664"/>
            <a:ext cx="5531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NGK (s. f.).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858000" y="1234440"/>
            <a:ext cx="4846320" cy="3474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separación típica está entre 0,7 y 1,1 mm (la mayoría 0,8–1,1); en motores muy potentes, menor.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Más separación → chispa más larga pero mayor tensión necesaria.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desgaste por erosión aumenta la separación: más tensión, más esfuerzo para la bobina y fallos.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Calibración: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galga de alambre; doblar solo el electrodo de masa, nunca el central.</a:t>
            </a:r>
            <a:endParaRPr lang="en-US" sz="1500" dirty="0"/>
          </a:p>
        </p:txBody>
      </p:sp>
      <p:pic>
        <p:nvPicPr>
          <p:cNvPr id="7" name="Figura s_calibracion.png" descr="s_calibr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311" y="4754880"/>
            <a:ext cx="2783697" cy="11430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90372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electrodos y de chispa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7150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Chispa al aire: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salta entre los electrodos a través de la mezcla.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Chispa deslizante: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recorre la superficie del aislador; limpia depósitos.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Multielectrodo (2, 3 o 4 masas):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más vida útil; la chispa elige el camino más corto.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Materiales: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níquel (estándar), platino y iridio (larga duración, electrodo central fino que reduce la tensión necesaria).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bujías de platino o iridio no se limpian con cepillo metálico ni se recalibran agresivamente.</a:t>
            </a:r>
            <a:endParaRPr lang="en-US" sz="1600" dirty="0"/>
          </a:p>
        </p:txBody>
      </p:sp>
      <p:pic>
        <p:nvPicPr>
          <p:cNvPr id="4" name="Figura s_chispa_aire.png" descr="s_chispa_ai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78446"/>
            <a:ext cx="5303520" cy="34839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31729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Montaje y par de apriete</a:t>
            </a:r>
            <a:endParaRPr lang="en-US" sz="2800" dirty="0"/>
          </a:p>
        </p:txBody>
      </p:sp>
      <p:pic>
        <p:nvPicPr>
          <p:cNvPr id="4" name="Figura s_montaje_bujia.png" descr="s_montaje_buj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27" y="1234440"/>
            <a:ext cx="4632426" cy="3200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489704"/>
            <a:ext cx="46324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SP_p011_3.png" descr="SP_p011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79" y="1234440"/>
            <a:ext cx="4882762" cy="38404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989320" y="5129784"/>
            <a:ext cx="48827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f.-a).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02920" y="4983480"/>
            <a:ext cx="512064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Roscar siempre a mano primero; apretar con llave dinamométrica.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 bajo → mala evacuación de calor y fuga de compresión. Par alto → daño de rosca o del cuerpo.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Diagnóstico por el aspecto de la bujía</a:t>
            </a:r>
            <a:endParaRPr lang="en-US" sz="2800" dirty="0"/>
          </a:p>
        </p:txBody>
      </p:sp>
      <p:pic>
        <p:nvPicPr>
          <p:cNvPr id="4" name="Figura old_ea2a_s15_2.png" descr="old_ea2a_s1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8238"/>
            <a:ext cx="1463040" cy="13184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057400" y="12344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Normal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Color gris claro a pardo. Motor y bujía correctos.</a:t>
            </a:r>
            <a:endParaRPr lang="en-US" sz="1600" dirty="0"/>
          </a:p>
        </p:txBody>
      </p:sp>
      <p:pic>
        <p:nvPicPr>
          <p:cNvPr id="6" name="Figura old_ea2a_s15_3.png" descr="old_ea2a_s15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831340"/>
            <a:ext cx="1463040" cy="1092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824728" y="12344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Depósitos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Combustible de mala calidad o paso de aceite por segmentos.</a:t>
            </a:r>
            <a:endParaRPr lang="en-US" sz="1600" dirty="0"/>
          </a:p>
        </p:txBody>
      </p:sp>
      <p:pic>
        <p:nvPicPr>
          <p:cNvPr id="8" name="Figura old_ea2a_s16_2.png" descr="old_ea2a_s16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801707"/>
            <a:ext cx="1463040" cy="115146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9592056" y="12344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Electrodos fundidos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Sobrecalentamiento: bujía muy caliente, avance excesivo o mezcla pobre.</a:t>
            </a:r>
            <a:endParaRPr lang="en-US" sz="1600" dirty="0"/>
          </a:p>
        </p:txBody>
      </p:sp>
      <p:pic>
        <p:nvPicPr>
          <p:cNvPr id="10" name="Figura old_ea2a_s16_3.png" descr="old_ea2a_s16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28834"/>
            <a:ext cx="1463040" cy="1126411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2057400" y="37490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Engrasada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Aceite: segmentos o guías de válvula desgastados.</a:t>
            </a:r>
            <a:endParaRPr lang="en-US" sz="1600" dirty="0"/>
          </a:p>
        </p:txBody>
      </p:sp>
      <p:pic>
        <p:nvPicPr>
          <p:cNvPr id="12" name="Figura old_ea2a_s17_2.png" descr="old_ea2a_s17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4390183"/>
            <a:ext cx="1463040" cy="1003713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5824728" y="37490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Carbonilla seca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Mezcla rica, filtro de aire sucio o bujía muy fría.</a:t>
            </a:r>
            <a:endParaRPr lang="en-US" sz="1600" dirty="0"/>
          </a:p>
        </p:txBody>
      </p:sp>
      <p:pic>
        <p:nvPicPr>
          <p:cNvPr id="14" name="Figura old_ea2a_s17_3.png" descr="old_ea2a_s17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576" y="4379135"/>
            <a:ext cx="1463040" cy="102581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592056" y="374904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Corrosión
</a:t>
            </a:r>
            <a:pPr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Aditivos, humedad o vehículo parado mucho tiempo.</a:t>
            </a:r>
            <a:endParaRPr lang="en-US" sz="1600" dirty="0"/>
          </a:p>
        </p:txBody>
      </p:sp>
      <p:sp>
        <p:nvSpPr>
          <p:cNvPr id="16" name="Text 7"/>
          <p:cNvSpPr txBox="1"/>
          <p:nvPr/>
        </p:nvSpPr>
        <p:spPr>
          <a:xfrm>
            <a:off x="502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la bujía</a:t>
            </a:r>
            <a:endParaRPr lang="en-US" sz="2800" dirty="0"/>
          </a:p>
        </p:txBody>
      </p:sp>
      <p:pic>
        <p:nvPicPr>
          <p:cNvPr id="4" name="Figura N_p005_1.png" descr="N_p0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0574"/>
            <a:ext cx="2926080" cy="248525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04069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NGK (s. f.).</a:t>
            </a:r>
            <a:endParaRPr lang="en-US" sz="1000" dirty="0"/>
          </a:p>
        </p:txBody>
      </p:sp>
      <p:pic>
        <p:nvPicPr>
          <p:cNvPr id="6" name="Figura old_ea2a_s19_2.png" descr="old_ea2a_s19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457" y="1234440"/>
            <a:ext cx="1819966" cy="30175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657600" y="4306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943600" y="1234440"/>
            <a:ext cx="5760720" cy="34747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aislador sin fisuras, electrodos no redondeados, rosca sana.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Resistencia interna (bujías R):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3 a 7,5 kΩ entre perno y electrodo central.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Aislamiento: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megóhmetro entre perno y cuerpo: valor muy alto (MΩ).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Calibración: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comparar con la especificación.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Prueba de chispa: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probador a presión; chispa uniforme, sin fugas por el aislador.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0060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543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Cambio orientativo (NGK)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Automóviles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10 000 – 15 000 km (estándar)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Motocicletas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3 000 – 5 000 km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Platino / iridio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Según fabricante (hasta 60 000–100 000 km)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3.2.2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Cables de bujía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Constitución, tipos de supresión, resistencia y comprobación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Misión y constitución de los cables de alta tensión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64465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Llevan la alta tensión de la bobina al distribuidor y a cada bujía sin pérdidas ni derivaciones.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Requisitos: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gran aislamiento, resistencia a la temperatura (≈ 200 °C), a aceites y a vibraciones.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Supresión de interferencias: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 resistencia (o reactancia) atenúa las perturbaciones electromagnéticas que afectan a radio y unidades de control.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Partes: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núcleo conductor, aislante de silicona o EPDM, cubierta, terminales y capuchones.</a:t>
            </a:r>
            <a:endParaRPr lang="en-US" sz="1600" dirty="0"/>
          </a:p>
        </p:txBody>
      </p:sp>
      <p:pic>
        <p:nvPicPr>
          <p:cNvPr id="4" name="Figura S_p021_1.png" descr="S_p02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94" y="1234440"/>
            <a:ext cx="141725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7804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cables y valores de resistencia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194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Construcción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Resistencia orientativa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Núcleo de cobre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Hilo metálico; requiere supresor en terminal o bujía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0 Ω (más el supresor: 1–5 kΩ)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Terminal supresivo (TS / ST)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Resistencia concentrada en el terminal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4,0 – 8,0 kΩ por cable de bujía; 1,0 – 3,0 kΩ cable de bobina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Cable supresivo (CS / SC)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Núcleo de fibra con carbón o silicona conductora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7,5 kΩ por metro (± 40 %)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De reactancia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Hilo enrollado en espiral sobre núcleo magnético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Bajo valor óhmico, alta impedancia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Figura N_p008_1.png" descr="N_p00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477334"/>
            <a:ext cx="4023360" cy="1343013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680960" y="287521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NGK (s. f.).</a:t>
            </a:r>
            <a:endParaRPr lang="en-US" sz="1000" dirty="0"/>
          </a:p>
        </p:txBody>
      </p:sp>
      <p:pic>
        <p:nvPicPr>
          <p:cNvPr id="7" name="Figura B_p011_1.png" descr="B_p01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29681"/>
            <a:ext cx="4023360" cy="2250398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680960" y="5934943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los cables</a:t>
            </a:r>
            <a:endParaRPr lang="en-US" sz="2800" dirty="0"/>
          </a:p>
        </p:txBody>
      </p:sp>
      <p:pic>
        <p:nvPicPr>
          <p:cNvPr id="4" name="Figura N_p009_0.png" descr="N_p00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79" y="1234440"/>
            <a:ext cx="4998561" cy="2103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392424"/>
            <a:ext cx="49985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NGK (s. f.).</a:t>
            </a:r>
            <a:endParaRPr lang="en-US" sz="1000" dirty="0"/>
          </a:p>
        </p:txBody>
      </p:sp>
      <p:pic>
        <p:nvPicPr>
          <p:cNvPr id="6" name="Figura N_p009_1.png" descr="N_p009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96378"/>
            <a:ext cx="5669280" cy="159132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02920" y="574256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NGK (s. f.).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6492240" y="1234440"/>
            <a:ext cx="5212080" cy="2926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Visual: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grietas, quemaduras, terminales sulfatados, capuchones rotos.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Resistencia: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óhmetro extremo a extremo y comparar con el valor por longitud.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Fugas: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oscuridad y con el motor en marcha se ven chispas; o con osciloscopio.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Retirar siempre del capuchón,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nunca tirando del cable.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492240" y="42976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49224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Ecuación"/>
          <p:cNvSpPr/>
          <p:nvPr/>
        </p:nvSpPr>
        <p:spPr>
          <a:xfrm>
            <a:off x="6492240" y="48006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492240" y="4800600"/>
            <a:ext cx="52120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7,5 kΩ/m · 0,6 m = 4,5 kΩ (2,7 – 6,3 kΩ)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3.2.3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Bobinas de encendido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Constitución, funcionamiento como transformador, tipos, resistencias, energía y comprobación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Constitución de la bobina cilíndrica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Núcleo: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hierro laminado dulce.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Primario: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200–300 espiras de hilo grueso (0,5–0,8 mm).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Secundario: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20 000–30 000 espiras de hilo fino (0,06–0,08 mm).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Relación de espiras: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 1:70 y 1:150.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Bornes: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15 (+ desde contacto), 1 (− hacia ruptor o módulo) y 4 (alta tensión).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Relleno: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asfalto o resina; antiguas con aceite (Bosch lo abandonó en los años 70).</a:t>
            </a:r>
            <a:endParaRPr lang="en-US" sz="1600" dirty="0"/>
          </a:p>
        </p:txBody>
      </p:sp>
      <p:pic>
        <p:nvPicPr>
          <p:cNvPr id="5" name="Figura B_p006_2.png" descr="B_p006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741383"/>
            <a:ext cx="5852160" cy="355811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0" y="5354361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 bobina como transformador</a:t>
            </a:r>
            <a:endParaRPr lang="en-US" sz="2800" dirty="0"/>
          </a:p>
        </p:txBody>
      </p:sp>
      <p:sp>
        <p:nvSpPr>
          <p:cNvPr id="4" name="Ecuación"/>
          <p:cNvSpPr/>
          <p:nvPr/>
        </p:nvSpPr>
        <p:spPr>
          <a:xfrm>
            <a:off x="502920" y="123444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51206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V₂ / V₁ = N₂ / N₁ = 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48840"/>
            <a:ext cx="5120640" cy="22860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tensión del primario en la apertura no son 12 V sino el pico de autoinducción (200–400 V).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Ese pico se multiplica por la relación de espiras.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tensión necesaria la fija la bujía; la disponible la fija la bobina.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5262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983480"/>
            <a:ext cx="512064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N₁ = 250, N₂ = 25 000 → m = 100. Pico primario 300 V → V₂ ≈ 30 kV disponibles. Si la bujía necesita 12 kV, la reserva es 18 kV.</a:t>
            </a:r>
            <a:endParaRPr lang="en-US" sz="1500" dirty="0"/>
          </a:p>
        </p:txBody>
      </p:sp>
      <p:pic>
        <p:nvPicPr>
          <p:cNvPr id="10" name="Figura CO_p006_0.png" descr="CO_p00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0518" y="1234440"/>
            <a:ext cx="4866883" cy="16459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2935224"/>
            <a:ext cx="48668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pic>
        <p:nvPicPr>
          <p:cNvPr id="12" name="Figura CO_p006_1.png" descr="CO_p00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19" y="3429000"/>
            <a:ext cx="3857281" cy="2468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98932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Corriente primaria y bobinas de baja resistencia</a:t>
            </a:r>
            <a:endParaRPr lang="en-US" sz="2800" dirty="0"/>
          </a:p>
        </p:txBody>
      </p:sp>
      <p:sp>
        <p:nvSpPr>
          <p:cNvPr id="4" name="Ecuación"/>
          <p:cNvSpPr/>
          <p:nvPr/>
        </p:nvSpPr>
        <p:spPr>
          <a:xfrm>
            <a:off x="502920" y="12344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3474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V / R_total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Cálculo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Corriente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3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/ 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1,5 Ω sin resistor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/ 1,5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8 A (quema platinos)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Bobina 1,5 Ω + resistor 1,5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12 / 3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4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Arranque (borne 15a puenteado)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9,6 / 1,5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33"/>
                          </a:solidFill>
                        </a:rPr>
                        <a:t>6,4 A (chispa reforzada)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2920" y="5349240"/>
            <a:ext cx="5669280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 resistor se puentea durante el arranque para compensar la caída de tensión de la batería.</a:t>
            </a:r>
            <a:endParaRPr lang="en-US" sz="1500" dirty="0"/>
          </a:p>
        </p:txBody>
      </p:sp>
      <p:pic>
        <p:nvPicPr>
          <p:cNvPr id="8" name="Figura B_p015_1.png" descr="B_p01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345" y="1234440"/>
            <a:ext cx="3211871" cy="2286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537960" y="3575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pic>
        <p:nvPicPr>
          <p:cNvPr id="10" name="Figura B_p015_2.png" descr="B_p01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921" y="4023360"/>
            <a:ext cx="2548717" cy="18745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26680" y="59527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Tipos de bobinas</a:t>
            </a:r>
            <a:endParaRPr lang="en-US" sz="2800" dirty="0"/>
          </a:p>
        </p:txBody>
      </p:sp>
      <p:pic>
        <p:nvPicPr>
          <p:cNvPr id="4" name="Figura B_p012_0.png" descr="B_p0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4224"/>
            <a:ext cx="2651760" cy="210083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Cilíndrica
</a:t>
            </a:r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Sistemas con distribuidor.</a:t>
            </a:r>
            <a:endParaRPr lang="en-US" sz="1700" dirty="0"/>
          </a:p>
        </p:txBody>
      </p:sp>
      <p:pic>
        <p:nvPicPr>
          <p:cNvPr id="6" name="Figura s_bobina_doble.png" descr="s_bobina_do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903947"/>
            <a:ext cx="2651760" cy="186138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19272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Doble chispa (DIS)
</a:t>
            </a:r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Dos salidas por bobina; chispa perdida.</a:t>
            </a:r>
            <a:endParaRPr lang="en-US" sz="1700" dirty="0"/>
          </a:p>
        </p:txBody>
      </p:sp>
      <p:pic>
        <p:nvPicPr>
          <p:cNvPr id="8" name="Figura BB_p020_0.png" descr="BB_p020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302352"/>
            <a:ext cx="2651760" cy="1064575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135624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Lápiz / COP
</a:t>
            </a:r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Una por cilindro, sobre la bujía.</a:t>
            </a:r>
            <a:endParaRPr lang="en-US" sz="1700" dirty="0"/>
          </a:p>
        </p:txBody>
      </p:sp>
      <p:pic>
        <p:nvPicPr>
          <p:cNvPr id="10" name="Figura s_bobina_4.png" descr="s_bobina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1475363"/>
            <a:ext cx="2651760" cy="2718555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8951976" y="45262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575A"/>
                </a:solidFill>
              </a:rPr>
              <a:t>Regleta (coil rail)
</a:t>
            </a:r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Varias bobinas en un cuerpo.</a:t>
            </a:r>
            <a:endParaRPr lang="en-US" sz="1700" dirty="0"/>
          </a:p>
        </p:txBody>
      </p:sp>
      <p:sp>
        <p:nvSpPr>
          <p:cNvPr id="12" name="Text 5"/>
          <p:cNvSpPr txBox="1"/>
          <p:nvPr/>
        </p:nvSpPr>
        <p:spPr>
          <a:xfrm>
            <a:off x="50292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f.-a, s. f.-b), BERU (s. f.-b) y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Características eléctricas de las bobinas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  <a:gridCol w="3886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Parámetro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Convencional (ruptor)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Electrónica moderna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Resistencia del primario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 – 6 Ω (sin resistor) / 1,2 – 1,6 Ω (con resistor)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0,3 – 0,6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Resistencia del secundario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 – 10 kΩ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 – 20 kΩ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Corriente primaria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≈ 4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 – 20 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Tiempo de carga (dwell)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Fijo por la leva (51–55 %)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1,5 – 4 ms, controlado por la ECU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Tensión secundaria máxima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15 – 25 kV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25 – 45 kV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Energía de chispa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≈ 20 – 50 mJ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10 – 100 mJ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la bobina</a:t>
            </a:r>
            <a:endParaRPr lang="en-US" sz="2800" dirty="0"/>
          </a:p>
        </p:txBody>
      </p:sp>
      <p:pic>
        <p:nvPicPr>
          <p:cNvPr id="4" name="Figura CO_p020_1.png" descr="CO_p02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12" y="1234440"/>
            <a:ext cx="2375376" cy="2560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pic>
        <p:nvPicPr>
          <p:cNvPr id="6" name="Figura CO_p020_2.png" descr="CO_p020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032" y="1234440"/>
            <a:ext cx="2375376" cy="2560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337560" y="38496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1234440"/>
            <a:ext cx="5486400" cy="3291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Primario: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óhmetro entre 15 (+) y 1 (−).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Secundario: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 1 (o 15) y la salida de alta tensión.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Aislamiento: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entre cada borne y la carcasa → infinito.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Alimentación: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tensión en 15 con contacto: 12 V o 7–9 V si hay resistor.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5. Funcional: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osciloscopio (oscilograma de primario y secundario) o probador de chispa.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34840"/>
          <a:ext cx="11201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2514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Valor medido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Especificación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¿Correcto?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Primario (15 – 1)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 – 6 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Secundario (1 – 4)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5 – 10 kΩ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Aislamiento a masa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∞ (OL)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Fallas de las bobinas y buenas prácticas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3492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Calor y vibración: rotura de espiras o del aislamiento.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Humedad: derivaciones y quemado interno.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Bujías gastadas o cables abiertos: la bobina trabaja a tensiones excesivas y se perfora.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Bobinas de imitación: rellenos con burbujas, núcleo mal posicionado (BERU muestra radiografías comparativas).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Montaje COP: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usar herramienta extractora y grasa dieléctrica en el capuchón.</a:t>
            </a:r>
            <a:endParaRPr lang="en-US" sz="1600" dirty="0"/>
          </a:p>
        </p:txBody>
      </p:sp>
      <p:pic>
        <p:nvPicPr>
          <p:cNvPr id="4" name="Figura CO_p019_0.png" descr="CO_p01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047068"/>
            <a:ext cx="5669280" cy="2946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504867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3.3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Sistemas de encendido convencional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3.3.1 Magneto de alta tensión · 3.3.2 Sistema por ruptor (platinos): distribuidor, condensador, ángulo de cierre, avances y puesta a punto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3.3.1 Encendido por magneto de alta tensión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5321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 su propia energía: no necesita batería.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rotor de imanes permanentes gira con el motor e induce corriente en el primario.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ruptor abre el primario en el instante del encendido y el secundario genera la alta tensión.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tensión aumenta con la velocidad; a bajas rpm la chispa es débil.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Aplicaciones: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motocicletas antiguas, cortadoras de césped, motores estacionarios, aviones de pistón.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Parada: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interruptor «stop» pone el primario a masa.</a:t>
            </a:r>
            <a:endParaRPr lang="en-US" sz="1600" dirty="0"/>
          </a:p>
        </p:txBody>
      </p:sp>
      <p:pic>
        <p:nvPicPr>
          <p:cNvPr id="5" name="Figura old_ea2b_s04_2.png" descr="old_ea2b_s04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28329"/>
            <a:ext cx="5486400" cy="43842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576741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3.3.2 Encendido por ruptor: esquema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4348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Circuito primario: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batería → contacto → borne 15 → primario → borne 1 → ruptor →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Condensador: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paralelo con el ruptor.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Circuito secundario: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borne 4 → cable de bobina → rotor → tapa → cable → bujía →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Mecanismos de avance: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centrífugo (rpm) y por vacío (carga).</a:t>
            </a:r>
            <a:endParaRPr lang="en-US" sz="1600" dirty="0"/>
          </a:p>
        </p:txBody>
      </p:sp>
      <p:pic>
        <p:nvPicPr>
          <p:cNvPr id="4" name="Figura B_p005_0.png" descr="B_p00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8904" y="1234440"/>
            <a:ext cx="558715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66360" y="5861304"/>
            <a:ext cx="5587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Funcionamiento: platinos cerrados y abiertos</a:t>
            </a:r>
            <a:endParaRPr lang="en-US" sz="2800" dirty="0"/>
          </a:p>
        </p:txBody>
      </p:sp>
      <p:pic>
        <p:nvPicPr>
          <p:cNvPr id="4" name="Figura S_p014_1.png" descr="S_p0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566" y="1234440"/>
            <a:ext cx="3520867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25566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Carga del primario. Tomado de Sánchez (2012).</a:t>
            </a:r>
            <a:endParaRPr lang="en-US" sz="1000" dirty="0"/>
          </a:p>
        </p:txBody>
      </p:sp>
      <p:pic>
        <p:nvPicPr>
          <p:cNvPr id="6" name="Figura S_p014_2.png" descr="S_p01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806" y="1234440"/>
            <a:ext cx="3065028" cy="2743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251960" y="4032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Descarga del primario. Tomado de Sánchez (2012).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7955280" y="1234440"/>
            <a:ext cx="374904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Cerrado: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pasa corriente (≈ 4 A); se forma el campo; se almacena energía E = ½ L I².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Abierto: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campo cae bruscamente; se induce alta tensión en el secundario; salta la chispa.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Sin condensador: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arco en los platinos, corte lento, chispa débil y platinos quemados.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502920" y="4617720"/>
            <a:ext cx="722376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La tensión de chispa (1–2 kV mientras dura el arco, 1–2 ms) es mucho menor que la tensión de encendido inicial (aguja).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distribuidor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2519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Componente con más funciones del sistema convencional: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Distribuye la alta tensión por el rotor y la tapa según el orden de encendido.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Aloja el ruptor, la leva y el condensador.</a:t>
            </a:r>
            <a:endParaRPr lang="en-US" sz="1600" dirty="0"/>
          </a:p>
          <a:p>
            <a:pPr lvl="1" marL="4572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Aloja los avances centrífugo y por vacío.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Gira a la mitad de rpm del cigüeñal (una vuelta por ciclo de 4 tiempos).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Comprobar: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tapa sin fisuras ni carbonilla, carbón central, rotor y su resistencia (Bosch: 1,0–1,2 kΩ o 4–6 kΩ según tipo).</a:t>
            </a:r>
            <a:endParaRPr lang="en-US" sz="1600" dirty="0"/>
          </a:p>
        </p:txBody>
      </p:sp>
      <p:pic>
        <p:nvPicPr>
          <p:cNvPr id="4" name="Figura s_distribuidor.png" descr="s_distribui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49237"/>
            <a:ext cx="6766560" cy="29424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5046507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Ruptor, leva y condensador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26364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Ruptor: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contacto fijo (yunque) y móvil (martillo) de acero al tungsteno.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Leva: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tantas crestas como cilindros; abre los contactos.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Separación de contactos: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0,40–0,45 mm (verificar cada 20 000 km, sustituir cada 40 000 km).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Condensador: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dos hojas de estaño o aluminio con dieléctrico; capacidad ≈ 0,2–0,3 µF.</a:t>
            </a:r>
            <a:endParaRPr lang="en-US" sz="1600" dirty="0"/>
          </a:p>
        </p:txBody>
      </p:sp>
      <p:pic>
        <p:nvPicPr>
          <p:cNvPr id="5" name="Figura s_condensador.png" descr="s_condens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219" y="1234440"/>
            <a:ext cx="2397323" cy="4572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9516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Ángulo de cierre (dwell)</a:t>
            </a:r>
            <a:endParaRPr lang="en-US" sz="2800" dirty="0"/>
          </a:p>
        </p:txBody>
      </p:sp>
      <p:pic>
        <p:nvPicPr>
          <p:cNvPr id="4" name="Figura s_levas.png" descr="s_le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943" y="1234440"/>
            <a:ext cx="4347713" cy="2560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849624"/>
            <a:ext cx="43477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s_dwell.png" descr="s_d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23" y="4297680"/>
            <a:ext cx="1476314" cy="1600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952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8" name="Ecuación"/>
          <p:cNvSpPr/>
          <p:nvPr/>
        </p:nvSpPr>
        <p:spPr>
          <a:xfrm>
            <a:off x="5760720" y="1234440"/>
            <a:ext cx="5943600" cy="1280160"/>
          </a:xfrm>
          <a:prstGeom prst="roundRect">
            <a:avLst>
              <a:gd name="adj" fmla="val 5714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760720" y="1234440"/>
            <a:ext cx="59436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α_chispas = 360° / z (eje distribuidor)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Dwell % = α_cierre / α_chispas · 100</a:t>
            </a:r>
            <a:endParaRPr lang="en-US" sz="2000" dirty="0"/>
          </a:p>
        </p:txBody>
      </p:sp>
      <p:sp>
        <p:nvSpPr>
          <p:cNvPr id="10" name="Shape 5"/>
          <p:cNvSpPr/>
          <p:nvPr/>
        </p:nvSpPr>
        <p:spPr>
          <a:xfrm>
            <a:off x="5760720" y="27432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76072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3246120"/>
          <a:ext cx="5943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37160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Motor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Ángulo entre chispas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Cierre (55 %)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Apertura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 cilindros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360/4 = 90°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49,5°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40,5°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6 cilindros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360/6 = 60°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33°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27°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8 cilindros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360/8 = 45°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24,75°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3"/>
                          </a:solidFill>
                        </a:rPr>
                        <a:t>20,25°</a:t>
                      </a:r>
                      <a:endParaRPr lang="en-US" sz="14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3200400" y="5257800"/>
            <a:ext cx="8503920" cy="1005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Contactos muy separados: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dwell pequeño → bobina poco cargada a altas rpm.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Contactos muy juntos: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dwell grande → arco y platinos quemados.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Ejemplo resuelto: tiempo de carga y chispas por minuto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23444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234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6949440" cy="4480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Datos: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motor de 4 cilindros a 5 000 rpm; dwell 55 %.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rpm del distribuidor: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5 000 / 2 = 2 500 rpm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Chispas por minuto: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2 500 · 4 = 10 000 chispas/min (Bosch)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Período entre chispas: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60 / 10 000 = 6 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Tiempo de carga: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0,55 · 6 = 3,3 ms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Con τ = 2 ms: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 = 4 · (1 − e^(−3,3/2)) = 3,2 A (80 %)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 A 7 000 rpm: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período 4,3 ms; carga 2,4 ms → I = 2,8 A (70 %): menos energía (E ∝ I²).</a:t>
            </a:r>
            <a:endParaRPr lang="en-US" sz="1600" dirty="0"/>
          </a:p>
        </p:txBody>
      </p:sp>
      <p:sp>
        <p:nvSpPr>
          <p:cNvPr id="7" name="Ecuación"/>
          <p:cNvSpPr/>
          <p:nvPr/>
        </p:nvSpPr>
        <p:spPr>
          <a:xfrm>
            <a:off x="7772400" y="178308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783080"/>
            <a:ext cx="393192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Chispas/min = (n_motor / 2) · z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60 / chispas por minuto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t_carga = Dwell · 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Avance del encendido: ¿por qué?</a:t>
            </a:r>
            <a:endParaRPr lang="en-US" sz="2800" dirty="0"/>
          </a:p>
        </p:txBody>
      </p:sp>
      <p:pic>
        <p:nvPicPr>
          <p:cNvPr id="4" name="Figura s_avance_presion.png" descr="s_avance_pr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99" y="1234440"/>
            <a:ext cx="5369442" cy="4617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3694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1234440"/>
            <a:ext cx="5394960" cy="3017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combustión dura ≈ 2 ms; a más rpm el pistón recorre más grados en ese tiempo.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Avance correcto (Za):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presión máxima poco después del PMS.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Avance excesivo (Zb):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pico muy alto antes del PMS → detonación («cascabeleo»).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Avance escaso (Zc):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pico bajo y tardío → pérdida de potencia, calentamiento, consumo.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309360" y="43891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0936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4846320"/>
            <a:ext cx="5394960" cy="1371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Retardo de combustión 2 ms. A 1 000 rpm = 6 °/ms → 12°. A 4 000 rpm = 24 °/ms → 48°. Por eso el avance crece con las rpm.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Avance centrífugo y por vacío</a:t>
            </a:r>
            <a:endParaRPr lang="en-US" sz="2800" dirty="0"/>
          </a:p>
        </p:txBody>
      </p:sp>
      <p:pic>
        <p:nvPicPr>
          <p:cNvPr id="4" name="Figura s_centrifugo.png" descr="s_centrifu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12898"/>
            <a:ext cx="3657600" cy="2311964"/>
          </a:xfrm>
          <a:prstGeom prst="rect">
            <a:avLst/>
          </a:prstGeom>
        </p:spPr>
      </p:pic>
      <p:pic>
        <p:nvPicPr>
          <p:cNvPr id="5" name="Figura s_centrifugo_graf.png" descr="s_centrifugo_gr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044" y="3840480"/>
            <a:ext cx="2465353" cy="20116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9070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7" name="Figura s_vacio.png" descr="s_va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283329"/>
            <a:ext cx="4023360" cy="2828303"/>
          </a:xfrm>
          <a:prstGeom prst="rect">
            <a:avLst/>
          </a:prstGeom>
        </p:spPr>
      </p:pic>
      <p:pic>
        <p:nvPicPr>
          <p:cNvPr id="8" name="Figura s_vacio_graf.png" descr="s_vacio_gra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309" y="4297680"/>
            <a:ext cx="1839542" cy="155448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4389120" y="5907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8595360" y="1234440"/>
            <a:ext cx="31089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Centrífugo: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contrapesos que se abren con las rpm y giran la leva respecto al eje.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Por vacío: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cápsula con membrana conectada al colector; con carga parcial (mucho vacío) gira la placa portarruptor.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 plena carga: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poco vacío → solo actúa el centrífugo.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Puesta a punto con lámpara estroboscópica</a:t>
            </a:r>
            <a:endParaRPr lang="en-US" sz="2800" dirty="0"/>
          </a:p>
        </p:txBody>
      </p:sp>
      <p:pic>
        <p:nvPicPr>
          <p:cNvPr id="4" name="Figura s_estroboscopio.png" descr="s_estrobosco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8983"/>
            <a:ext cx="5120640" cy="303715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91100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852160" y="1234440"/>
            <a:ext cx="58521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Verificar separación de platinos y dwell (51–55 %).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Desconectar y tapar el tubo de vacío.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Motor en ralentí especificado (750–800 rpm).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Pinza inductiva en el cable de la bujía 1.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Apuntar la lámpara a las marcas de la polea: deben coincidir con el avance inicial.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no coinciden, aflojar el distribuidor y girarlo; reapretar y volver a medir.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7.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Subir rpm: comprobar centrífugo; conectar vacío: comprobar avance por depresión.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Transistorizado con contactos (transición)</a:t>
            </a:r>
            <a:endParaRPr lang="en-US" sz="2800" dirty="0"/>
          </a:p>
        </p:txBody>
      </p:sp>
      <p:pic>
        <p:nvPicPr>
          <p:cNvPr id="4" name="Figura s_tz_contactos.png" descr="s_tz_contac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51" y="1234440"/>
            <a:ext cx="6482177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215384"/>
            <a:ext cx="648217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s_darlington.png" descr="s_darlingt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046" y="1234440"/>
            <a:ext cx="1923268" cy="1463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818120" y="2752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02920" y="4663440"/>
            <a:ext cx="11201400" cy="1600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Emisor al primario, colector a masa, base a los contactos (montaje darlington T1–T2).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platinos ya no se queman: duran mucho más.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Sigue teniendo los inconvenientes mecánicos (desgaste del patín, rebote a altas rpm).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772400" y="3200400"/>
            <a:ext cx="3931920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diodo D protege al transistor de los picos inversos.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Oscilograma de primario y secundario (ruptor)</a:t>
            </a:r>
            <a:endParaRPr lang="en-US" sz="2800" dirty="0"/>
          </a:p>
        </p:txBody>
      </p:sp>
      <p:pic>
        <p:nvPicPr>
          <p:cNvPr id="4" name="Figura S_p015_1.png" descr="S_p01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1889"/>
            <a:ext cx="2834640" cy="228270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259455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Secundario. Tomado de Sánchez (2012).</a:t>
            </a:r>
            <a:endParaRPr lang="en-US" sz="1000" dirty="0"/>
          </a:p>
        </p:txBody>
      </p:sp>
      <p:pic>
        <p:nvPicPr>
          <p:cNvPr id="6" name="Figura S_p015_2.png" descr="S_p01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857155"/>
            <a:ext cx="2834640" cy="241217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429000" y="4324189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Primario. Tomado de Sánchez (2012).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Tramo (secundario)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Qué representa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 – B: aguja de encendido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necesaria para iniciar la chispa (8–15 kV)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 – D: línea de chispa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Tensión de arco (1–2 kV) durante 1–2 ms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 – E: amortiguación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Energía residual que oscila y se disipa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 – A: tramo de cierre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Contactos cerrados (dwell); pequeña oscilación al cerrar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6400800" y="4983480"/>
            <a:ext cx="5303520" cy="1097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Primario: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pico de 150–300 V en la apertura, oscilaciones y vuelta a 12 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Sistemas de encendido eléctricos y electrónicos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3.4.1 Generador de impulsos · 3.4.2 Efecto Hall · 3.4.3 Óptico · 3.4.4 DIS · 3.4.5 COP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Ventajas del encendido electrónico</a:t>
            </a:r>
            <a:endParaRPr lang="en-US" sz="2800" dirty="0"/>
          </a:p>
        </p:txBody>
      </p:sp>
      <p:sp>
        <p:nvSpPr>
          <p:cNvPr id="4" name="Tarjeta Sin desgaste"/>
          <p:cNvSpPr/>
          <p:nvPr/>
        </p:nvSpPr>
        <p:spPr>
          <a:xfrm>
            <a:off x="50292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Sin desgaste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 eliminan platinos y condensador: no hay reglaje periódico.</a:t>
            </a:r>
            <a:endParaRPr lang="en-US" sz="1400" dirty="0"/>
          </a:p>
        </p:txBody>
      </p:sp>
      <p:sp>
        <p:nvSpPr>
          <p:cNvPr id="7" name="Tarjeta Más energía"/>
          <p:cNvSpPr/>
          <p:nvPr/>
        </p:nvSpPr>
        <p:spPr>
          <a:xfrm>
            <a:off x="429768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Más energía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Bobinas de baja resistencia: más corriente y tensión a altas rpm.</a:t>
            </a:r>
            <a:endParaRPr lang="en-US" sz="1400" dirty="0"/>
          </a:p>
        </p:txBody>
      </p:sp>
      <p:sp>
        <p:nvSpPr>
          <p:cNvPr id="10" name="Tarjeta Dwell variable"/>
          <p:cNvSpPr/>
          <p:nvPr/>
        </p:nvSpPr>
        <p:spPr>
          <a:xfrm>
            <a:off x="8092440" y="12344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Dwell variable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módulo regula el tiempo de cierre según las rpm (cierre controlado).</a:t>
            </a:r>
            <a:endParaRPr lang="en-US" sz="1400" dirty="0"/>
          </a:p>
        </p:txBody>
      </p:sp>
      <p:sp>
        <p:nvSpPr>
          <p:cNvPr id="13" name="Tarjeta Limitación de corriente"/>
          <p:cNvSpPr/>
          <p:nvPr/>
        </p:nvSpPr>
        <p:spPr>
          <a:xfrm>
            <a:off x="50292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Limitación de corriente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Protege la bobina; corte de corriente en reposo (ccr).</a:t>
            </a:r>
            <a:endParaRPr lang="en-US" sz="1400" dirty="0"/>
          </a:p>
        </p:txBody>
      </p:sp>
      <p:sp>
        <p:nvSpPr>
          <p:cNvPr id="16" name="Tarjeta Precisión"/>
          <p:cNvSpPr/>
          <p:nvPr/>
        </p:nvSpPr>
        <p:spPr>
          <a:xfrm>
            <a:off x="429768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46227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Precisión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46227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 punto de encendido no se altera con el uso.</a:t>
            </a:r>
            <a:endParaRPr lang="en-US" sz="1400" dirty="0"/>
          </a:p>
        </p:txBody>
      </p:sp>
      <p:sp>
        <p:nvSpPr>
          <p:cNvPr id="19" name="Tarjeta Menos emisiones"/>
          <p:cNvSpPr/>
          <p:nvPr/>
        </p:nvSpPr>
        <p:spPr>
          <a:xfrm>
            <a:off x="8092440" y="37490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57032" y="38587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Menos emisiones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57032" y="4297680"/>
            <a:ext cx="3282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Combustión más completa en todo el rango de rpm.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Estructura del encendido electrónico con distribuidor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2519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Generador de impulsos: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sustituye al ruptor dentro del distribuidor (inductivo, Hall u óptico).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Unidad de mando (módulo):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conforma la señal, controla el dwell y corta el primario con un transistor de potencia.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Bobina de baja resistencia: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más energía.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Mantiene distribuidor, cables y avances mecánicos.</a:t>
            </a:r>
            <a:endParaRPr lang="en-US" sz="1600" dirty="0"/>
          </a:p>
        </p:txBody>
      </p:sp>
      <p:pic>
        <p:nvPicPr>
          <p:cNvPr id="4" name="Figura B_p018_0.png" descr="B_p01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1514" y="1234440"/>
            <a:ext cx="639905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83480" y="5861304"/>
            <a:ext cx="63990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Bloques de la unidad de mando (TSZ-I)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33375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2a Conformador de impulsos: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convierte la señal alterna en rectangular.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2b Control del ángulo de cierre: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ajusta el tiempo de carga con las rpm.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2c Excitador: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amplifica la señal.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2d Etapa final darlington: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corta o da paso a la corriente primaria.</a:t>
            </a:r>
            <a:endParaRPr lang="en-US" sz="1600" dirty="0"/>
          </a:p>
        </p:txBody>
      </p:sp>
      <p:pic>
        <p:nvPicPr>
          <p:cNvPr id="4" name="Figura s_tsz_bloques.png" descr="s_tsz_blo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314994"/>
            <a:ext cx="7680960" cy="24108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023360" y="478075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3.4.1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Encendido con generador de impulsos (inductivo)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TSZ-I / TZ-I: constitución, señal, comprobación y diagnóstico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Generador de impulsos inductivo: constitución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5321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Imán permanente.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Bobinado de inducción con núcleo (estator).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Entrehierro: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≈ 0,5 mm entre dientes del rotor y del estator.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Rotor de acero: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tantos dientes como cilindros, en el eje del distribuidor.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necesita alimentación: genera su propia señal alterna.</a:t>
            </a:r>
            <a:endParaRPr lang="en-US" sz="1600" dirty="0"/>
          </a:p>
        </p:txBody>
      </p:sp>
      <p:pic>
        <p:nvPicPr>
          <p:cNvPr id="4" name="Figura s_ind_gen.png" descr="s_ind_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58" y="1234440"/>
            <a:ext cx="235892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63640" y="586130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Principio y forma de la señal inductiva</a:t>
            </a:r>
            <a:endParaRPr lang="en-US" sz="2800" dirty="0"/>
          </a:p>
        </p:txBody>
      </p:sp>
      <p:pic>
        <p:nvPicPr>
          <p:cNvPr id="4" name="Figura s_ind_esquema.png" descr="s_ind_esqu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113" y="1234440"/>
            <a:ext cx="4682014" cy="2651760"/>
          </a:xfrm>
          <a:prstGeom prst="rect">
            <a:avLst/>
          </a:prstGeom>
        </p:spPr>
      </p:pic>
      <p:pic>
        <p:nvPicPr>
          <p:cNvPr id="5" name="Figura s_ind_senal.png" descr="s_ind_se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34" y="4023360"/>
            <a:ext cx="2309011" cy="187452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59527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09360" y="1234440"/>
            <a:ext cx="5394960" cy="30175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acercarse el diente disminuye el entrehierro → aumenta el flujo → tensión positiva.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Diente enfrentado: flujo máximo constante → tensión cero (punto de encendido tz).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alejarse → tensión negativa.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amplitud crece con las rpm (de ≈ 0,5 V en arranque a más de 100 V a régimen máximo).</a:t>
            </a:r>
            <a:endParaRPr lang="en-US" sz="1500" dirty="0"/>
          </a:p>
        </p:txBody>
      </p:sp>
      <p:sp>
        <p:nvSpPr>
          <p:cNvPr id="8" name="Ecuación"/>
          <p:cNvSpPr/>
          <p:nvPr/>
        </p:nvSpPr>
        <p:spPr>
          <a:xfrm>
            <a:off x="6309360" y="43891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309360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z · n / 2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8869680" y="438912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869680" y="4389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309360" y="5303520"/>
            <a:ext cx="5394960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 cilindros a 3 000 rpm: f = 4 · 3 000 / 2 = 6 000 impulsos/min = 100 Hz.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Distribuidor con generador inductivo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2519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Contrapesos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 avance centrífugo.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Cápsula de vacío.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Disco polar del generador.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6. Rotor sincronizador.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unidad electrónica (bloque TSZ-I) suele ir fuera del distribuidor.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Algunos fabricantes usan generadores de un solo diente.</a:t>
            </a:r>
            <a:endParaRPr lang="en-US" sz="1600" dirty="0"/>
          </a:p>
        </p:txBody>
      </p:sp>
      <p:pic>
        <p:nvPicPr>
          <p:cNvPr id="4" name="Figura s_dist_ind.png" descr="s_dist_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19154"/>
            <a:ext cx="6766560" cy="30025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507659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del generador inductivo y del módulo</a:t>
            </a:r>
            <a:endParaRPr lang="en-US" sz="2800" dirty="0"/>
          </a:p>
        </p:txBody>
      </p:sp>
      <p:pic>
        <p:nvPicPr>
          <p:cNvPr id="4" name="Figura B_p022_0.png" descr="B_p02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58721"/>
            <a:ext cx="3657600" cy="287751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419110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5603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Prueba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Cómo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orientativo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Resistencia del captador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Óhmetro en los 2 cables del generador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Bosch TZ-I 1,0–1,2 kΩ · Toyota 140–180 Ω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Aislamiento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Cada cable a masa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Entrehierro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Galga no magnética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0,2–0,4 mm (Toyota) / ≈ 0,5 mm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Señal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V~ arrancando u osciloscopio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&gt; 0,5 V CA arrancando; senoidal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Alimentación del módulo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Contacto puesto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12 V (borne 15) y masa (31)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Salida al primario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Lámpara LED o osciloscopio en borne 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Destellos / pulsos al arrancar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Ángulo de cierre controlado electrónicamente</a:t>
            </a:r>
            <a:endParaRPr lang="en-US" sz="2800" dirty="0"/>
          </a:p>
        </p:txBody>
      </p:sp>
      <p:pic>
        <p:nvPicPr>
          <p:cNvPr id="4" name="Figura s_angulo_cierre.png" descr="s_angulo_cier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398" y="1234440"/>
            <a:ext cx="5177444" cy="4617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907024"/>
            <a:ext cx="51774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309360" y="1234440"/>
            <a:ext cx="53949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módulo fija un tiempo de carga (ms), no un ángulo fijo.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S₁ correcto; S₂ demasiado pequeño (bobina poco cargada); S₃ demasiado grande (calentamiento).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Limitación de corriente: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etapa final limita la corriente (zona plana t₁*) para no dañar la bobina.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Corte en reposo (ccr):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contacto y motor parado, el módulo corta la corriente al cabo de ≈ 1 minuto.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3.4.2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Encendido con generador de efecto Hall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TSZ-H / TZ-H: efecto Hall, constitución, señal cuadrada y comprobación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El efecto Hall</a:t>
            </a:r>
            <a:endParaRPr lang="en-US" sz="2800" dirty="0"/>
          </a:p>
        </p:txBody>
      </p:sp>
      <p:pic>
        <p:nvPicPr>
          <p:cNvPr id="4" name="Figura s_efecto_hall.png" descr="s_efecto_h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150" y="1234440"/>
            <a:ext cx="5453700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64024"/>
            <a:ext cx="54537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675120" y="1234440"/>
            <a:ext cx="50292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electrones se desvían hacia un lado por la fuerza de Lorentz.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Aparece la tensión Hall (milivoltios), proporcional al campo.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circuito integrado la amplifica y la convierte en señal cuadrada.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Ventaja: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señal no depende de la velocidad (sirve desde 0 rpm).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Necesita alimentación: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≈ 5 a 12 V desde el módulo o la ECU.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Generador Hall en el distribuidor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51663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Pieza guía.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Entrehierro.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Soporte cerámico con circuito integrado Hall e imán. </a:t>
            </a:r>
            <a:pPr indent="0" marL="0">
              <a:buNone/>
            </a:pP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5. Pantallas del tambor obturador: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tantas como cilindros.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9. Cable trifilar: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alimentación (+), masa (−) y señal (o).</a:t>
            </a:r>
            <a:endParaRPr lang="en-US" sz="1600" dirty="0"/>
          </a:p>
        </p:txBody>
      </p:sp>
      <p:pic>
        <p:nvPicPr>
          <p:cNvPr id="4" name="Figura s_hall_despiece.png" descr="s_hall_despie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9664" y="1234440"/>
            <a:ext cx="465715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97880" y="5861304"/>
            <a:ext cx="4657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Funcionamiento y señal Hall</a:t>
            </a:r>
            <a:endParaRPr lang="en-US" sz="2800" dirty="0"/>
          </a:p>
        </p:txBody>
      </p:sp>
      <p:pic>
        <p:nvPicPr>
          <p:cNvPr id="4" name="Figura s_hall_barrera.png" descr="s_hall_barr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596" y="1234440"/>
            <a:ext cx="3136407" cy="2743200"/>
          </a:xfrm>
          <a:prstGeom prst="rect">
            <a:avLst/>
          </a:prstGeom>
        </p:spPr>
      </p:pic>
      <p:pic>
        <p:nvPicPr>
          <p:cNvPr id="5" name="Figura s_hall_impulsos.png" descr="s_hall_impul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938" y="1234440"/>
            <a:ext cx="3805725" cy="38404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0" y="51297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502920" y="4114800"/>
            <a:ext cx="4937760" cy="2148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Pantalla en el entrehierro: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desvía el campo → tensión Hall baja.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Ventana libre: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campo sobre el integrado → tensión Hall alta.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El ancho de la pantalla determina el ángulo de cierre.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del sistema Hall</a:t>
            </a:r>
            <a:endParaRPr lang="en-US" sz="2800" dirty="0"/>
          </a:p>
        </p:txBody>
      </p:sp>
      <p:pic>
        <p:nvPicPr>
          <p:cNvPr id="4" name="Figura B_p022_2.png" descr="B_p02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558" y="1234440"/>
            <a:ext cx="4819124" cy="2651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41064"/>
            <a:ext cx="48191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828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esperado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1. Alimentación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Entre (+) y (−) del conector con contacto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≈ 5 – 12 V (según sistema)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2. Masa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Caída entre (−) del sensor y masa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&lt; 0,1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3. Señal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Entre (o) y (−), girando el motor a mano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Alterna entre ≈ 0,4 V y 9–11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4. Con osciloscopio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Señal con el motor arrancando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Onda cuadrada nítida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5. Salida del módulo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Lámpara LED o osciloscopio en borne 1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Pulsos al arrancar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02920" y="4434840"/>
            <a:ext cx="548640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Precaución: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nunca medir resistencia en el sensor Hall (es un circuito integrado) ni puentear la señal a positivo.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3.4.3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Encendido con sensor óptico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Emisor de luz, disco ranurado y fotodiodo o fototransistor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Constitución y funcionamiento del sensor óptico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553212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 LED emite luz infrarroja hacia un fotodiodo o fototransistor.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Entre ambos gira un disco con ranuras unido al eje del distribuidor.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Cuando una ranura deja pasar la luz, el fotodiodo conduce: señal cuadrada.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Suelen tener dos pistas: muchas ranuras (rpm, 1° de resolución) y pocas (posición de cilindros).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Ejemplos: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distribuidores de Nissan y Mitsubishi de los años 90.</a:t>
            </a:r>
            <a:endParaRPr lang="en-US" sz="1600" dirty="0"/>
          </a:p>
        </p:txBody>
      </p:sp>
      <p:pic>
        <p:nvPicPr>
          <p:cNvPr id="5" name="Figura old_ea2b_s25_2.png" descr="old_ea2b_s25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30388"/>
            <a:ext cx="5486400" cy="338010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17920" y="52653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Ventajas, inconvenientes y comprobación del óptico</a:t>
            </a:r>
            <a:endParaRPr lang="en-US" sz="2800" dirty="0"/>
          </a:p>
        </p:txBody>
      </p:sp>
      <p:sp>
        <p:nvSpPr>
          <p:cNvPr id="4" name="Tarjeta Ventajas"/>
          <p:cNvSpPr/>
          <p:nvPr/>
        </p:nvSpPr>
        <p:spPr>
          <a:xfrm>
            <a:off x="50292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4F1F1"/>
          </a:solidFill>
          <a:ln w="12700">
            <a:solidFill>
              <a:srgbClr val="E4F1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751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Ventajas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6751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Señal cuadrada independiente de la velocidad.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Alta resolución angular (muchas ranuras).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 piezas en contacto.</a:t>
            </a:r>
            <a:endParaRPr lang="en-US" sz="1500" dirty="0"/>
          </a:p>
        </p:txBody>
      </p:sp>
      <p:sp>
        <p:nvSpPr>
          <p:cNvPr id="7" name="Tarjeta Inconvenientes"/>
          <p:cNvSpPr/>
          <p:nvPr/>
        </p:nvSpPr>
        <p:spPr>
          <a:xfrm>
            <a:off x="429768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8E1DE"/>
          </a:solidFill>
          <a:ln w="12700">
            <a:solidFill>
              <a:srgbClr val="F8E1D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227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Inconvenientes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46227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Sensible a suciedad, aceite y humedad dentro del distribuidor.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LED se degrada con el calor.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Necesita alimentación.</a:t>
            </a:r>
            <a:endParaRPr lang="en-US" sz="1500" dirty="0"/>
          </a:p>
        </p:txBody>
      </p:sp>
      <p:sp>
        <p:nvSpPr>
          <p:cNvPr id="10" name="Tarjeta Comprobación"/>
          <p:cNvSpPr/>
          <p:nvPr/>
        </p:nvSpPr>
        <p:spPr>
          <a:xfrm>
            <a:off x="8092440" y="123444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DF1D8"/>
          </a:solidFill>
          <a:ln w="12700">
            <a:solidFill>
              <a:srgbClr val="FDF1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57032" y="1344168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Comprobación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57032" y="1783080"/>
            <a:ext cx="32826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Alimentación (≈ 5 o 12 V) y masa en el conector.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Señal: girar el motor a mano; voltímetro alterna 0 / 5 V.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Osciloscopio: dos trenes de pulsos limpios.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Inspección y limpieza del disco.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Encendido electrónico integral (EEI): transición al DIS</a:t>
            </a:r>
            <a:endParaRPr lang="en-US" sz="2800" dirty="0"/>
          </a:p>
        </p:txBody>
      </p:sp>
      <p:pic>
        <p:nvPicPr>
          <p:cNvPr id="4" name="Figura s_integral.png" descr="s_integ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86" y="1234440"/>
            <a:ext cx="5604387" cy="2743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032504"/>
            <a:ext cx="56043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6492240" y="1234440"/>
            <a:ext cx="5212080" cy="31089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Sensor rpm y PMS: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inductivo frente a corona de 60 − 2 dientes.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Carga: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sensor MAP o caudalímetro.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Correcciones: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temperatura, picado (sensor de detonación), batería.</a:t>
            </a:r>
            <a:endParaRPr lang="en-US" sz="1500" dirty="0"/>
          </a:p>
        </p:txBody>
      </p:sp>
      <p:pic>
        <p:nvPicPr>
          <p:cNvPr id="7" name="Figura s_ecu_bloques.png" descr="s_ecu_bloqu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067" y="3566160"/>
            <a:ext cx="4234426" cy="23317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537960" y="5952744"/>
            <a:ext cx="42344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502920" y="4572000"/>
            <a:ext cx="5760720" cy="1280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El distribuidor solo reparte la alta tensión; el siguiente paso fue eliminarlo (DIS).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3.4.4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 de encendido DIS (sin distribuidor)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Encendido estático por chispa perdida: bobinas dobles, funcionamiento, polaridad y comprobación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Estructura del encendido DIS estático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2519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 = Distributorless Ignition System: sin distribuidor.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Componentes: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unidad de control con etapas de potencia, bobinas dobles (una por cada 2 cilindros), sensor de rpm/PMS, MAP, temperatura.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hay rotor ni tapa: menos pérdidas, menos interferencias y nada que desgastar.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momento de encendido lo calcula la ECU con su cartografía.</a:t>
            </a:r>
            <a:endParaRPr lang="en-US" sz="1600" dirty="0"/>
          </a:p>
        </p:txBody>
      </p:sp>
      <p:pic>
        <p:nvPicPr>
          <p:cNvPr id="4" name="Figura s_dis_esquema.png" descr="s_dis_esqu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173806"/>
            <a:ext cx="6766560" cy="26932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492193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Chispa perdida: funcionamiento</a:t>
            </a:r>
            <a:endParaRPr lang="en-US" sz="2800" dirty="0"/>
          </a:p>
        </p:txBody>
      </p:sp>
      <p:pic>
        <p:nvPicPr>
          <p:cNvPr id="4" name="Figura s_chispa_perdida.png" descr="s_chispa_perd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47" y="1234440"/>
            <a:ext cx="4427466" cy="3474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64024"/>
            <a:ext cx="44274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s_dis_bobina_esq.png" descr="s_dis_bobina_es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21" y="1234440"/>
            <a:ext cx="2592439" cy="32004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623560" y="4489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8503920" y="1234440"/>
            <a:ext cx="3200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Cada bobina tiene un primario y un secundario con salida por ambos extremos.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Las dos bujías están en serie con el secundario.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4 cilindros: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1-4 y 2-3.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6 cilindros: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pares 1-4, 2-5 y 3-6.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chispa perdida necesita muy poca tensión (escape a baja presión).</a:t>
            </a:r>
            <a:endParaRPr lang="en-US" sz="1400" dirty="0"/>
          </a:p>
        </p:txBody>
      </p:sp>
      <p:sp>
        <p:nvSpPr>
          <p:cNvPr id="9" name="Shape 4"/>
          <p:cNvSpPr/>
          <p:nvPr/>
        </p:nvSpPr>
        <p:spPr>
          <a:xfrm>
            <a:off x="502920" y="52578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02920" y="5257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3"/>
                </a:solidFill>
              </a:rPr>
              <a:t>Ejemplo resuelto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2743200" y="5212080"/>
            <a:ext cx="5669280" cy="10058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Bobina disponible 15 kV: cilindro en compresión 10 kV + cilindro en escape 5 kV (ejemplo de la estrategia DEPHIA).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Polaridad de las bujías en DIS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64008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Una bujía de cada par trabaja con polaridad positiva (chispa de masa a central) y la otra negativa.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bujía con polaridad «invertida» necesita más tensión y desgasta más el electrodo de masa.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Recomendación: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bujías de doble platino o iridio en sistemas de chispa perdida.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Estrategia DEPHIA (PSA):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ECU mide la tensión entre bujías para saber qué cilindro está en compresión sin sensor de fase.</a:t>
            </a:r>
            <a:endParaRPr lang="en-US" sz="1600" dirty="0"/>
          </a:p>
        </p:txBody>
      </p:sp>
      <p:pic>
        <p:nvPicPr>
          <p:cNvPr id="5" name="Figura CO_p010_1.png" descr="CO_p01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3700" y="1234440"/>
            <a:ext cx="4380680" cy="4617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269480" y="5907024"/>
            <a:ext cx="438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Comprobación de la bobina DIS</a:t>
            </a:r>
            <a:endParaRPr lang="en-US" sz="2800" dirty="0"/>
          </a:p>
        </p:txBody>
      </p:sp>
      <p:pic>
        <p:nvPicPr>
          <p:cNvPr id="4" name="Figura s_bobina_doble.png" descr="s_bobina_do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05" y="1234440"/>
            <a:ext cx="2865870" cy="2011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3009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CO_p021_1.png" descr="CO_p02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34" y="3749040"/>
            <a:ext cx="3054811" cy="21031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9070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011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Prueba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Bornes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Valor orientativo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Primario de cada bobina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Positivo común (15) y cada mando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0,5 – 1,0 Ω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Secundario de cada bobina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Entre las dos salidas de AT del par (1-4, 2-3)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5 – 15 kΩ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Aislamiento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Cada borne a la carcasa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∞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Alimentación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Borne 15 con contacto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12 V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Mando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Lámpara LED / osciloscopio en cada mando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Pulsos alternos al arrancar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4023360" y="5257800"/>
            <a:ext cx="7680960" cy="9144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BERU: con contacto puesto, entre los contactos 1 y 4 del conector debe haber ≥ 11,5 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3.4.5</a:t>
            </a:r>
            <a:endParaRPr lang="en-US" sz="8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Sistema de encendido COP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Coil On Plug: bobina individual sobre cada bujía, constitución, mando y diagnóstico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Encendido COP: una bobina por cilindro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88720"/>
            <a:ext cx="425196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 = Coil On Plug: cada bujía tiene su bobina encima.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hay cables de alta tensión: mínimas pérdidas e interferencias.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ECU manda cada bobina por separado según el orden de encendido; necesita sensor de fase (árbol de levas).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bobinas pueden incluir la etapa de potencia (3 o 4 cables: +12 V, masa, señal IGT y, en algunos, IGF).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Rendimiento: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hasta 25 % mejor que la distribución estática (Sánchez, 2012).</a:t>
            </a:r>
            <a:endParaRPr lang="en-US" sz="1600" dirty="0"/>
          </a:p>
        </p:txBody>
      </p:sp>
      <p:pic>
        <p:nvPicPr>
          <p:cNvPr id="4" name="Figura s_dis_directo.png" descr="s_dis_direc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17021"/>
            <a:ext cx="6766560" cy="30068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937760" y="5078723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Constitución de la bobina COP</a:t>
            </a:r>
            <a:endParaRPr lang="en-US" sz="2800" dirty="0"/>
          </a:p>
        </p:txBody>
      </p:sp>
      <p:pic>
        <p:nvPicPr>
          <p:cNvPr id="4" name="Figura s_cop_seccion.png" descr="s_cop_se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2259"/>
            <a:ext cx="3291840" cy="412208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02920" y="5659205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pic>
        <p:nvPicPr>
          <p:cNvPr id="6" name="Figura CO_p012_0.png" descr="CO_p012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791" y="1234440"/>
            <a:ext cx="4298017" cy="20116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069080" y="3300984"/>
            <a:ext cx="42980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4023360" y="3749040"/>
            <a:ext cx="4754880" cy="25146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Primario y secundario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concéntricos sobre núcleo magnético.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Diodo de alta tensión: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suprime la chispa de activación.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Resorte y resistencia supresora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el capuchón.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Capuchón de silicona: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aislamiento; usar grasa dieléctrica.</a:t>
            </a:r>
            <a:endParaRPr lang="en-US" sz="1400" dirty="0"/>
          </a:p>
        </p:txBody>
      </p:sp>
      <p:pic>
        <p:nvPicPr>
          <p:cNvPr id="9" name="Figura s_cop_foto.png" descr="s_cop_fot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952777"/>
            <a:ext cx="2697480" cy="318104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006840" y="5188687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Sánchez (2012).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Variantes: independiente y simultáneo</a:t>
            </a:r>
            <a:endParaRPr lang="en-US" sz="2800" dirty="0"/>
          </a:p>
        </p:txBody>
      </p:sp>
      <p:pic>
        <p:nvPicPr>
          <p:cNvPr id="4" name="Figura s_cop_v.png" descr="s_cop_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275" y="1234440"/>
            <a:ext cx="5207691" cy="3840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129784"/>
            <a:ext cx="52076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Independiente. Tomado de Sánchez (2012).</a:t>
            </a:r>
            <a:endParaRPr lang="en-US" sz="1000" dirty="0"/>
          </a:p>
        </p:txBody>
      </p:sp>
      <p:pic>
        <p:nvPicPr>
          <p:cNvPr id="6" name="Figura s_cop_v2.png" descr="s_cop_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635" y="1234440"/>
            <a:ext cx="4390970" cy="384048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63640" y="5129784"/>
            <a:ext cx="43909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Simultáneo. Tomado de Sánchez (2012).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02920" y="5623560"/>
            <a:ext cx="11201400" cy="6400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 el simultáneo se mantiene la lógica de chispa perdida con la mitad de bobinas; cada bobina va sobre una bujía y alimenta por cable a su pareja.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Mando de la bobina COP: señales IGT e IGF</a:t>
            </a:r>
            <a:endParaRPr lang="en-US" sz="2800" dirty="0"/>
          </a:p>
        </p:txBody>
      </p:sp>
      <p:pic>
        <p:nvPicPr>
          <p:cNvPr id="4" name="Figura old_ea2b_s37_1.png" descr="old_ea2b_s3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35" y="1234440"/>
            <a:ext cx="5483810" cy="2651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41064"/>
            <a:ext cx="548381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pic>
        <p:nvPicPr>
          <p:cNvPr id="6" name="Figura old_ea2b_s37_4.png" descr="old_ea2b_s37_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916" y="1234440"/>
            <a:ext cx="3921048" cy="26517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812280" y="3941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López Alberca (2024), diapositivas de clase ISTS.</a:t>
            </a:r>
            <a:endParaRPr lang="en-US" sz="10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89120"/>
          <a:ext cx="11201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343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Terminal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Señal típica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+B (15)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12 V con contacto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Voltímetro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Masa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&lt; 0,1 V de caída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Voltímetro en arranque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IGT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Pulsos de 0 – 5 V (2 – 4 ms)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Osciloscopio / lápiz lógico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IGF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Confirmación a la ECU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</a:rPr>
                        <a:t>Osciloscopio</a:t>
                      </a:r>
                      <a:endParaRPr lang="en-US" sz="13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Diagnóstico de fallos de encendido en DIS / COP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0523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523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8935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Escáner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Leer DTC P0300–P0304 (fallo de encendido) y datos de misfire.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192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192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7604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4155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Bujía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4155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Estado, calibración y fugas por el capuchón.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861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861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6273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42824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Intercambio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2824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Cambiar bobina de cilindro: ¿el fallo se mueve?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530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530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74942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1493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Alimentación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12 V, masa e IGT en el conector.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19922" y="1371600"/>
            <a:ext cx="777240" cy="77724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199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9361170" y="1755648"/>
            <a:ext cx="95250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80162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Resistencias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0162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Primario y secundario (si la bobina no lleva electrónica).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0386822" y="1371600"/>
            <a:ext cx="777240" cy="777240"/>
          </a:xfrm>
          <a:prstGeom prst="ellips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386822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33"/>
                </a:solidFill>
              </a:rPr>
              <a:t>6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9883140" y="2286000"/>
            <a:ext cx="1775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75A"/>
                </a:solidFill>
              </a:rPr>
              <a:t>Osciloscopio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883140" y="2971800"/>
            <a:ext cx="17754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3"/>
                </a:solidFill>
              </a:rPr>
              <a:t>Oscilograma de secundario con sonda capacitiva.</a:t>
            </a:r>
            <a:endParaRPr lang="en-US" sz="1400" dirty="0"/>
          </a:p>
        </p:txBody>
      </p:sp>
      <p:sp>
        <p:nvSpPr>
          <p:cNvPr id="33" name="Ecuación"/>
          <p:cNvSpPr/>
          <p:nvPr/>
        </p:nvSpPr>
        <p:spPr>
          <a:xfrm>
            <a:off x="502920" y="51206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DF1D8"/>
          </a:solidFill>
          <a:ln w="15875">
            <a:solidFill>
              <a:srgbClr val="F2A51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5120640"/>
            <a:ext cx="112014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¡Nunca hacer saltar chispa sin bujía conectada a masa: se perfora la bobina o se daña la ECU!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Oscilogramas en sistemas electrónicos</a:t>
            </a:r>
            <a:endParaRPr lang="en-US" sz="2800" dirty="0"/>
          </a:p>
        </p:txBody>
      </p:sp>
      <p:pic>
        <p:nvPicPr>
          <p:cNvPr id="4" name="Figura CO_p012_3.png" descr="CO_p01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150" y="1234440"/>
            <a:ext cx="3601941" cy="20116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3009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pic>
        <p:nvPicPr>
          <p:cNvPr id="6" name="Figura B_p008_1.png" descr="B_p00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10" y="3749040"/>
            <a:ext cx="2576019" cy="21488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952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Robert Bosch (s. f.-a).</a:t>
            </a:r>
            <a:endParaRPr lang="en-US" sz="10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3657600"/>
          <a:ext cx="73152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Anomalía en el oscilograma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Causa probable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Aguja muy alta en un cilindro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Bujía con mucha separación, cable abierto, mezcla pobre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Aguja muy baja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Bujía con poca separación o en cortocircuito, carbonilla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Línea de chispa corta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Resistencia alta en el secundario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Línea de chispa inclinada / irregular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Combustión irregular, mezcla, compresión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Sin oscilaciones de amortiguación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Espiras en cortocircuito en la bobina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Tramo de cierre irregular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Módulo o etapa de potencia defectuosa</a:t>
                      </a:r>
                      <a:endParaRPr lang="en-US" sz="12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3"/>
          <p:cNvSpPr txBox="1"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Interpretar siempre comparando todos los cilindros.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Seguridad con la alta tensión</a:t>
            </a:r>
            <a:endParaRPr lang="en-US" sz="2800" dirty="0"/>
          </a:p>
        </p:txBody>
      </p:sp>
      <p:pic>
        <p:nvPicPr>
          <p:cNvPr id="4" name="Figura CO_p007_0.png" descr="CO_p00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71" y="1234440"/>
            <a:ext cx="2402098" cy="2560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8496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Nota. </a:t>
            </a:r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Tomado de BERU (s. f.-b).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3566160" y="1234440"/>
            <a:ext cx="813816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tocar cables, bobinas ni bujías con el motor en marcha o arrancando.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Desconectar el contacto antes de manipular el sistema.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Usar alicates aislados y pinzas inductivas o capacitivas para medir.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dejar cables de alta desconectados al arrancar (dañan la bobina y la ECU).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Personas con marcapasos no deben trabajar en sistemas de encendido en funcionamiento.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Prácticas de taller de la unidad</a:t>
            </a:r>
            <a:endParaRPr lang="en-US" sz="28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01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7635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Tema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Práctica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Contenido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5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3.2 – 3.3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10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Encendido convencional por ruptor: bujías, cables, bobina, dwell y puesta a punto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3.4.1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11 P1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Encendido transistorizado con generador inductivo (TSZ-I)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3.4.2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11 P2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Encendido con generador Hall (TZ-H)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3.4.4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11 P3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Encendido DIS (chispa perdida)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3.4.5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11 P4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Encendido COP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11 P5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 integradora comparativa de sistemas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3.3 – 3.4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Prácticas 12 – 13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Osciloscopio en el sistema de encendido (Hantek 1008C)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Proyecto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Prácticas 24 – 25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</a:rPr>
                        <a:t>Banco de bobinas con Arduino + IGBT y mando con 555</a:t>
                      </a:r>
                      <a:endParaRPr lang="en-US" sz="1500" dirty="0"/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Ideas clave de la unidad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0292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La bobina transforma 12 V en miles de voltios por autoinducción e inducción mutua.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234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La energía almacenada es E = ½·L·I²; depende del tiempo de carga (dwell).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Bujía: grado térmico, separación y par de apriete correctos; su aspecto delata el motor.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72200" y="260604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12280" y="2468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Cables: resistencia por longitud; terminales TS 4–8 kΩ, SC ≈ 7,5 kΩ/m.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0292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Ruptor: dwell 51–55 %, condensador en paralelo, avance centrífugo + vacío.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72200" y="384048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703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Inductivo: señal alterna (f = z·n/2). Hall y óptico: señal cuadrada con alimentación.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DIS: bobinas dobles y chispa perdida; COP: una bobina por cilindro, mando IGT/IGF.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172200" y="5074920"/>
            <a:ext cx="502920" cy="502920"/>
          </a:xfrm>
          <a:prstGeom prst="ellipse">
            <a:avLst/>
          </a:prstGeom>
          <a:solidFill>
            <a:srgbClr val="007578"/>
          </a:solidFill>
          <a:ln w="12700">
            <a:solidFill>
              <a:srgbClr val="0075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3"/>
                </a:solidFill>
              </a:rPr>
              <a:t>Diagnóstico: escáner, intercambio de bobinas, resistencias y osciloscopio.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Autoevaluación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condensador del encendido convencional está: a) en serie con el secundario; b) en paralelo con el ruptor; c) en serie con la batería.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Calcule el ángulo entre chispas y el ángulo de cierre (55 %) para un motor de 6 cilindros.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bujía con electrodos fundidos indica: a) mezcla rica; b) aceite; c) sobrecalentamiento.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¿Qué frecuencia da un generador inductivo de 4 dientes con el motor a 2 500 rpm?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sensor Hall: a) genera su propia tensión; b) necesita alimentación y da señal cuadrada; c) da señal senoidal.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6.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un DIS 1-3-4-2, ¿qué bujías saltan a la vez y cuál recibe más tensión?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7.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¿Qué resistencia debe tener un cable SC de 80 cm (7,5 kΩ/m)?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Ejercicios propuestos (trabajo autónomo)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234440"/>
            <a:ext cx="11201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Una bobina tiene 250 espiras en el primario y 30 000 en el secundario. Calcule la relación de transformación.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Primario de 10 mH y 3 Ω a 18 V (pico de batería con alternador): calcule τ, la corriente tras 5 ms y la energía almacenada.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Motor de 4 cilindros a 6 000 rpm con dwell 55 %: chispas por minuto, período y tiempo de carga.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Una bobina de 1,5 Ω se monta sin resistor en un sistema de ruptor. ¿Qué corriente circula? ¿Y con resistor de 1,5 Ω?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Si la combustión tarda 2 ms, ¿cuántos grados de avance hacen falta a 3 000 rpm?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2743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Referencias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1188720"/>
            <a:ext cx="11201400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BERU. (s. f.-a). Todo sobre las bujías de encendido [Manual técnico]. Federal-Mogul.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BERU. (s. f.-b). Todo sobre las bobinas de encendido [Manual técnico]. Federal-Mogul.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López Alberca, C. J. (2024). Electricidad Automotriz II: Unidad 2, sistemas de encendido [Diapositivas de clase]. Instituto Superior Tecnológico Sudamericano.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NGK. (s. f.). Cables y bujías de encendido [Manual técnico].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Robert Bosch. (s. f.-a). Sistemas de encendido [Material de capacitación]. Robert Bosch Ltda.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Robert Bosch. (s. f.-b). Sistemas de encendido: bobinas, cables y componentes [Catálogo técnico].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Sánchez, E. (2012). Sistemas auxiliares del motor. Macmillan Profesional.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Toyota Motor Corporation. (s. f.). Manual de entrenamiento: sistema de encendido (Vol. 3, Etapa 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731520" y="2971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¡Gracias!</a:t>
            </a:r>
            <a:endParaRPr lang="en-US" sz="4000" dirty="0"/>
          </a:p>
        </p:txBody>
      </p:sp>
      <p:sp>
        <p:nvSpPr>
          <p:cNvPr id="3" name="Text 1"/>
          <p:cNvSpPr/>
          <p:nvPr>
            <p:ph idx="104" type="body" hasCustomPrompt="1"/>
          </p:nvPr>
        </p:nvSpPr>
        <p:spPr>
          <a:xfrm>
            <a:off x="731520" y="4434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Próxima unidad: Circuitos eléctricos auxiliares (U4)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¡Hacemos gente de talento!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14630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TS Electricidad">
  <a:themeElements>
    <a:clrScheme name="ISTS Electricidad">
      <a:dk1>
        <a:srgbClr val="1B2A33"/>
      </a:dk1>
      <a:lt1>
        <a:srgbClr val="FFFFFF"/>
      </a:lt1>
      <a:dk2>
        <a:srgbClr val="00575A"/>
      </a:dk2>
      <a:lt2>
        <a:srgbClr val="E4F1F1"/>
      </a:lt2>
      <a:accent1>
        <a:srgbClr val="007578"/>
      </a:accent1>
      <a:accent2>
        <a:srgbClr val="F2A516"/>
      </a:accent2>
      <a:accent3>
        <a:srgbClr val="C0392B"/>
      </a:accent3>
      <a:accent4>
        <a:srgbClr val="2E6DA4"/>
      </a:accent4>
      <a:accent5>
        <a:srgbClr val="5B6770"/>
      </a:accent5>
      <a:accent6>
        <a:srgbClr val="8DC63F"/>
      </a:accent6>
      <a:hlink>
        <a:srgbClr val="2E6DA4"/>
      </a:hlink>
      <a:folHlink>
        <a:srgbClr val="6B4C9A"/>
      </a:folHlink>
    </a:clrScheme>
    <a:fontScheme name="ISTS Electricid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Electricidad Automotriz - Unidad 3: Sistemas de encendido</dc:title>
  <dc:subject>PEA MA.03.02 - PAO Octubre 2026 - Febrero 2027</dc:subject>
  <dc:creator>Ing. Miguel Angel Minga González</dc:creator>
  <cp:lastModifiedBy>Ing. Miguel Angel Minga González</cp:lastModifiedBy>
  <cp:revision>1</cp:revision>
  <dcterms:created xsi:type="dcterms:W3CDTF">2026-10-13T21:21:54Z</dcterms:created>
  <dcterms:modified xsi:type="dcterms:W3CDTF">2026-10-13T21:21:54Z</dcterms:modified>
</cp:coreProperties>
</file>