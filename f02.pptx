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1.xml" ContentType="application/vnd.openxmlformats-officedocument.drawingml.chart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2.xml" ContentType="application/vnd.openxmlformats-officedocument.drawingml.chart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8E7D5039-E68C-A72B-F963-07F15F5C7FE6}">
          <p14:sldIdLst>
            <p14:sldId id="256"/>
            <p14:sldId id="257"/>
            <p14:sldId id="258"/>
            <p14:sldId id="259"/>
          </p14:sldIdLst>
        </p14:section>
        <p14:section name="2.1 Fundamentos para entender un ciclo" id="{FCB1DE71-AD6C-C575-ABB1-C519C17DBF62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2.2 Concepto de ciclo termodinámico" id="{5517268D-8D8F-E01F-EF08-74044F7C8F6C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2.3 Ciclo de Carnot" id="{6774D2E9-E06A-E0C2-75D5-8AE9F3192A28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2.4 Ciclo Otto" id="{7711F903-F0D7-EC6F-92A4-0E689B4381EB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2.5 Ciclo Diesel" id="{1F4045C5-597A-E271-745A-7EEC8366CD87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2.6 Comparación Otto vs Diesel" id="{3DF23CAE-CEA0-FCAC-8939-5FD187405D4B}">
          <p14:sldIdLst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2.7 Ciclos complementarios" id="{D2FD8A86-4BCB-41B6-41A7-B0269B4D80D2}">
          <p14:sldIdLst>
            <p14:sldId id="304"/>
            <p14:sldId id="305"/>
            <p14:sldId id="306"/>
            <p14:sldId id="307"/>
            <p14:sldId id="308"/>
            <p14:sldId id="309"/>
          </p14:sldIdLst>
        </p14:section>
        <p14:section name="Cierre" id="{175F9FB0-75D0-F9FA-ADE6-48F8C88EE185}">
          <p14:sldIdLst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233F"/>
                </a:solidFill>
                <a:latin typeface="+mn-lt"/>
              </a:defRPr>
            </a:pPr>
            <a:r>
              <a:rPr lang="es-EC" sz="1400" b="0" i="0" u="none" strike="noStrike">
                <a:solidFill>
                  <a:srgbClr val="15233F"/>
                </a:solidFill>
                <a:latin typeface="+mn-lt"/>
              </a:rPr>
              <a:t>Eficiencia térmica del ciclo Otto ideal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 = 1,3</c:v>
                </c:pt>
              </c:strCache>
            </c:strRef>
          </c:tx>
          <c:spPr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0.18774760364376442</c:v>
                </c:pt>
                <c:pt idx="1">
                  <c:v>0.3402460446135529</c:v>
                </c:pt>
                <c:pt idx="2">
                  <c:v>0.41580931893213446</c:v>
                </c:pt>
                <c:pt idx="3">
                  <c:v>0.46411326873185343</c:v>
                </c:pt>
                <c:pt idx="4">
                  <c:v>0.49881276637272776</c:v>
                </c:pt>
                <c:pt idx="5">
                  <c:v>0.52548971937364497</c:v>
                </c:pt>
                <c:pt idx="6">
                  <c:v>0.54693387773431246</c:v>
                </c:pt>
                <c:pt idx="7">
                  <c:v>0.56472471835193794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EF-406B-AEC5-A219CC452D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 = 1,4 (aire)</c:v>
                </c:pt>
              </c:strCache>
            </c:strRef>
          </c:tx>
          <c:spPr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0.24214171674480101</c:v>
                </c:pt>
                <c:pt idx="1">
                  <c:v>0.42565082250148256</c:v>
                </c:pt>
                <c:pt idx="2">
                  <c:v>0.51164065806941306</c:v>
                </c:pt>
                <c:pt idx="3">
                  <c:v>0.56472471835193794</c:v>
                </c:pt>
                <c:pt idx="4">
                  <c:v>0.6018928294465028</c:v>
                </c:pt>
                <c:pt idx="5">
                  <c:v>0.6298928275128467</c:v>
                </c:pt>
                <c:pt idx="6">
                  <c:v>0.65202440530236327</c:v>
                </c:pt>
                <c:pt idx="7">
                  <c:v>0.67012302230677645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EF-406B-AEC5-A219CC452D1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 = 1,667 (gas monoatómico)</c:v>
                </c:pt>
              </c:strCache>
            </c:strRef>
          </c:tx>
          <c:spPr>
            <a:ln w="38100" cap="flat">
              <a:solidFill>
                <a:srgbClr val="15233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0.37018501002630033</c:v>
                </c:pt>
                <c:pt idx="1">
                  <c:v>0.60333307840442862</c:v>
                </c:pt>
                <c:pt idx="2">
                  <c:v>0.69732739402471067</c:v>
                </c:pt>
                <c:pt idx="3">
                  <c:v>0.75017322675238685</c:v>
                </c:pt>
                <c:pt idx="4">
                  <c:v>0.78472182652756273</c:v>
                </c:pt>
                <c:pt idx="5">
                  <c:v>0.8093722557023596</c:v>
                </c:pt>
                <c:pt idx="6">
                  <c:v>0.82799835510190201</c:v>
                </c:pt>
                <c:pt idx="7">
                  <c:v>0.84265535331189279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DEF-406B-AEC5-A219CC452D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lang="es-EC" sz="1200" b="0" i="0" u="none" strike="noStrike">
                    <a:solidFill>
                      <a:srgbClr val="5B6770"/>
                    </a:solidFill>
                    <a:latin typeface="Arial"/>
                  </a:rPr>
                  <a:t>Relación de compresión, 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lang="el-GR" sz="1200" b="0" i="0" u="none" strike="noStrike">
                    <a:solidFill>
                      <a:srgbClr val="5B6770"/>
                    </a:solidFill>
                    <a:latin typeface="Arial"/>
                  </a:rPr>
                  <a:t>η</a:t>
                </a:r>
              </a:p>
            </c:rich>
          </c:tx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233F"/>
                </a:solidFill>
                <a:latin typeface="+mn-lt"/>
              </a:defRPr>
            </a:pPr>
            <a:r>
              <a:rPr lang="es-ES" sz="1400" b="0" i="0" u="none" strike="noStrike">
                <a:solidFill>
                  <a:srgbClr val="15233F"/>
                </a:solidFill>
                <a:latin typeface="+mn-lt"/>
              </a:rPr>
              <a:t>Eficiencia térmica del ciclo Diesel ideal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rc = 1 (Otto)</c:v>
                </c:pt>
              </c:strCache>
            </c:strRef>
          </c:tx>
          <c:spPr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  <c:pt idx="5">
                  <c:v>14</c:v>
                </c:pt>
                <c:pt idx="6">
                  <c:v>16</c:v>
                </c:pt>
                <c:pt idx="7">
                  <c:v>18</c:v>
                </c:pt>
                <c:pt idx="8">
                  <c:v>20</c:v>
                </c:pt>
                <c:pt idx="9">
                  <c:v>22</c:v>
                </c:pt>
                <c:pt idx="10">
                  <c:v>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0.42565082250148256</c:v>
                </c:pt>
                <c:pt idx="1">
                  <c:v>0.51164065806941306</c:v>
                </c:pt>
                <c:pt idx="2">
                  <c:v>0.56472471835193794</c:v>
                </c:pt>
                <c:pt idx="3">
                  <c:v>0.6018928294465028</c:v>
                </c:pt>
                <c:pt idx="4">
                  <c:v>0.6298928275128467</c:v>
                </c:pt>
                <c:pt idx="5">
                  <c:v>0.65202440530236327</c:v>
                </c:pt>
                <c:pt idx="6">
                  <c:v>0.67012302230677645</c:v>
                </c:pt>
                <c:pt idx="7">
                  <c:v>0.68530416290169938</c:v>
                </c:pt>
                <c:pt idx="8">
                  <c:v>0.69829118317274186</c:v>
                </c:pt>
                <c:pt idx="9">
                  <c:v>0.70957705322800146</c:v>
                </c:pt>
                <c:pt idx="10">
                  <c:v>0.71951121363845016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F7-4C5B-A829-C318324AE1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rc = 2</c:v>
                </c:pt>
              </c:strCache>
            </c:strRef>
          </c:tx>
          <c:spPr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  <c:pt idx="5">
                  <c:v>14</c:v>
                </c:pt>
                <c:pt idx="6">
                  <c:v>16</c:v>
                </c:pt>
                <c:pt idx="7">
                  <c:v>18</c:v>
                </c:pt>
                <c:pt idx="8">
                  <c:v>20</c:v>
                </c:pt>
                <c:pt idx="9">
                  <c:v>22</c:v>
                </c:pt>
                <c:pt idx="10">
                  <c:v>24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0.32759472213437113</c:v>
                </c:pt>
                <c:pt idx="1">
                  <c:v>0.42826522284005608</c:v>
                </c:pt>
                <c:pt idx="2">
                  <c:v>0.49041209046501932</c:v>
                </c:pt>
                <c:pt idx="3">
                  <c:v>0.53392574913713609</c:v>
                </c:pt>
                <c:pt idx="4">
                  <c:v>0.56670606330427109</c:v>
                </c:pt>
                <c:pt idx="5">
                  <c:v>0.59261606769912045</c:v>
                </c:pt>
                <c:pt idx="6">
                  <c:v>0.61380458171221397</c:v>
                </c:pt>
                <c:pt idx="7">
                  <c:v>0.63157753144377793</c:v>
                </c:pt>
                <c:pt idx="8">
                  <c:v>0.64678176837161694</c:v>
                </c:pt>
                <c:pt idx="9">
                  <c:v>0.6599944252148171</c:v>
                </c:pt>
                <c:pt idx="10">
                  <c:v>0.67162460099088805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F7-4C5B-A829-C318324AE1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rc = 3</c:v>
                </c:pt>
              </c:strCache>
            </c:strRef>
          </c:tx>
          <c:spPr>
            <a:ln w="38100" cap="flat">
              <a:solidFill>
                <a:srgbClr val="15233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  <c:pt idx="5">
                  <c:v>14</c:v>
                </c:pt>
                <c:pt idx="6">
                  <c:v>16</c:v>
                </c:pt>
                <c:pt idx="7">
                  <c:v>18</c:v>
                </c:pt>
                <c:pt idx="8">
                  <c:v>20</c:v>
                </c:pt>
                <c:pt idx="9">
                  <c:v>22</c:v>
                </c:pt>
                <c:pt idx="10">
                  <c:v>24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0.25015910376768313</c:v>
                </c:pt>
                <c:pt idx="1">
                  <c:v>0.36242303291606792</c:v>
                </c:pt>
                <c:pt idx="2">
                  <c:v>0.43172686566683649</c:v>
                </c:pt>
                <c:pt idx="3">
                  <c:v>0.48025164958973632</c:v>
                </c:pt>
                <c:pt idx="4">
                  <c:v>0.51680701428271469</c:v>
                </c:pt>
                <c:pt idx="5">
                  <c:v>0.54570086975405674</c:v>
                </c:pt>
                <c:pt idx="6">
                  <c:v>0.56932949799421761</c:v>
                </c:pt>
                <c:pt idx="7">
                  <c:v>0.58914921832376432</c:v>
                </c:pt>
                <c:pt idx="8">
                  <c:v>0.60610440743335592</c:v>
                </c:pt>
                <c:pt idx="9">
                  <c:v>0.62083866187044734</c:v>
                </c:pt>
                <c:pt idx="10">
                  <c:v>0.63380819336334426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F7-4C5B-A829-C318324AE1E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rc = 4</c:v>
                </c:pt>
              </c:strCache>
            </c:strRef>
          </c:tx>
          <c:spPr>
            <a:ln w="38100" cap="flat">
              <a:solidFill>
                <a:srgbClr val="F2A54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  <c:pt idx="5">
                  <c:v>14</c:v>
                </c:pt>
                <c:pt idx="6">
                  <c:v>16</c:v>
                </c:pt>
                <c:pt idx="7">
                  <c:v>18</c:v>
                </c:pt>
                <c:pt idx="8">
                  <c:v>20</c:v>
                </c:pt>
                <c:pt idx="9">
                  <c:v>22</c:v>
                </c:pt>
                <c:pt idx="10">
                  <c:v>24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0.18436885178536144</c:v>
                </c:pt>
                <c:pt idx="1">
                  <c:v>0.30648270006233613</c:v>
                </c:pt>
                <c:pt idx="2">
                  <c:v>0.38186717824458716</c:v>
                </c:pt>
                <c:pt idx="3">
                  <c:v>0.43464947569831236</c:v>
                </c:pt>
                <c:pt idx="4">
                  <c:v>0.47441216966146105</c:v>
                </c:pt>
                <c:pt idx="5">
                  <c:v>0.50584114163785365</c:v>
                </c:pt>
                <c:pt idx="6">
                  <c:v>0.53154292088075084</c:v>
                </c:pt>
                <c:pt idx="7">
                  <c:v>0.55310160263698416</c:v>
                </c:pt>
                <c:pt idx="8">
                  <c:v>0.57154442221529633</c:v>
                </c:pt>
                <c:pt idx="9">
                  <c:v>0.58757144464764988</c:v>
                </c:pt>
                <c:pt idx="10">
                  <c:v>0.60167890919981004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F7-4C5B-A829-C318324AE1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lang="es-EC" sz="1200" b="0" i="0" u="none" strike="noStrike">
                    <a:solidFill>
                      <a:srgbClr val="5B6770"/>
                    </a:solidFill>
                    <a:latin typeface="Arial"/>
                  </a:rPr>
                  <a:t>Relación de compresión, 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lang="el-GR" sz="1200" b="0" i="0" u="none" strike="noStrike">
                    <a:solidFill>
                      <a:srgbClr val="5B6770"/>
                    </a:solidFill>
                    <a:latin typeface="Arial"/>
                  </a:rPr>
                  <a:t>η</a:t>
                </a:r>
              </a:p>
            </c:rich>
          </c:tx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507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Unidad 2 del PEA: Ciclos termodinámicos. Se apoya en la Unidad 1 (primera y segunda ley, procesos con gas ideal).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Texto literal del PEA (programa curricular, Unidad 2). Técnicas del PEA para esta unidad: aprendizaje basado en proyectos y uso de simuladores y plataformas digitales.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siete apartados siguen el bloque de contenidos de la Unidad 2 del PEA (2.1 a 2.7), en el mismo orden.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rápido: estas relaciones se usan en todos los ciclos de la unidad. Valores del aire a 300 K (Çengel y Boles, tabla A-2).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2.1.1 del PEA.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2.1.2 del PEA. La clasificación detallada de los MCIA corresponde a la Unidad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2.1.3 del PEA. La eficiencia mide qué fracción del calor suministrado se convierte en trabajo 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2.1.4 del PEA. Retoma el apartado 1.6 de la Unidad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Simplificaciones de Çengel y Boles (2012), sección 9-1.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2.2.1 del PEA. Como el estado final es igual al inicial, el cambio de cualquier propiedad en el ciclo es 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2.2.2 del PEA. Con estas suposiciones el ciclo real de un MCIA se convierte en un ciclo ideal de 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Términos necesarios para Otto y Diesel. Los parámetros geométricos se amplían en la Unidad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PME permite comparar motores de distinto tamaño: a mayor PME, más trabajo por unidad de cilindrada.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2.2.3 del PEA. El mismo criterio sirve para el diagrama T–s: el área encerrada es el calor neto, igual al trabajo neto.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Çengel y Boles (2012), problema 9-14. Respuestas del libro: b) 0,440; c) 26,6 %.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verificados: coinciden con las respuestas del libro.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2.3.1 del PEA. Ciclo totalmente reversible propuesto por Sadi Carnot (1824).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2.3.2 del PEA. Principios de Carnot: ninguna máquina entre dos depósitos es más eficiente que una reversible, y todas las reversibles entre los mismos depósitos tienen la misma eficiencia.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banco de problemas resueltos entregado (Sala Lizarraga et al.).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2.3.3 del PEA. Es el ciclo de Carnot recorrido en sentido inverso.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banco de problemas resueltos entregado.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Nikolaus A. Otto construyó en 1876 un motor de cuatro tiempos con el ciclo propuesto por Beau de Rochas (1862).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2.4.1 del PEA. Ciclo ideal de aire estándar; se ejecuta en un sistema cerrado.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unidad de masa, sin cambios de energía cinética ni potencial. No hay trabajo en los procesos a volumen constante.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aire estándar frío. La eficiencia depende solo de r y de k, no de la cantidad de calor suministrado.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2.4.2 del PEA. Curvas calculadas con η = 1 − 1/r^(k−1).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del deck original, resuelto con las ecuaciones del editor. Valores de tabla A-17 de Çengel y Boles (2012).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aire frío la eficiencia sale 56,5 %: hay que tener cuidado con esa simplificación.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2.4.3 del PEA. El diagrama real se obtiene con un indicador de presión en el cilindro.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2.4.4 del PEA.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Rudolf Diesel propuso este motor en la década de 1890.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2.5.1 del PEA. Solo cambia el proceso de adición de calor respecto al Otto.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2.5.2 del PEA. La inyección dura parte de la carrera de potencia, por eso se modela a presión constante.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Curvas calculadas con la ecuación de eficiencia del Diesel ideal (k = 1,4). r_c = 1 coincide con el Otto.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del deck original (Moran y Shapiro), con ecuaciones del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del libro: η = 57,8 %, pme = 0,76 MPa.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2.5.3 del PEA. El ciclo dual (o mixto) representa mejor a los motores reales, tanto diésel como de gasolina.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2.6.1 del PEA.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igual r e igual calor de entrada, el Otto rechaza menos calor. Con igual presión máxima, el Diesel es el más eficiente.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2.6.2 del PEA.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2.6.3 del PEA. Valores ideales calculados con aire estándar frío (k = 1,4).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Técnicas del PEA: aprendizaje basado en proyectos y uso de simuladores (PhET, ICEngines EES, Engineering ToolBox).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2.7.1 del PEA. Con un regenerador ideal, el calor de 2-3 se almacena y se devuelve en 4-1.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2.7.2 del PEA. Propuesto por George Brayton hacia 1870. Hoy se usa en turbinas de gas de aviones y centrales eléctricas.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calculado con aire estándar frío: r_p = 8, T_1 = 300 K, T_3 = 1 300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2.7.3 del PEA. Ejemplo calculado con las tablas de vapor (IAPWS-97): caldera a 3 MPa y 350 °C, condensador a 10 kPa.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 síntesis para el estudio de la 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con preguntas dirigidas antes de la autoevaluación.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1) 1 − 300/1 200 = 75 %. 2) 1 − 1/9^0,4 = 58,5 %. 3) Porque el término entre corchetes es mayor que 1. 4) Por el golpeteo (autoencendido). 5) Brayton: el turbocompresor.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Bibliografía del PEA (apartado 18) y fuentes de los ejemplos entregados.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56032"/>
            <a:ext cx="969264" cy="512064"/>
          </a:xfrm>
          <a:prstGeom prst="rect">
            <a:avLst/>
          </a:prstGeom>
        </p:spPr>
      </p:pic>
      <p:pic>
        <p:nvPicPr>
          <p:cNvPr id="3" name="Image 1" descr="/home/claude/img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28" y="201168"/>
            <a:ext cx="667512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2: Ciclos termodinámicos</a:t>
            </a:r>
            <a:endParaRPr lang="en-US" sz="10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15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png"/><Relationship Id="rId3" Type="http://schemas.openxmlformats.org/officeDocument/2006/relationships/image" Target="../media/image-4-1.png"/><Relationship Id="rId7" Type="http://schemas.openxmlformats.org/officeDocument/2006/relationships/image" Target="../media/image-4-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4.png"/><Relationship Id="rId5" Type="http://schemas.openxmlformats.org/officeDocument/2006/relationships/image" Target="../media/image-4-3.png"/><Relationship Id="rId4" Type="http://schemas.openxmlformats.org/officeDocument/2006/relationships/image" Target="../media/image-4-2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-8-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4.png"/><Relationship Id="rId5" Type="http://schemas.openxmlformats.org/officeDocument/2006/relationships/image" Target="../media/image-8-3.png"/><Relationship Id="rId4" Type="http://schemas.openxmlformats.org/officeDocument/2006/relationships/image" Target="../media/image-8-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-12-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-12-3.png"/><Relationship Id="rId4" Type="http://schemas.openxmlformats.org/officeDocument/2006/relationships/image" Target="../media/image-12-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-14-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-14-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-15-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-15-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-17-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-17-3.png"/><Relationship Id="rId4" Type="http://schemas.openxmlformats.org/officeDocument/2006/relationships/image" Target="../media/image-17-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-18-1.png"/><Relationship Id="rId7" Type="http://schemas.openxmlformats.org/officeDocument/2006/relationships/image" Target="../media/image-18-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8-4.png"/><Relationship Id="rId5" Type="http://schemas.openxmlformats.org/officeDocument/2006/relationships/image" Target="../media/image-18-3.png"/><Relationship Id="rId4" Type="http://schemas.openxmlformats.org/officeDocument/2006/relationships/image" Target="../media/image-18-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-21-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-22-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-22-3.png"/><Relationship Id="rId4" Type="http://schemas.openxmlformats.org/officeDocument/2006/relationships/image" Target="../media/image-22-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-23-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-23-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-24-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4-4.png"/><Relationship Id="rId5" Type="http://schemas.openxmlformats.org/officeDocument/2006/relationships/image" Target="../media/image-24-3.png"/><Relationship Id="rId4" Type="http://schemas.openxmlformats.org/officeDocument/2006/relationships/image" Target="../media/image-24-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-28-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8-4.png"/><Relationship Id="rId5" Type="http://schemas.openxmlformats.org/officeDocument/2006/relationships/image" Target="../media/image-28-3.png"/><Relationship Id="rId4" Type="http://schemas.openxmlformats.org/officeDocument/2006/relationships/image" Target="../media/image-28-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-29-1.png"/><Relationship Id="rId7" Type="http://schemas.openxmlformats.org/officeDocument/2006/relationships/image" Target="../media/image-29-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9-4.png"/><Relationship Id="rId5" Type="http://schemas.openxmlformats.org/officeDocument/2006/relationships/image" Target="../media/image-29-3.png"/><Relationship Id="rId4" Type="http://schemas.openxmlformats.org/officeDocument/2006/relationships/image" Target="../media/image-29-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-31-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1-4.png"/><Relationship Id="rId5" Type="http://schemas.openxmlformats.org/officeDocument/2006/relationships/image" Target="../media/image-31-3.png"/><Relationship Id="rId4" Type="http://schemas.openxmlformats.org/officeDocument/2006/relationships/image" Target="../media/image-31-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2-6.png"/><Relationship Id="rId3" Type="http://schemas.openxmlformats.org/officeDocument/2006/relationships/image" Target="../media/image3.png"/><Relationship Id="rId7" Type="http://schemas.openxmlformats.org/officeDocument/2006/relationships/image" Target="../media/image-32-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2-4.png"/><Relationship Id="rId5" Type="http://schemas.openxmlformats.org/officeDocument/2006/relationships/image" Target="../media/image-32-3.png"/><Relationship Id="rId4" Type="http://schemas.openxmlformats.org/officeDocument/2006/relationships/image" Target="../media/image-32-2.png"/><Relationship Id="rId9" Type="http://schemas.openxmlformats.org/officeDocument/2006/relationships/image" Target="../media/image-32-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-38-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8-4.png"/><Relationship Id="rId5" Type="http://schemas.openxmlformats.org/officeDocument/2006/relationships/image" Target="../media/image-38-3.png"/><Relationship Id="rId4" Type="http://schemas.openxmlformats.org/officeDocument/2006/relationships/image" Target="../media/image-38-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-40-1.png"/><Relationship Id="rId7" Type="http://schemas.openxmlformats.org/officeDocument/2006/relationships/image" Target="../media/image-40-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0-4.png"/><Relationship Id="rId5" Type="http://schemas.openxmlformats.org/officeDocument/2006/relationships/image" Target="../media/image-40-3.png"/><Relationship Id="rId4" Type="http://schemas.openxmlformats.org/officeDocument/2006/relationships/image" Target="../media/image-40-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-41-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1-4.png"/><Relationship Id="rId5" Type="http://schemas.openxmlformats.org/officeDocument/2006/relationships/image" Target="../media/image-41-3.png"/><Relationship Id="rId4" Type="http://schemas.openxmlformats.org/officeDocument/2006/relationships/image" Target="../media/image-41-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-47-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-47-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-50-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2-6.png"/><Relationship Id="rId3" Type="http://schemas.openxmlformats.org/officeDocument/2006/relationships/image" Target="../media/image43.png"/><Relationship Id="rId7" Type="http://schemas.openxmlformats.org/officeDocument/2006/relationships/image" Target="../media/image-52-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2-4.png"/><Relationship Id="rId5" Type="http://schemas.openxmlformats.org/officeDocument/2006/relationships/image" Target="../media/image-52-3.png"/><Relationship Id="rId4" Type="http://schemas.openxmlformats.org/officeDocument/2006/relationships/image" Target="../media/image-52-2.png"/><Relationship Id="rId9" Type="http://schemas.openxmlformats.org/officeDocument/2006/relationships/image" Target="../media/image-52-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-53-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-53-3.png"/><Relationship Id="rId4" Type="http://schemas.openxmlformats.org/officeDocument/2006/relationships/image" Target="../media/image-53-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4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6.png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img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94360"/>
            <a:ext cx="1298448" cy="685800"/>
          </a:xfrm>
          <a:prstGeom prst="rect">
            <a:avLst/>
          </a:prstGeom>
        </p:spPr>
      </p:pic>
      <p:pic>
        <p:nvPicPr>
          <p:cNvPr id="4" name="Image 1" descr="/home/claude/img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576072"/>
            <a:ext cx="850392" cy="72237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2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2402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Ciclos termodinámicos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429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 potencia de gas: Carnot, Otto, Diesel, Stirling, Brayton y Rankine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343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de Tecnología Superior en Mecánica Automotriz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Superior Tecnológico Sudamericano – Loja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 octubre 2026 – febrero 2027  ·  Primer periodo académico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Ing. Miguel Ángel Minga González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315200" y="1097280"/>
            <a:ext cx="4297680" cy="46634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</p:spPr>
      </p:sp>
      <p:pic>
        <p:nvPicPr>
          <p:cNvPr id="11" name="img_1" descr="/home/claude/img/u2d_otto_ej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934609"/>
            <a:ext cx="4023360" cy="29887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de aprendizaje de la unidad</a:t>
            </a:r>
            <a:endParaRPr lang="en-US" sz="3000" dirty="0"/>
          </a:p>
        </p:txBody>
      </p:sp>
      <p:sp>
        <p:nvSpPr>
          <p:cNvPr id="3" name="kicker_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100" dirty="0"/>
          </a:p>
        </p:txBody>
      </p:sp>
      <p:sp>
        <p:nvSpPr>
          <p:cNvPr id="5" name="card_3"/>
          <p:cNvSpPr/>
          <p:nvPr/>
        </p:nvSpPr>
        <p:spPr>
          <a:xfrm>
            <a:off x="548640" y="1463040"/>
            <a:ext cx="6766560" cy="2103120"/>
          </a:xfrm>
          <a:prstGeom prst="roundRect">
            <a:avLst>
              <a:gd name="adj" fmla="val 4348"/>
            </a:avLst>
          </a:prstGeom>
          <a:solidFill>
            <a:srgbClr val="15233F"/>
          </a:solidFill>
          <a:ln/>
        </p:spPr>
      </p:sp>
      <p:sp>
        <p:nvSpPr>
          <p:cNvPr id="6" name="txt_4"/>
          <p:cNvSpPr txBox="1"/>
          <p:nvPr/>
        </p:nvSpPr>
        <p:spPr>
          <a:xfrm>
            <a:off x="822960" y="1691640"/>
            <a:ext cx="6217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  ·  PEA</a:t>
            </a:r>
            <a:endParaRPr lang="en-US" sz="1200" dirty="0"/>
          </a:p>
        </p:txBody>
      </p:sp>
      <p:sp>
        <p:nvSpPr>
          <p:cNvPr id="7" name="txt_5"/>
          <p:cNvSpPr txBox="1"/>
          <p:nvPr/>
        </p:nvSpPr>
        <p:spPr>
          <a:xfrm>
            <a:off x="822960" y="2103120"/>
            <a:ext cx="621792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Diferenciar las máquinas térmicas que conforman los ciclos de potencia de gas.</a:t>
            </a:r>
            <a:endParaRPr lang="en-US" sz="2600" dirty="0"/>
          </a:p>
        </p:txBody>
      </p:sp>
      <p:sp>
        <p:nvSpPr>
          <p:cNvPr id="8" name="card_6"/>
          <p:cNvSpPr/>
          <p:nvPr/>
        </p:nvSpPr>
        <p:spPr>
          <a:xfrm>
            <a:off x="548640" y="3840480"/>
            <a:ext cx="2139696" cy="2377440"/>
          </a:xfrm>
          <a:prstGeom prst="roundRect">
            <a:avLst>
              <a:gd name="adj" fmla="val 4274"/>
            </a:avLst>
          </a:prstGeom>
          <a:solidFill>
            <a:srgbClr val="F2F5F8"/>
          </a:solidFill>
          <a:ln/>
        </p:spPr>
      </p:sp>
      <p:sp>
        <p:nvSpPr>
          <p:cNvPr id="9" name="txt_7"/>
          <p:cNvSpPr txBox="1"/>
          <p:nvPr/>
        </p:nvSpPr>
        <p:spPr>
          <a:xfrm>
            <a:off x="777240" y="402336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h</a:t>
            </a:r>
            <a:endParaRPr lang="en-US" sz="3600" dirty="0"/>
          </a:p>
        </p:txBody>
      </p:sp>
      <p:sp>
        <p:nvSpPr>
          <p:cNvPr id="10" name="txt_8"/>
          <p:cNvSpPr txBox="1"/>
          <p:nvPr/>
        </p:nvSpPr>
        <p:spPr>
          <a:xfrm>
            <a:off x="777240" y="4892040"/>
            <a:ext cx="1783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Docencia en contacto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docente</a:t>
            </a:r>
            <a:endParaRPr lang="en-US" sz="1400" dirty="0"/>
          </a:p>
        </p:txBody>
      </p:sp>
      <p:sp>
        <p:nvSpPr>
          <p:cNvPr id="11" name="card_9"/>
          <p:cNvSpPr/>
          <p:nvPr/>
        </p:nvSpPr>
        <p:spPr>
          <a:xfrm>
            <a:off x="2862072" y="3840480"/>
            <a:ext cx="2139696" cy="2377440"/>
          </a:xfrm>
          <a:prstGeom prst="roundRect">
            <a:avLst>
              <a:gd name="adj" fmla="val 4274"/>
            </a:avLst>
          </a:prstGeom>
          <a:solidFill>
            <a:srgbClr val="F2F5F8"/>
          </a:solidFill>
          <a:ln/>
        </p:spPr>
      </p:sp>
      <p:sp>
        <p:nvSpPr>
          <p:cNvPr id="12" name="txt_10"/>
          <p:cNvSpPr txBox="1"/>
          <p:nvPr/>
        </p:nvSpPr>
        <p:spPr>
          <a:xfrm>
            <a:off x="3090672" y="402336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h</a:t>
            </a:r>
            <a:endParaRPr lang="en-US" sz="3600" dirty="0"/>
          </a:p>
        </p:txBody>
      </p:sp>
      <p:sp>
        <p:nvSpPr>
          <p:cNvPr id="13" name="txt_11"/>
          <p:cNvSpPr txBox="1"/>
          <p:nvPr/>
        </p:nvSpPr>
        <p:spPr>
          <a:xfrm>
            <a:off x="3090672" y="4892040"/>
            <a:ext cx="1783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práctico–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400" dirty="0"/>
          </a:p>
        </p:txBody>
      </p:sp>
      <p:sp>
        <p:nvSpPr>
          <p:cNvPr id="14" name="card_12"/>
          <p:cNvSpPr/>
          <p:nvPr/>
        </p:nvSpPr>
        <p:spPr>
          <a:xfrm>
            <a:off x="5175504" y="3840480"/>
            <a:ext cx="2139696" cy="2377440"/>
          </a:xfrm>
          <a:prstGeom prst="roundRect">
            <a:avLst>
              <a:gd name="adj" fmla="val 4274"/>
            </a:avLst>
          </a:prstGeom>
          <a:solidFill>
            <a:srgbClr val="F2F5F8"/>
          </a:solidFill>
          <a:ln/>
        </p:spPr>
      </p:sp>
      <p:sp>
        <p:nvSpPr>
          <p:cNvPr id="15" name="txt_13"/>
          <p:cNvSpPr txBox="1"/>
          <p:nvPr/>
        </p:nvSpPr>
        <p:spPr>
          <a:xfrm>
            <a:off x="5404104" y="402336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h</a:t>
            </a:r>
            <a:endParaRPr lang="en-US" sz="3600" dirty="0"/>
          </a:p>
        </p:txBody>
      </p:sp>
      <p:sp>
        <p:nvSpPr>
          <p:cNvPr id="16" name="txt_14"/>
          <p:cNvSpPr txBox="1"/>
          <p:nvPr/>
        </p:nvSpPr>
        <p:spPr>
          <a:xfrm>
            <a:off x="5404104" y="4892040"/>
            <a:ext cx="1783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autónomo</a:t>
            </a:r>
            <a:endParaRPr lang="en-US" sz="1400" dirty="0"/>
          </a:p>
        </p:txBody>
      </p:sp>
      <p:sp>
        <p:nvSpPr>
          <p:cNvPr id="17" name="card_15"/>
          <p:cNvSpPr/>
          <p:nvPr/>
        </p:nvSpPr>
        <p:spPr>
          <a:xfrm>
            <a:off x="7680960" y="1463040"/>
            <a:ext cx="3962095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8" name="dot_16"/>
          <p:cNvSpPr/>
          <p:nvPr/>
        </p:nvSpPr>
        <p:spPr>
          <a:xfrm>
            <a:off x="790956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9" name="ic_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1819656"/>
            <a:ext cx="310896" cy="310896"/>
          </a:xfrm>
          <a:prstGeom prst="rect">
            <a:avLst/>
          </a:prstGeom>
        </p:spPr>
      </p:pic>
      <p:sp>
        <p:nvSpPr>
          <p:cNvPr id="20" name="txt_18"/>
          <p:cNvSpPr txBox="1"/>
          <p:nvPr/>
        </p:nvSpPr>
        <p:spPr>
          <a:xfrm>
            <a:off x="8613648" y="1664208"/>
            <a:ext cx="28648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#2</a:t>
            </a:r>
            <a:endParaRPr lang="en-US" sz="1700" dirty="0"/>
          </a:p>
        </p:txBody>
      </p:sp>
      <p:sp>
        <p:nvSpPr>
          <p:cNvPr id="21" name="txt_19"/>
          <p:cNvSpPr txBox="1"/>
          <p:nvPr/>
        </p:nvSpPr>
        <p:spPr>
          <a:xfrm>
            <a:off x="7909560" y="2377440"/>
            <a:ext cx="3550615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los ciclos termodinámicos (guía de prácticas).</a:t>
            </a:r>
            <a:endParaRPr lang="en-US" sz="1500" dirty="0"/>
          </a:p>
        </p:txBody>
      </p:sp>
      <p:sp>
        <p:nvSpPr>
          <p:cNvPr id="22" name="card_20"/>
          <p:cNvSpPr/>
          <p:nvPr/>
        </p:nvSpPr>
        <p:spPr>
          <a:xfrm>
            <a:off x="7680960" y="3977640"/>
            <a:ext cx="3962095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3" name="dot_21"/>
          <p:cNvSpPr/>
          <p:nvPr/>
        </p:nvSpPr>
        <p:spPr>
          <a:xfrm>
            <a:off x="7909560" y="42062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4" name="ic_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4334256"/>
            <a:ext cx="310896" cy="310896"/>
          </a:xfrm>
          <a:prstGeom prst="rect">
            <a:avLst/>
          </a:prstGeom>
        </p:spPr>
      </p:pic>
      <p:sp>
        <p:nvSpPr>
          <p:cNvPr id="25" name="txt_23"/>
          <p:cNvSpPr txBox="1"/>
          <p:nvPr/>
        </p:nvSpPr>
        <p:spPr>
          <a:xfrm>
            <a:off x="8613648" y="4178808"/>
            <a:ext cx="28648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700" dirty="0"/>
          </a:p>
        </p:txBody>
      </p:sp>
      <p:sp>
        <p:nvSpPr>
          <p:cNvPr id="26" name="txt_24"/>
          <p:cNvSpPr txBox="1"/>
          <p:nvPr/>
        </p:nvSpPr>
        <p:spPr>
          <a:xfrm>
            <a:off x="7909560" y="4892040"/>
            <a:ext cx="3550615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autónomos, actividades prácticas, trabajos colaborativos y evaluaciones bimestrales.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Contenidos de la unidad</a:t>
            </a:r>
            <a:endParaRPr lang="en-US" sz="3000" dirty="0"/>
          </a:p>
        </p:txBody>
      </p:sp>
      <p:sp>
        <p:nvSpPr>
          <p:cNvPr id="3" name="kicker_2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100" dirty="0"/>
          </a:p>
        </p:txBody>
      </p:sp>
      <p:sp>
        <p:nvSpPr>
          <p:cNvPr id="5" name="card_26"/>
          <p:cNvSpPr/>
          <p:nvPr/>
        </p:nvSpPr>
        <p:spPr>
          <a:xfrm>
            <a:off x="548640" y="1463040"/>
            <a:ext cx="5364328" cy="960120"/>
          </a:xfrm>
          <a:prstGeom prst="roundRect">
            <a:avLst>
              <a:gd name="adj" fmla="val 9524"/>
            </a:avLst>
          </a:prstGeom>
          <a:solidFill>
            <a:srgbClr val="F2F5F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7" name="txt_27"/>
          <p:cNvSpPr txBox="1"/>
          <p:nvPr/>
        </p:nvSpPr>
        <p:spPr>
          <a:xfrm>
            <a:off x="77724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500" dirty="0"/>
          </a:p>
        </p:txBody>
      </p:sp>
      <p:sp>
        <p:nvSpPr>
          <p:cNvPr id="8" name="txt_28"/>
          <p:cNvSpPr txBox="1"/>
          <p:nvPr/>
        </p:nvSpPr>
        <p:spPr>
          <a:xfrm>
            <a:off x="1554480" y="1554480"/>
            <a:ext cx="4175608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para entender un ciclo</a:t>
            </a:r>
            <a:endParaRPr lang="en-US" sz="2000" dirty="0"/>
          </a:p>
        </p:txBody>
      </p:sp>
      <p:sp>
        <p:nvSpPr>
          <p:cNvPr id="9" name="card_29"/>
          <p:cNvSpPr/>
          <p:nvPr/>
        </p:nvSpPr>
        <p:spPr>
          <a:xfrm>
            <a:off x="548640" y="2651760"/>
            <a:ext cx="5364328" cy="960120"/>
          </a:xfrm>
          <a:prstGeom prst="roundRect">
            <a:avLst>
              <a:gd name="adj" fmla="val 9524"/>
            </a:avLst>
          </a:prstGeom>
          <a:solidFill>
            <a:srgbClr val="F2F5F8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83464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xt_30"/>
          <p:cNvSpPr txBox="1"/>
          <p:nvPr/>
        </p:nvSpPr>
        <p:spPr>
          <a:xfrm>
            <a:off x="77724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500" dirty="0"/>
          </a:p>
        </p:txBody>
      </p:sp>
      <p:sp>
        <p:nvSpPr>
          <p:cNvPr id="12" name="txt_31"/>
          <p:cNvSpPr txBox="1"/>
          <p:nvPr/>
        </p:nvSpPr>
        <p:spPr>
          <a:xfrm>
            <a:off x="1554480" y="2743200"/>
            <a:ext cx="4175608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de ciclo termodinámico</a:t>
            </a:r>
            <a:endParaRPr lang="en-US" sz="2000" dirty="0"/>
          </a:p>
        </p:txBody>
      </p:sp>
      <p:sp>
        <p:nvSpPr>
          <p:cNvPr id="13" name="card_32"/>
          <p:cNvSpPr/>
          <p:nvPr/>
        </p:nvSpPr>
        <p:spPr>
          <a:xfrm>
            <a:off x="548640" y="3840480"/>
            <a:ext cx="5364328" cy="960120"/>
          </a:xfrm>
          <a:prstGeom prst="roundRect">
            <a:avLst>
              <a:gd name="adj" fmla="val 9524"/>
            </a:avLst>
          </a:prstGeom>
          <a:solidFill>
            <a:srgbClr val="F2F5F8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" y="4023360"/>
            <a:ext cx="594360" cy="594360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15" name="txt_33"/>
          <p:cNvSpPr txBox="1"/>
          <p:nvPr/>
        </p:nvSpPr>
        <p:spPr>
          <a:xfrm>
            <a:off x="77724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500" dirty="0"/>
          </a:p>
        </p:txBody>
      </p:sp>
      <p:sp>
        <p:nvSpPr>
          <p:cNvPr id="16" name="txt_34"/>
          <p:cNvSpPr txBox="1"/>
          <p:nvPr/>
        </p:nvSpPr>
        <p:spPr>
          <a:xfrm>
            <a:off x="1554480" y="3931920"/>
            <a:ext cx="4175608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Carnot</a:t>
            </a:r>
            <a:endParaRPr lang="en-US" sz="2000" dirty="0"/>
          </a:p>
        </p:txBody>
      </p:sp>
      <p:sp>
        <p:nvSpPr>
          <p:cNvPr id="17" name="card_35"/>
          <p:cNvSpPr/>
          <p:nvPr/>
        </p:nvSpPr>
        <p:spPr>
          <a:xfrm>
            <a:off x="548640" y="5029200"/>
            <a:ext cx="5364328" cy="960120"/>
          </a:xfrm>
          <a:prstGeom prst="roundRect">
            <a:avLst>
              <a:gd name="adj" fmla="val 9524"/>
            </a:avLst>
          </a:prstGeom>
          <a:solidFill>
            <a:srgbClr val="F2F5F8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521208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xt_36"/>
          <p:cNvSpPr txBox="1"/>
          <p:nvPr/>
        </p:nvSpPr>
        <p:spPr>
          <a:xfrm>
            <a:off x="777240" y="5212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500" dirty="0"/>
          </a:p>
        </p:txBody>
      </p:sp>
      <p:sp>
        <p:nvSpPr>
          <p:cNvPr id="20" name="txt_37"/>
          <p:cNvSpPr txBox="1"/>
          <p:nvPr/>
        </p:nvSpPr>
        <p:spPr>
          <a:xfrm>
            <a:off x="1554480" y="5120640"/>
            <a:ext cx="4175608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Otto</a:t>
            </a:r>
            <a:endParaRPr lang="en-US" sz="2000" dirty="0"/>
          </a:p>
        </p:txBody>
      </p:sp>
      <p:sp>
        <p:nvSpPr>
          <p:cNvPr id="21" name="card_38"/>
          <p:cNvSpPr/>
          <p:nvPr/>
        </p:nvSpPr>
        <p:spPr>
          <a:xfrm>
            <a:off x="6278728" y="1463040"/>
            <a:ext cx="5364328" cy="960120"/>
          </a:xfrm>
          <a:prstGeom prst="roundRect">
            <a:avLst>
              <a:gd name="adj" fmla="val 9524"/>
            </a:avLst>
          </a:prstGeom>
          <a:solidFill>
            <a:srgbClr val="F2F5F8"/>
          </a:solidFill>
          <a:ln/>
        </p:spPr>
      </p:sp>
      <p:sp>
        <p:nvSpPr>
          <p:cNvPr id="22" name="Shape 19"/>
          <p:cNvSpPr/>
          <p:nvPr/>
        </p:nvSpPr>
        <p:spPr>
          <a:xfrm>
            <a:off x="6507328" y="1645920"/>
            <a:ext cx="594360" cy="594360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23" name="txt_39"/>
          <p:cNvSpPr txBox="1"/>
          <p:nvPr/>
        </p:nvSpPr>
        <p:spPr>
          <a:xfrm>
            <a:off x="6507328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500" dirty="0"/>
          </a:p>
        </p:txBody>
      </p:sp>
      <p:sp>
        <p:nvSpPr>
          <p:cNvPr id="24" name="txt_40"/>
          <p:cNvSpPr txBox="1"/>
          <p:nvPr/>
        </p:nvSpPr>
        <p:spPr>
          <a:xfrm>
            <a:off x="7284568" y="1554480"/>
            <a:ext cx="4175608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Diesel</a:t>
            </a:r>
            <a:endParaRPr lang="en-US" sz="2000" dirty="0"/>
          </a:p>
        </p:txBody>
      </p:sp>
      <p:sp>
        <p:nvSpPr>
          <p:cNvPr id="25" name="card_41"/>
          <p:cNvSpPr/>
          <p:nvPr/>
        </p:nvSpPr>
        <p:spPr>
          <a:xfrm>
            <a:off x="6278728" y="2651760"/>
            <a:ext cx="5364328" cy="960120"/>
          </a:xfrm>
          <a:prstGeom prst="roundRect">
            <a:avLst>
              <a:gd name="adj" fmla="val 9524"/>
            </a:avLst>
          </a:prstGeom>
          <a:solidFill>
            <a:srgbClr val="F2F5F8"/>
          </a:solidFill>
          <a:ln/>
        </p:spPr>
      </p:sp>
      <p:sp>
        <p:nvSpPr>
          <p:cNvPr id="26" name="Shape 23"/>
          <p:cNvSpPr/>
          <p:nvPr/>
        </p:nvSpPr>
        <p:spPr>
          <a:xfrm>
            <a:off x="6507328" y="283464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7" name="txt_42"/>
          <p:cNvSpPr txBox="1"/>
          <p:nvPr/>
        </p:nvSpPr>
        <p:spPr>
          <a:xfrm>
            <a:off x="6507328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500" dirty="0"/>
          </a:p>
        </p:txBody>
      </p:sp>
      <p:sp>
        <p:nvSpPr>
          <p:cNvPr id="28" name="txt_43"/>
          <p:cNvSpPr txBox="1"/>
          <p:nvPr/>
        </p:nvSpPr>
        <p:spPr>
          <a:xfrm>
            <a:off x="7284568" y="2743200"/>
            <a:ext cx="4175608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Otto vs Diesel</a:t>
            </a:r>
            <a:endParaRPr lang="en-US" sz="2000" dirty="0"/>
          </a:p>
        </p:txBody>
      </p:sp>
      <p:sp>
        <p:nvSpPr>
          <p:cNvPr id="29" name="card_44"/>
          <p:cNvSpPr/>
          <p:nvPr/>
        </p:nvSpPr>
        <p:spPr>
          <a:xfrm>
            <a:off x="6278728" y="3840480"/>
            <a:ext cx="5364328" cy="960120"/>
          </a:xfrm>
          <a:prstGeom prst="roundRect">
            <a:avLst>
              <a:gd name="adj" fmla="val 9524"/>
            </a:avLst>
          </a:prstGeom>
          <a:solidFill>
            <a:srgbClr val="F2F5F8"/>
          </a:solidFill>
          <a:ln/>
        </p:spPr>
      </p:sp>
      <p:sp>
        <p:nvSpPr>
          <p:cNvPr id="30" name="Shape 27"/>
          <p:cNvSpPr/>
          <p:nvPr/>
        </p:nvSpPr>
        <p:spPr>
          <a:xfrm>
            <a:off x="6507328" y="4023360"/>
            <a:ext cx="594360" cy="594360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31" name="txt_45"/>
          <p:cNvSpPr txBox="1"/>
          <p:nvPr/>
        </p:nvSpPr>
        <p:spPr>
          <a:xfrm>
            <a:off x="6507328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500" dirty="0"/>
          </a:p>
        </p:txBody>
      </p:sp>
      <p:sp>
        <p:nvSpPr>
          <p:cNvPr id="32" name="txt_46"/>
          <p:cNvSpPr txBox="1"/>
          <p:nvPr/>
        </p:nvSpPr>
        <p:spPr>
          <a:xfrm>
            <a:off x="7284568" y="3931920"/>
            <a:ext cx="4175608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Ciclos complementarios</a:t>
            </a:r>
            <a:endParaRPr lang="en-US" sz="2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la Unidad 1</a:t>
            </a:r>
            <a:endParaRPr lang="en-US" sz="3000" dirty="0"/>
          </a:p>
        </p:txBody>
      </p:sp>
      <p:sp>
        <p:nvSpPr>
          <p:cNvPr id="3" name="kicker_4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100" dirty="0"/>
          </a:p>
        </p:txBody>
      </p:sp>
      <p:sp>
        <p:nvSpPr>
          <p:cNvPr id="5" name="card_48"/>
          <p:cNvSpPr/>
          <p:nvPr/>
        </p:nvSpPr>
        <p:spPr>
          <a:xfrm>
            <a:off x="548640" y="146304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D9EEEE"/>
          </a:solidFill>
          <a:ln/>
        </p:spPr>
      </p:sp>
      <p:sp>
        <p:nvSpPr>
          <p:cNvPr id="6" name="txt_49"/>
          <p:cNvSpPr txBox="1"/>
          <p:nvPr/>
        </p:nvSpPr>
        <p:spPr>
          <a:xfrm>
            <a:off x="777240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IDEAL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cuación 7"/>
              <p:cNvSpPr txBox="1"/>
              <p:nvPr/>
            </p:nvSpPr>
            <p:spPr>
              <a:xfrm>
                <a:off x="1854708" y="3075432"/>
                <a:ext cx="1045464" cy="4023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4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𝑃𝑣</m:t>
                      </m:r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C" sz="24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pic>
            <p:nvPicPr>
              <p:cNvPr id="7" name="EQ_3e3bcc363fb5_1_s1000_ctr" descr="/home/claude/u2/eq/eq_3e3bcc363fb5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4708" y="3075432"/>
                <a:ext cx="1045464" cy="402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cuación 8"/>
              <p:cNvSpPr txBox="1"/>
              <p:nvPr/>
            </p:nvSpPr>
            <p:spPr>
              <a:xfrm>
                <a:off x="777240" y="3682637"/>
                <a:ext cx="3200400" cy="39188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s-EC" sz="223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C" sz="2237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EC" sz="223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23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3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EC" sz="223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s-EC" sz="223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s-EC" sz="223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C" sz="2237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s-EC" sz="223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m:rPr>
                          <m:sty m:val="p"/>
                        </m:rPr>
                        <a:rPr lang="es-EC" sz="223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C" sz="2237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s-EC" sz="223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23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3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EC" sz="223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EC" sz="223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s-EC" sz="223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C" sz="2237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s-EC" sz="2237" dirty="0"/>
              </a:p>
            </p:txBody>
          </p:sp>
        </mc:Choice>
        <mc:Fallback xmlns="">
          <p:pic>
            <p:nvPicPr>
              <p:cNvPr id="8" name="EQ_c286c08c3be1_2_s932_ctr" descr="/home/claude/u2/eq/eq_c286c08c3be1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3682637"/>
                <a:ext cx="3200400" cy="391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Ecuación 9"/>
              <p:cNvSpPr txBox="1"/>
              <p:nvPr/>
            </p:nvSpPr>
            <p:spPr>
              <a:xfrm>
                <a:off x="1978152" y="4305300"/>
                <a:ext cx="798576" cy="6858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4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pic>
            <p:nvPicPr>
              <p:cNvPr id="9" name="EQ_a71dc1530001_3_s1000_ctr" descr="/home/claude/u2/eq/eq_a71dc1530001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78152" y="4305300"/>
                <a:ext cx="798576" cy="6858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ard_50"/>
          <p:cNvSpPr/>
          <p:nvPr/>
        </p:nvSpPr>
        <p:spPr>
          <a:xfrm>
            <a:off x="4480560" y="146304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D9EEEE"/>
          </a:solidFill>
          <a:ln/>
        </p:spPr>
      </p:sp>
      <p:sp>
        <p:nvSpPr>
          <p:cNvPr id="11" name="txt_51"/>
          <p:cNvSpPr txBox="1"/>
          <p:nvPr/>
        </p:nvSpPr>
        <p:spPr>
          <a:xfrm>
            <a:off x="4709160" y="1627632"/>
            <a:ext cx="3383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ISENTRÓPICO (gas ideal, k constante)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cuación 12"/>
              <p:cNvSpPr txBox="1"/>
              <p:nvPr/>
            </p:nvSpPr>
            <p:spPr>
              <a:xfrm>
                <a:off x="5559552" y="2867660"/>
                <a:ext cx="1682496" cy="6858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lang="es-EC" sz="2200" b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C" sz="2200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EC" sz="2200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C" sz="2200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s-EC" sz="2200" b="0" i="0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EC" sz="2200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C" sz="2200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s-EC" sz="2200" b="0" i="0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12" name="EQ_ae1321a8cdfc_4_s1000_ctr" descr="/home/claude/u2/eq/eq_ae1321a8cdfc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59552" y="2867660"/>
                <a:ext cx="1682496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cuación 13"/>
              <p:cNvSpPr txBox="1"/>
              <p:nvPr/>
            </p:nvSpPr>
            <p:spPr>
              <a:xfrm>
                <a:off x="5707380" y="3703320"/>
                <a:ext cx="1386840" cy="6858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lang="es-EC" sz="2200" b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C" sz="2200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EC" sz="2200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C" sz="2200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s-EC" sz="2200" b="0" i="0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EC" sz="2200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C" sz="2200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s-EC" sz="2200" b="0" i="0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13" name="EQ_df40f3a51fb8_5_s1000_ctr" descr="/home/claude/u2/eq/eq_df40f3a51fb8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07380" y="3703320"/>
                <a:ext cx="138684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cuación 14"/>
              <p:cNvSpPr txBox="1"/>
              <p:nvPr/>
            </p:nvSpPr>
            <p:spPr>
              <a:xfrm>
                <a:off x="5444657" y="4532630"/>
                <a:ext cx="1912287" cy="6985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lang="es-EC" sz="2066" b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066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066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066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066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066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066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C" sz="20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C" sz="20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C" sz="2066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C" sz="2066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EC" sz="2066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C" sz="2066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s-EC" sz="2066" b="0" i="0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EC" sz="2066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C" sz="2066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s-EC" sz="2066" b="0" i="0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C" sz="20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C" sz="20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EC" sz="20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−1)/</m:t>
                          </m:r>
                          <m:r>
                            <a:rPr lang="es-EC" sz="20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s-EC" sz="2066" dirty="0"/>
              </a:p>
            </p:txBody>
          </p:sp>
        </mc:Choice>
        <mc:Fallback xmlns="">
          <p:pic>
            <p:nvPicPr>
              <p:cNvPr id="14" name="EQ_4c6158c9a258_6_s939_ctr" descr="/home/claude/u2/eq/eq_4c6158c9a258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44657" y="4532630"/>
                <a:ext cx="1912287" cy="6985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4" name="tbl_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463040"/>
          <a:ext cx="3044952" cy="27432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0,287 kJ/kg·K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r>
                        <a:rPr lang="en-US" sz="1600" baseline="-40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1,005 kJ/kg·K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r>
                        <a:rPr lang="en-US" sz="1600" baseline="-40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0,718 kJ/kg·K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card_53"/>
          <p:cNvSpPr/>
          <p:nvPr/>
        </p:nvSpPr>
        <p:spPr>
          <a:xfrm>
            <a:off x="8595360" y="4937760"/>
            <a:ext cx="3047695" cy="1280160"/>
          </a:xfrm>
          <a:prstGeom prst="roundRect">
            <a:avLst>
              <a:gd name="adj" fmla="val 7143"/>
            </a:avLst>
          </a:prstGeom>
          <a:solidFill>
            <a:srgbClr val="FCE6DF"/>
          </a:solidFill>
          <a:ln/>
        </p:spPr>
      </p:sp>
      <p:sp>
        <p:nvSpPr>
          <p:cNvPr id="17" name="dot_54"/>
          <p:cNvSpPr/>
          <p:nvPr/>
        </p:nvSpPr>
        <p:spPr>
          <a:xfrm>
            <a:off x="8778240" y="530352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8" name="ic_5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7112" y="5422392"/>
            <a:ext cx="310896" cy="310896"/>
          </a:xfrm>
          <a:prstGeom prst="rect">
            <a:avLst/>
          </a:prstGeom>
        </p:spPr>
      </p:pic>
      <p:sp>
        <p:nvSpPr>
          <p:cNvPr id="19" name="txt_56"/>
          <p:cNvSpPr txBox="1"/>
          <p:nvPr/>
        </p:nvSpPr>
        <p:spPr>
          <a:xfrm>
            <a:off x="9464040" y="5010912"/>
            <a:ext cx="2041855" cy="11338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trabaje con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temperaturas absolutas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para entender un ciclo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térmica, motor térmico, eficiencia térmica y procesos reversibles e irreversibles.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2: Ciclos termodinámicos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de máquina térmica</a:t>
            </a:r>
            <a:endParaRPr lang="en-US" sz="3000" dirty="0"/>
          </a:p>
        </p:txBody>
      </p:sp>
      <p:sp>
        <p:nvSpPr>
          <p:cNvPr id="3" name="kicker_5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FUNDAMENTOS PARA ENTENDER UN CICLO</a:t>
            </a:r>
            <a:endParaRPr lang="en-US" sz="1100" dirty="0"/>
          </a:p>
        </p:txBody>
      </p:sp>
      <p:sp>
        <p:nvSpPr>
          <p:cNvPr id="5" name="txt_58"/>
          <p:cNvSpPr txBox="1"/>
          <p:nvPr/>
        </p:nvSpPr>
        <p:spPr>
          <a:xfrm>
            <a:off x="548640" y="1463040"/>
            <a:ext cx="55778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que convierte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 en trabajo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operando en un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Características:</a:t>
            </a:r>
            <a:endParaRPr lang="en-US" sz="1600" dirty="0"/>
          </a:p>
          <a:p>
            <a:pPr marL="406400" lvl="1" indent="-2032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calor Q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una fuente a alta temperatura (combustión, caldera).</a:t>
            </a:r>
            <a:endParaRPr lang="en-US" sz="1600" dirty="0"/>
          </a:p>
          <a:p>
            <a:pPr marL="406400" lvl="1" indent="-2032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ese calor en trabajo neto W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406400" lvl="1" indent="-2032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el calor restante Q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un sumidero de baja temperatura (atmósfera, río).</a:t>
            </a:r>
            <a:endParaRPr lang="en-US" sz="1600" dirty="0"/>
          </a:p>
          <a:p>
            <a:pPr marL="406400" lvl="1" indent="-2032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fluido de trabajo regresa a su estado inicial al completar el ciclo.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motor de combustión interna, turbina de gas, central térmica de vapor.</a:t>
            </a:r>
            <a:endParaRPr lang="en-US" sz="1600" dirty="0"/>
          </a:p>
        </p:txBody>
      </p:sp>
      <p:sp>
        <p:nvSpPr>
          <p:cNvPr id="6" name="card_59"/>
          <p:cNvSpPr/>
          <p:nvPr/>
        </p:nvSpPr>
        <p:spPr>
          <a:xfrm>
            <a:off x="6400800" y="1463040"/>
            <a:ext cx="5242255" cy="731520"/>
          </a:xfrm>
          <a:prstGeom prst="roundRect">
            <a:avLst>
              <a:gd name="adj" fmla="val 12500"/>
            </a:avLst>
          </a:prstGeom>
          <a:solidFill>
            <a:srgbClr val="E4572E"/>
          </a:solidFill>
          <a:ln/>
        </p:spPr>
      </p:sp>
      <p:sp>
        <p:nvSpPr>
          <p:cNvPr id="7" name="txt_60"/>
          <p:cNvSpPr txBox="1"/>
          <p:nvPr/>
        </p:nvSpPr>
        <p:spPr>
          <a:xfrm>
            <a:off x="6400800" y="1463040"/>
            <a:ext cx="5242255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Fuente de alta temperatura, T</a:t>
            </a:r>
            <a:r>
              <a:rPr lang="en-US" sz="1500" b="1" baseline="-40000" dirty="0">
                <a:solidFill>
                  <a:srgbClr val="FFFFFF"/>
                </a:solidFill>
              </a:rPr>
              <a:t>H</a:t>
            </a:r>
            <a:endParaRPr lang="en-US" sz="1500" dirty="0"/>
          </a:p>
        </p:txBody>
      </p:sp>
      <p:sp>
        <p:nvSpPr>
          <p:cNvPr id="8" name="card_61"/>
          <p:cNvSpPr/>
          <p:nvPr/>
        </p:nvSpPr>
        <p:spPr>
          <a:xfrm>
            <a:off x="6400800" y="5486400"/>
            <a:ext cx="5242255" cy="731520"/>
          </a:xfrm>
          <a:prstGeom prst="roundRect">
            <a:avLst>
              <a:gd name="adj" fmla="val 12500"/>
            </a:avLst>
          </a:prstGeom>
          <a:solidFill>
            <a:srgbClr val="0E7C7B"/>
          </a:solidFill>
          <a:ln/>
        </p:spPr>
      </p:sp>
      <p:sp>
        <p:nvSpPr>
          <p:cNvPr id="9" name="txt_62"/>
          <p:cNvSpPr txBox="1"/>
          <p:nvPr/>
        </p:nvSpPr>
        <p:spPr>
          <a:xfrm>
            <a:off x="6400800" y="5486400"/>
            <a:ext cx="5242255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Sumidero de baja temperatura, T</a:t>
            </a:r>
            <a:r>
              <a:rPr lang="en-US" sz="1500" b="1" baseline="-40000" dirty="0">
                <a:solidFill>
                  <a:srgbClr val="FFFFFF"/>
                </a:solidFill>
              </a:rPr>
              <a:t>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949440" y="3291840"/>
            <a:ext cx="2194560" cy="1097280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11" name="txt_63"/>
          <p:cNvSpPr txBox="1"/>
          <p:nvPr/>
        </p:nvSpPr>
        <p:spPr>
          <a:xfrm>
            <a:off x="694944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térmica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46720" y="2194560"/>
            <a:ext cx="0" cy="109728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046720" y="4389120"/>
            <a:ext cx="0" cy="109728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144000" y="3840480"/>
            <a:ext cx="1188720" cy="0"/>
          </a:xfrm>
          <a:prstGeom prst="line">
            <a:avLst/>
          </a:prstGeom>
          <a:noFill/>
          <a:ln w="38100">
            <a:solidFill>
              <a:srgbClr val="15233F"/>
            </a:solidFill>
            <a:prstDash val="solid"/>
            <a:tailEnd type="triangle"/>
          </a:ln>
        </p:spPr>
      </p:sp>
      <p:sp>
        <p:nvSpPr>
          <p:cNvPr id="15" name="txt_64"/>
          <p:cNvSpPr txBox="1"/>
          <p:nvPr/>
        </p:nvSpPr>
        <p:spPr>
          <a:xfrm>
            <a:off x="8183880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4572E"/>
                </a:solidFill>
              </a:rPr>
              <a:t>Q</a:t>
            </a:r>
            <a:r>
              <a:rPr lang="en-US" sz="1800" b="1" baseline="-40000" dirty="0">
                <a:solidFill>
                  <a:srgbClr val="E4572E"/>
                </a:solidFill>
              </a:rPr>
              <a:t>H</a:t>
            </a:r>
            <a:endParaRPr lang="en-US" sz="1800" dirty="0"/>
          </a:p>
        </p:txBody>
      </p:sp>
      <p:sp>
        <p:nvSpPr>
          <p:cNvPr id="16" name="txt_65"/>
          <p:cNvSpPr txBox="1"/>
          <p:nvPr/>
        </p:nvSpPr>
        <p:spPr>
          <a:xfrm>
            <a:off x="8183880" y="4480560"/>
            <a:ext cx="1097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C7B"/>
                </a:solidFill>
              </a:rPr>
              <a:t>Q</a:t>
            </a:r>
            <a:r>
              <a:rPr lang="en-US" sz="1800" b="1" baseline="-40000" dirty="0">
                <a:solidFill>
                  <a:srgbClr val="0E7C7B"/>
                </a:solidFill>
              </a:rPr>
              <a:t>L</a:t>
            </a:r>
            <a:endParaRPr lang="en-US" sz="1800" dirty="0"/>
          </a:p>
        </p:txBody>
      </p:sp>
      <p:sp>
        <p:nvSpPr>
          <p:cNvPr id="17" name="txt_66"/>
          <p:cNvSpPr txBox="1"/>
          <p:nvPr/>
        </p:nvSpPr>
        <p:spPr>
          <a:xfrm>
            <a:off x="9235440" y="338328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233F"/>
                </a:solidFill>
              </a:rPr>
              <a:t>W</a:t>
            </a:r>
            <a:r>
              <a:rPr lang="en-US" sz="1800" b="1" baseline="-40000" dirty="0">
                <a:solidFill>
                  <a:srgbClr val="15233F"/>
                </a:solidFill>
              </a:rPr>
              <a:t>neto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térmico y principio de funcionamiento</a:t>
            </a:r>
            <a:endParaRPr lang="en-US" sz="3000" dirty="0"/>
          </a:p>
        </p:txBody>
      </p:sp>
      <p:sp>
        <p:nvSpPr>
          <p:cNvPr id="3" name="kicker_6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FUNDAMENTOS PARA ENTENDER UN CICLO</a:t>
            </a:r>
            <a:endParaRPr lang="en-US" sz="1100" dirty="0"/>
          </a:p>
        </p:txBody>
      </p:sp>
      <p:sp>
        <p:nvSpPr>
          <p:cNvPr id="5" name="txt_68"/>
          <p:cNvSpPr txBox="1"/>
          <p:nvPr/>
        </p:nvSpPr>
        <p:spPr>
          <a:xfrm>
            <a:off x="548640" y="1463040"/>
            <a:ext cx="576072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térmico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transforma la energía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combustible en energía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térmica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(combustión) y esta en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mecánico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Combustión externa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combustible se quema fuera del fluido de trabajo (máquina de vapor, Stirling).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Combustión interna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 quema dentro del propio fluido de trabajo (motores Otto y Diesel, turbinas de gas).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MCIA, el mecanismo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biela–manivela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convierte el movimiento lineal del pistón en rotación del cigüeñal.</a:t>
            </a:r>
            <a:endParaRPr lang="en-US" sz="1600" dirty="0"/>
          </a:p>
        </p:txBody>
      </p:sp>
      <p:sp>
        <p:nvSpPr>
          <p:cNvPr id="6" name="card_69"/>
          <p:cNvSpPr/>
          <p:nvPr/>
        </p:nvSpPr>
        <p:spPr>
          <a:xfrm>
            <a:off x="548640" y="521208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22345A"/>
          </a:solidFill>
          <a:ln/>
        </p:spPr>
      </p:sp>
      <p:sp>
        <p:nvSpPr>
          <p:cNvPr id="7" name="txt_70"/>
          <p:cNvSpPr txBox="1"/>
          <p:nvPr/>
        </p:nvSpPr>
        <p:spPr>
          <a:xfrm>
            <a:off x="54864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química</a:t>
            </a:r>
            <a:endParaRPr lang="en-US" sz="1300" dirty="0"/>
          </a:p>
        </p:txBody>
      </p:sp>
      <p:sp>
        <p:nvSpPr>
          <p:cNvPr id="8" name="card_71"/>
          <p:cNvSpPr/>
          <p:nvPr/>
        </p:nvSpPr>
        <p:spPr>
          <a:xfrm>
            <a:off x="2011680" y="521208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E4572E"/>
          </a:solidFill>
          <a:ln/>
        </p:spPr>
      </p:sp>
      <p:sp>
        <p:nvSpPr>
          <p:cNvPr id="9" name="txt_72"/>
          <p:cNvSpPr txBox="1"/>
          <p:nvPr/>
        </p:nvSpPr>
        <p:spPr>
          <a:xfrm>
            <a:off x="201168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térmica</a:t>
            </a:r>
            <a:endParaRPr lang="en-US" sz="1300" dirty="0"/>
          </a:p>
        </p:txBody>
      </p:sp>
      <p:sp>
        <p:nvSpPr>
          <p:cNvPr id="10" name="card_73"/>
          <p:cNvSpPr/>
          <p:nvPr/>
        </p:nvSpPr>
        <p:spPr>
          <a:xfrm>
            <a:off x="3474720" y="521208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0E7C7B"/>
          </a:solidFill>
          <a:ln/>
        </p:spPr>
      </p:sp>
      <p:sp>
        <p:nvSpPr>
          <p:cNvPr id="11" name="txt_74"/>
          <p:cNvSpPr txBox="1"/>
          <p:nvPr/>
        </p:nvSpPr>
        <p:spPr>
          <a:xfrm>
            <a:off x="347472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lineal</a:t>
            </a:r>
            <a:endParaRPr lang="en-US" sz="1300" dirty="0"/>
          </a:p>
        </p:txBody>
      </p:sp>
      <p:sp>
        <p:nvSpPr>
          <p:cNvPr id="12" name="card_75"/>
          <p:cNvSpPr/>
          <p:nvPr/>
        </p:nvSpPr>
        <p:spPr>
          <a:xfrm>
            <a:off x="4937760" y="521208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15233F"/>
          </a:solidFill>
          <a:ln/>
        </p:spPr>
      </p:sp>
      <p:sp>
        <p:nvSpPr>
          <p:cNvPr id="13" name="txt_76"/>
          <p:cNvSpPr txBox="1"/>
          <p:nvPr/>
        </p:nvSpPr>
        <p:spPr>
          <a:xfrm>
            <a:off x="493776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rotación</a:t>
            </a:r>
            <a:endParaRPr lang="en-US" sz="1300" dirty="0"/>
          </a:p>
        </p:txBody>
      </p:sp>
      <p:sp>
        <p:nvSpPr>
          <p:cNvPr id="14" name="fig_77"/>
          <p:cNvSpPr/>
          <p:nvPr/>
        </p:nvSpPr>
        <p:spPr>
          <a:xfrm>
            <a:off x="6675120" y="1463040"/>
            <a:ext cx="496793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g_78" descr="/home/claude/img/u2_image1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110" y="1572768"/>
            <a:ext cx="3273956" cy="4151376"/>
          </a:xfrm>
          <a:prstGeom prst="rect">
            <a:avLst/>
          </a:prstGeom>
        </p:spPr>
      </p:pic>
      <p:sp>
        <p:nvSpPr>
          <p:cNvPr id="16" name="cap_79"/>
          <p:cNvSpPr txBox="1"/>
          <p:nvPr/>
        </p:nvSpPr>
        <p:spPr>
          <a:xfrm>
            <a:off x="6766560" y="5779008"/>
            <a:ext cx="478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combustión interna: pistón, biela y cigüeñal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Eficiencia térmica: definición e interpretación</a:t>
            </a:r>
            <a:endParaRPr lang="en-US" sz="3000" dirty="0"/>
          </a:p>
        </p:txBody>
      </p:sp>
      <p:sp>
        <p:nvSpPr>
          <p:cNvPr id="3" name="kicker_80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FUNDAMENTOS PARA ENTENDER UN CICLO</a:t>
            </a:r>
            <a:endParaRPr lang="en-US" sz="1100" dirty="0"/>
          </a:p>
        </p:txBody>
      </p:sp>
      <p:sp>
        <p:nvSpPr>
          <p:cNvPr id="5" name="card_81"/>
          <p:cNvSpPr/>
          <p:nvPr/>
        </p:nvSpPr>
        <p:spPr>
          <a:xfrm>
            <a:off x="548640" y="1463040"/>
            <a:ext cx="4937760" cy="3291840"/>
          </a:xfrm>
          <a:prstGeom prst="roundRect">
            <a:avLst>
              <a:gd name="adj" fmla="val 2778"/>
            </a:avLst>
          </a:prstGeom>
          <a:solidFill>
            <a:srgbClr val="D9EEEE"/>
          </a:solidFill>
          <a:ln/>
        </p:spPr>
      </p:sp>
      <p:sp>
        <p:nvSpPr>
          <p:cNvPr id="6" name="txt_82"/>
          <p:cNvSpPr txBox="1"/>
          <p:nvPr/>
        </p:nvSpPr>
        <p:spPr>
          <a:xfrm>
            <a:off x="777240" y="1627632"/>
            <a:ext cx="4480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TÉRMICA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cuación 7"/>
              <p:cNvSpPr txBox="1"/>
              <p:nvPr/>
            </p:nvSpPr>
            <p:spPr>
              <a:xfrm>
                <a:off x="2257044" y="2170176"/>
                <a:ext cx="1520952" cy="7498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𝑛𝑒𝑡𝑜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𝑒𝑛𝑡𝑟𝑎𝑑𝑎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pic>
            <p:nvPicPr>
              <p:cNvPr id="7" name="EQ_8d6602ade272_7_s1000_ctr" descr="/home/claude/u2/eq/eq_8d6602ade272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7044" y="2170176"/>
                <a:ext cx="1520952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cuación 8"/>
              <p:cNvSpPr txBox="1"/>
              <p:nvPr/>
            </p:nvSpPr>
            <p:spPr>
              <a:xfrm>
                <a:off x="1524000" y="3113532"/>
                <a:ext cx="2987040" cy="4023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𝑛𝑒𝑡𝑜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𝑒𝑛𝑡𝑟𝑎𝑑𝑎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𝑠𝑎𝑙𝑖𝑑𝑎</m:t>
                          </m:r>
                        </m:sub>
                      </m:sSub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pic>
            <p:nvPicPr>
              <p:cNvPr id="8" name="EQ_a339fc3c2a92_8_s1000_ctr" descr="/home/claude/u2/eq/eq_a339fc3c2a92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4000" y="3113532"/>
                <a:ext cx="2987040" cy="402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Ecuación 9"/>
              <p:cNvSpPr txBox="1"/>
              <p:nvPr/>
            </p:nvSpPr>
            <p:spPr>
              <a:xfrm>
                <a:off x="2014728" y="3706368"/>
                <a:ext cx="2005584" cy="75590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𝑠𝑎𝑙𝑖𝑑𝑎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𝑒𝑛𝑡𝑟𝑎𝑑𝑎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pic>
            <p:nvPicPr>
              <p:cNvPr id="9" name="EQ_78e7d74ed4b1_9_s1000_ctr" descr="/home/claude/u2/eq/eq_78e7d74ed4b1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14728" y="3706368"/>
                <a:ext cx="2005584" cy="755904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ard_83"/>
          <p:cNvSpPr/>
          <p:nvPr/>
        </p:nvSpPr>
        <p:spPr>
          <a:xfrm>
            <a:off x="548640" y="4983480"/>
            <a:ext cx="4937760" cy="1234440"/>
          </a:xfrm>
          <a:prstGeom prst="roundRect">
            <a:avLst>
              <a:gd name="adj" fmla="val 7407"/>
            </a:avLst>
          </a:prstGeom>
          <a:solidFill>
            <a:srgbClr val="F2F5F8"/>
          </a:solidFill>
          <a:ln/>
        </p:spPr>
      </p:sp>
      <p:sp>
        <p:nvSpPr>
          <p:cNvPr id="11" name="txt_84"/>
          <p:cNvSpPr txBox="1"/>
          <p:nvPr/>
        </p:nvSpPr>
        <p:spPr>
          <a:xfrm>
            <a:off x="77724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rápido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cuación 12"/>
              <p:cNvSpPr txBox="1"/>
              <p:nvPr/>
            </p:nvSpPr>
            <p:spPr>
              <a:xfrm>
                <a:off x="777240" y="5457952"/>
                <a:ext cx="3264408" cy="6004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70 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100 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kJ</m:t>
                          </m:r>
                        </m:den>
                      </m:f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=0,30 → 30%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 xmlns="">
          <p:pic>
            <p:nvPicPr>
              <p:cNvPr id="12" name="EQ_da5db7b28abd_10_s1000_l" descr="/home/claude/u2/eq/eq_da5db7b28abd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7240" y="5457952"/>
                <a:ext cx="3264408" cy="600456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card_85"/>
          <p:cNvSpPr/>
          <p:nvPr/>
        </p:nvSpPr>
        <p:spPr>
          <a:xfrm>
            <a:off x="5852160" y="1463040"/>
            <a:ext cx="2758288" cy="2240280"/>
          </a:xfrm>
          <a:prstGeom prst="roundRect">
            <a:avLst>
              <a:gd name="adj" fmla="val 4082"/>
            </a:avLst>
          </a:prstGeom>
          <a:solidFill>
            <a:srgbClr val="15233F"/>
          </a:solidFill>
          <a:ln/>
        </p:spPr>
      </p:sp>
      <p:sp>
        <p:nvSpPr>
          <p:cNvPr id="14" name="txt_86"/>
          <p:cNvSpPr txBox="1"/>
          <p:nvPr/>
        </p:nvSpPr>
        <p:spPr>
          <a:xfrm>
            <a:off x="6080760" y="1783080"/>
            <a:ext cx="230108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 25–30 %</a:t>
            </a:r>
            <a:endParaRPr lang="en-US" sz="3200" dirty="0"/>
          </a:p>
        </p:txBody>
      </p:sp>
      <p:sp>
        <p:nvSpPr>
          <p:cNvPr id="15" name="txt_87"/>
          <p:cNvSpPr txBox="1"/>
          <p:nvPr/>
        </p:nvSpPr>
        <p:spPr>
          <a:xfrm>
            <a:off x="6080760" y="2743200"/>
            <a:ext cx="2301088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gasolina</a:t>
            </a:r>
            <a:endParaRPr lang="en-US" sz="1500" dirty="0"/>
          </a:p>
        </p:txBody>
      </p:sp>
      <p:sp>
        <p:nvSpPr>
          <p:cNvPr id="16" name="card_88"/>
          <p:cNvSpPr/>
          <p:nvPr/>
        </p:nvSpPr>
        <p:spPr>
          <a:xfrm>
            <a:off x="8884768" y="1463040"/>
            <a:ext cx="275828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7" name="txt_89"/>
          <p:cNvSpPr txBox="1"/>
          <p:nvPr/>
        </p:nvSpPr>
        <p:spPr>
          <a:xfrm>
            <a:off x="9113368" y="1783080"/>
            <a:ext cx="230108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 35–40 %</a:t>
            </a:r>
            <a:endParaRPr lang="en-US" sz="3200" dirty="0"/>
          </a:p>
        </p:txBody>
      </p:sp>
      <p:sp>
        <p:nvSpPr>
          <p:cNvPr id="18" name="txt_90"/>
          <p:cNvSpPr txBox="1"/>
          <p:nvPr/>
        </p:nvSpPr>
        <p:spPr>
          <a:xfrm>
            <a:off x="9113368" y="2743200"/>
            <a:ext cx="2301088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diésel</a:t>
            </a:r>
            <a:endParaRPr lang="en-US" sz="1500" dirty="0"/>
          </a:p>
        </p:txBody>
      </p:sp>
      <p:sp>
        <p:nvSpPr>
          <p:cNvPr id="19" name="card_91"/>
          <p:cNvSpPr/>
          <p:nvPr/>
        </p:nvSpPr>
        <p:spPr>
          <a:xfrm>
            <a:off x="5852160" y="3977640"/>
            <a:ext cx="275828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0" name="txt_92"/>
          <p:cNvSpPr txBox="1"/>
          <p:nvPr/>
        </p:nvSpPr>
        <p:spPr>
          <a:xfrm>
            <a:off x="6080760" y="4297680"/>
            <a:ext cx="230108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 40 %</a:t>
            </a:r>
            <a:endParaRPr lang="en-US" sz="3200" dirty="0"/>
          </a:p>
        </p:txBody>
      </p:sp>
      <p:sp>
        <p:nvSpPr>
          <p:cNvPr id="21" name="txt_93"/>
          <p:cNvSpPr txBox="1"/>
          <p:nvPr/>
        </p:nvSpPr>
        <p:spPr>
          <a:xfrm>
            <a:off x="6080760" y="5257800"/>
            <a:ext cx="2301088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Turbina de gas</a:t>
            </a:r>
            <a:endParaRPr lang="en-US" sz="1500" dirty="0"/>
          </a:p>
        </p:txBody>
      </p:sp>
      <p:sp>
        <p:nvSpPr>
          <p:cNvPr id="22" name="card_94"/>
          <p:cNvSpPr/>
          <p:nvPr/>
        </p:nvSpPr>
        <p:spPr>
          <a:xfrm>
            <a:off x="8884768" y="3977640"/>
            <a:ext cx="275828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3" name="txt_95"/>
          <p:cNvSpPr txBox="1"/>
          <p:nvPr/>
        </p:nvSpPr>
        <p:spPr>
          <a:xfrm>
            <a:off x="9113368" y="4297680"/>
            <a:ext cx="230108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 60 %</a:t>
            </a:r>
            <a:endParaRPr lang="en-US" sz="3200" dirty="0"/>
          </a:p>
        </p:txBody>
      </p:sp>
      <p:sp>
        <p:nvSpPr>
          <p:cNvPr id="24" name="txt_96"/>
          <p:cNvSpPr txBox="1"/>
          <p:nvPr/>
        </p:nvSpPr>
        <p:spPr>
          <a:xfrm>
            <a:off x="9113368" y="5257800"/>
            <a:ext cx="2301088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combinado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 reversibles e irreversibles</a:t>
            </a:r>
            <a:endParaRPr lang="en-US" sz="3000" dirty="0"/>
          </a:p>
        </p:txBody>
      </p:sp>
      <p:sp>
        <p:nvSpPr>
          <p:cNvPr id="3" name="kicker_9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FUNDAMENTOS PARA ENTENDER UN CICLO</a:t>
            </a:r>
            <a:endParaRPr lang="en-US" sz="1100" dirty="0"/>
          </a:p>
        </p:txBody>
      </p:sp>
      <p:sp>
        <p:nvSpPr>
          <p:cNvPr id="5" name="card_98"/>
          <p:cNvSpPr/>
          <p:nvPr/>
        </p:nvSpPr>
        <p:spPr>
          <a:xfrm>
            <a:off x="548640" y="1463040"/>
            <a:ext cx="2788920" cy="2377440"/>
          </a:xfrm>
          <a:prstGeom prst="roundRect">
            <a:avLst>
              <a:gd name="adj" fmla="val 3846"/>
            </a:avLst>
          </a:prstGeom>
          <a:solidFill>
            <a:srgbClr val="F2F5F8"/>
          </a:solidFill>
          <a:ln/>
        </p:spPr>
      </p:sp>
      <p:sp>
        <p:nvSpPr>
          <p:cNvPr id="6" name="dot_99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c_10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19656"/>
            <a:ext cx="310896" cy="310896"/>
          </a:xfrm>
          <a:prstGeom prst="rect">
            <a:avLst/>
          </a:prstGeom>
        </p:spPr>
      </p:pic>
      <p:sp>
        <p:nvSpPr>
          <p:cNvPr id="8" name="txt_101"/>
          <p:cNvSpPr txBox="1"/>
          <p:nvPr/>
        </p:nvSpPr>
        <p:spPr>
          <a:xfrm>
            <a:off x="1481328" y="1664208"/>
            <a:ext cx="16916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reversible</a:t>
            </a:r>
            <a:endParaRPr lang="en-US" sz="1700" dirty="0"/>
          </a:p>
        </p:txBody>
      </p:sp>
      <p:sp>
        <p:nvSpPr>
          <p:cNvPr id="9" name="txt_102"/>
          <p:cNvSpPr txBox="1"/>
          <p:nvPr/>
        </p:nvSpPr>
        <p:spPr>
          <a:xfrm>
            <a:off x="777240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invertirse sin dejar huella en el sistema ni en el entorno. Es una idealización: sirve de referencia.</a:t>
            </a:r>
            <a:endParaRPr lang="en-US" sz="1400" dirty="0"/>
          </a:p>
        </p:txBody>
      </p:sp>
      <p:sp>
        <p:nvSpPr>
          <p:cNvPr id="10" name="card_103"/>
          <p:cNvSpPr/>
          <p:nvPr/>
        </p:nvSpPr>
        <p:spPr>
          <a:xfrm>
            <a:off x="3611880" y="1463040"/>
            <a:ext cx="2788920" cy="2377440"/>
          </a:xfrm>
          <a:prstGeom prst="roundRect">
            <a:avLst>
              <a:gd name="adj" fmla="val 3846"/>
            </a:avLst>
          </a:prstGeom>
          <a:solidFill>
            <a:srgbClr val="F2F5F8"/>
          </a:solidFill>
          <a:ln/>
        </p:spPr>
      </p:sp>
      <p:sp>
        <p:nvSpPr>
          <p:cNvPr id="11" name="dot_104"/>
          <p:cNvSpPr/>
          <p:nvPr/>
        </p:nvSpPr>
        <p:spPr>
          <a:xfrm>
            <a:off x="3840480" y="16916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2" name="ic_10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496" y="1819656"/>
            <a:ext cx="310896" cy="310896"/>
          </a:xfrm>
          <a:prstGeom prst="rect">
            <a:avLst/>
          </a:prstGeom>
        </p:spPr>
      </p:pic>
      <p:sp>
        <p:nvSpPr>
          <p:cNvPr id="13" name="txt_106"/>
          <p:cNvSpPr txBox="1"/>
          <p:nvPr/>
        </p:nvSpPr>
        <p:spPr>
          <a:xfrm>
            <a:off x="4544568" y="1664208"/>
            <a:ext cx="16916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irreversible</a:t>
            </a:r>
            <a:endParaRPr lang="en-US" sz="1700" dirty="0"/>
          </a:p>
        </p:txBody>
      </p:sp>
      <p:sp>
        <p:nvSpPr>
          <p:cNvPr id="14" name="txt_107"/>
          <p:cNvSpPr txBox="1"/>
          <p:nvPr/>
        </p:nvSpPr>
        <p:spPr>
          <a:xfrm>
            <a:off x="3840480" y="237744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procesos reales: fricción, transferencia de calor con ΔT finita, combustión, expansión libre.</a:t>
            </a:r>
            <a:endParaRPr lang="en-US" sz="1400" dirty="0"/>
          </a:p>
        </p:txBody>
      </p:sp>
      <p:sp>
        <p:nvSpPr>
          <p:cNvPr id="15" name="txt_108"/>
          <p:cNvSpPr txBox="1"/>
          <p:nvPr/>
        </p:nvSpPr>
        <p:spPr>
          <a:xfrm>
            <a:off x="548640" y="4114800"/>
            <a:ext cx="58521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ideal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obtiene eliminando las irreversibilidades del ciclo real: es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internamente reversible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ideal se parece al real y permite estudiar la influencia de los parámetros principales (relación de compresión, temperaturas).</a:t>
            </a:r>
            <a:endParaRPr lang="en-US" sz="1600" dirty="0"/>
          </a:p>
        </p:txBody>
      </p:sp>
      <p:sp>
        <p:nvSpPr>
          <p:cNvPr id="16" name="fig_109"/>
          <p:cNvSpPr/>
          <p:nvPr/>
        </p:nvSpPr>
        <p:spPr>
          <a:xfrm>
            <a:off x="6766560" y="1463040"/>
            <a:ext cx="487649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g_110" descr="/home/claude/img/u2_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6164" y="1572768"/>
            <a:ext cx="4097286" cy="4151376"/>
          </a:xfrm>
          <a:prstGeom prst="rect">
            <a:avLst/>
          </a:prstGeom>
        </p:spPr>
      </p:pic>
      <p:sp>
        <p:nvSpPr>
          <p:cNvPr id="18" name="cap_111"/>
          <p:cNvSpPr txBox="1"/>
          <p:nvPr/>
        </p:nvSpPr>
        <p:spPr>
          <a:xfrm>
            <a:off x="6858000" y="5779008"/>
            <a:ext cx="4693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real e ideal en el diagrama P–v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Idealizaciones de los ciclos de potencia</a:t>
            </a:r>
            <a:endParaRPr lang="en-US" sz="3000" dirty="0"/>
          </a:p>
        </p:txBody>
      </p:sp>
      <p:sp>
        <p:nvSpPr>
          <p:cNvPr id="3" name="kicker_11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FUNDAMENTOS PARA ENTENDER UN CICLO</a:t>
            </a:r>
            <a:endParaRPr lang="en-US" sz="1100" dirty="0"/>
          </a:p>
        </p:txBody>
      </p:sp>
      <p:sp>
        <p:nvSpPr>
          <p:cNvPr id="5" name="card_113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6" name="dot_114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xt_115"/>
          <p:cNvSpPr txBox="1"/>
          <p:nvPr/>
        </p:nvSpPr>
        <p:spPr>
          <a:xfrm>
            <a:off x="7772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xt_116"/>
          <p:cNvSpPr txBox="1"/>
          <p:nvPr/>
        </p:nvSpPr>
        <p:spPr>
          <a:xfrm>
            <a:off x="1481328" y="1664208"/>
            <a:ext cx="431276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fricción</a:t>
            </a:r>
            <a:endParaRPr lang="en-US" sz="1700" dirty="0"/>
          </a:p>
        </p:txBody>
      </p:sp>
      <p:sp>
        <p:nvSpPr>
          <p:cNvPr id="9" name="txt_117"/>
          <p:cNvSpPr txBox="1"/>
          <p:nvPr/>
        </p:nvSpPr>
        <p:spPr>
          <a:xfrm>
            <a:off x="777240" y="2377440"/>
            <a:ext cx="499856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fluido no sufre caídas de presión en tuberías ni intercambiadores de calor.</a:t>
            </a:r>
            <a:endParaRPr lang="en-US" sz="1600" dirty="0"/>
          </a:p>
        </p:txBody>
      </p:sp>
      <p:sp>
        <p:nvSpPr>
          <p:cNvPr id="10" name="card_11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1" name="dot_119"/>
          <p:cNvSpPr/>
          <p:nvPr/>
        </p:nvSpPr>
        <p:spPr>
          <a:xfrm>
            <a:off x="6461608" y="16916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xt_120"/>
          <p:cNvSpPr txBox="1"/>
          <p:nvPr/>
        </p:nvSpPr>
        <p:spPr>
          <a:xfrm>
            <a:off x="6461608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xt_121"/>
          <p:cNvSpPr txBox="1"/>
          <p:nvPr/>
        </p:nvSpPr>
        <p:spPr>
          <a:xfrm>
            <a:off x="7165696" y="1664208"/>
            <a:ext cx="431276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Cuasiequilibrio</a:t>
            </a:r>
            <a:endParaRPr lang="en-US" sz="1700" dirty="0"/>
          </a:p>
        </p:txBody>
      </p:sp>
      <p:sp>
        <p:nvSpPr>
          <p:cNvPr id="14" name="txt_122"/>
          <p:cNvSpPr txBox="1"/>
          <p:nvPr/>
        </p:nvSpPr>
        <p:spPr>
          <a:xfrm>
            <a:off x="6461608" y="2377440"/>
            <a:ext cx="499856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expansiones y compresiones ocurren en forma de cuasiequilibrio.</a:t>
            </a:r>
            <a:endParaRPr lang="en-US" sz="1600" dirty="0"/>
          </a:p>
        </p:txBody>
      </p:sp>
      <p:sp>
        <p:nvSpPr>
          <p:cNvPr id="15" name="card_123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6" name="dot_124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17" name="txt_125"/>
          <p:cNvSpPr txBox="1"/>
          <p:nvPr/>
        </p:nvSpPr>
        <p:spPr>
          <a:xfrm>
            <a:off x="77724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xt_126"/>
          <p:cNvSpPr txBox="1"/>
          <p:nvPr/>
        </p:nvSpPr>
        <p:spPr>
          <a:xfrm>
            <a:off x="1481328" y="4178808"/>
            <a:ext cx="431276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Tuberías aisladas</a:t>
            </a:r>
            <a:endParaRPr lang="en-US" sz="1700" dirty="0"/>
          </a:p>
        </p:txBody>
      </p:sp>
      <p:sp>
        <p:nvSpPr>
          <p:cNvPr id="19" name="txt_127"/>
          <p:cNvSpPr txBox="1"/>
          <p:nvPr/>
        </p:nvSpPr>
        <p:spPr>
          <a:xfrm>
            <a:off x="777240" y="4892040"/>
            <a:ext cx="499856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transferencia de calor por las conexiones entre componentes es despreciable.</a:t>
            </a:r>
            <a:endParaRPr lang="en-US" sz="1600" dirty="0"/>
          </a:p>
        </p:txBody>
      </p:sp>
      <p:sp>
        <p:nvSpPr>
          <p:cNvPr id="20" name="card_128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1" name="dot_129"/>
          <p:cNvSpPr/>
          <p:nvPr/>
        </p:nvSpPr>
        <p:spPr>
          <a:xfrm>
            <a:off x="6461608" y="420624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xt_130"/>
          <p:cNvSpPr txBox="1"/>
          <p:nvPr/>
        </p:nvSpPr>
        <p:spPr>
          <a:xfrm>
            <a:off x="6461608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xt_131"/>
          <p:cNvSpPr txBox="1"/>
          <p:nvPr/>
        </p:nvSpPr>
        <p:spPr>
          <a:xfrm>
            <a:off x="7165696" y="4178808"/>
            <a:ext cx="431276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EC ni EP</a:t>
            </a:r>
            <a:endParaRPr lang="en-US" sz="1700" dirty="0"/>
          </a:p>
        </p:txBody>
      </p:sp>
      <p:sp>
        <p:nvSpPr>
          <p:cNvPr id="24" name="txt_132"/>
          <p:cNvSpPr txBox="1"/>
          <p:nvPr/>
        </p:nvSpPr>
        <p:spPr>
          <a:xfrm>
            <a:off x="6461608" y="4892040"/>
            <a:ext cx="499856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desprecian los cambios de energía cinética y potencial del fluido de trabajo.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de ciclo termodinámico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ciclo, ciclos de potencia de gas y su representación en el diagrama P–v.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2: Ciclos termodinámicos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de ciclo termodinámico</a:t>
            </a:r>
            <a:endParaRPr lang="en-US" sz="3000" dirty="0"/>
          </a:p>
        </p:txBody>
      </p:sp>
      <p:sp>
        <p:nvSpPr>
          <p:cNvPr id="3" name="kicker_133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CONCEPTO DE CICLO TERMODINÁMICO</a:t>
            </a:r>
            <a:endParaRPr lang="en-US" sz="1100" dirty="0"/>
          </a:p>
        </p:txBody>
      </p:sp>
      <p:sp>
        <p:nvSpPr>
          <p:cNvPr id="5" name="txt_134"/>
          <p:cNvSpPr txBox="1"/>
          <p:nvPr/>
        </p:nvSpPr>
        <p:spPr>
          <a:xfrm>
            <a:off x="548640" y="1463040"/>
            <a:ext cx="60350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serie de procesos al final de los cuales el sistema regresa a su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inicial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ciclo, ΔU = 0; por la primera ley, el trabajo neto es igual al calor neto.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potencia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produce trabajo neto (motores). En el diagrama P–v se recorre en sentido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refrigeración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consume trabajo para mover calor de frío a caliente. Se recorre en sentido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antihorario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card_135"/>
          <p:cNvSpPr/>
          <p:nvPr/>
        </p:nvSpPr>
        <p:spPr>
          <a:xfrm>
            <a:off x="6949440" y="1463040"/>
            <a:ext cx="4693615" cy="4754880"/>
          </a:xfrm>
          <a:prstGeom prst="roundRect">
            <a:avLst>
              <a:gd name="adj" fmla="val 1948"/>
            </a:avLst>
          </a:prstGeom>
          <a:solidFill>
            <a:srgbClr val="D9EEEE"/>
          </a:solidFill>
          <a:ln/>
        </p:spPr>
      </p:sp>
      <p:sp>
        <p:nvSpPr>
          <p:cNvPr id="7" name="txt_136"/>
          <p:cNvSpPr txBox="1"/>
          <p:nvPr/>
        </p:nvSpPr>
        <p:spPr>
          <a:xfrm>
            <a:off x="7178040" y="1627632"/>
            <a:ext cx="423641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TODO CICLO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cuación 8"/>
              <p:cNvSpPr txBox="1"/>
              <p:nvPr/>
            </p:nvSpPr>
            <p:spPr>
              <a:xfrm>
                <a:off x="8601304" y="3204972"/>
                <a:ext cx="1389888" cy="4023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𝑐𝑖𝑐𝑙𝑜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pic>
            <p:nvPicPr>
              <p:cNvPr id="8" name="EQ_51a94c34b971_11_s1000_ctr" descr="/home/claude/u2/eq/eq_51a94c34b971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01304" y="3204972"/>
                <a:ext cx="1389888" cy="402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Ecuación 9"/>
              <p:cNvSpPr txBox="1"/>
              <p:nvPr/>
            </p:nvSpPr>
            <p:spPr>
              <a:xfrm>
                <a:off x="7336384" y="3845052"/>
                <a:ext cx="3919728" cy="4023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𝑛𝑒𝑡𝑜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𝑛𝑒𝑡𝑜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𝑒𝑛𝑡𝑟𝑎𝑑𝑎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𝑠𝑎𝑙𝑖𝑑𝑎</m:t>
                          </m:r>
                        </m:sub>
                      </m:sSub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pic>
            <p:nvPicPr>
              <p:cNvPr id="9" name="EQ_17bb7f64e40c_12_s1000_ctr" descr="/home/claude/u2/eq/eq_17bb7f64e40c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36384" y="3845052"/>
                <a:ext cx="3919728" cy="402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cuación 10"/>
              <p:cNvSpPr txBox="1"/>
              <p:nvPr/>
            </p:nvSpPr>
            <p:spPr>
              <a:xfrm>
                <a:off x="8480908" y="4472940"/>
                <a:ext cx="1630680" cy="42672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𝑛𝑒𝑡𝑜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=∮</m:t>
                      </m:r>
                      <m:r>
                        <a:rPr lang="es-EC" sz="24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s-EC" sz="24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𝑑𝑣</m:t>
                      </m:r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pic>
            <p:nvPicPr>
              <p:cNvPr id="10" name="EQ_fa20c91884f4_13_s1000_ctr" descr="/home/claude/u2/eq/eq_fa20c91884f4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80908" y="4472940"/>
                <a:ext cx="1630680" cy="42672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Ciclos de potencia de gas: aire estándar</a:t>
            </a:r>
            <a:endParaRPr lang="en-US" sz="3000" dirty="0"/>
          </a:p>
        </p:txBody>
      </p:sp>
      <p:sp>
        <p:nvSpPr>
          <p:cNvPr id="3" name="kicker_13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CONCEPTO DE CICLO TERMODINÁMICO</a:t>
            </a:r>
            <a:endParaRPr lang="en-US" sz="1100" dirty="0"/>
          </a:p>
        </p:txBody>
      </p:sp>
      <p:sp>
        <p:nvSpPr>
          <p:cNvPr id="5" name="txt_138"/>
          <p:cNvSpPr txBox="1"/>
          <p:nvPr/>
        </p:nvSpPr>
        <p:spPr>
          <a:xfrm>
            <a:off x="548640" y="1463040"/>
            <a:ext cx="61264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ciclos de potencia de gas el fluido de trabajo permanece como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todo el ciclo (motores ECH, ECOM y turbinas de gas).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Suposiciones de aire estándar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fluido es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circula en un circuito cerrado y se comporta como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ideal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procesos son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internamente reversibles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combustión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sustituye por una adición de calor desde una fuente externa.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sustituye por un rechazo de calor que regresa el aire a su estado inicial.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estándar frío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además, c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constantes, evaluados a 25 °C.</a:t>
            </a:r>
            <a:endParaRPr lang="en-US" sz="1500" dirty="0"/>
          </a:p>
        </p:txBody>
      </p:sp>
      <p:sp>
        <p:nvSpPr>
          <p:cNvPr id="6" name="fig_139"/>
          <p:cNvSpPr/>
          <p:nvPr/>
        </p:nvSpPr>
        <p:spPr>
          <a:xfrm>
            <a:off x="6949440" y="1463040"/>
            <a:ext cx="4693615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g_140" descr="/home/claude/img/u2_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531" y="1572768"/>
            <a:ext cx="4305433" cy="1636776"/>
          </a:xfrm>
          <a:prstGeom prst="rect">
            <a:avLst/>
          </a:prstGeom>
        </p:spPr>
      </p:pic>
      <p:sp>
        <p:nvSpPr>
          <p:cNvPr id="8" name="cap_141"/>
          <p:cNvSpPr txBox="1"/>
          <p:nvPr/>
        </p:nvSpPr>
        <p:spPr>
          <a:xfrm>
            <a:off x="7040880" y="3264408"/>
            <a:ext cx="4510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Real: combustión</a:t>
            </a:r>
            <a:endParaRPr lang="en-US" sz="1100" dirty="0"/>
          </a:p>
        </p:txBody>
      </p:sp>
      <p:sp>
        <p:nvSpPr>
          <p:cNvPr id="9" name="fig_142"/>
          <p:cNvSpPr/>
          <p:nvPr/>
        </p:nvSpPr>
        <p:spPr>
          <a:xfrm>
            <a:off x="6949440" y="3977640"/>
            <a:ext cx="4693615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g_143" descr="/home/claude/img/u2_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662" y="4087368"/>
            <a:ext cx="3117172" cy="1636776"/>
          </a:xfrm>
          <a:prstGeom prst="rect">
            <a:avLst/>
          </a:prstGeom>
        </p:spPr>
      </p:pic>
      <p:sp>
        <p:nvSpPr>
          <p:cNvPr id="11" name="cap_144"/>
          <p:cNvSpPr txBox="1"/>
          <p:nvPr/>
        </p:nvSpPr>
        <p:spPr>
          <a:xfrm>
            <a:off x="7040880" y="5779008"/>
            <a:ext cx="4510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Ideal: adición de calor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Terminología del motor reciprocante</a:t>
            </a:r>
            <a:endParaRPr lang="en-US" sz="3000" dirty="0"/>
          </a:p>
        </p:txBody>
      </p:sp>
      <p:sp>
        <p:nvSpPr>
          <p:cNvPr id="3" name="kicker_14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CONCEPTO DE CICLO TERMODINÁMICO</a:t>
            </a:r>
            <a:endParaRPr lang="en-US" sz="1100" dirty="0"/>
          </a:p>
        </p:txBody>
      </p:sp>
      <p:sp>
        <p:nvSpPr>
          <p:cNvPr id="5" name="txt_146"/>
          <p:cNvSpPr txBox="1"/>
          <p:nvPr/>
        </p:nvSpPr>
        <p:spPr>
          <a:xfrm>
            <a:off x="54864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posición del pistón con el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volumen en el cilindro.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posición con el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volumen.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(S)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distancia entre PMS y PMI. 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(D)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diámetro del pistón.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espacio libre (V</a:t>
            </a:r>
            <a:r>
              <a:rPr lang="en-US" sz="1500" b="1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desplazamiento (V</a:t>
            </a:r>
            <a:r>
              <a:rPr lang="en-US" sz="1500" b="1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card_147"/>
          <p:cNvSpPr/>
          <p:nvPr/>
        </p:nvSpPr>
        <p:spPr>
          <a:xfrm>
            <a:off x="548640" y="4343400"/>
            <a:ext cx="4572000" cy="1874520"/>
          </a:xfrm>
          <a:prstGeom prst="roundRect">
            <a:avLst>
              <a:gd name="adj" fmla="val 4878"/>
            </a:avLst>
          </a:prstGeom>
          <a:solidFill>
            <a:srgbClr val="D9EEEE"/>
          </a:solidFill>
          <a:ln/>
        </p:spPr>
      </p:sp>
      <p:sp>
        <p:nvSpPr>
          <p:cNvPr id="7" name="txt_148"/>
          <p:cNvSpPr txBox="1"/>
          <p:nvPr/>
        </p:nvSpPr>
        <p:spPr>
          <a:xfrm>
            <a:off x="777240" y="4507992"/>
            <a:ext cx="4114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DE COMPRESIÓN Y CILINDRADA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cuación 8"/>
              <p:cNvSpPr txBox="1"/>
              <p:nvPr/>
            </p:nvSpPr>
            <p:spPr>
              <a:xfrm>
                <a:off x="2145211" y="4909820"/>
                <a:ext cx="1378857" cy="508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1587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EC" sz="158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58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á</m:t>
                              </m:r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í</m:t>
                              </m:r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s-EC" sz="158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58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𝑃𝑀𝐼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𝑃𝑀𝑆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1587" dirty="0"/>
              </a:p>
            </p:txBody>
          </p:sp>
        </mc:Choice>
        <mc:Fallback xmlns="">
          <p:pic>
            <p:nvPicPr>
              <p:cNvPr id="8" name="EQ_a962cfdccb9d_14_s992_ctr" descr="/home/claude/u2/eq/eq_a962cfdccb9d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45211" y="4909820"/>
                <a:ext cx="1378857" cy="5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Ecuación 9"/>
              <p:cNvSpPr txBox="1"/>
              <p:nvPr/>
            </p:nvSpPr>
            <p:spPr>
              <a:xfrm>
                <a:off x="2363724" y="5592572"/>
                <a:ext cx="941832" cy="43281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1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EC" sz="1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EC" sz="1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s-EC" sz="1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s-EC" sz="1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C" sz="1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s-EC" sz="1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C" sz="16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s-EC" sz="1600" dirty="0"/>
              </a:p>
            </p:txBody>
          </p:sp>
        </mc:Choice>
        <mc:Fallback xmlns="">
          <p:pic>
            <p:nvPicPr>
              <p:cNvPr id="9" name="EQ_8c3e42de5f1d_15_s1000_ctr" descr="/home/claude/u2/eq/eq_8c3e42de5f1d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3724" y="5592572"/>
                <a:ext cx="941832" cy="432816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fig_149"/>
          <p:cNvSpPr/>
          <p:nvPr/>
        </p:nvSpPr>
        <p:spPr>
          <a:xfrm>
            <a:off x="5394960" y="1463040"/>
            <a:ext cx="2926080" cy="47548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g_150" descr="/home/claude/img/u2_image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2083535"/>
            <a:ext cx="2706624" cy="3129842"/>
          </a:xfrm>
          <a:prstGeom prst="rect">
            <a:avLst/>
          </a:prstGeom>
        </p:spPr>
      </p:pic>
      <p:sp>
        <p:nvSpPr>
          <p:cNvPr id="12" name="cap_151"/>
          <p:cNvSpPr txBox="1"/>
          <p:nvPr/>
        </p:nvSpPr>
        <p:spPr>
          <a:xfrm>
            <a:off x="5486400" y="5779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PMS, PMI, carrera y calibre</a:t>
            </a:r>
            <a:endParaRPr lang="en-US" sz="1100" dirty="0"/>
          </a:p>
        </p:txBody>
      </p:sp>
      <p:sp>
        <p:nvSpPr>
          <p:cNvPr id="13" name="fig_152"/>
          <p:cNvSpPr/>
          <p:nvPr/>
        </p:nvSpPr>
        <p:spPr>
          <a:xfrm>
            <a:off x="8595360" y="1463040"/>
            <a:ext cx="3047695" cy="475488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g_153" descr="/home/claude/img/u2_image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2192250"/>
            <a:ext cx="2828239" cy="2912413"/>
          </a:xfrm>
          <a:prstGeom prst="rect">
            <a:avLst/>
          </a:prstGeom>
        </p:spPr>
      </p:pic>
      <p:sp>
        <p:nvSpPr>
          <p:cNvPr id="15" name="cap_154"/>
          <p:cNvSpPr txBox="1"/>
          <p:nvPr/>
        </p:nvSpPr>
        <p:spPr>
          <a:xfrm>
            <a:off x="8686800" y="5779008"/>
            <a:ext cx="2864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Desplazamiento y espacio libre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Presión media efectiva (PME)</a:t>
            </a:r>
            <a:endParaRPr lang="en-US" sz="3000" dirty="0"/>
          </a:p>
        </p:txBody>
      </p:sp>
      <p:sp>
        <p:nvSpPr>
          <p:cNvPr id="3" name="kicker_15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CONCEPTO DE CICLO TERMODINÁMICO</a:t>
            </a:r>
            <a:endParaRPr lang="en-US" sz="1100" dirty="0"/>
          </a:p>
        </p:txBody>
      </p:sp>
      <p:sp>
        <p:nvSpPr>
          <p:cNvPr id="5" name="txt_156"/>
          <p:cNvSpPr txBox="1"/>
          <p:nvPr/>
        </p:nvSpPr>
        <p:spPr>
          <a:xfrm>
            <a:off x="548640" y="1463040"/>
            <a:ext cx="56692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ficticia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que, actuando sobre el pistón durante toda la carrera de potencia, produciría el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trabajo neto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el ciclo real.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Gráficamente, el área del rectángulo PME × (V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V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es igual al área encerrada por el ciclo.</a:t>
            </a:r>
            <a:endParaRPr lang="en-US" sz="1600" dirty="0"/>
          </a:p>
        </p:txBody>
      </p:sp>
      <p:sp>
        <p:nvSpPr>
          <p:cNvPr id="6" name="card_157"/>
          <p:cNvSpPr/>
          <p:nvPr/>
        </p:nvSpPr>
        <p:spPr>
          <a:xfrm>
            <a:off x="548640" y="3840480"/>
            <a:ext cx="5669280" cy="2377440"/>
          </a:xfrm>
          <a:prstGeom prst="roundRect">
            <a:avLst>
              <a:gd name="adj" fmla="val 3846"/>
            </a:avLst>
          </a:prstGeom>
          <a:solidFill>
            <a:srgbClr val="D9EEEE"/>
          </a:solidFill>
          <a:ln/>
        </p:spPr>
      </p:sp>
      <p:sp>
        <p:nvSpPr>
          <p:cNvPr id="7" name="txt_158"/>
          <p:cNvSpPr txBox="1"/>
          <p:nvPr/>
        </p:nvSpPr>
        <p:spPr>
          <a:xfrm>
            <a:off x="777240" y="4005072"/>
            <a:ext cx="5212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cuación 8"/>
              <p:cNvSpPr txBox="1"/>
              <p:nvPr/>
            </p:nvSpPr>
            <p:spPr>
              <a:xfrm>
                <a:off x="1895856" y="4631182"/>
                <a:ext cx="2974848" cy="3718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𝑛𝑒𝑡𝑜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PME</m:t>
                      </m:r>
                      <m:d>
                        <m:d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á</m:t>
                              </m:r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í</m:t>
                              </m:r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8" name="EQ_3806ab154cae_16_s1000_ctr" descr="/home/claude/u2/eq/eq_3806ab154cae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5856" y="4631182"/>
                <a:ext cx="2974848" cy="371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Ecuación 9"/>
              <p:cNvSpPr txBox="1"/>
              <p:nvPr/>
            </p:nvSpPr>
            <p:spPr>
              <a:xfrm>
                <a:off x="1546860" y="5218557"/>
                <a:ext cx="3672840" cy="6309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PME</m:t>
                      </m:r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𝑛𝑒𝑡𝑜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á</m:t>
                              </m:r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í</m:t>
                              </m:r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𝑛𝑒𝑡𝑜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1−1/</m:t>
                              </m:r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9" name="EQ_8ba931183ac9_17_s1000_ctr" descr="/home/claude/u2/eq/eq_8ba931183ac9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6860" y="5218557"/>
                <a:ext cx="3672840" cy="630936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fig_159"/>
          <p:cNvSpPr/>
          <p:nvPr/>
        </p:nvSpPr>
        <p:spPr>
          <a:xfrm>
            <a:off x="6583680" y="1463040"/>
            <a:ext cx="505937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g_160" descr="/home/claude/img/u2_image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454" y="1572768"/>
            <a:ext cx="3465828" cy="4151376"/>
          </a:xfrm>
          <a:prstGeom prst="rect">
            <a:avLst/>
          </a:prstGeom>
        </p:spPr>
      </p:pic>
      <p:sp>
        <p:nvSpPr>
          <p:cNvPr id="12" name="cap_161"/>
          <p:cNvSpPr txBox="1"/>
          <p:nvPr/>
        </p:nvSpPr>
        <p:spPr>
          <a:xfrm>
            <a:off x="6675120" y="5779008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área de W_neto equivale a la del rectángulo de altura PME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Representación del ciclo en el diagrama P–v</a:t>
            </a:r>
            <a:endParaRPr lang="en-US" sz="3000" dirty="0"/>
          </a:p>
        </p:txBody>
      </p:sp>
      <p:sp>
        <p:nvSpPr>
          <p:cNvPr id="3" name="kicker_16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CONCEPTO DE CICLO TERMODINÁMICO</a:t>
            </a:r>
            <a:endParaRPr lang="en-US" sz="1100" dirty="0"/>
          </a:p>
        </p:txBody>
      </p:sp>
      <p:sp>
        <p:nvSpPr>
          <p:cNvPr id="5" name="txt_163"/>
          <p:cNvSpPr txBox="1"/>
          <p:nvPr/>
        </p:nvSpPr>
        <p:spPr>
          <a:xfrm>
            <a:off x="5486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estado; cada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proceso.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bajo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línea de proceso es el trabajo de frontera de ese proceso.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encerrada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el ciclo es el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neto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 los ciclos de gas: isentrópico (adiabático reversible), a volumen constante, a presión constante e isotérmico (Unidad 1, apartado 1.8).</a:t>
            </a:r>
            <a:endParaRPr lang="en-US" sz="1600" dirty="0"/>
          </a:p>
        </p:txBody>
      </p:sp>
      <p:sp>
        <p:nvSpPr>
          <p:cNvPr id="6" name="fig_164"/>
          <p:cNvSpPr/>
          <p:nvPr/>
        </p:nvSpPr>
        <p:spPr>
          <a:xfrm>
            <a:off x="5029200" y="1463040"/>
            <a:ext cx="661385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g_165" descr="/home/claude/img/u2d_ej9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316289"/>
            <a:ext cx="6394399" cy="2664333"/>
          </a:xfrm>
          <a:prstGeom prst="rect">
            <a:avLst/>
          </a:prstGeom>
        </p:spPr>
      </p:pic>
      <p:sp>
        <p:nvSpPr>
          <p:cNvPr id="8" name="cap_166"/>
          <p:cNvSpPr txBox="1"/>
          <p:nvPr/>
        </p:nvSpPr>
        <p:spPr>
          <a:xfrm>
            <a:off x="5120640" y="5779008"/>
            <a:ext cx="6430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tres procesos del ejercicio 9-14 (elaboración propia)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9-14: planteamiento</a:t>
            </a:r>
            <a:endParaRPr lang="en-US" sz="3000" dirty="0"/>
          </a:p>
        </p:txBody>
      </p:sp>
      <p:sp>
        <p:nvSpPr>
          <p:cNvPr id="3" name="kicker_16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CONCEPTO DE CICLO TERMODINÁMICO</a:t>
            </a:r>
            <a:endParaRPr lang="en-US" sz="1100" dirty="0"/>
          </a:p>
        </p:txBody>
      </p:sp>
      <p:sp>
        <p:nvSpPr>
          <p:cNvPr id="5" name="card_168"/>
          <p:cNvSpPr/>
          <p:nvPr/>
        </p:nvSpPr>
        <p:spPr>
          <a:xfrm>
            <a:off x="548640" y="146304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F2F5F8"/>
          </a:solidFill>
          <a:ln/>
        </p:spPr>
      </p:sp>
      <p:sp>
        <p:nvSpPr>
          <p:cNvPr id="6" name="txt_169"/>
          <p:cNvSpPr txBox="1"/>
          <p:nvPr/>
        </p:nvSpPr>
        <p:spPr>
          <a:xfrm>
            <a:off x="77724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170"/>
          <p:cNvSpPr txBox="1"/>
          <p:nvPr/>
        </p:nvSpPr>
        <p:spPr>
          <a:xfrm>
            <a:off x="777240" y="2057400"/>
            <a:ext cx="466344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ciclo de aire estándar en un cilindro-émbolo consta de tres procesos: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Adición de calor a V = cte, de 100 kPa y 27 °C hasta 700 kPa.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Expansión isotérmica hasta V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7V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Rechazo de calor a P = cte hasta el estado inicial.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0,718; c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1,005; R = 0,287 kJ/kg·K; k = 1,4.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Determine: a) diagramas P-v y T-s; b) la relación de trabajo de retroceso; c) la eficiencia térmica.</a:t>
            </a:r>
            <a:endParaRPr lang="en-US" sz="1500" dirty="0"/>
          </a:p>
        </p:txBody>
      </p:sp>
      <p:sp>
        <p:nvSpPr>
          <p:cNvPr id="8" name="card_171"/>
          <p:cNvSpPr/>
          <p:nvPr/>
        </p:nvSpPr>
        <p:spPr>
          <a:xfrm>
            <a:off x="5989320" y="1463040"/>
            <a:ext cx="565373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9" name="txt_172"/>
          <p:cNvSpPr txBox="1"/>
          <p:nvPr/>
        </p:nvSpPr>
        <p:spPr>
          <a:xfrm>
            <a:off x="6217920" y="1645920"/>
            <a:ext cx="519653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p:sp>
        <p:nvSpPr>
          <p:cNvPr id="10" name="txt_173"/>
          <p:cNvSpPr txBox="1"/>
          <p:nvPr/>
        </p:nvSpPr>
        <p:spPr>
          <a:xfrm>
            <a:off x="6263640" y="2103120"/>
            <a:ext cx="510509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2 (v = cte):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cuación 11"/>
              <p:cNvSpPr txBox="1"/>
              <p:nvPr/>
            </p:nvSpPr>
            <p:spPr>
              <a:xfrm>
                <a:off x="6263640" y="2524760"/>
                <a:ext cx="3813048" cy="6309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C" sz="20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C" sz="20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=300 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C" sz="20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C" sz="20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700</m:t>
                              </m:r>
                            </m:num>
                            <m:den>
                              <m:r>
                                <a:rPr lang="es-EC" sz="20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</m:e>
                      </m:d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=2 100 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 xmlns="">
          <p:pic>
            <p:nvPicPr>
              <p:cNvPr id="11" name="EQ_058c07e28367_18_s1000_l" descr="/home/claude/u2/eq/eq_058c07e28367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63640" y="2524760"/>
                <a:ext cx="3813048" cy="630936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xt_174"/>
          <p:cNvSpPr txBox="1"/>
          <p:nvPr/>
        </p:nvSpPr>
        <p:spPr>
          <a:xfrm>
            <a:off x="6263640" y="3267456"/>
            <a:ext cx="510509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3 (T = cte, v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7v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cuación 13"/>
              <p:cNvSpPr txBox="1"/>
              <p:nvPr/>
            </p:nvSpPr>
            <p:spPr>
              <a:xfrm>
                <a:off x="6263640" y="3687064"/>
                <a:ext cx="3822153" cy="6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994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94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1994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1994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94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s-EC" sz="1994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994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94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C" sz="1994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994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94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C" sz="1994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s-EC" sz="1994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700 </m:t>
                          </m:r>
                          <m:r>
                            <m:rPr>
                              <m:sty m:val="p"/>
                            </m:rP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kPa</m:t>
                          </m:r>
                        </m:num>
                        <m:den>
                          <m: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s-EC" sz="1994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=100 </m:t>
                      </m:r>
                      <m:r>
                        <m:rPr>
                          <m:sty m:val="p"/>
                        </m:rPr>
                        <a:rPr lang="es-EC" sz="1994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kPa</m:t>
                      </m:r>
                      <m:r>
                        <a:rPr lang="es-EC" sz="1994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1994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94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C" sz="1994" dirty="0"/>
              </a:p>
            </p:txBody>
          </p:sp>
        </mc:Choice>
        <mc:Fallback xmlns="">
          <p:pic>
            <p:nvPicPr>
              <p:cNvPr id="13" name="EQ_bb663a993f7b_19_s997_l" descr="/home/claude/u2/eq/eq_bb663a993f7b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63640" y="3687064"/>
                <a:ext cx="3822153" cy="6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cuación 14"/>
              <p:cNvSpPr txBox="1"/>
              <p:nvPr/>
            </p:nvSpPr>
            <p:spPr>
              <a:xfrm>
                <a:off x="6263640" y="4433824"/>
                <a:ext cx="4090416" cy="6309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0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C" sz="20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(0,287)(300)</m:t>
                          </m:r>
                        </m:num>
                        <m:den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=0,861</m:t>
                      </m:r>
                      <m:sSup>
                        <m:sSupPr>
                          <m:ctrl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 xmlns="">
          <p:pic>
            <p:nvPicPr>
              <p:cNvPr id="14" name="EQ_103007eb1955_20_s1000_l" descr="/home/claude/u2/eq/eq_103007eb1955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3640" y="4433824"/>
                <a:ext cx="4090416" cy="630936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xt_175"/>
          <p:cNvSpPr txBox="1"/>
          <p:nvPr/>
        </p:nvSpPr>
        <p:spPr>
          <a:xfrm>
            <a:off x="6263640" y="5176520"/>
            <a:ext cx="510509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diagramas P–v y T–s del ciclo están en la diapositiva anterior.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9-14: trabajo y eficiencia</a:t>
            </a:r>
            <a:endParaRPr lang="en-US" sz="3000" dirty="0"/>
          </a:p>
        </p:txBody>
      </p:sp>
      <p:sp>
        <p:nvSpPr>
          <p:cNvPr id="3" name="kicker_176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CONCEPTO DE CICLO TERMODINÁMICO</a:t>
            </a:r>
            <a:endParaRPr lang="en-US" sz="1100" dirty="0"/>
          </a:p>
        </p:txBody>
      </p:sp>
      <p:sp>
        <p:nvSpPr>
          <p:cNvPr id="5" name="card_177"/>
          <p:cNvSpPr/>
          <p:nvPr/>
        </p:nvSpPr>
        <p:spPr>
          <a:xfrm>
            <a:off x="548640" y="1463040"/>
            <a:ext cx="4023360" cy="4754880"/>
          </a:xfrm>
          <a:prstGeom prst="roundRect">
            <a:avLst>
              <a:gd name="adj" fmla="val 2273"/>
            </a:avLst>
          </a:prstGeom>
          <a:solidFill>
            <a:srgbClr val="F2F5F8"/>
          </a:solidFill>
          <a:ln/>
        </p:spPr>
      </p:sp>
      <p:sp>
        <p:nvSpPr>
          <p:cNvPr id="6" name="txt_178"/>
          <p:cNvSpPr txBox="1"/>
          <p:nvPr/>
        </p:nvSpPr>
        <p:spPr>
          <a:xfrm>
            <a:off x="7772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179"/>
          <p:cNvSpPr txBox="1"/>
          <p:nvPr/>
        </p:nvSpPr>
        <p:spPr>
          <a:xfrm>
            <a:off x="777240" y="2057400"/>
            <a:ext cx="356616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unidad de masa de aire: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 = cte): no hay trabajo.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 = cte): q = w.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 = cte): trabajo de compresión.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de trabajo de retroceso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fracción del trabajo de expansión que se consume en la compresión.</a:t>
            </a:r>
            <a:endParaRPr lang="en-US" sz="1500" dirty="0"/>
          </a:p>
        </p:txBody>
      </p:sp>
      <p:sp>
        <p:nvSpPr>
          <p:cNvPr id="8" name="card_180"/>
          <p:cNvSpPr/>
          <p:nvPr/>
        </p:nvSpPr>
        <p:spPr>
          <a:xfrm>
            <a:off x="4892040" y="1463040"/>
            <a:ext cx="675101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9" name="txt_181"/>
          <p:cNvSpPr txBox="1"/>
          <p:nvPr/>
        </p:nvSpPr>
        <p:spPr>
          <a:xfrm>
            <a:off x="5120640" y="1645920"/>
            <a:ext cx="629381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cuación 10"/>
              <p:cNvSpPr txBox="1"/>
              <p:nvPr/>
            </p:nvSpPr>
            <p:spPr>
              <a:xfrm>
                <a:off x="5166360" y="2141982"/>
                <a:ext cx="5611368" cy="3413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)=0,718(2 100−300)=1 292,4 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 xmlns="">
          <p:pic>
            <p:nvPicPr>
              <p:cNvPr id="10" name="EQ_cca58c5c8d7a_21_s1000_l" descr="/home/claude/u2/eq/eq_cca58c5c8d7a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66360" y="2141982"/>
                <a:ext cx="5611368" cy="341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cuación 11"/>
              <p:cNvSpPr txBox="1"/>
              <p:nvPr/>
            </p:nvSpPr>
            <p:spPr>
              <a:xfrm>
                <a:off x="5166360" y="2664460"/>
                <a:ext cx="5873496" cy="5699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C" sz="20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f>
                        <m:f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C" sz="20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C" sz="20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=(0,287)(2 100)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7=1 172,8 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 xmlns="">
          <p:pic>
            <p:nvPicPr>
              <p:cNvPr id="11" name="EQ_d04650b2d8a2_22_s1000_l" descr="/home/claude/u2/eq/eq_d04650b2d8a2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66360" y="2664460"/>
                <a:ext cx="5873496" cy="5699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cuación 12"/>
              <p:cNvSpPr txBox="1"/>
              <p:nvPr/>
            </p:nvSpPr>
            <p:spPr>
              <a:xfrm>
                <a:off x="5166360" y="3415538"/>
                <a:ext cx="5498592" cy="3413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)=100(6,027−0,861)=516,6 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 xmlns="">
          <p:pic>
            <p:nvPicPr>
              <p:cNvPr id="12" name="EQ_526639debb36_23_s1000_l" descr="/home/claude/u2/eq/eq_526639debb36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66360" y="3415538"/>
                <a:ext cx="5498592" cy="341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cuación 13"/>
              <p:cNvSpPr txBox="1"/>
              <p:nvPr/>
            </p:nvSpPr>
            <p:spPr>
              <a:xfrm>
                <a:off x="5166360" y="3905504"/>
                <a:ext cx="2958523" cy="6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894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894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EC" sz="1894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𝑏𝑤</m:t>
                          </m:r>
                        </m:sub>
                      </m:sSub>
                      <m:r>
                        <a:rPr lang="es-EC" sz="1894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94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894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94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C" sz="1894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𝑐𝑜𝑚𝑝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894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94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C" sz="1894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sub>
                          </m:sSub>
                        </m:den>
                      </m:f>
                      <m:r>
                        <a:rPr lang="es-EC" sz="1894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94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894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516,6</m:t>
                          </m:r>
                        </m:num>
                        <m:den>
                          <m:r>
                            <a:rPr lang="es-EC" sz="1894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1 172,8</m:t>
                          </m:r>
                        </m:den>
                      </m:f>
                      <m:r>
                        <a:rPr lang="es-EC" sz="1894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=0,440</m:t>
                      </m:r>
                    </m:oMath>
                  </m:oMathPara>
                </a14:m>
                <a:endParaRPr lang="es-EC" sz="1894" dirty="0"/>
              </a:p>
            </p:txBody>
          </p:sp>
        </mc:Choice>
        <mc:Fallback xmlns="">
          <p:pic>
            <p:nvPicPr>
              <p:cNvPr id="13" name="EQ_a3b7cd46bd6d_24_s947_l" descr="/home/claude/u2/eq/eq_a3b7cd46bd6d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6360" y="3905504"/>
                <a:ext cx="2958523" cy="6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cuación 14"/>
              <p:cNvSpPr txBox="1"/>
              <p:nvPr/>
            </p:nvSpPr>
            <p:spPr>
              <a:xfrm>
                <a:off x="5166360" y="4650232"/>
                <a:ext cx="4289977" cy="6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956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56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1956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C" sz="1956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956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956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56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C" sz="1956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  <m:r>
                            <a:rPr lang="es-EC" sz="1956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C" sz="1956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56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C" sz="1956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956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56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s-EC" sz="1956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es-EC" sz="1956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C" sz="1956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56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s-EC" sz="1956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b>
                          </m:sSub>
                        </m:den>
                      </m:f>
                      <m:r>
                        <a:rPr lang="es-EC" sz="1956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956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956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656,2</m:t>
                          </m:r>
                        </m:num>
                        <m:den>
                          <m:r>
                            <a:rPr lang="es-EC" sz="1956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2 465,2</m:t>
                          </m:r>
                        </m:den>
                      </m:f>
                      <m:r>
                        <a:rPr lang="es-EC" sz="1956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=0,266→26,6%</m:t>
                      </m:r>
                    </m:oMath>
                  </m:oMathPara>
                </a14:m>
                <a:endParaRPr lang="es-EC" sz="1956" dirty="0"/>
              </a:p>
            </p:txBody>
          </p:sp>
        </mc:Choice>
        <mc:Fallback xmlns="">
          <p:pic>
            <p:nvPicPr>
              <p:cNvPr id="14" name="EQ_a456d40d3afa_25_s978_l" descr="/home/claude/u2/eq/eq_a456d40d3afa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66360" y="4650232"/>
                <a:ext cx="4289977" cy="635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Carnot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del ciclo de Carnot, límite teórico de eficiencia y refrigerador de Carnot.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2: Ciclos termodinámicos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del ciclo de Carnot</a:t>
            </a:r>
            <a:endParaRPr lang="en-US" sz="3000" dirty="0"/>
          </a:p>
        </p:txBody>
      </p:sp>
      <p:sp>
        <p:nvSpPr>
          <p:cNvPr id="3" name="kicker_18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CICLO DE CARNOT</a:t>
            </a:r>
            <a:endParaRPr lang="en-US" sz="1100" dirty="0"/>
          </a:p>
        </p:txBody>
      </p:sp>
      <p:sp>
        <p:nvSpPr>
          <p:cNvPr id="5" name="txt_183"/>
          <p:cNvSpPr txBox="1"/>
          <p:nvPr/>
        </p:nvSpPr>
        <p:spPr>
          <a:xfrm>
            <a:off x="548640" y="1463040"/>
            <a:ext cx="42062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procesos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totalmente reversibles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Adición de calor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isotérmica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Expansión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isentrópica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Rechazo de calor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isotérmico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Compresión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isentrópica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P–v y en T–s, el área encerrada es el trabajo neto.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imposible de construir en la práctica: la transferencia de calor isotérmica exige procesos infinitamente lentos.</a:t>
            </a:r>
            <a:endParaRPr lang="en-US" sz="1500" dirty="0"/>
          </a:p>
        </p:txBody>
      </p:sp>
      <p:sp>
        <p:nvSpPr>
          <p:cNvPr id="6" name="fig_184"/>
          <p:cNvSpPr/>
          <p:nvPr/>
        </p:nvSpPr>
        <p:spPr>
          <a:xfrm>
            <a:off x="5029200" y="1463040"/>
            <a:ext cx="661385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g_185" descr="/home/claude/img/u2d_carn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316289"/>
            <a:ext cx="6394399" cy="2664333"/>
          </a:xfrm>
          <a:prstGeom prst="rect">
            <a:avLst/>
          </a:prstGeom>
        </p:spPr>
      </p:pic>
      <p:sp>
        <p:nvSpPr>
          <p:cNvPr id="8" name="cap_186"/>
          <p:cNvSpPr txBox="1"/>
          <p:nvPr/>
        </p:nvSpPr>
        <p:spPr>
          <a:xfrm>
            <a:off x="5120640" y="5779008"/>
            <a:ext cx="6430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 (gas ideal entre T_H y T_L)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Carnot como límite teórico de eficiencia</a:t>
            </a:r>
            <a:endParaRPr lang="en-US" sz="3000" dirty="0"/>
          </a:p>
        </p:txBody>
      </p:sp>
      <p:sp>
        <p:nvSpPr>
          <p:cNvPr id="3" name="kicker_18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CICLO DE CARNOT</a:t>
            </a:r>
            <a:endParaRPr lang="en-US" sz="1100" dirty="0"/>
          </a:p>
        </p:txBody>
      </p:sp>
      <p:sp>
        <p:nvSpPr>
          <p:cNvPr id="5" name="card_188"/>
          <p:cNvSpPr/>
          <p:nvPr/>
        </p:nvSpPr>
        <p:spPr>
          <a:xfrm>
            <a:off x="548640" y="146304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D9EEEE"/>
          </a:solidFill>
          <a:ln/>
        </p:spPr>
      </p:sp>
      <p:sp>
        <p:nvSpPr>
          <p:cNvPr id="6" name="txt_189"/>
          <p:cNvSpPr txBox="1"/>
          <p:nvPr/>
        </p:nvSpPr>
        <p:spPr>
          <a:xfrm>
            <a:off x="777240" y="1627632"/>
            <a:ext cx="4663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 CARNOT (temperaturas en K)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cuación 7"/>
              <p:cNvSpPr txBox="1"/>
              <p:nvPr/>
            </p:nvSpPr>
            <p:spPr>
              <a:xfrm>
                <a:off x="1869948" y="2215896"/>
                <a:ext cx="2478024" cy="91744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3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3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3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𝐶𝑎𝑟𝑛𝑜𝑡</m:t>
                          </m:r>
                        </m:sub>
                      </m:sSub>
                      <m:r>
                        <a:rPr lang="es-EC" sz="3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3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3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3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3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3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3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3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3000" dirty="0"/>
              </a:p>
            </p:txBody>
          </p:sp>
        </mc:Choice>
        <mc:Fallback xmlns="">
          <p:pic>
            <p:nvPicPr>
              <p:cNvPr id="7" name="EQ_9638f76d1a4b_26_s1000_ctr" descr="/home/claude/u2/eq/eq_9638f76d1a4b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69948" y="2215896"/>
                <a:ext cx="2478024" cy="917448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xt_190"/>
          <p:cNvSpPr txBox="1"/>
          <p:nvPr/>
        </p:nvSpPr>
        <p:spPr>
          <a:xfrm>
            <a:off x="548640" y="3703320"/>
            <a:ext cx="512064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eficiencia posible entre T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T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si se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 T</a:t>
            </a:r>
            <a:r>
              <a:rPr lang="en-US" sz="1600" b="1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se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</a:t>
            </a:r>
            <a:r>
              <a:rPr lang="en-US" sz="1600" b="1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máquina real la alcanza por las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irreversibilidades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card_191"/>
          <p:cNvSpPr/>
          <p:nvPr/>
        </p:nvSpPr>
        <p:spPr>
          <a:xfrm>
            <a:off x="6035040" y="1463040"/>
            <a:ext cx="5608015" cy="731520"/>
          </a:xfrm>
          <a:prstGeom prst="roundRect">
            <a:avLst>
              <a:gd name="adj" fmla="val 12500"/>
            </a:avLst>
          </a:prstGeom>
          <a:solidFill>
            <a:srgbClr val="E4572E"/>
          </a:solidFill>
          <a:ln/>
        </p:spPr>
      </p:sp>
      <p:sp>
        <p:nvSpPr>
          <p:cNvPr id="10" name="txt_192"/>
          <p:cNvSpPr txBox="1"/>
          <p:nvPr/>
        </p:nvSpPr>
        <p:spPr>
          <a:xfrm>
            <a:off x="6035040" y="1463040"/>
            <a:ext cx="5608015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Fuente de alta temperatura, T</a:t>
            </a:r>
            <a:r>
              <a:rPr lang="en-US" sz="1500" b="1" baseline="-40000" dirty="0">
                <a:solidFill>
                  <a:srgbClr val="FFFFFF"/>
                </a:solidFill>
              </a:rPr>
              <a:t>H</a:t>
            </a:r>
            <a:endParaRPr lang="en-US" sz="1500" dirty="0"/>
          </a:p>
        </p:txBody>
      </p:sp>
      <p:sp>
        <p:nvSpPr>
          <p:cNvPr id="11" name="card_193"/>
          <p:cNvSpPr/>
          <p:nvPr/>
        </p:nvSpPr>
        <p:spPr>
          <a:xfrm>
            <a:off x="6035040" y="5486400"/>
            <a:ext cx="5608015" cy="731520"/>
          </a:xfrm>
          <a:prstGeom prst="roundRect">
            <a:avLst>
              <a:gd name="adj" fmla="val 12500"/>
            </a:avLst>
          </a:prstGeom>
          <a:solidFill>
            <a:srgbClr val="0E7C7B"/>
          </a:solidFill>
          <a:ln/>
        </p:spPr>
      </p:sp>
      <p:sp>
        <p:nvSpPr>
          <p:cNvPr id="12" name="txt_194"/>
          <p:cNvSpPr txBox="1"/>
          <p:nvPr/>
        </p:nvSpPr>
        <p:spPr>
          <a:xfrm>
            <a:off x="6035040" y="5486400"/>
            <a:ext cx="5608015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Sumidero de baja temperatura, T</a:t>
            </a:r>
            <a:r>
              <a:rPr lang="en-US" sz="1500" b="1" baseline="-40000" dirty="0">
                <a:solidFill>
                  <a:srgbClr val="FFFFFF"/>
                </a:solidFill>
              </a:rPr>
              <a:t>L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583680" y="3291840"/>
            <a:ext cx="2194560" cy="1097280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14" name="txt_195"/>
          <p:cNvSpPr txBox="1"/>
          <p:nvPr/>
        </p:nvSpPr>
        <p:spPr>
          <a:xfrm>
            <a:off x="658368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Carnot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680960" y="2194560"/>
            <a:ext cx="0" cy="109728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7680960" y="4389120"/>
            <a:ext cx="0" cy="109728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8778240" y="3840480"/>
            <a:ext cx="1188720" cy="0"/>
          </a:xfrm>
          <a:prstGeom prst="line">
            <a:avLst/>
          </a:prstGeom>
          <a:noFill/>
          <a:ln w="38100">
            <a:solidFill>
              <a:srgbClr val="15233F"/>
            </a:solidFill>
            <a:prstDash val="solid"/>
            <a:tailEnd type="triangle"/>
          </a:ln>
        </p:spPr>
      </p:sp>
      <p:sp>
        <p:nvSpPr>
          <p:cNvPr id="18" name="txt_196"/>
          <p:cNvSpPr txBox="1"/>
          <p:nvPr/>
        </p:nvSpPr>
        <p:spPr>
          <a:xfrm>
            <a:off x="7818120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4572E"/>
                </a:solidFill>
              </a:rPr>
              <a:t>Q</a:t>
            </a:r>
            <a:r>
              <a:rPr lang="en-US" sz="1800" b="1" baseline="-40000" dirty="0">
                <a:solidFill>
                  <a:srgbClr val="E4572E"/>
                </a:solidFill>
              </a:rPr>
              <a:t>H</a:t>
            </a:r>
            <a:endParaRPr lang="en-US" sz="1800" dirty="0"/>
          </a:p>
        </p:txBody>
      </p:sp>
      <p:sp>
        <p:nvSpPr>
          <p:cNvPr id="19" name="txt_197"/>
          <p:cNvSpPr txBox="1"/>
          <p:nvPr/>
        </p:nvSpPr>
        <p:spPr>
          <a:xfrm>
            <a:off x="7818120" y="4480560"/>
            <a:ext cx="1097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C7B"/>
                </a:solidFill>
              </a:rPr>
              <a:t>Q</a:t>
            </a:r>
            <a:r>
              <a:rPr lang="en-US" sz="1800" b="1" baseline="-40000" dirty="0">
                <a:solidFill>
                  <a:srgbClr val="0E7C7B"/>
                </a:solidFill>
              </a:rPr>
              <a:t>L</a:t>
            </a:r>
            <a:endParaRPr lang="en-US" sz="1800" dirty="0"/>
          </a:p>
        </p:txBody>
      </p:sp>
      <p:sp>
        <p:nvSpPr>
          <p:cNvPr id="20" name="txt_198"/>
          <p:cNvSpPr txBox="1"/>
          <p:nvPr/>
        </p:nvSpPr>
        <p:spPr>
          <a:xfrm>
            <a:off x="8869680" y="338328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233F"/>
                </a:solidFill>
              </a:rPr>
              <a:t>W</a:t>
            </a:r>
            <a:r>
              <a:rPr lang="en-US" sz="1800" b="1" baseline="-40000" dirty="0">
                <a:solidFill>
                  <a:srgbClr val="15233F"/>
                </a:solidFill>
              </a:rPr>
              <a:t>neto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la máquina del inventor</a:t>
            </a:r>
            <a:endParaRPr lang="en-US" sz="3000" dirty="0"/>
          </a:p>
        </p:txBody>
      </p:sp>
      <p:sp>
        <p:nvSpPr>
          <p:cNvPr id="3" name="kicker_199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CICLO DE CARNOT</a:t>
            </a:r>
            <a:endParaRPr lang="en-US" sz="1100" dirty="0"/>
          </a:p>
        </p:txBody>
      </p:sp>
      <p:sp>
        <p:nvSpPr>
          <p:cNvPr id="5" name="card_200"/>
          <p:cNvSpPr/>
          <p:nvPr/>
        </p:nvSpPr>
        <p:spPr>
          <a:xfrm>
            <a:off x="548640" y="1463040"/>
            <a:ext cx="4572000" cy="4754880"/>
          </a:xfrm>
          <a:prstGeom prst="roundRect">
            <a:avLst>
              <a:gd name="adj" fmla="val 2000"/>
            </a:avLst>
          </a:prstGeom>
          <a:solidFill>
            <a:srgbClr val="F2F5F8"/>
          </a:solidFill>
          <a:ln/>
        </p:spPr>
      </p:sp>
      <p:sp>
        <p:nvSpPr>
          <p:cNvPr id="6" name="txt_201"/>
          <p:cNvSpPr txBox="1"/>
          <p:nvPr/>
        </p:nvSpPr>
        <p:spPr>
          <a:xfrm>
            <a:off x="77724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202"/>
          <p:cNvSpPr txBox="1"/>
          <p:nvPr/>
        </p:nvSpPr>
        <p:spPr>
          <a:xfrm>
            <a:off x="777240" y="2057400"/>
            <a:ext cx="411480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inventor afirma que su máquina produce un trabajo neto de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 kJ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un consumo de calor de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kJ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calor de gases calientes a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lo descarga a la atmósfera a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K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podría decirle sobre su máquina?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Lizarraga et al. (2011), problema 8.8.</a:t>
            </a:r>
            <a:endParaRPr lang="en-US" sz="1500" dirty="0"/>
          </a:p>
        </p:txBody>
      </p:sp>
      <p:sp>
        <p:nvSpPr>
          <p:cNvPr id="8" name="card_203"/>
          <p:cNvSpPr/>
          <p:nvPr/>
        </p:nvSpPr>
        <p:spPr>
          <a:xfrm>
            <a:off x="5440680" y="1463040"/>
            <a:ext cx="620237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9" name="txt_204"/>
          <p:cNvSpPr txBox="1"/>
          <p:nvPr/>
        </p:nvSpPr>
        <p:spPr>
          <a:xfrm>
            <a:off x="5669280" y="1645920"/>
            <a:ext cx="574517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p:sp>
        <p:nvSpPr>
          <p:cNvPr id="10" name="txt_205"/>
          <p:cNvSpPr txBox="1"/>
          <p:nvPr/>
        </p:nvSpPr>
        <p:spPr>
          <a:xfrm>
            <a:off x="5715000" y="2103120"/>
            <a:ext cx="565373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que declara el inventor: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cuación 11"/>
              <p:cNvSpPr txBox="1"/>
              <p:nvPr/>
            </p:nvSpPr>
            <p:spPr>
              <a:xfrm>
                <a:off x="5715000" y="2522728"/>
                <a:ext cx="2971006" cy="603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8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8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18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C" sz="18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88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8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EC" sz="188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s-EC" sz="18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s-EC" sz="18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81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881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410</m:t>
                          </m:r>
                        </m:num>
                        <m:den>
                          <m:r>
                            <a:rPr lang="es-EC" sz="1881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1 000</m:t>
                          </m:r>
                        </m:den>
                      </m:f>
                      <m:r>
                        <a:rPr lang="es-EC" sz="18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=0,41→41%</m:t>
                      </m:r>
                    </m:oMath>
                  </m:oMathPara>
                </a14:m>
                <a:endParaRPr lang="es-EC" sz="1881" dirty="0"/>
              </a:p>
            </p:txBody>
          </p:sp>
        </mc:Choice>
        <mc:Fallback xmlns="">
          <p:pic>
            <p:nvPicPr>
              <p:cNvPr id="11" name="EQ_7b5b1e911ea7_27_s990_l" descr="/home/claude/u2/eq/eq_7b5b1e911ea7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5000" y="2522728"/>
                <a:ext cx="2971006" cy="60325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xt_206"/>
          <p:cNvSpPr txBox="1"/>
          <p:nvPr/>
        </p:nvSpPr>
        <p:spPr>
          <a:xfrm>
            <a:off x="5715000" y="3235706"/>
            <a:ext cx="565373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eficiencia posible entre 500 K y 300 K: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cuación 13"/>
              <p:cNvSpPr txBox="1"/>
              <p:nvPr/>
            </p:nvSpPr>
            <p:spPr>
              <a:xfrm>
                <a:off x="5715000" y="3656711"/>
                <a:ext cx="4044696" cy="6004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𝐶𝑎𝑟𝑛𝑜𝑡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300</m:t>
                          </m:r>
                        </m:num>
                        <m:den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=0,40→40%</m:t>
                      </m:r>
                    </m:oMath>
                  </m:oMathPara>
                </a14:m>
                <a:endParaRPr lang="es-EC" sz="1900" dirty="0"/>
              </a:p>
            </p:txBody>
          </p:sp>
        </mc:Choice>
        <mc:Fallback xmlns="">
          <p:pic>
            <p:nvPicPr>
              <p:cNvPr id="13" name="EQ_a6c698433241_28_s1000_l" descr="/home/claude/u2/eq/eq_a6c698433241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5000" y="3656711"/>
                <a:ext cx="4044696" cy="600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cuación 14"/>
              <p:cNvSpPr txBox="1"/>
              <p:nvPr/>
            </p:nvSpPr>
            <p:spPr>
              <a:xfrm>
                <a:off x="5715000" y="4404297"/>
                <a:ext cx="4770120" cy="3261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𝐶𝑎𝑟𝑛𝑜𝑡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s-EC" sz="19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=0,40(1 000)=400 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&lt;410 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</m:oMath>
                  </m:oMathPara>
                </a14:m>
                <a:endParaRPr lang="es-EC" sz="1900" dirty="0"/>
              </a:p>
            </p:txBody>
          </p:sp>
        </mc:Choice>
        <mc:Fallback xmlns="">
          <p:pic>
            <p:nvPicPr>
              <p:cNvPr id="14" name="EQ_c745c6fd9a35_29_s1000_l" descr="/home/claude/u2/eq/eq_c745c6fd9a35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5000" y="4404297"/>
                <a:ext cx="4770120" cy="326136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xt_207"/>
          <p:cNvSpPr txBox="1"/>
          <p:nvPr/>
        </p:nvSpPr>
        <p:spPr>
          <a:xfrm>
            <a:off x="5715000" y="4876165"/>
            <a:ext cx="565373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máquina no puede existir: supera el límite de Carnot.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Refrigerador de Carnot</a:t>
            </a:r>
            <a:endParaRPr lang="en-US" sz="3000" dirty="0"/>
          </a:p>
        </p:txBody>
      </p:sp>
      <p:sp>
        <p:nvSpPr>
          <p:cNvPr id="3" name="kicker_208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CICLO DE CARNOT</a:t>
            </a:r>
            <a:endParaRPr lang="en-US" sz="1100" dirty="0"/>
          </a:p>
        </p:txBody>
      </p:sp>
      <p:sp>
        <p:nvSpPr>
          <p:cNvPr id="5" name="txt_209"/>
          <p:cNvSpPr txBox="1"/>
          <p:nvPr/>
        </p:nvSpPr>
        <p:spPr>
          <a:xfrm>
            <a:off x="548640" y="1463040"/>
            <a:ext cx="54864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ciclo de Carnot se invierte, se obtiene el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refrigerador de Carnot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consume trabajo para extraer calor Q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zona fría y entregar Q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 zona caliente.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desempeño se mide con el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desempeño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(COP), que puede ser mayor que 1.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Aplicación: aire acondicionado del vehículo, cámaras frigoríficas.</a:t>
            </a:r>
            <a:endParaRPr lang="en-US" sz="1600" dirty="0"/>
          </a:p>
        </p:txBody>
      </p:sp>
      <p:sp>
        <p:nvSpPr>
          <p:cNvPr id="6" name="card_210"/>
          <p:cNvSpPr/>
          <p:nvPr/>
        </p:nvSpPr>
        <p:spPr>
          <a:xfrm>
            <a:off x="548640" y="429768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D9EEEE"/>
          </a:solidFill>
          <a:ln/>
        </p:spPr>
      </p:sp>
      <p:sp>
        <p:nvSpPr>
          <p:cNvPr id="7" name="txt_211"/>
          <p:cNvSpPr txBox="1"/>
          <p:nvPr/>
        </p:nvSpPr>
        <p:spPr>
          <a:xfrm>
            <a:off x="777240" y="4462272"/>
            <a:ext cx="5029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DESEMPEÑO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cuación 8"/>
              <p:cNvSpPr txBox="1"/>
              <p:nvPr/>
            </p:nvSpPr>
            <p:spPr>
              <a:xfrm>
                <a:off x="2553474" y="4855210"/>
                <a:ext cx="1476732" cy="5397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169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C" sz="169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COP</m:t>
                          </m:r>
                        </m:e>
                        <m:sub>
                          <m:r>
                            <a:rPr lang="es-EC" sz="1692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s-EC" sz="169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692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692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692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EC" sz="1692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692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692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s-EC" sz="1692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𝑒𝑛𝑡𝑟𝑎𝑑𝑎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1692" dirty="0"/>
              </a:p>
            </p:txBody>
          </p:sp>
        </mc:Choice>
        <mc:Fallback xmlns="">
          <p:pic>
            <p:nvPicPr>
              <p:cNvPr id="8" name="EQ_bf821f2b9330_30_s995_ctr" descr="/home/claude/u2/eq/eq_bf821f2b9330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3474" y="4855210"/>
                <a:ext cx="1476732" cy="5397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Ecuación 9"/>
              <p:cNvSpPr txBox="1"/>
              <p:nvPr/>
            </p:nvSpPr>
            <p:spPr>
              <a:xfrm>
                <a:off x="2287524" y="5532247"/>
                <a:ext cx="2008632" cy="5394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17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C" sz="17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COP</m:t>
                          </m:r>
                        </m:e>
                        <m:sub>
                          <m:r>
                            <a:rPr lang="es-EC" sz="17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s-EC" sz="17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C" sz="17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𝐶𝑎𝑟𝑛𝑜𝑡</m:t>
                          </m:r>
                        </m:sub>
                      </m:sSub>
                      <m:r>
                        <a:rPr lang="es-EC" sz="17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7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7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7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7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7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7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7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s-EC" sz="17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C" sz="17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7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7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1700" dirty="0"/>
              </a:p>
            </p:txBody>
          </p:sp>
        </mc:Choice>
        <mc:Fallback xmlns="">
          <p:pic>
            <p:nvPicPr>
              <p:cNvPr id="9" name="EQ_5aa7604e99ae_31_s1000_ctr" descr="/home/claude/u2/eq/eq_5aa7604e99ae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7524" y="5532247"/>
                <a:ext cx="2008632" cy="539496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ard_212"/>
          <p:cNvSpPr/>
          <p:nvPr/>
        </p:nvSpPr>
        <p:spPr>
          <a:xfrm>
            <a:off x="6309360" y="1463040"/>
            <a:ext cx="5333695" cy="731520"/>
          </a:xfrm>
          <a:prstGeom prst="roundRect">
            <a:avLst>
              <a:gd name="adj" fmla="val 12500"/>
            </a:avLst>
          </a:prstGeom>
          <a:solidFill>
            <a:srgbClr val="E4572E"/>
          </a:solidFill>
          <a:ln/>
        </p:spPr>
      </p:sp>
      <p:sp>
        <p:nvSpPr>
          <p:cNvPr id="11" name="txt_213"/>
          <p:cNvSpPr txBox="1"/>
          <p:nvPr/>
        </p:nvSpPr>
        <p:spPr>
          <a:xfrm>
            <a:off x="6309360" y="1463040"/>
            <a:ext cx="5333695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Ambiente caliente, T</a:t>
            </a:r>
            <a:r>
              <a:rPr lang="en-US" sz="1500" b="1" baseline="-40000" dirty="0">
                <a:solidFill>
                  <a:srgbClr val="FFFFFF"/>
                </a:solidFill>
              </a:rPr>
              <a:t>H</a:t>
            </a:r>
            <a:endParaRPr lang="en-US" sz="1500" dirty="0"/>
          </a:p>
        </p:txBody>
      </p:sp>
      <p:sp>
        <p:nvSpPr>
          <p:cNvPr id="12" name="card_214"/>
          <p:cNvSpPr/>
          <p:nvPr/>
        </p:nvSpPr>
        <p:spPr>
          <a:xfrm>
            <a:off x="6309360" y="5486400"/>
            <a:ext cx="5333695" cy="731520"/>
          </a:xfrm>
          <a:prstGeom prst="roundRect">
            <a:avLst>
              <a:gd name="adj" fmla="val 12500"/>
            </a:avLst>
          </a:prstGeom>
          <a:solidFill>
            <a:srgbClr val="0E7C7B"/>
          </a:solidFill>
          <a:ln/>
        </p:spPr>
      </p:sp>
      <p:sp>
        <p:nvSpPr>
          <p:cNvPr id="13" name="txt_215"/>
          <p:cNvSpPr txBox="1"/>
          <p:nvPr/>
        </p:nvSpPr>
        <p:spPr>
          <a:xfrm>
            <a:off x="6309360" y="5486400"/>
            <a:ext cx="5333695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Espacio refrigerado, T</a:t>
            </a:r>
            <a:r>
              <a:rPr lang="en-US" sz="1500" b="1" baseline="-40000" dirty="0">
                <a:solidFill>
                  <a:srgbClr val="FFFFFF"/>
                </a:solidFill>
              </a:rPr>
              <a:t>L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858000" y="3291840"/>
            <a:ext cx="2194560" cy="1097280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15" name="txt_216"/>
          <p:cNvSpPr txBox="1"/>
          <p:nvPr/>
        </p:nvSpPr>
        <p:spPr>
          <a:xfrm>
            <a:off x="685800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Refrigerador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 flipV="1">
            <a:off x="7955280" y="2194560"/>
            <a:ext cx="0" cy="109728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 flipV="1">
            <a:off x="7955280" y="4389120"/>
            <a:ext cx="0" cy="109728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 flipH="1">
            <a:off x="9052560" y="3840480"/>
            <a:ext cx="1188720" cy="0"/>
          </a:xfrm>
          <a:prstGeom prst="line">
            <a:avLst/>
          </a:prstGeom>
          <a:noFill/>
          <a:ln w="38100">
            <a:solidFill>
              <a:srgbClr val="15233F"/>
            </a:solidFill>
            <a:prstDash val="solid"/>
            <a:tailEnd type="triangle"/>
          </a:ln>
        </p:spPr>
      </p:sp>
      <p:sp>
        <p:nvSpPr>
          <p:cNvPr id="19" name="txt_217"/>
          <p:cNvSpPr txBox="1"/>
          <p:nvPr/>
        </p:nvSpPr>
        <p:spPr>
          <a:xfrm>
            <a:off x="8092440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4572E"/>
                </a:solidFill>
              </a:rPr>
              <a:t>Q</a:t>
            </a:r>
            <a:r>
              <a:rPr lang="en-US" sz="1800" b="1" baseline="-40000" dirty="0">
                <a:solidFill>
                  <a:srgbClr val="E4572E"/>
                </a:solidFill>
              </a:rPr>
              <a:t>H</a:t>
            </a:r>
            <a:endParaRPr lang="en-US" sz="1800" dirty="0"/>
          </a:p>
        </p:txBody>
      </p:sp>
      <p:sp>
        <p:nvSpPr>
          <p:cNvPr id="20" name="txt_218"/>
          <p:cNvSpPr txBox="1"/>
          <p:nvPr/>
        </p:nvSpPr>
        <p:spPr>
          <a:xfrm>
            <a:off x="8092440" y="4480560"/>
            <a:ext cx="1097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C7B"/>
                </a:solidFill>
              </a:rPr>
              <a:t>Q</a:t>
            </a:r>
            <a:r>
              <a:rPr lang="en-US" sz="1800" b="1" baseline="-40000" dirty="0">
                <a:solidFill>
                  <a:srgbClr val="0E7C7B"/>
                </a:solidFill>
              </a:rPr>
              <a:t>L</a:t>
            </a:r>
            <a:endParaRPr lang="en-US" sz="1800" dirty="0"/>
          </a:p>
        </p:txBody>
      </p:sp>
      <p:sp>
        <p:nvSpPr>
          <p:cNvPr id="21" name="txt_219"/>
          <p:cNvSpPr txBox="1"/>
          <p:nvPr/>
        </p:nvSpPr>
        <p:spPr>
          <a:xfrm>
            <a:off x="9144000" y="3383280"/>
            <a:ext cx="1463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233F"/>
                </a:solidFill>
              </a:rPr>
              <a:t>W</a:t>
            </a:r>
            <a:r>
              <a:rPr lang="en-US" sz="1800" b="1" baseline="-40000" dirty="0">
                <a:solidFill>
                  <a:srgbClr val="15233F"/>
                </a:solidFill>
              </a:rPr>
              <a:t>entrada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refrigerador de Carnot para hacer hielo</a:t>
            </a:r>
            <a:endParaRPr lang="en-US" sz="3000" dirty="0"/>
          </a:p>
        </p:txBody>
      </p:sp>
      <p:sp>
        <p:nvSpPr>
          <p:cNvPr id="3" name="kicker_220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CICLO DE CARNOT</a:t>
            </a:r>
            <a:endParaRPr lang="en-US" sz="1100" dirty="0"/>
          </a:p>
        </p:txBody>
      </p:sp>
      <p:sp>
        <p:nvSpPr>
          <p:cNvPr id="5" name="card_221"/>
          <p:cNvSpPr/>
          <p:nvPr/>
        </p:nvSpPr>
        <p:spPr>
          <a:xfrm>
            <a:off x="548640" y="1463040"/>
            <a:ext cx="4572000" cy="4754880"/>
          </a:xfrm>
          <a:prstGeom prst="roundRect">
            <a:avLst>
              <a:gd name="adj" fmla="val 2000"/>
            </a:avLst>
          </a:prstGeom>
          <a:solidFill>
            <a:srgbClr val="F2F5F8"/>
          </a:solidFill>
          <a:ln/>
        </p:spPr>
      </p:sp>
      <p:sp>
        <p:nvSpPr>
          <p:cNvPr id="6" name="txt_222"/>
          <p:cNvSpPr txBox="1"/>
          <p:nvPr/>
        </p:nvSpPr>
        <p:spPr>
          <a:xfrm>
            <a:off x="77724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223"/>
          <p:cNvSpPr txBox="1"/>
          <p:nvPr/>
        </p:nvSpPr>
        <p:spPr>
          <a:xfrm>
            <a:off x="777240" y="2057400"/>
            <a:ext cx="411480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quieren producir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 de hielo al día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una máquina reversible.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la potencia necesaria para pasar agua líquida a 0 °C a hielo a 0 °C.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calor latente de fusión c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335 kJ/kg; ambiente 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27 °C.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Lizarraga et al. (2011), problema 8.7. El enunciado del libro dice 355 kJ/kg, pero la solución usa 335 kJ/kg, que es el valor real.</a:t>
            </a:r>
            <a:endParaRPr lang="en-US" sz="1500" dirty="0"/>
          </a:p>
        </p:txBody>
      </p:sp>
      <p:sp>
        <p:nvSpPr>
          <p:cNvPr id="8" name="card_224"/>
          <p:cNvSpPr/>
          <p:nvPr/>
        </p:nvSpPr>
        <p:spPr>
          <a:xfrm>
            <a:off x="5440680" y="1463040"/>
            <a:ext cx="620237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9" name="txt_225"/>
          <p:cNvSpPr txBox="1"/>
          <p:nvPr/>
        </p:nvSpPr>
        <p:spPr>
          <a:xfrm>
            <a:off x="5669280" y="1645920"/>
            <a:ext cx="574517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cuación 10"/>
              <p:cNvSpPr txBox="1"/>
              <p:nvPr/>
            </p:nvSpPr>
            <p:spPr>
              <a:xfrm>
                <a:off x="5715000" y="2120392"/>
                <a:ext cx="2983992" cy="6004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̇"/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10 000 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kg</m:t>
                          </m:r>
                        </m:num>
                        <m:den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86 400 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=0,1157 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 xmlns="">
          <p:pic>
            <p:nvPicPr>
              <p:cNvPr id="10" name="EQ_724092f0ac2c_32_s1000_l" descr="/home/claude/u2/eq/eq_724092f0ac2c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5000" y="2120392"/>
                <a:ext cx="2983992" cy="600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cuación 11"/>
              <p:cNvSpPr txBox="1"/>
              <p:nvPr/>
            </p:nvSpPr>
            <p:spPr>
              <a:xfrm>
                <a:off x="5715000" y="2879090"/>
                <a:ext cx="3813048" cy="35661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2000" b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=0,1157(335)=38,77 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kW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 xmlns="">
          <p:pic>
            <p:nvPicPr>
              <p:cNvPr id="11" name="EQ_2f8c8f187c40_33_s1000_l" descr="/home/claude/u2/eq/eq_2f8c8f187c40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5000" y="2879090"/>
                <a:ext cx="3813048" cy="3566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cuación 12"/>
              <p:cNvSpPr txBox="1"/>
              <p:nvPr/>
            </p:nvSpPr>
            <p:spPr>
              <a:xfrm>
                <a:off x="5715000" y="3378708"/>
                <a:ext cx="3962400" cy="6309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COP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273</m:t>
                          </m:r>
                        </m:num>
                        <m:den>
                          <m: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300−273</m:t>
                          </m:r>
                        </m:den>
                      </m:f>
                      <m: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=10,11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 xmlns="">
          <p:pic>
            <p:nvPicPr>
              <p:cNvPr id="12" name="EQ_27d9a5e865c1_34_s1000_l" descr="/home/claude/u2/eq/eq_27d9a5e865c1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5000" y="3378708"/>
                <a:ext cx="3962400" cy="630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cuación 13"/>
              <p:cNvSpPr txBox="1"/>
              <p:nvPr/>
            </p:nvSpPr>
            <p:spPr>
              <a:xfrm>
                <a:off x="5715000" y="4121404"/>
                <a:ext cx="2966156" cy="6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̇"/>
                          <m:ctrlPr>
                            <a:rPr lang="es-EC" sz="1852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C" sz="1852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acc>
                      <m:r>
                        <a:rPr lang="es-EC" sz="1852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52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852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s-EC" sz="1852" b="0" i="1" dirty="0">
                                      <a:solidFill>
                                        <a:srgbClr val="E4572E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C" sz="1852" b="0" i="1" dirty="0">
                                      <a:solidFill>
                                        <a:srgbClr val="E4572E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C" sz="1852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852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C" sz="1852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COP</m:t>
                              </m:r>
                            </m:e>
                            <m:sub>
                              <m:r>
                                <a:rPr lang="es-EC" sz="1852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  <m:r>
                        <a:rPr lang="es-EC" sz="1852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52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852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38,77</m:t>
                          </m:r>
                        </m:num>
                        <m:den>
                          <m:r>
                            <a:rPr lang="es-EC" sz="1852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10,11</m:t>
                          </m:r>
                        </m:den>
                      </m:f>
                      <m:r>
                        <a:rPr lang="es-EC" sz="1852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=3,83 </m:t>
                      </m:r>
                      <m:r>
                        <m:rPr>
                          <m:sty m:val="p"/>
                        </m:rPr>
                        <a:rPr lang="es-EC" sz="1852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kW</m:t>
                      </m:r>
                    </m:oMath>
                  </m:oMathPara>
                </a14:m>
                <a:endParaRPr lang="es-EC" sz="1852" dirty="0"/>
              </a:p>
            </p:txBody>
          </p:sp>
        </mc:Choice>
        <mc:Fallback xmlns="">
          <p:pic>
            <p:nvPicPr>
              <p:cNvPr id="13" name="EQ_ea148ad8aaf8_35_s926_l" descr="/home/claude/u2/eq/eq_ea148ad8aaf8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15000" y="4121404"/>
                <a:ext cx="2966156" cy="635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xt_226"/>
          <p:cNvSpPr txBox="1"/>
          <p:nvPr/>
        </p:nvSpPr>
        <p:spPr>
          <a:xfrm>
            <a:off x="5715000" y="4866132"/>
            <a:ext cx="565373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refrigerador real necesitará más potencia por sus irreversibilidades.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Otto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ideal de los motores de encendido por chispa (gasolina).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2: Ciclos termodinámicos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Motores de encendido por chispa</a:t>
            </a:r>
            <a:endParaRPr lang="en-US" sz="3000" dirty="0"/>
          </a:p>
        </p:txBody>
      </p:sp>
      <p:sp>
        <p:nvSpPr>
          <p:cNvPr id="3" name="kicker_22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CICLO OTTO</a:t>
            </a:r>
            <a:endParaRPr lang="en-US" sz="1100" dirty="0"/>
          </a:p>
        </p:txBody>
      </p:sp>
      <p:sp>
        <p:nvSpPr>
          <p:cNvPr id="5" name="txt_228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pistón ejecuta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tiempos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(dos vueltas del cigüeñal) por cada ciclo termodinámico:</a:t>
            </a:r>
            <a:endParaRPr lang="en-US" sz="1600" dirty="0"/>
          </a:p>
          <a:p>
            <a:pPr marL="406400" lvl="1" indent="-2032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mezcla aire-combustible.</a:t>
            </a:r>
            <a:endParaRPr lang="en-US" sz="1600" dirty="0"/>
          </a:p>
          <a:p>
            <a:pPr marL="406400" lvl="1" indent="-2032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Compresión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poco antes del PMS salta la chispa.</a:t>
            </a:r>
            <a:endParaRPr lang="en-US" sz="1600" dirty="0"/>
          </a:p>
          <a:p>
            <a:pPr marL="406400" lvl="1" indent="-2032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carrera de potencia: produce trabajo.</a:t>
            </a:r>
            <a:endParaRPr lang="en-US" sz="1600" dirty="0"/>
          </a:p>
          <a:p>
            <a:pPr marL="406400" lvl="1" indent="-2032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los gases quemados.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típicos: r entre 8 y 12; presión máxima de 25 a 30 bar; eficiencia real de 25 % a 30 %.</a:t>
            </a:r>
            <a:endParaRPr lang="en-US" sz="1600" dirty="0"/>
          </a:p>
        </p:txBody>
      </p:sp>
      <p:sp>
        <p:nvSpPr>
          <p:cNvPr id="6" name="fig_229"/>
          <p:cNvSpPr/>
          <p:nvPr/>
        </p:nvSpPr>
        <p:spPr>
          <a:xfrm>
            <a:off x="7680960" y="1463040"/>
            <a:ext cx="3962095" cy="475488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g_230" descr="/home/claude/img/u2_image23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954" y="1572768"/>
            <a:ext cx="1914107" cy="4151376"/>
          </a:xfrm>
          <a:prstGeom prst="rect">
            <a:avLst/>
          </a:prstGeom>
        </p:spPr>
      </p:pic>
      <p:sp>
        <p:nvSpPr>
          <p:cNvPr id="8" name="cap_231"/>
          <p:cNvSpPr txBox="1"/>
          <p:nvPr/>
        </p:nvSpPr>
        <p:spPr>
          <a:xfrm>
            <a:off x="7772400" y="5779008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cuatro tiempos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Otto ideal: procesos y etapas</a:t>
            </a:r>
            <a:endParaRPr lang="en-US" sz="3000" dirty="0"/>
          </a:p>
        </p:txBody>
      </p:sp>
      <p:sp>
        <p:nvSpPr>
          <p:cNvPr id="3" name="kicker_23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CICLO OTTO</a:t>
            </a:r>
            <a:endParaRPr lang="en-US" sz="1100" dirty="0"/>
          </a:p>
        </p:txBody>
      </p:sp>
      <p:sp>
        <p:nvSpPr>
          <p:cNvPr id="5" name="fig_233"/>
          <p:cNvSpPr/>
          <p:nvPr/>
        </p:nvSpPr>
        <p:spPr>
          <a:xfrm>
            <a:off x="548640" y="1463040"/>
            <a:ext cx="78638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g_234" descr="/home/claude/img/u2d_otto_gene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55876"/>
            <a:ext cx="7644384" cy="3185160"/>
          </a:xfrm>
          <a:prstGeom prst="rect">
            <a:avLst/>
          </a:prstGeom>
        </p:spPr>
      </p:pic>
      <p:sp>
        <p:nvSpPr>
          <p:cNvPr id="7" name="cap_235"/>
          <p:cNvSpPr txBox="1"/>
          <p:nvPr/>
        </p:nvSpPr>
        <p:spPr>
          <a:xfrm>
            <a:off x="640080" y="57790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</a:t>
            </a:r>
            <a:endParaRPr lang="en-US" sz="1100" dirty="0"/>
          </a:p>
        </p:txBody>
      </p:sp>
      <p:sp>
        <p:nvSpPr>
          <p:cNvPr id="8" name="card_236"/>
          <p:cNvSpPr/>
          <p:nvPr/>
        </p:nvSpPr>
        <p:spPr>
          <a:xfrm>
            <a:off x="8686800" y="1463040"/>
            <a:ext cx="2956255" cy="1051560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/>
        </p:spPr>
      </p:sp>
      <p:sp>
        <p:nvSpPr>
          <p:cNvPr id="9" name="dot_237"/>
          <p:cNvSpPr/>
          <p:nvPr/>
        </p:nvSpPr>
        <p:spPr>
          <a:xfrm>
            <a:off x="891540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xt_238"/>
          <p:cNvSpPr txBox="1"/>
          <p:nvPr/>
        </p:nvSpPr>
        <p:spPr>
          <a:xfrm>
            <a:off x="891540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1→2</a:t>
            </a:r>
            <a:endParaRPr lang="en-US" sz="1800" dirty="0"/>
          </a:p>
        </p:txBody>
      </p:sp>
      <p:sp>
        <p:nvSpPr>
          <p:cNvPr id="11" name="txt_239"/>
          <p:cNvSpPr txBox="1"/>
          <p:nvPr/>
        </p:nvSpPr>
        <p:spPr>
          <a:xfrm>
            <a:off x="9619488" y="1664208"/>
            <a:ext cx="18589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Compresión isentrópica</a:t>
            </a:r>
            <a:endParaRPr lang="en-US" sz="1400" dirty="0"/>
          </a:p>
        </p:txBody>
      </p:sp>
      <p:sp>
        <p:nvSpPr>
          <p:cNvPr id="12" name="card_240"/>
          <p:cNvSpPr/>
          <p:nvPr/>
        </p:nvSpPr>
        <p:spPr>
          <a:xfrm>
            <a:off x="8686800" y="2697480"/>
            <a:ext cx="2956255" cy="1051560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/>
        </p:spPr>
      </p:sp>
      <p:sp>
        <p:nvSpPr>
          <p:cNvPr id="13" name="dot_241"/>
          <p:cNvSpPr/>
          <p:nvPr/>
        </p:nvSpPr>
        <p:spPr>
          <a:xfrm>
            <a:off x="8915400" y="292608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xt_242"/>
          <p:cNvSpPr txBox="1"/>
          <p:nvPr/>
        </p:nvSpPr>
        <p:spPr>
          <a:xfrm>
            <a:off x="891540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2→3</a:t>
            </a:r>
            <a:endParaRPr lang="en-US" sz="1800" dirty="0"/>
          </a:p>
        </p:txBody>
      </p:sp>
      <p:sp>
        <p:nvSpPr>
          <p:cNvPr id="15" name="txt_243"/>
          <p:cNvSpPr txBox="1"/>
          <p:nvPr/>
        </p:nvSpPr>
        <p:spPr>
          <a:xfrm>
            <a:off x="9619488" y="2898648"/>
            <a:ext cx="18589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Calor a v = cte</a:t>
            </a:r>
            <a:endParaRPr lang="en-US" sz="1400" dirty="0"/>
          </a:p>
        </p:txBody>
      </p:sp>
      <p:sp>
        <p:nvSpPr>
          <p:cNvPr id="16" name="card_244"/>
          <p:cNvSpPr/>
          <p:nvPr/>
        </p:nvSpPr>
        <p:spPr>
          <a:xfrm>
            <a:off x="8686800" y="3931920"/>
            <a:ext cx="2956255" cy="1051560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/>
        </p:spPr>
      </p:sp>
      <p:sp>
        <p:nvSpPr>
          <p:cNvPr id="17" name="dot_245"/>
          <p:cNvSpPr/>
          <p:nvPr/>
        </p:nvSpPr>
        <p:spPr>
          <a:xfrm>
            <a:off x="8915400" y="416052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xt_246"/>
          <p:cNvSpPr txBox="1"/>
          <p:nvPr/>
        </p:nvSpPr>
        <p:spPr>
          <a:xfrm>
            <a:off x="891540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3→4</a:t>
            </a:r>
            <a:endParaRPr lang="en-US" sz="1800" dirty="0"/>
          </a:p>
        </p:txBody>
      </p:sp>
      <p:sp>
        <p:nvSpPr>
          <p:cNvPr id="19" name="txt_247"/>
          <p:cNvSpPr txBox="1"/>
          <p:nvPr/>
        </p:nvSpPr>
        <p:spPr>
          <a:xfrm>
            <a:off x="9619488" y="4133088"/>
            <a:ext cx="18589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Expansión isentrópica</a:t>
            </a:r>
            <a:endParaRPr lang="en-US" sz="1400" dirty="0"/>
          </a:p>
        </p:txBody>
      </p:sp>
      <p:sp>
        <p:nvSpPr>
          <p:cNvPr id="20" name="card_248"/>
          <p:cNvSpPr/>
          <p:nvPr/>
        </p:nvSpPr>
        <p:spPr>
          <a:xfrm>
            <a:off x="8686800" y="5166360"/>
            <a:ext cx="2956255" cy="1051560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/>
        </p:spPr>
      </p:sp>
      <p:sp>
        <p:nvSpPr>
          <p:cNvPr id="21" name="dot_249"/>
          <p:cNvSpPr/>
          <p:nvPr/>
        </p:nvSpPr>
        <p:spPr>
          <a:xfrm>
            <a:off x="8915400" y="5394960"/>
            <a:ext cx="566928" cy="566928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22" name="txt_250"/>
          <p:cNvSpPr txBox="1"/>
          <p:nvPr/>
        </p:nvSpPr>
        <p:spPr>
          <a:xfrm>
            <a:off x="8915400" y="5394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4→1</a:t>
            </a:r>
            <a:endParaRPr lang="en-US" sz="1800" dirty="0"/>
          </a:p>
        </p:txBody>
      </p:sp>
      <p:sp>
        <p:nvSpPr>
          <p:cNvPr id="23" name="txt_251"/>
          <p:cNvSpPr txBox="1"/>
          <p:nvPr/>
        </p:nvSpPr>
        <p:spPr>
          <a:xfrm>
            <a:off x="9619488" y="5367528"/>
            <a:ext cx="18589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Rechazo a v = cte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de energía del ciclo Otto</a:t>
            </a:r>
            <a:endParaRPr lang="en-US" sz="3000" dirty="0"/>
          </a:p>
        </p:txBody>
      </p:sp>
      <p:sp>
        <p:nvSpPr>
          <p:cNvPr id="3" name="kicker_25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CICLO OTTO</a:t>
            </a:r>
            <a:endParaRPr lang="en-US" sz="1100" dirty="0"/>
          </a:p>
        </p:txBody>
      </p:sp>
      <p:sp>
        <p:nvSpPr>
          <p:cNvPr id="5" name="card_253"/>
          <p:cNvSpPr/>
          <p:nvPr/>
        </p:nvSpPr>
        <p:spPr>
          <a:xfrm>
            <a:off x="548640" y="146304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D9EEEE"/>
          </a:solidFill>
          <a:ln/>
        </p:spPr>
      </p:sp>
      <p:sp>
        <p:nvSpPr>
          <p:cNvPr id="6" name="txt_254"/>
          <p:cNvSpPr txBox="1"/>
          <p:nvPr/>
        </p:nvSpPr>
        <p:spPr>
          <a:xfrm>
            <a:off x="777240" y="1627632"/>
            <a:ext cx="1063721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LEY EN CADA PROCESO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cuación 7"/>
              <p:cNvSpPr txBox="1"/>
              <p:nvPr/>
            </p:nvSpPr>
            <p:spPr>
              <a:xfrm>
                <a:off x="3456280" y="2107692"/>
                <a:ext cx="5279136" cy="4023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𝑒𝑛𝑡𝑟𝑎𝑑𝑎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𝑠𝑎𝑙𝑖𝑑𝑎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)+(</m:t>
                      </m:r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𝑒𝑛𝑡𝑟𝑎𝑑𝑎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𝑠𝑎𝑙𝑖𝑑𝑎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C" sz="24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pic>
            <p:nvPicPr>
              <p:cNvPr id="7" name="EQ_a81aaff26bc2_36_s1000_ctr" descr="/home/claude/u2/eq/eq_a81aaff26bc2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56280" y="2107692"/>
                <a:ext cx="5279136" cy="402336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rd_255"/>
          <p:cNvSpPr/>
          <p:nvPr/>
        </p:nvSpPr>
        <p:spPr>
          <a:xfrm>
            <a:off x="548640" y="2971800"/>
            <a:ext cx="5486400" cy="3246120"/>
          </a:xfrm>
          <a:prstGeom prst="roundRect">
            <a:avLst>
              <a:gd name="adj" fmla="val 2817"/>
            </a:avLst>
          </a:prstGeom>
          <a:solidFill>
            <a:srgbClr val="D9EEEE"/>
          </a:solidFill>
          <a:ln/>
        </p:spPr>
      </p:sp>
      <p:sp>
        <p:nvSpPr>
          <p:cNvPr id="9" name="txt_256"/>
          <p:cNvSpPr txBox="1"/>
          <p:nvPr/>
        </p:nvSpPr>
        <p:spPr>
          <a:xfrm>
            <a:off x="777240" y="3136392"/>
            <a:ext cx="5029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 EN LOS PROCESOS A v = cte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cuación 10"/>
              <p:cNvSpPr txBox="1"/>
              <p:nvPr/>
            </p:nvSpPr>
            <p:spPr>
              <a:xfrm>
                <a:off x="1565148" y="4315587"/>
                <a:ext cx="3453384" cy="3718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𝑒𝑛𝑡𝑟𝑎𝑑𝑎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10" name="EQ_9bfa266d2681_37_s1000_ctr" descr="/home/claude/u2/eq/eq_9bfa266d2681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5148" y="4315587"/>
                <a:ext cx="3453384" cy="371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cuación 11"/>
              <p:cNvSpPr txBox="1"/>
              <p:nvPr/>
            </p:nvSpPr>
            <p:spPr>
              <a:xfrm>
                <a:off x="1630680" y="4913757"/>
                <a:ext cx="3322320" cy="3718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𝑠𝑎𝑙𝑖𝑑𝑎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11" name="EQ_fa5ac52fe286_38_s1000_ctr" descr="/home/claude/u2/eq/eq_fa5ac52fe286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0680" y="4913757"/>
                <a:ext cx="3322320" cy="371856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ard_257"/>
          <p:cNvSpPr/>
          <p:nvPr/>
        </p:nvSpPr>
        <p:spPr>
          <a:xfrm>
            <a:off x="6309360" y="2971800"/>
            <a:ext cx="5333695" cy="3246120"/>
          </a:xfrm>
          <a:prstGeom prst="roundRect">
            <a:avLst>
              <a:gd name="adj" fmla="val 2817"/>
            </a:avLst>
          </a:prstGeom>
          <a:solidFill>
            <a:srgbClr val="D9EEEE"/>
          </a:solidFill>
          <a:ln/>
        </p:spPr>
      </p:sp>
      <p:sp>
        <p:nvSpPr>
          <p:cNvPr id="13" name="txt_258"/>
          <p:cNvSpPr txBox="1"/>
          <p:nvPr/>
        </p:nvSpPr>
        <p:spPr>
          <a:xfrm>
            <a:off x="6537960" y="3136392"/>
            <a:ext cx="487649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cuación 14"/>
              <p:cNvSpPr txBox="1"/>
              <p:nvPr/>
            </p:nvSpPr>
            <p:spPr>
              <a:xfrm>
                <a:off x="7067480" y="4451350"/>
                <a:ext cx="3817454" cy="6985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19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19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219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C" sz="2191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C" sz="219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𝑂𝑡𝑡𝑜</m:t>
                          </m:r>
                        </m:sub>
                      </m:sSub>
                      <m:r>
                        <a:rPr lang="es-EC" sz="219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219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𝑠𝑎𝑙𝑖𝑑𝑎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𝑒𝑛𝑡𝑟𝑎𝑑𝑎</m:t>
                              </m:r>
                            </m:sub>
                          </m:sSub>
                        </m:den>
                      </m:f>
                      <m:r>
                        <a:rPr lang="es-EC" sz="219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219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191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s-EC" sz="2191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191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191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EC" sz="2191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19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191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2191" dirty="0"/>
              </a:p>
            </p:txBody>
          </p:sp>
        </mc:Choice>
        <mc:Fallback xmlns="">
          <p:pic>
            <p:nvPicPr>
              <p:cNvPr id="14" name="EQ_4db76a1c9994_39_s996_ctr" descr="/home/claude/u2/eq/eq_4db76a1c9994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67480" y="4451350"/>
                <a:ext cx="3817454" cy="6985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Eficiencia del ciclo Otto ideal</a:t>
            </a:r>
            <a:endParaRPr lang="en-US" sz="3000" dirty="0"/>
          </a:p>
        </p:txBody>
      </p:sp>
      <p:sp>
        <p:nvSpPr>
          <p:cNvPr id="3" name="kicker_259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CICLO OTTO</a:t>
            </a:r>
            <a:endParaRPr lang="en-US" sz="1100" dirty="0"/>
          </a:p>
        </p:txBody>
      </p:sp>
      <p:sp>
        <p:nvSpPr>
          <p:cNvPr id="5" name="txt_260"/>
          <p:cNvSpPr txBox="1"/>
          <p:nvPr/>
        </p:nvSpPr>
        <p:spPr>
          <a:xfrm>
            <a:off x="548640" y="146304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procesos 1-2 y 3-4 son isentrópicos y v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600" dirty="0"/>
          </a:p>
        </p:txBody>
      </p:sp>
      <p:sp>
        <p:nvSpPr>
          <p:cNvPr id="6" name="card_261"/>
          <p:cNvSpPr/>
          <p:nvPr/>
        </p:nvSpPr>
        <p:spPr>
          <a:xfrm>
            <a:off x="548640" y="210312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D9EEEE"/>
          </a:solidFill>
          <a:ln/>
        </p:spPr>
      </p:sp>
      <p:sp>
        <p:nvSpPr>
          <p:cNvPr id="7" name="txt_262"/>
          <p:cNvSpPr txBox="1"/>
          <p:nvPr/>
        </p:nvSpPr>
        <p:spPr>
          <a:xfrm>
            <a:off x="777240" y="2267712"/>
            <a:ext cx="5029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DEDUCCIÓN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cuación 8"/>
              <p:cNvSpPr txBox="1"/>
              <p:nvPr/>
            </p:nvSpPr>
            <p:spPr>
              <a:xfrm>
                <a:off x="1589532" y="3546348"/>
                <a:ext cx="3404616" cy="7406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lang="es-EC" sz="2400" b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4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4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C" sz="2400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EC" sz="2400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C" sz="2400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s-EC" sz="2400" b="0" i="0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EC" sz="2400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C" sz="2400" b="0" i="1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s-EC" sz="2400" b="0" i="0" dirty="0">
                                          <a:solidFill>
                                            <a:srgbClr val="15233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4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4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pic>
            <p:nvPicPr>
              <p:cNvPr id="8" name="EQ_d8f5b640dfbe_40_s1000_ctr" descr="/home/claude/u2/eq/eq_d8f5b640dfbe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9532" y="3546348"/>
                <a:ext cx="3404616" cy="7406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Ecuación 9"/>
              <p:cNvSpPr txBox="1"/>
              <p:nvPr/>
            </p:nvSpPr>
            <p:spPr>
              <a:xfrm>
                <a:off x="2208276" y="4448556"/>
                <a:ext cx="2167128" cy="734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𝑂𝑡𝑡𝑜</m:t>
                          </m:r>
                        </m:sub>
                      </m:sSub>
                      <m: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EC" sz="24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C" sz="2400" dirty="0"/>
              </a:p>
            </p:txBody>
          </p:sp>
        </mc:Choice>
        <mc:Fallback xmlns="">
          <p:pic>
            <p:nvPicPr>
              <p:cNvPr id="9" name="EQ_f42b40675fa6_41_s1000_ctr" descr="/home/claude/u2/eq/eq_f42b40675fa6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8276" y="4448556"/>
                <a:ext cx="2167128" cy="734568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ard_263"/>
          <p:cNvSpPr/>
          <p:nvPr/>
        </p:nvSpPr>
        <p:spPr>
          <a:xfrm>
            <a:off x="6309360" y="1463040"/>
            <a:ext cx="5333695" cy="4754880"/>
          </a:xfrm>
          <a:prstGeom prst="roundRect">
            <a:avLst>
              <a:gd name="adj" fmla="val 1923"/>
            </a:avLst>
          </a:prstGeom>
          <a:solidFill>
            <a:srgbClr val="F2F5F8"/>
          </a:solidFill>
          <a:ln/>
        </p:spPr>
      </p:sp>
      <p:sp>
        <p:nvSpPr>
          <p:cNvPr id="11" name="txt_264"/>
          <p:cNvSpPr txBox="1"/>
          <p:nvPr/>
        </p:nvSpPr>
        <p:spPr>
          <a:xfrm>
            <a:off x="6537960" y="1627632"/>
            <a:ext cx="487649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 (T</a:t>
            </a:r>
            <a:r>
              <a:rPr lang="en-US" sz="1200" b="1" baseline="-40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</a:t>
            </a:r>
            <a:r>
              <a:rPr lang="en-US" sz="1200" b="1" baseline="-40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</a:t>
            </a:r>
            <a:r>
              <a:rPr lang="en-US" sz="1200" b="1" baseline="-40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</a:t>
            </a:r>
            <a:r>
              <a:rPr lang="en-US" sz="1200" b="1" baseline="-40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cuación 12"/>
              <p:cNvSpPr txBox="1"/>
              <p:nvPr/>
            </p:nvSpPr>
            <p:spPr>
              <a:xfrm>
                <a:off x="7878928" y="2861564"/>
                <a:ext cx="2194560" cy="6979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2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12" name="EQ_cf5c378fd100_42_s1000_ctr" descr="/home/claude/u2/eq/eq_cf5c378fd100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78928" y="2861564"/>
                <a:ext cx="2194560" cy="6979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cuación 13"/>
              <p:cNvSpPr txBox="1"/>
              <p:nvPr/>
            </p:nvSpPr>
            <p:spPr>
              <a:xfrm>
                <a:off x="7747864" y="3697224"/>
                <a:ext cx="2456688" cy="6979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2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C" sz="2200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C" sz="2200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C" sz="2200" b="0" i="0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s-EC" sz="2200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C" sz="2200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C" sz="2200" b="0" i="0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C" sz="2200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C" sz="2200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C" sz="2200" b="0" i="0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s-EC" sz="2200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C" sz="2200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EC" sz="2200" b="0" i="0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13" name="EQ_9609b9529571_43_s1000_ctr" descr="/home/claude/u2/eq/eq_9609b9529571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47864" y="3697224"/>
                <a:ext cx="2456688" cy="6979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cuación 14"/>
              <p:cNvSpPr txBox="1"/>
              <p:nvPr/>
            </p:nvSpPr>
            <p:spPr>
              <a:xfrm>
                <a:off x="7709764" y="4535932"/>
                <a:ext cx="2532888" cy="691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2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14" name="EQ_e20829890cea_44_s1000_ctr" descr="/home/claude/u2/eq/eq_e20829890cea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09764" y="4535932"/>
                <a:ext cx="2532888" cy="691896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Influencia de la relación de compresión</a:t>
            </a:r>
            <a:endParaRPr lang="en-US" sz="3000" dirty="0"/>
          </a:p>
        </p:txBody>
      </p:sp>
      <p:sp>
        <p:nvSpPr>
          <p:cNvPr id="3" name="kicker_26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CICLO OTTO</a:t>
            </a:r>
            <a:endParaRPr lang="en-US" sz="1100" dirty="0"/>
          </a:p>
        </p:txBody>
      </p:sp>
      <p:graphicFrame>
        <p:nvGraphicFramePr>
          <p:cNvPr id="5" name="chart_266"/>
          <p:cNvGraphicFramePr/>
          <p:nvPr/>
        </p:nvGraphicFramePr>
        <p:xfrm>
          <a:off x="548640" y="1463040"/>
          <a:ext cx="67665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xt_267"/>
          <p:cNvSpPr txBox="1"/>
          <p:nvPr/>
        </p:nvSpPr>
        <p:spPr>
          <a:xfrm>
            <a:off x="7680960" y="1463040"/>
            <a:ext cx="3962095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eficiencia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con r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pero cada vez menos.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práctico es el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autoencendido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(golpeteo o «cascabeleo»): la mezcla se enciende sola antes de la chispa.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Gasolinas de mayor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octanaje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permiten r más altas.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actuales de inyección directa: r ≈ 10 a 14.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Otto: planteamiento</a:t>
            </a:r>
            <a:endParaRPr lang="en-US" sz="3000" dirty="0"/>
          </a:p>
        </p:txBody>
      </p:sp>
      <p:sp>
        <p:nvSpPr>
          <p:cNvPr id="3" name="kicker_268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CICLO OTTO</a:t>
            </a:r>
            <a:endParaRPr lang="en-US" sz="1100" dirty="0"/>
          </a:p>
        </p:txBody>
      </p:sp>
      <p:sp>
        <p:nvSpPr>
          <p:cNvPr id="5" name="card_269"/>
          <p:cNvSpPr/>
          <p:nvPr/>
        </p:nvSpPr>
        <p:spPr>
          <a:xfrm>
            <a:off x="548640" y="1463040"/>
            <a:ext cx="4023360" cy="4754880"/>
          </a:xfrm>
          <a:prstGeom prst="roundRect">
            <a:avLst>
              <a:gd name="adj" fmla="val 2273"/>
            </a:avLst>
          </a:prstGeom>
          <a:solidFill>
            <a:srgbClr val="F2F5F8"/>
          </a:solidFill>
          <a:ln/>
        </p:spPr>
      </p:sp>
      <p:sp>
        <p:nvSpPr>
          <p:cNvPr id="6" name="txt_270"/>
          <p:cNvSpPr txBox="1"/>
          <p:nvPr/>
        </p:nvSpPr>
        <p:spPr>
          <a:xfrm>
            <a:off x="7772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271"/>
          <p:cNvSpPr txBox="1"/>
          <p:nvPr/>
        </p:nvSpPr>
        <p:spPr>
          <a:xfrm>
            <a:off x="777240" y="2057400"/>
            <a:ext cx="356616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ciclo Otto ideal tiene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8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 inicio de la compresión el aire está a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kPa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°C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se transfieren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kJ/kg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calor a volumen constante.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 la variación de los calores específicos con la temperatura (tabla A-17), determine: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 y P máximas; b) w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c) η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d) PME.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Çengel y Boles (2012), ejemplo 9-2.</a:t>
            </a:r>
            <a:endParaRPr lang="en-US" sz="1500" dirty="0"/>
          </a:p>
        </p:txBody>
      </p:sp>
      <p:sp>
        <p:nvSpPr>
          <p:cNvPr id="8" name="card_272"/>
          <p:cNvSpPr/>
          <p:nvPr/>
        </p:nvSpPr>
        <p:spPr>
          <a:xfrm>
            <a:off x="4892040" y="1463040"/>
            <a:ext cx="675101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9" name="txt_273"/>
          <p:cNvSpPr txBox="1"/>
          <p:nvPr/>
        </p:nvSpPr>
        <p:spPr>
          <a:xfrm>
            <a:off x="5120640" y="1645920"/>
            <a:ext cx="629381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p:sp>
        <p:nvSpPr>
          <p:cNvPr id="10" name="txt_274"/>
          <p:cNvSpPr txBox="1"/>
          <p:nvPr/>
        </p:nvSpPr>
        <p:spPr>
          <a:xfrm>
            <a:off x="5166360" y="2103120"/>
            <a:ext cx="62023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1 (tabla A-17, T</a:t>
            </a:r>
            <a:r>
              <a:rPr lang="en-US" sz="14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290 K): u</a:t>
            </a:r>
            <a:r>
              <a:rPr lang="en-US" sz="14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206,91 kJ/kg; v</a:t>
            </a:r>
            <a:r>
              <a:rPr lang="en-US" sz="14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676,1</a:t>
            </a:r>
            <a:endParaRPr lang="en-US" sz="1400" dirty="0"/>
          </a:p>
        </p:txBody>
      </p:sp>
      <p:sp>
        <p:nvSpPr>
          <p:cNvPr id="11" name="txt_275"/>
          <p:cNvSpPr txBox="1"/>
          <p:nvPr/>
        </p:nvSpPr>
        <p:spPr>
          <a:xfrm>
            <a:off x="5166360" y="2720848"/>
            <a:ext cx="620237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1-2, compresión isentrópica: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cuación 12"/>
              <p:cNvSpPr txBox="1"/>
              <p:nvPr/>
            </p:nvSpPr>
            <p:spPr>
              <a:xfrm>
                <a:off x="5166360" y="3119755"/>
                <a:ext cx="5519928" cy="5151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7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7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C" sz="17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s-EC" sz="17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17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7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7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7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C" sz="17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s-EC" sz="17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EC" sz="17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s-EC" sz="17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7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7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676,1</m:t>
                          </m:r>
                        </m:num>
                        <m:den>
                          <m:r>
                            <a:rPr lang="es-EC" sz="17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s-EC" sz="17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=84,51 ⇒ </m:t>
                      </m:r>
                      <m:sSub>
                        <m:sSubPr>
                          <m:ctrlPr>
                            <a:rPr lang="es-EC" sz="17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7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17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17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=652,4 </m:t>
                      </m:r>
                      <m:r>
                        <m:rPr>
                          <m:sty m:val="p"/>
                        </m:rPr>
                        <a:rPr lang="es-EC" sz="17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s-EC" sz="17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s-EC" sz="17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7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17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17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=475,11 </m:t>
                      </m:r>
                      <m:r>
                        <m:rPr>
                          <m:sty m:val="p"/>
                        </m:rPr>
                        <a:rPr lang="es-EC" sz="17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s-EC" sz="17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17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1700" dirty="0"/>
              </a:p>
            </p:txBody>
          </p:sp>
        </mc:Choice>
        <mc:Fallback xmlns="">
          <p:pic>
            <p:nvPicPr>
              <p:cNvPr id="12" name="EQ_2e3ad2dde4a0_45_s1000_l" descr="/home/claude/u2/eq/eq_2e3ad2dde4a0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66360" y="3119755"/>
                <a:ext cx="5519928" cy="5151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cuación 13"/>
              <p:cNvSpPr txBox="1"/>
              <p:nvPr/>
            </p:nvSpPr>
            <p:spPr>
              <a:xfrm>
                <a:off x="5166360" y="3756914"/>
                <a:ext cx="3871726" cy="5397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6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6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C" sz="1681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16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16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6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C" sz="1681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s-EC" sz="16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68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68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681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68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68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681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C" sz="16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s-EC" sz="1681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EC" sz="16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  <m:d>
                        <m:dPr>
                          <m:ctrlPr>
                            <a:rPr lang="es-EC" sz="16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C" sz="1681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C" sz="1681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652,4</m:t>
                              </m:r>
                            </m:num>
                            <m:den>
                              <m:r>
                                <a:rPr lang="es-EC" sz="1681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290</m:t>
                              </m:r>
                            </m:den>
                          </m:f>
                        </m:e>
                      </m:d>
                      <m:r>
                        <a:rPr lang="es-EC" sz="16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(8)=1 799,7 </m:t>
                      </m:r>
                      <m:r>
                        <m:rPr>
                          <m:sty m:val="p"/>
                        </m:rPr>
                        <a:rPr lang="es-EC" sz="16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kPa</m:t>
                      </m:r>
                    </m:oMath>
                  </m:oMathPara>
                </a14:m>
                <a:endParaRPr lang="es-EC" sz="1681" dirty="0"/>
              </a:p>
            </p:txBody>
          </p:sp>
        </mc:Choice>
        <mc:Fallback xmlns="">
          <p:pic>
            <p:nvPicPr>
              <p:cNvPr id="13" name="EQ_c02e63261695_46_s989_l" descr="/home/claude/u2/eq/eq_c02e63261695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66360" y="3756914"/>
                <a:ext cx="3871726" cy="53975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xt_276"/>
          <p:cNvSpPr txBox="1"/>
          <p:nvPr/>
        </p:nvSpPr>
        <p:spPr>
          <a:xfrm>
            <a:off x="5166360" y="4406392"/>
            <a:ext cx="6202375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2-3, calor a v = cte: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cuación 15"/>
              <p:cNvSpPr txBox="1"/>
              <p:nvPr/>
            </p:nvSpPr>
            <p:spPr>
              <a:xfrm>
                <a:off x="5166360" y="4823270"/>
                <a:ext cx="5547360" cy="2956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7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7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17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17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17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7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17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17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C" sz="17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7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17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𝑒𝑛𝑡𝑟𝑎𝑑𝑎</m:t>
                          </m:r>
                        </m:sub>
                      </m:sSub>
                      <m:r>
                        <a:rPr lang="es-EC" sz="17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=475,11+800=1 275,11 ⇒ </m:t>
                      </m:r>
                      <m:sSub>
                        <m:sSubPr>
                          <m:ctrlPr>
                            <a:rPr lang="es-EC" sz="17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7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17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17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=1 575,1 </m:t>
                      </m:r>
                      <m:r>
                        <m:rPr>
                          <m:sty m:val="p"/>
                        </m:rPr>
                        <a:rPr lang="es-EC" sz="17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es-EC" sz="1700" dirty="0"/>
              </a:p>
            </p:txBody>
          </p:sp>
        </mc:Choice>
        <mc:Fallback xmlns="">
          <p:pic>
            <p:nvPicPr>
              <p:cNvPr id="15" name="EQ_771e4116dae7_47_s1000_l" descr="/home/claude/u2/eq/eq_771e4116dae7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66360" y="4823270"/>
                <a:ext cx="5547360" cy="2956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cuación 16"/>
              <p:cNvSpPr txBox="1"/>
              <p:nvPr/>
            </p:nvSpPr>
            <p:spPr>
              <a:xfrm>
                <a:off x="5166360" y="5258943"/>
                <a:ext cx="3871726" cy="5397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681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681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C" sz="1681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1681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1681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681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C" sz="1681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s-EC" sz="1681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681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681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681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681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681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681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C" sz="1681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=1,7997</m:t>
                      </m:r>
                      <m:d>
                        <m:dPr>
                          <m:ctrlPr>
                            <a:rPr lang="es-EC" sz="1681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C" sz="1681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C" sz="1681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1 575,1</m:t>
                              </m:r>
                            </m:num>
                            <m:den>
                              <m:r>
                                <a:rPr lang="es-EC" sz="1681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652,4</m:t>
                              </m:r>
                            </m:den>
                          </m:f>
                        </m:e>
                      </m:d>
                      <m:r>
                        <a:rPr lang="es-EC" sz="1681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=4,345 </m:t>
                      </m:r>
                      <m:r>
                        <m:rPr>
                          <m:sty m:val="p"/>
                        </m:rPr>
                        <a:rPr lang="es-EC" sz="1681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 lang="es-EC" sz="1681" dirty="0"/>
              </a:p>
            </p:txBody>
          </p:sp>
        </mc:Choice>
        <mc:Fallback xmlns="">
          <p:pic>
            <p:nvPicPr>
              <p:cNvPr id="16" name="EQ_2892bdabc6e4_48_s989_l" descr="/home/claude/u2/eq/eq_2892bdabc6e4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6360" y="5258943"/>
                <a:ext cx="3871726" cy="53975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Otto: trabajo, eficiencia y PME</a:t>
            </a:r>
            <a:endParaRPr lang="en-US" sz="3000" dirty="0"/>
          </a:p>
        </p:txBody>
      </p:sp>
      <p:sp>
        <p:nvSpPr>
          <p:cNvPr id="3" name="kicker_27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CICLO OTTO</a:t>
            </a:r>
            <a:endParaRPr lang="en-US" sz="1100" dirty="0"/>
          </a:p>
        </p:txBody>
      </p:sp>
      <p:sp>
        <p:nvSpPr>
          <p:cNvPr id="5" name="card_278"/>
          <p:cNvSpPr/>
          <p:nvPr/>
        </p:nvSpPr>
        <p:spPr>
          <a:xfrm>
            <a:off x="548640" y="1463040"/>
            <a:ext cx="4023360" cy="4754880"/>
          </a:xfrm>
          <a:prstGeom prst="roundRect">
            <a:avLst>
              <a:gd name="adj" fmla="val 2273"/>
            </a:avLst>
          </a:prstGeom>
          <a:solidFill>
            <a:srgbClr val="F2F5F8"/>
          </a:solidFill>
          <a:ln/>
        </p:spPr>
      </p:sp>
      <p:sp>
        <p:nvSpPr>
          <p:cNvPr id="6" name="txt_279"/>
          <p:cNvSpPr txBox="1"/>
          <p:nvPr/>
        </p:nvSpPr>
        <p:spPr>
          <a:xfrm>
            <a:off x="7772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280"/>
          <p:cNvSpPr txBox="1"/>
          <p:nvPr/>
        </p:nvSpPr>
        <p:spPr>
          <a:xfrm>
            <a:off x="777240" y="2057400"/>
            <a:ext cx="35661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Continuación del ejemplo.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con aire estándar frío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 = 1,4):</a:t>
            </a:r>
            <a:endParaRPr lang="en-US" sz="1500" dirty="0"/>
          </a:p>
        </p:txBody>
      </p:sp>
      <p:pic>
        <p:nvPicPr>
          <p:cNvPr id="8" name="img_281" descr="/home/claude/img/u2d_otto_e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24" y="4160520"/>
            <a:ext cx="2523392" cy="1874520"/>
          </a:xfrm>
          <a:prstGeom prst="rect">
            <a:avLst/>
          </a:prstGeom>
        </p:spPr>
      </p:pic>
      <p:sp>
        <p:nvSpPr>
          <p:cNvPr id="9" name="card_282"/>
          <p:cNvSpPr/>
          <p:nvPr/>
        </p:nvSpPr>
        <p:spPr>
          <a:xfrm>
            <a:off x="4892040" y="1463040"/>
            <a:ext cx="675101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10" name="txt_283"/>
          <p:cNvSpPr txBox="1"/>
          <p:nvPr/>
        </p:nvSpPr>
        <p:spPr>
          <a:xfrm>
            <a:off x="5120640" y="1645920"/>
            <a:ext cx="629381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p:sp>
        <p:nvSpPr>
          <p:cNvPr id="11" name="txt_284"/>
          <p:cNvSpPr txBox="1"/>
          <p:nvPr/>
        </p:nvSpPr>
        <p:spPr>
          <a:xfrm>
            <a:off x="5166360" y="2103120"/>
            <a:ext cx="620237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3-4, expansión isentrópica: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cuación 12"/>
              <p:cNvSpPr txBox="1"/>
              <p:nvPr/>
            </p:nvSpPr>
            <p:spPr>
              <a:xfrm>
                <a:off x="5166360" y="2569516"/>
                <a:ext cx="6202375" cy="304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77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77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C" sz="177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s-EC" sz="1775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1775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C" sz="1775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EC" sz="1775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EC" sz="177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77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C" sz="177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s-EC" sz="1775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1775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=8(6,108)=48,864 ⇒ </m:t>
                      </m:r>
                      <m:sSub>
                        <m:sSubPr>
                          <m:ctrlPr>
                            <a:rPr lang="es-EC" sz="177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77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1775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1775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=795,6 </m:t>
                      </m:r>
                      <m:r>
                        <m:rPr>
                          <m:sty m:val="p"/>
                        </m:rPr>
                        <a:rPr lang="es-EC" sz="1775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s-EC" sz="1775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s-EC" sz="177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77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1775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1775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=588,74 </m:t>
                      </m:r>
                      <m:r>
                        <m:rPr>
                          <m:sty m:val="p"/>
                        </m:rPr>
                        <a:rPr lang="es-EC" sz="1775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s-EC" sz="1775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1775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1775" dirty="0"/>
              </a:p>
            </p:txBody>
          </p:sp>
        </mc:Choice>
        <mc:Fallback xmlns="">
          <p:pic>
            <p:nvPicPr>
              <p:cNvPr id="12" name="EQ_4394843df843_49_s934_l" descr="/home/claude/u2/eq/eq_4394843df843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66360" y="2569516"/>
                <a:ext cx="6202375" cy="3045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cuación 13"/>
              <p:cNvSpPr txBox="1"/>
              <p:nvPr/>
            </p:nvSpPr>
            <p:spPr>
              <a:xfrm>
                <a:off x="5166360" y="3066606"/>
                <a:ext cx="4895088" cy="3261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𝑠𝑎𝑙𝑖𝑑𝑎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=588,74−206,91=381,83 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1900" dirty="0"/>
              </a:p>
            </p:txBody>
          </p:sp>
        </mc:Choice>
        <mc:Fallback xmlns="">
          <p:pic>
            <p:nvPicPr>
              <p:cNvPr id="13" name="EQ_6bc762444987_50_s1000_l" descr="/home/claude/u2/eq/eq_6bc762444987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66360" y="3066606"/>
                <a:ext cx="4895088" cy="326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cuación 14"/>
              <p:cNvSpPr txBox="1"/>
              <p:nvPr/>
            </p:nvSpPr>
            <p:spPr>
              <a:xfrm>
                <a:off x="5166360" y="3574479"/>
                <a:ext cx="5282184" cy="3261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𝑛𝑒𝑡𝑜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𝑒𝑛𝑡𝑟𝑎𝑑𝑎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𝑠𝑎𝑙𝑖𝑑𝑎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=800−381,83=418,17 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1900" dirty="0"/>
              </a:p>
            </p:txBody>
          </p:sp>
        </mc:Choice>
        <mc:Fallback xmlns="">
          <p:pic>
            <p:nvPicPr>
              <p:cNvPr id="14" name="EQ_8258cdbeb762_51_s1000_l" descr="/home/claude/u2/eq/eq_8258cdbeb762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6360" y="3574479"/>
                <a:ext cx="5282184" cy="326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cuación 15"/>
              <p:cNvSpPr txBox="1"/>
              <p:nvPr/>
            </p:nvSpPr>
            <p:spPr>
              <a:xfrm>
                <a:off x="5166360" y="4046347"/>
                <a:ext cx="3765833" cy="603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862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862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1862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C" sz="1862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62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862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62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C" sz="1862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𝑛𝑒𝑡𝑜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862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62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s-EC" sz="1862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𝑒𝑛𝑡𝑟𝑎𝑑𝑎</m:t>
                              </m:r>
                            </m:sub>
                          </m:sSub>
                        </m:den>
                      </m:f>
                      <m:r>
                        <a:rPr lang="es-EC" sz="1862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62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862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418,17</m:t>
                          </m:r>
                        </m:num>
                        <m:den>
                          <m:r>
                            <a:rPr lang="es-EC" sz="1862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800</m:t>
                          </m:r>
                        </m:den>
                      </m:f>
                      <m:r>
                        <a:rPr lang="es-EC" sz="1862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=0,523→52,3%</m:t>
                      </m:r>
                    </m:oMath>
                  </m:oMathPara>
                </a14:m>
                <a:endParaRPr lang="es-EC" sz="1862" dirty="0"/>
              </a:p>
            </p:txBody>
          </p:sp>
        </mc:Choice>
        <mc:Fallback xmlns="">
          <p:pic>
            <p:nvPicPr>
              <p:cNvPr id="15" name="EQ_7ccb28e16b01_52_s980_l" descr="/home/claude/u2/eq/eq_7ccb28e16b01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66360" y="4046347"/>
                <a:ext cx="3765833" cy="603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cuación 16"/>
              <p:cNvSpPr txBox="1"/>
              <p:nvPr/>
            </p:nvSpPr>
            <p:spPr>
              <a:xfrm>
                <a:off x="5166360" y="4759325"/>
                <a:ext cx="5923369" cy="603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89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89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C" sz="18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C" sz="18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9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89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s-EC" sz="18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89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8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C" sz="189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C" sz="18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=0,832</m:t>
                      </m:r>
                      <m:sSup>
                        <m:sSupPr>
                          <m:ctrlPr>
                            <a:rPr lang="es-EC" sz="18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C" sz="18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C" sz="18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s-EC" sz="18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C" sz="18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18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  <m:r>
                        <a:rPr lang="es-EC" sz="18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; </m:t>
                      </m:r>
                      <m:r>
                        <m:rPr>
                          <m:sty m:val="p"/>
                        </m:rPr>
                        <a:rPr lang="es-EC" sz="18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PME</m:t>
                      </m:r>
                      <m:r>
                        <a:rPr lang="es-EC" sz="18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8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418,17</m:t>
                          </m:r>
                        </m:num>
                        <m:den>
                          <m:r>
                            <a:rPr lang="es-EC" sz="18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0,832(1−1/8)</m:t>
                          </m:r>
                        </m:den>
                      </m:f>
                      <m:r>
                        <a:rPr lang="es-EC" sz="18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=574 </m:t>
                      </m:r>
                      <m:r>
                        <m:rPr>
                          <m:sty m:val="p"/>
                        </m:rPr>
                        <a:rPr lang="es-EC" sz="18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kPa</m:t>
                      </m:r>
                    </m:oMath>
                  </m:oMathPara>
                </a14:m>
                <a:endParaRPr lang="es-EC" sz="1890" dirty="0"/>
              </a:p>
            </p:txBody>
          </p:sp>
        </mc:Choice>
        <mc:Fallback xmlns="">
          <p:pic>
            <p:nvPicPr>
              <p:cNvPr id="16" name="EQ_9e634003889f_53_s995_l" descr="/home/claude/u2/eq/eq_9e634003889f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66360" y="4759325"/>
                <a:ext cx="5923369" cy="603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Ecuación 17"/>
              <p:cNvSpPr txBox="1"/>
              <p:nvPr/>
            </p:nvSpPr>
            <p:spPr>
              <a:xfrm>
                <a:off x="777240" y="3147060"/>
                <a:ext cx="3160776" cy="5638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8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8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18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C" sz="18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C" sz="18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𝑂𝑡𝑡𝑜</m:t>
                          </m:r>
                        </m:sub>
                      </m:sSub>
                      <m:r>
                        <a:rPr lang="es-EC" sz="18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18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8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s-EC" sz="18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C" sz="18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es-EC" sz="18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0,4</m:t>
                              </m:r>
                            </m:sup>
                          </m:sSup>
                        </m:den>
                      </m:f>
                      <m:r>
                        <a:rPr lang="es-EC" sz="18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=0,565→56,5%</m:t>
                      </m:r>
                    </m:oMath>
                  </m:oMathPara>
                </a14:m>
                <a:endParaRPr lang="es-EC" sz="1800" dirty="0"/>
              </a:p>
            </p:txBody>
          </p:sp>
        </mc:Choice>
        <mc:Fallback xmlns="">
          <p:pic>
            <p:nvPicPr>
              <p:cNvPr id="17" name="EQ_e3b1f2e8d816_54_s1000_l" descr="/home/claude/u2/eq/eq_e3b1f2e8d816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7240" y="3147060"/>
                <a:ext cx="3160776" cy="56388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Otto real: diferencias generales</a:t>
            </a:r>
            <a:endParaRPr lang="en-US" sz="3000" dirty="0"/>
          </a:p>
        </p:txBody>
      </p:sp>
      <p:sp>
        <p:nvSpPr>
          <p:cNvPr id="3" name="kicker_28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CICLO OTTO</a:t>
            </a:r>
            <a:endParaRPr lang="en-US" sz="1100" dirty="0"/>
          </a:p>
        </p:txBody>
      </p:sp>
      <p:sp>
        <p:nvSpPr>
          <p:cNvPr id="5" name="txt_286"/>
          <p:cNvSpPr txBox="1"/>
          <p:nvPr/>
        </p:nvSpPr>
        <p:spPr>
          <a:xfrm>
            <a:off x="548640" y="1463040"/>
            <a:ext cx="43891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combustión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instantánea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chispa salta antes del PMS y la presión máxima es menor que la ideal.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calor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las paredes del cilindro (compresión y expansión no son adiabáticas).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válvula de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abre antes del PMI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facilitar la salida de los gases.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admisión y el escape forman el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lazo de bombeo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consume trabajo.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fluido no es aire puro: mezcla y luego gases de combustión.</a:t>
            </a:r>
            <a:endParaRPr lang="en-US" sz="1500" dirty="0"/>
          </a:p>
        </p:txBody>
      </p:sp>
      <p:sp>
        <p:nvSpPr>
          <p:cNvPr id="6" name="fig_287"/>
          <p:cNvSpPr/>
          <p:nvPr/>
        </p:nvSpPr>
        <p:spPr>
          <a:xfrm>
            <a:off x="5212080" y="1463040"/>
            <a:ext cx="3383280" cy="47548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g_288" descr="/home/claude/img/u2d_otto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473321"/>
            <a:ext cx="3163824" cy="2350269"/>
          </a:xfrm>
          <a:prstGeom prst="rect">
            <a:avLst/>
          </a:prstGeom>
        </p:spPr>
      </p:pic>
      <p:sp>
        <p:nvSpPr>
          <p:cNvPr id="8" name="cap_289"/>
          <p:cNvSpPr txBox="1"/>
          <p:nvPr/>
        </p:nvSpPr>
        <p:spPr>
          <a:xfrm>
            <a:off x="5303520" y="57790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 (esquemático)</a:t>
            </a:r>
            <a:endParaRPr lang="en-US" sz="1100" dirty="0"/>
          </a:p>
        </p:txBody>
      </p:sp>
      <p:sp>
        <p:nvSpPr>
          <p:cNvPr id="9" name="fig_290"/>
          <p:cNvSpPr/>
          <p:nvPr/>
        </p:nvSpPr>
        <p:spPr>
          <a:xfrm>
            <a:off x="8869680" y="1463040"/>
            <a:ext cx="2773375" cy="4754880"/>
          </a:xfrm>
          <a:prstGeom prst="roundRect">
            <a:avLst>
              <a:gd name="adj" fmla="val 26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g_291" descr="/home/claude/img/u2_image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2884179"/>
            <a:ext cx="2553919" cy="1528554"/>
          </a:xfrm>
          <a:prstGeom prst="rect">
            <a:avLst/>
          </a:prstGeom>
        </p:spPr>
      </p:pic>
      <p:sp>
        <p:nvSpPr>
          <p:cNvPr id="11" name="cap_292"/>
          <p:cNvSpPr txBox="1"/>
          <p:nvPr/>
        </p:nvSpPr>
        <p:spPr>
          <a:xfrm>
            <a:off x="8961120" y="5779008"/>
            <a:ext cx="2590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real e ideal (Çengel y Boles, 2012)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Motores de dos tiempos: panorama comparativo</a:t>
            </a:r>
            <a:endParaRPr lang="en-US" sz="3000" dirty="0"/>
          </a:p>
        </p:txBody>
      </p:sp>
      <p:sp>
        <p:nvSpPr>
          <p:cNvPr id="3" name="kicker_293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CICLO OTTO</a:t>
            </a:r>
            <a:endParaRPr lang="en-US" sz="1100" dirty="0"/>
          </a:p>
        </p:txBody>
      </p:sp>
      <p:sp>
        <p:nvSpPr>
          <p:cNvPr id="5" name="txt_294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funciones se realizan en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carreras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(una vuelta del cigüeñal).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cárter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sellado precomprime la mezcla; las válvulas se sustituyen por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lumbreras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pared del cilindro.</a:t>
            </a:r>
            <a:endParaRPr lang="en-US" sz="1500" dirty="0"/>
          </a:p>
        </p:txBody>
      </p:sp>
      <p:graphicFrame>
        <p:nvGraphicFramePr>
          <p:cNvPr id="35" name="tbl_2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5669280" cy="296265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tiempos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Cuatro tiempos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Carreras por ciclo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(360°)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(720°)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Lumbreras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Válvulas y árbol de levas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 por cilindrada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Eficiencia y emisiones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Peores (barrido incompleto)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Lubricación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Aceite mezclado con el combustible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Cárter con aceite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Motos pequeñas, motosierras, motores marinos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Automóviles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fig_296"/>
          <p:cNvSpPr/>
          <p:nvPr/>
        </p:nvSpPr>
        <p:spPr>
          <a:xfrm>
            <a:off x="6583680" y="1463040"/>
            <a:ext cx="2377440" cy="47548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g_297" descr="/home/claude/img/u2_image24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1771664"/>
            <a:ext cx="2157984" cy="3753584"/>
          </a:xfrm>
          <a:prstGeom prst="rect">
            <a:avLst/>
          </a:prstGeom>
        </p:spPr>
      </p:pic>
      <p:sp>
        <p:nvSpPr>
          <p:cNvPr id="9" name="cap_298"/>
          <p:cNvSpPr txBox="1"/>
          <p:nvPr/>
        </p:nvSpPr>
        <p:spPr>
          <a:xfrm>
            <a:off x="6675120" y="57790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dos tiempos</a:t>
            </a:r>
            <a:endParaRPr lang="en-US" sz="1100" dirty="0"/>
          </a:p>
        </p:txBody>
      </p:sp>
      <p:sp>
        <p:nvSpPr>
          <p:cNvPr id="10" name="fig_299"/>
          <p:cNvSpPr/>
          <p:nvPr/>
        </p:nvSpPr>
        <p:spPr>
          <a:xfrm>
            <a:off x="9144000" y="1463040"/>
            <a:ext cx="2499055" cy="47548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g_300" descr="/home/claude/img/u2_image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28" y="2351226"/>
            <a:ext cx="2279599" cy="2594461"/>
          </a:xfrm>
          <a:prstGeom prst="rect">
            <a:avLst/>
          </a:prstGeom>
        </p:spPr>
      </p:pic>
      <p:sp>
        <p:nvSpPr>
          <p:cNvPr id="12" name="cap_301"/>
          <p:cNvSpPr txBox="1"/>
          <p:nvPr/>
        </p:nvSpPr>
        <p:spPr>
          <a:xfrm>
            <a:off x="9235440" y="5779008"/>
            <a:ext cx="2316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Cárter y lumbreras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Diesel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ideal de los motores de encendido por compresión.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2: Ciclos termodinámicos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Motores de encendido por compresión</a:t>
            </a:r>
            <a:endParaRPr lang="en-US" sz="3000" dirty="0"/>
          </a:p>
        </p:txBody>
      </p:sp>
      <p:sp>
        <p:nvSpPr>
          <p:cNvPr id="3" name="kicker_30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CICLO DIESEL</a:t>
            </a:r>
            <a:endParaRPr lang="en-US" sz="1100" dirty="0"/>
          </a:p>
        </p:txBody>
      </p:sp>
      <p:sp>
        <p:nvSpPr>
          <p:cNvPr id="5" name="txt_303"/>
          <p:cNvSpPr txBox="1"/>
          <p:nvPr/>
        </p:nvSpPr>
        <p:spPr>
          <a:xfrm>
            <a:off x="548640" y="1463040"/>
            <a:ext cx="62179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comprime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hasta una temperatura superior a la de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autoencendido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combustible.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combustible se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aire caliente y se enciende al contacto: no hay bujía.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no haber riesgo de golpeteo, r es mucho mayor: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 24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Admite combustibles menos refinados (diésel, biodiésel).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real: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 a 40 %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fig_304"/>
          <p:cNvSpPr/>
          <p:nvPr/>
        </p:nvSpPr>
        <p:spPr>
          <a:xfrm>
            <a:off x="7132320" y="1463040"/>
            <a:ext cx="4510735" cy="47548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g_305" descr="/home/claude/img/u2_image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931944"/>
            <a:ext cx="4291279" cy="3433023"/>
          </a:xfrm>
          <a:prstGeom prst="rect">
            <a:avLst/>
          </a:prstGeom>
        </p:spPr>
      </p:pic>
      <p:sp>
        <p:nvSpPr>
          <p:cNvPr id="8" name="cap_306"/>
          <p:cNvSpPr txBox="1"/>
          <p:nvPr/>
        </p:nvSpPr>
        <p:spPr>
          <a:xfrm>
            <a:off x="7223760" y="5779008"/>
            <a:ext cx="4327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Gasolina: chispa sobre la mezcla. Diésel: inyección en aire caliente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Diesel ideal: procesos y etapas</a:t>
            </a:r>
            <a:endParaRPr lang="en-US" sz="3000" dirty="0"/>
          </a:p>
        </p:txBody>
      </p:sp>
      <p:sp>
        <p:nvSpPr>
          <p:cNvPr id="3" name="kicker_30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CICLO DIESEL</a:t>
            </a:r>
            <a:endParaRPr lang="en-US" sz="1100" dirty="0"/>
          </a:p>
        </p:txBody>
      </p:sp>
      <p:sp>
        <p:nvSpPr>
          <p:cNvPr id="5" name="fig_308"/>
          <p:cNvSpPr/>
          <p:nvPr/>
        </p:nvSpPr>
        <p:spPr>
          <a:xfrm>
            <a:off x="548640" y="1463040"/>
            <a:ext cx="78638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g_309" descr="/home/claude/img/u2d_diesel_gene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55876"/>
            <a:ext cx="7644384" cy="3185160"/>
          </a:xfrm>
          <a:prstGeom prst="rect">
            <a:avLst/>
          </a:prstGeom>
        </p:spPr>
      </p:pic>
      <p:sp>
        <p:nvSpPr>
          <p:cNvPr id="7" name="cap_310"/>
          <p:cNvSpPr txBox="1"/>
          <p:nvPr/>
        </p:nvSpPr>
        <p:spPr>
          <a:xfrm>
            <a:off x="640080" y="57790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</a:t>
            </a:r>
            <a:endParaRPr lang="en-US" sz="1100" dirty="0"/>
          </a:p>
        </p:txBody>
      </p:sp>
      <p:sp>
        <p:nvSpPr>
          <p:cNvPr id="8" name="card_311"/>
          <p:cNvSpPr/>
          <p:nvPr/>
        </p:nvSpPr>
        <p:spPr>
          <a:xfrm>
            <a:off x="8686800" y="1463040"/>
            <a:ext cx="2956255" cy="1051560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/>
        </p:spPr>
      </p:sp>
      <p:sp>
        <p:nvSpPr>
          <p:cNvPr id="9" name="dot_312"/>
          <p:cNvSpPr/>
          <p:nvPr/>
        </p:nvSpPr>
        <p:spPr>
          <a:xfrm>
            <a:off x="891540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xt_313"/>
          <p:cNvSpPr txBox="1"/>
          <p:nvPr/>
        </p:nvSpPr>
        <p:spPr>
          <a:xfrm>
            <a:off x="891540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1→2</a:t>
            </a:r>
            <a:endParaRPr lang="en-US" sz="1800" dirty="0"/>
          </a:p>
        </p:txBody>
      </p:sp>
      <p:sp>
        <p:nvSpPr>
          <p:cNvPr id="11" name="txt_314"/>
          <p:cNvSpPr txBox="1"/>
          <p:nvPr/>
        </p:nvSpPr>
        <p:spPr>
          <a:xfrm>
            <a:off x="9619488" y="1664208"/>
            <a:ext cx="18589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Compresión isentrópica</a:t>
            </a:r>
            <a:endParaRPr lang="en-US" sz="1400" dirty="0"/>
          </a:p>
        </p:txBody>
      </p:sp>
      <p:sp>
        <p:nvSpPr>
          <p:cNvPr id="12" name="card_315"/>
          <p:cNvSpPr/>
          <p:nvPr/>
        </p:nvSpPr>
        <p:spPr>
          <a:xfrm>
            <a:off x="8686800" y="2697480"/>
            <a:ext cx="2956255" cy="1051560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/>
        </p:spPr>
      </p:sp>
      <p:sp>
        <p:nvSpPr>
          <p:cNvPr id="13" name="dot_316"/>
          <p:cNvSpPr/>
          <p:nvPr/>
        </p:nvSpPr>
        <p:spPr>
          <a:xfrm>
            <a:off x="8915400" y="292608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xt_317"/>
          <p:cNvSpPr txBox="1"/>
          <p:nvPr/>
        </p:nvSpPr>
        <p:spPr>
          <a:xfrm>
            <a:off x="891540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2→3</a:t>
            </a:r>
            <a:endParaRPr lang="en-US" sz="1800" dirty="0"/>
          </a:p>
        </p:txBody>
      </p:sp>
      <p:sp>
        <p:nvSpPr>
          <p:cNvPr id="15" name="txt_318"/>
          <p:cNvSpPr txBox="1"/>
          <p:nvPr/>
        </p:nvSpPr>
        <p:spPr>
          <a:xfrm>
            <a:off x="9619488" y="2898648"/>
            <a:ext cx="18589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Calor a P = cte</a:t>
            </a:r>
            <a:endParaRPr lang="en-US" sz="1400" dirty="0"/>
          </a:p>
        </p:txBody>
      </p:sp>
      <p:sp>
        <p:nvSpPr>
          <p:cNvPr id="16" name="card_319"/>
          <p:cNvSpPr/>
          <p:nvPr/>
        </p:nvSpPr>
        <p:spPr>
          <a:xfrm>
            <a:off x="8686800" y="3931920"/>
            <a:ext cx="2956255" cy="1051560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/>
        </p:spPr>
      </p:sp>
      <p:sp>
        <p:nvSpPr>
          <p:cNvPr id="17" name="dot_320"/>
          <p:cNvSpPr/>
          <p:nvPr/>
        </p:nvSpPr>
        <p:spPr>
          <a:xfrm>
            <a:off x="8915400" y="416052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xt_321"/>
          <p:cNvSpPr txBox="1"/>
          <p:nvPr/>
        </p:nvSpPr>
        <p:spPr>
          <a:xfrm>
            <a:off x="891540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3→4</a:t>
            </a:r>
            <a:endParaRPr lang="en-US" sz="1800" dirty="0"/>
          </a:p>
        </p:txBody>
      </p:sp>
      <p:sp>
        <p:nvSpPr>
          <p:cNvPr id="19" name="txt_322"/>
          <p:cNvSpPr txBox="1"/>
          <p:nvPr/>
        </p:nvSpPr>
        <p:spPr>
          <a:xfrm>
            <a:off x="9619488" y="4133088"/>
            <a:ext cx="18589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Expansión isentrópica</a:t>
            </a:r>
            <a:endParaRPr lang="en-US" sz="1400" dirty="0"/>
          </a:p>
        </p:txBody>
      </p:sp>
      <p:sp>
        <p:nvSpPr>
          <p:cNvPr id="20" name="card_323"/>
          <p:cNvSpPr/>
          <p:nvPr/>
        </p:nvSpPr>
        <p:spPr>
          <a:xfrm>
            <a:off x="8686800" y="5166360"/>
            <a:ext cx="2956255" cy="1051560"/>
          </a:xfrm>
          <a:prstGeom prst="roundRect">
            <a:avLst>
              <a:gd name="adj" fmla="val 8696"/>
            </a:avLst>
          </a:prstGeom>
          <a:solidFill>
            <a:srgbClr val="F2F5F8"/>
          </a:solidFill>
          <a:ln/>
        </p:spPr>
      </p:sp>
      <p:sp>
        <p:nvSpPr>
          <p:cNvPr id="21" name="dot_324"/>
          <p:cNvSpPr/>
          <p:nvPr/>
        </p:nvSpPr>
        <p:spPr>
          <a:xfrm>
            <a:off x="8915400" y="5394960"/>
            <a:ext cx="566928" cy="566928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22" name="txt_325"/>
          <p:cNvSpPr txBox="1"/>
          <p:nvPr/>
        </p:nvSpPr>
        <p:spPr>
          <a:xfrm>
            <a:off x="8915400" y="5394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4→1</a:t>
            </a:r>
            <a:endParaRPr lang="en-US" sz="1800" dirty="0"/>
          </a:p>
        </p:txBody>
      </p:sp>
      <p:sp>
        <p:nvSpPr>
          <p:cNvPr id="23" name="txt_326"/>
          <p:cNvSpPr txBox="1"/>
          <p:nvPr/>
        </p:nvSpPr>
        <p:spPr>
          <a:xfrm>
            <a:off x="9619488" y="5367528"/>
            <a:ext cx="18589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Rechazo a v = cte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 con Otto: el aporte de calor</a:t>
            </a:r>
            <a:endParaRPr lang="en-US" sz="3000" dirty="0"/>
          </a:p>
        </p:txBody>
      </p:sp>
      <p:sp>
        <p:nvSpPr>
          <p:cNvPr id="3" name="kicker_32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CICLO DIESEL</a:t>
            </a:r>
            <a:endParaRPr lang="en-US" sz="1100" dirty="0"/>
          </a:p>
        </p:txBody>
      </p:sp>
      <p:sp>
        <p:nvSpPr>
          <p:cNvPr id="5" name="card_328"/>
          <p:cNvSpPr/>
          <p:nvPr/>
        </p:nvSpPr>
        <p:spPr>
          <a:xfrm>
            <a:off x="548640" y="146304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6" name="txt_329"/>
          <p:cNvSpPr txBox="1"/>
          <p:nvPr/>
        </p:nvSpPr>
        <p:spPr>
          <a:xfrm>
            <a:off x="777240" y="1627632"/>
            <a:ext cx="4663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 Y RELACIÓN DE CORTE DE ADMISIÓN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cuación 7"/>
              <p:cNvSpPr txBox="1"/>
              <p:nvPr/>
            </p:nvSpPr>
            <p:spPr>
              <a:xfrm>
                <a:off x="1376172" y="3135757"/>
                <a:ext cx="3465576" cy="3870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𝑒𝑛𝑡𝑟𝑎𝑑𝑎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7" name="EQ_8953cd5eceac_55_s1000_ctr" descr="/home/claude/u2/eq/eq_8953cd5eceac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6172" y="3135757"/>
                <a:ext cx="3465576" cy="387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cuación 8"/>
              <p:cNvSpPr txBox="1"/>
              <p:nvPr/>
            </p:nvSpPr>
            <p:spPr>
              <a:xfrm>
                <a:off x="1447800" y="3741547"/>
                <a:ext cx="3322320" cy="3718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𝑠𝑎𝑙𝑖𝑑𝑎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8" name="EQ_fa5ac52fe286_56_s1000_ctr" descr="/home/claude/u2/eq/eq_fa5ac52fe286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47800" y="3741547"/>
                <a:ext cx="3322320" cy="371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Ecuación 9"/>
              <p:cNvSpPr txBox="1"/>
              <p:nvPr/>
            </p:nvSpPr>
            <p:spPr>
              <a:xfrm>
                <a:off x="2699004" y="4331970"/>
                <a:ext cx="819912" cy="62484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9" name="EQ_02dc163eb2b4_57_s1000_ctr" descr="/home/claude/u2/eq/eq_02dc163eb2b4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99004" y="4331970"/>
                <a:ext cx="819912" cy="62484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ard_330"/>
          <p:cNvSpPr/>
          <p:nvPr/>
        </p:nvSpPr>
        <p:spPr>
          <a:xfrm>
            <a:off x="5943600" y="1463040"/>
            <a:ext cx="5699455" cy="2194560"/>
          </a:xfrm>
          <a:prstGeom prst="roundRect">
            <a:avLst>
              <a:gd name="adj" fmla="val 4167"/>
            </a:avLst>
          </a:prstGeom>
          <a:solidFill>
            <a:srgbClr val="D9EEEE"/>
          </a:solidFill>
          <a:ln/>
        </p:spPr>
      </p:sp>
      <p:sp>
        <p:nvSpPr>
          <p:cNvPr id="11" name="txt_331"/>
          <p:cNvSpPr txBox="1"/>
          <p:nvPr/>
        </p:nvSpPr>
        <p:spPr>
          <a:xfrm>
            <a:off x="6172200" y="1627632"/>
            <a:ext cx="524225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(aire estándar frío)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cuación 12"/>
              <p:cNvSpPr txBox="1"/>
              <p:nvPr/>
            </p:nvSpPr>
            <p:spPr>
              <a:xfrm>
                <a:off x="7077437" y="2385060"/>
                <a:ext cx="3431781" cy="762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189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189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2189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C" sz="2189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C" sz="2189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𝐷𝑖𝑒𝑠𝑒𝑙</m:t>
                          </m:r>
                        </m:sub>
                      </m:sSub>
                      <m:r>
                        <a:rPr lang="es-EC" sz="2189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2189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2189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s-EC" sz="2189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C" sz="2189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s-EC" sz="2189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EC" sz="2189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C" sz="2189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C" sz="2189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s-EC" sz="2189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C" sz="2189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EC" sz="2189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s-EC" sz="2189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es-EC" sz="2189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EC" sz="2189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EC" sz="2189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s-EC" sz="2189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C" sz="2189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EC" sz="2189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s-EC" sz="2189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EC" sz="2189" dirty="0"/>
              </a:p>
            </p:txBody>
          </p:sp>
        </mc:Choice>
        <mc:Fallback xmlns="">
          <p:pic>
            <p:nvPicPr>
              <p:cNvPr id="12" name="EQ_f949142de34d_58_s912_ctr" descr="/home/claude/u2/eq/eq_f949142de34d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77437" y="2385060"/>
                <a:ext cx="3431781" cy="762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card_332"/>
          <p:cNvSpPr/>
          <p:nvPr/>
        </p:nvSpPr>
        <p:spPr>
          <a:xfrm>
            <a:off x="5943600" y="3886200"/>
            <a:ext cx="5699455" cy="2331720"/>
          </a:xfrm>
          <a:prstGeom prst="roundRect">
            <a:avLst>
              <a:gd name="adj" fmla="val 3922"/>
            </a:avLst>
          </a:prstGeom>
          <a:solidFill>
            <a:srgbClr val="FCE6DF"/>
          </a:solidFill>
          <a:ln/>
        </p:spPr>
      </p:sp>
      <p:sp>
        <p:nvSpPr>
          <p:cNvPr id="14" name="dot_333"/>
          <p:cNvSpPr/>
          <p:nvPr/>
        </p:nvSpPr>
        <p:spPr>
          <a:xfrm>
            <a:off x="6126480" y="477774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5" name="ic_33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4896612"/>
            <a:ext cx="310896" cy="310896"/>
          </a:xfrm>
          <a:prstGeom prst="rect">
            <a:avLst/>
          </a:prstGeom>
        </p:spPr>
      </p:pic>
      <p:sp>
        <p:nvSpPr>
          <p:cNvPr id="16" name="txt_335"/>
          <p:cNvSpPr txBox="1"/>
          <p:nvPr/>
        </p:nvSpPr>
        <p:spPr>
          <a:xfrm>
            <a:off x="6812280" y="3959352"/>
            <a:ext cx="4693615" cy="21854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término entre corchetes es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que 1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 la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r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Otto es más eficiente. En la práctica el Diesel trabaja con r mucho mayor y por eso es más eficiente.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 de r y de la relación de corte</a:t>
            </a:r>
            <a:endParaRPr lang="en-US" sz="3000" dirty="0"/>
          </a:p>
        </p:txBody>
      </p:sp>
      <p:sp>
        <p:nvSpPr>
          <p:cNvPr id="3" name="kicker_336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CICLO DIESEL</a:t>
            </a:r>
            <a:endParaRPr lang="en-US" sz="1100" dirty="0"/>
          </a:p>
        </p:txBody>
      </p:sp>
      <p:graphicFrame>
        <p:nvGraphicFramePr>
          <p:cNvPr id="5" name="chart_337"/>
          <p:cNvGraphicFramePr/>
          <p:nvPr/>
        </p:nvGraphicFramePr>
        <p:xfrm>
          <a:off x="548640" y="1463040"/>
          <a:ext cx="67665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xt_338"/>
          <p:cNvSpPr txBox="1"/>
          <p:nvPr/>
        </p:nvSpPr>
        <p:spPr>
          <a:xfrm>
            <a:off x="7680960" y="1463040"/>
            <a:ext cx="3962095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 fija, al aumentar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600" b="1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(más combustible inyectado) la eficiencia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disminuye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de compresión típicas de los motores diésel: </a:t>
            </a: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 24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Diesel: planteamiento</a:t>
            </a:r>
            <a:endParaRPr lang="en-US" sz="3000" dirty="0"/>
          </a:p>
        </p:txBody>
      </p:sp>
      <p:sp>
        <p:nvSpPr>
          <p:cNvPr id="3" name="kicker_339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CICLO DIESEL</a:t>
            </a:r>
            <a:endParaRPr lang="en-US" sz="1100" dirty="0"/>
          </a:p>
        </p:txBody>
      </p:sp>
      <p:sp>
        <p:nvSpPr>
          <p:cNvPr id="5" name="card_340"/>
          <p:cNvSpPr/>
          <p:nvPr/>
        </p:nvSpPr>
        <p:spPr>
          <a:xfrm>
            <a:off x="548640" y="1463040"/>
            <a:ext cx="4023360" cy="4754880"/>
          </a:xfrm>
          <a:prstGeom prst="roundRect">
            <a:avLst>
              <a:gd name="adj" fmla="val 2273"/>
            </a:avLst>
          </a:prstGeom>
          <a:solidFill>
            <a:srgbClr val="F2F5F8"/>
          </a:solidFill>
          <a:ln/>
        </p:spPr>
      </p:sp>
      <p:sp>
        <p:nvSpPr>
          <p:cNvPr id="6" name="txt_341"/>
          <p:cNvSpPr txBox="1"/>
          <p:nvPr/>
        </p:nvSpPr>
        <p:spPr>
          <a:xfrm>
            <a:off x="7772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342"/>
          <p:cNvSpPr txBox="1"/>
          <p:nvPr/>
        </p:nvSpPr>
        <p:spPr>
          <a:xfrm>
            <a:off x="777240" y="2057400"/>
            <a:ext cx="356616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Diesel de aire estándar con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18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 inicio de la compresión: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K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 MPa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Relación de combustión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500" b="1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Determine: a) T y P al final de cada proceso; b) el rendimiento térmico; c) la PME.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Moran y Shapiro (2004), ejemplo 9.2; propiedades de la tabla A-22.</a:t>
            </a:r>
            <a:endParaRPr lang="en-US" sz="1500" dirty="0"/>
          </a:p>
        </p:txBody>
      </p:sp>
      <p:sp>
        <p:nvSpPr>
          <p:cNvPr id="8" name="card_343"/>
          <p:cNvSpPr/>
          <p:nvPr/>
        </p:nvSpPr>
        <p:spPr>
          <a:xfrm>
            <a:off x="4892040" y="1463040"/>
            <a:ext cx="675101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9" name="txt_344"/>
          <p:cNvSpPr txBox="1"/>
          <p:nvPr/>
        </p:nvSpPr>
        <p:spPr>
          <a:xfrm>
            <a:off x="5120640" y="1645920"/>
            <a:ext cx="629381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p:sp>
        <p:nvSpPr>
          <p:cNvPr id="10" name="txt_345"/>
          <p:cNvSpPr txBox="1"/>
          <p:nvPr/>
        </p:nvSpPr>
        <p:spPr>
          <a:xfrm>
            <a:off x="5166360" y="2103120"/>
            <a:ext cx="620237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1: u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214,07 kJ/kg; v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621,2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cuación 11"/>
              <p:cNvSpPr txBox="1"/>
              <p:nvPr/>
            </p:nvSpPr>
            <p:spPr>
              <a:xfrm>
                <a:off x="5166360" y="2539365"/>
                <a:ext cx="6166104" cy="5699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s-EC" sz="19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621,2</m:t>
                          </m:r>
                        </m:num>
                        <m:den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=34,51 ⇒ 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=898,3 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=930,98 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1900" dirty="0"/>
              </a:p>
            </p:txBody>
          </p:sp>
        </mc:Choice>
        <mc:Fallback xmlns="">
          <p:pic>
            <p:nvPicPr>
              <p:cNvPr id="11" name="EQ_94a217121fbf_59_s1000_l" descr="/home/claude/u2/eq/eq_94a217121fbf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66360" y="2539365"/>
                <a:ext cx="6166104" cy="5699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cuación 12"/>
              <p:cNvSpPr txBox="1"/>
              <p:nvPr/>
            </p:nvSpPr>
            <p:spPr>
              <a:xfrm>
                <a:off x="5166360" y="3237103"/>
                <a:ext cx="4187952" cy="6004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9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9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s-EC" sz="19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=0,1</m:t>
                      </m:r>
                      <m:d>
                        <m:d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C" sz="19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C" sz="19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898,3</m:t>
                              </m:r>
                            </m:num>
                            <m:den>
                              <m:r>
                                <a:rPr lang="es-EC" sz="19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300</m:t>
                              </m:r>
                            </m:den>
                          </m:f>
                        </m:e>
                      </m:d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(18)=5,39 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 lang="es-EC" sz="1900" dirty="0"/>
              </a:p>
            </p:txBody>
          </p:sp>
        </mc:Choice>
        <mc:Fallback xmlns="">
          <p:pic>
            <p:nvPicPr>
              <p:cNvPr id="12" name="EQ_895a746dfc53_60_s1000_l" descr="/home/claude/u2/eq/eq_895a746dfc53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66360" y="3237103"/>
                <a:ext cx="4187952" cy="600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cuación 13"/>
              <p:cNvSpPr txBox="1"/>
              <p:nvPr/>
            </p:nvSpPr>
            <p:spPr>
              <a:xfrm>
                <a:off x="5166360" y="3984688"/>
                <a:ext cx="5221224" cy="3261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=2(898,3)=1 796,6 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; 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=1 999,1 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1900" dirty="0"/>
              </a:p>
            </p:txBody>
          </p:sp>
        </mc:Choice>
        <mc:Fallback xmlns="">
          <p:pic>
            <p:nvPicPr>
              <p:cNvPr id="13" name="EQ_9d617701cf60_61_s1000_l" descr="/home/claude/u2/eq/eq_9d617701cf60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66360" y="3984688"/>
                <a:ext cx="5221224" cy="326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cuación 14"/>
              <p:cNvSpPr txBox="1"/>
              <p:nvPr/>
            </p:nvSpPr>
            <p:spPr>
              <a:xfrm>
                <a:off x="5166360" y="4456557"/>
                <a:ext cx="4755926" cy="603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sSub>
                            <m:sSubPr>
                              <m:ctrlP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(3,97)=35,73 ⇒ 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=887,7 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es-EC" sz="1900" dirty="0"/>
              </a:p>
            </p:txBody>
          </p:sp>
        </mc:Choice>
        <mc:Fallback xmlns="">
          <p:pic>
            <p:nvPicPr>
              <p:cNvPr id="14" name="EQ_d16074462da1_62_s1000_l" descr="/home/claude/u2/eq/eq_d16074462da1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6360" y="4456557"/>
                <a:ext cx="4755926" cy="603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cuación 15"/>
              <p:cNvSpPr txBox="1"/>
              <p:nvPr/>
            </p:nvSpPr>
            <p:spPr>
              <a:xfrm>
                <a:off x="5166360" y="5170932"/>
                <a:ext cx="3532632" cy="6004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90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0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90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90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90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90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=0,1</m:t>
                      </m:r>
                      <m:d>
                        <m:dPr>
                          <m:ctrlP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C" sz="190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C" sz="190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887,7</m:t>
                              </m:r>
                            </m:num>
                            <m:den>
                              <m:r>
                                <a:rPr lang="es-EC" sz="190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300</m:t>
                              </m:r>
                            </m:den>
                          </m:f>
                        </m:e>
                      </m:d>
                      <m: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=0,3 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 lang="es-EC" sz="1900" dirty="0"/>
              </a:p>
            </p:txBody>
          </p:sp>
        </mc:Choice>
        <mc:Fallback xmlns="">
          <p:pic>
            <p:nvPicPr>
              <p:cNvPr id="15" name="EQ_b122795d02c7_63_s1000_l" descr="/home/claude/u2/eq/eq_b122795d02c7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66360" y="5170932"/>
                <a:ext cx="3532632" cy="600456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Diesel: rendimiento y PME</a:t>
            </a:r>
            <a:endParaRPr lang="en-US" sz="3000" dirty="0"/>
          </a:p>
        </p:txBody>
      </p:sp>
      <p:sp>
        <p:nvSpPr>
          <p:cNvPr id="3" name="kicker_346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CICLO DIESEL</a:t>
            </a:r>
            <a:endParaRPr lang="en-US" sz="1100" dirty="0"/>
          </a:p>
        </p:txBody>
      </p:sp>
      <p:sp>
        <p:nvSpPr>
          <p:cNvPr id="5" name="card_347"/>
          <p:cNvSpPr/>
          <p:nvPr/>
        </p:nvSpPr>
        <p:spPr>
          <a:xfrm>
            <a:off x="548640" y="1463040"/>
            <a:ext cx="4023360" cy="4754880"/>
          </a:xfrm>
          <a:prstGeom prst="roundRect">
            <a:avLst>
              <a:gd name="adj" fmla="val 2273"/>
            </a:avLst>
          </a:prstGeom>
          <a:solidFill>
            <a:srgbClr val="F2F5F8"/>
          </a:solidFill>
          <a:ln/>
        </p:spPr>
      </p:sp>
      <p:sp>
        <p:nvSpPr>
          <p:cNvPr id="6" name="txt_348"/>
          <p:cNvSpPr txBox="1"/>
          <p:nvPr/>
        </p:nvSpPr>
        <p:spPr>
          <a:xfrm>
            <a:off x="7772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349"/>
          <p:cNvSpPr txBox="1"/>
          <p:nvPr/>
        </p:nvSpPr>
        <p:spPr>
          <a:xfrm>
            <a:off x="777240" y="2057400"/>
            <a:ext cx="35661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Continuación del ejemplo.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aire estándar frío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 = 1,4) se obtendría 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953 K, 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792 K y η = 63,2 %.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muestra la influencia de la variación de los calores específicos con la temperatura.</a:t>
            </a:r>
            <a:endParaRPr lang="en-US" sz="1500" dirty="0"/>
          </a:p>
        </p:txBody>
      </p:sp>
      <p:pic>
        <p:nvPicPr>
          <p:cNvPr id="8" name="img_350" descr="/home/claude/img/u2d_diesel_e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808" y="4526280"/>
            <a:ext cx="2031023" cy="1508760"/>
          </a:xfrm>
          <a:prstGeom prst="rect">
            <a:avLst/>
          </a:prstGeom>
        </p:spPr>
      </p:pic>
      <p:sp>
        <p:nvSpPr>
          <p:cNvPr id="9" name="card_351"/>
          <p:cNvSpPr/>
          <p:nvPr/>
        </p:nvSpPr>
        <p:spPr>
          <a:xfrm>
            <a:off x="4892040" y="1463040"/>
            <a:ext cx="675101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10" name="txt_352"/>
          <p:cNvSpPr txBox="1"/>
          <p:nvPr/>
        </p:nvSpPr>
        <p:spPr>
          <a:xfrm>
            <a:off x="5120640" y="1645920"/>
            <a:ext cx="629381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cuación 11"/>
              <p:cNvSpPr txBox="1"/>
              <p:nvPr/>
            </p:nvSpPr>
            <p:spPr>
              <a:xfrm>
                <a:off x="5166360" y="2103120"/>
                <a:ext cx="5520192" cy="603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C" sz="1890" b="0" i="1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s-EC" sz="18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189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8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s-EC" sz="189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s-EC" sz="18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C" sz="18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s-EC" sz="189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8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s-EC" sz="189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EC" sz="18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C" sz="18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s-EC" sz="189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C" sz="18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18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8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664,3−214,07</m:t>
                          </m:r>
                        </m:num>
                        <m:den>
                          <m:r>
                            <a:rPr lang="es-EC" sz="18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1 999,1−930,98</m:t>
                          </m:r>
                        </m:den>
                      </m:f>
                      <m:r>
                        <a:rPr lang="es-EC" sz="18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=0,578→57,8%</m:t>
                      </m:r>
                    </m:oMath>
                  </m:oMathPara>
                </a14:m>
                <a:endParaRPr lang="es-EC" sz="1890" dirty="0"/>
              </a:p>
            </p:txBody>
          </p:sp>
        </mc:Choice>
        <mc:Fallback xmlns="">
          <p:pic>
            <p:nvPicPr>
              <p:cNvPr id="11" name="EQ_6473c9c7de34_64_s995_l" descr="/home/claude/u2/eq/eq_6473c9c7de34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66360" y="2103120"/>
                <a:ext cx="5520192" cy="603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cuación 12"/>
              <p:cNvSpPr txBox="1"/>
              <p:nvPr/>
            </p:nvSpPr>
            <p:spPr>
              <a:xfrm>
                <a:off x="5166360" y="2852103"/>
                <a:ext cx="5925312" cy="3261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𝑐𝑖𝑐𝑙𝑜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)−(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)=1 068,1−450,2=617,9 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1900" dirty="0"/>
              </a:p>
            </p:txBody>
          </p:sp>
        </mc:Choice>
        <mc:Fallback xmlns="">
          <p:pic>
            <p:nvPicPr>
              <p:cNvPr id="12" name="EQ_edb927ff7905_65_s1000_l" descr="/home/claude/u2/eq/eq_edb927ff7905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66360" y="2852103"/>
                <a:ext cx="5925312" cy="326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cuación 13"/>
              <p:cNvSpPr txBox="1"/>
              <p:nvPr/>
            </p:nvSpPr>
            <p:spPr>
              <a:xfrm>
                <a:off x="5166360" y="3323971"/>
                <a:ext cx="3810629" cy="603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862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862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62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862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s-EC" sz="1862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62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1862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862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62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EC" sz="1862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(0,287)(300)</m:t>
                          </m:r>
                        </m:num>
                        <m:den>
                          <m: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=0,861</m:t>
                      </m:r>
                      <m:sSup>
                        <m:sSupPr>
                          <m:ctrl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1862" dirty="0"/>
              </a:p>
            </p:txBody>
          </p:sp>
        </mc:Choice>
        <mc:Fallback xmlns="">
          <p:pic>
            <p:nvPicPr>
              <p:cNvPr id="13" name="EQ_697141d2b46f_66_s980_l" descr="/home/claude/u2/eq/eq_697141d2b46f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6360" y="3323971"/>
                <a:ext cx="3810629" cy="603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cuación 14"/>
              <p:cNvSpPr txBox="1"/>
              <p:nvPr/>
            </p:nvSpPr>
            <p:spPr>
              <a:xfrm>
                <a:off x="5166360" y="4036949"/>
                <a:ext cx="5767070" cy="603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s-EC" sz="1881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pme</m:t>
                      </m:r>
                      <m:r>
                        <a:rPr lang="es-EC" sz="1881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81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881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81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C" sz="1881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𝑐𝑖𝑐𝑙𝑜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881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881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EC" sz="1881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C" sz="1881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(1−1/</m:t>
                          </m:r>
                          <m:r>
                            <a:rPr lang="es-EC" sz="1881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s-EC" sz="1881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EC" sz="1881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881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881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617,9</m:t>
                          </m:r>
                        </m:num>
                        <m:den>
                          <m:r>
                            <a:rPr lang="es-EC" sz="1881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0,861(1−1/18)</m:t>
                          </m:r>
                        </m:den>
                      </m:f>
                      <m:r>
                        <a:rPr lang="es-EC" sz="1881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=760 </m:t>
                      </m:r>
                      <m:r>
                        <m:rPr>
                          <m:sty m:val="p"/>
                        </m:rPr>
                        <a:rPr lang="es-EC" sz="1881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kPa</m:t>
                      </m:r>
                      <m:r>
                        <a:rPr lang="es-EC" sz="1881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=0,76 </m:t>
                      </m:r>
                      <m:r>
                        <m:rPr>
                          <m:sty m:val="p"/>
                        </m:rPr>
                        <a:rPr lang="es-EC" sz="1881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 lang="es-EC" sz="1881" dirty="0"/>
              </a:p>
            </p:txBody>
          </p:sp>
        </mc:Choice>
        <mc:Fallback xmlns="">
          <p:pic>
            <p:nvPicPr>
              <p:cNvPr id="14" name="EQ_6939f4caa734_67_s990_l" descr="/home/claude/u2/eq/eq_6939f4caa734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66360" y="4036949"/>
                <a:ext cx="5767070" cy="60325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Diesel real y ciclo dual</a:t>
            </a:r>
            <a:endParaRPr lang="en-US" sz="3000" dirty="0"/>
          </a:p>
        </p:txBody>
      </p:sp>
      <p:sp>
        <p:nvSpPr>
          <p:cNvPr id="3" name="kicker_353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CICLO DIESEL</a:t>
            </a:r>
            <a:endParaRPr lang="en-US" sz="1100" dirty="0"/>
          </a:p>
        </p:txBody>
      </p:sp>
      <p:sp>
        <p:nvSpPr>
          <p:cNvPr id="5" name="txt_354"/>
          <p:cNvSpPr txBox="1"/>
          <p:nvPr/>
        </p:nvSpPr>
        <p:spPr>
          <a:xfrm>
            <a:off x="548640" y="1463040"/>
            <a:ext cx="60350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motor real la combustión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ocurre a presión constante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una parte se quema casi a volumen constante (combustión rápida) y otra a presión aproximadamente constante.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hay transferencia de calor, retardo a la inflamación y lazo de bombeo.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dual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combina ambos aportes de calor: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c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y Diesel son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particulares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ciclo dual.</a:t>
            </a:r>
            <a:endParaRPr lang="en-US" sz="1500" dirty="0"/>
          </a:p>
        </p:txBody>
      </p:sp>
      <p:sp>
        <p:nvSpPr>
          <p:cNvPr id="6" name="fig_355"/>
          <p:cNvSpPr/>
          <p:nvPr/>
        </p:nvSpPr>
        <p:spPr>
          <a:xfrm>
            <a:off x="6858000" y="1463040"/>
            <a:ext cx="478505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g_356" descr="/home/claude/img/u2d_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952662"/>
            <a:ext cx="4565599" cy="3391588"/>
          </a:xfrm>
          <a:prstGeom prst="rect">
            <a:avLst/>
          </a:prstGeom>
        </p:spPr>
      </p:pic>
      <p:sp>
        <p:nvSpPr>
          <p:cNvPr id="8" name="cap_357"/>
          <p:cNvSpPr txBox="1"/>
          <p:nvPr/>
        </p:nvSpPr>
        <p:spPr>
          <a:xfrm>
            <a:off x="6949440" y="5779008"/>
            <a:ext cx="4602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Otto vs Diesel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Similitudes, diferencias, aplicación en automoción y relación con la eficiencia.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2: Ciclos termodinámicos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Otto vs Diesel: similitudes y diferencias</a:t>
            </a:r>
            <a:endParaRPr lang="en-US" sz="3000" dirty="0"/>
          </a:p>
        </p:txBody>
      </p:sp>
      <p:sp>
        <p:nvSpPr>
          <p:cNvPr id="3" name="kicker_358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 ·  COMPARACIÓN OTTO VS DIESEL</a:t>
            </a:r>
            <a:endParaRPr lang="en-US" sz="1100" dirty="0"/>
          </a:p>
        </p:txBody>
      </p:sp>
      <p:graphicFrame>
        <p:nvGraphicFramePr>
          <p:cNvPr id="45" name="tbl_3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53542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Otto (encendido por chispa)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Diesel (encendido por compresión)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1-2, 3-4 y 4-1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Iguales: compresión y expansión isentrópicas, rechazo a v = cte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de calor (2-3)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volumen constante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presión constante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comprime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Mezcla aire-combustible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aire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Encendido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Chispa de la bujía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Autoencendido al inyectar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Relación de compresión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 12 (límite: golpeteo)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 24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Eficiencia ideal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1 − 1/r</a:t>
                      </a:r>
                      <a:r>
                        <a:rPr lang="en-US" sz="1500" baseline="30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k−1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que Otto con la misma 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Eficiencia real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 a 30 %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35 % a 40 %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en el diagrama T–s</a:t>
            </a:r>
            <a:endParaRPr lang="en-US" sz="3000" dirty="0"/>
          </a:p>
        </p:txBody>
      </p:sp>
      <p:sp>
        <p:nvSpPr>
          <p:cNvPr id="3" name="kicker_360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 ·  COMPARACIÓN OTTO VS DIESEL</a:t>
            </a:r>
            <a:endParaRPr lang="en-US" sz="1100" dirty="0"/>
          </a:p>
        </p:txBody>
      </p:sp>
      <p:sp>
        <p:nvSpPr>
          <p:cNvPr id="5" name="fig_361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g_362" descr="/home/claude/img/u2d_otto_vs_dies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65" y="1572768"/>
            <a:ext cx="5588391" cy="4151376"/>
          </a:xfrm>
          <a:prstGeom prst="rect">
            <a:avLst/>
          </a:prstGeom>
        </p:spPr>
      </p:pic>
      <p:sp>
        <p:nvSpPr>
          <p:cNvPr id="7" name="cap_363"/>
          <p:cNvSpPr txBox="1"/>
          <p:nvPr/>
        </p:nvSpPr>
        <p:spPr>
          <a:xfrm>
            <a:off x="640080" y="57790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 (aire estándar frío, r = 12)</a:t>
            </a:r>
            <a:endParaRPr lang="en-US" sz="1100" dirty="0"/>
          </a:p>
        </p:txBody>
      </p:sp>
      <p:sp>
        <p:nvSpPr>
          <p:cNvPr id="8" name="txt_364"/>
          <p:cNvSpPr txBox="1"/>
          <p:nvPr/>
        </p:nvSpPr>
        <p:spPr>
          <a:xfrm>
            <a:off x="6949440" y="1463040"/>
            <a:ext cx="4693615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r y mismo q</a:t>
            </a:r>
            <a:r>
              <a:rPr lang="en-US" sz="1600" b="1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η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η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η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presión y temperatura máximas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 que limita el diseño real): η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η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η</a:t>
            </a: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</a:t>
            </a: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el motor diésel, que admite r más altas, es en la práctica el más eficiente.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general en automoción</a:t>
            </a:r>
            <a:endParaRPr lang="en-US" sz="3000" dirty="0"/>
          </a:p>
        </p:txBody>
      </p:sp>
      <p:sp>
        <p:nvSpPr>
          <p:cNvPr id="3" name="kicker_36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 ·  COMPARACIÓN OTTO VS DIESEL</a:t>
            </a:r>
            <a:endParaRPr lang="en-US" sz="1100" dirty="0"/>
          </a:p>
        </p:txBody>
      </p:sp>
      <p:sp>
        <p:nvSpPr>
          <p:cNvPr id="5" name="card_366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601"/>
            </a:avLst>
          </a:prstGeom>
          <a:solidFill>
            <a:srgbClr val="F2F5F8"/>
          </a:solidFill>
          <a:ln/>
        </p:spPr>
      </p:sp>
      <p:sp>
        <p:nvSpPr>
          <p:cNvPr id="6" name="dot_367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c_36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19656"/>
            <a:ext cx="310896" cy="310896"/>
          </a:xfrm>
          <a:prstGeom prst="rect">
            <a:avLst/>
          </a:prstGeom>
        </p:spPr>
      </p:pic>
      <p:sp>
        <p:nvSpPr>
          <p:cNvPr id="8" name="txt_369"/>
          <p:cNvSpPr txBox="1"/>
          <p:nvPr/>
        </p:nvSpPr>
        <p:spPr>
          <a:xfrm>
            <a:off x="1481328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Otto (gasolina)</a:t>
            </a:r>
            <a:endParaRPr lang="en-US" sz="1700" dirty="0"/>
          </a:p>
        </p:txBody>
      </p:sp>
      <p:sp>
        <p:nvSpPr>
          <p:cNvPr id="9" name="txt_370"/>
          <p:cNvSpPr txBox="1"/>
          <p:nvPr/>
        </p:nvSpPr>
        <p:spPr>
          <a:xfrm>
            <a:off x="777240" y="2377440"/>
            <a:ext cx="3103778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Automóviles livianos, motocicletas.</a:t>
            </a:r>
            <a:endParaRPr lang="en-US" sz="1500" dirty="0"/>
          </a:p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Combustibles: gasolinas, GLP, GNV, etanol.</a:t>
            </a:r>
            <a:endParaRPr lang="en-US" sz="1500" dirty="0"/>
          </a:p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Atkinson/Miller en vehículos híbridos.</a:t>
            </a:r>
            <a:endParaRPr lang="en-US" sz="1500" dirty="0"/>
          </a:p>
        </p:txBody>
      </p:sp>
      <p:sp>
        <p:nvSpPr>
          <p:cNvPr id="10" name="card_371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601"/>
            </a:avLst>
          </a:prstGeom>
          <a:solidFill>
            <a:srgbClr val="F2F5F8"/>
          </a:solidFill>
          <a:ln/>
        </p:spPr>
      </p:sp>
      <p:sp>
        <p:nvSpPr>
          <p:cNvPr id="11" name="dot_372"/>
          <p:cNvSpPr/>
          <p:nvPr/>
        </p:nvSpPr>
        <p:spPr>
          <a:xfrm>
            <a:off x="4566818" y="16916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2" name="ic_37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34" y="1819656"/>
            <a:ext cx="310896" cy="310896"/>
          </a:xfrm>
          <a:prstGeom prst="rect">
            <a:avLst/>
          </a:prstGeom>
        </p:spPr>
      </p:pic>
      <p:sp>
        <p:nvSpPr>
          <p:cNvPr id="13" name="txt_374"/>
          <p:cNvSpPr txBox="1"/>
          <p:nvPr/>
        </p:nvSpPr>
        <p:spPr>
          <a:xfrm>
            <a:off x="5270906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Diesel</a:t>
            </a:r>
            <a:endParaRPr lang="en-US" sz="1700" dirty="0"/>
          </a:p>
        </p:txBody>
      </p:sp>
      <p:sp>
        <p:nvSpPr>
          <p:cNvPr id="14" name="txt_375"/>
          <p:cNvSpPr txBox="1"/>
          <p:nvPr/>
        </p:nvSpPr>
        <p:spPr>
          <a:xfrm>
            <a:off x="4566818" y="2377440"/>
            <a:ext cx="3103778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Camiones, buses, maquinaria pesada, generadores y barcos.</a:t>
            </a:r>
            <a:endParaRPr lang="en-US" sz="1500" dirty="0"/>
          </a:p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torque a bajas rpm y menor consumo.</a:t>
            </a:r>
            <a:endParaRPr lang="en-US" sz="1500" dirty="0"/>
          </a:p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más pesados y costosos.</a:t>
            </a:r>
            <a:endParaRPr lang="en-US" sz="1500" dirty="0"/>
          </a:p>
        </p:txBody>
      </p:sp>
      <p:sp>
        <p:nvSpPr>
          <p:cNvPr id="15" name="card_376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601"/>
            </a:avLst>
          </a:prstGeom>
          <a:solidFill>
            <a:srgbClr val="F2F5F8"/>
          </a:solidFill>
          <a:ln/>
        </p:spPr>
      </p:sp>
      <p:sp>
        <p:nvSpPr>
          <p:cNvPr id="16" name="dot_377"/>
          <p:cNvSpPr/>
          <p:nvPr/>
        </p:nvSpPr>
        <p:spPr>
          <a:xfrm>
            <a:off x="8356397" y="1691640"/>
            <a:ext cx="566928" cy="566928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17" name="ic_37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413" y="1819656"/>
            <a:ext cx="310896" cy="310896"/>
          </a:xfrm>
          <a:prstGeom prst="rect">
            <a:avLst/>
          </a:prstGeom>
        </p:spPr>
      </p:pic>
      <p:sp>
        <p:nvSpPr>
          <p:cNvPr id="18" name="txt_379"/>
          <p:cNvSpPr txBox="1"/>
          <p:nvPr/>
        </p:nvSpPr>
        <p:spPr>
          <a:xfrm>
            <a:off x="9060485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Turbocompresor</a:t>
            </a:r>
            <a:endParaRPr lang="en-US" sz="1700" dirty="0"/>
          </a:p>
        </p:txBody>
      </p:sp>
      <p:sp>
        <p:nvSpPr>
          <p:cNvPr id="19" name="txt_380"/>
          <p:cNvSpPr txBox="1"/>
          <p:nvPr/>
        </p:nvSpPr>
        <p:spPr>
          <a:xfrm>
            <a:off x="8356397" y="2377440"/>
            <a:ext cx="3103778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el principio del ciclo Brayton (2.7.2): turbina movida por los gases de escape y compresor de aire.</a:t>
            </a:r>
            <a:endParaRPr lang="en-US" sz="1500" dirty="0"/>
          </a:p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la PME y compensa la altitud.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general con la eficiencia térmica</a:t>
            </a:r>
            <a:endParaRPr lang="en-US" sz="3000" dirty="0"/>
          </a:p>
        </p:txBody>
      </p:sp>
      <p:sp>
        <p:nvSpPr>
          <p:cNvPr id="3" name="kicker_381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 ·  COMPARACIÓN OTTO VS DIESEL</a:t>
            </a:r>
            <a:endParaRPr lang="en-US" sz="1100" dirty="0"/>
          </a:p>
        </p:txBody>
      </p:sp>
      <p:sp>
        <p:nvSpPr>
          <p:cNvPr id="5" name="card_382"/>
          <p:cNvSpPr/>
          <p:nvPr/>
        </p:nvSpPr>
        <p:spPr>
          <a:xfrm>
            <a:off x="548640" y="1463040"/>
            <a:ext cx="6035040" cy="2743200"/>
          </a:xfrm>
          <a:prstGeom prst="roundRect">
            <a:avLst>
              <a:gd name="adj" fmla="val 3333"/>
            </a:avLst>
          </a:prstGeom>
          <a:solidFill>
            <a:srgbClr val="D9EEEE"/>
          </a:solidFill>
          <a:ln/>
        </p:spPr>
      </p:sp>
      <p:sp>
        <p:nvSpPr>
          <p:cNvPr id="6" name="txt_383"/>
          <p:cNvSpPr txBox="1"/>
          <p:nvPr/>
        </p:nvSpPr>
        <p:spPr>
          <a:xfrm>
            <a:off x="777240" y="1627632"/>
            <a:ext cx="5577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r = 10  ·  DIESEL r = 18, r</a:t>
            </a:r>
            <a:r>
              <a:rPr lang="en-US" sz="1200" b="1" baseline="-40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cuación 7"/>
              <p:cNvSpPr txBox="1"/>
              <p:nvPr/>
            </p:nvSpPr>
            <p:spPr>
              <a:xfrm>
                <a:off x="2173224" y="2282698"/>
                <a:ext cx="2785872" cy="67970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𝑂𝑡𝑡𝑜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0,4</m:t>
                              </m:r>
                            </m:sup>
                          </m:sSup>
                        </m:den>
                      </m:f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=0,602</m:t>
                      </m:r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7" name="EQ_a716d9a51ef0_68_s1000_ctr" descr="/home/claude/u2/eq/eq_a716d9a51ef0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3224" y="2282698"/>
                <a:ext cx="2785872" cy="679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cuación 8"/>
              <p:cNvSpPr txBox="1"/>
              <p:nvPr/>
            </p:nvSpPr>
            <p:spPr>
              <a:xfrm>
                <a:off x="1534032" y="3108960"/>
                <a:ext cx="4064256" cy="6985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033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033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2033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𝐷𝑖𝑒𝑠𝑒𝑙</m:t>
                          </m:r>
                        </m:sub>
                      </m:sSub>
                      <m:r>
                        <a:rPr lang="es-EC" sz="2033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2033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2033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C" sz="2033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es-EC" sz="2033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C" sz="2033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es-EC" sz="2033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0,4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EC" sz="2033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C" sz="2033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C" sz="2033" b="0" i="0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C" sz="2033" b="0" i="0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EC" sz="2033" b="0" i="0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>1,4</m:t>
                                  </m:r>
                                </m:sup>
                              </m:sSup>
                              <m:r>
                                <a:rPr lang="es-EC" sz="2033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s-EC" sz="2033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1,4(2−1)</m:t>
                              </m:r>
                            </m:den>
                          </m:f>
                        </m:e>
                      </m:d>
                      <m:r>
                        <a:rPr lang="es-EC" sz="2033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=0,632</m:t>
                      </m:r>
                    </m:oMath>
                  </m:oMathPara>
                </a14:m>
                <a:endParaRPr lang="es-EC" sz="2033" dirty="0"/>
              </a:p>
            </p:txBody>
          </p:sp>
        </mc:Choice>
        <mc:Fallback xmlns="">
          <p:pic>
            <p:nvPicPr>
              <p:cNvPr id="8" name="EQ_9c45c7cd2861_69_s924_ctr" descr="/home/claude/u2/eq/eq_9c45c7cd2861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4032" y="3108960"/>
                <a:ext cx="4064256" cy="6985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card_384"/>
          <p:cNvSpPr/>
          <p:nvPr/>
        </p:nvSpPr>
        <p:spPr>
          <a:xfrm>
            <a:off x="6949440" y="1463040"/>
            <a:ext cx="2209648" cy="2240280"/>
          </a:xfrm>
          <a:prstGeom prst="roundRect">
            <a:avLst>
              <a:gd name="adj" fmla="val 4138"/>
            </a:avLst>
          </a:prstGeom>
          <a:solidFill>
            <a:srgbClr val="15233F"/>
          </a:solidFill>
          <a:ln/>
        </p:spPr>
      </p:sp>
      <p:sp>
        <p:nvSpPr>
          <p:cNvPr id="10" name="txt_385"/>
          <p:cNvSpPr txBox="1"/>
          <p:nvPr/>
        </p:nvSpPr>
        <p:spPr>
          <a:xfrm>
            <a:off x="7178040" y="1783080"/>
            <a:ext cx="175244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60 %</a:t>
            </a:r>
            <a:endParaRPr lang="en-US" sz="3000" dirty="0"/>
          </a:p>
        </p:txBody>
      </p:sp>
      <p:sp>
        <p:nvSpPr>
          <p:cNvPr id="11" name="txt_386"/>
          <p:cNvSpPr txBox="1"/>
          <p:nvPr/>
        </p:nvSpPr>
        <p:spPr>
          <a:xfrm>
            <a:off x="7178040" y="2743200"/>
            <a:ext cx="1752448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ideal (r = 10)</a:t>
            </a:r>
            <a:endParaRPr lang="en-US" sz="1400" dirty="0"/>
          </a:p>
        </p:txBody>
      </p:sp>
      <p:sp>
        <p:nvSpPr>
          <p:cNvPr id="12" name="card_387"/>
          <p:cNvSpPr/>
          <p:nvPr/>
        </p:nvSpPr>
        <p:spPr>
          <a:xfrm>
            <a:off x="9433408" y="1463040"/>
            <a:ext cx="2209648" cy="2240280"/>
          </a:xfrm>
          <a:prstGeom prst="roundRect">
            <a:avLst>
              <a:gd name="adj" fmla="val 4138"/>
            </a:avLst>
          </a:prstGeom>
          <a:solidFill>
            <a:srgbClr val="0E7C7B"/>
          </a:solidFill>
          <a:ln/>
        </p:spPr>
      </p:sp>
      <p:sp>
        <p:nvSpPr>
          <p:cNvPr id="13" name="txt_388"/>
          <p:cNvSpPr txBox="1"/>
          <p:nvPr/>
        </p:nvSpPr>
        <p:spPr>
          <a:xfrm>
            <a:off x="9662008" y="1783080"/>
            <a:ext cx="175244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63 %</a:t>
            </a:r>
            <a:endParaRPr lang="en-US" sz="3000" dirty="0"/>
          </a:p>
        </p:txBody>
      </p:sp>
      <p:sp>
        <p:nvSpPr>
          <p:cNvPr id="14" name="txt_389"/>
          <p:cNvSpPr txBox="1"/>
          <p:nvPr/>
        </p:nvSpPr>
        <p:spPr>
          <a:xfrm>
            <a:off x="9662008" y="2743200"/>
            <a:ext cx="1752448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ideal (r = 18)</a:t>
            </a:r>
            <a:endParaRPr lang="en-US" sz="1400" dirty="0"/>
          </a:p>
        </p:txBody>
      </p:sp>
      <p:sp>
        <p:nvSpPr>
          <p:cNvPr id="15" name="card_390"/>
          <p:cNvSpPr/>
          <p:nvPr/>
        </p:nvSpPr>
        <p:spPr>
          <a:xfrm>
            <a:off x="6949440" y="3977640"/>
            <a:ext cx="2209648" cy="2240280"/>
          </a:xfrm>
          <a:prstGeom prst="roundRect">
            <a:avLst>
              <a:gd name="adj" fmla="val 4138"/>
            </a:avLst>
          </a:prstGeom>
          <a:solidFill>
            <a:srgbClr val="F2F5F8"/>
          </a:solidFill>
          <a:ln/>
        </p:spPr>
      </p:sp>
      <p:sp>
        <p:nvSpPr>
          <p:cNvPr id="16" name="txt_391"/>
          <p:cNvSpPr txBox="1"/>
          <p:nvPr/>
        </p:nvSpPr>
        <p:spPr>
          <a:xfrm>
            <a:off x="7178040" y="4297680"/>
            <a:ext cx="175244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25–30 %</a:t>
            </a:r>
            <a:endParaRPr lang="en-US" sz="3000" dirty="0"/>
          </a:p>
        </p:txBody>
      </p:sp>
      <p:sp>
        <p:nvSpPr>
          <p:cNvPr id="17" name="txt_392"/>
          <p:cNvSpPr txBox="1"/>
          <p:nvPr/>
        </p:nvSpPr>
        <p:spPr>
          <a:xfrm>
            <a:off x="7178040" y="5257800"/>
            <a:ext cx="1752448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Gasolina real</a:t>
            </a:r>
            <a:endParaRPr lang="en-US" sz="1400" dirty="0"/>
          </a:p>
        </p:txBody>
      </p:sp>
      <p:sp>
        <p:nvSpPr>
          <p:cNvPr id="18" name="card_393"/>
          <p:cNvSpPr/>
          <p:nvPr/>
        </p:nvSpPr>
        <p:spPr>
          <a:xfrm>
            <a:off x="9433408" y="3977640"/>
            <a:ext cx="2209648" cy="2240280"/>
          </a:xfrm>
          <a:prstGeom prst="roundRect">
            <a:avLst>
              <a:gd name="adj" fmla="val 4138"/>
            </a:avLst>
          </a:prstGeom>
          <a:solidFill>
            <a:srgbClr val="F2F5F8"/>
          </a:solidFill>
          <a:ln/>
        </p:spPr>
      </p:sp>
      <p:sp>
        <p:nvSpPr>
          <p:cNvPr id="19" name="txt_394"/>
          <p:cNvSpPr txBox="1"/>
          <p:nvPr/>
        </p:nvSpPr>
        <p:spPr>
          <a:xfrm>
            <a:off x="9662008" y="4297680"/>
            <a:ext cx="175244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35–40 %</a:t>
            </a:r>
            <a:endParaRPr lang="en-US" sz="3000" dirty="0"/>
          </a:p>
        </p:txBody>
      </p:sp>
      <p:sp>
        <p:nvSpPr>
          <p:cNvPr id="20" name="txt_395"/>
          <p:cNvSpPr txBox="1"/>
          <p:nvPr/>
        </p:nvSpPr>
        <p:spPr>
          <a:xfrm>
            <a:off x="9662008" y="5257800"/>
            <a:ext cx="1752448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Diésel real</a:t>
            </a:r>
            <a:endParaRPr lang="en-US" sz="1400" dirty="0"/>
          </a:p>
        </p:txBody>
      </p:sp>
      <p:sp>
        <p:nvSpPr>
          <p:cNvPr id="21" name="card_396"/>
          <p:cNvSpPr/>
          <p:nvPr/>
        </p:nvSpPr>
        <p:spPr>
          <a:xfrm>
            <a:off x="548640" y="4480560"/>
            <a:ext cx="6035040" cy="1737360"/>
          </a:xfrm>
          <a:prstGeom prst="roundRect">
            <a:avLst>
              <a:gd name="adj" fmla="val 5263"/>
            </a:avLst>
          </a:prstGeom>
          <a:solidFill>
            <a:srgbClr val="FCE6DF"/>
          </a:solidFill>
          <a:ln/>
        </p:spPr>
      </p:sp>
      <p:sp>
        <p:nvSpPr>
          <p:cNvPr id="22" name="dot_397"/>
          <p:cNvSpPr/>
          <p:nvPr/>
        </p:nvSpPr>
        <p:spPr>
          <a:xfrm>
            <a:off x="731520" y="507492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3" name="ic_39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193792"/>
            <a:ext cx="310896" cy="310896"/>
          </a:xfrm>
          <a:prstGeom prst="rect">
            <a:avLst/>
          </a:prstGeom>
        </p:spPr>
      </p:pic>
      <p:sp>
        <p:nvSpPr>
          <p:cNvPr id="24" name="txt_399"/>
          <p:cNvSpPr txBox="1"/>
          <p:nvPr/>
        </p:nvSpPr>
        <p:spPr>
          <a:xfrm>
            <a:off x="1417320" y="4553712"/>
            <a:ext cx="5029200" cy="1591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el ciclo ideal y el real se debe a las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irreversibilidades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 las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de calor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en clase: proyecto con simulador</a:t>
            </a:r>
            <a:endParaRPr lang="en-US" sz="3000" dirty="0"/>
          </a:p>
        </p:txBody>
      </p:sp>
      <p:sp>
        <p:nvSpPr>
          <p:cNvPr id="3" name="kicker_400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 ·  COMPARACIÓN OTTO VS DIESEL</a:t>
            </a:r>
            <a:endParaRPr lang="en-US" sz="1100" dirty="0"/>
          </a:p>
        </p:txBody>
      </p:sp>
      <p:sp>
        <p:nvSpPr>
          <p:cNvPr id="5" name="card_401"/>
          <p:cNvSpPr/>
          <p:nvPr/>
        </p:nvSpPr>
        <p:spPr>
          <a:xfrm>
            <a:off x="548640" y="1463040"/>
            <a:ext cx="4572000" cy="4754880"/>
          </a:xfrm>
          <a:prstGeom prst="roundRect">
            <a:avLst>
              <a:gd name="adj" fmla="val 2000"/>
            </a:avLst>
          </a:prstGeom>
          <a:solidFill>
            <a:srgbClr val="15233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731520" cy="731520"/>
          </a:xfrm>
          <a:prstGeom prst="rect">
            <a:avLst/>
          </a:prstGeom>
        </p:spPr>
      </p:pic>
      <p:sp>
        <p:nvSpPr>
          <p:cNvPr id="7" name="txt_402"/>
          <p:cNvSpPr txBox="1"/>
          <p:nvPr/>
        </p:nvSpPr>
        <p:spPr>
          <a:xfrm>
            <a:off x="868680" y="2697480"/>
            <a:ext cx="4023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de 3 estudiantes</a:t>
            </a:r>
            <a:endParaRPr lang="en-US" sz="2000" dirty="0"/>
          </a:p>
        </p:txBody>
      </p:sp>
      <p:sp>
        <p:nvSpPr>
          <p:cNvPr id="8" name="txt_403"/>
          <p:cNvSpPr txBox="1"/>
          <p:nvPr/>
        </p:nvSpPr>
        <p:spPr>
          <a:xfrm>
            <a:off x="868680" y="3291840"/>
            <a:ext cx="40233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40 minutos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informe corto y diagrama P–v</a:t>
            </a:r>
            <a:endParaRPr lang="en-US" sz="1600" dirty="0"/>
          </a:p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Socialización al final</a:t>
            </a:r>
            <a:endParaRPr lang="en-US" sz="1600" dirty="0"/>
          </a:p>
        </p:txBody>
      </p:sp>
      <p:sp>
        <p:nvSpPr>
          <p:cNvPr id="9" name="card_404"/>
          <p:cNvSpPr/>
          <p:nvPr/>
        </p:nvSpPr>
        <p:spPr>
          <a:xfrm>
            <a:off x="5486400" y="1463040"/>
            <a:ext cx="6156655" cy="1402080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/>
        </p:spPr>
      </p:sp>
      <p:sp>
        <p:nvSpPr>
          <p:cNvPr id="10" name="dot_405"/>
          <p:cNvSpPr/>
          <p:nvPr/>
        </p:nvSpPr>
        <p:spPr>
          <a:xfrm>
            <a:off x="571500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xt_406"/>
          <p:cNvSpPr txBox="1"/>
          <p:nvPr/>
        </p:nvSpPr>
        <p:spPr>
          <a:xfrm>
            <a:off x="571500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xt_407"/>
          <p:cNvSpPr txBox="1"/>
          <p:nvPr/>
        </p:nvSpPr>
        <p:spPr>
          <a:xfrm>
            <a:off x="6419088" y="1664208"/>
            <a:ext cx="50593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Elija dos vehículos reales</a:t>
            </a:r>
            <a:endParaRPr lang="en-US" sz="1700" dirty="0"/>
          </a:p>
        </p:txBody>
      </p:sp>
      <p:sp>
        <p:nvSpPr>
          <p:cNvPr id="13" name="txt_408"/>
          <p:cNvSpPr txBox="1"/>
          <p:nvPr/>
        </p:nvSpPr>
        <p:spPr>
          <a:xfrm>
            <a:off x="5715000" y="2377440"/>
            <a:ext cx="5745175" cy="39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a gasolina y uno diésel. Busque en la ficha técnica la relación de compresión.</a:t>
            </a:r>
            <a:endParaRPr lang="en-US" sz="1500" dirty="0"/>
          </a:p>
        </p:txBody>
      </p:sp>
      <p:sp>
        <p:nvSpPr>
          <p:cNvPr id="14" name="card_409"/>
          <p:cNvSpPr/>
          <p:nvPr/>
        </p:nvSpPr>
        <p:spPr>
          <a:xfrm>
            <a:off x="5486400" y="3139440"/>
            <a:ext cx="6156655" cy="1402080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/>
        </p:spPr>
      </p:sp>
      <p:sp>
        <p:nvSpPr>
          <p:cNvPr id="15" name="dot_410"/>
          <p:cNvSpPr/>
          <p:nvPr/>
        </p:nvSpPr>
        <p:spPr>
          <a:xfrm>
            <a:off x="5715000" y="33680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xt_411"/>
          <p:cNvSpPr txBox="1"/>
          <p:nvPr/>
        </p:nvSpPr>
        <p:spPr>
          <a:xfrm>
            <a:off x="5715000" y="3368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xt_412"/>
          <p:cNvSpPr txBox="1"/>
          <p:nvPr/>
        </p:nvSpPr>
        <p:spPr>
          <a:xfrm>
            <a:off x="6419088" y="3340608"/>
            <a:ext cx="50593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Calcule y compare</a:t>
            </a:r>
            <a:endParaRPr lang="en-US" sz="1700" dirty="0"/>
          </a:p>
        </p:txBody>
      </p:sp>
      <p:sp>
        <p:nvSpPr>
          <p:cNvPr id="18" name="txt_413"/>
          <p:cNvSpPr txBox="1"/>
          <p:nvPr/>
        </p:nvSpPr>
        <p:spPr>
          <a:xfrm>
            <a:off x="5715000" y="4053840"/>
            <a:ext cx="5745175" cy="39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ideal de cada uno (Otto y Diesel con r_c = 2). Dibuje los diagramas P–v con un simulador u hoja de cálculo.</a:t>
            </a:r>
            <a:endParaRPr lang="en-US" sz="1500" dirty="0"/>
          </a:p>
        </p:txBody>
      </p:sp>
      <p:sp>
        <p:nvSpPr>
          <p:cNvPr id="19" name="card_414"/>
          <p:cNvSpPr/>
          <p:nvPr/>
        </p:nvSpPr>
        <p:spPr>
          <a:xfrm>
            <a:off x="5486400" y="4815840"/>
            <a:ext cx="6156655" cy="1402080"/>
          </a:xfrm>
          <a:prstGeom prst="roundRect">
            <a:avLst>
              <a:gd name="adj" fmla="val 6522"/>
            </a:avLst>
          </a:prstGeom>
          <a:solidFill>
            <a:srgbClr val="F2F5F8"/>
          </a:solidFill>
          <a:ln/>
        </p:spPr>
      </p:sp>
      <p:sp>
        <p:nvSpPr>
          <p:cNvPr id="20" name="dot_415"/>
          <p:cNvSpPr/>
          <p:nvPr/>
        </p:nvSpPr>
        <p:spPr>
          <a:xfrm>
            <a:off x="5715000" y="50444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1" name="txt_416"/>
          <p:cNvSpPr txBox="1"/>
          <p:nvPr/>
        </p:nvSpPr>
        <p:spPr>
          <a:xfrm>
            <a:off x="5715000" y="504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xt_417"/>
          <p:cNvSpPr txBox="1"/>
          <p:nvPr/>
        </p:nvSpPr>
        <p:spPr>
          <a:xfrm>
            <a:off x="6419088" y="5017008"/>
            <a:ext cx="50593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Concluya</a:t>
            </a:r>
            <a:endParaRPr lang="en-US" sz="1700" dirty="0"/>
          </a:p>
        </p:txBody>
      </p:sp>
      <p:sp>
        <p:nvSpPr>
          <p:cNvPr id="23" name="txt_418"/>
          <p:cNvSpPr txBox="1"/>
          <p:nvPr/>
        </p:nvSpPr>
        <p:spPr>
          <a:xfrm>
            <a:off x="5715000" y="5730240"/>
            <a:ext cx="5745175" cy="39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eficiencia real es mucho menor? Relacione con las irreversibilidades.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Ciclos complementarios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Stirling, Brayton y Rankine.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2: Ciclos termodinámicos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Stirling</a:t>
            </a:r>
            <a:endParaRPr lang="en-US" sz="3000" dirty="0"/>
          </a:p>
        </p:txBody>
      </p:sp>
      <p:sp>
        <p:nvSpPr>
          <p:cNvPr id="3" name="kicker_419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 ·  CICLOS COMPLEMENTARIOS</a:t>
            </a:r>
            <a:endParaRPr lang="en-US" sz="1100" dirty="0"/>
          </a:p>
        </p:txBody>
      </p:sp>
      <p:sp>
        <p:nvSpPr>
          <p:cNvPr id="5" name="txt_420"/>
          <p:cNvSpPr txBox="1"/>
          <p:nvPr/>
        </p:nvSpPr>
        <p:spPr>
          <a:xfrm>
            <a:off x="548640" y="1463040"/>
            <a:ext cx="420624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combustión externa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regenerador.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procesos reversibles: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Expansión isotérmica a 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(recibe calor externo)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Rechazo a v = cte hacia el regenerador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Compresión isotérmica a T</a:t>
            </a: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(cede calor)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Calor a v = cte desde el regenerador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Aplicaciones: generación solar, criogenia, submarinos.</a:t>
            </a:r>
            <a:endParaRPr lang="en-US" sz="1500" dirty="0"/>
          </a:p>
        </p:txBody>
      </p:sp>
      <p:sp>
        <p:nvSpPr>
          <p:cNvPr id="6" name="card_421"/>
          <p:cNvSpPr/>
          <p:nvPr/>
        </p:nvSpPr>
        <p:spPr>
          <a:xfrm>
            <a:off x="548640" y="4892040"/>
            <a:ext cx="4206240" cy="1325880"/>
          </a:xfrm>
          <a:prstGeom prst="roundRect">
            <a:avLst>
              <a:gd name="adj" fmla="val 6897"/>
            </a:avLst>
          </a:prstGeom>
          <a:solidFill>
            <a:srgbClr val="D9EEEE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cuación 7"/>
              <p:cNvSpPr txBox="1"/>
              <p:nvPr/>
            </p:nvSpPr>
            <p:spPr>
              <a:xfrm>
                <a:off x="1220724" y="5225796"/>
                <a:ext cx="2862072" cy="6858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𝑆𝑡𝑖𝑟𝑙𝑖𝑛𝑔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𝐶𝑎𝑟𝑛𝑜𝑡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7" name="EQ_be81715967bd_70_s1000_ctr" descr="/home/claude/u2/eq/eq_be81715967bd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0724" y="5225796"/>
                <a:ext cx="2862072" cy="6858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fig_422"/>
          <p:cNvSpPr/>
          <p:nvPr/>
        </p:nvSpPr>
        <p:spPr>
          <a:xfrm>
            <a:off x="5029200" y="1463040"/>
            <a:ext cx="661385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g_423" descr="/home/claude/img/u2d_stir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2316289"/>
            <a:ext cx="6394399" cy="2664333"/>
          </a:xfrm>
          <a:prstGeom prst="rect">
            <a:avLst/>
          </a:prstGeom>
        </p:spPr>
      </p:pic>
      <p:sp>
        <p:nvSpPr>
          <p:cNvPr id="10" name="cap_424"/>
          <p:cNvSpPr txBox="1"/>
          <p:nvPr/>
        </p:nvSpPr>
        <p:spPr>
          <a:xfrm>
            <a:off x="5120640" y="5779008"/>
            <a:ext cx="6430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Brayton: la turbina de gas</a:t>
            </a:r>
            <a:endParaRPr lang="en-US" sz="3000" dirty="0"/>
          </a:p>
        </p:txBody>
      </p:sp>
      <p:sp>
        <p:nvSpPr>
          <p:cNvPr id="3" name="kicker_42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 ·  CICLOS COMPLEMENTARIOS</a:t>
            </a:r>
            <a:endParaRPr lang="en-US" sz="1100" dirty="0"/>
          </a:p>
        </p:txBody>
      </p:sp>
      <p:sp>
        <p:nvSpPr>
          <p:cNvPr id="5" name="txt_426"/>
          <p:cNvSpPr txBox="1"/>
          <p:nvPr/>
        </p:nvSpPr>
        <p:spPr>
          <a:xfrm>
            <a:off x="548640" y="1463040"/>
            <a:ext cx="475488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abierto real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compresor → cámara de combustión a P = cte → turbina → escape.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ideal cerrado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(aire estándar):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Compresión isentrópica (compresor)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Calor a P = cte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Expansión isentrópica (turbina)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Rechazo de calor a P = cte</a:t>
            </a:r>
            <a:endParaRPr lang="en-US" sz="1500" dirty="0"/>
          </a:p>
        </p:txBody>
      </p:sp>
      <p:sp>
        <p:nvSpPr>
          <p:cNvPr id="6" name="fig_427"/>
          <p:cNvSpPr/>
          <p:nvPr/>
        </p:nvSpPr>
        <p:spPr>
          <a:xfrm>
            <a:off x="5577840" y="1463040"/>
            <a:ext cx="6065215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g_428" descr="/home/claude/img/u2_image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157" y="1572768"/>
            <a:ext cx="2788581" cy="1636776"/>
          </a:xfrm>
          <a:prstGeom prst="rect">
            <a:avLst/>
          </a:prstGeom>
        </p:spPr>
      </p:pic>
      <p:sp>
        <p:nvSpPr>
          <p:cNvPr id="8" name="cap_429"/>
          <p:cNvSpPr txBox="1"/>
          <p:nvPr/>
        </p:nvSpPr>
        <p:spPr>
          <a:xfrm>
            <a:off x="5669280" y="3264408"/>
            <a:ext cx="5882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abierto</a:t>
            </a:r>
            <a:endParaRPr lang="en-US" sz="1100" dirty="0"/>
          </a:p>
        </p:txBody>
      </p:sp>
      <p:sp>
        <p:nvSpPr>
          <p:cNvPr id="9" name="fig_430"/>
          <p:cNvSpPr/>
          <p:nvPr/>
        </p:nvSpPr>
        <p:spPr>
          <a:xfrm>
            <a:off x="5577840" y="3977640"/>
            <a:ext cx="6065215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g_431" descr="/home/claude/img/u2_image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094" y="4087368"/>
            <a:ext cx="1920707" cy="1636776"/>
          </a:xfrm>
          <a:prstGeom prst="rect">
            <a:avLst/>
          </a:prstGeom>
        </p:spPr>
      </p:pic>
      <p:sp>
        <p:nvSpPr>
          <p:cNvPr id="11" name="cap_432"/>
          <p:cNvSpPr txBox="1"/>
          <p:nvPr/>
        </p:nvSpPr>
        <p:spPr>
          <a:xfrm>
            <a:off x="5669280" y="5779008"/>
            <a:ext cx="5882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cerrado equivalente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Brayton: diagramas y eficiencia</a:t>
            </a:r>
            <a:endParaRPr lang="en-US" sz="3000" dirty="0"/>
          </a:p>
        </p:txBody>
      </p:sp>
      <p:sp>
        <p:nvSpPr>
          <p:cNvPr id="3" name="kicker_433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 ·  CICLOS COMPLEMENTARIOS</a:t>
            </a:r>
            <a:endParaRPr lang="en-US" sz="1100" dirty="0"/>
          </a:p>
        </p:txBody>
      </p:sp>
      <p:sp>
        <p:nvSpPr>
          <p:cNvPr id="5" name="fig_434"/>
          <p:cNvSpPr/>
          <p:nvPr/>
        </p:nvSpPr>
        <p:spPr>
          <a:xfrm>
            <a:off x="548640" y="1463040"/>
            <a:ext cx="69494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g_435" descr="/home/claude/img/u2d_brayt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46376"/>
            <a:ext cx="6729984" cy="2804160"/>
          </a:xfrm>
          <a:prstGeom prst="rect">
            <a:avLst/>
          </a:prstGeom>
        </p:spPr>
      </p:pic>
      <p:sp>
        <p:nvSpPr>
          <p:cNvPr id="7" name="cap_436"/>
          <p:cNvSpPr txBox="1"/>
          <p:nvPr/>
        </p:nvSpPr>
        <p:spPr>
          <a:xfrm>
            <a:off x="640080" y="577900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</a:t>
            </a:r>
            <a:endParaRPr lang="en-US" sz="1100" dirty="0"/>
          </a:p>
        </p:txBody>
      </p:sp>
      <p:sp>
        <p:nvSpPr>
          <p:cNvPr id="8" name="card_437"/>
          <p:cNvSpPr/>
          <p:nvPr/>
        </p:nvSpPr>
        <p:spPr>
          <a:xfrm>
            <a:off x="7772400" y="1463040"/>
            <a:ext cx="3870655" cy="2377440"/>
          </a:xfrm>
          <a:prstGeom prst="roundRect">
            <a:avLst>
              <a:gd name="adj" fmla="val 3846"/>
            </a:avLst>
          </a:prstGeom>
          <a:solidFill>
            <a:srgbClr val="D9EEEE"/>
          </a:solidFill>
          <a:ln/>
        </p:spPr>
      </p:sp>
      <p:sp>
        <p:nvSpPr>
          <p:cNvPr id="9" name="txt_438"/>
          <p:cNvSpPr txBox="1"/>
          <p:nvPr/>
        </p:nvSpPr>
        <p:spPr>
          <a:xfrm>
            <a:off x="8001000" y="1627632"/>
            <a:ext cx="341345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(aire estándar frío)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cuación 10"/>
              <p:cNvSpPr txBox="1"/>
              <p:nvPr/>
            </p:nvSpPr>
            <p:spPr>
              <a:xfrm>
                <a:off x="8604415" y="2090420"/>
                <a:ext cx="2206625" cy="6985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191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91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191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C" sz="191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C" sz="191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𝐵𝑟𝑎𝑦𝑡𝑜𝑛</m:t>
                          </m:r>
                        </m:sub>
                      </m:sSub>
                      <m:r>
                        <a:rPr lang="es-EC" sz="191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191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91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s-EC" sz="191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C" sz="191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EC" sz="191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s-EC" sz="191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C" sz="191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EC" sz="191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−1)/</m:t>
                              </m:r>
                              <m:r>
                                <a:rPr lang="es-EC" sz="191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EC" sz="1910" dirty="0"/>
              </a:p>
            </p:txBody>
          </p:sp>
        </mc:Choice>
        <mc:Fallback xmlns="">
          <p:pic>
            <p:nvPicPr>
              <p:cNvPr id="10" name="EQ_a3cef38e5721_71_s868_ctr" descr="/home/claude/u2/eq/eq_a3cef38e5721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04415" y="2090420"/>
                <a:ext cx="2206625" cy="698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cuación 11"/>
              <p:cNvSpPr txBox="1"/>
              <p:nvPr/>
            </p:nvSpPr>
            <p:spPr>
              <a:xfrm>
                <a:off x="9268816" y="2932430"/>
                <a:ext cx="877824" cy="6858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2200" dirty="0"/>
              </a:p>
            </p:txBody>
          </p:sp>
        </mc:Choice>
        <mc:Fallback xmlns="">
          <p:pic>
            <p:nvPicPr>
              <p:cNvPr id="11" name="EQ_c374ab35824f_72_s1000_ctr" descr="/home/claude/u2/eq/eq_c374ab35824f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68816" y="2932430"/>
                <a:ext cx="877824" cy="6858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ard_439"/>
          <p:cNvSpPr/>
          <p:nvPr/>
        </p:nvSpPr>
        <p:spPr>
          <a:xfrm>
            <a:off x="7772400" y="4069080"/>
            <a:ext cx="3870655" cy="2148840"/>
          </a:xfrm>
          <a:prstGeom prst="roundRect">
            <a:avLst>
              <a:gd name="adj" fmla="val 4255"/>
            </a:avLst>
          </a:prstGeom>
          <a:solidFill>
            <a:srgbClr val="F2F5F8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cuación 13"/>
              <p:cNvSpPr txBox="1"/>
              <p:nvPr/>
            </p:nvSpPr>
            <p:spPr>
              <a:xfrm>
                <a:off x="8001000" y="4233672"/>
                <a:ext cx="2048256" cy="28041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1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1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=300(8</m:t>
                      </m:r>
                      <m:sSup>
                        <m:sSupPr>
                          <m:ctrlPr>
                            <a:rPr lang="es-EC" sz="1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C" sz="1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EC" sz="1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0,286</m:t>
                          </m:r>
                        </m:sup>
                      </m:sSup>
                      <m:r>
                        <a:rPr lang="es-EC" sz="1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=543 </m:t>
                      </m:r>
                      <m:r>
                        <m:rPr>
                          <m:sty m:val="p"/>
                        </m:rPr>
                        <a:rPr lang="es-EC" sz="1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es-EC" sz="1600" dirty="0"/>
              </a:p>
            </p:txBody>
          </p:sp>
        </mc:Choice>
        <mc:Fallback xmlns="">
          <p:pic>
            <p:nvPicPr>
              <p:cNvPr id="13" name="EQ_10f57f33f699_73_s1000_l" descr="/home/claude/u2/eq/eq_10f57f33f699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01000" y="4233672"/>
                <a:ext cx="2048256" cy="2804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cuación 14"/>
              <p:cNvSpPr txBox="1"/>
              <p:nvPr/>
            </p:nvSpPr>
            <p:spPr>
              <a:xfrm>
                <a:off x="8001000" y="4642104"/>
                <a:ext cx="2240280" cy="28041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C" sz="1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1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=1 300/(8</m:t>
                      </m:r>
                      <m:sSup>
                        <m:sSupPr>
                          <m:ctrlPr>
                            <a:rPr lang="es-EC" sz="1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C" sz="1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EC" sz="1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0,286</m:t>
                          </m:r>
                        </m:sup>
                      </m:sSup>
                      <m:r>
                        <a:rPr lang="es-EC" sz="1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=718 </m:t>
                      </m:r>
                      <m:r>
                        <m:rPr>
                          <m:sty m:val="p"/>
                        </m:rPr>
                        <a:rPr lang="es-EC" sz="1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es-EC" sz="1600" dirty="0"/>
              </a:p>
            </p:txBody>
          </p:sp>
        </mc:Choice>
        <mc:Fallback xmlns="">
          <p:pic>
            <p:nvPicPr>
              <p:cNvPr id="14" name="EQ_b5c7204fc619_74_s1000_l" descr="/home/claude/u2/eq/eq_b5c7204fc619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01000" y="4642104"/>
                <a:ext cx="2240280" cy="2804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cuación 15"/>
              <p:cNvSpPr txBox="1"/>
              <p:nvPr/>
            </p:nvSpPr>
            <p:spPr>
              <a:xfrm>
                <a:off x="8001000" y="5023104"/>
                <a:ext cx="2352524" cy="508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58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58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EC" sz="158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𝑏𝑤</m:t>
                          </m:r>
                        </m:sub>
                      </m:sSub>
                      <m:r>
                        <a:rPr lang="es-EC" sz="158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58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𝑐𝑜𝑚𝑝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EC" sz="1587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>𝑡𝑢𝑟𝑏</m:t>
                              </m:r>
                            </m:sub>
                          </m:sSub>
                        </m:den>
                      </m:f>
                      <m:r>
                        <a:rPr lang="es-EC" sz="158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C" sz="1587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587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244,7</m:t>
                          </m:r>
                        </m:num>
                        <m:den>
                          <m:r>
                            <a:rPr lang="es-EC" sz="1587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585,3</m:t>
                          </m:r>
                        </m:den>
                      </m:f>
                      <m:r>
                        <a:rPr lang="es-EC" sz="158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=0,418</m:t>
                      </m:r>
                    </m:oMath>
                  </m:oMathPara>
                </a14:m>
                <a:endParaRPr lang="es-EC" sz="1587" dirty="0"/>
              </a:p>
            </p:txBody>
          </p:sp>
        </mc:Choice>
        <mc:Fallback xmlns="">
          <p:pic>
            <p:nvPicPr>
              <p:cNvPr id="15" name="EQ_6003e6dd57be_75_s992_l" descr="/home/claude/u2/eq/eq_6003e6dd57be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01000" y="5023104"/>
                <a:ext cx="2352524" cy="5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cuación 16"/>
              <p:cNvSpPr txBox="1"/>
              <p:nvPr/>
            </p:nvSpPr>
            <p:spPr>
              <a:xfrm>
                <a:off x="8001000" y="5631688"/>
                <a:ext cx="2712720" cy="28041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6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6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16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C" sz="16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s-EC" sz="16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C" sz="16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s-EC" sz="16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−0,286</m:t>
                          </m:r>
                        </m:sup>
                      </m:sSup>
                      <m:r>
                        <a:rPr lang="es-EC" sz="16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=0,448→44,8%</m:t>
                      </m:r>
                    </m:oMath>
                  </m:oMathPara>
                </a14:m>
                <a:endParaRPr lang="es-EC" sz="1600" dirty="0"/>
              </a:p>
            </p:txBody>
          </p:sp>
        </mc:Choice>
        <mc:Fallback xmlns="">
          <p:pic>
            <p:nvPicPr>
              <p:cNvPr id="16" name="EQ_24db3564568c_76_s1000_l" descr="/home/claude/u2/eq/eq_24db3564568c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01000" y="5631688"/>
                <a:ext cx="2712720" cy="280416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Rankine: la central de vapor</a:t>
            </a:r>
            <a:endParaRPr lang="en-US" sz="3000" dirty="0"/>
          </a:p>
        </p:txBody>
      </p:sp>
      <p:sp>
        <p:nvSpPr>
          <p:cNvPr id="3" name="kicker_440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 ·  CICLOS COMPLEMENTARIOS</a:t>
            </a:r>
            <a:endParaRPr lang="en-US" sz="1100" dirty="0"/>
          </a:p>
        </p:txBody>
      </p:sp>
      <p:sp>
        <p:nvSpPr>
          <p:cNvPr id="5" name="txt_441"/>
          <p:cNvSpPr txBox="1"/>
          <p:nvPr/>
        </p:nvSpPr>
        <p:spPr>
          <a:xfrm>
            <a:off x="548640" y="1463040"/>
            <a:ext cx="457200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ciclo de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de gas: el agua cambia de fase.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Bomba: compresión isentrópica del líquido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Caldera: calor a P = cte (vapor sobrecalentado)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Turbina: expansión isentrópica</a:t>
            </a:r>
            <a:endParaRPr lang="en-US" sz="1500" dirty="0"/>
          </a:p>
          <a:p>
            <a:pPr marL="406400" lvl="1" indent="-203200" algn="l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4-1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Condensador: rechazo de calor a P = cte</a:t>
            </a:r>
            <a:endParaRPr lang="en-US" sz="1500" dirty="0"/>
          </a:p>
          <a:p>
            <a:pPr marL="228600" indent="-2286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ciclo de las </a:t>
            </a: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centrales térmicas</a:t>
            </a: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(Unidad 1, apartado 1.1).</a:t>
            </a:r>
            <a:endParaRPr lang="en-US" sz="1500" dirty="0"/>
          </a:p>
        </p:txBody>
      </p:sp>
      <p:sp>
        <p:nvSpPr>
          <p:cNvPr id="6" name="card_442"/>
          <p:cNvSpPr/>
          <p:nvPr/>
        </p:nvSpPr>
        <p:spPr>
          <a:xfrm>
            <a:off x="548640" y="4709160"/>
            <a:ext cx="4572000" cy="1508760"/>
          </a:xfrm>
          <a:prstGeom prst="roundRect">
            <a:avLst>
              <a:gd name="adj" fmla="val 6061"/>
            </a:avLst>
          </a:prstGeom>
          <a:solidFill>
            <a:srgbClr val="D9EEEE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cuación 7"/>
              <p:cNvSpPr txBox="1"/>
              <p:nvPr/>
            </p:nvSpPr>
            <p:spPr>
              <a:xfrm>
                <a:off x="777240" y="4868037"/>
                <a:ext cx="2231136" cy="2499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𝑒𝑛𝑡𝑟𝑎𝑑𝑎</m:t>
                          </m:r>
                        </m:sub>
                      </m:sSub>
                      <m:r>
                        <a:rPr lang="es-EC" sz="1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EC" sz="1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EC" sz="1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EC" sz="1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C" sz="1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=2 921 </m:t>
                      </m:r>
                      <m:r>
                        <m:rPr>
                          <m:sty m:val="p"/>
                        </m:rPr>
                        <a:rPr lang="es-EC" sz="1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s-EC" sz="1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1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1400" dirty="0"/>
              </a:p>
            </p:txBody>
          </p:sp>
        </mc:Choice>
        <mc:Fallback xmlns="">
          <p:pic>
            <p:nvPicPr>
              <p:cNvPr id="7" name="EQ_63290669136a_77_s1000_l" descr="/home/claude/u2/eq/eq_63290669136a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7240" y="4868037"/>
                <a:ext cx="2231136" cy="249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cuación 8"/>
              <p:cNvSpPr txBox="1"/>
              <p:nvPr/>
            </p:nvSpPr>
            <p:spPr>
              <a:xfrm>
                <a:off x="777240" y="5216271"/>
                <a:ext cx="2148840" cy="2499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𝑠𝑎𝑙𝑖𝑑𝑎</m:t>
                          </m:r>
                        </m:sub>
                      </m:sSub>
                      <m:r>
                        <a:rPr lang="es-EC" sz="1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EC" sz="1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s-EC" sz="1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s-EC" sz="1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C" sz="1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=1 944 </m:t>
                      </m:r>
                      <m:r>
                        <m:rPr>
                          <m:sty m:val="p"/>
                        </m:rPr>
                        <a:rPr lang="es-EC" sz="1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kJ</m:t>
                      </m:r>
                      <m:r>
                        <a:rPr lang="es-EC" sz="1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s-EC" sz="1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>kg</m:t>
                      </m:r>
                    </m:oMath>
                  </m:oMathPara>
                </a14:m>
                <a:endParaRPr lang="es-EC" sz="1400" dirty="0"/>
              </a:p>
            </p:txBody>
          </p:sp>
        </mc:Choice>
        <mc:Fallback xmlns="">
          <p:pic>
            <p:nvPicPr>
              <p:cNvPr id="8" name="EQ_0984e836be94_78_s1000_l" descr="/home/claude/u2/eq/eq_0984e836be94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240" y="5216271"/>
                <a:ext cx="2148840" cy="249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Ecuación 9"/>
              <p:cNvSpPr txBox="1"/>
              <p:nvPr/>
            </p:nvSpPr>
            <p:spPr>
              <a:xfrm>
                <a:off x="777240" y="5548630"/>
                <a:ext cx="2319528" cy="43281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EC" sz="14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C" sz="14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C" sz="14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EC" sz="14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s-EC" sz="14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C" sz="14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1 944</m:t>
                          </m:r>
                        </m:num>
                        <m:den>
                          <m:r>
                            <a:rPr lang="es-EC" sz="14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>2 921</m:t>
                          </m:r>
                        </m:den>
                      </m:f>
                      <m:r>
                        <a:rPr lang="es-EC" sz="14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>=0,334→33,4%</m:t>
                      </m:r>
                    </m:oMath>
                  </m:oMathPara>
                </a14:m>
                <a:endParaRPr lang="es-EC" sz="1400" dirty="0"/>
              </a:p>
            </p:txBody>
          </p:sp>
        </mc:Choice>
        <mc:Fallback xmlns="">
          <p:pic>
            <p:nvPicPr>
              <p:cNvPr id="9" name="EQ_d4b3098bf987_79_s1000_l" descr="/home/claude/u2/eq/eq_d4b3098bf987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7240" y="5548630"/>
                <a:ext cx="2319528" cy="432816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fig_443"/>
          <p:cNvSpPr/>
          <p:nvPr/>
        </p:nvSpPr>
        <p:spPr>
          <a:xfrm>
            <a:off x="5394960" y="1463040"/>
            <a:ext cx="624809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g_444" descr="/home/claude/img/u2d_rank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812" y="1572768"/>
            <a:ext cx="5588391" cy="4151376"/>
          </a:xfrm>
          <a:prstGeom prst="rect">
            <a:avLst/>
          </a:prstGeom>
        </p:spPr>
      </p:pic>
      <p:sp>
        <p:nvSpPr>
          <p:cNvPr id="12" name="cap_445"/>
          <p:cNvSpPr txBox="1"/>
          <p:nvPr/>
        </p:nvSpPr>
        <p:spPr>
          <a:xfrm>
            <a:off x="5486400" y="5779008"/>
            <a:ext cx="6065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 (propiedades IAPWS-97)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los ciclos de potencia</a:t>
            </a:r>
            <a:endParaRPr lang="en-US" sz="3000" dirty="0"/>
          </a:p>
        </p:txBody>
      </p:sp>
      <p:sp>
        <p:nvSpPr>
          <p:cNvPr id="3" name="kicker_446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 ·  CICLOS COMPLEMENTARIOS</a:t>
            </a:r>
            <a:endParaRPr lang="en-US" sz="1100" dirty="0"/>
          </a:p>
        </p:txBody>
      </p:sp>
      <p:graphicFrame>
        <p:nvGraphicFramePr>
          <p:cNvPr id="55" name="tbl_4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53542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de calor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Rechazo de calor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Compresión / expansión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Carnot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cte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cte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Isentrópicas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 teórica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cte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cte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Isentrópicas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Motores de gasolina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cte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cte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Isentrópicas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Motores diésel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cte + P = cte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cte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Isentrópicas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motores reales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Stirling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cte + regenerador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cte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Isotérmicas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Combustión externa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Brayton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cte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cte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Isentrópicas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Turbinas de gas, turbocompresor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cte (caldera)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cte (condensador)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Bomba y turbina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Centrales de vapor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clave</a:t>
            </a:r>
            <a:endParaRPr lang="en-US" sz="3000" dirty="0"/>
          </a:p>
        </p:txBody>
      </p:sp>
      <p:sp>
        <p:nvSpPr>
          <p:cNvPr id="3" name="kicker_448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5" name="card_449"/>
          <p:cNvSpPr/>
          <p:nvPr/>
        </p:nvSpPr>
        <p:spPr>
          <a:xfrm>
            <a:off x="548640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6" name="dot_450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c_45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19656"/>
            <a:ext cx="310896" cy="310896"/>
          </a:xfrm>
          <a:prstGeom prst="rect">
            <a:avLst/>
          </a:prstGeom>
        </p:spPr>
      </p:pic>
      <p:sp>
        <p:nvSpPr>
          <p:cNvPr id="8" name="txt_452"/>
          <p:cNvSpPr txBox="1"/>
          <p:nvPr/>
        </p:nvSpPr>
        <p:spPr>
          <a:xfrm>
            <a:off x="1481328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 Máquina térmica</a:t>
            </a:r>
            <a:endParaRPr lang="en-US" sz="1500" dirty="0"/>
          </a:p>
        </p:txBody>
      </p:sp>
      <p:sp>
        <p:nvSpPr>
          <p:cNvPr id="9" name="txt_453"/>
          <p:cNvSpPr txBox="1"/>
          <p:nvPr/>
        </p:nvSpPr>
        <p:spPr>
          <a:xfrm>
            <a:off x="777240" y="23774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parte del calor en trabajo: η = W</a:t>
            </a:r>
            <a:r>
              <a:rPr lang="en-US" sz="14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/Q</a:t>
            </a:r>
            <a:r>
              <a:rPr lang="en-US" sz="14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Siempre rechaza calor.</a:t>
            </a:r>
            <a:endParaRPr lang="en-US" sz="1400" dirty="0"/>
          </a:p>
        </p:txBody>
      </p:sp>
      <p:sp>
        <p:nvSpPr>
          <p:cNvPr id="10" name="card_454"/>
          <p:cNvSpPr/>
          <p:nvPr/>
        </p:nvSpPr>
        <p:spPr>
          <a:xfrm>
            <a:off x="4338218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1" name="dot_455"/>
          <p:cNvSpPr/>
          <p:nvPr/>
        </p:nvSpPr>
        <p:spPr>
          <a:xfrm>
            <a:off x="4566818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c_45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34" y="1819656"/>
            <a:ext cx="310896" cy="310896"/>
          </a:xfrm>
          <a:prstGeom prst="rect">
            <a:avLst/>
          </a:prstGeom>
        </p:spPr>
      </p:pic>
      <p:sp>
        <p:nvSpPr>
          <p:cNvPr id="13" name="txt_457"/>
          <p:cNvSpPr txBox="1"/>
          <p:nvPr/>
        </p:nvSpPr>
        <p:spPr>
          <a:xfrm>
            <a:off x="5270906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 Ciclo y aire estándar</a:t>
            </a:r>
            <a:endParaRPr lang="en-US" sz="1500" dirty="0"/>
          </a:p>
        </p:txBody>
      </p:sp>
      <p:sp>
        <p:nvSpPr>
          <p:cNvPr id="14" name="txt_458"/>
          <p:cNvSpPr txBox="1"/>
          <p:nvPr/>
        </p:nvSpPr>
        <p:spPr>
          <a:xfrm>
            <a:off x="4566818" y="23774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ciclo, W</a:t>
            </a:r>
            <a:r>
              <a:rPr lang="en-US" sz="14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Q</a:t>
            </a:r>
            <a:r>
              <a:rPr lang="en-US" sz="14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área encerrada en P–v.</a:t>
            </a:r>
            <a:endParaRPr lang="en-US" sz="1400" dirty="0"/>
          </a:p>
        </p:txBody>
      </p:sp>
      <p:sp>
        <p:nvSpPr>
          <p:cNvPr id="15" name="card_459"/>
          <p:cNvSpPr/>
          <p:nvPr/>
        </p:nvSpPr>
        <p:spPr>
          <a:xfrm>
            <a:off x="8127797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6" name="dot_460"/>
          <p:cNvSpPr/>
          <p:nvPr/>
        </p:nvSpPr>
        <p:spPr>
          <a:xfrm>
            <a:off x="8356397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c_46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413" y="1819656"/>
            <a:ext cx="310896" cy="310896"/>
          </a:xfrm>
          <a:prstGeom prst="rect">
            <a:avLst/>
          </a:prstGeom>
        </p:spPr>
      </p:pic>
      <p:sp>
        <p:nvSpPr>
          <p:cNvPr id="18" name="txt_462"/>
          <p:cNvSpPr txBox="1"/>
          <p:nvPr/>
        </p:nvSpPr>
        <p:spPr>
          <a:xfrm>
            <a:off x="9060485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 Carnot</a:t>
            </a:r>
            <a:endParaRPr lang="en-US" sz="1500" dirty="0"/>
          </a:p>
        </p:txBody>
      </p:sp>
      <p:sp>
        <p:nvSpPr>
          <p:cNvPr id="19" name="txt_463"/>
          <p:cNvSpPr txBox="1"/>
          <p:nvPr/>
        </p:nvSpPr>
        <p:spPr>
          <a:xfrm>
            <a:off x="8356397" y="23774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máximo: η = 1 − T</a:t>
            </a:r>
            <a:r>
              <a:rPr lang="en-US" sz="14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</a:t>
            </a:r>
            <a:r>
              <a:rPr lang="en-US" sz="14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Invertido es un refrigerador.</a:t>
            </a:r>
            <a:endParaRPr lang="en-US" sz="1400" dirty="0"/>
          </a:p>
        </p:txBody>
      </p:sp>
      <p:sp>
        <p:nvSpPr>
          <p:cNvPr id="20" name="card_464"/>
          <p:cNvSpPr/>
          <p:nvPr/>
        </p:nvSpPr>
        <p:spPr>
          <a:xfrm>
            <a:off x="548640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1" name="dot_465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2" name="ic_46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334256"/>
            <a:ext cx="310896" cy="310896"/>
          </a:xfrm>
          <a:prstGeom prst="rect">
            <a:avLst/>
          </a:prstGeom>
        </p:spPr>
      </p:pic>
      <p:sp>
        <p:nvSpPr>
          <p:cNvPr id="23" name="txt_467"/>
          <p:cNvSpPr txBox="1"/>
          <p:nvPr/>
        </p:nvSpPr>
        <p:spPr>
          <a:xfrm>
            <a:off x="1481328" y="41788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 Otto</a:t>
            </a:r>
            <a:endParaRPr lang="en-US" sz="1500" dirty="0"/>
          </a:p>
        </p:txBody>
      </p:sp>
      <p:sp>
        <p:nvSpPr>
          <p:cNvPr id="24" name="txt_468"/>
          <p:cNvSpPr txBox="1"/>
          <p:nvPr/>
        </p:nvSpPr>
        <p:spPr>
          <a:xfrm>
            <a:off x="777240" y="48920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 a v = cte; η = 1 − 1/r</a:t>
            </a:r>
            <a:r>
              <a:rPr lang="en-US" sz="1400" baseline="3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k−1</a:t>
            </a: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golpeteo limita r.</a:t>
            </a:r>
            <a:endParaRPr lang="en-US" sz="1400" dirty="0"/>
          </a:p>
        </p:txBody>
      </p:sp>
      <p:sp>
        <p:nvSpPr>
          <p:cNvPr id="25" name="card_469"/>
          <p:cNvSpPr/>
          <p:nvPr/>
        </p:nvSpPr>
        <p:spPr>
          <a:xfrm>
            <a:off x="4338218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6" name="dot_470"/>
          <p:cNvSpPr/>
          <p:nvPr/>
        </p:nvSpPr>
        <p:spPr>
          <a:xfrm>
            <a:off x="4566818" y="42062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7" name="ic_47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4834" y="4334256"/>
            <a:ext cx="310896" cy="310896"/>
          </a:xfrm>
          <a:prstGeom prst="rect">
            <a:avLst/>
          </a:prstGeom>
        </p:spPr>
      </p:pic>
      <p:sp>
        <p:nvSpPr>
          <p:cNvPr id="28" name="txt_472"/>
          <p:cNvSpPr txBox="1"/>
          <p:nvPr/>
        </p:nvSpPr>
        <p:spPr>
          <a:xfrm>
            <a:off x="5270906" y="41788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· 2.6  Diesel</a:t>
            </a:r>
            <a:endParaRPr lang="en-US" sz="1500" dirty="0"/>
          </a:p>
        </p:txBody>
      </p:sp>
      <p:sp>
        <p:nvSpPr>
          <p:cNvPr id="29" name="txt_473"/>
          <p:cNvSpPr txBox="1"/>
          <p:nvPr/>
        </p:nvSpPr>
        <p:spPr>
          <a:xfrm>
            <a:off x="4566818" y="48920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 a P = cte; con r alta es el más eficiente en la práctica.</a:t>
            </a:r>
            <a:endParaRPr lang="en-US" sz="1400" dirty="0"/>
          </a:p>
        </p:txBody>
      </p:sp>
      <p:sp>
        <p:nvSpPr>
          <p:cNvPr id="30" name="card_474"/>
          <p:cNvSpPr/>
          <p:nvPr/>
        </p:nvSpPr>
        <p:spPr>
          <a:xfrm>
            <a:off x="8127797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31" name="dot_475"/>
          <p:cNvSpPr/>
          <p:nvPr/>
        </p:nvSpPr>
        <p:spPr>
          <a:xfrm>
            <a:off x="8356397" y="42062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2" name="ic_47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4413" y="4334256"/>
            <a:ext cx="310896" cy="310896"/>
          </a:xfrm>
          <a:prstGeom prst="rect">
            <a:avLst/>
          </a:prstGeom>
        </p:spPr>
      </p:pic>
      <p:sp>
        <p:nvSpPr>
          <p:cNvPr id="33" name="txt_477"/>
          <p:cNvSpPr txBox="1"/>
          <p:nvPr/>
        </p:nvSpPr>
        <p:spPr>
          <a:xfrm>
            <a:off x="9060485" y="41788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 Complementarios</a:t>
            </a:r>
            <a:endParaRPr lang="en-US" sz="1500" dirty="0"/>
          </a:p>
        </p:txBody>
      </p:sp>
      <p:sp>
        <p:nvSpPr>
          <p:cNvPr id="34" name="txt_478"/>
          <p:cNvSpPr txBox="1"/>
          <p:nvPr/>
        </p:nvSpPr>
        <p:spPr>
          <a:xfrm>
            <a:off x="8356397" y="48920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Stirling (= Carnot), Brayton (turbinas) y Rankine (vapor).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Autoevaluación</a:t>
            </a:r>
            <a:endParaRPr lang="en-US" sz="3000" dirty="0"/>
          </a:p>
        </p:txBody>
      </p:sp>
      <p:sp>
        <p:nvSpPr>
          <p:cNvPr id="3" name="kicker_479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5" name="card_480"/>
          <p:cNvSpPr/>
          <p:nvPr/>
        </p:nvSpPr>
        <p:spPr>
          <a:xfrm>
            <a:off x="548640" y="14630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581912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xt_481"/>
          <p:cNvSpPr txBox="1"/>
          <p:nvPr/>
        </p:nvSpPr>
        <p:spPr>
          <a:xfrm>
            <a:off x="731520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xt_482"/>
          <p:cNvSpPr txBox="1"/>
          <p:nvPr/>
        </p:nvSpPr>
        <p:spPr>
          <a:xfrm>
            <a:off x="1508760" y="146304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máxima eficiencia de una máquina que opera entre 1 200 K y 300 K?</a:t>
            </a:r>
            <a:endParaRPr lang="en-US" sz="1700" dirty="0"/>
          </a:p>
        </p:txBody>
      </p:sp>
      <p:sp>
        <p:nvSpPr>
          <p:cNvPr id="9" name="card_483"/>
          <p:cNvSpPr/>
          <p:nvPr/>
        </p:nvSpPr>
        <p:spPr>
          <a:xfrm>
            <a:off x="548640" y="242316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54203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xt_484"/>
          <p:cNvSpPr txBox="1"/>
          <p:nvPr/>
        </p:nvSpPr>
        <p:spPr>
          <a:xfrm>
            <a:off x="73152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xt_485"/>
          <p:cNvSpPr txBox="1"/>
          <p:nvPr/>
        </p:nvSpPr>
        <p:spPr>
          <a:xfrm>
            <a:off x="1508760" y="242316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la eficiencia ideal de un motor Otto con r = 9 (k = 1,4).</a:t>
            </a:r>
            <a:endParaRPr lang="en-US" sz="1700" dirty="0"/>
          </a:p>
        </p:txBody>
      </p:sp>
      <p:sp>
        <p:nvSpPr>
          <p:cNvPr id="13" name="card_486"/>
          <p:cNvSpPr/>
          <p:nvPr/>
        </p:nvSpPr>
        <p:spPr>
          <a:xfrm>
            <a:off x="548640" y="338328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14" name="Shape 11"/>
          <p:cNvSpPr/>
          <p:nvPr/>
        </p:nvSpPr>
        <p:spPr>
          <a:xfrm>
            <a:off x="731520" y="3502152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xt_487"/>
          <p:cNvSpPr txBox="1"/>
          <p:nvPr/>
        </p:nvSpPr>
        <p:spPr>
          <a:xfrm>
            <a:off x="73152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xt_488"/>
          <p:cNvSpPr txBox="1"/>
          <p:nvPr/>
        </p:nvSpPr>
        <p:spPr>
          <a:xfrm>
            <a:off x="1508760" y="338328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qué, con la misma r, el ciclo Diesel es menos eficiente que el Otto?</a:t>
            </a:r>
            <a:endParaRPr lang="en-US" sz="1700" dirty="0"/>
          </a:p>
        </p:txBody>
      </p:sp>
      <p:sp>
        <p:nvSpPr>
          <p:cNvPr id="17" name="card_489"/>
          <p:cNvSpPr/>
          <p:nvPr/>
        </p:nvSpPr>
        <p:spPr>
          <a:xfrm>
            <a:off x="548640" y="43434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18" name="Shape 15"/>
          <p:cNvSpPr/>
          <p:nvPr/>
        </p:nvSpPr>
        <p:spPr>
          <a:xfrm>
            <a:off x="731520" y="446227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xt_490"/>
          <p:cNvSpPr txBox="1"/>
          <p:nvPr/>
        </p:nvSpPr>
        <p:spPr>
          <a:xfrm>
            <a:off x="731520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xt_491"/>
          <p:cNvSpPr txBox="1"/>
          <p:nvPr/>
        </p:nvSpPr>
        <p:spPr>
          <a:xfrm>
            <a:off x="1508760" y="434340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limita la relación de compresión de un motor de gasolina?</a:t>
            </a:r>
            <a:endParaRPr lang="en-US" sz="1700" dirty="0"/>
          </a:p>
        </p:txBody>
      </p:sp>
      <p:sp>
        <p:nvSpPr>
          <p:cNvPr id="21" name="card_492"/>
          <p:cNvSpPr/>
          <p:nvPr/>
        </p:nvSpPr>
        <p:spPr>
          <a:xfrm>
            <a:off x="548640" y="530352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" y="5422392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xt_493"/>
          <p:cNvSpPr txBox="1"/>
          <p:nvPr/>
        </p:nvSpPr>
        <p:spPr>
          <a:xfrm>
            <a:off x="731520" y="5422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xt_494"/>
          <p:cNvSpPr txBox="1"/>
          <p:nvPr/>
        </p:nvSpPr>
        <p:spPr>
          <a:xfrm>
            <a:off x="1508760" y="5303520"/>
            <a:ext cx="990569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ciclo aprovecha el turbocompresor de un vehículo?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</a:t>
            </a:r>
            <a:endParaRPr lang="en-US" sz="3000" dirty="0"/>
          </a:p>
        </p:txBody>
      </p:sp>
      <p:sp>
        <p:nvSpPr>
          <p:cNvPr id="3" name="kicker_49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5" name="txt_496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 (PEA)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Minga, M. A. (2026). </a:t>
            </a: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Introducción a motores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ISTS.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Escudero Fernández, S., González González, J., Rivas Cuadrado, J. L., y Suárez Linares, A. (2011). </a:t>
            </a: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Macmillan Iberia.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consulta (PEA)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Barbosa Saldaña, J., y Gutiérrez Torres, C. (2015). </a:t>
            </a: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Termodinámica para ingenieros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Grupo Editorial Patria.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Jiménez Bernal, J. A., Gutiérrez Torres, C. del C., y Barbosa Saldaña, J. G. (2014). </a:t>
            </a: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Termodinámica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Grupo Editorial Patria.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Payri González, F., y Desantes Fernández, J. M. (2023). </a:t>
            </a: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de combustión interna alternativos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(7.ª reimp.). Universitat Politècnica de València.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los ejemplos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Çengel, Y. A., y Boles, M. A. (2012). </a:t>
            </a: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Termodinámica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(7.ª ed.). McGraw-Hill.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Moran, M. J., y Shapiro, H. N. (2004). </a:t>
            </a: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termodinámica técnica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(2.ª ed.). Reverté.</a:t>
            </a:r>
            <a:endParaRPr lang="en-US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Lizarraga, J. M., López González, L. M., y Jiménez Montalvo, F. (2011). </a:t>
            </a: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termodinámica fundamental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(2.ª ed.). Universidad de La Rioja.</a:t>
            </a:r>
            <a:endParaRPr lang="en-US" sz="1400" dirty="0"/>
          </a:p>
        </p:txBody>
      </p:sp>
      <p:sp>
        <p:nvSpPr>
          <p:cNvPr id="6" name="card_497"/>
          <p:cNvSpPr/>
          <p:nvPr/>
        </p:nvSpPr>
        <p:spPr>
          <a:xfrm>
            <a:off x="8961120" y="1463040"/>
            <a:ext cx="2681935" cy="1645920"/>
          </a:xfrm>
          <a:prstGeom prst="roundRect">
            <a:avLst>
              <a:gd name="adj" fmla="val 5556"/>
            </a:avLst>
          </a:prstGeom>
          <a:solidFill>
            <a:srgbClr val="FCE6DF"/>
          </a:solidFill>
          <a:ln/>
        </p:spPr>
      </p:sp>
      <p:sp>
        <p:nvSpPr>
          <p:cNvPr id="7" name="dot_498"/>
          <p:cNvSpPr/>
          <p:nvPr/>
        </p:nvSpPr>
        <p:spPr>
          <a:xfrm>
            <a:off x="9144000" y="201168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c_49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72" y="2130552"/>
            <a:ext cx="310896" cy="310896"/>
          </a:xfrm>
          <a:prstGeom prst="rect">
            <a:avLst/>
          </a:prstGeom>
        </p:spPr>
      </p:pic>
      <p:sp>
        <p:nvSpPr>
          <p:cNvPr id="9" name="txt_500"/>
          <p:cNvSpPr txBox="1"/>
          <p:nvPr/>
        </p:nvSpPr>
        <p:spPr>
          <a:xfrm>
            <a:off x="9829800" y="1536192"/>
            <a:ext cx="1676095" cy="1499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ecuaciones se pueden editar con doble clic (editor de ecuaciones de PowerPoint).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modinamica ISTS">
  <a:themeElements>
    <a:clrScheme name="Termodinamica ISTS">
      <a:dk1>
        <a:srgbClr val="1F2933"/>
      </a:dk1>
      <a:lt1>
        <a:srgbClr val="FFFFFF"/>
      </a:lt1>
      <a:dk2>
        <a:srgbClr val="15233F"/>
      </a:dk2>
      <a:lt2>
        <a:srgbClr val="F2F5F8"/>
      </a:lt2>
      <a:accent1>
        <a:srgbClr val="0E7C7B"/>
      </a:accent1>
      <a:accent2>
        <a:srgbClr val="E4572E"/>
      </a:accent2>
      <a:accent3>
        <a:srgbClr val="22345A"/>
      </a:accent3>
      <a:accent4>
        <a:srgbClr val="F2A541"/>
      </a:accent4>
      <a:accent5>
        <a:srgbClr val="5B6770"/>
      </a:accent5>
      <a:accent6>
        <a:srgbClr val="7FB7B6"/>
      </a:accent6>
      <a:hlink>
        <a:srgbClr val="0E7C7B"/>
      </a:hlink>
      <a:folHlink>
        <a:srgbClr val="5B6770"/>
      </a:folHlink>
    </a:clrScheme>
    <a:fontScheme name="Termodinamica IS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6196</Words>
  <Application>Microsoft Office PowerPoint</Application>
  <PresentationFormat>Panorámica</PresentationFormat>
  <Paragraphs>834</Paragraphs>
  <Slides>57</Slides>
  <Notes>57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57</vt:i4>
      </vt:variant>
    </vt:vector>
  </HeadingPairs>
  <TitlesOfParts>
    <vt:vector size="62" baseType="lpstr">
      <vt:lpstr>Arial</vt:lpstr>
      <vt:lpstr>Calibri</vt:lpstr>
      <vt:lpstr>Cambria</vt:lpstr>
      <vt:lpstr>Cambria Math</vt:lpstr>
      <vt:lpstr>Termodinamica ISTS</vt:lpstr>
      <vt:lpstr>Presentación de PowerPoint</vt:lpstr>
      <vt:lpstr>Resultado de aprendizaje de la unidad</vt:lpstr>
      <vt:lpstr>Contenidos de la unidad</vt:lpstr>
      <vt:lpstr>Herramientas de la Unidad 1</vt:lpstr>
      <vt:lpstr>Presentación de PowerPoint</vt:lpstr>
      <vt:lpstr>Concepto de máquina térmica</vt:lpstr>
      <vt:lpstr>Motor térmico y principio de funcionamiento</vt:lpstr>
      <vt:lpstr>Eficiencia térmica: definición e interpretación</vt:lpstr>
      <vt:lpstr>Procesos reversibles e irreversibles</vt:lpstr>
      <vt:lpstr>Idealizaciones de los ciclos de potencia</vt:lpstr>
      <vt:lpstr>Presentación de PowerPoint</vt:lpstr>
      <vt:lpstr>Definición de ciclo termodinámico</vt:lpstr>
      <vt:lpstr>Ciclos de potencia de gas: aire estándar</vt:lpstr>
      <vt:lpstr>Terminología del motor reciprocante</vt:lpstr>
      <vt:lpstr>Presión media efectiva (PME)</vt:lpstr>
      <vt:lpstr>Representación del ciclo en el diagrama P–v</vt:lpstr>
      <vt:lpstr>Ejercicio 9-14: planteamiento</vt:lpstr>
      <vt:lpstr>Ejercicio 9-14: trabajo y eficiencia</vt:lpstr>
      <vt:lpstr>Presentación de PowerPoint</vt:lpstr>
      <vt:lpstr>Etapas del ciclo de Carnot</vt:lpstr>
      <vt:lpstr>Carnot como límite teórico de eficiencia</vt:lpstr>
      <vt:lpstr>Ejemplo: la máquina del inventor</vt:lpstr>
      <vt:lpstr>Refrigerador de Carnot</vt:lpstr>
      <vt:lpstr>Ejemplo: refrigerador de Carnot para hacer hielo</vt:lpstr>
      <vt:lpstr>Presentación de PowerPoint</vt:lpstr>
      <vt:lpstr>Motores de encendido por chispa</vt:lpstr>
      <vt:lpstr>Ciclo Otto ideal: procesos y etapas</vt:lpstr>
      <vt:lpstr>Balance de energía del ciclo Otto</vt:lpstr>
      <vt:lpstr>Eficiencia del ciclo Otto ideal</vt:lpstr>
      <vt:lpstr>Influencia de la relación de compresión</vt:lpstr>
      <vt:lpstr>Ejemplo Otto: planteamiento</vt:lpstr>
      <vt:lpstr>Ejemplo Otto: trabajo, eficiencia y PME</vt:lpstr>
      <vt:lpstr>Ciclo Otto real: diferencias generales</vt:lpstr>
      <vt:lpstr>Motores de dos tiempos: panorama comparativo</vt:lpstr>
      <vt:lpstr>Presentación de PowerPoint</vt:lpstr>
      <vt:lpstr>Motores de encendido por compresión</vt:lpstr>
      <vt:lpstr>Ciclo Diesel ideal: procesos y etapas</vt:lpstr>
      <vt:lpstr>Diferencia con Otto: el aporte de calor</vt:lpstr>
      <vt:lpstr>Efecto de r y de la relación de corte</vt:lpstr>
      <vt:lpstr>Ejemplo Diesel: planteamiento</vt:lpstr>
      <vt:lpstr>Ejemplo Diesel: rendimiento y PME</vt:lpstr>
      <vt:lpstr>Ciclo Diesel real y ciclo dual</vt:lpstr>
      <vt:lpstr>Presentación de PowerPoint</vt:lpstr>
      <vt:lpstr>Otto vs Diesel: similitudes y diferencias</vt:lpstr>
      <vt:lpstr>Comparación en el diagrama T–s</vt:lpstr>
      <vt:lpstr>Aplicación general en automoción</vt:lpstr>
      <vt:lpstr>Relación general con la eficiencia térmica</vt:lpstr>
      <vt:lpstr>Trabajo en clase: proyecto con simulador</vt:lpstr>
      <vt:lpstr>Presentación de PowerPoint</vt:lpstr>
      <vt:lpstr>Ciclo Stirling</vt:lpstr>
      <vt:lpstr>Ciclo Brayton: la turbina de gas</vt:lpstr>
      <vt:lpstr>Ciclo Brayton: diagramas y eficiencia</vt:lpstr>
      <vt:lpstr>Ciclo Rankine: la central de vapor</vt:lpstr>
      <vt:lpstr>Resumen de los ciclos de potencia</vt:lpstr>
      <vt:lpstr>Ideas clave</vt:lpstr>
      <vt:lpstr>Autoevaluación</vt:lpstr>
      <vt:lpstr>Bibliografía</vt:lpstr>
    </vt:vector>
  </TitlesOfParts>
  <Company>Instituto Superior Tecnológico Sudamericano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2 – Ciclos termodinámicos</dc:title>
  <dc:subject>PptxGenJS Presentation</dc:subject>
  <dc:creator>ISTS – Mecánica Automotriz</dc:creator>
  <cp:lastModifiedBy>Ing. Miguel Angel  Minga Gonzalez</cp:lastModifiedBy>
  <cp:revision>1</cp:revision>
  <dcterms:created xsi:type="dcterms:W3CDTF">2026-10-12T03:22:29Z</dcterms:created>
  <dcterms:modified xsi:type="dcterms:W3CDTF">2026-10-12T04:03:15Z</dcterms:modified>
</cp:coreProperties>
</file>