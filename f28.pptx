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d764e68b-4d0f-ce52-d5b1-308f8602c2df}">
          <p14:sldIdLst>
            <p14:sldId id="256"/>
            <p14:sldId id="257"/>
            <p14:sldId id="258"/>
          </p14:sldIdLst>
        </p14:section>
        <p14:section name="1.1 Introducción" id="{11eee177-3762-5398-a9af-62baf18427b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.2 Principios básicos eléctricos" id="{fa1b999e-99ce-2efb-dd17-54f26e265164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1.3 Nomenclatura eléctrica de fabricantes" id="{2ff45915-6851-3ca3-9a14-0ffcf9e39453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1.4 Normas técnicas" id="{b3a1bb26-05b5-de52-885f-3cbaf9bedb50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1.5 Interpretación de esquemas eléctricos" id="{2864b544-f198-f8f2-0014-865d9c91eacb}">
          <p14:sldIdLst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1.6 Tipos de conectores eléctricos según normas DIN" id="{c4155b1f-2da6-a56f-3345-4e54e678f6e6}">
          <p14:sldIdLst>
            <p14:sldId id="307"/>
            <p14:sldId id="308"/>
            <p14:sldId id="309"/>
            <p14:sldId id="310"/>
            <p14:sldId id="311"/>
          </p14:sldIdLst>
        </p14:section>
        <p14:section name="1.7 Circuitos eléctricos del automóvil" id="{b7aa9333-4ef0-e13c-29fc-7976b8e09e1a}">
          <p14:sldIdLst>
            <p14:sldId id="312"/>
            <p14:sldId id="313"/>
            <p14:sldId id="314"/>
            <p14:sldId id="315"/>
          </p14:sldIdLst>
        </p14:section>
        <p14:section name="1.8 Componentes de los circuitos eléctricos" id="{ae21677e-7856-f7c4-fc6f-5c29465b3b1b}">
          <p14:sldIdLst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  <p14:section name="1.9 La batería" id="{3076088b-e5f0-7223-d926-0b4deb42e68b}">
          <p14:sldIdLst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Cierre de la unidad" id="{80567ab7-d6ee-6226-c73f-fae1f3a7d8d3}">
          <p14:sldIdLst>
            <p14:sldId id="351"/>
            <p14:sldId id="352"/>
            <p14:sldId id="353"/>
            <p14:sldId id="354"/>
            <p14:sldId id="3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 la Unidad 1 según el Programa de Estudio de la Asignatura (PEA). Tiempo previsto: octubre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nueve temas del bloque de contenidos de la Unidad 1 del PEA. El mazo sigue exactamente ese orden; cada tema abre con una diapositiva divisoria.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de aprendizaje tomados del PEA. Se cierran con la autoevaluación final y con las prácticas 1 a 7 y 4P1 a 4P5 de la guía de prácticas.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fuerza: sin la batería no hay arranque y sin el alternador la batería se agota. Pregunta detonante: ¿qué consumidores siguen funcionando con el motor apagado?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la asignatura: la U1 trata la base (principios, normas, componentes y batería); la U2 el arranque y la carga; la U3 el encendido; la U4 los circuitos auxiliares.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 respecto al material anterior: además de 12 V conviene presentar 24 V (pesados) y 48 V (microhíbridos). La alta tensión de híbridos y eléctricos se menciona solo como referencia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circuito necesita: fuente, conductor de ida, consumidor y retorno. En el automóvil se añaden siempre un elemento de protección (fusible) y uno de mando (interruptor o relé).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el vehículo del taller dónde están las masas principales: batería-carrocería, motor-carrocería y masas de faros.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repetía tres veces estos conceptos en diapositivas separadas. Aquí se resumen en una tabla con unidad, instrumento y forma de conexión, que es lo que el estudiante usa en 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de cálculo mental en clase: una lámpara de 21 W a 12 V; ¿qué corriente consume? (1,75 A). ¿Y su resistencia en caliente? (6,9 Ω).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con la práctica: un fusible se funde por efecto Joule; un cable subdimensionado se calienta por la misma razón.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Resistividad del cobre: 0,0172 Ω·mm²/m (Calsina Fleta, 2011). La norma UNE 26115 exige como máximo 0,018 Ω·mm²/m a 20 °C (Sánchez Fernández,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en el material anterior el título decía «Ohmio y Kirchhoff establecieron…»; el autor de la ley es Georg Simon Ohm y la nota correcta es que en serie se reparten las tensiones y en paralelo las corrientes.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Verificado: los valores del ejercicio original son correctos; se corrige la presentación (tres decimales y comprobación con la segunda ley de Kirchhoff).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automóvil casi todos los consumidores están en paralelo respecto a la batería: cada uno recibe la tensión completa y funciona de forma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del ejercicio original verificados (Rₜ = 5,71 Ω; Iₜ = 7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Método: reducir primero las ramas en paralelo, luego sumar en serie, y volver hacia atrás para hallar tensiones y corrientes parciales.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PEA pide resolver problemas con teoremas y leyes de circuitos; Kirchhoff no aparecía desarrollado en el material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diagnóstico real: un motor de arranque gira lento con batería en buen estado; la causa suele ser una conexión con alta resistencia.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2 (instrumentos de medición). Reforzar la seguridad: nunca medir resistencia con el circuito alimentado ni conectar el amperímetro en paralelo.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3 A; 2) 4 Ω; 3) b; 4) en serie; 5) 0,5 V se pierden en el cable o las conexiones.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que identifiquen en el esquema del banco de alumbrado al menos diez de estos símbolos.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Sánchez Fernández (2024), tabla de colores por marca. Alemania (VW, BMW) usa abreviaturas en alemán: sw = negro, rt/ro = rojo, br = marrón, gn = verde, bl = azul, ge = amarillo, ws = blanco, gr = gris, li/vi = violeta.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codificación de piezas por función/grupo de PSA aparece en el material «Esquemática»; es útil para leer los manuales de los vehículos del parque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esquema de corriente (amperimétrico) del grupo VW las líneas horizontales superiores son 30, 15, X y 31; los componentes se dibujan en vertical entre positivo y masa.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diferencias se aprenden con la práctica 5 (interpretación de esquemas) usando manuales de distintas marcas.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atribuía la designación de bornes a la DIN 40719 y a la DIN 40700. La designación de bornes es la DIN 72552; DIN 40700/40900 tratan los símbolos y DIN 40719 la identificación de componentes en los esquemas.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Texto literal de los numerales 1 y 2 de la norma. Es de cumplimiento obligatorio y se verifica en la revisión técnica vehicular.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que verifiquen esta lista en un vehículo del parqueadero como tarea autónoma.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Numerales 4 y 5.2 de la norma. La intensidad «135 candela metro (135 luxes)» se transcribe tal como la indica la norma.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las tablas 1, 2 y 3 de la norma. Altura medida desde el suelo; hasta 2100 mm en camiones cuando la carrocería no lo permite.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Aclaración importante para el estudiante: los apuntes antiguos titulaban «Norma DIN 40719» a la tabla de bornes. La tabla de bornes corresponde a DIN 72552.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Algunas marcas se apartan de la norma: por ejemplo, el grupo VW usa L para lámparas y J para unidades de control y relés.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Memorizar al menos 30, 15, 31, 50, 85, 86, 87, 87a, 56a, 56b, 58 y 49a. Se usan en las prácticas 5 y 6 y en las U2 a U4.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archivo de la asignatura «Reglamento Europeo» es el Reglamento Delegado (UE) n.º 3/2014, que complementa al Reglamento (UE) n.º 168/2013 sobre seguridad funcional de vehículos de categoría L (dos y tres ruedas y cuatriciclos). Para turismos, la referencia de alumbrado es el Reglamento CEPE/ONU n.º 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fabricantes dibujan los esquemas en posición de reposo: interruptores abiertos, relés sin excitar y motor parado (Sánchez Fernández,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esquemas por símbolos no hay líneas; el estudiante debe usar la referencia «componente/pin» para seguir el 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con la diapositiva de masa (1.1). Una masa defectuosa puede afectar a varios circuitos que comparten el mismo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método se aplica en la práctica 5 y en el banco de alumbrado y señalización del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Solución: batería (30) → S124.1 (mando de luces) → relé K43 → fusibles F36 y F37 → lámparas E121LA.1 y E121RA.1 → masa. El mando S124.1 informa al BCM, que gobierna la excitación (masa) de la bobina del relé K43.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Fernández (2024): las guías de posicionamiento de los conectores macho se indican en negro y las de los terminales hembra en blanco.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Reforzar en el proyecto integrador P21 (fuentes de laboratorio), donde se crimpan terminales faston.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figura compara el cableado de la luz de posición de un Audi A4 anterior (45 cables, 9 conectores) con el modelo 2001 (17 cables, 2 conectores).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Clasificación tomada del material anterior (U3 EA II) y de Sánchez Fernández (2024).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de la izquierda es de Sánchez Fernández (2024); la de la derecha resume secciones habituales por consumidor del material anterior. AWG: a mayor número, menor diámetro.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una instalación unipolar la longitud L es solo la del cable de ida, porque el retorno es por masa. Si el retorno es por cable, L se duplica.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en clase los tres tipos de cinta y el termorretráctil.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de una conexión según Sánchez Fernández (2024): unión verdadera y segura, y protección eficaz contra deterioros.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interruptores son captadores de «todo o nada»: su estado abierto/cerrado lo provoca la posición, el nivel, la temperatura o la presión (Sánchez Fernández,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en el vehículo: presostato de aceite (testigo de presión), termocontacto del electroventilador, interruptor de nivel del líquido de frenos.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copiaba páginas de catálogo con texto ilegible. Se sustituye por una tabla de tipos y el código de colores del fusible de clavija.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Fernández (2024) usa I = P / V para un circuito con un solo consumidor. Se añade el margen para corrientes de arranque de lámparas y motores, criterio habitual en 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 de caída de tensión: con el circuito funcionando, un fusible sano presenta una caída de pocos milivoltios; permite además estimar la corriente del circuito con tablas del fabricante.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el interruptor de control abierto (arriba) la bobina no crea campo y los contactos 30-87 están abiertos; al cerrar el interruptor (abajo) la bobina atrae la armadura y el consumidor recibe corriente.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relés con diodo tienen polaridad: si se invierte 85/86 el diodo conduce en directo y puede dañar el circuito de 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Comprobación del relé en la práctica 6: resistencia de bobina (≈ 50–120 Ω según el modelo) y caída de tensión entre 30 y 87 con carga (unas décimas de voltio como máximo).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ubicaba esta imagen como «batería Volkswagen» sin fuente; se mantiene con su procedencia y se complementa con las figuras de Calsina Fleta (2011).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vaso tiene unos 2,1 V en reposo; Calsina Fleta (2011) da 2,2 V como tensión máxima por vaso inmediatamente después de la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indicaba una proporción «37 % – 67 %», que no suma 100 %. El electrolito de una batería cargada tiene ≈ 37 % de ácido sulfúrico en masa (densidad 1,28 g/cm³).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decía que en la descarga «la placa positiva libera oxígeno e hidrógeno»; en la descarga no se desprenden gases: se forma sulfato de plomo en ambas placas y agua en el electrolito.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 importante: el material anterior decía que al gasificar «se produce nitrógeno y oxígeno». Lo correcto es hidrógeno (en la placa negativa) y oxígeno (en la positiva), por electrólisis del agua.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decía que «70 A·h suministran 70 A en una hora o 1 A en 70 horas». La capacidad nominal se define a 20 horas (C₂₀): 70 A·h = 3,5 A durante 20 h hasta 10,5 V a 25 °C. A corrientes altas la capacidad real es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indicaba Ri &lt; 0,04 Ω y un cálculo de 300 A / 285 A sin sentido físico. Una batería de turismo en buen estado tiene una resistencia interna de pocos miliohmios (orden de 5 a 10 mΩ); el probador de conductancia (práctica 4P5) la evalúa.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referencia a 25 °C para baterías de plomo-ácido abiertas; algunos fabricantes indican 1,28 g/cm³ al 100 %. Medir con la batería en reposo al menos 2 horas (sin carga superficial). Corrección por temperatura de la densidad: ≈ +0,0007 por cada °C sobre 25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Calsina Fleta (2011): en serie se suman tensiones y conviene igual capacidad; en paralelo se suman capacidades y es obligatoria la misma tensión. En la práctica se acoplan baterías iguales, del mismo tipo y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Ampliado en la práctica 4P4 (carga a corriente constante, tensión constante y arranque auxiliar). Tensiones orientativas; consultar la ficha del fabricante para AGM, gel y EFB.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Calsina Fleta (2011): nivel del electrolito ≈ 1 cm sobre las placas; nunca añadir ácido. Al desmontar, negativo primero; al montar, negativo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Relación con las prácticas: 4P2 (fugas de corriente), 4P3 (densidad), 4P5 (probador BST-860 y BD10). La prueba de descarga a la mitad del CCA durante 15 s es el criterio clásico BCI/SAE.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Calsina Fleta (2011) describe la batería de plomo-calcio sin orificios de llenado con indicador de carga. Se añaden AGM, gel y EFB, presentes en el parque actual, sobre todo en vehículos con start-stop.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diagnóstico para la práctica 4P1. Antes de condenar una batería: cargarla completamente y volver a probarla.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1.9.8 del PEA. Los valores de celda (≈ 0,6–0,7 V bajo carga) son orientativos para pilas tipo PEM.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Numeración unificada de la guía de prácticas según el sílabo (PAO Oct 2026 – Feb 2027).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repaso antes del examen de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c; 2) 12 V y 120 A·h; 3) b; 4) 30 = positivo directo de batería, 15 = positivo tras contacto, 31 = masa; 5) I = 60/12 = 5 A; con margen 6,25 A → fusible de 7,5 A; 6) b (hidrógeno y oxígeno).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Soluciones: 1) Rₜ = 4 Ω, Iₜ = 3 A, I = 1,5 A por lámpara; 2) S = 0,0172·5·10/0,5 = 1,72 → 2,5 mm²; 3) V = 12,5 − 180·0,012 = 10,34 V; 4) 24 V y 100 A·h; 5) t = 35·1,2/7 = 6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Formato APA 7. Las imágenes de las diapositivas de clase anteriores se citan como material didáctico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/home/claude/u1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63040"/>
            <a:ext cx="3383280" cy="215798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374904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SECC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87452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u1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93192"/>
            <a:ext cx="1691640" cy="107899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1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182880"/>
            <a:ext cx="1097280" cy="69951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Electricidad Automotriz · Unidad 1 · ISTS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jpg"/><Relationship Id="rId3" Type="http://schemas.openxmlformats.org/officeDocument/2006/relationships/image" Target="../media/image-65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Unidad 1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Introducción a la electricidad del automóvil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374904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Electricidad Automotriz (MA.03.02)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Tecnología Superior en Mecánica Automotriz · Tercer período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PAO Octubre 2026 – Febrero 2027 · Diurno A / Nocturno B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Ing. Miguel Angel Minga González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Contenidos de la unidad según el PEA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307592"/>
            <a:ext cx="640080" cy="64008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23444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Introducción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267712"/>
            <a:ext cx="640080" cy="64008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19456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Principios básicos eléctricos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3227832"/>
            <a:ext cx="640080" cy="64008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546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Nomenclatura eléctrica de fabricantes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4187952"/>
            <a:ext cx="640080" cy="64008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11480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Normas técnicas: INEN 1155, DIN 40700-40719, Reglamento Europeo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5148072"/>
            <a:ext cx="640080" cy="64008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5148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507492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Interpretación de esquemas eléctricos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72200" y="1307592"/>
            <a:ext cx="640080" cy="64008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</a:rPr>
              <a:t>1.6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123444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Tipos de conectores eléctricos según normas DIN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72200" y="2267712"/>
            <a:ext cx="640080" cy="64008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</a:rPr>
              <a:t>1.7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219456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Circuitos eléctricos del automóvil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72200" y="3227832"/>
            <a:ext cx="640080" cy="64008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</a:rPr>
              <a:t>1.8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31546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Componentes: cables, aislantes, conexiones, interruptores, fusibles y relés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72200" y="4187952"/>
            <a:ext cx="640080" cy="64008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7220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</a:rPr>
              <a:t>1.9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411480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La batería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lograrás en esta unidad?</a:t>
            </a:r>
            <a:endParaRPr lang="en-US" sz="2800" dirty="0"/>
          </a:p>
        </p:txBody>
      </p:sp>
      <p:sp>
        <p:nvSpPr>
          <p:cNvPr id="4" name="Tarjeta Saber"/>
          <p:cNvSpPr/>
          <p:nvPr/>
        </p:nvSpPr>
        <p:spPr>
          <a:xfrm>
            <a:off x="50292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Saber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Define la relación tensión–corriente de la batería de CC del automóvil.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Conoce las normas que regulan la nomenclatura de los componentes eléctricos.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Interpreta la simbología de los esquemas.</a:t>
            </a:r>
            <a:endParaRPr lang="en-US" sz="1400" dirty="0"/>
          </a:p>
        </p:txBody>
      </p:sp>
      <p:sp>
        <p:nvSpPr>
          <p:cNvPr id="7" name="Tarjeta Saber hacer"/>
          <p:cNvSpPr/>
          <p:nvPr/>
        </p:nvSpPr>
        <p:spPr>
          <a:xfrm>
            <a:off x="429768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Saber hacer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6227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Resuelve circuitos aplicando las leyes de Ohm y Kirchhoff.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Mide tensión, corriente, resistencia y continuidad con el multímetro.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Diagnostica la batería: constitución, mantenimiento y fallas comunes.</a:t>
            </a:r>
            <a:endParaRPr lang="en-US" sz="1400" dirty="0"/>
          </a:p>
        </p:txBody>
      </p:sp>
      <p:sp>
        <p:nvSpPr>
          <p:cNvPr id="10" name="Tarjeta Ser"/>
          <p:cNvSpPr/>
          <p:nvPr/>
        </p:nvSpPr>
        <p:spPr>
          <a:xfrm>
            <a:off x="809244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5703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5703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Trabaja con seguridad frente al ácido, los gases y los cortocircuitos.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Aplica un método ordenado de diagnóstico en lugar de cambiar piezas al azar.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Valora la norma técnica como lenguaje común del taller.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1.1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Introducción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El sistema eléctrico del automóvil: funciones, subsistemas y tensiones de trabajo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sistema eléctrico del automóvil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498348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vehículo actual depende de la electricidad para arrancar, mantener el motor en marcha y alimentar a decenas de consumidores.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Tres funciones principales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Arrancar: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batería entrega cientos de amperios al motor de arranque.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Encender y gestionar el motor: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encendido, inyección, sensores y unidades de control.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Alimentar consumidores: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alumbrado, señalización, confort, audio y seguridad.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alternador repone la energía y alimenta la red de a bordo con el motor en marcha.</a:t>
            </a:r>
            <a:endParaRPr lang="en-US" sz="1600" dirty="0"/>
          </a:p>
        </p:txBody>
      </p:sp>
      <p:pic>
        <p:nvPicPr>
          <p:cNvPr id="5" name="Figura old_u1_s04_2.jpg" descr="old_u1_s04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80325"/>
            <a:ext cx="6035040" cy="368023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5415419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Subsistemas eléctricos del vehículo</a:t>
            </a:r>
            <a:endParaRPr lang="en-US" sz="2800" dirty="0"/>
          </a:p>
        </p:txBody>
      </p:sp>
      <p:sp>
        <p:nvSpPr>
          <p:cNvPr id="4" name="Tarjeta Generación y almacenamiento"/>
          <p:cNvSpPr/>
          <p:nvPr/>
        </p:nvSpPr>
        <p:spPr>
          <a:xfrm>
            <a:off x="502920" y="128016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8988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Generación y almacenamiento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828800"/>
            <a:ext cx="3255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Batería y alternador (U1 y U2)</a:t>
            </a:r>
            <a:endParaRPr lang="en-US" sz="1500" dirty="0"/>
          </a:p>
        </p:txBody>
      </p:sp>
      <p:sp>
        <p:nvSpPr>
          <p:cNvPr id="7" name="Tarjeta Arranque"/>
          <p:cNvSpPr/>
          <p:nvPr/>
        </p:nvSpPr>
        <p:spPr>
          <a:xfrm>
            <a:off x="4270248" y="128016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138988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Arranque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1828800"/>
            <a:ext cx="3255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Motor de arranque, relé y cableado de potencia (U2)</a:t>
            </a:r>
            <a:endParaRPr lang="en-US" sz="1500" dirty="0"/>
          </a:p>
        </p:txBody>
      </p:sp>
      <p:sp>
        <p:nvSpPr>
          <p:cNvPr id="10" name="Tarjeta Encendido"/>
          <p:cNvSpPr/>
          <p:nvPr/>
        </p:nvSpPr>
        <p:spPr>
          <a:xfrm>
            <a:off x="8037576" y="128016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02168" y="138988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Encendido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02168" y="1828800"/>
            <a:ext cx="3255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Bobinas, bujías y módulos de encendido (U3)</a:t>
            </a:r>
            <a:endParaRPr lang="en-US" sz="1500" dirty="0"/>
          </a:p>
        </p:txBody>
      </p:sp>
      <p:sp>
        <p:nvSpPr>
          <p:cNvPr id="13" name="Tarjeta Alumbrado y señalización"/>
          <p:cNvSpPr/>
          <p:nvPr/>
        </p:nvSpPr>
        <p:spPr>
          <a:xfrm>
            <a:off x="502920" y="374904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" y="38587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Alumbrado y señalización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4297680"/>
            <a:ext cx="3255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Faros, pilotos, intermitencia, freno (U4)</a:t>
            </a:r>
            <a:endParaRPr lang="en-US" sz="1500" dirty="0"/>
          </a:p>
        </p:txBody>
      </p:sp>
      <p:sp>
        <p:nvSpPr>
          <p:cNvPr id="16" name="Tarjeta Circuitos auxiliares"/>
          <p:cNvSpPr/>
          <p:nvPr/>
        </p:nvSpPr>
        <p:spPr>
          <a:xfrm>
            <a:off x="4270248" y="374904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34840" y="38587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Circuitos auxiliares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297680"/>
            <a:ext cx="3255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Limpiaparabrisas, elevalunas, cierre, cuadro (U4)</a:t>
            </a:r>
            <a:endParaRPr lang="en-US" sz="1500" dirty="0"/>
          </a:p>
        </p:txBody>
      </p:sp>
      <p:sp>
        <p:nvSpPr>
          <p:cNvPr id="19" name="Tarjeta Electrónica y redes"/>
          <p:cNvSpPr/>
          <p:nvPr/>
        </p:nvSpPr>
        <p:spPr>
          <a:xfrm>
            <a:off x="8037576" y="374904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02168" y="38587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Electrónica y redes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02168" y="4297680"/>
            <a:ext cx="3255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Unidades de control, sensores, actuadores, CAN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Tensiones de trabajo de la red de a bordo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371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578"/>
                </a:solidFill>
              </a:rPr>
              <a:t>12 V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468880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Turismos y livianos.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6 celdas de 2,1 V ≈ 12,6 V en reposo; 13,8–14,7 V con el alternador cargando.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319272" y="1371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578"/>
                </a:solidFill>
              </a:rPr>
              <a:t>24 V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2468880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Camiones y buses.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Dos baterías de 12 V en serie.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35624" y="1371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578"/>
                </a:solidFill>
              </a:rPr>
              <a:t>48 V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135624" y="2468880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Sistemas microhíbridos (MHEV) con alternador-arrancador; conviven con la red de 12 V.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51976" y="1371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</a:rPr>
              <a:t>&gt; 60 V CC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951976" y="2468880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Alta tensión de híbridos y eléctricos (200–800 V). Solo personal capacitado y con EPP dieléctrico.</a:t>
            </a:r>
            <a:endParaRPr lang="en-US" sz="1500" dirty="0"/>
          </a:p>
        </p:txBody>
      </p:sp>
      <p:sp>
        <p:nvSpPr>
          <p:cNvPr id="12" name="Ecuación"/>
          <p:cNvSpPr/>
          <p:nvPr/>
        </p:nvSpPr>
        <p:spPr>
          <a:xfrm>
            <a:off x="502920" y="512064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5120640"/>
            <a:ext cx="112014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Tensión con motor en marcha (regulada) ≈ 13,8 – 14,7 V    |    Batería en reposo cargada ≈ 12,6 – 12,7 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circuito eléctrico elemental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4864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circuito es un camino cerrado por el que circulan los electrones desde la fuente, a través del consumidor, de vuelta a la fuente.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Fuente: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batería o alternador (crea la diferencia de potencial).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Conductores: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cables de cobre y la masa del vehículo.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Protección: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fusible o disyuntor en serie con el circuito.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Mando: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interruptor o relé que abre y cierra el paso.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Consumidor: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transforma la energía (lámpara, motor, resistencia).</a:t>
            </a:r>
            <a:endParaRPr lang="en-US" sz="1600" dirty="0"/>
          </a:p>
        </p:txBody>
      </p:sp>
      <p:pic>
        <p:nvPicPr>
          <p:cNvPr id="5" name="Figura cal_circuito_real.png" descr="cal_circuito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6501" y="1234440"/>
            <a:ext cx="5229239" cy="2377440"/>
          </a:xfrm>
          <a:prstGeom prst="rect">
            <a:avLst/>
          </a:prstGeom>
        </p:spPr>
      </p:pic>
      <p:pic>
        <p:nvPicPr>
          <p:cNvPr id="6" name="Figura cal_circuito_simbolos.png" descr="cal_circuito_simbol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283" y="3703320"/>
            <a:ext cx="2189673" cy="21488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69480" y="5907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masa: retorno por la carrocería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0807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el automóvil el negativo de la batería se une al chasis y al bloque motor: la estructura metálica sirve de conductor de retorno.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Así cada consumidor necesita un solo cable de alimentación (instalación unipolar), con ahorro de peso y cobre.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Puntos de masa: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terminales atornillados a la carrocería; deben estar limpios y apretados.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Avería típica: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masa oxidada provoca luces débiles, testigos que se encienden solos o fallos intermitentes.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Componentes electrónicos sensibles usan masa propia por cable (instalación bipolar).</a:t>
            </a:r>
            <a:endParaRPr lang="en-US" sz="1600" dirty="0"/>
          </a:p>
        </p:txBody>
      </p:sp>
      <p:pic>
        <p:nvPicPr>
          <p:cNvPr id="5" name="Figura cal_masa.png" descr="cal_ma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827" y="1234440"/>
            <a:ext cx="4243227" cy="4572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12280" y="5861304"/>
            <a:ext cx="42432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1.2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Principios básicos eléctricos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Magnitudes, ley de Ohm, potencia, resistencia de conductores, circuitos serie, paralelo y mixto, leyes de Kirchhoff y medición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Constitución de la materia y conductividad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62636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átomo tiene un núcleo (protones y neutrones) y electrones en órbitas; los electrones de la última capa pueden quedar libres.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Conductores: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muchos electrones libres (cobre, aluminio, latón). El cobre se usa en el cableado por su baja resistividad.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Aislantes: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casi sin electrones libres (PVC, caucho, cerámica, aire).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Semiconductores: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conductividad intermedia y controlable (silicio): diodos, transistores, sensores.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corriente eléctrica es el movimiento ordenado de electrones libres impulsado por una diferencia de potencial.</a:t>
            </a:r>
            <a:endParaRPr lang="en-US" sz="1600" dirty="0"/>
          </a:p>
        </p:txBody>
      </p:sp>
      <p:pic>
        <p:nvPicPr>
          <p:cNvPr id="4" name="Figura mac_mono_multi.png" descr="mac_mono_mul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481901"/>
            <a:ext cx="4754880" cy="407707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0" y="5613843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Las tres magnitudes fundamentales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280160"/>
                <a:gridCol w="3063240"/>
                <a:gridCol w="34747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Magnitud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Símbolo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Unidad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Qué representa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Instrumento y conexión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Tensión (diferencia de potencial)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 (o U)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voltio (V)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La «presión» que impulsa a los electrones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Voltímetro, en PARALELO con el elemento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Intensidad de corriente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amperio (A)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Cantidad de carga que pasa por segundo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Amperímetro, en SERIE (o pinza amperimétrica)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Resistencia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ohmio (Ω)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Oposición al paso de la corriente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Óhmetro, SIN TENSIÓN y con el elemento aislado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pic>
        <p:nvPicPr>
          <p:cNvPr id="5" name="Figura old_u1_s18_2.jpg" descr="old_u1_s18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829" y="4160520"/>
            <a:ext cx="3611301" cy="17830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2971800" y="5998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Corriente continua y corriente alterna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3492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Corriente continua (CC):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circula siempre en el mismo sentido y con polaridad fija. Es la de la batería y la red de a bordo.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Corriente alterna (CA):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cambia periódicamente de sentido. La genera el alternador en su estator y se rectifica a CC con el puente de diodos.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español se abrevia CC y CA (en inglés, DC y AC). El material anterior usaba «CD», que no es la forma normalizada.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Ojo al medir: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seleccione V⎓ (CC) en el multímetro para la red de a bordo; en V~ la lectura es errónea.</a:t>
            </a:r>
            <a:endParaRPr lang="en-US" sz="1600" dirty="0"/>
          </a:p>
        </p:txBody>
      </p:sp>
      <p:pic>
        <p:nvPicPr>
          <p:cNvPr id="4" name="Figura old_u1_s42_2.png" descr="old_u1_s4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57242"/>
            <a:ext cx="5669280" cy="33263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523850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Ley de Ohm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760720" cy="2743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intensidad que circula por un circuito es directamente proporcional a la tensión aplicada e inversamente proporcional a la resistencia.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Regla del triángulo: tape la magnitud buscada; las otras dos quedan multiplicando (V = R·I) o dividiendo (I = V/R; R = V/I).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resistencia que aumenta (conexión oxidada, cable dañado) reduce la corriente y el consumidor trabaja mal.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0233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023360"/>
            <a:ext cx="57607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R · I        I = V / R        R = V / I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lámpara de cruce H7, 12 V / 55 W.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Corriente: I = P / V = 55 / 12 = 4,58 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Resistencia en caliente: R = V / I = 12 / 4,58 = 2,62 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frío el filamento mide unas 10 veces menos (≈ 0,3 Ω): al encender, el pico de corriente es muy superior a 4,58 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Conclusión: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 eso el fusible se elige con margen sobre la corriente nominal.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Potencia eléctrica y efecto Joule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31089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Potencia (P):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trabajo realizado por unidad de tiempo; se mide en vatios (W).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Energía (E):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potencia por tiempo; en W·h o en julios (1 W·h = 3600 J).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Efecto Joule: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toda corriente que atraviesa una resistencia produce calor. Útil en la luneta térmica y el fusible; perjudicial en cables y conexiones.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Rendimiento (η):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relación entre potencia útil y potencia absorbida (η = Pútil / Pabs · 100 %).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34340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343400"/>
            <a:ext cx="56692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V · I = I² · R = V² / 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P · t        Q(calor) = I² · R · t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luneta térmica de 120 W a 12 V funcionando 15 min.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= P / V = 120 / 12 = 10 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 = V / I = 12 / 10 = 1,2 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 = P · t = 120 W · 0,25 h = 30 W·h = 108 000 J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Energía tomada de la batería (12 V): Q = I · t = 10 A · 0,25 h = 2,5 A·h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Resistencia de un conductor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29260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resistencia de un hilo depende del material (ρ), de su longitud (L) y de su sección (S).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Más longitud → más resistencia. Más sección → menos resistencia.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resistencia del cobre aumenta con la temperatura (α ≈ 0,0039 /°C).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Cobre: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ρ = 0,0172 Ω·mm²/m (UNE 26115: ≤ 0,018 a 20 °C).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20624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206240"/>
            <a:ext cx="56692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ρ · L / 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Rθ = R₂₀ · [1 + α · (θ − 20)]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cable de 1,5 mm² y 4 m de longitud que alimenta un faro de 55 W.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 = 0,0172 · 4 / 1,5 = 0,046 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= 55 / 12 = 4,58 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Caída de tensión: ΔV = R · I = 0,046 · 4,58 = 0,21 V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80 °C: R = 0,046 · [1 + 0,0039 · 60] = 0,057 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Conclusión: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0,21 V es admisible en alumbrado (límite orientativo 0,3 V).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Circuito en serie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3566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elementos están uno a continuación de otro: hay un único camino para la corriente.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Corriente: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 la misma en todos los elementos.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Tensión: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reparte; la suma de caídas es igual a la tensión de la fuente.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Resistencia total: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suma de todas las resistencias.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un elemento se abre, se interrumpe todo el circuito.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 el automóvil: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fusible + interruptor + consumidor; resistencias de ventilador del habitáculo.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80060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800600"/>
            <a:ext cx="56692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Rₜ = R₁ + R₂ + R₃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 = I₁ = I₂ = I₃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Vₜ = V₁ + V₂ + V₃</a:t>
            </a:r>
            <a:endParaRPr lang="en-US" sz="1900" dirty="0"/>
          </a:p>
        </p:txBody>
      </p:sp>
      <p:pic>
        <p:nvPicPr>
          <p:cNvPr id="7" name="Figura old_u1_s22_2.png" descr="old_u1_s2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2239" y="1371600"/>
            <a:ext cx="4563522" cy="2926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12280" y="4352544"/>
            <a:ext cx="45635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Ejemplo resuelto: circuito en serie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pic>
        <p:nvPicPr>
          <p:cNvPr id="6" name="Figura old_u1_s22_2.png" descr="old_u1_s2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97623"/>
            <a:ext cx="4206240" cy="26969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4846320"/>
            <a:ext cx="4389120" cy="1097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Vₜ = 100 V; R₁ = 10 Ω; R₂ = 20 Ω; R₃ = 15 Ω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80160"/>
          <a:ext cx="6583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Cálculo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1. Resistencia total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Rₜ = 10 + 20 + 15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45 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2. Corriente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 = Vₜ / Rₜ = 100 / 45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2,222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3. Caída en R₁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V₁ = 2,222 · 10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22,22 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4. Caída en R₂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V₂ = 2,222 · 20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44,44 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5. Caída en R₃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V₃ = 2,222 · 15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33,33 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6. Comprobación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V₁ + V₂ + V₃ = 22,22 + 44,44 + 33,33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≈ 100 V ✓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7. Potencia total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 = Vₜ · I = 100 · 2,222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222,2 W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Circuito en paralelo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3566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Todos los elementos están conectados entre los mismos dos puntos: hay varios caminos para la corriente.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Tensión: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 la misma en todas las ramas.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Corriente: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reparte; la total es la suma de las corrientes de rama.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Resistencia total: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siempre menor que la menor de las resistencias.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una rama se abre, las demás siguen funcionando.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 el automóvil: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faros, pilotos y prácticamente todos los consumidores.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80060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800600"/>
            <a:ext cx="56692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1/Rₜ = 1/R₁ + 1/R₂ + 1/R₃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Vₜ = V₁ = V₂ = V₃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 = I₁ + I₂ + I₃</a:t>
            </a:r>
            <a:endParaRPr lang="en-US" sz="1900" dirty="0"/>
          </a:p>
        </p:txBody>
      </p:sp>
      <p:pic>
        <p:nvPicPr>
          <p:cNvPr id="7" name="Figura old_u1_s26_2.png" descr="old_u1_s26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378872"/>
            <a:ext cx="4754880" cy="29115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766560" y="434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Ejemplo resuelto: circuito en paralelo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pic>
        <p:nvPicPr>
          <p:cNvPr id="6" name="Figura old_u1_s26_2.png" descr="old_u1_s26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58325"/>
            <a:ext cx="4206240" cy="257559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4846320"/>
            <a:ext cx="4389120" cy="1097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Vₜ = 40 V; R₁ = 40 Ω; R₂ = 20 Ω; R₃ = 10 Ω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80160"/>
          <a:ext cx="6583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14630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Cálculo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1. Corriente en R₁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I₁ = 40 / 40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1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2. Corriente en R₂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I₂ = 40 / 20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2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3. Corriente en R₃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I₃ = 40 / 10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4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4. Corriente total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Iₜ = 1 + 2 + 4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7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5. Resistencia total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1/Rₜ = 1/40 + 1/20 + 1/10 = 0,175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5,71 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6. Comprobación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Rₜ = Vₜ / Iₜ = 40 / 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5,71 Ω ✓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Circuito mixto: ejemplo resuelto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pic>
        <p:nvPicPr>
          <p:cNvPr id="6" name="Figura old_u1_s29_2.png" descr="old_u1_s29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87" y="1783080"/>
            <a:ext cx="3577507" cy="2926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7640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5257800"/>
            <a:ext cx="4389120" cy="9144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Vₜ = 30 V; R₁ = 2 Ω en serie con R₂ = 20 Ω ∥ R₃ = 5 Ω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80160"/>
          <a:ext cx="6583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Cálculo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1. Paralelo R₂ ∥ R₃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R₂₃ = (20 · 5) / (20 + 5)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4 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2. Resistencia total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Rₜ = R₁ + R₂₃ = 2 + 4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6 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3. Corriente total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Iₜ = 30 / 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5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4. Caída en R₁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V₁ = 5 · 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10 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5. Tensión del paralelo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V₂₃ = 5 · 4  (o 30 − 10)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20 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6. Corrientes de rama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I₂ = 20/20 ; I₃ = 20/5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1 A ; 4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7. Comprobación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I₂ + I₃ = 1 + 4 = Iₜ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5 A ✓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Leyes de Kirchhoff</a:t>
            </a:r>
            <a:endParaRPr lang="en-US" sz="2800" dirty="0"/>
          </a:p>
        </p:txBody>
      </p:sp>
      <p:sp>
        <p:nvSpPr>
          <p:cNvPr id="4" name="Tarjeta 1.ª ley · Ley de nudos (corrientes)"/>
          <p:cNvSpPr/>
          <p:nvPr/>
        </p:nvSpPr>
        <p:spPr>
          <a:xfrm>
            <a:off x="502920" y="123444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1.ª ley · Ley de nudos (corrientes)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 un nudo, la suma de corrientes que entran es igual a la suma de las que salen.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Ejemplo: en el nudo del ejemplo mixto entran 5 A y salen 1 A + 4 A.</a:t>
            </a:r>
            <a:endParaRPr lang="en-US" sz="1400" dirty="0"/>
          </a:p>
        </p:txBody>
      </p:sp>
      <p:sp>
        <p:nvSpPr>
          <p:cNvPr id="7" name="Tarjeta 2.ª ley · Ley de mallas (tensiones)"/>
          <p:cNvSpPr/>
          <p:nvPr/>
        </p:nvSpPr>
        <p:spPr>
          <a:xfrm>
            <a:off x="6217920" y="123444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82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2.ª ley · Ley de mallas (tensiones)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1783080"/>
            <a:ext cx="51572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 una malla cerrada, la suma de las fuerzas electromotrices es igual a la suma de las caídas de tensión.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Ejemplo: 30 V = 10 V (R₁) + 20 V (R₂₃).</a:t>
            </a:r>
            <a:endParaRPr lang="en-US" sz="1400" dirty="0"/>
          </a:p>
        </p:txBody>
      </p:sp>
      <p:sp>
        <p:nvSpPr>
          <p:cNvPr id="10" name="Ecuación"/>
          <p:cNvSpPr/>
          <p:nvPr/>
        </p:nvSpPr>
        <p:spPr>
          <a:xfrm>
            <a:off x="502920" y="438912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4389120"/>
            <a:ext cx="112014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I entrantes = Σ I salientes          Σ E = Σ (I · R)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349240"/>
            <a:ext cx="11201400" cy="868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Aplicación en el taller: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2.ª ley explica la prueba de caída de tensión: si un consumidor recibe menos tensión de la esperada, la diferencia se está perdiendo en cables, conexiones o masas.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Caída de tensión: el enemigo silencioso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Toda resistencia en serie con el consumidor «roba» tensión: ΔV = I · 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circuitos de gran corriente (arranque) unos pocos miliohmios provocan caídas grandes.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Valores orientativos admisibles: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alumbrado ≤ 0,3 V por línea; circuito de arranque ≤ 0,5 V en positivo y ≤ 0,3 V en masa (consultar el manual del fabricante).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Medición: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voltímetro en paralelo con el tramo sospechoso y el circuito funcionando.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78308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Tramo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Cálculo (I = 150 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Caída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Cable 25 mm², 1,2 m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 = 0,0172 · 1,2 / 25 = 0,00083 Ω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</a:rPr>
                        <a:t>0,12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Borne oxidado (5 mΩ)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ΔV = 150 · 0,005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</a:rPr>
                        <a:t>0,75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1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0,12 + 0,75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</a:rPr>
                        <a:t>0,87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83680" y="4343400"/>
            <a:ext cx="5120640" cy="1463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borne sucio produce seis veces más caída que el propio cable: el motor recibe menos tensión y gira lento.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Averías básicas de un circuito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3492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Circuito abierto: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interrupción del camino (cable cortado, fusible fundido, conector suelto). No hay corriente; el consumidor no funciona.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Cortocircuito a masa: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positivo toca la carrocería antes del consumidor. Corriente muy alta; se funde el fusible.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Cortocircuito entre cables: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dos circuitos se unen; funcionan consumidores que no deberían.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Alta resistencia: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conexión oxidada o floja; el consumidor funciona débil o de forma intermitente.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práctica 3 (método V4) aplica estas ideas paso a paso.</a:t>
            </a:r>
            <a:endParaRPr lang="en-US" sz="1600" dirty="0"/>
          </a:p>
        </p:txBody>
      </p:sp>
      <p:pic>
        <p:nvPicPr>
          <p:cNvPr id="4" name="Figura old_u1_s15_2.png" descr="old_u1_s15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706763"/>
            <a:ext cx="5669280" cy="16273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4388981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Medición con el multímetro</a:t>
            </a:r>
            <a:endParaRPr lang="en-US" sz="2800" dirty="0"/>
          </a:p>
        </p:txBody>
      </p:sp>
      <p:sp>
        <p:nvSpPr>
          <p:cNvPr id="4" name="Tarjeta Voltímetro (V⎓)"/>
          <p:cNvSpPr/>
          <p:nvPr/>
        </p:nvSpPr>
        <p:spPr>
          <a:xfrm>
            <a:off x="502920" y="1234440"/>
            <a:ext cx="3584448" cy="4846320"/>
          </a:xfrm>
          <a:prstGeom prst="roundRect">
            <a:avLst>
              <a:gd name="adj" fmla="val 2041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Voltímetro (V⎓)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5526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 paralelo con el elemento, circuito alimentado.</a:t>
            </a:r>
            <a:endParaRPr lang="en-US" sz="1400" dirty="0"/>
          </a:p>
        </p:txBody>
      </p:sp>
      <p:pic>
        <p:nvPicPr>
          <p:cNvPr id="7" name="Figura old_u1_s33_2.png" descr="old_u1_s33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59010"/>
            <a:ext cx="3310128" cy="1477339"/>
          </a:xfrm>
          <a:prstGeom prst="rect">
            <a:avLst/>
          </a:prstGeom>
        </p:spPr>
      </p:pic>
      <p:sp>
        <p:nvSpPr>
          <p:cNvPr id="8" name="Tarjeta Amperímetro (A)"/>
          <p:cNvSpPr/>
          <p:nvPr/>
        </p:nvSpPr>
        <p:spPr>
          <a:xfrm>
            <a:off x="4270248" y="1234440"/>
            <a:ext cx="3584448" cy="4846320"/>
          </a:xfrm>
          <a:prstGeom prst="roundRect">
            <a:avLst>
              <a:gd name="adj" fmla="val 2041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34840" y="13441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Amperímetro (A)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434840" y="1783080"/>
            <a:ext cx="325526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 serie: abrir el circuito e intercalar el instrumento. Para corrientes altas, pinza amperimétrica.</a:t>
            </a:r>
            <a:endParaRPr lang="en-US" sz="1400" dirty="0"/>
          </a:p>
        </p:txBody>
      </p:sp>
      <p:pic>
        <p:nvPicPr>
          <p:cNvPr id="11" name="Figura old_u1_s35_2.png" descr="old_u1_s3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3545845"/>
            <a:ext cx="3310128" cy="1503671"/>
          </a:xfrm>
          <a:prstGeom prst="rect">
            <a:avLst/>
          </a:prstGeom>
        </p:spPr>
      </p:pic>
      <p:sp>
        <p:nvSpPr>
          <p:cNvPr id="12" name="Tarjeta Óhmetro / continuidad (Ω)"/>
          <p:cNvSpPr/>
          <p:nvPr/>
        </p:nvSpPr>
        <p:spPr>
          <a:xfrm>
            <a:off x="8037576" y="1234440"/>
            <a:ext cx="3584448" cy="4846320"/>
          </a:xfrm>
          <a:prstGeom prst="roundRect">
            <a:avLst>
              <a:gd name="adj" fmla="val 2041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02168" y="13441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Óhmetro / continuidad (Ω)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202168" y="1783080"/>
            <a:ext cx="325526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Sin tensión y con el elemento desconectado. Continuidad: pitido ≈ 0 Ω; abierto: «OL».</a:t>
            </a:r>
            <a:endParaRPr lang="en-US" sz="1400" dirty="0"/>
          </a:p>
        </p:txBody>
      </p:sp>
      <p:pic>
        <p:nvPicPr>
          <p:cNvPr id="15" name="Figura old_u1_s37_2.png" descr="old_u1_s37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3471553"/>
            <a:ext cx="3310128" cy="165225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029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Repaso rápido 1.2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234440"/>
            <a:ext cx="1115568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 piloto de 36 W funciona a 12 V. ¿Qué corriente consume?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Dos lámparas de 8 Ω en paralelo: ¿cuál es la resistencia equivalente?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Para medir resistencia el circuito debe estar: a) alimentado; b) sin tensión y aislado; c) con el motor en marcha.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¿Cómo se conecta el amperímetro respecto al consumidor?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 batería marca 12,6 V y en el faro encendido se miden 12,1 V. ¿Qué indica la diferencia?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1.3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Nomenclatura eléctrica de fabricantes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Símbolos, código de colores, identificación de cables y forma de representar los componentes según cada marca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es la nomenclatura eléctrica?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98348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 el lenguaje con el que el fabricante describe la instalación en sus esquemas.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Símbolos: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representan cada componente (DIN 40900 / IEC 60617).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Designación de bornes: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números normalizados como 30, 15, 31 (DIN 72552).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Letras de identificación: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clase del componente (DIN 40719).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Colores y secciones de cable: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código propio de cada marca.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marca combina estos elementos a su manera: hay que aprender a leer la leyenda de cada manual.</a:t>
            </a:r>
            <a:endParaRPr lang="en-US" sz="1600" dirty="0"/>
          </a:p>
        </p:txBody>
      </p:sp>
      <p:pic>
        <p:nvPicPr>
          <p:cNvPr id="4" name="Figura old_u1_s44_2.jpg" descr="old_u1_s44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765274"/>
            <a:ext cx="6035040" cy="35103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533047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Símbolos de uso frecuente</a:t>
            </a:r>
            <a:endParaRPr lang="en-US" sz="2800" dirty="0"/>
          </a:p>
        </p:txBody>
      </p:sp>
      <p:pic>
        <p:nvPicPr>
          <p:cNvPr id="4" name="Figura old_u1_s45_2.png" descr="old_u1_s45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8995"/>
            <a:ext cx="5486400" cy="432288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5736749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Símbolos usados por Ford. Tomado de López Alberca (2024), diapositivas de clase ISTS.</a:t>
            </a:r>
            <a:endParaRPr lang="en-US" sz="1000" dirty="0"/>
          </a:p>
        </p:txBody>
      </p:sp>
      <p:pic>
        <p:nvPicPr>
          <p:cNvPr id="6" name="Figura mac_simbolo_conector.png" descr="mac_simbolo_cone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13783"/>
            <a:ext cx="2468880" cy="401331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00800" y="5581961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9052560" y="1280160"/>
            <a:ext cx="265176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símbolos son muy parecidos entre marcas.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diferencias están en la forma de unir los símbolos y de numerar conectores y masas.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Conector: se dibuja visto desde el lado del terminal (línea simple) o del lado de la instalación (línea doble).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Código de colores de los cables</a:t>
            </a:r>
            <a:endParaRPr lang="en-US" sz="2800" dirty="0"/>
          </a:p>
        </p:txBody>
      </p:sp>
      <p:pic>
        <p:nvPicPr>
          <p:cNvPr id="4" name="Figura mac_tabla_colores.png" descr="mac_tabla_col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70587"/>
            <a:ext cx="7498080" cy="409970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5625157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1280160"/>
            <a:ext cx="347472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cable se identifica por color base y, si lleva, color de franja: «sw/rt» = negro con franja roja.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Junto al color se indica la sección en mm²: «1,5 sw/rt».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Renault (ejemplo):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rojo +12 V antes de contacto; amarillo +12 V después de contacto; azul luces; negro masa.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Identificación de un cable en el esquema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07492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etiqueta del cable informa función, sección y color.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Ejemplo Ford «31S-AC3A / 1,5 BK/RD»: </a:t>
            </a:r>
            <a:pPr indent="0" marL="0">
              <a:buNone/>
            </a:pP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31 = masa; S = circuito conmutado; AC = sistema (nivelación de faros); 3 = conexión; A = derivación.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1,5 = sección en mm²; BK = color base negro; RD = franja roja.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Leer bien la etiqueta evita confundir cables del mismo color en un mazo.</a:t>
            </a:r>
            <a:endParaRPr lang="en-US" sz="1600" dirty="0"/>
          </a:p>
        </p:txBody>
      </p:sp>
      <p:pic>
        <p:nvPicPr>
          <p:cNvPr id="4" name="Figura mac_ford_info.png" descr="mac_ford_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2054" y="1234440"/>
            <a:ext cx="450093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06440" y="5861304"/>
            <a:ext cx="45009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Representación PSA (Peugeot–Citroën)</a:t>
            </a:r>
            <a:endParaRPr lang="en-US" sz="2800" dirty="0"/>
          </a:p>
        </p:txBody>
      </p:sp>
      <p:pic>
        <p:nvPicPr>
          <p:cNvPr id="4" name="Figura esq_psa_codificacion.png" descr="esq_psa_codific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764" y="1188720"/>
            <a:ext cx="5248153" cy="4663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52481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Esquemática: interpretación de esquemas eléctricos (s. f.).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400800" y="1234440"/>
            <a:ext cx="530352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componente tiene un número de cuatro cifras.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1.ª cifra: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grupo (8 grupos: motopropulsor, señalización, alumbrado interior, información, limpia, mecanismos, ayuda a la conducción, confort).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2.ª cifra: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función dentro del grupo.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3.ª y 4.ª cifra: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número del componente.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Piezas iguales se distinguen con una letra: 1330A.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testigos llevan la letra V (V2610).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Representación Bosch / grupo VW (esquema de corriente)</a:t>
            </a:r>
            <a:endParaRPr lang="en-US" sz="2800" dirty="0"/>
          </a:p>
        </p:txBody>
      </p:sp>
      <p:pic>
        <p:nvPicPr>
          <p:cNvPr id="4" name="Figura esq_vw_caja.png" descr="esq_vw_ca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289" y="1188720"/>
            <a:ext cx="5314462" cy="4663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53144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Esquemática: interpretación de esquemas eléctricos (s. f.).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8046720" y="1280160"/>
            <a:ext cx="365760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30: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positivo directo de batería.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15: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positivo tras el contacto.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X: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positivo tras contacto que se corta durante el arranque (descarga).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31: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masa.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Abajo: números de vía que permiten seguir el circuito en otras hojas.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Comparativa de representaciones por marca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566160"/>
                <a:gridCol w="2926080"/>
                <a:gridCol w="30632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Marca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Identificación de componentes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Cables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Particularidad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Número de 4 cifras por grupo y función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Código de color francés (NR, RG, BE…)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Esquemas de principio, cableado e instalación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Grupo VW / Audi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Letra + número (J = unidad de control, S = fusible, T = conector)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Sección + color en alemán (1,5 sw/rt)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Esquema de corriente con líneas 30, 15, X, 31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Ford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Nombre del componente y conector (C1001)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Función + sección + color (BK/RD)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Recuadros punteados para opciones; flechas de continuidad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BMW / Mercedes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Letras por tipo de componente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Abreviatura alemana del color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Leyenda detallada por sistema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Bosch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Letras DIN 40719 (E, F, G, H, K, M, S, Y…)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Según fabricante del vehículo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Nomenclatura base usada por muchas marcas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1.4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Normas técnicas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NTE INEN 1155:2009 · Normas DIN 40700–40719 y DIN 72552 · Reglamento Europeo y reglamentos CEPE/ONU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¿Por qué existen las normas técnicas?</a:t>
            </a:r>
            <a:endParaRPr lang="en-US" sz="2800" dirty="0"/>
          </a:p>
        </p:txBody>
      </p:sp>
      <p:sp>
        <p:nvSpPr>
          <p:cNvPr id="4" name="Tarjeta INEN"/>
          <p:cNvSpPr/>
          <p:nvPr/>
        </p:nvSpPr>
        <p:spPr>
          <a:xfrm>
            <a:off x="502920" y="12344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INEN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Servicio Ecuatoriano de Normalización. Normas obligatorias para vehículos que circulan en el país (NTE INEN 1155).</a:t>
            </a:r>
            <a:endParaRPr lang="en-US" sz="1600" dirty="0"/>
          </a:p>
        </p:txBody>
      </p:sp>
      <p:sp>
        <p:nvSpPr>
          <p:cNvPr id="7" name="Tarjeta DIN"/>
          <p:cNvSpPr/>
          <p:nvPr/>
        </p:nvSpPr>
        <p:spPr>
          <a:xfrm>
            <a:off x="6172200" y="12344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679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DIN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336792" y="1783080"/>
            <a:ext cx="5157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Instituto Alemán de Normalización. Base de la simbología, la designación de bornes y la identificación de componentes.</a:t>
            </a:r>
            <a:endParaRPr lang="en-US" sz="1600" dirty="0"/>
          </a:p>
        </p:txBody>
      </p:sp>
      <p:sp>
        <p:nvSpPr>
          <p:cNvPr id="10" name="Tarjeta ISO / IEC"/>
          <p:cNvSpPr/>
          <p:nvPr/>
        </p:nvSpPr>
        <p:spPr>
          <a:xfrm>
            <a:off x="502920" y="3703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" y="381304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ISO / IEC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67512" y="4251960"/>
            <a:ext cx="5157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Normas internacionales (p. ej., IEC 60617 símbolos, ISO 8092 conexiones de cableado).</a:t>
            </a:r>
            <a:endParaRPr lang="en-US" sz="1600" dirty="0"/>
          </a:p>
        </p:txBody>
      </p:sp>
      <p:sp>
        <p:nvSpPr>
          <p:cNvPr id="13" name="Tarjeta CEPE/ONU y UE"/>
          <p:cNvSpPr/>
          <p:nvPr/>
        </p:nvSpPr>
        <p:spPr>
          <a:xfrm>
            <a:off x="6172200" y="3703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792" y="381304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CEPE/ONU y UE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336792" y="4251960"/>
            <a:ext cx="5157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Reglamentos de homologación de vehículos (p. ej., R48 instalación de alumbrado).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NTE INEN 1155:2009 · Objeto y alcance</a:t>
            </a:r>
            <a:endParaRPr lang="en-US" sz="2800" dirty="0"/>
          </a:p>
        </p:txBody>
      </p:sp>
      <p:pic>
        <p:nvPicPr>
          <p:cNvPr id="4" name="Figura inen_portada.png" descr="inen_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60" y="1234440"/>
            <a:ext cx="4767161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215384"/>
            <a:ext cx="47671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INEN (2009).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1234440"/>
            <a:ext cx="576072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Vehículos automotores. Dispositivos para mantener o mejorar la visibilidad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Objeto: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establece los dispositivos mínimos de alumbrado, espejos retrovisores y señalización luminosa que deben tener los vehículos, para garantizar la visibilidad del conductor y que el vehículo sea advertido por peatones y conductores.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Alcance: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vehículos clasificados según NTE INEN-ISO 3833 y toda clase de vehículos que circulen por vías públicas.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Carácter: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obligatoria (segunda revisión, 2009).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INEN 1155 · Dispositivos obligatorios (numeral 5.1)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Grupo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Dispositivos exigidos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Faros delanteros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Luces bajas (cruce) y altas (carretera)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Indicadoras delanteras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Posición, emergencia, direccionales y volumen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Indicadoras laterales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Posición, emergencia y direccionales (no obligatorias en livianos)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Indicadoras posteriores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Posición, emergencia, direccionales, volumen, reversa, freno y luz de placa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Otros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Catadióptricos, retrovisores exteriores e interior, desempañador, limpiaparabrisas, antiniebla delantera y posterior, iluminación interior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pic>
        <p:nvPicPr>
          <p:cNvPr id="5" name="Figura inen_angulos.png" descr="inen_angu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937728"/>
            <a:ext cx="4297680" cy="215958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7406640" y="41521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Conceptos norma INEN 1155 (s. f.).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INEN 1155 · Faros delanteros y reglas generales</a:t>
            </a:r>
            <a:endParaRPr lang="en-US" sz="2800" dirty="0"/>
          </a:p>
        </p:txBody>
      </p:sp>
      <p:sp>
        <p:nvSpPr>
          <p:cNvPr id="4" name="Tarjeta Faros delanteros (5.2)"/>
          <p:cNvSpPr/>
          <p:nvPr/>
        </p:nvSpPr>
        <p:spPr>
          <a:xfrm>
            <a:off x="50292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Faros delanteros (5.2)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Asimétricos: más iluminación hacia la derecha para no deslumbrar y ver la berma.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Alineación horizontal ≥ 2 % hacia el centro del vehículo.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Alineación vertical ≥ 2,5 % por debajo del plano horizontal.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Intensidad ≤ 135 lx (según la norma).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Dos luces de cada tipo en vehículos de 4 o más ruedas; color blanco o amarillo.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Deben tener dispositivo de reglaje.</a:t>
            </a:r>
            <a:endParaRPr lang="en-US" sz="1500" dirty="0"/>
          </a:p>
        </p:txBody>
      </p:sp>
      <p:sp>
        <p:nvSpPr>
          <p:cNvPr id="7" name="Tarjeta Disposiciones generales (4)"/>
          <p:cNvSpPr/>
          <p:nvPr/>
        </p:nvSpPr>
        <p:spPr>
          <a:xfrm>
            <a:off x="621792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82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Disposiciones generales (4)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1783080"/>
            <a:ext cx="515721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Solo son intermitentes las direccionales y las de emergencia (90 ± 30 destellos por minuto).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Ninguna luz hacia adelante puede ser roja.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Ninguna luz trasera puede ser blanca, salvo la de reversa.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se permiten luces estroboscópicas en vehículos particulares.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Tolerancia de orientación ± 3° en señalización.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INEN 1155 · Color y ubicación de las luces indicadoras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005840"/>
                <a:gridCol w="1280160"/>
                <a:gridCol w="26517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Luz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Delantera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Lateral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Posterior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Ubicación orientativa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Posición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Blanco o ámbar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Ámbar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Rojo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≤ 400 mm del extremo lateral; 350–1500 mm de altura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Direccional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Ámbar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Ámbar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Ámbar o rojo*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Lo más cerca de los extremos; 350–1500 mm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Emergencia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Ámbar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Ámbar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Ámbar o rojo*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Puede usar los mismos dispositivos de las direccionales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Volumen (gálibo)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Blanco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Rojo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 la máxima altura; carrocerías &gt; 2100 mm de ancho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Freno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Rojo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Más intensa que la de posición; incluye luz de freno central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Reversa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Blanco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Única luz blanca permitida hacia atrás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5852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* Según la tabla 3 de la norma. Verificar en el texto vigente antes de una inspección. Adaptado de INEN (2009).</a:t>
            </a:r>
            <a:endParaRPr lang="en-US" sz="1000" dirty="0"/>
          </a:p>
        </p:txBody>
      </p:sp>
      <p:pic>
        <p:nvPicPr>
          <p:cNvPr id="6" name="Figura inen_emergencia.png" descr="inen_emerg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435047"/>
            <a:ext cx="3291840" cy="153070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412480" y="4020617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Conceptos norma INEN 1155 (s. f.).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Normas DIN para la instalación eléctrica</a:t>
            </a:r>
            <a:endParaRPr lang="en-US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51960"/>
                <a:gridCol w="36576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Norma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Qué regula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DIN 40700 / DIN 40900 (hoy IEC 60617)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Símbolos gráficos de los esquemas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Símbolo de lámpara, motor, relé, fusible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DIN 40719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Esquemas de circuitos e identificación de componentes por letras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K = relé, M = motor, S = interruptor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DIN 72552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Designación de los bornes de conexión en el vehículo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30 = positivo de batería; 31 = masa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DIN 46244 / ISO 8092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Terminales planos y conexiones del cableado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Terminal faston de 6,3 mm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5120640"/>
            <a:ext cx="11201400" cy="1005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Sánchez Fernández (2024) resume: DIN 40719 simboliza los componentes y las líneas de enlace; DIN 72552 da la nomenclatura de terminales; DIN 40900 contempla la simbología desde un enlace hasta un interruptor.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DIN 40719 · Letras de identificación de componentes</a:t>
            </a:r>
            <a:endParaRPr lang="en-US" sz="2800" dirty="0"/>
          </a:p>
        </p:txBody>
      </p:sp>
      <p:pic>
        <p:nvPicPr>
          <p:cNvPr id="4" name="Figura din_letras.png" descr="din_let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219" y="1188720"/>
            <a:ext cx="4677081" cy="4663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46770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Adaptado de Norma DIN 40719 [diapositivas de clase] (s. f.).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7315200" y="1280160"/>
            <a:ext cx="438912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letra indica la clase de componente; el número, cuál de ellos.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Ejemplos: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G1 batería, G2 alternador, M1 motor de arranque, K3 relé de luces, S1 interruptor de encendido, F5 fusible 5, E1 faro izquierdo, Y5 inyector.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Así se ubica cada componente en la leyenda del esquema.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DIN 72552 · Designación de bornes más usados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Borne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Significado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Bobina de encendido, baja tensión (al ruptor/módulo)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Bobina de encendido, alta tensión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Positivo conmutado tras el interruptor de encendido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Positivo directo de la batería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Retorno a masa / negativo de batería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Mando del motor de arranque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Motor del limpiaparabrisas (+)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Luz de freno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Borne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Significado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56a / 56b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Luz de carretera / luz de cruce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Luces de posición, matrícula e instrumentos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49 / 49a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Relé de intermitencia: entrada / salida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75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Accesorios (radio, encendedor)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85 / 86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Bobina del relé: salida (−) / entrada (+)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30 / 87 / 87a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Contactos del relé: común / NA / NC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B+ / D+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Alternador: salida de carga / excitación y testigo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DF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Alternador: campo (excitación)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0292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Adaptado de Sánchez Fernández (2024) y de la norma DIN 72552.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Reglamento Europeo y reglamentos CEPE/ONU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9494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Unión Europea homologa vehículos y componentes aplicando los reglamentos de la CEPE/ONU (Acuerdo de Ginebra de 1958).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Reglamento CEPE/ONU n.º 48: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instalación de los dispositivos de alumbrado y señalización luminosa.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Reglamento CEPE/ONU n.º 10: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compatibilidad electromagnética (EMC) de los equipos eléctricos.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Reglamento (UE) n.º 168/2013 y Reglamento Delegado (UE) n.º 3/2014: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requisitos de seguridad funcional (incluido alumbrado) de motocicletas, triciclos y cuatriciclos.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Marca de homologación: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letra «E» en un círculo y el número del país (p. ej., E9 = España) en faros y pilotos.</a:t>
            </a:r>
            <a:endParaRPr lang="en-US" sz="1500" dirty="0"/>
          </a:p>
        </p:txBody>
      </p:sp>
      <p:sp>
        <p:nvSpPr>
          <p:cNvPr id="5" name="Tarjeta ¿Por qué importa en Ecuador?"/>
          <p:cNvSpPr/>
          <p:nvPr/>
        </p:nvSpPr>
        <p:spPr>
          <a:xfrm>
            <a:off x="7772400" y="123444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36992" y="1344168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¿Por qué importa en Ecuador?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936992" y="1783080"/>
            <a:ext cx="36027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Muchos vehículos importados llegan homologados con reglamentos CEPE/ONU.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 reemplazar faros o pilotos, el repuesto debe llevar marca de homologación.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NTE INEN 1155 fija los mínimos que se verifican en la revisión técnica.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1.5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Interpretación de esquemas eléctricos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Tipos de esquemas, enlaces, masas y método de lectura paso a paso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Tipos de esquemas eléctricos</a:t>
            </a:r>
            <a:endParaRPr lang="en-US" sz="2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800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Qué muestra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 qué sirve en el taller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De principio o funcional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Funcionamiento eléctrico, sin respetar la posición real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Entender cómo trabaja el circuito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De corriente (amperimétrico)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Componentes en vertical entre líneas de positivo y masa (VW, Bosch)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Seguir el recorrido de la corriente y medir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De cableado o conexionado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Conectores, vías, colores y secciones de cada cable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Localizar el cable y el pin exactos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De instalación o ubicación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Dibujo del vehículo con la posición de componentes, masas y conectores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Encontrar físicamente la pieza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Unifilar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Un solo trazo representa varios cables del mismo recorrido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Visión general de una instalación completa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5532120"/>
            <a:ext cx="11201400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Recuerde: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Siempre se dibujan en reposo: interruptores abiertos y relés sin excitar.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Ejemplo: esquema eléctrico de un Audi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35204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Circuito del electroventilador y bomba de refrigerante.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Arriba: placa de relés y portafusibles (S…).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cable indica sección y color (1,0 sw/ge).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Abajo: número de vía (43, 44, 45…) para continuar en otra hoja.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la derecha: leyenda con el nombre de cada componente (J293 unidad de control del ventilador, V7 ventilador…).</a:t>
            </a:r>
            <a:endParaRPr lang="en-US" sz="1500" dirty="0"/>
          </a:p>
        </p:txBody>
      </p:sp>
      <p:pic>
        <p:nvPicPr>
          <p:cNvPr id="4" name="Figura mac_esquema_audi.png" descr="mac_esquema_aud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6219" y="1234440"/>
            <a:ext cx="737812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251960" y="5861304"/>
            <a:ext cx="73781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Los enlaces: forma de líneas y forma de símbolos</a:t>
            </a:r>
            <a:endParaRPr lang="en-US" sz="2800" dirty="0"/>
          </a:p>
        </p:txBody>
      </p:sp>
      <p:pic>
        <p:nvPicPr>
          <p:cNvPr id="4" name="Figura mac_enlace_lineas.png" descr="mac_enlace_line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61" y="1234440"/>
            <a:ext cx="3066957" cy="3383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672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pic>
        <p:nvPicPr>
          <p:cNvPr id="6" name="Figura mac_enlace_simbolos.png" descr="mac_enlace_simbol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508244"/>
            <a:ext cx="4297680" cy="402439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023360" y="55875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8503920" y="1280160"/>
            <a:ext cx="320040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En forma de líneas: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cable se dibuja desde que sale de un componente hasta que entra en otro.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En forma de símbolos: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indica el punto de partida y el de llegada, pero se omiten las líneas.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Ejemplo: «A35/A2 gr/sw» = va a la unidad A35, terminal A2, cable gris/negro.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Masas y cajetines en el esquema</a:t>
            </a:r>
            <a:endParaRPr lang="en-US" sz="2800" dirty="0"/>
          </a:p>
        </p:txBody>
      </p:sp>
      <p:pic>
        <p:nvPicPr>
          <p:cNvPr id="4" name="Figura mac_masas.png" descr="mac_mas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6929"/>
            <a:ext cx="6400800" cy="204102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3452815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pic>
        <p:nvPicPr>
          <p:cNvPr id="6" name="Figura mac_cajetin.png" descr="mac_cajet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073" y="4069080"/>
            <a:ext cx="4802494" cy="17830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907024"/>
            <a:ext cx="480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7223760" y="1280160"/>
            <a:ext cx="448056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Implantación de masas: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esquema indica dónde está cada punto de masa (M000, G1001…).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Masa de carrocería y de componente: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dibujan con símbolos distintos.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Cajetín de interconexión: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agrupa fusibles y relés; en vehículos modernos incluye electrónica (BSI, BCM, SAM).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Antes de sustituir un cajetín hay que configurarlo según el modelo.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Método para leer un esquema paso a paso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05840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856232" y="1755648"/>
            <a:ext cx="9144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0292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Identificar el circuito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Buscar en el índice el sistema y la hoja correcta.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80360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730752" y="1755648"/>
            <a:ext cx="9144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37744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Alimentación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Localizar el origen: 30, 15 o X, y el fusible.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605272" y="1755648"/>
            <a:ext cx="9144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425196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Mando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25196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Interruptor, relé o unidad de control que gobierna el consumidor.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29400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7479792" y="1755648"/>
            <a:ext cx="9144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12648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Consumidor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Elemento que realiza el trabajo (lámpara, motor…).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0392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9354312" y="1755648"/>
            <a:ext cx="9144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800100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Masa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Seguir el retorno hasta el punto de masa.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0378440" y="1371600"/>
            <a:ext cx="777240" cy="77724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3784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33"/>
                </a:solidFill>
              </a:rPr>
              <a:t>6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987552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Medir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Comprobar tensiones y continuidad en los puntos clave.</a:t>
            </a:r>
            <a:endParaRPr lang="en-US" sz="1400" dirty="0"/>
          </a:p>
        </p:txBody>
      </p:sp>
      <p:sp>
        <p:nvSpPr>
          <p:cNvPr id="33" name="Ecuación"/>
          <p:cNvSpPr/>
          <p:nvPr/>
        </p:nvSpPr>
        <p:spPr>
          <a:xfrm>
            <a:off x="502920" y="484632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4846320"/>
            <a:ext cx="112014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(30/15) → Fusible → Mando → Consumidor → Masa (31)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Ejercicio guiado: luz de cruce (Opel)</a:t>
            </a:r>
            <a:endParaRPr lang="en-US" sz="2800" dirty="0"/>
          </a:p>
        </p:txBody>
      </p:sp>
      <p:pic>
        <p:nvPicPr>
          <p:cNvPr id="4" name="Figura esq_ejercicio_cruce.png" descr="esq_ejercicio_cru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812" y="1234440"/>
            <a:ext cx="6284536" cy="457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61304"/>
            <a:ext cx="6284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Esquemática: interpretación de esquemas eléctricos (s. f.).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1280160"/>
            <a:ext cx="384048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Consigna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Determine, desde el origen, los elementos que intervienen en la luz de cruce.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Indique qué fusible protege cada lámpara.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¿Qué ocurre si F36 está fundido?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¿Qué función cumple el relé K43?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1.6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Tipos de conectores eléctricos según normas DIN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Conectores, terminales, numeración de vías y buenas prácticas de conexión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conector y sus partes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3492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Permite unir y separar partes de la instalación sin cortar cables.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Carcasa: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plástica, con guías de posición que impiden conectarla al revés.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Terminales: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macho (clavija) y hembra (receptáculo).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Seguro o pestillo: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evita que se suelte por vibraciones.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Junta de estanqueidad: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protege de agua y polvo; si se pierde al desmontar, hay que reponerla.</a:t>
            </a:r>
            <a:endParaRPr lang="en-US" sz="1600" dirty="0"/>
          </a:p>
        </p:txBody>
      </p:sp>
      <p:pic>
        <p:nvPicPr>
          <p:cNvPr id="4" name="Figura old_u3_s15_3.png" descr="old_u3_s15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90185"/>
            <a:ext cx="5669280" cy="40605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5605559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Terminales macho y hembra</a:t>
            </a:r>
            <a:endParaRPr lang="en-US" sz="2800" dirty="0"/>
          </a:p>
        </p:txBody>
      </p:sp>
      <p:pic>
        <p:nvPicPr>
          <p:cNvPr id="4" name="Figura mac_terminal_macho.png" descr="mac_terminal_ma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132" y="1234440"/>
            <a:ext cx="6021255" cy="2377440"/>
          </a:xfrm>
          <a:prstGeom prst="rect">
            <a:avLst/>
          </a:prstGeom>
        </p:spPr>
      </p:pic>
      <p:pic>
        <p:nvPicPr>
          <p:cNvPr id="5" name="Figura mac_terminal_hembra.png" descr="mac_terminal_hemb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885" y="1234440"/>
            <a:ext cx="1677750" cy="23774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7360920" y="3666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pic>
        <p:nvPicPr>
          <p:cNvPr id="7" name="Figura old_u3_s14_2.png" descr="old_u3_s14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11" y="3931920"/>
            <a:ext cx="4316819" cy="19202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48640" y="5907024"/>
            <a:ext cx="431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9" name="Text 3"/>
          <p:cNvSpPr txBox="1"/>
          <p:nvPr/>
        </p:nvSpPr>
        <p:spPr>
          <a:xfrm>
            <a:off x="6217920" y="4160520"/>
            <a:ext cx="5486400" cy="21031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Faston (plano):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6,3 mm, 4,8 mm, 2,8 mm (DIN 46244 / ISO 8092).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Ojal o anillo: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masas y bornes atornillados.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Cilíndrico: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conexiones de bala.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Borne de batería: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abrazadera de plomo o latón.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Numeración de vías del conector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7150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esquemas muestran el conector visto desde el lado del terminal (línea simple) o desde el lado de los cables (línea doble).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vía tiene un número o letra (1A, 5B…): permite ubicar el pin exacto para medir.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Ejemplo Nissan: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cable G/R está en el terminal 1A de los conectores E3 (hembra) y M1 (macho).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Error frecuente: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contar las vías en espejo. Verifique siempre desde qué lado está dibujado.</a:t>
            </a:r>
            <a:endParaRPr lang="en-US" sz="1600" dirty="0"/>
          </a:p>
        </p:txBody>
      </p:sp>
      <p:pic>
        <p:nvPicPr>
          <p:cNvPr id="4" name="Figura mac_simbolo_conector.png" descr="mac_simbolo_con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276" y="1234440"/>
            <a:ext cx="2812568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46520" y="5861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Buenas prácticas de conexión</a:t>
            </a:r>
            <a:endParaRPr lang="en-US" sz="2800" dirty="0"/>
          </a:p>
        </p:txBody>
      </p:sp>
      <p:sp>
        <p:nvSpPr>
          <p:cNvPr id="4" name="Tarjeta Hacer"/>
          <p:cNvSpPr/>
          <p:nvPr/>
        </p:nvSpPr>
        <p:spPr>
          <a:xfrm>
            <a:off x="50292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Hacer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Crimpar con la herramienta del tamaño correcto y hacer prueba de tracción.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Usar terminales de la misma sección que el cable.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Sellar con termorretráctil en zonas expuestas al agua.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Medir en el conector con puntas adaptadoras o por detrás (back-probe).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Reponer juntas y seguros al reconectar.</a:t>
            </a:r>
            <a:endParaRPr lang="en-US" sz="1500" dirty="0"/>
          </a:p>
        </p:txBody>
      </p:sp>
      <p:sp>
        <p:nvSpPr>
          <p:cNvPr id="7" name="Tarjeta Evitar"/>
          <p:cNvSpPr/>
          <p:nvPr/>
        </p:nvSpPr>
        <p:spPr>
          <a:xfrm>
            <a:off x="621792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8E1DE"/>
          </a:solidFill>
          <a:ln w="12700">
            <a:solidFill>
              <a:srgbClr val="F8E1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82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Evitar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1783080"/>
            <a:ext cx="515721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Perforar el aislante con la punta del multímetro: entra humedad y se corroe el cobre.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Abrir los terminales hembra metiendo la punta de prueba.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Empalmar con cinta aislante sin soldar o crimpar.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Reparar cables de airbag, sensores blindados o redes de datos sin el procedimiento del fabricante.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1.7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Circuitos eléctricos del automóvil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Red de a bordo, clasificación de circuitos y mazos de cables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red de a bordo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44348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Conjunto de todos los circuitos alimentados por la batería y el alternador.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distribución parte de la batería hacia la caja de fusibles del motor y del habitáculo; de ahí a cada circuito.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unidades de control (BCM, BSI) gobiernan cada vez más consumidores a través de relés o salidas electrónicas.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Tendencia: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menos cobre gracias a la multiplexación (CAN, LIN).</a:t>
            </a:r>
            <a:endParaRPr lang="en-US" sz="1600" dirty="0"/>
          </a:p>
        </p:txBody>
      </p:sp>
      <p:pic>
        <p:nvPicPr>
          <p:cNvPr id="5" name="Figura mac_reduccion_cableado.png" descr="mac_reduccion_cable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337" y="1234440"/>
            <a:ext cx="6458287" cy="4572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66360" y="5861304"/>
            <a:ext cx="64582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Clasificación de los circuitos</a:t>
            </a:r>
            <a:endParaRPr lang="en-US" sz="2800" dirty="0"/>
          </a:p>
        </p:txBody>
      </p:sp>
      <p:sp>
        <p:nvSpPr>
          <p:cNvPr id="4" name="Tarjeta Según su función"/>
          <p:cNvSpPr/>
          <p:nvPr/>
        </p:nvSpPr>
        <p:spPr>
          <a:xfrm>
            <a:off x="50292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Según su función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Circuito de carga.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Circuito de arranque.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Circuito de encendido.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Circuitos de alumbrado y señalización.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Circuitos de instrumentación y testigos.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Circuitos auxiliares y de confort.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Circuitos de equipos opcionales.</a:t>
            </a:r>
            <a:endParaRPr lang="en-US" sz="1500" dirty="0"/>
          </a:p>
        </p:txBody>
      </p:sp>
      <p:sp>
        <p:nvSpPr>
          <p:cNvPr id="7" name="Tarjeta Según su ubicación (mazos)"/>
          <p:cNvSpPr/>
          <p:nvPr/>
        </p:nvSpPr>
        <p:spPr>
          <a:xfrm>
            <a:off x="621792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82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Según su ubicación (mazos)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1783080"/>
            <a:ext cx="515721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Mazo de la zona delantera.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Mazo del motor.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Mazo del tablero de instrumentos.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Mazo del habitáculo o piso.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Mazo de la zona trasera.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Mazos de puertas y techo.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Mazos de cables y su recorrido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8006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cables se agrupan en mazos que siguen caminos comunes, fijados con grapas y protegidos con pasamuros de goma.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esquema de instalación indica conectores, masas y recorrido.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Daños frecuentes: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roces con la carrocería, calor del escape, humedad y roedores.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práctica 7 trabaja la reparación de mazos.</a:t>
            </a:r>
            <a:endParaRPr lang="en-US" sz="1600" dirty="0"/>
          </a:p>
        </p:txBody>
      </p:sp>
      <p:pic>
        <p:nvPicPr>
          <p:cNvPr id="4" name="Figura mac_ubicacion.png" descr="mac_ubic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222" y="1234440"/>
            <a:ext cx="4688277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32120" y="5861304"/>
            <a:ext cx="46882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1.8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Componentes de los circuitos eléctricos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1.8.1 Cables · 1.8.2 Aislantes · 1.8.3 Conexiones · 1.8.4 Interruptores · 1.8.5 Fusibles · 1.8.6 Relés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1.8.1 Cables eléctricos: constitución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60807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Alma: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hilo de cobre recocido o estañado; en el automóvil es multifilar (flexible frente a vibraciones).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Aislante: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PVC o polietileno reticulado; resiste calor, aceites y combustible.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Cubierta protectora: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cables expuestos (malla, tubo corrugado).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Tipos: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monoconductor, multiconductor, coaxial (antenas) y fibra óptica (redes MOST).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UNE 26115: alma de hilos de cobre recocido o estañado; ρ ≤ 0,018 Ω·mm²/m a 20 °C.</a:t>
            </a:r>
            <a:endParaRPr lang="en-US" sz="1600" dirty="0"/>
          </a:p>
        </p:txBody>
      </p:sp>
      <p:pic>
        <p:nvPicPr>
          <p:cNvPr id="4" name="Figura mac_coaxial.png" descr="mac_coax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526140"/>
            <a:ext cx="4937760" cy="398860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55696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Secciones normalizadas y calibre AWG</a:t>
            </a:r>
            <a:endParaRPr lang="en-US" sz="28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669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691640"/>
                <a:gridCol w="1691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Sección (mm²)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AWG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Hilos × Ø (mm)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Ø exterior (mm)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0,75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10 × 0,30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2,6 – 3,1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13 × 0,30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2,6 – 3,1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1,5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30 × 0,25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2,8 – 3,5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2,5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50 × 0,25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3,5 – 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56 × 0,30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4,2 – 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graphicFrame>
        <p:nvGraphicFramePr>
          <p:cNvPr id="1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280160"/>
          <a:ext cx="52120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Circuito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Sección típica (mm²)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Testigos y señales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0,5 – 0,75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Luces de posición e interiores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0,75 – 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Faros, bocina, limpiaparabrisas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1,5 – 2,5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Alimentación de cajas de fusibles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 – 10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Alternador – batería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6 – 16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Batería – motor de arranque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25 – 50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492240" y="4937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Valores orientativos adaptados de López Alberca (2024) y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Cálculo de la sección de un cable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2560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sección se elige para que la caída de tensión no supere el valor admisible y el cable no se caliente.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Caída admisible orientativa: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0,1 V testigos; 0,3 V alumbrado; 0,5 V arranque.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elige la sección normalizada inmediata superior al resultado.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388620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3886200"/>
            <a:ext cx="5669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ρ · L · I / ΔV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800600"/>
            <a:ext cx="5669280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 en mm²; ρ = 0,0172 Ω·mm²/m; L en m; I en A; ΔV en V.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faro de 12 V / 55 W; cable de 4 m; ΔV ≤ 0,3 V.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= 55 / 12 = 4,58 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 = 0,0172 · 4 · 4,58 / 0,3 = 1,05 mm²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Sección normalizada superior: 1,5 mm²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Comprobación: ΔV = 0,0172 · 4 · 4,58 / 1,5 = 0,21 V ≤ 0,3 V ✓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1.8.2 Aislantes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0350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aislante impide el paso de corriente fuera del conductor y lo protege.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Materiales del cable: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PVC (uso general, hasta ≈ 70–105 °C), polietileno reticulado o silicona (zona del motor).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Cinta de PVC: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aislamiento de empalmes en zonas secas.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Cinta textil (tela):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envolver mazos; reduce ruido y roce.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Termorretráctil: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sella empalmes contra la humedad; con adhesivo interior en zonas expuestas.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cables de encendido usan aislante de mayor espesor para soportar la alta tensión.</a:t>
            </a:r>
            <a:endParaRPr lang="en-US" sz="1500" dirty="0"/>
          </a:p>
        </p:txBody>
      </p:sp>
      <p:pic>
        <p:nvPicPr>
          <p:cNvPr id="5" name="Figura old_u3_s13_3.jpg" descr="old_u3_s13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48740"/>
            <a:ext cx="2286000" cy="2057400"/>
          </a:xfrm>
          <a:prstGeom prst="rect">
            <a:avLst/>
          </a:prstGeom>
        </p:spPr>
      </p:pic>
      <p:pic>
        <p:nvPicPr>
          <p:cNvPr id="6" name="Figura old_u3_s13_4.jpg" descr="old_u3_s13_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280160"/>
            <a:ext cx="2194560" cy="2194560"/>
          </a:xfrm>
          <a:prstGeom prst="rect">
            <a:avLst/>
          </a:prstGeom>
        </p:spPr>
      </p:pic>
      <p:pic>
        <p:nvPicPr>
          <p:cNvPr id="7" name="Figura old_u3_s13_5.jpg" descr="old_u3_s13_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094" y="3657600"/>
            <a:ext cx="2840412" cy="22860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85800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1.8.3 Conexiones y empalmes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4864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buena conexión debe cumplir dos requisitos: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Unión verdadera y segura de los hilos (baja resistencia).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Protección eficaz contra humedad, vibraciones y calor.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Engatillado (crimpado):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método de fábrica; rápido y fiable con la herramienta correcta.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Soldadura con estaño: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buena conducción; proteger luego con termorretráctil y evitar que el estaño suba por el cable (punto rígido que se rompe por vibración).</a:t>
            </a:r>
            <a:endParaRPr lang="en-US" sz="1500" dirty="0"/>
          </a:p>
        </p:txBody>
      </p:sp>
      <p:pic>
        <p:nvPicPr>
          <p:cNvPr id="5" name="Figura old_u3_s16_2.png" descr="old_u3_s16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16033"/>
            <a:ext cx="2743200" cy="2580015"/>
          </a:xfrm>
          <a:prstGeom prst="rect">
            <a:avLst/>
          </a:prstGeom>
        </p:spPr>
      </p:pic>
      <p:pic>
        <p:nvPicPr>
          <p:cNvPr id="6" name="Figura old_u3_s16_3.jpg" descr="old_u3_s16_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717929"/>
            <a:ext cx="2514600" cy="16847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309360" y="4069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1.8.4 Interruptores</a:t>
            </a:r>
            <a:endParaRPr lang="en-US" sz="2800" dirty="0"/>
          </a:p>
        </p:txBody>
      </p:sp>
      <p:pic>
        <p:nvPicPr>
          <p:cNvPr id="4" name="Figura mac_interruptores_param.png" descr="mac_interruptores_pa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151" y="1234440"/>
            <a:ext cx="5251938" cy="1828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118104"/>
            <a:ext cx="525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3749040"/>
            <a:ext cx="5486400" cy="2468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Abren o cierran un circuito; actúan como captadores de «todo o nada».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Manuales: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rotativos (mando de luces), de deslizamiento (temperatura), on/off (luneta) y push/pull.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 movimiento: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accionados por otro componente (puerta, freno).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Pueden: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encender un testigo o informar a una unidad de control.</a:t>
            </a:r>
            <a:endParaRPr lang="en-US" sz="1500" dirty="0"/>
          </a:p>
        </p:txBody>
      </p:sp>
      <p:pic>
        <p:nvPicPr>
          <p:cNvPr id="7" name="Figura mac_interruptores_manual.png" descr="mac_interruptores_man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9381"/>
            <a:ext cx="5486400" cy="218187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17920" y="3706123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6217920" y="4663440"/>
            <a:ext cx="5486400" cy="1463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Los números (128, 319, 180) son la referencia del componente en el esquema; los círculos azules, las posiciones del mando.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Interruptores de presión, temperatura y nivel</a:t>
            </a:r>
            <a:endParaRPr lang="en-US" sz="2800" dirty="0"/>
          </a:p>
        </p:txBody>
      </p:sp>
      <p:pic>
        <p:nvPicPr>
          <p:cNvPr id="4" name="Figura mac_int_presion.png" descr="mac_int_pr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653" y="1234440"/>
            <a:ext cx="3991173" cy="15087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943600" y="1234440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75A"/>
                </a:solidFill>
              </a:rPr>
              <a:t>Presión / depresión
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Muelle + diafragma que mueve un contacto. Ej.: presostato de aceite y de climatización.</a:t>
            </a:r>
            <a:endParaRPr lang="en-US" sz="1700" dirty="0"/>
          </a:p>
        </p:txBody>
      </p:sp>
      <p:pic>
        <p:nvPicPr>
          <p:cNvPr id="6" name="Figura mac_int_temperatura.png" descr="mac_int_temperatu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318" y="2898648"/>
            <a:ext cx="4001845" cy="15087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943600" y="2898648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75A"/>
                </a:solidFill>
              </a:rPr>
              <a:t>Temperatura
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Elemento bimetálico que se deforma con el calor. Ej.: termocontacto del ventilador.</a:t>
            </a:r>
            <a:endParaRPr lang="en-US" sz="1700" dirty="0"/>
          </a:p>
        </p:txBody>
      </p:sp>
      <p:pic>
        <p:nvPicPr>
          <p:cNvPr id="8" name="Figura mac_int_nivel.png" descr="mac_int_ni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12" y="4562856"/>
            <a:ext cx="4276257" cy="150876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943600" y="4562856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75A"/>
                </a:solidFill>
              </a:rPr>
              <a:t>Nivel
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Flotador que abre o cierra al bajar de un límite. Ej.: depósito del líquido de frenos.</a:t>
            </a:r>
            <a:endParaRPr lang="en-US" sz="1700" dirty="0"/>
          </a:p>
        </p:txBody>
      </p:sp>
      <p:sp>
        <p:nvSpPr>
          <p:cNvPr id="10" name="Text 4"/>
          <p:cNvSpPr txBox="1"/>
          <p:nvPr/>
        </p:nvSpPr>
        <p:spPr>
          <a:xfrm>
            <a:off x="5029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1.8.5 Fusibles: función y constitución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61772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Protegen el circuito y, sobre todo, el cable: se funden antes de que el cable se queme.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Hilo calibrado de aleación de plomo y estaño, de punto de fusión más bajo que el cobre.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conectan en serie con el circuito que protegen.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Funcionan por efecto Joule: Q = 0,24 · I² · R · t (calorías).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cortocircuito eleva bruscamente la corriente y el fusible se funde.</a:t>
            </a:r>
            <a:endParaRPr lang="en-US" sz="1600" dirty="0"/>
          </a:p>
        </p:txBody>
      </p:sp>
      <p:pic>
        <p:nvPicPr>
          <p:cNvPr id="4" name="Figura mac_fusible_circuito.png" descr="mac_fusible_circui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5591" y="1234440"/>
            <a:ext cx="6056658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49240" y="5861304"/>
            <a:ext cx="605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Tipos de fusibles y código de colores</a:t>
            </a:r>
            <a:endParaRPr lang="en-US" sz="28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77440"/>
                <a:gridCol w="2651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Rango habitual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Cerámico (torpedo)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 – 25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Vehículos antiguos y europeos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Cilíndrico de vidrio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 – 30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Vehículos americanos antiguos, accesorios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Clavija mini / normal (ATO) / maxi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 – 40 A / 1 – 40 A / 20 – 100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El más usado; transparente coloreado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Clavija mini de perfil bajo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hasta 30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Cajas de fusibles compactas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Hembra (cartucho, PAL / J-Case)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20 – 120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Protección de líneas principales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De tira o pletina (MEGA, ANL)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60 – 500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Salida de batería y alternador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Figura mac_fusible_colores.png" descr="mac_fusible_col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8542" y="1234440"/>
            <a:ext cx="1914036" cy="46177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732520" y="5907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Cálculo del fusible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2743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calcula la corriente de trabajo del circuito y se elige el fusible normalizado inmediato superior.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deja un margen (≈ 20–25 %) para los picos de encendido de lámparas y motores.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Regla de oro: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nunca poner un fusible de mayor amperaje que el original; el cable quedaría desprotegido.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02336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023360"/>
            <a:ext cx="5669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P / V        I_fusible ≥ 1,25 · I</a:t>
            </a:r>
            <a:endParaRPr lang="en-US" sz="2400" dirty="0"/>
          </a:p>
        </p:txBody>
      </p:sp>
      <p:pic>
        <p:nvPicPr>
          <p:cNvPr id="7" name="Figura mac_fusible_clavija.png" descr="mac_fusible_clavi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646" y="4937760"/>
            <a:ext cx="1768548" cy="960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dos faros antiniebla de 12 V / 55 W en el mismo circuito.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 = 2 · 55 = 110 W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= 110 / 12 = 9,17 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margen: 1,25 · 9,17 = 11,5 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Fusible normalizado inmediato superior: 15 A (azul).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Comprobar: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cable debe soportar 15 A (1,5 mm² como mínimo).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 fusibles</a:t>
            </a:r>
            <a:endParaRPr lang="en-US" sz="2800" dirty="0"/>
          </a:p>
        </p:txBody>
      </p:sp>
      <p:pic>
        <p:nvPicPr>
          <p:cNvPr id="4" name="Figura mac_fusible_tipos.png" descr="mac_fusible_ti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41821"/>
            <a:ext cx="3291840" cy="327707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57376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114800" y="1234440"/>
            <a:ext cx="758952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Visual: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retirar y observar el filamento a contraluz.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Continuidad: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fusible fuera del circuito; óhmetro ≈ 0 Ω. Abierto: «OL».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Tensión en los puntos de control: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circuito activado; debe haber tensión de batería en ambos lados respecto a masa. Si solo hay en un lado, está fundido.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4. Caída de tensión: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voltímetro entre los dos puntos de control: unos pocos mV es normal.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Importante: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un fusible se funde de nuevo, buscar el cortocircuito antes de reponerlo.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1.8.6 Relés: constitución y bornes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66294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Interruptor accionado por un electroimán: un circuito de mando (pocos mA) gobierna un circuito de potencia (20 a 40 A).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86: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entrada de positivo a la bobina.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85: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salida de la bobina a masa.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30: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entrada de positivo a los contactos.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87: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salida de los contactos hacia el consumidor (normalmente abierto).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87a: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contacto normalmente cerrado (relé conmutado).</a:t>
            </a:r>
            <a:endParaRPr lang="en-US" sz="1600" dirty="0"/>
          </a:p>
        </p:txBody>
      </p:sp>
      <p:pic>
        <p:nvPicPr>
          <p:cNvPr id="4" name="Figura mac_rele_bornes.png" descr="mac_rele_bor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903" y="1234440"/>
            <a:ext cx="229371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60920" y="5861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Funcionamiento del relé</a:t>
            </a:r>
            <a:endParaRPr lang="en-US" sz="2800" dirty="0"/>
          </a:p>
        </p:txBody>
      </p:sp>
      <p:pic>
        <p:nvPicPr>
          <p:cNvPr id="4" name="Figura mac_rele_circuitos.png" descr="mac_rele_circui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906" y="1234440"/>
            <a:ext cx="5937069" cy="4617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59370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766560" y="1280160"/>
            <a:ext cx="493776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Circuito de mando (Im):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interruptor → 86 → bobina → 85 → masa. Corriente pequeña.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Circuito de potencia (Ic):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batería → fusible → 30 → 87 → consumidor → masa. Corriente grande.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Ventajas: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interruptor del tablero no se desgasta, se acortan los cables gruesos y se reduce la caída de tensión.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Tipos de relés</a:t>
            </a:r>
            <a:endParaRPr lang="en-US" sz="28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4688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Aplicación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Simple de una salida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30 → 87 (normalmente abierto)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Faros, bocina, electroventilador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De doble salida (conmutado)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30 → 87 o 30 → 87a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Cambio entre dos consumidores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Con fusible incorporado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Protección en el propio relé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Instalaciones adicionales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Con resistencia o diodo en paralelo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Absorbe la f.e.m. inducida al desconectar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Protección de unidades de control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Múltiple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Dos relés en una carcasa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Inyección (relé principal y bomba)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Temporizado / de intermitencia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Electrónica interna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Intermitentes, luz interior, luneta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Figura mac_rele_doble.png" descr="mac_rele_do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8232" y="1234440"/>
            <a:ext cx="2514656" cy="46177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732520" y="5907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Fernández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Ejemplo resuelto: ¿por qué usar un relé?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783080"/>
            <a:ext cx="5760720" cy="43891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bobina del relé de 80 Ω; dos faros de 55 W a 12 V.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Corriente de mando: Im = 12 / 80 = 0,15 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Corriente de potencia: Ic = 110 / 12 = 9,17 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Relación Ic / Im = 9,17 / 0,15 ≈ 61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Conclusión: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interruptor del tablero maneja 61 veces menos corriente; el cable de mando puede ser de 0,5 mm².</a:t>
            </a:r>
            <a:endParaRPr lang="en-US" sz="1600" dirty="0"/>
          </a:p>
        </p:txBody>
      </p:sp>
      <p:sp>
        <p:nvSpPr>
          <p:cNvPr id="7" name="Tarjeta Comprobar un relé"/>
          <p:cNvSpPr/>
          <p:nvPr/>
        </p:nvSpPr>
        <p:spPr>
          <a:xfrm>
            <a:off x="6583680" y="1234440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48272" y="1344168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Comprobar un relé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748272" y="1783080"/>
            <a:ext cx="4791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Bobina 85-86 con óhmetro: valor según fabricante (≈ 50–120 Ω). Abierta: «OL».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Contactos sin alimentar: 30-87 abierto y 30-87a cerrado.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Alimentar 86 (+) y 85 (−): debe oírse el clic y 30-87 cerrar.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carga, caída 30-87 de pocas décimas de voltio.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Respetar la polaridad en relés con diodo.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Aplicación: electroventilador con termocontacto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98348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termocontacto del radiador cierra el circuito de mando del relé al alcanzar la temperatura de conexión.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relé alimenta el ventilador con un cable corto y de sección adecuada.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Diagnóstico: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 el ventilador no gira, puentear el termocontacto (con motor caliente) para separar si falla el sensor, el relé o el motor.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Ejercicio: dibuje el esquema normalizado con bornes 30, 85, 86 y 87.</a:t>
            </a:r>
            <a:endParaRPr lang="en-US" sz="1600" dirty="0"/>
          </a:p>
        </p:txBody>
      </p:sp>
      <p:pic>
        <p:nvPicPr>
          <p:cNvPr id="4" name="Figura old_u3_s37_2.jpg" descr="old_u3_s37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78989"/>
            <a:ext cx="6035040" cy="40829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5616755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1.9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 batería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Constitución, electrolito, carga y descarga, características eléctricas, mantenimiento, baterías libres de mantenimiento, averías y celdas de combustible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Misión de la batería en el automóvil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3492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Acumulador electroquímico: almacena energía en forma química y la devuelve como energía eléctrica en corriente continua.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Suministrar la gran corriente del motor de arranque.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Alimentar encendido, inyección y unidades de control durante el arranque.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Alimentar consumidores con el motor parado.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Apoyar al alternador cuando el consumo supera su producción.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Estabilizar la tensión de la red y absorber picos.</a:t>
            </a:r>
            <a:endParaRPr lang="en-US" sz="1600" dirty="0"/>
          </a:p>
        </p:txBody>
      </p:sp>
      <p:pic>
        <p:nvPicPr>
          <p:cNvPr id="4" name="Figura old_bat_s04_2.jpg" descr="old_bat_s04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66900"/>
            <a:ext cx="5669280" cy="3307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522884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Minga González (2023),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1.9.1 Constitución de la batería</a:t>
            </a:r>
            <a:endParaRPr lang="en-US" sz="2800" dirty="0"/>
          </a:p>
        </p:txBody>
      </p:sp>
      <p:pic>
        <p:nvPicPr>
          <p:cNvPr id="4" name="Figura old_bat_s16_2.jpg" descr="old_bat_s16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37" y="1234440"/>
            <a:ext cx="5374967" cy="4617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53749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Minga González (2023), diapositivas de clase ISTS.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263640" y="1234440"/>
            <a:ext cx="544068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Monobloque: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caja de polipropileno dividida en 6 vasos (celdas).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Tapa: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cierra el monobloque; tapones o desgasificación central.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Placas positivas: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rejilla de plomo con peróxido de plomo (PbO₂), color marrón.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Placas negativas: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rejilla con plomo esponjoso (Pb), color gris; siempre hay una negativa más.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Separadores: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material aislante poroso entre placas.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Puentes y bornes: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unen las placas del vaso y los vasos en serie.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Placas, vasos y unión en serie</a:t>
            </a:r>
            <a:endParaRPr lang="en-US" sz="2800" dirty="0"/>
          </a:p>
        </p:txBody>
      </p:sp>
      <p:pic>
        <p:nvPicPr>
          <p:cNvPr id="4" name="Figura cal_placas.png" descr="cal_pla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698" y="1234440"/>
            <a:ext cx="3834843" cy="2377440"/>
          </a:xfrm>
          <a:prstGeom prst="rect">
            <a:avLst/>
          </a:prstGeom>
        </p:spPr>
      </p:pic>
      <p:pic>
        <p:nvPicPr>
          <p:cNvPr id="5" name="Figura cal_union_vasos.png" descr="cal_union_va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09" y="3749040"/>
            <a:ext cx="5120423" cy="21031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5907024"/>
            <a:ext cx="51204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6309360" y="1280160"/>
            <a:ext cx="5394960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placas del mismo signo de cada vaso se unen en paralelo: más placas o más superficie → más capacidad (A·h).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6 vasos se unen en serie: 6 × 2,1 V ≈ 12,6 V.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tensión depende del número de vasos; la capacidad, de la superficie de las placas.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pesados se usan 2 baterías de 12 V en serie (24 V).</a:t>
            </a:r>
            <a:endParaRPr lang="en-US" sz="1600" dirty="0"/>
          </a:p>
        </p:txBody>
      </p:sp>
      <p:sp>
        <p:nvSpPr>
          <p:cNvPr id="8" name="Ecuación"/>
          <p:cNvSpPr/>
          <p:nvPr/>
        </p:nvSpPr>
        <p:spPr>
          <a:xfrm>
            <a:off x="6309360" y="525780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309360" y="5257800"/>
            <a:ext cx="5394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n.º de vasos × 2,1 V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1.9.2 Formación del electrolito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4008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Disolución de ácido sulfúrico (H₂SO₄, densidad 1,83 g/cm³) en agua destilada (1,00 g/cm³).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Batería cargada: ≈ 37 % de ácido en masa, densidad 1,26–1,28 g/cm³ a 25 °C.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Batería descargada: densidad ≈ 1,10–1,12 g/cm³ (el ácido pasó a las placas).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Solo agua destilada: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cloro y las sales del agua del grifo entran en las reacciones e inutilizan la batería.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Seguridad: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 preparar electrolito, verter siempre el ácido sobre el agua, nunca al revés.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Nunca añadir ácido a una batería en servicio: el ácido no se pierde, solo el agua.</a:t>
            </a:r>
            <a:endParaRPr lang="en-US" sz="1500" dirty="0"/>
          </a:p>
        </p:txBody>
      </p:sp>
      <p:pic>
        <p:nvPicPr>
          <p:cNvPr id="5" name="Figura cal_vaso_cargado.png" descr="cal_vaso_carg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401969"/>
            <a:ext cx="4480560" cy="18595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23760" y="3316335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7" name="Ecuación"/>
          <p:cNvSpPr/>
          <p:nvPr/>
        </p:nvSpPr>
        <p:spPr>
          <a:xfrm>
            <a:off x="7223760" y="420624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223760" y="4206240"/>
            <a:ext cx="44805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 cargada ≈ 1,28 g/cm³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 descargada ≈ 1,10 g/cm³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1.9.3 Proceso de descarga y de carga</a:t>
            </a:r>
            <a:endParaRPr lang="en-US" sz="2800" dirty="0"/>
          </a:p>
        </p:txBody>
      </p:sp>
      <p:sp>
        <p:nvSpPr>
          <p:cNvPr id="4" name="Ecuación"/>
          <p:cNvSpPr/>
          <p:nvPr/>
        </p:nvSpPr>
        <p:spPr>
          <a:xfrm>
            <a:off x="502920" y="123444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11201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PbO₂ + Pb + 2 H₂SO₄   ⇄   2 PbSO₄ + 2 H₂O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(cargada)   descarga →   ← carga   (descargada)</a:t>
            </a:r>
            <a:endParaRPr lang="en-US" sz="2200" dirty="0"/>
          </a:p>
        </p:txBody>
      </p:sp>
      <p:sp>
        <p:nvSpPr>
          <p:cNvPr id="6" name="Tarjeta Descarga"/>
          <p:cNvSpPr/>
          <p:nvPr/>
        </p:nvSpPr>
        <p:spPr>
          <a:xfrm>
            <a:off x="502920" y="269748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" y="2807208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Descarga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67512" y="3246120"/>
            <a:ext cx="33284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Ambas placas se transforman en sulfato de plomo (PbSO₄).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ácido se consume y se forma agua.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densidad del electrolito baja.</a:t>
            </a:r>
            <a:endParaRPr lang="en-US" sz="1500" dirty="0"/>
          </a:p>
        </p:txBody>
      </p:sp>
      <p:sp>
        <p:nvSpPr>
          <p:cNvPr id="9" name="Tarjeta Carga"/>
          <p:cNvSpPr/>
          <p:nvPr/>
        </p:nvSpPr>
        <p:spPr>
          <a:xfrm>
            <a:off x="4343400" y="269748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07992" y="2807208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Carga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07992" y="3246120"/>
            <a:ext cx="33284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fuente externa invierte la reacción.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positiva vuelve a PbO₂ y la negativa a Pb.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ácido regresa al electrolito: sube la densidad.</a:t>
            </a:r>
            <a:endParaRPr lang="en-US" sz="1500" dirty="0"/>
          </a:p>
        </p:txBody>
      </p:sp>
      <p:pic>
        <p:nvPicPr>
          <p:cNvPr id="12" name="Figura cal_vaso_descargado.png" descr="cal_vaso_descarg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498357"/>
            <a:ext cx="3474720" cy="15529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29600" y="5106147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Gasificación y seguridad durante la carga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400800" cy="3474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 final de la carga, si se sigue aportando corriente, el agua se descompone por electrólisis.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Placa negativa: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hidrógeno (H₂). Placa positiva: oxígeno (O₂).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Tensión de gasificación: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≈ 2,4 V por vaso (≈ 14,4 V en una batería de 12 V).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Riesgo: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hidrógeno es explosivo en el aire a partir de ≈ 4 %.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Consecuencias: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pérdida de agua, calentamiento y deterioro de placas.</a:t>
            </a:r>
            <a:endParaRPr lang="en-US" sz="1600" dirty="0"/>
          </a:p>
        </p:txBody>
      </p:sp>
      <p:sp>
        <p:nvSpPr>
          <p:cNvPr id="5" name="Tarjeta Normas de seguridad"/>
          <p:cNvSpPr/>
          <p:nvPr/>
        </p:nvSpPr>
        <p:spPr>
          <a:xfrm>
            <a:off x="502920" y="4709160"/>
            <a:ext cx="6400800" cy="1508760"/>
          </a:xfrm>
          <a:prstGeom prst="roundRect">
            <a:avLst>
              <a:gd name="adj" fmla="val 4848"/>
            </a:avLst>
          </a:prstGeom>
          <a:solidFill>
            <a:srgbClr val="F8E1DE"/>
          </a:solidFill>
          <a:ln w="12700">
            <a:solidFill>
              <a:srgbClr val="F8E1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7512" y="4818888"/>
            <a:ext cx="6071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Normas de seguridad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5257800"/>
            <a:ext cx="6071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Cargar en zona ventilada, sin llamas ni chispas; gafas y guantes; conectar y desconectar el cargador con el equipo apagado.</a:t>
            </a:r>
            <a:endParaRPr lang="en-US" sz="1500" dirty="0"/>
          </a:p>
        </p:txBody>
      </p:sp>
      <p:pic>
        <p:nvPicPr>
          <p:cNvPr id="8" name="Figura old_bat_s33_2.jpg" descr="old_bat_s33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7018"/>
            <a:ext cx="4480560" cy="29123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23760" y="425424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Minga González (2023),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1.9.4 Características eléctricas: lectura de la etiqueta</a:t>
            </a:r>
            <a:endParaRPr lang="en-US" sz="2800" dirty="0"/>
          </a:p>
        </p:txBody>
      </p:sp>
      <p:pic>
        <p:nvPicPr>
          <p:cNvPr id="4" name="Figura cal_bornes.png" descr="cal_bor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617" y="1234440"/>
            <a:ext cx="3237247" cy="1920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209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Significado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 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Tensión nominal: 6 vasos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70 A·h (C₂₀)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Capacidad: descarga de 20 h hasta 10,5 V a 25 °C (70/20 = 3,5 A)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760 A (EN)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Corriente de arranque en frío a −18 °C según EN 50342-1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CCA (SAE)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Corriente a −18 °C durante 30 s con tensión ≥ 7,2 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RC (min)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Capacidad de reserva: minutos a 25 A hasta 10,5 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02920" y="3657600"/>
            <a:ext cx="5120640" cy="2560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capacidad disminuye con el frío y con descargas rápidas.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corriente de arranque en frío indica la aptitud para arrancar el motor.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 sustituir, igualar o superar los valores originales.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Capacidad, tensión y resistencia interna</a:t>
            </a:r>
            <a:endParaRPr lang="en-US" sz="2800" dirty="0"/>
          </a:p>
        </p:txBody>
      </p:sp>
      <p:sp>
        <p:nvSpPr>
          <p:cNvPr id="4" name="Ecuación"/>
          <p:cNvSpPr/>
          <p:nvPr/>
        </p:nvSpPr>
        <p:spPr>
          <a:xfrm>
            <a:off x="502920" y="123444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5669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I · t           V_bornes = E − I · Rᵢ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194560"/>
            <a:ext cx="5669280" cy="2194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Tensión en vacío (E):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 consumo; ≈ 12,6 V cargada.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Tensión eficaz (en bornes):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consumo; menor por la caída interna I · Rᵢ.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Resistencia interna: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aumenta con la descarga, el frío, la sulfatación y el envejecimiento.</a:t>
            </a:r>
            <a:endParaRPr lang="en-US" sz="1500" dirty="0"/>
          </a:p>
        </p:txBody>
      </p:sp>
      <p:pic>
        <p:nvPicPr>
          <p:cNvPr id="7" name="Figura cal_tension_eficaz.png" descr="cal_tension_efic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002" y="4343400"/>
            <a:ext cx="2809516" cy="1508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5907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a) Capacidad: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batería entrega 18 A durante 5 h → C = 18 · 5 = 90 A·h (Calsina Fleta, 2011).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b) Caída interna: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 = 12,6 V; Rᵢ = 0,010 Ω; arranque con I = 200 A.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 = 12,6 − 200 · 0,010 = 10,6 V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c) Batería envejecida: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Rᵢ = 0,025 Ω → V = 12,6 − 5,0 = 7,6 V: el arranque falla aunque en vacío marque 12,6 V.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Conclusión: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tensión en vacío no basta para diagnosticar; hay que probar con carga o con un probador.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Estado de carga: tensión en reposo y densidad</a:t>
            </a:r>
            <a:endParaRPr lang="en-US" sz="28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182880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Estado de carga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Tensión en reposo (V)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Densidad (g/cm³)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100 %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12,65 o más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1,265 – 1,280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Correcta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75 %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12,45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1,225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Recargar si el vehículo se usará poco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50 %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12,24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1,190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Recargar: riesgo de sulfatación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25 %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12,06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1,155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Recargar de inmediato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Descargada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11,90 o menos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1,120 o menos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Recargar y probar; posible daño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4892040"/>
            <a:ext cx="768096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Diferencia entre vasos: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más de 0,05 g/cm³ (≈ 50 puntos) indica un vaso defectuoso.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Congelación: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cargada ≈ −60 °C; descargada ≈ −10 °C.</a:t>
            </a:r>
            <a:endParaRPr lang="en-US" sz="1500" dirty="0"/>
          </a:p>
        </p:txBody>
      </p:sp>
      <p:pic>
        <p:nvPicPr>
          <p:cNvPr id="6" name="Figura cal_medir_tension.png" descr="cal_medir_te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05237"/>
            <a:ext cx="3291840" cy="232728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412480" y="3687387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pic>
        <p:nvPicPr>
          <p:cNvPr id="8" name="Figura cal_densimetro.png" descr="cal_densime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523" y="4206240"/>
            <a:ext cx="831755" cy="164592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458200" y="5907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Acoplamiento de baterías</a:t>
            </a:r>
            <a:endParaRPr lang="en-US" sz="2800" dirty="0"/>
          </a:p>
        </p:txBody>
      </p:sp>
      <p:pic>
        <p:nvPicPr>
          <p:cNvPr id="4" name="Figura cal_serie.png" descr="cal_se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5556"/>
            <a:ext cx="4572000" cy="1675127"/>
          </a:xfrm>
          <a:prstGeom prst="rect">
            <a:avLst/>
          </a:prstGeom>
        </p:spPr>
      </p:pic>
      <p:pic>
        <p:nvPicPr>
          <p:cNvPr id="5" name="Figura cal_paralelo.png" descr="cal_parale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33977"/>
            <a:ext cx="1737360" cy="2544125"/>
          </a:xfrm>
          <a:prstGeom prst="rect">
            <a:avLst/>
          </a:prstGeom>
        </p:spPr>
      </p:pic>
      <p:pic>
        <p:nvPicPr>
          <p:cNvPr id="6" name="Figura cal_mixto.png" descr="cal_mix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74" y="3108960"/>
            <a:ext cx="4283092" cy="237744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5541264"/>
            <a:ext cx="4283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280160"/>
          <a:ext cx="44348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55448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Serie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Paralelo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Conexión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(+) con (−)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(+) con (+) y (−) con (−)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Tensión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Suma: Vₜ = V₁ + V₂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Igual: Vₜ = V₁ = V₂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Capacidad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La menor: Cₜ = mín(C)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Suma: Cₜ = C₁ + C₂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Rᵢ total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Suma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Disminuye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Uso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24 V en pesados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Más autonomía; arranque auxiliar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9" name="Shape 2"/>
          <p:cNvSpPr/>
          <p:nvPr/>
        </p:nvSpPr>
        <p:spPr>
          <a:xfrm>
            <a:off x="7269480" y="48463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269480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1" name="Text 4"/>
          <p:cNvSpPr txBox="1"/>
          <p:nvPr/>
        </p:nvSpPr>
        <p:spPr>
          <a:xfrm>
            <a:off x="7269480" y="5303520"/>
            <a:ext cx="4434840" cy="9144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 × (12 V, 60 A·h) en serie → 24 V, 60 A·h; en paralelo → 12 V, 120 A·h.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Proceso de carga de la batería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035040" cy="3566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Corriente constante: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≈ 10 % de C₂₀ (7 A en 70 A·h). Vigilar temperatura (≤ 45 °C) y gasificación.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Tensión constante: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≈ 14,4 V; la corriente baja sola al cargarse. Es el método de los cargadores automáticos.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Carga rápida: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solo para emergencias y con control de temperatura; acorta la vida de la batería.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Fin de carga: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tensión y densidad constantes durante 2 h.</a:t>
            </a:r>
            <a:endParaRPr lang="en-US" sz="1500" dirty="0"/>
          </a:p>
        </p:txBody>
      </p:sp>
      <p:sp>
        <p:nvSpPr>
          <p:cNvPr id="5" name="Ecuación"/>
          <p:cNvSpPr/>
          <p:nvPr/>
        </p:nvSpPr>
        <p:spPr>
          <a:xfrm>
            <a:off x="502920" y="484632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846320"/>
            <a:ext cx="6035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≈ (A·h a reponer × 1,2) / I_carga</a:t>
            </a:r>
            <a:endParaRPr lang="en-US" sz="2100" dirty="0"/>
          </a:p>
        </p:txBody>
      </p:sp>
      <p:pic>
        <p:nvPicPr>
          <p:cNvPr id="7" name="Figura cal_cargador.png" descr="cal_carg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3300" y="1234440"/>
            <a:ext cx="2435720" cy="2194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03720" y="3483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858000" y="4069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858000" y="4526280"/>
            <a:ext cx="484632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Batería de 60 A·h al 50 % → faltan 30 A·h. Con 6 A: t = 30 · 1,2 / 6 = 6 h (el factor 1,2 compensa las pérdidas).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1.9.5 Mantenimiento de la batería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4008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Inspección visual: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carcasa sin fisuras ni abombamiento, anclaje firme, bornes sin sulfato.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Limpieza: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bornes y terminales con agua y bicarbonato; secar y proteger con grasa o vaselina.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Nivel: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≈ 10–15 mm sobre las placas; completar solo con agua destilada.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Apriete: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terminales firmes; una conexión floja genera caída de tensión y chispas.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Batería almacenada: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autodescarga; recargar periódicamente (más rápido cuanto más calor).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Orden de desconexión: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primero el negativo (−) y al montar el negativo al final.</a:t>
            </a:r>
            <a:endParaRPr lang="en-US" sz="1500" dirty="0"/>
          </a:p>
        </p:txBody>
      </p:sp>
      <p:pic>
        <p:nvPicPr>
          <p:cNvPr id="5" name="Figura cal_autodescarga.png" descr="cal_autodescar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741" y="1280160"/>
            <a:ext cx="3580598" cy="2926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69480" y="42611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pic>
        <p:nvPicPr>
          <p:cNvPr id="7" name="Figura old_bat_s49_2.jpg" descr="old_bat_s49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751" y="4800600"/>
            <a:ext cx="1133139" cy="10972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001000" y="59527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Minga González (2023),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Diagnóstico de la batería</a:t>
            </a:r>
            <a:endParaRPr lang="en-US" sz="2800" dirty="0"/>
          </a:p>
        </p:txBody>
      </p:sp>
      <p:sp>
        <p:nvSpPr>
          <p:cNvPr id="4" name="Tarjeta Tensión en reposo"/>
          <p:cNvSpPr/>
          <p:nvPr/>
        </p:nvSpPr>
        <p:spPr>
          <a:xfrm>
            <a:off x="502920" y="123444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Tensión en reposo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55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Multímetro tras ≥ 2 h de reposo. Ver tabla de estado de carga.</a:t>
            </a:r>
            <a:endParaRPr lang="en-US" sz="1500" dirty="0"/>
          </a:p>
        </p:txBody>
      </p:sp>
      <p:sp>
        <p:nvSpPr>
          <p:cNvPr id="7" name="Tarjeta Densidad por vaso"/>
          <p:cNvSpPr/>
          <p:nvPr/>
        </p:nvSpPr>
        <p:spPr>
          <a:xfrm>
            <a:off x="4270248" y="123444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13441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Densidad por vaso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1783080"/>
            <a:ext cx="3255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Densímetro o refractómetro. Diferencia &gt; 0,05 g/cm³ entre vasos: vaso defectuoso.</a:t>
            </a:r>
            <a:endParaRPr lang="en-US" sz="1500" dirty="0"/>
          </a:p>
        </p:txBody>
      </p:sp>
      <p:sp>
        <p:nvSpPr>
          <p:cNvPr id="10" name="Tarjeta Prueba de descarga"/>
          <p:cNvSpPr/>
          <p:nvPr/>
        </p:nvSpPr>
        <p:spPr>
          <a:xfrm>
            <a:off x="8037576" y="123444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02168" y="13441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Prueba de descarga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02168" y="1783080"/>
            <a:ext cx="3255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Aplicar ½ CCA durante 15 s: tensión ≥ 9,6 V a 21 °C.</a:t>
            </a:r>
            <a:endParaRPr lang="en-US" sz="1500" dirty="0"/>
          </a:p>
        </p:txBody>
      </p:sp>
      <p:sp>
        <p:nvSpPr>
          <p:cNvPr id="13" name="Tarjeta Probador electrónico"/>
          <p:cNvSpPr/>
          <p:nvPr/>
        </p:nvSpPr>
        <p:spPr>
          <a:xfrm>
            <a:off x="502920" y="374904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" y="38587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Probador electrónico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4297680"/>
            <a:ext cx="3255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Mide conductancia y estima CCA real y estado de salud (BST-860, BD10).</a:t>
            </a:r>
            <a:endParaRPr lang="en-US" sz="1500" dirty="0"/>
          </a:p>
        </p:txBody>
      </p:sp>
      <p:sp>
        <p:nvSpPr>
          <p:cNvPr id="16" name="Tarjeta Corriente de fuga"/>
          <p:cNvSpPr/>
          <p:nvPr/>
        </p:nvSpPr>
        <p:spPr>
          <a:xfrm>
            <a:off x="4270248" y="374904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34840" y="38587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Corriente de fuga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297680"/>
            <a:ext cx="3255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Pinza o amperímetro en serie con el negativo, módulos dormidos: típico &lt; 50 mA.</a:t>
            </a:r>
            <a:endParaRPr lang="en-US" sz="1500" dirty="0"/>
          </a:p>
        </p:txBody>
      </p:sp>
      <p:sp>
        <p:nvSpPr>
          <p:cNvPr id="19" name="Tarjeta Indicador óptico"/>
          <p:cNvSpPr/>
          <p:nvPr/>
        </p:nvSpPr>
        <p:spPr>
          <a:xfrm>
            <a:off x="8037576" y="374904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02168" y="3858768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Indicador óptico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02168" y="4297680"/>
            <a:ext cx="3255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Verde: carga suficiente; negro: cargar; claro/amarillo: nivel bajo, sustituir.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1.9.6 Baterías libres de mantenimiento</a:t>
            </a:r>
            <a:endParaRPr lang="en-US" sz="28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286000"/>
                <a:gridCol w="192024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Tecnología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Construcción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Ventajas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Uso típico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Plomo-calcio (SMF)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Rejillas con calcio; sin tapones; indicador óptico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Poca gasificación y autodescarga; sin reponer agua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Turismos convencionales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EFB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Plomo-ácido líquido mejorada (malla de poliéster)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Más ciclos que la convencional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Start-stop básico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AGM (VRLA)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Electrolito absorbido en fibra de vidrio; válvula reguladora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Alta corriente, muchos ciclos, cualquier posición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Start-stop con recuperación de energía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Gel (VRLA)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Electrolito gelificado con sílice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Descargas profundas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Motos, náutica, servicios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Ion-litio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Celdas LiFePO₄ (12 V) o NMC (alta tensión)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Ligera, gran densidad energética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Híbridos, eléctricos, algunos 12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pic>
        <p:nvPicPr>
          <p:cNvPr id="5" name="Figura old_bat_s22_2.jpg" descr="old_bat_s22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481804"/>
            <a:ext cx="2834640" cy="1425513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869680" y="29621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Minga González (2023), diapositivas de clase ISTS.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8869680" y="3931920"/>
            <a:ext cx="2834640" cy="22860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Atención: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AGM y gel requieren cargador con perfil específico; una sobrecarga las daña sin posibilidad de reponer agua.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1.9.7 Averías de la batería</a:t>
            </a:r>
            <a:endParaRPr lang="en-US" sz="28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200400"/>
                <a:gridCol w="29718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Avería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Causa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Síntoma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Solución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Sulfatación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Descarga prolongada o carga insuficiente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Baja capacidad; Rᵢ alta; no admite carga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Carga lenta prolongada; si persiste, sustituir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Vaso en cortocircuito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Materia desprendida o separador roto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≈ 10,5 V en reposo; un vaso con densidad baja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Sustituir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Desprendimiento de materia activa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Vibraciones, sobrecarga, envejecimiento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Electrolito turbio; pérdida de capacidad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Sustituir; revisar anclaje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Sobrecarga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Regulador defectuoso (&gt; 14,8 V)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Pérdida de agua, calor, abombamiento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Reparar sistema de carga (U2)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Bornes sulfatados o flojos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Gases ácidos, apriete deficiente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Arranque débil; caída de tensión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Limpiar, apretar y proteger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Fuga de corriente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Consumidor o módulo que no duerme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Batería descargada tras días parado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Medir consumo en reposo (4P2)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Alta tensión y celdas de combustible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3093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Baterías de alta tensión: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obtienen acoplando módulos en serie. Ej.: Toyota Prius: 28 módulos NiMH de 7,2 V → 201,6 V.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Celda de combustible: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 electricidad a partir de hidrógeno y oxígeno sin combustión: H₂ + ½ O₂ → H₂O + electricidad + calor.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Ánodo: el hidrógeno se separa en protones y electrones; los electrones salen al circuito exterior.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 membrana deja pasar solo los protones hacia el cátodo, donde se unen al oxígeno y forman agua.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Cada celda da ≈ 0,6–0,7 V con carga; se apilan cientos en serie (stack).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Vehículos: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Toyota Mirai, Hyundai Nexo. Requieren tanques de H₂ a 700 bar.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132320" y="2377440"/>
            <a:ext cx="1188720" cy="2377440"/>
          </a:xfrm>
          <a:prstGeom prst="rect">
            <a:avLst/>
          </a:prstGeom>
          <a:solidFill>
            <a:srgbClr val="D6E9F5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4800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Ánodo (−)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321040" y="2377440"/>
            <a:ext cx="822960" cy="2377440"/>
          </a:xfrm>
          <a:prstGeom prst="rect">
            <a:avLst/>
          </a:prstGeom>
          <a:solidFill>
            <a:srgbClr val="FDF1D8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1040" y="4800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Membrana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0" y="2377440"/>
            <a:ext cx="1188720" cy="2377440"/>
          </a:xfrm>
          <a:prstGeom prst="rect">
            <a:avLst/>
          </a:prstGeom>
          <a:solidFill>
            <a:srgbClr val="FBE3D6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0" y="4800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Cátodo (+)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DA4"/>
                </a:solidFill>
              </a:rPr>
              <a:t>H₂ →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← O₂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33"/>
                </a:solidFill>
              </a:rPr>
              <a:t>H⁺ →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H₂O ↓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726680" y="1783080"/>
            <a:ext cx="0" cy="594360"/>
          </a:xfrm>
          <a:prstGeom prst="line">
            <a:avLst/>
          </a:prstGeom>
          <a:noFill/>
          <a:ln w="25400">
            <a:solidFill>
              <a:srgbClr val="1B2A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738360" y="1783080"/>
            <a:ext cx="0" cy="594360"/>
          </a:xfrm>
          <a:prstGeom prst="line">
            <a:avLst/>
          </a:prstGeom>
          <a:noFill/>
          <a:ln w="25400">
            <a:solidFill>
              <a:srgbClr val="1B2A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26680" y="1783080"/>
            <a:ext cx="2011680" cy="0"/>
          </a:xfrm>
          <a:prstGeom prst="line">
            <a:avLst/>
          </a:prstGeom>
          <a:noFill/>
          <a:ln w="25400">
            <a:solidFill>
              <a:srgbClr val="1B2A3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458200" y="1508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A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33"/>
                </a:solidFill>
              </a:rPr>
              <a:t>M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e⁻ por el circuito exterior (motor)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5303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</a:rPr>
              <a:t>Esquema de elaboración propia de una celda PEM.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1.9.9 Prácticas de taller de la unidad</a:t>
            </a:r>
            <a:endParaRPr lang="en-US" sz="280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635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Tema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Práctica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Contenido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1.2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Principios básicos eléctricos: Ohm, serie, paralelo, mixto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1.2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Uso de instrumentos de medición (multímetro automotriz)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1.2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Localización de averías: método V4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1.9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Prácticas 4P1 – 4P5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Batería, fugas de corriente, densidad, carga y arranque auxiliar, probador BST-860 / BD10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1.5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Interpretación de esquemas eléctricos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1.8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6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Fusibles y relés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1.7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7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Mazos de cables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Proyecto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21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Proyecto integrador: fuentes de alimentación de laboratorio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Ideas clave de la unidad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234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La red de a bordo trabaja en corriente continua: 12 V en reposo y ≈ 14 V con el motor en marcha.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234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V = R · I y P = V · I resuelven la mayoría de los cálculos del taller.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60604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En serie se reparten las tensiones; en paralelo, las corrientes.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260604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Una conexión con alta resistencia causa caídas de tensión y fallas intermitentes.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02920" y="384048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703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DIN 72552 designa los bornes (30, 15, 31, 50, 85–87); DIN 40719 identifica componentes; INEN 1155 fija el alumbrado obligatorio en Ecuador.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72200" y="384048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3703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Esquema: fuente → fusible → mando → consumidor → masa.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507492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El fusible protege el cable; nunca se aumenta su amperaje.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72200" y="507492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La batería se diagnostica con tensión en reposo, densidad, prueba de carga o probador, y medición de fugas.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Autoevaluación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234440"/>
            <a:ext cx="1120140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resistencia total de un circuito paralelo es: a) la suma de resistencias; b) mayor que la mayor; c) menor que la menor.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Dos baterías de 12 V / 60 A·h en paralelo dan: ____ V y ____ A·h.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Para medir la densidad de una batería se usa: a) óhmetro; b) densímetro o refractómetro; c) pinza amperimétrica.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Indique el significado de los bornes 30, 15 y 31 según DIN 72552.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Calcule el fusible para un consumidor de 60 W a 12 V.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6.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 gasificar, una batería desprende: a) nitrógeno y oxígeno; b) hidrógeno y oxígeno; c) vapor de ácido únicamente.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Ejercicios propuestos (trabajo autónomo)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234440"/>
            <a:ext cx="1120140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Dos lámparas de 8 Ω en paralelo se alimentan a 12 V. Calcule Rₜ, Iₜ y la corriente de cada lámpara.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Calcule la sección del cable de una bocina de 120 W a 12 V con 5 m de cable y ΔV ≤ 0,5 V.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Una batería con E = 12,5 V y Rᵢ = 0,012 Ω entrega 180 A. ¿Qué tensión llega a los bornes?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 acoplan una batería de 24 V / 60 A·h y dos de 12 V / 40 A·h en serie entre sí, todo en paralelo. Halle tensión y capacidad (Calsina Fleta, 2011).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Una batería de 70 A·h está al 50 %. ¿Cuánto tiempo necesita a 7 A para recargarse?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6.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 el esquema de luz de cruce (ejercicio guiado), indique dónde mediría para saber si falla el relé K43.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Referencias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112014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Calsina Fleta, M. (2011). Circuitos electrotécnicos básicos: Sistemas de carga y arranque del vehículo. Macmillan Iberia.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Esquemática: interpretación de esquemas eléctricos (PSA, Ford, Opel, grupo VW) [Diapositivas]. (s. f.).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Conceptos norma INEN 1155 [Diapositivas]. (s. f.).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Instituto Ecuatoriano de Normalización. (2009). NTE INEN 1155:2009. Vehículos automotores. Dispositivos para mantener o mejorar la visibilidad (2.ª rev.).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López Alberca, C. J. (2024). Electricidad Automotriz II: Unidades 1 y 3 [Diapositivas de clase]. Instituto Superior Tecnológico Sudamericano.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Minga González, M. A. (2023). Tema 2: Acumuladores [Diapositivas de clase]. Instituto Superior Tecnológico Sudamericano.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Norma DIN 40719 [Diapositivas de clase]. (s. f.).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Reglamento Delegado (UE) n.º 3/2014 de la Comisión, de 24 de octubre de 2013. Diario Oficial de la Unión Europea, L 7, 1–122.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Sánchez Fernández, E. (2024). Circuitos eléctricos auxiliares del vehículo. Macmillan Iberia.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¡Gracias!</a:t>
            </a:r>
            <a:endParaRPr lang="en-US" sz="40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Próxima unidad: Sistema de arranque y carga (U2)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¡Hacemos gente de talento!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TS Electricidad">
  <a:themeElements>
    <a:clrScheme name="ISTS Electricidad">
      <a:dk1>
        <a:srgbClr val="1B2A33"/>
      </a:dk1>
      <a:lt1>
        <a:srgbClr val="FFFFFF"/>
      </a:lt1>
      <a:dk2>
        <a:srgbClr val="00575A"/>
      </a:dk2>
      <a:lt2>
        <a:srgbClr val="E4F1F1"/>
      </a:lt2>
      <a:accent1>
        <a:srgbClr val="007578"/>
      </a:accent1>
      <a:accent2>
        <a:srgbClr val="F2A516"/>
      </a:accent2>
      <a:accent3>
        <a:srgbClr val="C0392B"/>
      </a:accent3>
      <a:accent4>
        <a:srgbClr val="2E6DA4"/>
      </a:accent4>
      <a:accent5>
        <a:srgbClr val="5B6770"/>
      </a:accent5>
      <a:accent6>
        <a:srgbClr val="8DC63F"/>
      </a:accent6>
      <a:hlink>
        <a:srgbClr val="2E6DA4"/>
      </a:hlink>
      <a:folHlink>
        <a:srgbClr val="6B4C9A"/>
      </a:folHlink>
    </a:clrScheme>
    <a:fontScheme name="ISTS Electricida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Instituto Superior Tecnológico Sudamericano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Electricidad Automotriz - Unidad 1: Introducción a la electricidad del automóvil</dc:title>
  <dc:subject>PEA MA.03.02 - PAO Octubre 2026 - Febrero 2027</dc:subject>
  <dc:creator>Ing. Miguel Angel Minga González</dc:creator>
  <cp:lastModifiedBy>Ing. Miguel Angel Minga González</cp:lastModifiedBy>
  <cp:revision>1</cp:revision>
  <dcterms:created xsi:type="dcterms:W3CDTF">2026-10-13T18:43:13Z</dcterms:created>
  <dcterms:modified xsi:type="dcterms:W3CDTF">2026-10-13T18:43:13Z</dcterms:modified>
</cp:coreProperties>
</file>